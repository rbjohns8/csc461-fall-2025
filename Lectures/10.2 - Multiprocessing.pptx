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4"/>
  </p:notesMasterIdLst>
  <p:sldIdLst>
    <p:sldId id="348" r:id="rId2"/>
    <p:sldId id="281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297" r:id="rId32"/>
    <p:sldId id="29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C602"/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 varScale="1">
        <p:scale>
          <a:sx n="80" d="100"/>
          <a:sy n="80" d="100"/>
        </p:scale>
        <p:origin x="14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3 December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9" Type="http://schemas.openxmlformats.org/officeDocument/2006/relationships/image" Target="../media/image51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42" Type="http://schemas.openxmlformats.org/officeDocument/2006/relationships/image" Target="../media/image54.png"/><Relationship Id="rId47" Type="http://schemas.openxmlformats.org/officeDocument/2006/relationships/image" Target="../media/image59.png"/><Relationship Id="rId50" Type="http://schemas.openxmlformats.org/officeDocument/2006/relationships/image" Target="../media/image62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9" Type="http://schemas.openxmlformats.org/officeDocument/2006/relationships/image" Target="../media/image41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45" Type="http://schemas.openxmlformats.org/officeDocument/2006/relationships/image" Target="../media/image57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49" Type="http://schemas.openxmlformats.org/officeDocument/2006/relationships/image" Target="../media/image61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4" Type="http://schemas.openxmlformats.org/officeDocument/2006/relationships/image" Target="../media/image56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43" Type="http://schemas.openxmlformats.org/officeDocument/2006/relationships/image" Target="../media/image55.png"/><Relationship Id="rId48" Type="http://schemas.openxmlformats.org/officeDocument/2006/relationships/image" Target="../media/image60.png"/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Relationship Id="rId46" Type="http://schemas.openxmlformats.org/officeDocument/2006/relationships/image" Target="../media/image58.png"/><Relationship Id="rId20" Type="http://schemas.openxmlformats.org/officeDocument/2006/relationships/image" Target="../media/image32.png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1537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5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Multiprocessors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80032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6938820" cy="3521175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spc="-9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Coherence</a:t>
            </a:r>
            <a:endParaRPr sz="240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Write</a:t>
            </a:r>
            <a:r>
              <a:rPr sz="2400" spc="3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Consistency</a:t>
            </a:r>
            <a:endParaRPr sz="240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spc="-9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Snooping</a:t>
            </a:r>
            <a:endParaRPr sz="240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Building</a:t>
            </a:r>
            <a:r>
              <a:rPr sz="2400" spc="84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Blocks</a:t>
            </a:r>
            <a:endParaRPr sz="240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Snooping</a:t>
            </a:r>
            <a:r>
              <a:rPr sz="2400" spc="84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protocols</a:t>
            </a:r>
            <a:r>
              <a:rPr sz="2400" spc="88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and</a:t>
            </a:r>
            <a:r>
              <a:rPr sz="2400" spc="93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examples</a:t>
            </a:r>
            <a:endParaRPr sz="240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Coherence</a:t>
            </a:r>
            <a:r>
              <a:rPr sz="2400" spc="7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traffic</a:t>
            </a:r>
            <a:r>
              <a:rPr sz="2400" spc="66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and</a:t>
            </a:r>
            <a:r>
              <a:rPr sz="2400" spc="7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Performance</a:t>
            </a:r>
            <a:r>
              <a:rPr sz="2400" spc="79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on</a:t>
            </a:r>
            <a:r>
              <a:rPr sz="2400" spc="75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rPr>
              <a:t>MP</a:t>
            </a:r>
            <a:endParaRPr sz="2400" dirty="0">
              <a:solidFill>
                <a:schemeClr val="bg1">
                  <a:lumMod val="75000"/>
                </a:schemeClr>
              </a:solidFill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Directory-based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protocols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Conclusion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Slide Number Placeholder 39">
            <a:extLst>
              <a:ext uri="{FF2B5EF4-FFF2-40B4-BE49-F238E27FC236}">
                <a16:creationId xmlns:a16="http://schemas.microsoft.com/office/drawing/2014/main" id="{304DD936-653C-7709-044B-5849F794C9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</a:t>
            </a:fld>
            <a:endParaRPr lang="en-US" spc="-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107" y="3092824"/>
            <a:ext cx="7440706" cy="5816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706" b="1" dirty="0">
                <a:latin typeface="Arial"/>
                <a:cs typeface="Arial"/>
              </a:rPr>
              <a:t>DIRECTORY</a:t>
            </a:r>
            <a:r>
              <a:rPr sz="3706" b="1" spc="31" dirty="0">
                <a:latin typeface="Arial"/>
                <a:cs typeface="Arial"/>
              </a:rPr>
              <a:t> </a:t>
            </a:r>
            <a:r>
              <a:rPr sz="3706" b="1" dirty="0">
                <a:latin typeface="Arial"/>
                <a:cs typeface="Arial"/>
              </a:rPr>
              <a:t>BASED</a:t>
            </a:r>
            <a:r>
              <a:rPr sz="3706" b="1" spc="44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PROTOCOL</a:t>
            </a:r>
            <a:endParaRPr sz="3706">
              <a:latin typeface="Arial"/>
              <a:cs typeface="Arial"/>
            </a:endParaRPr>
          </a:p>
        </p:txBody>
      </p:sp>
      <p:sp>
        <p:nvSpPr>
          <p:cNvPr id="4" name="Slide Number Placeholder 39">
            <a:extLst>
              <a:ext uri="{FF2B5EF4-FFF2-40B4-BE49-F238E27FC236}">
                <a16:creationId xmlns:a16="http://schemas.microsoft.com/office/drawing/2014/main" id="{714BF844-F671-2BC4-8CB3-032DD7053E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Scalable</a:t>
            </a:r>
            <a:r>
              <a:rPr spc="-62" dirty="0"/>
              <a:t> </a:t>
            </a:r>
            <a:r>
              <a:rPr dirty="0">
                <a:latin typeface="Calibri"/>
                <a:cs typeface="Calibri"/>
              </a:rPr>
              <a:t>Approach:</a:t>
            </a:r>
            <a:r>
              <a:rPr spc="-44" dirty="0"/>
              <a:t> </a:t>
            </a:r>
            <a:r>
              <a:rPr spc="-9" dirty="0"/>
              <a:t>Directories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49278"/>
            <a:ext cx="6951569" cy="2212224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Every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associated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information</a:t>
            </a:r>
            <a:endParaRPr sz="2206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directory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keeps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track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 copies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 cached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their</a:t>
            </a:r>
            <a:r>
              <a:rPr sz="1677" spc="-9" dirty="0">
                <a:latin typeface="Calibri"/>
                <a:cs typeface="Calibri"/>
              </a:rPr>
              <a:t> states</a:t>
            </a:r>
            <a:endParaRPr sz="1677" dirty="0">
              <a:latin typeface="Calibri"/>
              <a:cs typeface="Calibri"/>
            </a:endParaRPr>
          </a:p>
          <a:p>
            <a:pPr marL="651657" marR="239258" lvl="1" indent="-212363">
              <a:lnSpc>
                <a:spcPts val="1844"/>
              </a:lnSpc>
              <a:spcBef>
                <a:spcPts val="582"/>
              </a:spcBef>
              <a:buChar char="–"/>
              <a:tabLst>
                <a:tab pos="653338" algn="l"/>
              </a:tabLst>
            </a:pPr>
            <a:r>
              <a:rPr sz="1677" dirty="0">
                <a:latin typeface="Calibri"/>
                <a:cs typeface="Calibri"/>
              </a:rPr>
              <a:t>on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miss,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find directory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entry,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look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up,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communicate only</a:t>
            </a:r>
            <a:r>
              <a:rPr sz="1677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spc="-18" dirty="0">
                <a:solidFill>
                  <a:srgbClr val="3366FF"/>
                </a:solidFill>
                <a:latin typeface="Calibri"/>
                <a:cs typeface="Calibri"/>
              </a:rPr>
              <a:t>with 	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the</a:t>
            </a:r>
            <a:r>
              <a:rPr sz="1677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nodes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that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have copies,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if</a:t>
            </a:r>
            <a:r>
              <a:rPr sz="1677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necessary</a:t>
            </a:r>
            <a:r>
              <a:rPr sz="1677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to</a:t>
            </a:r>
            <a:r>
              <a:rPr sz="1677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communicate</a:t>
            </a:r>
            <a:r>
              <a:rPr sz="1677" spc="-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at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spc="-22" dirty="0">
                <a:solidFill>
                  <a:srgbClr val="3366FF"/>
                </a:solidFill>
                <a:latin typeface="Calibri"/>
                <a:cs typeface="Calibri"/>
              </a:rPr>
              <a:t>all</a:t>
            </a:r>
            <a:endParaRPr sz="1677" dirty="0">
              <a:latin typeface="Calibri"/>
              <a:cs typeface="Calibri"/>
            </a:endParaRPr>
          </a:p>
          <a:p>
            <a:pPr marL="651657" marR="621960" lvl="1" indent="-212363">
              <a:lnSpc>
                <a:spcPts val="1755"/>
              </a:lnSpc>
              <a:spcBef>
                <a:spcPts val="618"/>
              </a:spcBef>
              <a:buChar char="–"/>
              <a:tabLst>
                <a:tab pos="653338" algn="l"/>
              </a:tabLst>
            </a:pPr>
            <a:r>
              <a:rPr sz="1677" dirty="0">
                <a:latin typeface="Calibri"/>
                <a:cs typeface="Calibri"/>
              </a:rPr>
              <a:t>in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scalable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networks,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communication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with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directory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copies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is 	</a:t>
            </a:r>
            <a:r>
              <a:rPr sz="1677" dirty="0">
                <a:latin typeface="Calibri"/>
                <a:cs typeface="Calibri"/>
              </a:rPr>
              <a:t>through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sz="1677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transactions</a:t>
            </a:r>
            <a:endParaRPr sz="1677" dirty="0">
              <a:latin typeface="Calibri"/>
              <a:cs typeface="Calibri"/>
            </a:endParaRPr>
          </a:p>
          <a:p>
            <a:pPr marL="278481" indent="-267275">
              <a:spcBef>
                <a:spcPts val="53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Many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alternatives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organizing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information</a:t>
            </a:r>
            <a:endParaRPr sz="2206" dirty="0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08D16BD6-6ACE-711C-7E18-4071F5F5C7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Basic</a:t>
            </a:r>
            <a:r>
              <a:rPr spc="-31" dirty="0"/>
              <a:t> </a:t>
            </a:r>
            <a:r>
              <a:rPr dirty="0">
                <a:latin typeface="Calibri"/>
                <a:cs typeface="Calibri"/>
              </a:rPr>
              <a:t>Operation</a:t>
            </a:r>
            <a:r>
              <a:rPr spc="-22" dirty="0"/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1" dirty="0"/>
              <a:t> </a:t>
            </a:r>
            <a:r>
              <a:rPr spc="-9" dirty="0"/>
              <a:t>Directory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51731" y="3424149"/>
            <a:ext cx="7635688" cy="3074737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271935">
              <a:lnSpc>
                <a:spcPts val="1332"/>
              </a:lnSpc>
              <a:spcBef>
                <a:spcPts val="106"/>
              </a:spcBef>
              <a:spcAft>
                <a:spcPts val="1200"/>
              </a:spcAft>
              <a:tabLst>
                <a:tab pos="2631282" algn="l"/>
              </a:tabLst>
            </a:pPr>
            <a:r>
              <a:rPr sz="1279" b="1" dirty="0">
                <a:latin typeface="Arial"/>
                <a:cs typeface="Arial"/>
              </a:rPr>
              <a:t>presence</a:t>
            </a:r>
            <a:r>
              <a:rPr sz="1279" b="1" spc="260" dirty="0">
                <a:latin typeface="Arial"/>
                <a:cs typeface="Arial"/>
              </a:rPr>
              <a:t> </a:t>
            </a:r>
            <a:r>
              <a:rPr sz="1279" b="1" spc="-18" dirty="0">
                <a:latin typeface="Arial"/>
                <a:cs typeface="Arial"/>
              </a:rPr>
              <a:t>bits</a:t>
            </a:r>
            <a:r>
              <a:rPr sz="1279" b="1" dirty="0">
                <a:latin typeface="Arial"/>
                <a:cs typeface="Arial"/>
              </a:rPr>
              <a:t>	dirty</a:t>
            </a:r>
            <a:r>
              <a:rPr sz="1279" b="1" spc="154" dirty="0">
                <a:latin typeface="Arial"/>
                <a:cs typeface="Arial"/>
              </a:rPr>
              <a:t> </a:t>
            </a:r>
            <a:r>
              <a:rPr sz="1279" b="1" spc="-22" dirty="0">
                <a:latin typeface="Arial"/>
                <a:cs typeface="Arial"/>
              </a:rPr>
              <a:t>bit</a:t>
            </a:r>
            <a:endParaRPr sz="1279" dirty="0">
              <a:latin typeface="Arial"/>
              <a:cs typeface="Arial"/>
            </a:endParaRPr>
          </a:p>
          <a:p>
            <a:pPr marL="278481" indent="-267275">
              <a:lnSpc>
                <a:spcPts val="2021"/>
              </a:lnSpc>
              <a:buChar char="•"/>
              <a:tabLst>
                <a:tab pos="278481" algn="l"/>
              </a:tabLst>
            </a:pPr>
            <a:r>
              <a:rPr sz="1853" dirty="0">
                <a:latin typeface="Calibri"/>
                <a:cs typeface="Calibri"/>
              </a:rPr>
              <a:t>Read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from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main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i:</a:t>
            </a:r>
            <a:endParaRPr sz="1853" dirty="0">
              <a:latin typeface="Calibri"/>
              <a:cs typeface="Calibri"/>
            </a:endParaRPr>
          </a:p>
          <a:p>
            <a:pPr marL="651096" lvl="1" indent="-212363">
              <a:spcBef>
                <a:spcPts val="431"/>
              </a:spcBef>
              <a:buChar char="–"/>
              <a:tabLst>
                <a:tab pos="651096" algn="l"/>
              </a:tabLst>
            </a:pPr>
            <a:r>
              <a:rPr sz="1677" dirty="0">
                <a:latin typeface="Calibri"/>
                <a:cs typeface="Calibri"/>
              </a:rPr>
              <a:t>If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OFF then {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read from main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memory; turn p[i]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 </a:t>
            </a:r>
            <a:r>
              <a:rPr sz="1677" spc="-44" dirty="0">
                <a:latin typeface="Calibri"/>
                <a:cs typeface="Calibri"/>
              </a:rPr>
              <a:t>}</a:t>
            </a:r>
            <a:endParaRPr sz="1677" dirty="0">
              <a:latin typeface="Calibri"/>
              <a:cs typeface="Calibri"/>
            </a:endParaRPr>
          </a:p>
          <a:p>
            <a:pPr marL="651096" marR="294730" lvl="1" indent="-212363">
              <a:lnSpc>
                <a:spcPts val="1755"/>
              </a:lnSpc>
              <a:spcBef>
                <a:spcPts val="631"/>
              </a:spcBef>
              <a:buChar char="–"/>
              <a:tabLst>
                <a:tab pos="652777" algn="l"/>
              </a:tabLst>
            </a:pPr>
            <a:r>
              <a:rPr sz="1677" dirty="0">
                <a:latin typeface="Calibri"/>
                <a:cs typeface="Calibri"/>
              </a:rPr>
              <a:t>If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mem_dirty-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 then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{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recall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line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from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dirty proc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(cache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state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 </a:t>
            </a:r>
            <a:r>
              <a:rPr sz="1677" spc="-9" dirty="0">
                <a:latin typeface="Calibri"/>
                <a:cs typeface="Calibri"/>
              </a:rPr>
              <a:t>shared); 	</a:t>
            </a:r>
            <a:r>
              <a:rPr sz="1677" dirty="0">
                <a:latin typeface="Calibri"/>
                <a:cs typeface="Calibri"/>
              </a:rPr>
              <a:t>update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memory;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turn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OFF;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turn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p[i]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ON;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supply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recalled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i}</a:t>
            </a:r>
            <a:endParaRPr sz="1677" dirty="0">
              <a:latin typeface="Calibri"/>
              <a:cs typeface="Calibri"/>
            </a:endParaRPr>
          </a:p>
          <a:p>
            <a:pPr marL="278481" indent="-267275">
              <a:spcBef>
                <a:spcPts val="446"/>
              </a:spcBef>
              <a:buChar char="•"/>
              <a:tabLst>
                <a:tab pos="278481" algn="l"/>
              </a:tabLst>
            </a:pPr>
            <a:r>
              <a:rPr sz="1853" dirty="0">
                <a:latin typeface="Calibri"/>
                <a:cs typeface="Calibri"/>
              </a:rPr>
              <a:t>Write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main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i:</a:t>
            </a:r>
            <a:endParaRPr sz="1853" dirty="0">
              <a:latin typeface="Calibri"/>
              <a:cs typeface="Calibri"/>
            </a:endParaRPr>
          </a:p>
          <a:p>
            <a:pPr marL="651096" marR="4483" lvl="1" indent="-212363">
              <a:lnSpc>
                <a:spcPts val="1844"/>
              </a:lnSpc>
              <a:spcBef>
                <a:spcPts val="631"/>
              </a:spcBef>
              <a:buChar char="–"/>
              <a:tabLst>
                <a:tab pos="652777" algn="l"/>
              </a:tabLst>
            </a:pPr>
            <a:r>
              <a:rPr sz="1677" dirty="0">
                <a:latin typeface="Calibri"/>
                <a:cs typeface="Calibri"/>
              </a:rPr>
              <a:t>If</a:t>
            </a:r>
            <a:r>
              <a:rPr sz="1677" spc="-9" dirty="0">
                <a:latin typeface="Calibri"/>
                <a:cs typeface="Calibri"/>
              </a:rPr>
              <a:t> mem_dirty-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then {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supply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i; send invalidations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all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that 	</a:t>
            </a:r>
            <a:r>
              <a:rPr sz="1677" dirty="0">
                <a:latin typeface="Calibri"/>
                <a:cs typeface="Calibri"/>
              </a:rPr>
              <a:t>have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where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p[j]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ON=&gt;OFF;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turn</a:t>
            </a:r>
            <a:r>
              <a:rPr sz="1677" spc="-9" dirty="0">
                <a:latin typeface="Calibri"/>
                <a:cs typeface="Calibri"/>
              </a:rPr>
              <a:t> 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ON;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turn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p[i]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44" dirty="0">
                <a:latin typeface="Calibri"/>
                <a:cs typeface="Calibri"/>
              </a:rPr>
              <a:t>}</a:t>
            </a:r>
            <a:endParaRPr sz="1677" dirty="0">
              <a:latin typeface="Calibri"/>
              <a:cs typeface="Calibri"/>
            </a:endParaRPr>
          </a:p>
          <a:p>
            <a:pPr marL="651096" marR="185467" lvl="1" indent="-212363">
              <a:lnSpc>
                <a:spcPct val="90000"/>
              </a:lnSpc>
              <a:spcBef>
                <a:spcPts val="547"/>
              </a:spcBef>
              <a:buChar char="–"/>
              <a:tabLst>
                <a:tab pos="652777" algn="l"/>
              </a:tabLst>
            </a:pPr>
            <a:r>
              <a:rPr sz="1677" dirty="0">
                <a:latin typeface="Calibri"/>
                <a:cs typeface="Calibri"/>
              </a:rPr>
              <a:t>If </a:t>
            </a:r>
            <a:r>
              <a:rPr sz="1677" spc="-9" dirty="0">
                <a:latin typeface="Calibri"/>
                <a:cs typeface="Calibri"/>
              </a:rPr>
              <a:t>mem_dirty-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then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{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recall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line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from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dirty proc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(cache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state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 </a:t>
            </a:r>
            <a:r>
              <a:rPr sz="1677" spc="-9" dirty="0">
                <a:latin typeface="Calibri"/>
                <a:cs typeface="Calibri"/>
              </a:rPr>
              <a:t>invalid); 	</a:t>
            </a:r>
            <a:r>
              <a:rPr sz="1677" dirty="0">
                <a:latin typeface="Calibri"/>
                <a:cs typeface="Calibri"/>
              </a:rPr>
              <a:t>update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memory;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supply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recalled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i;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invalidations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all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caches</a:t>
            </a:r>
            <a:r>
              <a:rPr sz="1677" spc="-18" dirty="0">
                <a:latin typeface="Calibri"/>
                <a:cs typeface="Calibri"/>
              </a:rPr>
              <a:t> that 	</a:t>
            </a:r>
            <a:r>
              <a:rPr sz="1677" dirty="0">
                <a:latin typeface="Calibri"/>
                <a:cs typeface="Calibri"/>
              </a:rPr>
              <a:t>have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where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p[j]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ON=&gt;OFF;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leave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dirty-</a:t>
            </a:r>
            <a:r>
              <a:rPr sz="1677" dirty="0">
                <a:latin typeface="Calibri"/>
                <a:cs typeface="Calibri"/>
              </a:rPr>
              <a:t>bit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ON;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turn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p[i]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44" dirty="0">
                <a:latin typeface="Calibri"/>
                <a:cs typeface="Calibri"/>
              </a:rPr>
              <a:t>}</a:t>
            </a:r>
            <a:endParaRPr sz="1677" dirty="0">
              <a:latin typeface="Calibri"/>
              <a:cs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DA1808-F8C5-0976-9814-1FD981C75D67}"/>
              </a:ext>
            </a:extLst>
          </p:cNvPr>
          <p:cNvGrpSpPr/>
          <p:nvPr/>
        </p:nvGrpSpPr>
        <p:grpSpPr>
          <a:xfrm>
            <a:off x="517822" y="1256936"/>
            <a:ext cx="7706324" cy="2213960"/>
            <a:chOff x="517822" y="1152161"/>
            <a:chExt cx="7706324" cy="2213960"/>
          </a:xfrm>
        </p:grpSpPr>
        <p:grpSp>
          <p:nvGrpSpPr>
            <p:cNvPr id="2" name="object 2"/>
            <p:cNvGrpSpPr/>
            <p:nvPr/>
          </p:nvGrpSpPr>
          <p:grpSpPr>
            <a:xfrm>
              <a:off x="940883" y="1152161"/>
              <a:ext cx="7283263" cy="565897"/>
              <a:chOff x="913933" y="1305782"/>
              <a:chExt cx="8254365" cy="641350"/>
            </a:xfrm>
          </p:grpSpPr>
          <p:sp>
            <p:nvSpPr>
              <p:cNvPr id="3" name="object 3"/>
              <p:cNvSpPr/>
              <p:nvPr/>
            </p:nvSpPr>
            <p:spPr>
              <a:xfrm>
                <a:off x="1679738" y="1772866"/>
                <a:ext cx="0" cy="147320"/>
              </a:xfrm>
              <a:custGeom>
                <a:avLst/>
                <a:gdLst/>
                <a:ahLst/>
                <a:cxnLst/>
                <a:rect l="l" t="t" r="r" b="b"/>
                <a:pathLst>
                  <a:path h="147319">
                    <a:moveTo>
                      <a:pt x="0" y="0"/>
                    </a:moveTo>
                    <a:lnTo>
                      <a:pt x="0" y="146797"/>
                    </a:lnTo>
                  </a:path>
                </a:pathLst>
              </a:custGeom>
              <a:ln w="5359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" name="object 4"/>
              <p:cNvSpPr/>
              <p:nvPr/>
            </p:nvSpPr>
            <p:spPr>
              <a:xfrm>
                <a:off x="1438582" y="1319127"/>
                <a:ext cx="482600" cy="480695"/>
              </a:xfrm>
              <a:custGeom>
                <a:avLst/>
                <a:gdLst/>
                <a:ahLst/>
                <a:cxnLst/>
                <a:rect l="l" t="t" r="r" b="b"/>
                <a:pathLst>
                  <a:path w="482600" h="480694">
                    <a:moveTo>
                      <a:pt x="241155" y="0"/>
                    </a:moveTo>
                    <a:lnTo>
                      <a:pt x="192554" y="4880"/>
                    </a:lnTo>
                    <a:lnTo>
                      <a:pt x="147286" y="18877"/>
                    </a:lnTo>
                    <a:lnTo>
                      <a:pt x="106323" y="41024"/>
                    </a:lnTo>
                    <a:lnTo>
                      <a:pt x="70632" y="70357"/>
                    </a:lnTo>
                    <a:lnTo>
                      <a:pt x="41185" y="105908"/>
                    </a:lnTo>
                    <a:lnTo>
                      <a:pt x="18951" y="146712"/>
                    </a:lnTo>
                    <a:lnTo>
                      <a:pt x="4899" y="191803"/>
                    </a:lnTo>
                    <a:lnTo>
                      <a:pt x="0" y="240215"/>
                    </a:lnTo>
                    <a:lnTo>
                      <a:pt x="4899" y="288626"/>
                    </a:lnTo>
                    <a:lnTo>
                      <a:pt x="18951" y="333717"/>
                    </a:lnTo>
                    <a:lnTo>
                      <a:pt x="41185" y="374521"/>
                    </a:lnTo>
                    <a:lnTo>
                      <a:pt x="70632" y="410072"/>
                    </a:lnTo>
                    <a:lnTo>
                      <a:pt x="106323" y="439404"/>
                    </a:lnTo>
                    <a:lnTo>
                      <a:pt x="147286" y="461552"/>
                    </a:lnTo>
                    <a:lnTo>
                      <a:pt x="192554" y="475549"/>
                    </a:lnTo>
                    <a:lnTo>
                      <a:pt x="241155" y="480429"/>
                    </a:lnTo>
                    <a:lnTo>
                      <a:pt x="289756" y="475549"/>
                    </a:lnTo>
                    <a:lnTo>
                      <a:pt x="335024" y="461552"/>
                    </a:lnTo>
                    <a:lnTo>
                      <a:pt x="375988" y="439404"/>
                    </a:lnTo>
                    <a:lnTo>
                      <a:pt x="411678" y="410072"/>
                    </a:lnTo>
                    <a:lnTo>
                      <a:pt x="441126" y="374521"/>
                    </a:lnTo>
                    <a:lnTo>
                      <a:pt x="463360" y="333717"/>
                    </a:lnTo>
                    <a:lnTo>
                      <a:pt x="477412" y="288626"/>
                    </a:lnTo>
                    <a:lnTo>
                      <a:pt x="482311" y="240215"/>
                    </a:lnTo>
                    <a:lnTo>
                      <a:pt x="477412" y="191803"/>
                    </a:lnTo>
                    <a:lnTo>
                      <a:pt x="463360" y="146712"/>
                    </a:lnTo>
                    <a:lnTo>
                      <a:pt x="441126" y="105908"/>
                    </a:lnTo>
                    <a:lnTo>
                      <a:pt x="411678" y="70357"/>
                    </a:lnTo>
                    <a:lnTo>
                      <a:pt x="375988" y="41024"/>
                    </a:lnTo>
                    <a:lnTo>
                      <a:pt x="335024" y="18877"/>
                    </a:lnTo>
                    <a:lnTo>
                      <a:pt x="289756" y="4880"/>
                    </a:lnTo>
                    <a:lnTo>
                      <a:pt x="24115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1425185" y="1305782"/>
                <a:ext cx="509270" cy="507365"/>
              </a:xfrm>
              <a:custGeom>
                <a:avLst/>
                <a:gdLst/>
                <a:ahLst/>
                <a:cxnLst/>
                <a:rect l="l" t="t" r="r" b="b"/>
                <a:pathLst>
                  <a:path w="509269" h="507364">
                    <a:moveTo>
                      <a:pt x="334938" y="493774"/>
                    </a:moveTo>
                    <a:lnTo>
                      <a:pt x="174167" y="493774"/>
                    </a:lnTo>
                    <a:lnTo>
                      <a:pt x="200962" y="507119"/>
                    </a:lnTo>
                    <a:lnTo>
                      <a:pt x="308142" y="507119"/>
                    </a:lnTo>
                    <a:lnTo>
                      <a:pt x="334938" y="493774"/>
                    </a:lnTo>
                    <a:close/>
                  </a:path>
                  <a:path w="509269" h="507364">
                    <a:moveTo>
                      <a:pt x="254552" y="0"/>
                    </a:moveTo>
                    <a:lnTo>
                      <a:pt x="200962" y="0"/>
                    </a:lnTo>
                    <a:lnTo>
                      <a:pt x="174167" y="13345"/>
                    </a:lnTo>
                    <a:lnTo>
                      <a:pt x="160770" y="13345"/>
                    </a:lnTo>
                    <a:lnTo>
                      <a:pt x="107180" y="40035"/>
                    </a:lnTo>
                    <a:lnTo>
                      <a:pt x="93783" y="53380"/>
                    </a:lnTo>
                    <a:lnTo>
                      <a:pt x="80384" y="80070"/>
                    </a:lnTo>
                    <a:lnTo>
                      <a:pt x="53590" y="93417"/>
                    </a:lnTo>
                    <a:lnTo>
                      <a:pt x="40192" y="106762"/>
                    </a:lnTo>
                    <a:lnTo>
                      <a:pt x="13397" y="160143"/>
                    </a:lnTo>
                    <a:lnTo>
                      <a:pt x="13397" y="173488"/>
                    </a:lnTo>
                    <a:lnTo>
                      <a:pt x="0" y="200178"/>
                    </a:lnTo>
                    <a:lnTo>
                      <a:pt x="0" y="306941"/>
                    </a:lnTo>
                    <a:lnTo>
                      <a:pt x="13397" y="333631"/>
                    </a:lnTo>
                    <a:lnTo>
                      <a:pt x="13397" y="346976"/>
                    </a:lnTo>
                    <a:lnTo>
                      <a:pt x="40192" y="400358"/>
                    </a:lnTo>
                    <a:lnTo>
                      <a:pt x="53590" y="413703"/>
                    </a:lnTo>
                    <a:lnTo>
                      <a:pt x="80384" y="427048"/>
                    </a:lnTo>
                    <a:lnTo>
                      <a:pt x="93783" y="453739"/>
                    </a:lnTo>
                    <a:lnTo>
                      <a:pt x="107180" y="467084"/>
                    </a:lnTo>
                    <a:lnTo>
                      <a:pt x="160770" y="493774"/>
                    </a:lnTo>
                    <a:lnTo>
                      <a:pt x="348335" y="493774"/>
                    </a:lnTo>
                    <a:lnTo>
                      <a:pt x="375130" y="480429"/>
                    </a:lnTo>
                    <a:lnTo>
                      <a:pt x="200962" y="480429"/>
                    </a:lnTo>
                    <a:lnTo>
                      <a:pt x="187565" y="467084"/>
                    </a:lnTo>
                    <a:lnTo>
                      <a:pt x="174167" y="467084"/>
                    </a:lnTo>
                    <a:lnTo>
                      <a:pt x="120577" y="440394"/>
                    </a:lnTo>
                    <a:lnTo>
                      <a:pt x="66987" y="387013"/>
                    </a:lnTo>
                    <a:lnTo>
                      <a:pt x="40192" y="333631"/>
                    </a:lnTo>
                    <a:lnTo>
                      <a:pt x="40192" y="320286"/>
                    </a:lnTo>
                    <a:lnTo>
                      <a:pt x="26794" y="306941"/>
                    </a:lnTo>
                    <a:lnTo>
                      <a:pt x="26794" y="200178"/>
                    </a:lnTo>
                    <a:lnTo>
                      <a:pt x="40192" y="186833"/>
                    </a:lnTo>
                    <a:lnTo>
                      <a:pt x="40192" y="173488"/>
                    </a:lnTo>
                    <a:lnTo>
                      <a:pt x="66987" y="120107"/>
                    </a:lnTo>
                    <a:lnTo>
                      <a:pt x="120577" y="66725"/>
                    </a:lnTo>
                    <a:lnTo>
                      <a:pt x="174167" y="40035"/>
                    </a:lnTo>
                    <a:lnTo>
                      <a:pt x="187565" y="40035"/>
                    </a:lnTo>
                    <a:lnTo>
                      <a:pt x="200962" y="26690"/>
                    </a:lnTo>
                    <a:lnTo>
                      <a:pt x="254552" y="26690"/>
                    </a:lnTo>
                    <a:lnTo>
                      <a:pt x="254552" y="0"/>
                    </a:lnTo>
                    <a:close/>
                  </a:path>
                  <a:path w="509269" h="507364">
                    <a:moveTo>
                      <a:pt x="308142" y="0"/>
                    </a:moveTo>
                    <a:lnTo>
                      <a:pt x="254552" y="0"/>
                    </a:lnTo>
                    <a:lnTo>
                      <a:pt x="254552" y="26690"/>
                    </a:lnTo>
                    <a:lnTo>
                      <a:pt x="308142" y="26690"/>
                    </a:lnTo>
                    <a:lnTo>
                      <a:pt x="321541" y="40035"/>
                    </a:lnTo>
                    <a:lnTo>
                      <a:pt x="334938" y="40035"/>
                    </a:lnTo>
                    <a:lnTo>
                      <a:pt x="388528" y="66725"/>
                    </a:lnTo>
                    <a:lnTo>
                      <a:pt x="442118" y="120107"/>
                    </a:lnTo>
                    <a:lnTo>
                      <a:pt x="468913" y="173488"/>
                    </a:lnTo>
                    <a:lnTo>
                      <a:pt x="468913" y="186833"/>
                    </a:lnTo>
                    <a:lnTo>
                      <a:pt x="482311" y="200178"/>
                    </a:lnTo>
                    <a:lnTo>
                      <a:pt x="482311" y="306941"/>
                    </a:lnTo>
                    <a:lnTo>
                      <a:pt x="468913" y="320286"/>
                    </a:lnTo>
                    <a:lnTo>
                      <a:pt x="468913" y="333631"/>
                    </a:lnTo>
                    <a:lnTo>
                      <a:pt x="442118" y="387013"/>
                    </a:lnTo>
                    <a:lnTo>
                      <a:pt x="388528" y="440394"/>
                    </a:lnTo>
                    <a:lnTo>
                      <a:pt x="334938" y="467084"/>
                    </a:lnTo>
                    <a:lnTo>
                      <a:pt x="321541" y="467084"/>
                    </a:lnTo>
                    <a:lnTo>
                      <a:pt x="308142" y="480429"/>
                    </a:lnTo>
                    <a:lnTo>
                      <a:pt x="375130" y="480429"/>
                    </a:lnTo>
                    <a:lnTo>
                      <a:pt x="401925" y="467084"/>
                    </a:lnTo>
                    <a:lnTo>
                      <a:pt x="415323" y="453739"/>
                    </a:lnTo>
                    <a:lnTo>
                      <a:pt x="428720" y="427048"/>
                    </a:lnTo>
                    <a:lnTo>
                      <a:pt x="455515" y="413703"/>
                    </a:lnTo>
                    <a:lnTo>
                      <a:pt x="468913" y="400358"/>
                    </a:lnTo>
                    <a:lnTo>
                      <a:pt x="495708" y="346976"/>
                    </a:lnTo>
                    <a:lnTo>
                      <a:pt x="495708" y="333631"/>
                    </a:lnTo>
                    <a:lnTo>
                      <a:pt x="509106" y="306941"/>
                    </a:lnTo>
                    <a:lnTo>
                      <a:pt x="509106" y="200178"/>
                    </a:lnTo>
                    <a:lnTo>
                      <a:pt x="495708" y="173488"/>
                    </a:lnTo>
                    <a:lnTo>
                      <a:pt x="495708" y="160143"/>
                    </a:lnTo>
                    <a:lnTo>
                      <a:pt x="468913" y="106762"/>
                    </a:lnTo>
                    <a:lnTo>
                      <a:pt x="455515" y="93417"/>
                    </a:lnTo>
                    <a:lnTo>
                      <a:pt x="428720" y="80070"/>
                    </a:lnTo>
                    <a:lnTo>
                      <a:pt x="415323" y="53380"/>
                    </a:lnTo>
                    <a:lnTo>
                      <a:pt x="401925" y="40035"/>
                    </a:lnTo>
                    <a:lnTo>
                      <a:pt x="348335" y="13345"/>
                    </a:lnTo>
                    <a:lnTo>
                      <a:pt x="334938" y="13345"/>
                    </a:lnTo>
                    <a:lnTo>
                      <a:pt x="30814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3247249" y="1772866"/>
                <a:ext cx="0" cy="147320"/>
              </a:xfrm>
              <a:custGeom>
                <a:avLst/>
                <a:gdLst/>
                <a:ahLst/>
                <a:cxnLst/>
                <a:rect l="l" t="t" r="r" b="b"/>
                <a:pathLst>
                  <a:path h="147319">
                    <a:moveTo>
                      <a:pt x="0" y="0"/>
                    </a:moveTo>
                    <a:lnTo>
                      <a:pt x="0" y="146797"/>
                    </a:lnTo>
                  </a:path>
                </a:pathLst>
              </a:custGeom>
              <a:ln w="5359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3006093" y="1319127"/>
                <a:ext cx="482600" cy="480695"/>
              </a:xfrm>
              <a:custGeom>
                <a:avLst/>
                <a:gdLst/>
                <a:ahLst/>
                <a:cxnLst/>
                <a:rect l="l" t="t" r="r" b="b"/>
                <a:pathLst>
                  <a:path w="482600" h="480694">
                    <a:moveTo>
                      <a:pt x="241155" y="0"/>
                    </a:moveTo>
                    <a:lnTo>
                      <a:pt x="192554" y="4880"/>
                    </a:lnTo>
                    <a:lnTo>
                      <a:pt x="147286" y="18877"/>
                    </a:lnTo>
                    <a:lnTo>
                      <a:pt x="106323" y="41024"/>
                    </a:lnTo>
                    <a:lnTo>
                      <a:pt x="70632" y="70357"/>
                    </a:lnTo>
                    <a:lnTo>
                      <a:pt x="41185" y="105908"/>
                    </a:lnTo>
                    <a:lnTo>
                      <a:pt x="18951" y="146712"/>
                    </a:lnTo>
                    <a:lnTo>
                      <a:pt x="4899" y="191803"/>
                    </a:lnTo>
                    <a:lnTo>
                      <a:pt x="0" y="240215"/>
                    </a:lnTo>
                    <a:lnTo>
                      <a:pt x="4899" y="288626"/>
                    </a:lnTo>
                    <a:lnTo>
                      <a:pt x="18951" y="333717"/>
                    </a:lnTo>
                    <a:lnTo>
                      <a:pt x="41185" y="374521"/>
                    </a:lnTo>
                    <a:lnTo>
                      <a:pt x="70632" y="410072"/>
                    </a:lnTo>
                    <a:lnTo>
                      <a:pt x="106323" y="439404"/>
                    </a:lnTo>
                    <a:lnTo>
                      <a:pt x="147286" y="461552"/>
                    </a:lnTo>
                    <a:lnTo>
                      <a:pt x="192554" y="475549"/>
                    </a:lnTo>
                    <a:lnTo>
                      <a:pt x="241155" y="480429"/>
                    </a:lnTo>
                    <a:lnTo>
                      <a:pt x="289756" y="475549"/>
                    </a:lnTo>
                    <a:lnTo>
                      <a:pt x="335024" y="461552"/>
                    </a:lnTo>
                    <a:lnTo>
                      <a:pt x="375988" y="439404"/>
                    </a:lnTo>
                    <a:lnTo>
                      <a:pt x="411678" y="410072"/>
                    </a:lnTo>
                    <a:lnTo>
                      <a:pt x="441126" y="374521"/>
                    </a:lnTo>
                    <a:lnTo>
                      <a:pt x="463360" y="333717"/>
                    </a:lnTo>
                    <a:lnTo>
                      <a:pt x="477412" y="288626"/>
                    </a:lnTo>
                    <a:lnTo>
                      <a:pt x="482311" y="240215"/>
                    </a:lnTo>
                    <a:lnTo>
                      <a:pt x="477412" y="191803"/>
                    </a:lnTo>
                    <a:lnTo>
                      <a:pt x="463360" y="146712"/>
                    </a:lnTo>
                    <a:lnTo>
                      <a:pt x="441126" y="105908"/>
                    </a:lnTo>
                    <a:lnTo>
                      <a:pt x="411678" y="70357"/>
                    </a:lnTo>
                    <a:lnTo>
                      <a:pt x="375988" y="41024"/>
                    </a:lnTo>
                    <a:lnTo>
                      <a:pt x="335024" y="18877"/>
                    </a:lnTo>
                    <a:lnTo>
                      <a:pt x="289756" y="4880"/>
                    </a:lnTo>
                    <a:lnTo>
                      <a:pt x="241155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2992696" y="1305782"/>
                <a:ext cx="509270" cy="507365"/>
              </a:xfrm>
              <a:custGeom>
                <a:avLst/>
                <a:gdLst/>
                <a:ahLst/>
                <a:cxnLst/>
                <a:rect l="l" t="t" r="r" b="b"/>
                <a:pathLst>
                  <a:path w="509270" h="507364">
                    <a:moveTo>
                      <a:pt x="334938" y="493774"/>
                    </a:moveTo>
                    <a:lnTo>
                      <a:pt x="174167" y="493774"/>
                    </a:lnTo>
                    <a:lnTo>
                      <a:pt x="200962" y="507119"/>
                    </a:lnTo>
                    <a:lnTo>
                      <a:pt x="308142" y="507119"/>
                    </a:lnTo>
                    <a:lnTo>
                      <a:pt x="334938" y="493774"/>
                    </a:lnTo>
                    <a:close/>
                  </a:path>
                  <a:path w="509270" h="507364">
                    <a:moveTo>
                      <a:pt x="254552" y="0"/>
                    </a:moveTo>
                    <a:lnTo>
                      <a:pt x="200962" y="0"/>
                    </a:lnTo>
                    <a:lnTo>
                      <a:pt x="174167" y="13345"/>
                    </a:lnTo>
                    <a:lnTo>
                      <a:pt x="160770" y="13345"/>
                    </a:lnTo>
                    <a:lnTo>
                      <a:pt x="107180" y="40035"/>
                    </a:lnTo>
                    <a:lnTo>
                      <a:pt x="93781" y="53380"/>
                    </a:lnTo>
                    <a:lnTo>
                      <a:pt x="80384" y="80070"/>
                    </a:lnTo>
                    <a:lnTo>
                      <a:pt x="53590" y="93417"/>
                    </a:lnTo>
                    <a:lnTo>
                      <a:pt x="40191" y="106762"/>
                    </a:lnTo>
                    <a:lnTo>
                      <a:pt x="13397" y="160143"/>
                    </a:lnTo>
                    <a:lnTo>
                      <a:pt x="13397" y="173488"/>
                    </a:lnTo>
                    <a:lnTo>
                      <a:pt x="0" y="200178"/>
                    </a:lnTo>
                    <a:lnTo>
                      <a:pt x="0" y="306941"/>
                    </a:lnTo>
                    <a:lnTo>
                      <a:pt x="13397" y="333631"/>
                    </a:lnTo>
                    <a:lnTo>
                      <a:pt x="13397" y="346976"/>
                    </a:lnTo>
                    <a:lnTo>
                      <a:pt x="40191" y="400358"/>
                    </a:lnTo>
                    <a:lnTo>
                      <a:pt x="53590" y="413703"/>
                    </a:lnTo>
                    <a:lnTo>
                      <a:pt x="80384" y="427048"/>
                    </a:lnTo>
                    <a:lnTo>
                      <a:pt x="93781" y="453739"/>
                    </a:lnTo>
                    <a:lnTo>
                      <a:pt x="107180" y="467084"/>
                    </a:lnTo>
                    <a:lnTo>
                      <a:pt x="160770" y="493774"/>
                    </a:lnTo>
                    <a:lnTo>
                      <a:pt x="348335" y="493774"/>
                    </a:lnTo>
                    <a:lnTo>
                      <a:pt x="375130" y="480429"/>
                    </a:lnTo>
                    <a:lnTo>
                      <a:pt x="200962" y="480429"/>
                    </a:lnTo>
                    <a:lnTo>
                      <a:pt x="187565" y="467084"/>
                    </a:lnTo>
                    <a:lnTo>
                      <a:pt x="174167" y="467084"/>
                    </a:lnTo>
                    <a:lnTo>
                      <a:pt x="120577" y="440394"/>
                    </a:lnTo>
                    <a:lnTo>
                      <a:pt x="66987" y="387013"/>
                    </a:lnTo>
                    <a:lnTo>
                      <a:pt x="40191" y="333631"/>
                    </a:lnTo>
                    <a:lnTo>
                      <a:pt x="40191" y="320286"/>
                    </a:lnTo>
                    <a:lnTo>
                      <a:pt x="26794" y="306941"/>
                    </a:lnTo>
                    <a:lnTo>
                      <a:pt x="26794" y="200178"/>
                    </a:lnTo>
                    <a:lnTo>
                      <a:pt x="40191" y="186833"/>
                    </a:lnTo>
                    <a:lnTo>
                      <a:pt x="40191" y="173488"/>
                    </a:lnTo>
                    <a:lnTo>
                      <a:pt x="66987" y="120107"/>
                    </a:lnTo>
                    <a:lnTo>
                      <a:pt x="120577" y="66725"/>
                    </a:lnTo>
                    <a:lnTo>
                      <a:pt x="174167" y="40035"/>
                    </a:lnTo>
                    <a:lnTo>
                      <a:pt x="187565" y="40035"/>
                    </a:lnTo>
                    <a:lnTo>
                      <a:pt x="200962" y="26690"/>
                    </a:lnTo>
                    <a:lnTo>
                      <a:pt x="254552" y="26690"/>
                    </a:lnTo>
                    <a:lnTo>
                      <a:pt x="254552" y="0"/>
                    </a:lnTo>
                    <a:close/>
                  </a:path>
                  <a:path w="509270" h="507364">
                    <a:moveTo>
                      <a:pt x="308142" y="0"/>
                    </a:moveTo>
                    <a:lnTo>
                      <a:pt x="254552" y="0"/>
                    </a:lnTo>
                    <a:lnTo>
                      <a:pt x="254552" y="26690"/>
                    </a:lnTo>
                    <a:lnTo>
                      <a:pt x="308142" y="26690"/>
                    </a:lnTo>
                    <a:lnTo>
                      <a:pt x="321539" y="40035"/>
                    </a:lnTo>
                    <a:lnTo>
                      <a:pt x="334938" y="40035"/>
                    </a:lnTo>
                    <a:lnTo>
                      <a:pt x="388528" y="66725"/>
                    </a:lnTo>
                    <a:lnTo>
                      <a:pt x="442118" y="120107"/>
                    </a:lnTo>
                    <a:lnTo>
                      <a:pt x="468913" y="173488"/>
                    </a:lnTo>
                    <a:lnTo>
                      <a:pt x="468913" y="186833"/>
                    </a:lnTo>
                    <a:lnTo>
                      <a:pt x="482310" y="200178"/>
                    </a:lnTo>
                    <a:lnTo>
                      <a:pt x="482310" y="306941"/>
                    </a:lnTo>
                    <a:lnTo>
                      <a:pt x="468913" y="320286"/>
                    </a:lnTo>
                    <a:lnTo>
                      <a:pt x="468913" y="333631"/>
                    </a:lnTo>
                    <a:lnTo>
                      <a:pt x="442118" y="387013"/>
                    </a:lnTo>
                    <a:lnTo>
                      <a:pt x="388528" y="440394"/>
                    </a:lnTo>
                    <a:lnTo>
                      <a:pt x="334938" y="467084"/>
                    </a:lnTo>
                    <a:lnTo>
                      <a:pt x="321539" y="467084"/>
                    </a:lnTo>
                    <a:lnTo>
                      <a:pt x="308142" y="480429"/>
                    </a:lnTo>
                    <a:lnTo>
                      <a:pt x="375130" y="480429"/>
                    </a:lnTo>
                    <a:lnTo>
                      <a:pt x="401925" y="467084"/>
                    </a:lnTo>
                    <a:lnTo>
                      <a:pt x="415323" y="453739"/>
                    </a:lnTo>
                    <a:lnTo>
                      <a:pt x="428720" y="427048"/>
                    </a:lnTo>
                    <a:lnTo>
                      <a:pt x="455515" y="413703"/>
                    </a:lnTo>
                    <a:lnTo>
                      <a:pt x="468913" y="400358"/>
                    </a:lnTo>
                    <a:lnTo>
                      <a:pt x="495708" y="346976"/>
                    </a:lnTo>
                    <a:lnTo>
                      <a:pt x="495708" y="333631"/>
                    </a:lnTo>
                    <a:lnTo>
                      <a:pt x="509106" y="306941"/>
                    </a:lnTo>
                    <a:lnTo>
                      <a:pt x="509106" y="200178"/>
                    </a:lnTo>
                    <a:lnTo>
                      <a:pt x="495708" y="173488"/>
                    </a:lnTo>
                    <a:lnTo>
                      <a:pt x="495708" y="160143"/>
                    </a:lnTo>
                    <a:lnTo>
                      <a:pt x="468913" y="106762"/>
                    </a:lnTo>
                    <a:lnTo>
                      <a:pt x="455515" y="93417"/>
                    </a:lnTo>
                    <a:lnTo>
                      <a:pt x="428720" y="80070"/>
                    </a:lnTo>
                    <a:lnTo>
                      <a:pt x="415323" y="53380"/>
                    </a:lnTo>
                    <a:lnTo>
                      <a:pt x="401925" y="40035"/>
                    </a:lnTo>
                    <a:lnTo>
                      <a:pt x="348335" y="13345"/>
                    </a:lnTo>
                    <a:lnTo>
                      <a:pt x="334938" y="13345"/>
                    </a:lnTo>
                    <a:lnTo>
                      <a:pt x="30814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D81D419-5352-4703-F6F2-6B9E46D8DB78}"/>
                </a:ext>
              </a:extLst>
            </p:cNvPr>
            <p:cNvGrpSpPr/>
            <p:nvPr/>
          </p:nvGrpSpPr>
          <p:grpSpPr>
            <a:xfrm>
              <a:off x="517822" y="1235156"/>
              <a:ext cx="3830171" cy="2130965"/>
              <a:chOff x="517822" y="1235156"/>
              <a:chExt cx="3830171" cy="2130965"/>
            </a:xfrm>
          </p:grpSpPr>
          <p:grpSp>
            <p:nvGrpSpPr>
              <p:cNvPr id="10" name="object 10"/>
              <p:cNvGrpSpPr/>
              <p:nvPr/>
            </p:nvGrpSpPr>
            <p:grpSpPr>
              <a:xfrm>
                <a:off x="1291252" y="2517827"/>
                <a:ext cx="2246779" cy="666190"/>
                <a:chOff x="1311019" y="2853537"/>
                <a:chExt cx="2546350" cy="755015"/>
              </a:xfrm>
            </p:grpSpPr>
            <p:sp>
              <p:nvSpPr>
                <p:cNvPr id="11" name="object 11"/>
                <p:cNvSpPr/>
                <p:nvPr/>
              </p:nvSpPr>
              <p:spPr>
                <a:xfrm>
                  <a:off x="3247249" y="2880525"/>
                  <a:ext cx="0" cy="24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40664">
                      <a:moveTo>
                        <a:pt x="0" y="0"/>
                      </a:moveTo>
                      <a:lnTo>
                        <a:pt x="0" y="240214"/>
                      </a:lnTo>
                    </a:path>
                  </a:pathLst>
                </a:custGeom>
                <a:ln w="5359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  <p:sp>
              <p:nvSpPr>
                <p:cNvPr id="12" name="object 12"/>
                <p:cNvSpPr/>
                <p:nvPr/>
              </p:nvSpPr>
              <p:spPr>
                <a:xfrm>
                  <a:off x="2764938" y="3120739"/>
                  <a:ext cx="1085215" cy="480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214" h="480695">
                      <a:moveTo>
                        <a:pt x="0" y="0"/>
                      </a:moveTo>
                      <a:lnTo>
                        <a:pt x="1085200" y="0"/>
                      </a:lnTo>
                      <a:lnTo>
                        <a:pt x="1085200" y="480429"/>
                      </a:lnTo>
                      <a:lnTo>
                        <a:pt x="0" y="4804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3353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  <p:pic>
              <p:nvPicPr>
                <p:cNvPr id="13" name="object 13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416601" y="3280882"/>
                  <a:ext cx="361734" cy="80072"/>
                </a:xfrm>
                <a:prstGeom prst="rect">
                  <a:avLst/>
                </a:prstGeom>
              </p:spPr>
            </p:pic>
            <p:sp>
              <p:nvSpPr>
                <p:cNvPr id="14" name="object 14"/>
                <p:cNvSpPr/>
                <p:nvPr/>
              </p:nvSpPr>
              <p:spPr>
                <a:xfrm>
                  <a:off x="1920893" y="2880525"/>
                  <a:ext cx="0" cy="2406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40664">
                      <a:moveTo>
                        <a:pt x="0" y="0"/>
                      </a:moveTo>
                      <a:lnTo>
                        <a:pt x="0" y="240214"/>
                      </a:lnTo>
                    </a:path>
                  </a:pathLst>
                </a:custGeom>
                <a:ln w="5359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  <p:sp>
              <p:nvSpPr>
                <p:cNvPr id="15" name="object 15"/>
                <p:cNvSpPr/>
                <p:nvPr/>
              </p:nvSpPr>
              <p:spPr>
                <a:xfrm>
                  <a:off x="1318004" y="3120739"/>
                  <a:ext cx="1085215" cy="480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214" h="480695">
                      <a:moveTo>
                        <a:pt x="0" y="0"/>
                      </a:moveTo>
                      <a:lnTo>
                        <a:pt x="1085200" y="0"/>
                      </a:lnTo>
                      <a:lnTo>
                        <a:pt x="1085200" y="480429"/>
                      </a:lnTo>
                      <a:lnTo>
                        <a:pt x="0" y="4804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3353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  <p:sp>
              <p:nvSpPr>
                <p:cNvPr id="16" name="object 16"/>
                <p:cNvSpPr/>
                <p:nvPr/>
              </p:nvSpPr>
              <p:spPr>
                <a:xfrm>
                  <a:off x="1318004" y="3240847"/>
                  <a:ext cx="253555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554" h="123825">
                      <a:moveTo>
                        <a:pt x="0" y="1668"/>
                      </a:moveTo>
                      <a:lnTo>
                        <a:pt x="1088549" y="1668"/>
                      </a:lnTo>
                    </a:path>
                    <a:path w="2535554" h="123825">
                      <a:moveTo>
                        <a:pt x="0" y="121775"/>
                      </a:moveTo>
                      <a:lnTo>
                        <a:pt x="1088549" y="121775"/>
                      </a:lnTo>
                    </a:path>
                    <a:path w="2535554" h="123825">
                      <a:moveTo>
                        <a:pt x="1446933" y="1668"/>
                      </a:moveTo>
                      <a:lnTo>
                        <a:pt x="2535483" y="1668"/>
                      </a:lnTo>
                    </a:path>
                    <a:path w="2535554" h="123825">
                      <a:moveTo>
                        <a:pt x="1446933" y="121775"/>
                      </a:moveTo>
                      <a:lnTo>
                        <a:pt x="2535483" y="121775"/>
                      </a:lnTo>
                    </a:path>
                    <a:path w="2535554" h="123825">
                      <a:moveTo>
                        <a:pt x="1689764" y="0"/>
                      </a:moveTo>
                      <a:lnTo>
                        <a:pt x="1689764" y="123443"/>
                      </a:lnTo>
                    </a:path>
                    <a:path w="2535554" h="123825">
                      <a:moveTo>
                        <a:pt x="1810341" y="0"/>
                      </a:moveTo>
                      <a:lnTo>
                        <a:pt x="1810341" y="123443"/>
                      </a:lnTo>
                    </a:path>
                    <a:path w="2535554" h="123825">
                      <a:moveTo>
                        <a:pt x="2051497" y="0"/>
                      </a:moveTo>
                      <a:lnTo>
                        <a:pt x="2051497" y="123443"/>
                      </a:lnTo>
                    </a:path>
                    <a:path w="2535554" h="123825">
                      <a:moveTo>
                        <a:pt x="2172075" y="0"/>
                      </a:moveTo>
                      <a:lnTo>
                        <a:pt x="2172075" y="123443"/>
                      </a:lnTo>
                    </a:path>
                    <a:path w="2535554" h="123825">
                      <a:moveTo>
                        <a:pt x="2292653" y="0"/>
                      </a:moveTo>
                      <a:lnTo>
                        <a:pt x="2292653" y="123443"/>
                      </a:lnTo>
                    </a:path>
                    <a:path w="2535554" h="123825">
                      <a:moveTo>
                        <a:pt x="2413230" y="0"/>
                      </a:moveTo>
                      <a:lnTo>
                        <a:pt x="2413230" y="123443"/>
                      </a:lnTo>
                    </a:path>
                  </a:pathLst>
                </a:custGeom>
                <a:ln w="3342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</p:grpSp>
          <p:sp>
            <p:nvSpPr>
              <p:cNvPr id="17" name="object 17"/>
              <p:cNvSpPr/>
              <p:nvPr/>
            </p:nvSpPr>
            <p:spPr>
              <a:xfrm>
                <a:off x="1616592" y="2011753"/>
                <a:ext cx="0" cy="212351"/>
              </a:xfrm>
              <a:custGeom>
                <a:avLst/>
                <a:gdLst/>
                <a:ahLst/>
                <a:cxnLst/>
                <a:rect l="l" t="t" r="r" b="b"/>
                <a:pathLst>
                  <a:path h="240664">
                    <a:moveTo>
                      <a:pt x="0" y="0"/>
                    </a:moveTo>
                    <a:lnTo>
                      <a:pt x="0" y="240215"/>
                    </a:lnTo>
                  </a:path>
                </a:pathLst>
              </a:custGeom>
              <a:ln w="5359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999690" y="2011753"/>
                <a:ext cx="0" cy="212351"/>
              </a:xfrm>
              <a:custGeom>
                <a:avLst/>
                <a:gdLst/>
                <a:ahLst/>
                <a:cxnLst/>
                <a:rect l="l" t="t" r="r" b="b"/>
                <a:pathLst>
                  <a:path h="240664">
                    <a:moveTo>
                      <a:pt x="0" y="0"/>
                    </a:moveTo>
                    <a:lnTo>
                      <a:pt x="0" y="240215"/>
                    </a:lnTo>
                  </a:path>
                </a:pathLst>
              </a:custGeom>
              <a:ln w="5359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 txBox="1"/>
              <p:nvPr/>
            </p:nvSpPr>
            <p:spPr>
              <a:xfrm>
                <a:off x="2580013" y="2801263"/>
                <a:ext cx="100292" cy="182173"/>
              </a:xfrm>
              <a:prstGeom prst="rect">
                <a:avLst/>
              </a:prstGeom>
            </p:spPr>
            <p:txBody>
              <a:bodyPr vert="horz" wrap="square" lIns="0" tIns="12326" rIns="0" bIns="0" rtlCol="0">
                <a:spAutoFit/>
              </a:bodyPr>
              <a:lstStyle/>
              <a:p>
                <a:pPr marL="29137">
                  <a:spcBef>
                    <a:spcPts val="97"/>
                  </a:spcBef>
                </a:pPr>
                <a:r>
                  <a:rPr sz="1103" spc="-44" dirty="0">
                    <a:latin typeface="Arial MT"/>
                    <a:cs typeface="Arial MT"/>
                  </a:rPr>
                  <a:t>•</a:t>
                </a:r>
                <a:endParaRPr sz="1103">
                  <a:latin typeface="Arial MT"/>
                  <a:cs typeface="Arial MT"/>
                </a:endParaRPr>
              </a:p>
            </p:txBody>
          </p:sp>
          <p:sp>
            <p:nvSpPr>
              <p:cNvPr id="20" name="object 20"/>
              <p:cNvSpPr txBox="1"/>
              <p:nvPr/>
            </p:nvSpPr>
            <p:spPr>
              <a:xfrm>
                <a:off x="3000060" y="2861043"/>
                <a:ext cx="107576" cy="109132"/>
              </a:xfrm>
              <a:prstGeom prst="rect">
                <a:avLst/>
              </a:prstGeom>
              <a:ln w="3349">
                <a:solidFill>
                  <a:srgbClr val="000000"/>
                </a:solidFill>
              </a:ln>
            </p:spPr>
            <p:txBody>
              <a:bodyPr vert="horz" wrap="square" lIns="0" tIns="0" rIns="0" bIns="0" rtlCol="0">
                <a:spAutoFit/>
              </a:bodyPr>
              <a:lstStyle/>
              <a:p>
                <a:pPr marL="34740">
                  <a:lnSpc>
                    <a:spcPts val="833"/>
                  </a:lnSpc>
                </a:pPr>
                <a:r>
                  <a:rPr sz="1103" spc="-44" dirty="0">
                    <a:latin typeface="Arial MT"/>
                    <a:cs typeface="Arial MT"/>
                  </a:rPr>
                  <a:t>•</a:t>
                </a:r>
                <a:endParaRPr sz="1103">
                  <a:latin typeface="Arial MT"/>
                  <a:cs typeface="Arial MT"/>
                </a:endParaRPr>
              </a:p>
            </p:txBody>
          </p:sp>
          <p:sp>
            <p:nvSpPr>
              <p:cNvPr id="21" name="object 21"/>
              <p:cNvSpPr txBox="1"/>
              <p:nvPr/>
            </p:nvSpPr>
            <p:spPr>
              <a:xfrm>
                <a:off x="2681253" y="2861043"/>
                <a:ext cx="107576" cy="109132"/>
              </a:xfrm>
              <a:prstGeom prst="rect">
                <a:avLst/>
              </a:prstGeom>
              <a:ln w="3349">
                <a:solidFill>
                  <a:srgbClr val="000000"/>
                </a:solidFill>
              </a:ln>
            </p:spPr>
            <p:txBody>
              <a:bodyPr vert="horz" wrap="square" lIns="0" tIns="0" rIns="0" bIns="0" rtlCol="0">
                <a:spAutoFit/>
              </a:bodyPr>
              <a:lstStyle/>
              <a:p>
                <a:pPr marL="34180">
                  <a:lnSpc>
                    <a:spcPts val="833"/>
                  </a:lnSpc>
                </a:pPr>
                <a:r>
                  <a:rPr sz="1103" spc="-44" dirty="0">
                    <a:latin typeface="Arial MT"/>
                    <a:cs typeface="Arial MT"/>
                  </a:rPr>
                  <a:t>•</a:t>
                </a:r>
                <a:endParaRPr sz="1103">
                  <a:latin typeface="Arial MT"/>
                  <a:cs typeface="Arial MT"/>
                </a:endParaRPr>
              </a:p>
            </p:txBody>
          </p:sp>
          <p:sp>
            <p:nvSpPr>
              <p:cNvPr id="22" name="object 22"/>
              <p:cNvSpPr txBox="1"/>
              <p:nvPr/>
            </p:nvSpPr>
            <p:spPr>
              <a:xfrm>
                <a:off x="1534459" y="1246931"/>
                <a:ext cx="133350" cy="210427"/>
              </a:xfrm>
              <a:prstGeom prst="rect">
                <a:avLst/>
              </a:prstGeom>
            </p:spPr>
            <p:txBody>
              <a:bodyPr vert="horz" wrap="square" lIns="0" tIns="13447" rIns="0" bIns="0" rtlCol="0">
                <a:spAutoFit/>
              </a:bodyPr>
              <a:lstStyle/>
              <a:p>
                <a:pPr marL="11206">
                  <a:spcBef>
                    <a:spcPts val="106"/>
                  </a:spcBef>
                </a:pPr>
                <a:r>
                  <a:rPr sz="1279" b="1" spc="-44" dirty="0">
                    <a:latin typeface="Arial"/>
                    <a:cs typeface="Arial"/>
                  </a:rPr>
                  <a:t>P</a:t>
                </a:r>
                <a:endParaRPr sz="1279" dirty="0">
                  <a:latin typeface="Arial"/>
                  <a:cs typeface="Arial"/>
                </a:endParaRPr>
              </a:p>
            </p:txBody>
          </p:sp>
          <p:sp>
            <p:nvSpPr>
              <p:cNvPr id="23" name="object 23"/>
              <p:cNvSpPr txBox="1"/>
              <p:nvPr/>
            </p:nvSpPr>
            <p:spPr>
              <a:xfrm>
                <a:off x="2917556" y="1235156"/>
                <a:ext cx="133350" cy="210427"/>
              </a:xfrm>
              <a:prstGeom prst="rect">
                <a:avLst/>
              </a:prstGeom>
            </p:spPr>
            <p:txBody>
              <a:bodyPr vert="horz" wrap="square" lIns="0" tIns="13447" rIns="0" bIns="0" rtlCol="0">
                <a:spAutoFit/>
              </a:bodyPr>
              <a:lstStyle/>
              <a:p>
                <a:pPr marL="11206">
                  <a:spcBef>
                    <a:spcPts val="106"/>
                  </a:spcBef>
                </a:pPr>
                <a:r>
                  <a:rPr sz="1279" b="1" spc="-44" dirty="0">
                    <a:latin typeface="Arial"/>
                    <a:cs typeface="Arial"/>
                  </a:rPr>
                  <a:t>P</a:t>
                </a:r>
                <a:endParaRPr sz="1279">
                  <a:latin typeface="Arial"/>
                  <a:cs typeface="Arial"/>
                </a:endParaRPr>
              </a:p>
            </p:txBody>
          </p:sp>
          <p:sp>
            <p:nvSpPr>
              <p:cNvPr id="24" name="object 24"/>
              <p:cNvSpPr txBox="1"/>
              <p:nvPr/>
            </p:nvSpPr>
            <p:spPr>
              <a:xfrm>
                <a:off x="1297415" y="1693822"/>
                <a:ext cx="638735" cy="234755"/>
              </a:xfrm>
              <a:prstGeom prst="rect">
                <a:avLst/>
              </a:prstGeom>
              <a:ln w="13355">
                <a:solidFill>
                  <a:srgbClr val="000000"/>
                </a:solidFill>
              </a:ln>
            </p:spPr>
            <p:txBody>
              <a:bodyPr vert="horz" wrap="square" lIns="0" tIns="37540" rIns="0" bIns="0" rtlCol="0">
                <a:spAutoFit/>
              </a:bodyPr>
              <a:lstStyle/>
              <a:p>
                <a:pPr marL="70601">
                  <a:spcBef>
                    <a:spcPts val="296"/>
                  </a:spcBef>
                </a:pPr>
                <a:r>
                  <a:rPr sz="1279" b="1" spc="-9" dirty="0">
                    <a:latin typeface="Arial"/>
                    <a:cs typeface="Arial"/>
                  </a:rPr>
                  <a:t>Cache</a:t>
                </a:r>
                <a:endParaRPr sz="1279">
                  <a:latin typeface="Arial"/>
                  <a:cs typeface="Arial"/>
                </a:endParaRPr>
              </a:p>
            </p:txBody>
          </p:sp>
          <p:sp>
            <p:nvSpPr>
              <p:cNvPr id="25" name="object 25"/>
              <p:cNvSpPr txBox="1"/>
              <p:nvPr/>
            </p:nvSpPr>
            <p:spPr>
              <a:xfrm>
                <a:off x="2681253" y="1693822"/>
                <a:ext cx="638735" cy="222873"/>
              </a:xfrm>
              <a:prstGeom prst="rect">
                <a:avLst/>
              </a:prstGeom>
              <a:ln w="13355">
                <a:solidFill>
                  <a:srgbClr val="000000"/>
                </a:solidFill>
              </a:ln>
            </p:spPr>
            <p:txBody>
              <a:bodyPr vert="horz" wrap="square" lIns="0" tIns="25773" rIns="0" bIns="0" rtlCol="0">
                <a:spAutoFit/>
              </a:bodyPr>
              <a:lstStyle/>
              <a:p>
                <a:pPr marL="70041">
                  <a:spcBef>
                    <a:spcPts val="202"/>
                  </a:spcBef>
                </a:pPr>
                <a:r>
                  <a:rPr sz="1279" b="1" spc="-9" dirty="0">
                    <a:latin typeface="Arial"/>
                    <a:cs typeface="Arial"/>
                  </a:rPr>
                  <a:t>Cache</a:t>
                </a:r>
                <a:endParaRPr sz="1279">
                  <a:latin typeface="Arial"/>
                  <a:cs typeface="Arial"/>
                </a:endParaRPr>
              </a:p>
            </p:txBody>
          </p:sp>
          <p:sp>
            <p:nvSpPr>
              <p:cNvPr id="26" name="object 26"/>
              <p:cNvSpPr txBox="1"/>
              <p:nvPr/>
            </p:nvSpPr>
            <p:spPr>
              <a:xfrm>
                <a:off x="517822" y="2848365"/>
                <a:ext cx="3830171" cy="210427"/>
              </a:xfrm>
              <a:prstGeom prst="rect">
                <a:avLst/>
              </a:prstGeom>
            </p:spPr>
            <p:txBody>
              <a:bodyPr vert="horz" wrap="square" lIns="0" tIns="13447" rIns="0" bIns="0" rtlCol="0">
                <a:spAutoFit/>
              </a:bodyPr>
              <a:lstStyle/>
              <a:p>
                <a:pPr marL="11206">
                  <a:spcBef>
                    <a:spcPts val="106"/>
                  </a:spcBef>
                  <a:tabLst>
                    <a:tab pos="3084584" algn="l"/>
                  </a:tabLst>
                </a:pPr>
                <a:r>
                  <a:rPr sz="1279" b="1" spc="-9" dirty="0">
                    <a:latin typeface="Arial"/>
                    <a:cs typeface="Arial"/>
                  </a:rPr>
                  <a:t>Memory</a:t>
                </a:r>
                <a:r>
                  <a:rPr sz="1279" b="1" dirty="0">
                    <a:latin typeface="Arial"/>
                    <a:cs typeface="Arial"/>
                  </a:rPr>
                  <a:t>	</a:t>
                </a:r>
                <a:r>
                  <a:rPr sz="1279" b="1" spc="-9" dirty="0">
                    <a:latin typeface="Arial"/>
                    <a:cs typeface="Arial"/>
                  </a:rPr>
                  <a:t>Directory</a:t>
                </a:r>
                <a:endParaRPr sz="1279">
                  <a:latin typeface="Arial"/>
                  <a:cs typeface="Arial"/>
                </a:endParaRPr>
              </a:p>
            </p:txBody>
          </p:sp>
          <p:grpSp>
            <p:nvGrpSpPr>
              <p:cNvPr id="27" name="object 27"/>
              <p:cNvGrpSpPr/>
              <p:nvPr/>
            </p:nvGrpSpPr>
            <p:grpSpPr>
              <a:xfrm>
                <a:off x="2798728" y="2918446"/>
                <a:ext cx="709332" cy="447675"/>
                <a:chOff x="3019491" y="3307572"/>
                <a:chExt cx="803910" cy="507365"/>
              </a:xfrm>
            </p:grpSpPr>
            <p:pic>
              <p:nvPicPr>
                <p:cNvPr id="28" name="object 28"/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019491" y="3481062"/>
                  <a:ext cx="217709" cy="333631"/>
                </a:xfrm>
                <a:prstGeom prst="rect">
                  <a:avLst/>
                </a:prstGeom>
              </p:spPr>
            </p:pic>
            <p:sp>
              <p:nvSpPr>
                <p:cNvPr id="29" name="object 29"/>
                <p:cNvSpPr/>
                <p:nvPr/>
              </p:nvSpPr>
              <p:spPr>
                <a:xfrm>
                  <a:off x="3742956" y="3307575"/>
                  <a:ext cx="80645" cy="507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45" h="507364">
                      <a:moveTo>
                        <a:pt x="80378" y="346976"/>
                      </a:moveTo>
                      <a:lnTo>
                        <a:pt x="43662" y="346976"/>
                      </a:lnTo>
                      <a:lnTo>
                        <a:pt x="56934" y="3340"/>
                      </a:lnTo>
                      <a:lnTo>
                        <a:pt x="56934" y="0"/>
                      </a:lnTo>
                      <a:lnTo>
                        <a:pt x="53581" y="0"/>
                      </a:lnTo>
                      <a:lnTo>
                        <a:pt x="40182" y="346976"/>
                      </a:lnTo>
                      <a:lnTo>
                        <a:pt x="0" y="346976"/>
                      </a:lnTo>
                      <a:lnTo>
                        <a:pt x="26797" y="507123"/>
                      </a:lnTo>
                      <a:lnTo>
                        <a:pt x="80378" y="3469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</p:grpSp>
          <p:sp>
            <p:nvSpPr>
              <p:cNvPr id="31" name="object 31"/>
              <p:cNvSpPr txBox="1"/>
              <p:nvPr/>
            </p:nvSpPr>
            <p:spPr>
              <a:xfrm>
                <a:off x="1084631" y="2223708"/>
                <a:ext cx="2553821" cy="246636"/>
              </a:xfrm>
              <a:prstGeom prst="rect">
                <a:avLst/>
              </a:prstGeom>
              <a:ln w="13346">
                <a:solidFill>
                  <a:srgbClr val="000000"/>
                </a:solidFill>
              </a:ln>
            </p:spPr>
            <p:txBody>
              <a:bodyPr vert="horz" wrap="square" lIns="0" tIns="49306" rIns="0" bIns="0" rtlCol="0">
                <a:spAutoFit/>
              </a:bodyPr>
              <a:lstStyle/>
              <a:p>
                <a:pPr marL="354125">
                  <a:spcBef>
                    <a:spcPts val="388"/>
                  </a:spcBef>
                </a:pPr>
                <a:r>
                  <a:rPr sz="1279" b="1" dirty="0">
                    <a:latin typeface="Arial"/>
                    <a:cs typeface="Arial"/>
                  </a:rPr>
                  <a:t>Interconnection</a:t>
                </a:r>
                <a:r>
                  <a:rPr sz="1279" b="1" spc="49" dirty="0">
                    <a:latin typeface="Arial"/>
                    <a:cs typeface="Arial"/>
                  </a:rPr>
                  <a:t>  </a:t>
                </a:r>
                <a:r>
                  <a:rPr sz="1279" b="1" spc="-9" dirty="0">
                    <a:latin typeface="Arial"/>
                    <a:cs typeface="Arial"/>
                  </a:rPr>
                  <a:t>Network</a:t>
                </a:r>
                <a:endParaRPr sz="1279" dirty="0">
                  <a:latin typeface="Arial"/>
                  <a:cs typeface="Arial"/>
                </a:endParaRPr>
              </a:p>
            </p:txBody>
          </p:sp>
          <p:grpSp>
            <p:nvGrpSpPr>
              <p:cNvPr id="32" name="object 32"/>
              <p:cNvGrpSpPr/>
              <p:nvPr/>
            </p:nvGrpSpPr>
            <p:grpSpPr>
              <a:xfrm>
                <a:off x="2042161" y="1481867"/>
                <a:ext cx="544046" cy="118222"/>
                <a:chOff x="2162049" y="1679449"/>
                <a:chExt cx="616585" cy="133985"/>
              </a:xfrm>
            </p:grpSpPr>
            <p:pic>
              <p:nvPicPr>
                <p:cNvPr id="33" name="object 33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62049" y="1679449"/>
                  <a:ext cx="133974" cy="133452"/>
                </a:xfrm>
                <a:prstGeom prst="rect">
                  <a:avLst/>
                </a:prstGeom>
              </p:spPr>
            </p:pic>
            <p:pic>
              <p:nvPicPr>
                <p:cNvPr id="34" name="object 34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403204" y="1679449"/>
                  <a:ext cx="133976" cy="133452"/>
                </a:xfrm>
                <a:prstGeom prst="rect">
                  <a:avLst/>
                </a:prstGeom>
              </p:spPr>
            </p:pic>
            <p:pic>
              <p:nvPicPr>
                <p:cNvPr id="35" name="object 35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644360" y="1679449"/>
                  <a:ext cx="133974" cy="133452"/>
                </a:xfrm>
                <a:prstGeom prst="rect">
                  <a:avLst/>
                </a:prstGeom>
              </p:spPr>
            </p:pic>
          </p:grpSp>
          <p:grpSp>
            <p:nvGrpSpPr>
              <p:cNvPr id="36" name="object 36"/>
              <p:cNvGrpSpPr/>
              <p:nvPr/>
            </p:nvGrpSpPr>
            <p:grpSpPr>
              <a:xfrm>
                <a:off x="2597765" y="3000873"/>
                <a:ext cx="819149" cy="73959"/>
                <a:chOff x="2791733" y="3400990"/>
                <a:chExt cx="928369" cy="83820"/>
              </a:xfrm>
            </p:grpSpPr>
            <p:pic>
              <p:nvPicPr>
                <p:cNvPr id="37" name="object 37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2791733" y="3400990"/>
                  <a:ext cx="83734" cy="83408"/>
                </a:xfrm>
                <a:prstGeom prst="rect">
                  <a:avLst/>
                </a:prstGeom>
              </p:spPr>
            </p:pic>
            <p:sp>
              <p:nvSpPr>
                <p:cNvPr id="38" name="object 38"/>
                <p:cNvSpPr/>
                <p:nvPr/>
              </p:nvSpPr>
              <p:spPr>
                <a:xfrm>
                  <a:off x="2872118" y="3482730"/>
                  <a:ext cx="75374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45">
                      <a:moveTo>
                        <a:pt x="0" y="0"/>
                      </a:moveTo>
                      <a:lnTo>
                        <a:pt x="753611" y="0"/>
                      </a:lnTo>
                    </a:path>
                  </a:pathLst>
                </a:custGeom>
                <a:ln w="3336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588"/>
                </a:p>
              </p:txBody>
            </p:sp>
            <p:pic>
              <p:nvPicPr>
                <p:cNvPr id="39" name="object 39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3635777" y="3400990"/>
                  <a:ext cx="83734" cy="83408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0" name="object 40"/>
          <p:cNvSpPr txBox="1"/>
          <p:nvPr/>
        </p:nvSpPr>
        <p:spPr>
          <a:xfrm>
            <a:off x="4572000" y="1475876"/>
            <a:ext cx="4189319" cy="1430162"/>
          </a:xfrm>
          <a:prstGeom prst="rect">
            <a:avLst/>
          </a:prstGeom>
        </p:spPr>
        <p:txBody>
          <a:bodyPr vert="horz" wrap="square" lIns="0" tIns="81243" rIns="0" bIns="0" rtlCol="0">
            <a:spAutoFit/>
          </a:bodyPr>
          <a:lstStyle/>
          <a:p>
            <a:pPr marL="203958" indent="-192751">
              <a:spcBef>
                <a:spcPts val="640"/>
              </a:spcBef>
              <a:buChar char="•"/>
              <a:tabLst>
                <a:tab pos="203958" algn="l"/>
              </a:tabLst>
            </a:pPr>
            <a:r>
              <a:rPr sz="1677" dirty="0">
                <a:latin typeface="Arial MT"/>
                <a:cs typeface="Arial MT"/>
              </a:rPr>
              <a:t>k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processors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(or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k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bussed,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snoopy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nodes)</a:t>
            </a:r>
            <a:endParaRPr sz="1677" dirty="0">
              <a:latin typeface="Arial MT"/>
              <a:cs typeface="Arial MT"/>
            </a:endParaRPr>
          </a:p>
          <a:p>
            <a:pPr marL="203958" marR="648295" indent="-192751">
              <a:lnSpc>
                <a:spcPts val="1755"/>
              </a:lnSpc>
              <a:spcBef>
                <a:spcPts val="821"/>
              </a:spcBef>
              <a:buChar char="•"/>
              <a:tabLst>
                <a:tab pos="332272" algn="l"/>
                <a:tab pos="569850" algn="l"/>
              </a:tabLst>
            </a:pPr>
            <a:r>
              <a:rPr sz="1677" dirty="0">
                <a:latin typeface="Arial MT"/>
                <a:cs typeface="Arial MT"/>
              </a:rPr>
              <a:t>With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each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cache-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b="1" spc="-9" dirty="0">
                <a:latin typeface="Arial"/>
                <a:cs typeface="Arial"/>
              </a:rPr>
              <a:t>memory</a:t>
            </a:r>
            <a:r>
              <a:rPr sz="1677" spc="-9" dirty="0">
                <a:latin typeface="Arial MT"/>
                <a:cs typeface="Arial MT"/>
              </a:rPr>
              <a:t>: 	</a:t>
            </a:r>
            <a:r>
              <a:rPr sz="1677" b="1" spc="-44" dirty="0">
                <a:latin typeface="Arial"/>
                <a:cs typeface="Arial"/>
              </a:rPr>
              <a:t>k</a:t>
            </a:r>
            <a:r>
              <a:rPr sz="1677" b="1" dirty="0">
                <a:latin typeface="Arial"/>
                <a:cs typeface="Arial"/>
              </a:rPr>
              <a:t>	</a:t>
            </a:r>
            <a:r>
              <a:rPr sz="1677" b="1" spc="-9" dirty="0">
                <a:latin typeface="Arial"/>
                <a:cs typeface="Arial"/>
              </a:rPr>
              <a:t>presence-</a:t>
            </a:r>
            <a:r>
              <a:rPr sz="1677" b="1" dirty="0">
                <a:latin typeface="Arial"/>
                <a:cs typeface="Arial"/>
              </a:rPr>
              <a:t>bits</a:t>
            </a:r>
            <a:r>
              <a:rPr sz="1677" b="1" spc="9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p[i]</a:t>
            </a:r>
            <a:r>
              <a:rPr sz="1677" dirty="0">
                <a:latin typeface="Arial MT"/>
                <a:cs typeface="Arial MT"/>
              </a:rPr>
              <a:t>,</a:t>
            </a:r>
            <a:r>
              <a:rPr sz="1677" spc="9" dirty="0">
                <a:latin typeface="Arial MT"/>
                <a:cs typeface="Arial MT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13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dirty-</a:t>
            </a:r>
            <a:r>
              <a:rPr sz="1677" b="1" spc="-22" dirty="0">
                <a:latin typeface="Arial"/>
                <a:cs typeface="Arial"/>
              </a:rPr>
              <a:t>bit</a:t>
            </a:r>
            <a:endParaRPr sz="1677" dirty="0">
              <a:latin typeface="Arial"/>
              <a:cs typeface="Arial"/>
            </a:endParaRPr>
          </a:p>
          <a:p>
            <a:pPr marL="203958" indent="-192751">
              <a:lnSpc>
                <a:spcPts val="1844"/>
              </a:lnSpc>
              <a:spcBef>
                <a:spcPts val="538"/>
              </a:spcBef>
              <a:buChar char="•"/>
              <a:tabLst>
                <a:tab pos="203958" algn="l"/>
              </a:tabLst>
            </a:pPr>
            <a:r>
              <a:rPr sz="1677" dirty="0">
                <a:latin typeface="Arial MT"/>
                <a:cs typeface="Arial MT"/>
              </a:rPr>
              <a:t>With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each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cache-</a:t>
            </a:r>
            <a:r>
              <a:rPr sz="1677" dirty="0">
                <a:latin typeface="Arial MT"/>
                <a:cs typeface="Arial MT"/>
              </a:rPr>
              <a:t>block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in</a:t>
            </a:r>
            <a:r>
              <a:rPr sz="1677" spc="-4" dirty="0">
                <a:latin typeface="Arial MT"/>
                <a:cs typeface="Arial MT"/>
              </a:rPr>
              <a:t> </a:t>
            </a:r>
            <a:r>
              <a:rPr sz="1677" b="1" spc="-9" dirty="0">
                <a:latin typeface="Arial"/>
                <a:cs typeface="Arial"/>
              </a:rPr>
              <a:t>cache</a:t>
            </a:r>
            <a:r>
              <a:rPr sz="1677" spc="-9" dirty="0">
                <a:latin typeface="Arial MT"/>
                <a:cs typeface="Arial MT"/>
              </a:rPr>
              <a:t>:</a:t>
            </a:r>
            <a:endParaRPr sz="1677" dirty="0">
              <a:latin typeface="Arial MT"/>
              <a:cs typeface="Arial MT"/>
            </a:endParaRPr>
          </a:p>
          <a:p>
            <a:pPr marL="332272">
              <a:lnSpc>
                <a:spcPts val="1844"/>
              </a:lnSpc>
            </a:pP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-22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valid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dirty="0">
                <a:latin typeface="Arial MT"/>
                <a:cs typeface="Arial MT"/>
              </a:rPr>
              <a:t>bit,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dirty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dirty="0">
                <a:latin typeface="Arial MT"/>
                <a:cs typeface="Arial MT"/>
              </a:rPr>
              <a:t>(owner)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22" dirty="0">
                <a:latin typeface="Arial MT"/>
                <a:cs typeface="Arial MT"/>
              </a:rPr>
              <a:t>bit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42" name="Slide Number Placeholder 39">
            <a:extLst>
              <a:ext uri="{FF2B5EF4-FFF2-40B4-BE49-F238E27FC236}">
                <a16:creationId xmlns:a16="http://schemas.microsoft.com/office/drawing/2014/main" id="{AE1291E6-B67B-923F-B519-2EB35BA5D0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438734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Picture</a:t>
            </a:r>
            <a:r>
              <a:rPr spc="-44" dirty="0"/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Keep</a:t>
            </a:r>
            <a:r>
              <a:rPr spc="-31" dirty="0"/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6" dirty="0"/>
              <a:t> </a:t>
            </a:r>
            <a:r>
              <a:rPr spc="-18" dirty="0"/>
              <a:t>Mind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41291" y="1975064"/>
            <a:ext cx="6305550" cy="1980640"/>
            <a:chOff x="1594397" y="2238405"/>
            <a:chExt cx="7146290" cy="2244725"/>
          </a:xfrm>
        </p:grpSpPr>
        <p:sp>
          <p:nvSpPr>
            <p:cNvPr id="4" name="object 4"/>
            <p:cNvSpPr/>
            <p:nvPr/>
          </p:nvSpPr>
          <p:spPr>
            <a:xfrm>
              <a:off x="3065057" y="3902951"/>
              <a:ext cx="3153410" cy="564515"/>
            </a:xfrm>
            <a:custGeom>
              <a:avLst/>
              <a:gdLst/>
              <a:ahLst/>
              <a:cxnLst/>
              <a:rect l="l" t="t" r="r" b="b"/>
              <a:pathLst>
                <a:path w="3153410" h="564514">
                  <a:moveTo>
                    <a:pt x="0" y="0"/>
                  </a:moveTo>
                  <a:lnTo>
                    <a:pt x="0" y="564313"/>
                  </a:lnTo>
                </a:path>
                <a:path w="3153410" h="564514">
                  <a:moveTo>
                    <a:pt x="3153408" y="0"/>
                  </a:moveTo>
                  <a:lnTo>
                    <a:pt x="3153408" y="564313"/>
                  </a:lnTo>
                </a:path>
              </a:pathLst>
            </a:custGeom>
            <a:ln w="303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1609637" y="4467264"/>
              <a:ext cx="7115809" cy="0"/>
            </a:xfrm>
            <a:custGeom>
              <a:avLst/>
              <a:gdLst/>
              <a:ahLst/>
              <a:cxnLst/>
              <a:rect l="l" t="t" r="r" b="b"/>
              <a:pathLst>
                <a:path w="7115809">
                  <a:moveTo>
                    <a:pt x="0" y="0"/>
                  </a:moveTo>
                  <a:lnTo>
                    <a:pt x="7115385" y="1"/>
                  </a:lnTo>
                </a:path>
              </a:pathLst>
            </a:custGeom>
            <a:ln w="303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1970112" y="2265679"/>
              <a:ext cx="2301240" cy="1671320"/>
            </a:xfrm>
            <a:custGeom>
              <a:avLst/>
              <a:gdLst/>
              <a:ahLst/>
              <a:cxnLst/>
              <a:rect l="l" t="t" r="r" b="b"/>
              <a:pathLst>
                <a:path w="2301240" h="1671320">
                  <a:moveTo>
                    <a:pt x="2301049" y="0"/>
                  </a:moveTo>
                  <a:lnTo>
                    <a:pt x="2267356" y="0"/>
                  </a:lnTo>
                  <a:lnTo>
                    <a:pt x="2267356" y="6350"/>
                  </a:lnTo>
                  <a:lnTo>
                    <a:pt x="2267356" y="13970"/>
                  </a:lnTo>
                  <a:lnTo>
                    <a:pt x="2267356" y="1637030"/>
                  </a:lnTo>
                  <a:lnTo>
                    <a:pt x="6743" y="1637030"/>
                  </a:lnTo>
                  <a:lnTo>
                    <a:pt x="6743" y="1637271"/>
                  </a:lnTo>
                  <a:lnTo>
                    <a:pt x="0" y="1637271"/>
                  </a:lnTo>
                  <a:lnTo>
                    <a:pt x="0" y="1657350"/>
                  </a:lnTo>
                  <a:lnTo>
                    <a:pt x="0" y="1671320"/>
                  </a:lnTo>
                  <a:lnTo>
                    <a:pt x="2301049" y="1671320"/>
                  </a:lnTo>
                  <a:lnTo>
                    <a:pt x="2301049" y="1657350"/>
                  </a:lnTo>
                  <a:lnTo>
                    <a:pt x="2301049" y="13970"/>
                  </a:lnTo>
                  <a:lnTo>
                    <a:pt x="2301049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949908" y="2245390"/>
              <a:ext cx="2287905" cy="1657985"/>
            </a:xfrm>
            <a:custGeom>
              <a:avLst/>
              <a:gdLst/>
              <a:ahLst/>
              <a:cxnLst/>
              <a:rect l="l" t="t" r="r" b="b"/>
              <a:pathLst>
                <a:path w="2287904" h="1657985">
                  <a:moveTo>
                    <a:pt x="0" y="0"/>
                  </a:moveTo>
                  <a:lnTo>
                    <a:pt x="2287569" y="0"/>
                  </a:lnTo>
                  <a:lnTo>
                    <a:pt x="2287569" y="1657561"/>
                  </a:lnTo>
                  <a:lnTo>
                    <a:pt x="0" y="1657561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2701202" y="2831600"/>
              <a:ext cx="834390" cy="802005"/>
            </a:xfrm>
            <a:custGeom>
              <a:avLst/>
              <a:gdLst/>
              <a:ahLst/>
              <a:cxnLst/>
              <a:rect l="l" t="t" r="r" b="b"/>
              <a:pathLst>
                <a:path w="834389" h="802004">
                  <a:moveTo>
                    <a:pt x="0" y="549151"/>
                  </a:moveTo>
                  <a:lnTo>
                    <a:pt x="0" y="801829"/>
                  </a:lnTo>
                </a:path>
                <a:path w="834389" h="802004">
                  <a:moveTo>
                    <a:pt x="0" y="0"/>
                  </a:moveTo>
                  <a:lnTo>
                    <a:pt x="0" y="178558"/>
                  </a:lnTo>
                </a:path>
                <a:path w="834389" h="802004">
                  <a:moveTo>
                    <a:pt x="833833" y="28637"/>
                  </a:moveTo>
                  <a:lnTo>
                    <a:pt x="833833" y="801829"/>
                  </a:lnTo>
                </a:path>
              </a:pathLst>
            </a:custGeom>
            <a:ln w="13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2133521" y="3633429"/>
              <a:ext cx="1898650" cy="0"/>
            </a:xfrm>
            <a:custGeom>
              <a:avLst/>
              <a:gdLst/>
              <a:ahLst/>
              <a:cxnLst/>
              <a:rect l="l" t="t" r="r" b="b"/>
              <a:pathLst>
                <a:path w="1898650">
                  <a:moveTo>
                    <a:pt x="0" y="0"/>
                  </a:moveTo>
                  <a:lnTo>
                    <a:pt x="1898447" y="1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17229" y="2171477"/>
            <a:ext cx="383801" cy="271002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93574">
              <a:spcBef>
                <a:spcPts val="313"/>
              </a:spcBef>
            </a:pP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P</a:t>
            </a:r>
            <a:r>
              <a:rPr sz="1456" b="1" spc="-33" baseline="-15151" dirty="0">
                <a:solidFill>
                  <a:srgbClr val="FC0128"/>
                </a:solidFill>
                <a:latin typeface="Arial"/>
                <a:cs typeface="Arial"/>
              </a:rPr>
              <a:t>1</a:t>
            </a:r>
            <a:endParaRPr sz="1456" baseline="-15151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66278" y="2656023"/>
            <a:ext cx="290232" cy="327212"/>
          </a:xfrm>
          <a:custGeom>
            <a:avLst/>
            <a:gdLst/>
            <a:ahLst/>
            <a:cxnLst/>
            <a:rect l="l" t="t" r="r" b="b"/>
            <a:pathLst>
              <a:path w="328930" h="370839">
                <a:moveTo>
                  <a:pt x="0" y="0"/>
                </a:moveTo>
                <a:lnTo>
                  <a:pt x="328480" y="0"/>
                </a:lnTo>
                <a:lnTo>
                  <a:pt x="328480" y="370593"/>
                </a:lnTo>
                <a:lnTo>
                  <a:pt x="0" y="370593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2447224" y="2684480"/>
            <a:ext cx="1288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solidFill>
                  <a:srgbClr val="FC0128"/>
                </a:solidFill>
                <a:latin typeface="Arial"/>
                <a:cs typeface="Arial"/>
              </a:rPr>
              <a:t>$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8254" y="2196745"/>
            <a:ext cx="691403" cy="269870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8660" rIns="0" bIns="0" rtlCol="0">
            <a:spAutoFit/>
          </a:bodyPr>
          <a:lstStyle/>
          <a:p>
            <a:pPr marL="93574">
              <a:spcBef>
                <a:spcPts val="304"/>
              </a:spcBef>
            </a:pPr>
            <a:r>
              <a:rPr sz="1500" b="1" spc="-18" dirty="0">
                <a:solidFill>
                  <a:srgbClr val="FC0128"/>
                </a:solidFill>
                <a:latin typeface="Arial"/>
                <a:cs typeface="Arial"/>
              </a:rPr>
              <a:t>Mem</a:t>
            </a:r>
            <a:r>
              <a:rPr sz="1456" b="1" spc="-26" baseline="-15151" dirty="0">
                <a:solidFill>
                  <a:srgbClr val="FC0128"/>
                </a:solidFill>
                <a:latin typeface="Arial"/>
                <a:cs typeface="Arial"/>
              </a:rPr>
              <a:t>1</a:t>
            </a:r>
            <a:endParaRPr sz="1456" baseline="-15151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95563" y="1975064"/>
            <a:ext cx="2054599" cy="1498787"/>
            <a:chOff x="5055905" y="2238405"/>
            <a:chExt cx="2328545" cy="1698625"/>
          </a:xfrm>
        </p:grpSpPr>
        <p:sp>
          <p:nvSpPr>
            <p:cNvPr id="15" name="object 15"/>
            <p:cNvSpPr/>
            <p:nvPr/>
          </p:nvSpPr>
          <p:spPr>
            <a:xfrm>
              <a:off x="5083099" y="2265679"/>
              <a:ext cx="2301240" cy="1671320"/>
            </a:xfrm>
            <a:custGeom>
              <a:avLst/>
              <a:gdLst/>
              <a:ahLst/>
              <a:cxnLst/>
              <a:rect l="l" t="t" r="r" b="b"/>
              <a:pathLst>
                <a:path w="2301240" h="1671320">
                  <a:moveTo>
                    <a:pt x="2301049" y="0"/>
                  </a:moveTo>
                  <a:lnTo>
                    <a:pt x="2267356" y="0"/>
                  </a:lnTo>
                  <a:lnTo>
                    <a:pt x="2267356" y="6350"/>
                  </a:lnTo>
                  <a:lnTo>
                    <a:pt x="2267356" y="13970"/>
                  </a:lnTo>
                  <a:lnTo>
                    <a:pt x="2267356" y="1637030"/>
                  </a:lnTo>
                  <a:lnTo>
                    <a:pt x="6743" y="1637030"/>
                  </a:lnTo>
                  <a:lnTo>
                    <a:pt x="6743" y="1637271"/>
                  </a:lnTo>
                  <a:lnTo>
                    <a:pt x="0" y="1637271"/>
                  </a:lnTo>
                  <a:lnTo>
                    <a:pt x="0" y="1657350"/>
                  </a:lnTo>
                  <a:lnTo>
                    <a:pt x="0" y="1671320"/>
                  </a:lnTo>
                  <a:lnTo>
                    <a:pt x="2301049" y="1671320"/>
                  </a:lnTo>
                  <a:lnTo>
                    <a:pt x="2301049" y="1657350"/>
                  </a:lnTo>
                  <a:lnTo>
                    <a:pt x="2301049" y="13970"/>
                  </a:lnTo>
                  <a:lnTo>
                    <a:pt x="2301049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5062890" y="2245390"/>
              <a:ext cx="2287905" cy="1657985"/>
            </a:xfrm>
            <a:custGeom>
              <a:avLst/>
              <a:gdLst/>
              <a:ahLst/>
              <a:cxnLst/>
              <a:rect l="l" t="t" r="r" b="b"/>
              <a:pathLst>
                <a:path w="2287904" h="1657985">
                  <a:moveTo>
                    <a:pt x="0" y="0"/>
                  </a:moveTo>
                  <a:lnTo>
                    <a:pt x="2287569" y="0"/>
                  </a:lnTo>
                  <a:lnTo>
                    <a:pt x="2287569" y="1657561"/>
                  </a:lnTo>
                  <a:lnTo>
                    <a:pt x="0" y="1657561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4183" y="2831600"/>
              <a:ext cx="834390" cy="802005"/>
            </a:xfrm>
            <a:custGeom>
              <a:avLst/>
              <a:gdLst/>
              <a:ahLst/>
              <a:cxnLst/>
              <a:rect l="l" t="t" r="r" b="b"/>
              <a:pathLst>
                <a:path w="834390" h="802004">
                  <a:moveTo>
                    <a:pt x="0" y="549151"/>
                  </a:moveTo>
                  <a:lnTo>
                    <a:pt x="0" y="801829"/>
                  </a:lnTo>
                </a:path>
                <a:path w="834390" h="802004">
                  <a:moveTo>
                    <a:pt x="0" y="0"/>
                  </a:moveTo>
                  <a:lnTo>
                    <a:pt x="0" y="178558"/>
                  </a:lnTo>
                </a:path>
                <a:path w="834390" h="802004">
                  <a:moveTo>
                    <a:pt x="833835" y="28637"/>
                  </a:moveTo>
                  <a:lnTo>
                    <a:pt x="833835" y="801829"/>
                  </a:lnTo>
                </a:path>
              </a:pathLst>
            </a:custGeom>
            <a:ln w="13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6502" y="3633429"/>
              <a:ext cx="1898650" cy="0"/>
            </a:xfrm>
            <a:custGeom>
              <a:avLst/>
              <a:gdLst/>
              <a:ahLst/>
              <a:cxnLst/>
              <a:rect l="l" t="t" r="r" b="b"/>
              <a:pathLst>
                <a:path w="1898650">
                  <a:moveTo>
                    <a:pt x="0" y="0"/>
                  </a:moveTo>
                  <a:lnTo>
                    <a:pt x="1898447" y="1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63978" y="2171477"/>
            <a:ext cx="383801" cy="271002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93574">
              <a:spcBef>
                <a:spcPts val="313"/>
              </a:spcBef>
            </a:pP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P</a:t>
            </a:r>
            <a:r>
              <a:rPr sz="1456" b="1" spc="-33" baseline="-15151" dirty="0">
                <a:solidFill>
                  <a:srgbClr val="FC0128"/>
                </a:solidFill>
                <a:latin typeface="Arial"/>
                <a:cs typeface="Arial"/>
              </a:rPr>
              <a:t>2</a:t>
            </a:r>
            <a:endParaRPr sz="1456" baseline="-15151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13026" y="2656023"/>
            <a:ext cx="290232" cy="327212"/>
          </a:xfrm>
          <a:custGeom>
            <a:avLst/>
            <a:gdLst/>
            <a:ahLst/>
            <a:cxnLst/>
            <a:rect l="l" t="t" r="r" b="b"/>
            <a:pathLst>
              <a:path w="328929" h="370839">
                <a:moveTo>
                  <a:pt x="0" y="0"/>
                </a:moveTo>
                <a:lnTo>
                  <a:pt x="328480" y="0"/>
                </a:lnTo>
                <a:lnTo>
                  <a:pt x="328480" y="370593"/>
                </a:lnTo>
                <a:lnTo>
                  <a:pt x="0" y="370593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 txBox="1"/>
          <p:nvPr/>
        </p:nvSpPr>
        <p:spPr>
          <a:xfrm>
            <a:off x="5193971" y="2684480"/>
            <a:ext cx="1288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solidFill>
                  <a:srgbClr val="FC0128"/>
                </a:solidFill>
                <a:latin typeface="Arial"/>
                <a:cs typeface="Arial"/>
              </a:rPr>
              <a:t>$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05004" y="2196745"/>
            <a:ext cx="691403" cy="269870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8660" rIns="0" bIns="0" rtlCol="0">
            <a:spAutoFit/>
          </a:bodyPr>
          <a:lstStyle/>
          <a:p>
            <a:pPr marL="93574">
              <a:spcBef>
                <a:spcPts val="304"/>
              </a:spcBef>
            </a:pPr>
            <a:r>
              <a:rPr sz="1500" b="1" spc="-18" dirty="0">
                <a:solidFill>
                  <a:srgbClr val="FC0128"/>
                </a:solidFill>
                <a:latin typeface="Arial"/>
                <a:cs typeface="Arial"/>
              </a:rPr>
              <a:t>Mem</a:t>
            </a:r>
            <a:r>
              <a:rPr sz="1456" b="1" spc="-26" baseline="-15151" dirty="0">
                <a:solidFill>
                  <a:srgbClr val="FC0128"/>
                </a:solidFill>
                <a:latin typeface="Arial"/>
                <a:cs typeface="Arial"/>
              </a:rPr>
              <a:t>2</a:t>
            </a:r>
            <a:endParaRPr sz="1456" baseline="-15151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21810" y="2493981"/>
            <a:ext cx="40341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b="1" spc="-44" dirty="0">
                <a:solidFill>
                  <a:srgbClr val="FC0128"/>
                </a:solidFill>
                <a:latin typeface="Arial"/>
                <a:cs typeface="Arial"/>
              </a:rPr>
              <a:t>…</a:t>
            </a:r>
            <a:endParaRPr sz="3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3565" y="4301761"/>
            <a:ext cx="2089897" cy="1350193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Cost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structure</a:t>
            </a:r>
            <a:endParaRPr sz="2206">
              <a:latin typeface="Calibri"/>
              <a:cs typeface="Calibri"/>
            </a:endParaRPr>
          </a:p>
          <a:p>
            <a:pPr marL="651096" lvl="1" indent="-212363">
              <a:spcBef>
                <a:spcPts val="424"/>
              </a:spcBef>
              <a:buChar char="–"/>
              <a:tabLst>
                <a:tab pos="651096" algn="l"/>
              </a:tabLst>
            </a:pPr>
            <a:r>
              <a:rPr sz="1677" spc="-9" dirty="0">
                <a:latin typeface="Calibri"/>
                <a:cs typeface="Calibri"/>
              </a:rPr>
              <a:t>cache</a:t>
            </a:r>
            <a:endParaRPr sz="1677">
              <a:latin typeface="Calibri"/>
              <a:cs typeface="Calibri"/>
            </a:endParaRPr>
          </a:p>
          <a:p>
            <a:pPr marL="651096" lvl="1" indent="-212363">
              <a:spcBef>
                <a:spcPts val="379"/>
              </a:spcBef>
              <a:buChar char="–"/>
              <a:tabLst>
                <a:tab pos="651096" algn="l"/>
              </a:tabLst>
            </a:pPr>
            <a:r>
              <a:rPr sz="1677" dirty="0">
                <a:latin typeface="Calibri"/>
                <a:cs typeface="Calibri"/>
              </a:rPr>
              <a:t>local </a:t>
            </a:r>
            <a:r>
              <a:rPr sz="1677" spc="-9" dirty="0">
                <a:latin typeface="Calibri"/>
                <a:cs typeface="Calibri"/>
              </a:rPr>
              <a:t>memory</a:t>
            </a:r>
            <a:endParaRPr sz="1677">
              <a:latin typeface="Calibri"/>
              <a:cs typeface="Calibri"/>
            </a:endParaRPr>
          </a:p>
          <a:p>
            <a:pPr marL="651096" lvl="1" indent="-212363">
              <a:spcBef>
                <a:spcPts val="361"/>
              </a:spcBef>
              <a:buChar char="–"/>
              <a:tabLst>
                <a:tab pos="651096" algn="l"/>
              </a:tabLst>
            </a:pPr>
            <a:r>
              <a:rPr sz="1677" dirty="0">
                <a:latin typeface="Calibri"/>
                <a:cs typeface="Calibri"/>
              </a:rPr>
              <a:t>remote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memory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38083" y="4714090"/>
            <a:ext cx="1022537" cy="936814"/>
          </a:xfrm>
          <a:prstGeom prst="rect">
            <a:avLst/>
          </a:prstGeom>
        </p:spPr>
        <p:txBody>
          <a:bodyPr vert="horz" wrap="square" lIns="0" tIns="59391" rIns="0" bIns="0" rtlCol="0">
            <a:spAutoFit/>
          </a:bodyPr>
          <a:lstStyle/>
          <a:p>
            <a:pPr marL="11206">
              <a:spcBef>
                <a:spcPts val="468"/>
              </a:spcBef>
            </a:pPr>
            <a:r>
              <a:rPr sz="1677" dirty="0">
                <a:latin typeface="Calibri"/>
                <a:cs typeface="Calibri"/>
              </a:rPr>
              <a:t>~2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cycles</a:t>
            </a:r>
            <a:endParaRPr sz="1677">
              <a:latin typeface="Calibri"/>
              <a:cs typeface="Calibri"/>
            </a:endParaRPr>
          </a:p>
          <a:p>
            <a:pPr marL="11206">
              <a:spcBef>
                <a:spcPts val="379"/>
              </a:spcBef>
            </a:pPr>
            <a:r>
              <a:rPr sz="1677" dirty="0">
                <a:latin typeface="Calibri"/>
                <a:cs typeface="Calibri"/>
              </a:rPr>
              <a:t>~80 </a:t>
            </a:r>
            <a:r>
              <a:rPr sz="1677" spc="-9" dirty="0">
                <a:latin typeface="Calibri"/>
                <a:cs typeface="Calibri"/>
              </a:rPr>
              <a:t>cycles</a:t>
            </a:r>
            <a:endParaRPr sz="1677">
              <a:latin typeface="Calibri"/>
              <a:cs typeface="Calibri"/>
            </a:endParaRPr>
          </a:p>
          <a:p>
            <a:pPr marL="11206">
              <a:spcBef>
                <a:spcPts val="361"/>
              </a:spcBef>
            </a:pPr>
            <a:r>
              <a:rPr sz="1677" dirty="0">
                <a:latin typeface="Calibri"/>
                <a:cs typeface="Calibri"/>
              </a:rPr>
              <a:t>~200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cycles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27" name="Slide Number Placeholder 39">
            <a:extLst>
              <a:ext uri="{FF2B5EF4-FFF2-40B4-BE49-F238E27FC236}">
                <a16:creationId xmlns:a16="http://schemas.microsoft.com/office/drawing/2014/main" id="{0E71253B-D03D-0D2A-903B-250A461F41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46681"/>
            <a:ext cx="7498484" cy="608763"/>
          </a:xfrm>
          <a:prstGeom prst="rect">
            <a:avLst/>
          </a:prstGeom>
        </p:spPr>
        <p:txBody>
          <a:bodyPr vert="horz" wrap="square" lIns="0" tIns="14567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44" dirty="0"/>
              <a:t>Directory</a:t>
            </a:r>
            <a:r>
              <a:rPr spc="-75" dirty="0"/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71" dirty="0"/>
              <a:t> </a:t>
            </a:r>
            <a:r>
              <a:rPr spc="-57" dirty="0"/>
              <a:t>Distributed-</a:t>
            </a:r>
            <a:r>
              <a:rPr spc="-53" dirty="0"/>
              <a:t>Memory</a:t>
            </a:r>
            <a:r>
              <a:rPr spc="-75" dirty="0"/>
              <a:t> </a:t>
            </a:r>
            <a:r>
              <a:rPr spc="-62" dirty="0"/>
              <a:t>Multi-</a:t>
            </a:r>
            <a:r>
              <a:rPr spc="-18" dirty="0"/>
              <a:t>Processor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138" y="1639793"/>
            <a:ext cx="7134411" cy="4066615"/>
          </a:xfrm>
          <a:prstGeom prst="rect">
            <a:avLst/>
          </a:prstGeom>
        </p:spPr>
      </p:pic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A16CEA27-C671-47D9-E49C-2C6878DC16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Directory</a:t>
            </a:r>
            <a:r>
              <a:rPr spc="-31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1" y="1253884"/>
            <a:ext cx="6819339" cy="4809500"/>
          </a:xfrm>
          <a:prstGeom prst="rect">
            <a:avLst/>
          </a:prstGeom>
        </p:spPr>
        <p:txBody>
          <a:bodyPr vert="horz" wrap="square" lIns="0" tIns="77321" rIns="0" bIns="0" rtlCol="0">
            <a:spAutoFit/>
          </a:bodyPr>
          <a:lstStyle/>
          <a:p>
            <a:pPr marL="278481" indent="-267275">
              <a:spcBef>
                <a:spcPts val="60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Similar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Snoopy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Protocol: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Three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states</a:t>
            </a:r>
            <a:r>
              <a:rPr sz="2206" spc="-172" dirty="0">
                <a:latin typeface="Calibri"/>
                <a:cs typeface="Calibri"/>
              </a:rPr>
              <a:t> </a:t>
            </a:r>
            <a:r>
              <a:rPr sz="2206" i="1" u="heavy" spc="-3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i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206" i="1" u="heavy" spc="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6" i="1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directory</a:t>
            </a:r>
            <a:endParaRPr sz="2206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Shared</a:t>
            </a:r>
            <a:r>
              <a:rPr sz="1853" dirty="0">
                <a:latin typeface="Calibri"/>
                <a:cs typeface="Calibri"/>
              </a:rPr>
              <a:t>: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≥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processors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have</a:t>
            </a:r>
            <a:r>
              <a:rPr sz="1853" spc="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data,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up-to-</a:t>
            </a:r>
            <a:r>
              <a:rPr sz="1853" spc="-18" dirty="0">
                <a:latin typeface="Calibri"/>
                <a:cs typeface="Calibri"/>
              </a:rPr>
              <a:t>date</a:t>
            </a:r>
            <a:endParaRPr sz="1853">
              <a:latin typeface="Calibri"/>
              <a:cs typeface="Calibri"/>
            </a:endParaRPr>
          </a:p>
          <a:p>
            <a:pPr marL="652777" lvl="1" indent="-213483">
              <a:spcBef>
                <a:spcPts val="507"/>
              </a:spcBef>
              <a:buChar char="–"/>
              <a:tabLst>
                <a:tab pos="652777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Uncached</a:t>
            </a:r>
            <a:r>
              <a:rPr sz="1853" spc="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only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memory;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22" dirty="0">
                <a:latin typeface="Calibri"/>
                <a:cs typeface="Calibri"/>
              </a:rPr>
              <a:t>it;</a:t>
            </a:r>
            <a:endParaRPr sz="1853">
              <a:latin typeface="Calibri"/>
              <a:cs typeface="Calibri"/>
            </a:endParaRPr>
          </a:p>
          <a:p>
            <a:pPr marL="3435346" lvl="1" indent="-2996052">
              <a:spcBef>
                <a:spcPts val="424"/>
              </a:spcBef>
              <a:buChar char="–"/>
              <a:tabLst>
                <a:tab pos="3435346" algn="l"/>
              </a:tabLst>
            </a:pPr>
            <a:r>
              <a:rPr sz="1853" dirty="0">
                <a:latin typeface="Calibri"/>
                <a:cs typeface="Calibri"/>
              </a:rPr>
              <a:t>not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valid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any</a:t>
            </a:r>
            <a:r>
              <a:rPr sz="1853" spc="4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cache</a:t>
            </a:r>
            <a:endParaRPr sz="1853">
              <a:latin typeface="Calibri"/>
              <a:cs typeface="Calibri"/>
            </a:endParaRPr>
          </a:p>
          <a:p>
            <a:pPr marL="652777" marR="1158190" lvl="1" indent="-213483">
              <a:lnSpc>
                <a:spcPts val="2030"/>
              </a:lnSpc>
              <a:spcBef>
                <a:spcPts val="653"/>
              </a:spcBef>
              <a:buChar char="–"/>
              <a:tabLst>
                <a:tab pos="867382" algn="l"/>
                <a:tab pos="2579171" algn="l"/>
              </a:tabLst>
            </a:pP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Exclusive</a:t>
            </a:r>
            <a:r>
              <a:rPr sz="1853" dirty="0">
                <a:latin typeface="Calibri"/>
                <a:cs typeface="Calibri"/>
              </a:rPr>
              <a:t>: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1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owner</a:t>
            </a:r>
            <a:r>
              <a:rPr sz="1853" dirty="0">
                <a:latin typeface="Calibri"/>
                <a:cs typeface="Calibri"/>
              </a:rPr>
              <a:t>)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has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data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9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its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cache; 	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853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53" spc="-18" dirty="0">
                <a:solidFill>
                  <a:srgbClr val="FF0000"/>
                </a:solidFill>
                <a:latin typeface="Calibri"/>
                <a:cs typeface="Calibri"/>
              </a:rPr>
              <a:t>Dirty</a:t>
            </a:r>
            <a:r>
              <a:rPr sz="1853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53" dirty="0">
                <a:latin typeface="Calibri"/>
                <a:cs typeface="Calibri"/>
              </a:rPr>
              <a:t>memory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copy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is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out-</a:t>
            </a:r>
            <a:r>
              <a:rPr sz="1853" spc="-9" dirty="0">
                <a:latin typeface="Calibri"/>
                <a:cs typeface="Calibri"/>
              </a:rPr>
              <a:t>of-</a:t>
            </a:r>
            <a:r>
              <a:rPr sz="1853" spc="-18" dirty="0">
                <a:latin typeface="Calibri"/>
                <a:cs typeface="Calibri"/>
              </a:rPr>
              <a:t>date</a:t>
            </a:r>
            <a:endParaRPr sz="1853">
              <a:latin typeface="Calibri"/>
              <a:cs typeface="Calibri"/>
            </a:endParaRPr>
          </a:p>
          <a:p>
            <a:pPr marL="278481" marR="4483" indent="-267835">
              <a:lnSpc>
                <a:spcPct val="90000"/>
              </a:lnSpc>
              <a:spcBef>
                <a:spcPts val="83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In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addition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state,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must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track</a:t>
            </a:r>
            <a:r>
              <a:rPr sz="2206" spc="-224" dirty="0">
                <a:latin typeface="Calibri"/>
                <a:cs typeface="Calibri"/>
              </a:rPr>
              <a:t> </a:t>
            </a:r>
            <a:r>
              <a:rPr sz="2206" u="heavy" spc="-27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which</a:t>
            </a:r>
            <a:r>
              <a:rPr sz="2206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(multi-)</a:t>
            </a:r>
            <a:r>
              <a:rPr sz="2206" u="heavy" spc="5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processor(-node)s</a:t>
            </a:r>
            <a:r>
              <a:rPr sz="2206" spc="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have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when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shared </a:t>
            </a:r>
            <a:r>
              <a:rPr sz="2206" dirty="0">
                <a:latin typeface="Calibri"/>
                <a:cs typeface="Calibri"/>
              </a:rPr>
              <a:t>state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(usually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bit</a:t>
            </a:r>
            <a:r>
              <a:rPr sz="2206" i="1" spc="44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vector</a:t>
            </a:r>
            <a:r>
              <a:rPr sz="2206" i="1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p[],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1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if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copy)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Keep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it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simple(r):</a:t>
            </a:r>
            <a:endParaRPr sz="2206">
              <a:latin typeface="Calibri"/>
              <a:cs typeface="Calibri"/>
            </a:endParaRPr>
          </a:p>
          <a:p>
            <a:pPr marL="652777" lvl="1" indent="-213483">
              <a:spcBef>
                <a:spcPts val="437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Writes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to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non-exclusive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data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Symbol"/>
                <a:cs typeface="Symbol"/>
              </a:rPr>
              <a:t></a:t>
            </a:r>
            <a:r>
              <a:rPr sz="1853" spc="-18" dirty="0">
                <a:latin typeface="Times New Roman"/>
                <a:cs typeface="Times New Roman"/>
              </a:rPr>
              <a:t> </a:t>
            </a:r>
            <a:r>
              <a:rPr sz="1853" dirty="0">
                <a:latin typeface="Calibri"/>
                <a:cs typeface="Calibri"/>
              </a:rPr>
              <a:t>write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miss</a:t>
            </a:r>
            <a:endParaRPr sz="1853">
              <a:latin typeface="Calibri"/>
              <a:cs typeface="Calibri"/>
            </a:endParaRPr>
          </a:p>
          <a:p>
            <a:pPr marL="867382">
              <a:spcBef>
                <a:spcPts val="432"/>
              </a:spcBef>
            </a:pP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»</a:t>
            </a:r>
            <a:r>
              <a:rPr sz="1677" spc="40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Get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exclusive access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for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3366FF"/>
                </a:solidFill>
                <a:latin typeface="Calibri"/>
                <a:cs typeface="Calibri"/>
              </a:rPr>
              <a:t>making</a:t>
            </a:r>
            <a:r>
              <a:rPr sz="1677" spc="4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3366FF"/>
                </a:solidFill>
                <a:latin typeface="Calibri"/>
                <a:cs typeface="Calibri"/>
              </a:rPr>
              <a:t>changes</a:t>
            </a:r>
            <a:endParaRPr sz="1677">
              <a:latin typeface="Calibri"/>
              <a:cs typeface="Calibri"/>
            </a:endParaRPr>
          </a:p>
          <a:p>
            <a:pPr marL="652777" lvl="1" indent="-213483">
              <a:spcBef>
                <a:spcPts val="459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Processor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blocks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until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access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completes</a:t>
            </a:r>
            <a:endParaRPr sz="1853">
              <a:latin typeface="Calibri"/>
              <a:cs typeface="Calibri"/>
            </a:endParaRPr>
          </a:p>
          <a:p>
            <a:pPr marL="652777" lvl="1" indent="-213483">
              <a:spcBef>
                <a:spcPts val="424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Assume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messages</a:t>
            </a:r>
            <a:r>
              <a:rPr sz="1853" spc="31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received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and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acted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upon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in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order</a:t>
            </a:r>
            <a:r>
              <a:rPr sz="1853" spc="26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sent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B7449BAE-E78F-0036-C73C-AC8FF169DE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Directory</a:t>
            </a:r>
            <a:r>
              <a:rPr spc="-31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49278"/>
            <a:ext cx="6748182" cy="4435204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No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bus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want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broadcast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across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network: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shared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interconnect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longer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can act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single arbitration</a:t>
            </a:r>
            <a:r>
              <a:rPr sz="1677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point</a:t>
            </a:r>
            <a:endParaRPr sz="1677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all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messages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must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have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explicit</a:t>
            </a:r>
            <a:r>
              <a:rPr sz="1677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77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responses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(handshakes)</a:t>
            </a:r>
            <a:endParaRPr sz="1677">
              <a:latin typeface="Calibri"/>
              <a:cs typeface="Calibri"/>
            </a:endParaRPr>
          </a:p>
          <a:p>
            <a:pPr lvl="1">
              <a:spcBef>
                <a:spcPts val="1681"/>
              </a:spcBef>
              <a:buFont typeface="Calibri"/>
              <a:buChar char="–"/>
            </a:pPr>
            <a:endParaRPr sz="1677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Terms: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typically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3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involved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Font typeface="Calibri"/>
              <a:buChar char="–"/>
              <a:tabLst>
                <a:tab pos="651657" algn="l"/>
              </a:tabLst>
            </a:pPr>
            <a:r>
              <a:rPr sz="1677" b="1" dirty="0">
                <a:solidFill>
                  <a:srgbClr val="FF0000"/>
                </a:solidFill>
                <a:latin typeface="Calibri"/>
                <a:cs typeface="Calibri"/>
              </a:rPr>
              <a:t>Local</a:t>
            </a:r>
            <a:r>
              <a:rPr sz="1677" b="1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1677" b="1" spc="-2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where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originates</a:t>
            </a:r>
            <a:endParaRPr sz="1677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Font typeface="Calibri"/>
              <a:buChar char="–"/>
              <a:tabLst>
                <a:tab pos="651657" algn="l"/>
              </a:tabLst>
            </a:pPr>
            <a:r>
              <a:rPr sz="1677" b="1" dirty="0">
                <a:solidFill>
                  <a:srgbClr val="FF0000"/>
                </a:solidFill>
                <a:latin typeface="Calibri"/>
                <a:cs typeface="Calibri"/>
              </a:rPr>
              <a:t>Home</a:t>
            </a:r>
            <a:r>
              <a:rPr sz="1677" b="1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1677" b="1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where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location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address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resides</a:t>
            </a:r>
            <a:endParaRPr sz="1677">
              <a:latin typeface="Calibri"/>
              <a:cs typeface="Calibri"/>
            </a:endParaRPr>
          </a:p>
          <a:p>
            <a:pPr marL="651657" marR="4483" lvl="1" indent="-212363">
              <a:lnSpc>
                <a:spcPts val="1844"/>
              </a:lnSpc>
              <a:spcBef>
                <a:spcPts val="582"/>
              </a:spcBef>
              <a:buFont typeface="Calibri"/>
              <a:buChar char="–"/>
              <a:tabLst>
                <a:tab pos="653338" algn="l"/>
              </a:tabLst>
            </a:pPr>
            <a:r>
              <a:rPr sz="1677" b="1" dirty="0">
                <a:solidFill>
                  <a:srgbClr val="FF0000"/>
                </a:solidFill>
                <a:latin typeface="Calibri"/>
                <a:cs typeface="Calibri"/>
              </a:rPr>
              <a:t>Remote</a:t>
            </a:r>
            <a:r>
              <a:rPr sz="1677" b="1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b="1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1677" b="1" spc="-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which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copy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whether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exclusive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or 	</a:t>
            </a:r>
            <a:r>
              <a:rPr sz="1677" spc="-9" dirty="0">
                <a:latin typeface="Calibri"/>
                <a:cs typeface="Calibri"/>
              </a:rPr>
              <a:t>shared</a:t>
            </a:r>
            <a:endParaRPr sz="1677">
              <a:latin typeface="Calibri"/>
              <a:cs typeface="Calibri"/>
            </a:endParaRPr>
          </a:p>
          <a:p>
            <a:pPr lvl="1">
              <a:spcBef>
                <a:spcPts val="1645"/>
              </a:spcBef>
              <a:buFont typeface="Calibri"/>
              <a:buChar char="–"/>
            </a:pPr>
            <a:endParaRPr sz="1677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In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example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messages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next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slide: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P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=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9" dirty="0">
                <a:latin typeface="Calibri"/>
                <a:cs typeface="Calibri"/>
              </a:rPr>
              <a:t> number</a:t>
            </a:r>
            <a:endParaRPr sz="1677">
              <a:latin typeface="Calibri"/>
              <a:cs typeface="Calibri"/>
            </a:endParaRPr>
          </a:p>
          <a:p>
            <a:pPr marL="651657" lvl="1" indent="-212363">
              <a:spcBef>
                <a:spcPts val="357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=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address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4082" y="3479012"/>
            <a:ext cx="5341844" cy="305921"/>
          </a:xfrm>
          <a:custGeom>
            <a:avLst/>
            <a:gdLst/>
            <a:ahLst/>
            <a:cxnLst/>
            <a:rect l="l" t="t" r="r" b="b"/>
            <a:pathLst>
              <a:path w="6054090" h="346710">
                <a:moveTo>
                  <a:pt x="4107262" y="55772"/>
                </a:moveTo>
                <a:lnTo>
                  <a:pt x="843837" y="55772"/>
                </a:lnTo>
                <a:lnTo>
                  <a:pt x="810221" y="58063"/>
                </a:lnTo>
                <a:lnTo>
                  <a:pt x="776987" y="58827"/>
                </a:lnTo>
                <a:lnTo>
                  <a:pt x="741079" y="63793"/>
                </a:lnTo>
                <a:lnTo>
                  <a:pt x="707081" y="66850"/>
                </a:lnTo>
                <a:lnTo>
                  <a:pt x="643286" y="77927"/>
                </a:lnTo>
                <a:lnTo>
                  <a:pt x="584459" y="83657"/>
                </a:lnTo>
                <a:lnTo>
                  <a:pt x="431659" y="83657"/>
                </a:lnTo>
                <a:lnTo>
                  <a:pt x="409503" y="85949"/>
                </a:lnTo>
                <a:lnTo>
                  <a:pt x="359843" y="89005"/>
                </a:lnTo>
                <a:lnTo>
                  <a:pt x="301015" y="94735"/>
                </a:lnTo>
                <a:lnTo>
                  <a:pt x="242570" y="102758"/>
                </a:lnTo>
                <a:lnTo>
                  <a:pt x="216975" y="103521"/>
                </a:lnTo>
                <a:lnTo>
                  <a:pt x="192145" y="105813"/>
                </a:lnTo>
                <a:lnTo>
                  <a:pt x="111161" y="105813"/>
                </a:lnTo>
                <a:lnTo>
                  <a:pt x="89769" y="108487"/>
                </a:lnTo>
                <a:lnTo>
                  <a:pt x="50041" y="114599"/>
                </a:lnTo>
                <a:lnTo>
                  <a:pt x="23301" y="116892"/>
                </a:lnTo>
                <a:lnTo>
                  <a:pt x="0" y="116892"/>
                </a:lnTo>
                <a:lnTo>
                  <a:pt x="0" y="346091"/>
                </a:lnTo>
                <a:lnTo>
                  <a:pt x="150889" y="346091"/>
                </a:lnTo>
                <a:lnTo>
                  <a:pt x="150889" y="344978"/>
                </a:lnTo>
                <a:lnTo>
                  <a:pt x="164641" y="343799"/>
                </a:lnTo>
                <a:lnTo>
                  <a:pt x="204369" y="337687"/>
                </a:lnTo>
                <a:lnTo>
                  <a:pt x="225761" y="335013"/>
                </a:lnTo>
                <a:lnTo>
                  <a:pt x="306745" y="335013"/>
                </a:lnTo>
                <a:lnTo>
                  <a:pt x="331575" y="332722"/>
                </a:lnTo>
                <a:lnTo>
                  <a:pt x="357169" y="331957"/>
                </a:lnTo>
                <a:lnTo>
                  <a:pt x="387347" y="326991"/>
                </a:lnTo>
                <a:lnTo>
                  <a:pt x="415615" y="323935"/>
                </a:lnTo>
                <a:lnTo>
                  <a:pt x="474442" y="318206"/>
                </a:lnTo>
                <a:lnTo>
                  <a:pt x="501947" y="315913"/>
                </a:lnTo>
                <a:lnTo>
                  <a:pt x="524103" y="315149"/>
                </a:lnTo>
                <a:lnTo>
                  <a:pt x="546260" y="312858"/>
                </a:lnTo>
                <a:lnTo>
                  <a:pt x="699058" y="312858"/>
                </a:lnTo>
                <a:lnTo>
                  <a:pt x="757887" y="307127"/>
                </a:lnTo>
                <a:lnTo>
                  <a:pt x="821681" y="296049"/>
                </a:lnTo>
                <a:lnTo>
                  <a:pt x="855679" y="292994"/>
                </a:lnTo>
                <a:lnTo>
                  <a:pt x="891586" y="288027"/>
                </a:lnTo>
                <a:lnTo>
                  <a:pt x="924821" y="287263"/>
                </a:lnTo>
                <a:lnTo>
                  <a:pt x="958437" y="284971"/>
                </a:lnTo>
                <a:lnTo>
                  <a:pt x="991671" y="284971"/>
                </a:lnTo>
                <a:lnTo>
                  <a:pt x="1027579" y="282298"/>
                </a:lnTo>
                <a:lnTo>
                  <a:pt x="1047061" y="282298"/>
                </a:lnTo>
                <a:lnTo>
                  <a:pt x="1066543" y="281915"/>
                </a:lnTo>
                <a:lnTo>
                  <a:pt x="1086407" y="280388"/>
                </a:lnTo>
                <a:lnTo>
                  <a:pt x="1106271" y="279241"/>
                </a:lnTo>
                <a:lnTo>
                  <a:pt x="1150200" y="279241"/>
                </a:lnTo>
                <a:lnTo>
                  <a:pt x="1187255" y="276950"/>
                </a:lnTo>
                <a:lnTo>
                  <a:pt x="1228129" y="276185"/>
                </a:lnTo>
                <a:lnTo>
                  <a:pt x="1264801" y="273893"/>
                </a:lnTo>
                <a:lnTo>
                  <a:pt x="1723965" y="273893"/>
                </a:lnTo>
                <a:lnTo>
                  <a:pt x="1757963" y="271219"/>
                </a:lnTo>
                <a:lnTo>
                  <a:pt x="1777062" y="270837"/>
                </a:lnTo>
                <a:lnTo>
                  <a:pt x="1796163" y="270837"/>
                </a:lnTo>
                <a:lnTo>
                  <a:pt x="1869125" y="265871"/>
                </a:lnTo>
                <a:lnTo>
                  <a:pt x="1905033" y="265107"/>
                </a:lnTo>
                <a:lnTo>
                  <a:pt x="1935975" y="262815"/>
                </a:lnTo>
                <a:lnTo>
                  <a:pt x="1999768" y="262815"/>
                </a:lnTo>
                <a:lnTo>
                  <a:pt x="2033003" y="260141"/>
                </a:lnTo>
                <a:lnTo>
                  <a:pt x="2066618" y="259377"/>
                </a:lnTo>
                <a:lnTo>
                  <a:pt x="2133469" y="254793"/>
                </a:lnTo>
                <a:lnTo>
                  <a:pt x="2164411" y="254029"/>
                </a:lnTo>
                <a:lnTo>
                  <a:pt x="2197263" y="249063"/>
                </a:lnTo>
                <a:lnTo>
                  <a:pt x="2228204" y="248300"/>
                </a:lnTo>
                <a:lnTo>
                  <a:pt x="2264112" y="246007"/>
                </a:lnTo>
                <a:lnTo>
                  <a:pt x="2295437" y="243333"/>
                </a:lnTo>
                <a:lnTo>
                  <a:pt x="2330963" y="242952"/>
                </a:lnTo>
                <a:lnTo>
                  <a:pt x="2361905" y="240277"/>
                </a:lnTo>
                <a:lnTo>
                  <a:pt x="2392847" y="240277"/>
                </a:lnTo>
                <a:lnTo>
                  <a:pt x="2423025" y="237985"/>
                </a:lnTo>
                <a:lnTo>
                  <a:pt x="2453203" y="237222"/>
                </a:lnTo>
                <a:lnTo>
                  <a:pt x="2484145" y="234929"/>
                </a:lnTo>
                <a:lnTo>
                  <a:pt x="2584611" y="234929"/>
                </a:lnTo>
                <a:lnTo>
                  <a:pt x="2615553" y="232255"/>
                </a:lnTo>
                <a:lnTo>
                  <a:pt x="2645731" y="231874"/>
                </a:lnTo>
                <a:lnTo>
                  <a:pt x="2675909" y="229199"/>
                </a:lnTo>
                <a:lnTo>
                  <a:pt x="6053552" y="229199"/>
                </a:lnTo>
                <a:lnTo>
                  <a:pt x="6053552" y="61120"/>
                </a:lnTo>
                <a:lnTo>
                  <a:pt x="4216133" y="61120"/>
                </a:lnTo>
                <a:lnTo>
                  <a:pt x="4179460" y="58827"/>
                </a:lnTo>
                <a:lnTo>
                  <a:pt x="4141260" y="58063"/>
                </a:lnTo>
                <a:lnTo>
                  <a:pt x="4107262" y="55772"/>
                </a:lnTo>
                <a:close/>
              </a:path>
              <a:path w="6054090" h="346710">
                <a:moveTo>
                  <a:pt x="5990140" y="268164"/>
                </a:moveTo>
                <a:lnTo>
                  <a:pt x="3408584" y="268164"/>
                </a:lnTo>
                <a:lnTo>
                  <a:pt x="3429213" y="269309"/>
                </a:lnTo>
                <a:lnTo>
                  <a:pt x="3449840" y="270837"/>
                </a:lnTo>
                <a:lnTo>
                  <a:pt x="3486513" y="271219"/>
                </a:lnTo>
                <a:lnTo>
                  <a:pt x="3505612" y="273893"/>
                </a:lnTo>
                <a:lnTo>
                  <a:pt x="3524713" y="276185"/>
                </a:lnTo>
                <a:lnTo>
                  <a:pt x="3561384" y="276950"/>
                </a:lnTo>
                <a:lnTo>
                  <a:pt x="3600348" y="279241"/>
                </a:lnTo>
                <a:lnTo>
                  <a:pt x="3639313" y="280005"/>
                </a:lnTo>
                <a:lnTo>
                  <a:pt x="3674456" y="281915"/>
                </a:lnTo>
                <a:lnTo>
                  <a:pt x="3703488" y="282298"/>
                </a:lnTo>
                <a:lnTo>
                  <a:pt x="3732521" y="284971"/>
                </a:lnTo>
                <a:lnTo>
                  <a:pt x="3992662" y="284971"/>
                </a:lnTo>
                <a:lnTo>
                  <a:pt x="4026660" y="287263"/>
                </a:lnTo>
                <a:lnTo>
                  <a:pt x="4064861" y="288027"/>
                </a:lnTo>
                <a:lnTo>
                  <a:pt x="4101533" y="290319"/>
                </a:lnTo>
                <a:lnTo>
                  <a:pt x="4121015" y="290701"/>
                </a:lnTo>
                <a:lnTo>
                  <a:pt x="4235615" y="290701"/>
                </a:lnTo>
                <a:lnTo>
                  <a:pt x="4255096" y="290319"/>
                </a:lnTo>
                <a:lnTo>
                  <a:pt x="5530212" y="290319"/>
                </a:lnTo>
                <a:lnTo>
                  <a:pt x="5555043" y="288027"/>
                </a:lnTo>
                <a:lnTo>
                  <a:pt x="5577963" y="287263"/>
                </a:lnTo>
                <a:lnTo>
                  <a:pt x="5605085" y="284971"/>
                </a:lnTo>
                <a:lnTo>
                  <a:pt x="5628005" y="282298"/>
                </a:lnTo>
                <a:lnTo>
                  <a:pt x="5655127" y="281915"/>
                </a:lnTo>
                <a:lnTo>
                  <a:pt x="5678046" y="279241"/>
                </a:lnTo>
                <a:lnTo>
                  <a:pt x="5861406" y="279241"/>
                </a:lnTo>
                <a:lnTo>
                  <a:pt x="5878596" y="276950"/>
                </a:lnTo>
                <a:lnTo>
                  <a:pt x="5900370" y="276185"/>
                </a:lnTo>
                <a:lnTo>
                  <a:pt x="5920234" y="273893"/>
                </a:lnTo>
                <a:lnTo>
                  <a:pt x="5939716" y="273893"/>
                </a:lnTo>
                <a:lnTo>
                  <a:pt x="5959199" y="271219"/>
                </a:lnTo>
                <a:lnTo>
                  <a:pt x="5975624" y="270837"/>
                </a:lnTo>
                <a:lnTo>
                  <a:pt x="5990140" y="268164"/>
                </a:lnTo>
                <a:close/>
              </a:path>
              <a:path w="6054090" h="346710">
                <a:moveTo>
                  <a:pt x="6053552" y="229199"/>
                </a:moveTo>
                <a:lnTo>
                  <a:pt x="2676673" y="229199"/>
                </a:lnTo>
                <a:lnTo>
                  <a:pt x="2706086" y="231874"/>
                </a:lnTo>
                <a:lnTo>
                  <a:pt x="2729007" y="232255"/>
                </a:lnTo>
                <a:lnTo>
                  <a:pt x="2753837" y="237222"/>
                </a:lnTo>
                <a:lnTo>
                  <a:pt x="2775992" y="237985"/>
                </a:lnTo>
                <a:lnTo>
                  <a:pt x="2822978" y="242952"/>
                </a:lnTo>
                <a:lnTo>
                  <a:pt x="2848573" y="243333"/>
                </a:lnTo>
                <a:lnTo>
                  <a:pt x="2876458" y="246007"/>
                </a:lnTo>
                <a:lnTo>
                  <a:pt x="2904345" y="248300"/>
                </a:lnTo>
                <a:lnTo>
                  <a:pt x="2962409" y="254793"/>
                </a:lnTo>
                <a:lnTo>
                  <a:pt x="2990677" y="259377"/>
                </a:lnTo>
                <a:lnTo>
                  <a:pt x="3023529" y="260141"/>
                </a:lnTo>
                <a:lnTo>
                  <a:pt x="3054470" y="262815"/>
                </a:lnTo>
                <a:lnTo>
                  <a:pt x="3090378" y="265107"/>
                </a:lnTo>
                <a:lnTo>
                  <a:pt x="3127051" y="265871"/>
                </a:lnTo>
                <a:lnTo>
                  <a:pt x="3166014" y="268164"/>
                </a:lnTo>
                <a:lnTo>
                  <a:pt x="3185496" y="268545"/>
                </a:lnTo>
                <a:lnTo>
                  <a:pt x="3300097" y="268545"/>
                </a:lnTo>
                <a:lnTo>
                  <a:pt x="3319579" y="268164"/>
                </a:lnTo>
                <a:lnTo>
                  <a:pt x="6053552" y="268164"/>
                </a:lnTo>
                <a:lnTo>
                  <a:pt x="6053552" y="229199"/>
                </a:lnTo>
                <a:close/>
              </a:path>
              <a:path w="6054090" h="346710">
                <a:moveTo>
                  <a:pt x="6039418" y="33615"/>
                </a:moveTo>
                <a:lnTo>
                  <a:pt x="5924819" y="33615"/>
                </a:lnTo>
                <a:lnTo>
                  <a:pt x="5905718" y="35907"/>
                </a:lnTo>
                <a:lnTo>
                  <a:pt x="5888911" y="38963"/>
                </a:lnTo>
                <a:lnTo>
                  <a:pt x="5875540" y="38963"/>
                </a:lnTo>
                <a:lnTo>
                  <a:pt x="5861024" y="41638"/>
                </a:lnTo>
                <a:lnTo>
                  <a:pt x="5844598" y="42019"/>
                </a:lnTo>
                <a:lnTo>
                  <a:pt x="5825116" y="44693"/>
                </a:lnTo>
                <a:lnTo>
                  <a:pt x="5805634" y="44693"/>
                </a:lnTo>
                <a:lnTo>
                  <a:pt x="5785770" y="46986"/>
                </a:lnTo>
                <a:lnTo>
                  <a:pt x="5763996" y="47749"/>
                </a:lnTo>
                <a:lnTo>
                  <a:pt x="5746807" y="50041"/>
                </a:lnTo>
                <a:lnTo>
                  <a:pt x="5563447" y="50041"/>
                </a:lnTo>
                <a:lnTo>
                  <a:pt x="5540527" y="52715"/>
                </a:lnTo>
                <a:lnTo>
                  <a:pt x="5513405" y="53097"/>
                </a:lnTo>
                <a:lnTo>
                  <a:pt x="5490484" y="55772"/>
                </a:lnTo>
                <a:lnTo>
                  <a:pt x="5463363" y="58063"/>
                </a:lnTo>
                <a:lnTo>
                  <a:pt x="5440442" y="58827"/>
                </a:lnTo>
                <a:lnTo>
                  <a:pt x="5415612" y="61120"/>
                </a:lnTo>
                <a:lnTo>
                  <a:pt x="6053552" y="61120"/>
                </a:lnTo>
                <a:lnTo>
                  <a:pt x="6053552" y="38963"/>
                </a:lnTo>
                <a:lnTo>
                  <a:pt x="6039418" y="33615"/>
                </a:lnTo>
                <a:close/>
              </a:path>
              <a:path w="6054090" h="346710">
                <a:moveTo>
                  <a:pt x="1285429" y="44311"/>
                </a:moveTo>
                <a:lnTo>
                  <a:pt x="1170829" y="44311"/>
                </a:lnTo>
                <a:lnTo>
                  <a:pt x="1150200" y="44693"/>
                </a:lnTo>
                <a:lnTo>
                  <a:pt x="1113529" y="46986"/>
                </a:lnTo>
                <a:lnTo>
                  <a:pt x="1072655" y="47749"/>
                </a:lnTo>
                <a:lnTo>
                  <a:pt x="1035601" y="50041"/>
                </a:lnTo>
                <a:lnTo>
                  <a:pt x="991671" y="50041"/>
                </a:lnTo>
                <a:lnTo>
                  <a:pt x="971807" y="51187"/>
                </a:lnTo>
                <a:lnTo>
                  <a:pt x="951943" y="52715"/>
                </a:lnTo>
                <a:lnTo>
                  <a:pt x="932461" y="53097"/>
                </a:lnTo>
                <a:lnTo>
                  <a:pt x="912978" y="53097"/>
                </a:lnTo>
                <a:lnTo>
                  <a:pt x="877070" y="55772"/>
                </a:lnTo>
                <a:lnTo>
                  <a:pt x="3847120" y="55772"/>
                </a:lnTo>
                <a:lnTo>
                  <a:pt x="3818088" y="53097"/>
                </a:lnTo>
                <a:lnTo>
                  <a:pt x="3789056" y="52715"/>
                </a:lnTo>
                <a:lnTo>
                  <a:pt x="3753912" y="50806"/>
                </a:lnTo>
                <a:lnTo>
                  <a:pt x="3714949" y="50041"/>
                </a:lnTo>
                <a:lnTo>
                  <a:pt x="3675984" y="47749"/>
                </a:lnTo>
                <a:lnTo>
                  <a:pt x="3639313" y="46986"/>
                </a:lnTo>
                <a:lnTo>
                  <a:pt x="3620212" y="44693"/>
                </a:lnTo>
                <a:lnTo>
                  <a:pt x="1306057" y="44693"/>
                </a:lnTo>
                <a:lnTo>
                  <a:pt x="1285429" y="44311"/>
                </a:lnTo>
                <a:close/>
              </a:path>
              <a:path w="6054090" h="346710">
                <a:moveTo>
                  <a:pt x="2791273" y="0"/>
                </a:moveTo>
                <a:lnTo>
                  <a:pt x="2561309" y="0"/>
                </a:lnTo>
                <a:lnTo>
                  <a:pt x="2531131" y="2673"/>
                </a:lnTo>
                <a:lnTo>
                  <a:pt x="2500952" y="3055"/>
                </a:lnTo>
                <a:lnTo>
                  <a:pt x="2470011" y="5730"/>
                </a:lnTo>
                <a:lnTo>
                  <a:pt x="2369545" y="5730"/>
                </a:lnTo>
                <a:lnTo>
                  <a:pt x="2338603" y="8021"/>
                </a:lnTo>
                <a:lnTo>
                  <a:pt x="2308425" y="8785"/>
                </a:lnTo>
                <a:lnTo>
                  <a:pt x="2278246" y="11078"/>
                </a:lnTo>
                <a:lnTo>
                  <a:pt x="2247305" y="11078"/>
                </a:lnTo>
                <a:lnTo>
                  <a:pt x="2216363" y="13751"/>
                </a:lnTo>
                <a:lnTo>
                  <a:pt x="2180837" y="14133"/>
                </a:lnTo>
                <a:lnTo>
                  <a:pt x="2149513" y="16807"/>
                </a:lnTo>
                <a:lnTo>
                  <a:pt x="2113605" y="19099"/>
                </a:lnTo>
                <a:lnTo>
                  <a:pt x="2082662" y="19864"/>
                </a:lnTo>
                <a:lnTo>
                  <a:pt x="2049810" y="24829"/>
                </a:lnTo>
                <a:lnTo>
                  <a:pt x="2018869" y="25594"/>
                </a:lnTo>
                <a:lnTo>
                  <a:pt x="1952019" y="30177"/>
                </a:lnTo>
                <a:lnTo>
                  <a:pt x="1918403" y="30942"/>
                </a:lnTo>
                <a:lnTo>
                  <a:pt x="1885168" y="33615"/>
                </a:lnTo>
                <a:lnTo>
                  <a:pt x="1821375" y="33615"/>
                </a:lnTo>
                <a:lnTo>
                  <a:pt x="1790433" y="35907"/>
                </a:lnTo>
                <a:lnTo>
                  <a:pt x="1754525" y="36671"/>
                </a:lnTo>
                <a:lnTo>
                  <a:pt x="1681563" y="41638"/>
                </a:lnTo>
                <a:lnTo>
                  <a:pt x="1662463" y="41638"/>
                </a:lnTo>
                <a:lnTo>
                  <a:pt x="1643363" y="42019"/>
                </a:lnTo>
                <a:lnTo>
                  <a:pt x="1609365" y="44693"/>
                </a:lnTo>
                <a:lnTo>
                  <a:pt x="3620212" y="44693"/>
                </a:lnTo>
                <a:lnTo>
                  <a:pt x="3601112" y="42019"/>
                </a:lnTo>
                <a:lnTo>
                  <a:pt x="3564440" y="41638"/>
                </a:lnTo>
                <a:lnTo>
                  <a:pt x="3543813" y="40109"/>
                </a:lnTo>
                <a:lnTo>
                  <a:pt x="3523184" y="38963"/>
                </a:lnTo>
                <a:lnTo>
                  <a:pt x="3280614" y="38963"/>
                </a:lnTo>
                <a:lnTo>
                  <a:pt x="3241650" y="36671"/>
                </a:lnTo>
                <a:lnTo>
                  <a:pt x="3204979" y="35907"/>
                </a:lnTo>
                <a:lnTo>
                  <a:pt x="3169071" y="33615"/>
                </a:lnTo>
                <a:lnTo>
                  <a:pt x="3138129" y="30942"/>
                </a:lnTo>
                <a:lnTo>
                  <a:pt x="3105277" y="30177"/>
                </a:lnTo>
                <a:lnTo>
                  <a:pt x="3077009" y="25594"/>
                </a:lnTo>
                <a:lnTo>
                  <a:pt x="3018944" y="19099"/>
                </a:lnTo>
                <a:lnTo>
                  <a:pt x="2991059" y="16807"/>
                </a:lnTo>
                <a:lnTo>
                  <a:pt x="2963172" y="14133"/>
                </a:lnTo>
                <a:lnTo>
                  <a:pt x="2937579" y="13751"/>
                </a:lnTo>
                <a:lnTo>
                  <a:pt x="2890593" y="8785"/>
                </a:lnTo>
                <a:lnTo>
                  <a:pt x="2868437" y="8021"/>
                </a:lnTo>
                <a:lnTo>
                  <a:pt x="2843607" y="3055"/>
                </a:lnTo>
                <a:lnTo>
                  <a:pt x="2820686" y="2673"/>
                </a:lnTo>
                <a:lnTo>
                  <a:pt x="2791273" y="0"/>
                </a:lnTo>
                <a:close/>
              </a:path>
            </a:pathLst>
          </a:custGeom>
          <a:solidFill>
            <a:srgbClr val="FFFC00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Slide Number Placeholder 39">
            <a:extLst>
              <a:ext uri="{FF2B5EF4-FFF2-40B4-BE49-F238E27FC236}">
                <a16:creationId xmlns:a16="http://schemas.microsoft.com/office/drawing/2014/main" id="{457E2327-69B5-FFB3-9FFB-B50380144B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1949" y="1086691"/>
            <a:ext cx="1232647" cy="22412"/>
          </a:xfrm>
          <a:custGeom>
            <a:avLst/>
            <a:gdLst/>
            <a:ahLst/>
            <a:cxnLst/>
            <a:rect l="l" t="t" r="r" b="b"/>
            <a:pathLst>
              <a:path w="1397000" h="25400">
                <a:moveTo>
                  <a:pt x="1396999" y="0"/>
                </a:moveTo>
                <a:lnTo>
                  <a:pt x="0" y="0"/>
                </a:lnTo>
                <a:lnTo>
                  <a:pt x="0" y="25400"/>
                </a:lnTo>
                <a:lnTo>
                  <a:pt x="1396999" y="25400"/>
                </a:lnTo>
                <a:lnTo>
                  <a:pt x="13969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6793634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Example</a:t>
            </a:r>
            <a:r>
              <a:rPr spc="-57" dirty="0"/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49" dirty="0"/>
              <a:t> </a:t>
            </a:r>
            <a:r>
              <a:rPr dirty="0">
                <a:latin typeface="Calibri"/>
                <a:cs typeface="Calibri"/>
              </a:rPr>
              <a:t>Protocol</a:t>
            </a:r>
            <a:r>
              <a:rPr spc="-49" dirty="0"/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44" baseline="24154" dirty="0">
                <a:solidFill>
                  <a:srgbClr val="FF0000"/>
                </a:solidFill>
              </a:rPr>
              <a:t>st</a:t>
            </a:r>
            <a:r>
              <a:rPr sz="3044" spc="231" baseline="24154" dirty="0">
                <a:solidFill>
                  <a:srgbClr val="FF0000"/>
                </a:solidFill>
              </a:rPr>
              <a:t> </a:t>
            </a:r>
            <a:r>
              <a:rPr spc="-9" dirty="0">
                <a:solidFill>
                  <a:srgbClr val="FF0000"/>
                </a:solidFill>
              </a:rPr>
              <a:t>Read</a:t>
            </a:r>
            <a:r>
              <a:rPr spc="-9" dirty="0"/>
              <a:t>)</a:t>
            </a:r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432859" y="4564903"/>
            <a:ext cx="499782" cy="428065"/>
          </a:xfrm>
          <a:custGeom>
            <a:avLst/>
            <a:gdLst/>
            <a:ahLst/>
            <a:cxnLst/>
            <a:rect l="l" t="t" r="r" b="b"/>
            <a:pathLst>
              <a:path w="566419" h="485139">
                <a:moveTo>
                  <a:pt x="0" y="242569"/>
                </a:moveTo>
                <a:lnTo>
                  <a:pt x="4559" y="198967"/>
                </a:lnTo>
                <a:lnTo>
                  <a:pt x="17705" y="157929"/>
                </a:lnTo>
                <a:lnTo>
                  <a:pt x="38637" y="120140"/>
                </a:lnTo>
                <a:lnTo>
                  <a:pt x="66557" y="86285"/>
                </a:lnTo>
                <a:lnTo>
                  <a:pt x="100666" y="57049"/>
                </a:lnTo>
                <a:lnTo>
                  <a:pt x="140163" y="33117"/>
                </a:lnTo>
                <a:lnTo>
                  <a:pt x="184251" y="15175"/>
                </a:lnTo>
                <a:lnTo>
                  <a:pt x="232128" y="3908"/>
                </a:lnTo>
                <a:lnTo>
                  <a:pt x="282998" y="0"/>
                </a:lnTo>
                <a:lnTo>
                  <a:pt x="333867" y="3908"/>
                </a:lnTo>
                <a:lnTo>
                  <a:pt x="381745" y="15175"/>
                </a:lnTo>
                <a:lnTo>
                  <a:pt x="425832" y="33117"/>
                </a:lnTo>
                <a:lnTo>
                  <a:pt x="465330" y="57049"/>
                </a:lnTo>
                <a:lnTo>
                  <a:pt x="499438" y="86285"/>
                </a:lnTo>
                <a:lnTo>
                  <a:pt x="527359" y="120140"/>
                </a:lnTo>
                <a:lnTo>
                  <a:pt x="548291" y="157929"/>
                </a:lnTo>
                <a:lnTo>
                  <a:pt x="561437" y="198967"/>
                </a:lnTo>
                <a:lnTo>
                  <a:pt x="565996" y="242569"/>
                </a:lnTo>
                <a:lnTo>
                  <a:pt x="561437" y="286172"/>
                </a:lnTo>
                <a:lnTo>
                  <a:pt x="548291" y="327210"/>
                </a:lnTo>
                <a:lnTo>
                  <a:pt x="527359" y="364999"/>
                </a:lnTo>
                <a:lnTo>
                  <a:pt x="499438" y="398854"/>
                </a:lnTo>
                <a:lnTo>
                  <a:pt x="465330" y="428090"/>
                </a:lnTo>
                <a:lnTo>
                  <a:pt x="425832" y="452022"/>
                </a:lnTo>
                <a:lnTo>
                  <a:pt x="381745" y="469964"/>
                </a:lnTo>
                <a:lnTo>
                  <a:pt x="333867" y="481231"/>
                </a:lnTo>
                <a:lnTo>
                  <a:pt x="282998" y="485139"/>
                </a:lnTo>
                <a:lnTo>
                  <a:pt x="232128" y="481231"/>
                </a:lnTo>
                <a:lnTo>
                  <a:pt x="184251" y="469964"/>
                </a:lnTo>
                <a:lnTo>
                  <a:pt x="140163" y="452022"/>
                </a:lnTo>
                <a:lnTo>
                  <a:pt x="100666" y="428090"/>
                </a:lnTo>
                <a:lnTo>
                  <a:pt x="66557" y="398854"/>
                </a:lnTo>
                <a:lnTo>
                  <a:pt x="38637" y="364999"/>
                </a:lnTo>
                <a:lnTo>
                  <a:pt x="17705" y="327210"/>
                </a:lnTo>
                <a:lnTo>
                  <a:pt x="4559" y="286172"/>
                </a:lnTo>
                <a:lnTo>
                  <a:pt x="0" y="242569"/>
                </a:lnTo>
                <a:close/>
              </a:path>
            </a:pathLst>
          </a:custGeom>
          <a:ln w="10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1635090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296" y="528627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400" y="1778023"/>
            <a:ext cx="6501231" cy="45035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27580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P1</a:t>
            </a:r>
            <a:endParaRPr sz="132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3908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5737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15737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8227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P2</a:t>
            </a:r>
            <a:endParaRPr sz="132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4555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5117" y="1354418"/>
            <a:ext cx="499782" cy="428065"/>
          </a:xfrm>
          <a:custGeom>
            <a:avLst/>
            <a:gdLst/>
            <a:ahLst/>
            <a:cxnLst/>
            <a:rect l="l" t="t" r="r" b="b"/>
            <a:pathLst>
              <a:path w="566420" h="485139">
                <a:moveTo>
                  <a:pt x="0" y="242569"/>
                </a:moveTo>
                <a:lnTo>
                  <a:pt x="4559" y="198967"/>
                </a:lnTo>
                <a:lnTo>
                  <a:pt x="17705" y="157929"/>
                </a:lnTo>
                <a:lnTo>
                  <a:pt x="38637" y="120140"/>
                </a:lnTo>
                <a:lnTo>
                  <a:pt x="66557" y="86285"/>
                </a:lnTo>
                <a:lnTo>
                  <a:pt x="100666" y="57049"/>
                </a:lnTo>
                <a:lnTo>
                  <a:pt x="140163" y="33117"/>
                </a:lnTo>
                <a:lnTo>
                  <a:pt x="184251" y="15175"/>
                </a:lnTo>
                <a:lnTo>
                  <a:pt x="232128" y="3908"/>
                </a:lnTo>
                <a:lnTo>
                  <a:pt x="282998" y="0"/>
                </a:lnTo>
                <a:lnTo>
                  <a:pt x="333867" y="3908"/>
                </a:lnTo>
                <a:lnTo>
                  <a:pt x="381745" y="15175"/>
                </a:lnTo>
                <a:lnTo>
                  <a:pt x="425832" y="33117"/>
                </a:lnTo>
                <a:lnTo>
                  <a:pt x="465330" y="57049"/>
                </a:lnTo>
                <a:lnTo>
                  <a:pt x="499438" y="86285"/>
                </a:lnTo>
                <a:lnTo>
                  <a:pt x="527359" y="120140"/>
                </a:lnTo>
                <a:lnTo>
                  <a:pt x="548291" y="157929"/>
                </a:lnTo>
                <a:lnTo>
                  <a:pt x="561437" y="198967"/>
                </a:lnTo>
                <a:lnTo>
                  <a:pt x="565996" y="242569"/>
                </a:lnTo>
                <a:lnTo>
                  <a:pt x="561437" y="286172"/>
                </a:lnTo>
                <a:lnTo>
                  <a:pt x="548291" y="327210"/>
                </a:lnTo>
                <a:lnTo>
                  <a:pt x="527359" y="364999"/>
                </a:lnTo>
                <a:lnTo>
                  <a:pt x="499438" y="398854"/>
                </a:lnTo>
                <a:lnTo>
                  <a:pt x="465330" y="428090"/>
                </a:lnTo>
                <a:lnTo>
                  <a:pt x="425832" y="452022"/>
                </a:lnTo>
                <a:lnTo>
                  <a:pt x="381745" y="469964"/>
                </a:lnTo>
                <a:lnTo>
                  <a:pt x="333867" y="481231"/>
                </a:lnTo>
                <a:lnTo>
                  <a:pt x="282998" y="485139"/>
                </a:lnTo>
                <a:lnTo>
                  <a:pt x="232128" y="481231"/>
                </a:lnTo>
                <a:lnTo>
                  <a:pt x="184251" y="469964"/>
                </a:lnTo>
                <a:lnTo>
                  <a:pt x="140163" y="452022"/>
                </a:lnTo>
                <a:lnTo>
                  <a:pt x="100666" y="428090"/>
                </a:lnTo>
                <a:lnTo>
                  <a:pt x="66557" y="398854"/>
                </a:lnTo>
                <a:lnTo>
                  <a:pt x="38637" y="364999"/>
                </a:lnTo>
                <a:lnTo>
                  <a:pt x="17705" y="327210"/>
                </a:lnTo>
                <a:lnTo>
                  <a:pt x="4559" y="286172"/>
                </a:lnTo>
                <a:lnTo>
                  <a:pt x="0" y="242569"/>
                </a:lnTo>
                <a:close/>
              </a:path>
            </a:pathLst>
          </a:custGeom>
          <a:ln w="10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 txBox="1"/>
          <p:nvPr/>
        </p:nvSpPr>
        <p:spPr>
          <a:xfrm>
            <a:off x="3347349" y="1407907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D</a:t>
            </a:r>
            <a:endParaRPr sz="1324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76005" y="5894858"/>
            <a:ext cx="2194672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747"/>
              </a:lnSpc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ld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vA</a:t>
            </a:r>
            <a:r>
              <a:rPr sz="1500" b="1" spc="-7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-&gt;</a:t>
            </a:r>
            <a:r>
              <a:rPr sz="1500" b="1" spc="-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rd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500">
              <a:latin typeface="Arial"/>
              <a:cs typeface="Arial"/>
            </a:endParaRPr>
          </a:p>
          <a:p>
            <a:pPr marL="11206">
              <a:spcBef>
                <a:spcPts val="931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{pA</a:t>
            </a:r>
            <a:r>
              <a:rPr sz="1500" b="1" spc="-7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page</a:t>
            </a:r>
            <a:r>
              <a:rPr sz="150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150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addr</a:t>
            </a:r>
            <a:r>
              <a:rPr sz="1500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vA}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35090" y="5917836"/>
            <a:ext cx="69476" cy="192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53"/>
              </a:lnSpc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15737" y="5917836"/>
            <a:ext cx="69476" cy="192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53"/>
              </a:lnSpc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8555" y="2075115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63235" y="2217420"/>
            <a:ext cx="162485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M</a:t>
            </a:r>
            <a:endParaRPr sz="132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8450" y="2018403"/>
            <a:ext cx="281828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Dir ctrl</a:t>
            </a:r>
            <a:endParaRPr sz="1324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88264" y="1692984"/>
            <a:ext cx="695325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Read</a:t>
            </a:r>
            <a:r>
              <a:rPr sz="1324" b="1" spc="-8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7349" y="2322306"/>
            <a:ext cx="944096" cy="592930"/>
          </a:xfrm>
          <a:prstGeom prst="rect">
            <a:avLst/>
          </a:prstGeom>
        </p:spPr>
        <p:txBody>
          <a:bodyPr vert="horz" wrap="square" lIns="0" tIns="94690" rIns="0" bIns="0" rtlCol="0">
            <a:spAutoFit/>
          </a:bodyPr>
          <a:lstStyle/>
          <a:p>
            <a:pPr marL="367572">
              <a:spcBef>
                <a:spcPts val="746"/>
              </a:spcBef>
            </a:pPr>
            <a:r>
              <a:rPr sz="1324" b="1" spc="-9" dirty="0">
                <a:latin typeface="Arial"/>
                <a:cs typeface="Arial"/>
              </a:rPr>
              <a:t>R/reply</a:t>
            </a:r>
            <a:endParaRPr sz="1324">
              <a:latin typeface="Arial"/>
              <a:cs typeface="Arial"/>
            </a:endParaRPr>
          </a:p>
          <a:p>
            <a:pPr marL="11206">
              <a:spcBef>
                <a:spcPts val="653"/>
              </a:spcBef>
            </a:pPr>
            <a:r>
              <a:rPr sz="1324" b="1" spc="-44" dirty="0">
                <a:latin typeface="Arial"/>
                <a:cs typeface="Arial"/>
              </a:rPr>
              <a:t>U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91810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35090" y="2120600"/>
            <a:ext cx="5496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P1:</a:t>
            </a:r>
            <a:r>
              <a:rPr sz="1324" b="1" spc="-57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0332B7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35090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47349" y="2047987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29" name="Slide Number Placeholder 39">
            <a:extLst>
              <a:ext uri="{FF2B5EF4-FFF2-40B4-BE49-F238E27FC236}">
                <a16:creationId xmlns:a16="http://schemas.microsoft.com/office/drawing/2014/main" id="{3A568E92-EBCA-F469-5785-FF0645732A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7206644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Example</a:t>
            </a:r>
            <a:r>
              <a:rPr spc="-53" dirty="0"/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44" dirty="0"/>
              <a:t> </a:t>
            </a:r>
            <a:r>
              <a:rPr dirty="0">
                <a:latin typeface="Calibri"/>
                <a:cs typeface="Calibri"/>
              </a:rPr>
              <a:t>Protocol</a:t>
            </a:r>
            <a:r>
              <a:rPr spc="-49" dirty="0"/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Read</a:t>
            </a:r>
            <a:r>
              <a:rPr u="heavy" spc="-4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Share</a:t>
            </a:r>
            <a:r>
              <a:rPr spc="-9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1432859" y="4564903"/>
            <a:ext cx="499782" cy="428065"/>
          </a:xfrm>
          <a:custGeom>
            <a:avLst/>
            <a:gdLst/>
            <a:ahLst/>
            <a:cxnLst/>
            <a:rect l="l" t="t" r="r" b="b"/>
            <a:pathLst>
              <a:path w="566419" h="485139">
                <a:moveTo>
                  <a:pt x="0" y="242569"/>
                </a:moveTo>
                <a:lnTo>
                  <a:pt x="4559" y="198967"/>
                </a:lnTo>
                <a:lnTo>
                  <a:pt x="17705" y="157929"/>
                </a:lnTo>
                <a:lnTo>
                  <a:pt x="38637" y="120140"/>
                </a:lnTo>
                <a:lnTo>
                  <a:pt x="66557" y="86285"/>
                </a:lnTo>
                <a:lnTo>
                  <a:pt x="100666" y="57049"/>
                </a:lnTo>
                <a:lnTo>
                  <a:pt x="140163" y="33117"/>
                </a:lnTo>
                <a:lnTo>
                  <a:pt x="184251" y="15175"/>
                </a:lnTo>
                <a:lnTo>
                  <a:pt x="232128" y="3908"/>
                </a:lnTo>
                <a:lnTo>
                  <a:pt x="282998" y="0"/>
                </a:lnTo>
                <a:lnTo>
                  <a:pt x="333867" y="3908"/>
                </a:lnTo>
                <a:lnTo>
                  <a:pt x="381745" y="15175"/>
                </a:lnTo>
                <a:lnTo>
                  <a:pt x="425832" y="33117"/>
                </a:lnTo>
                <a:lnTo>
                  <a:pt x="465330" y="57049"/>
                </a:lnTo>
                <a:lnTo>
                  <a:pt x="499438" y="86285"/>
                </a:lnTo>
                <a:lnTo>
                  <a:pt x="527359" y="120140"/>
                </a:lnTo>
                <a:lnTo>
                  <a:pt x="548291" y="157929"/>
                </a:lnTo>
                <a:lnTo>
                  <a:pt x="561437" y="198967"/>
                </a:lnTo>
                <a:lnTo>
                  <a:pt x="565996" y="242569"/>
                </a:lnTo>
                <a:lnTo>
                  <a:pt x="561437" y="286172"/>
                </a:lnTo>
                <a:lnTo>
                  <a:pt x="548291" y="327210"/>
                </a:lnTo>
                <a:lnTo>
                  <a:pt x="527359" y="364999"/>
                </a:lnTo>
                <a:lnTo>
                  <a:pt x="499438" y="398854"/>
                </a:lnTo>
                <a:lnTo>
                  <a:pt x="465330" y="428090"/>
                </a:lnTo>
                <a:lnTo>
                  <a:pt x="425832" y="452022"/>
                </a:lnTo>
                <a:lnTo>
                  <a:pt x="381745" y="469964"/>
                </a:lnTo>
                <a:lnTo>
                  <a:pt x="333867" y="481231"/>
                </a:lnTo>
                <a:lnTo>
                  <a:pt x="282998" y="485139"/>
                </a:lnTo>
                <a:lnTo>
                  <a:pt x="232128" y="481231"/>
                </a:lnTo>
                <a:lnTo>
                  <a:pt x="184251" y="469964"/>
                </a:lnTo>
                <a:lnTo>
                  <a:pt x="140163" y="452022"/>
                </a:lnTo>
                <a:lnTo>
                  <a:pt x="100666" y="428090"/>
                </a:lnTo>
                <a:lnTo>
                  <a:pt x="66557" y="398854"/>
                </a:lnTo>
                <a:lnTo>
                  <a:pt x="38637" y="364999"/>
                </a:lnTo>
                <a:lnTo>
                  <a:pt x="17705" y="327210"/>
                </a:lnTo>
                <a:lnTo>
                  <a:pt x="4559" y="286172"/>
                </a:lnTo>
                <a:lnTo>
                  <a:pt x="0" y="242569"/>
                </a:lnTo>
                <a:close/>
              </a:path>
            </a:pathLst>
          </a:custGeom>
          <a:ln w="10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1635090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6296" y="528627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1995" y="1778023"/>
            <a:ext cx="6657636" cy="45035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35090" y="5901913"/>
            <a:ext cx="6947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8694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P1</a:t>
            </a:r>
            <a:endParaRPr sz="132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3908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5737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6943" y="528627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5737" y="5901913"/>
            <a:ext cx="6947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99340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P2</a:t>
            </a:r>
            <a:endParaRPr sz="1324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4555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45117" y="1354418"/>
            <a:ext cx="499782" cy="428065"/>
          </a:xfrm>
          <a:custGeom>
            <a:avLst/>
            <a:gdLst/>
            <a:ahLst/>
            <a:cxnLst/>
            <a:rect l="l" t="t" r="r" b="b"/>
            <a:pathLst>
              <a:path w="566420" h="485139">
                <a:moveTo>
                  <a:pt x="0" y="242569"/>
                </a:moveTo>
                <a:lnTo>
                  <a:pt x="4559" y="198967"/>
                </a:lnTo>
                <a:lnTo>
                  <a:pt x="17705" y="157929"/>
                </a:lnTo>
                <a:lnTo>
                  <a:pt x="38637" y="120140"/>
                </a:lnTo>
                <a:lnTo>
                  <a:pt x="66557" y="86285"/>
                </a:lnTo>
                <a:lnTo>
                  <a:pt x="100666" y="57049"/>
                </a:lnTo>
                <a:lnTo>
                  <a:pt x="140163" y="33117"/>
                </a:lnTo>
                <a:lnTo>
                  <a:pt x="184251" y="15175"/>
                </a:lnTo>
                <a:lnTo>
                  <a:pt x="232128" y="3908"/>
                </a:lnTo>
                <a:lnTo>
                  <a:pt x="282998" y="0"/>
                </a:lnTo>
                <a:lnTo>
                  <a:pt x="333867" y="3908"/>
                </a:lnTo>
                <a:lnTo>
                  <a:pt x="381745" y="15175"/>
                </a:lnTo>
                <a:lnTo>
                  <a:pt x="425832" y="33117"/>
                </a:lnTo>
                <a:lnTo>
                  <a:pt x="465330" y="57049"/>
                </a:lnTo>
                <a:lnTo>
                  <a:pt x="499438" y="86285"/>
                </a:lnTo>
                <a:lnTo>
                  <a:pt x="527359" y="120140"/>
                </a:lnTo>
                <a:lnTo>
                  <a:pt x="548291" y="157929"/>
                </a:lnTo>
                <a:lnTo>
                  <a:pt x="561437" y="198967"/>
                </a:lnTo>
                <a:lnTo>
                  <a:pt x="565996" y="242569"/>
                </a:lnTo>
                <a:lnTo>
                  <a:pt x="561437" y="286172"/>
                </a:lnTo>
                <a:lnTo>
                  <a:pt x="548291" y="327210"/>
                </a:lnTo>
                <a:lnTo>
                  <a:pt x="527359" y="364999"/>
                </a:lnTo>
                <a:lnTo>
                  <a:pt x="499438" y="398854"/>
                </a:lnTo>
                <a:lnTo>
                  <a:pt x="465330" y="428090"/>
                </a:lnTo>
                <a:lnTo>
                  <a:pt x="425832" y="452022"/>
                </a:lnTo>
                <a:lnTo>
                  <a:pt x="381745" y="469964"/>
                </a:lnTo>
                <a:lnTo>
                  <a:pt x="333867" y="481231"/>
                </a:lnTo>
                <a:lnTo>
                  <a:pt x="282998" y="485139"/>
                </a:lnTo>
                <a:lnTo>
                  <a:pt x="232128" y="481231"/>
                </a:lnTo>
                <a:lnTo>
                  <a:pt x="184251" y="469964"/>
                </a:lnTo>
                <a:lnTo>
                  <a:pt x="140163" y="452022"/>
                </a:lnTo>
                <a:lnTo>
                  <a:pt x="100666" y="428090"/>
                </a:lnTo>
                <a:lnTo>
                  <a:pt x="66557" y="398854"/>
                </a:lnTo>
                <a:lnTo>
                  <a:pt x="38637" y="364999"/>
                </a:lnTo>
                <a:lnTo>
                  <a:pt x="17705" y="327210"/>
                </a:lnTo>
                <a:lnTo>
                  <a:pt x="4559" y="286172"/>
                </a:lnTo>
                <a:lnTo>
                  <a:pt x="0" y="242569"/>
                </a:lnTo>
                <a:close/>
              </a:path>
            </a:pathLst>
          </a:custGeom>
          <a:ln w="10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3347349" y="1407907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D</a:t>
            </a:r>
            <a:endParaRPr sz="1324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8555" y="2075115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47349" y="2690756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U</a:t>
            </a:r>
            <a:endParaRPr sz="1324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4985" y="2190526"/>
            <a:ext cx="162485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M</a:t>
            </a:r>
            <a:endParaRPr sz="132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60199" y="2190526"/>
            <a:ext cx="281828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Dir ctrl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6004" y="5876813"/>
            <a:ext cx="126066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ld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vA</a:t>
            </a:r>
            <a:r>
              <a:rPr sz="1500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-&gt; rd</a:t>
            </a:r>
            <a:r>
              <a:rPr sz="1500" b="1" spc="-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04069" y="2405678"/>
            <a:ext cx="5877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R/reply</a:t>
            </a:r>
            <a:endParaRPr sz="1324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91810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58073" y="6013972"/>
            <a:ext cx="126066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ld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vA</a:t>
            </a:r>
            <a:r>
              <a:rPr sz="1500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-&gt; rd</a:t>
            </a:r>
            <a:r>
              <a:rPr sz="1500" b="1" spc="-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35090" y="2069502"/>
            <a:ext cx="564776" cy="49580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5774" marR="4483" indent="-15129">
              <a:lnSpc>
                <a:spcPct val="125299"/>
              </a:lnSpc>
              <a:spcBef>
                <a:spcPts val="88"/>
              </a:spcBef>
            </a:pP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P1:</a:t>
            </a:r>
            <a:r>
              <a:rPr sz="1324" b="1" spc="-57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0332B7"/>
                </a:solidFill>
                <a:latin typeface="Arial"/>
                <a:cs typeface="Arial"/>
              </a:rPr>
              <a:t>pA </a:t>
            </a: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P2:</a:t>
            </a:r>
            <a:r>
              <a:rPr sz="1324" b="1" spc="-57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0332B7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72457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1650" y="5331758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20116" y="2131359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88504" y="5342516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35090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47349" y="2047987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15737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34" name="Slide Number Placeholder 39">
            <a:extLst>
              <a:ext uri="{FF2B5EF4-FFF2-40B4-BE49-F238E27FC236}">
                <a16:creationId xmlns:a16="http://schemas.microsoft.com/office/drawing/2014/main" id="{A018348E-9669-9E08-38B8-5CF5E67053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7936634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Example</a:t>
            </a:r>
            <a:r>
              <a:rPr spc="-49" dirty="0"/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Protocol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Write</a:t>
            </a:r>
            <a:r>
              <a:rPr u="heavy" spc="-4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to</a:t>
            </a:r>
            <a:r>
              <a:rPr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shared</a:t>
            </a:r>
            <a:r>
              <a:rPr spc="-9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783" y="464350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783" y="528627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481" y="1349959"/>
            <a:ext cx="6928150" cy="49316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64577" y="5901913"/>
            <a:ext cx="6947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2890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P1</a:t>
            </a:r>
            <a:endParaRPr sz="132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3908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0361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1567" y="528627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0361" y="5901913"/>
            <a:ext cx="6947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3537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P2</a:t>
            </a:r>
            <a:endParaRPr sz="132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4555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8555" y="1435035"/>
            <a:ext cx="12158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53" dirty="0">
                <a:latin typeface="Arial"/>
                <a:cs typeface="Arial"/>
              </a:rPr>
              <a:t>D</a:t>
            </a:r>
            <a:endParaRPr sz="1324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8555" y="2075115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7349" y="2690756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U</a:t>
            </a:r>
            <a:endParaRPr sz="1324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0199" y="2190526"/>
            <a:ext cx="947457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795660" algn="l"/>
              </a:tabLst>
            </a:pPr>
            <a:r>
              <a:rPr sz="1324" b="1" spc="-22" dirty="0">
                <a:latin typeface="Arial"/>
                <a:cs typeface="Arial"/>
              </a:rPr>
              <a:t>Dir</a:t>
            </a:r>
            <a:r>
              <a:rPr sz="1324" b="1" dirty="0">
                <a:latin typeface="Arial"/>
                <a:cs typeface="Arial"/>
              </a:rPr>
              <a:t>	</a:t>
            </a:r>
            <a:r>
              <a:rPr sz="1324" b="1" spc="-44" dirty="0">
                <a:latin typeface="Arial"/>
                <a:cs typeface="Arial"/>
              </a:rPr>
              <a:t>M</a:t>
            </a:r>
            <a:endParaRPr sz="1324">
              <a:latin typeface="Arial"/>
              <a:cs typeface="Arial"/>
            </a:endParaRPr>
          </a:p>
          <a:p>
            <a:pPr marL="11206"/>
            <a:r>
              <a:rPr sz="1324" b="1" spc="-18" dirty="0">
                <a:latin typeface="Arial"/>
                <a:cs typeface="Arial"/>
              </a:rPr>
              <a:t>ctrl</a:t>
            </a:r>
            <a:endParaRPr sz="132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6004" y="5876813"/>
            <a:ext cx="12931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st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vA</a:t>
            </a:r>
            <a:r>
              <a:rPr sz="15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-&gt;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wr</a:t>
            </a:r>
            <a:r>
              <a:rPr sz="1500" b="1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04069" y="2405678"/>
            <a:ext cx="5877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R/reply</a:t>
            </a:r>
            <a:endParaRPr sz="132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1298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87081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1298" y="4974067"/>
            <a:ext cx="6432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W/req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1136" y="5331758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0116" y="2131359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59017" y="3333526"/>
            <a:ext cx="1053353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solidFill>
                  <a:srgbClr val="FF0000"/>
                </a:solidFill>
                <a:latin typeface="Arial"/>
                <a:cs typeface="Arial"/>
              </a:rPr>
              <a:t>Invalidate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20116" y="3443792"/>
            <a:ext cx="15783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18" dirty="0">
                <a:solidFill>
                  <a:srgbClr val="FF0000"/>
                </a:solidFill>
                <a:latin typeface="Arial"/>
                <a:cs typeface="Arial"/>
              </a:rPr>
              <a:t>Read_to_update</a:t>
            </a:r>
            <a:r>
              <a:rPr sz="1324" b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28587" y="2905909"/>
            <a:ext cx="66282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solidFill>
                  <a:srgbClr val="FF0000"/>
                </a:solidFill>
                <a:latin typeface="Arial"/>
                <a:cs typeface="Arial"/>
              </a:rPr>
              <a:t>Inv</a:t>
            </a:r>
            <a:r>
              <a:rPr sz="1324" b="1" spc="-7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ACK</a:t>
            </a:r>
            <a:endParaRPr sz="132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64577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47349" y="2047987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30361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47349" y="1407907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1324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49714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21057" y="3048448"/>
            <a:ext cx="101077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reply</a:t>
            </a:r>
            <a:r>
              <a:rPr sz="1324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9" dirty="0">
                <a:solidFill>
                  <a:srgbClr val="FF0000"/>
                </a:solidFill>
                <a:latin typeface="Arial"/>
                <a:cs typeface="Arial"/>
              </a:rPr>
              <a:t>xD(pA)</a:t>
            </a:r>
            <a:endParaRPr sz="1324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49122" y="4546451"/>
            <a:ext cx="6432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W/req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31784" y="5342516"/>
            <a:ext cx="400610" cy="55992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2368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  <a:p>
            <a:pPr marL="11206">
              <a:spcBef>
                <a:spcPts val="1121"/>
              </a:spcBef>
            </a:pPr>
            <a:r>
              <a:rPr sz="1324" b="1" spc="-9" dirty="0">
                <a:latin typeface="Arial"/>
                <a:cs typeface="Arial"/>
              </a:rPr>
              <a:t>Inv/_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35090" y="2120601"/>
            <a:ext cx="816348" cy="54710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P1:</a:t>
            </a:r>
            <a:r>
              <a:rPr sz="1324" b="1" spc="-4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pA</a:t>
            </a:r>
            <a:r>
              <a:rPr sz="1324" b="1" spc="-57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EX</a:t>
            </a:r>
            <a:endParaRPr sz="1324">
              <a:latin typeface="Arial"/>
              <a:cs typeface="Arial"/>
            </a:endParaRPr>
          </a:p>
          <a:p>
            <a:pPr marL="25774">
              <a:spcBef>
                <a:spcPts val="975"/>
              </a:spcBef>
            </a:pP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P2:</a:t>
            </a:r>
            <a:r>
              <a:rPr sz="1324" b="1" spc="-57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0332B7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96639" y="1399838"/>
            <a:ext cx="4058771" cy="54922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435372">
              <a:lnSpc>
                <a:spcPct val="140000"/>
              </a:lnSpc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D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for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dirty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block,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spc="-9" dirty="0">
                <a:latin typeface="Arial"/>
                <a:cs typeface="Arial"/>
              </a:rPr>
              <a:t>modified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from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spc="-9" dirty="0">
                <a:latin typeface="Arial"/>
                <a:cs typeface="Arial"/>
              </a:rPr>
              <a:t>memory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spc="-18" dirty="0">
                <a:latin typeface="Arial"/>
                <a:cs typeface="Arial"/>
              </a:rPr>
              <a:t>copy </a:t>
            </a:r>
            <a:r>
              <a:rPr sz="1324" b="1" spc="-9" dirty="0">
                <a:latin typeface="Arial"/>
                <a:cs typeface="Arial"/>
              </a:rPr>
              <a:t>RX/invalidate&amp;reply</a:t>
            </a:r>
            <a:endParaRPr sz="1324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1136" y="4699746"/>
            <a:ext cx="31992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W/_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578919E-7098-D4A7-9FC7-F01E6AC517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327606"/>
            <a:ext cx="7934251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spc="-9" dirty="0"/>
              <a:t>Example</a:t>
            </a:r>
            <a:r>
              <a:rPr spc="-137" dirty="0"/>
              <a:t> </a:t>
            </a:r>
            <a:r>
              <a:rPr spc="-9" dirty="0"/>
              <a:t>Directory</a:t>
            </a:r>
            <a:r>
              <a:rPr spc="-128" dirty="0"/>
              <a:t> </a:t>
            </a:r>
            <a:r>
              <a:rPr spc="-9" dirty="0"/>
              <a:t>Protocol</a:t>
            </a:r>
            <a:r>
              <a:rPr spc="-128" dirty="0"/>
              <a:t> </a:t>
            </a:r>
            <a:r>
              <a:rPr spc="-9" dirty="0"/>
              <a:t>(</a:t>
            </a:r>
            <a:r>
              <a:rPr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Write</a:t>
            </a:r>
            <a:r>
              <a:rPr u="heavy" spc="-13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to</a:t>
            </a:r>
            <a:r>
              <a:rPr u="heavy" spc="-12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-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Exclusive</a:t>
            </a:r>
            <a:r>
              <a:rPr spc="-9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5783" y="464350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658" y="1342962"/>
            <a:ext cx="7631974" cy="49386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64577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5782" y="5929042"/>
            <a:ext cx="4706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2213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P1</a:t>
            </a:r>
            <a:endParaRPr sz="132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3908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1567" y="4643503"/>
            <a:ext cx="11261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0361" y="525914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30361" y="5901913"/>
            <a:ext cx="6947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2859" y="5401683"/>
            <a:ext cx="2269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P2</a:t>
            </a:r>
            <a:endParaRPr sz="132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4555" y="5401683"/>
            <a:ext cx="1159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$</a:t>
            </a:r>
            <a:endParaRPr sz="1324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8555" y="1435035"/>
            <a:ext cx="12158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b="1" spc="-53" dirty="0">
                <a:latin typeface="Arial"/>
                <a:cs typeface="Arial"/>
              </a:rPr>
              <a:t>D</a:t>
            </a:r>
            <a:endParaRPr sz="1324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7349" y="2047987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S</a:t>
            </a:r>
            <a:endParaRPr sz="1324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47349" y="2690756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Arial"/>
                <a:cs typeface="Arial"/>
              </a:rPr>
              <a:t>U</a:t>
            </a:r>
            <a:endParaRPr sz="1324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0199" y="2190526"/>
            <a:ext cx="947457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795660" algn="l"/>
              </a:tabLst>
            </a:pPr>
            <a:r>
              <a:rPr sz="1324" b="1" spc="-22" dirty="0">
                <a:latin typeface="Arial"/>
                <a:cs typeface="Arial"/>
              </a:rPr>
              <a:t>Dir</a:t>
            </a:r>
            <a:r>
              <a:rPr sz="1324" b="1" dirty="0">
                <a:latin typeface="Arial"/>
                <a:cs typeface="Arial"/>
              </a:rPr>
              <a:t>	</a:t>
            </a:r>
            <a:r>
              <a:rPr sz="1324" b="1" spc="-44" dirty="0">
                <a:latin typeface="Arial"/>
                <a:cs typeface="Arial"/>
              </a:rPr>
              <a:t>M</a:t>
            </a:r>
            <a:endParaRPr sz="1324">
              <a:latin typeface="Arial"/>
              <a:cs typeface="Arial"/>
            </a:endParaRPr>
          </a:p>
          <a:p>
            <a:pPr marL="11206"/>
            <a:r>
              <a:rPr sz="1324" b="1" spc="-18" dirty="0">
                <a:latin typeface="Arial"/>
                <a:cs typeface="Arial"/>
              </a:rPr>
              <a:t>ctrl</a:t>
            </a:r>
            <a:endParaRPr sz="132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04069" y="2405678"/>
            <a:ext cx="5877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R/reply</a:t>
            </a:r>
            <a:endParaRPr sz="1324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21298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49955" y="2120600"/>
            <a:ext cx="81186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0332B7"/>
                </a:solidFill>
                <a:latin typeface="Arial"/>
                <a:cs typeface="Arial"/>
              </a:rPr>
              <a:t>P2:</a:t>
            </a:r>
            <a:r>
              <a:rPr sz="1324" b="1" spc="-53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9" dirty="0">
                <a:solidFill>
                  <a:srgbClr val="0332B7"/>
                </a:solidFill>
                <a:latin typeface="Arial"/>
                <a:cs typeface="Arial"/>
              </a:rPr>
              <a:t>pA</a:t>
            </a:r>
            <a:r>
              <a:rPr sz="1324" b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EX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58073" y="6013972"/>
            <a:ext cx="129259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st</a:t>
            </a:r>
            <a:r>
              <a:rPr sz="1500" b="1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vA</a:t>
            </a:r>
            <a:r>
              <a:rPr sz="15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-&gt;</a:t>
            </a:r>
            <a:r>
              <a:rPr sz="1500" b="1" spc="-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wr</a:t>
            </a:r>
            <a:r>
              <a:rPr sz="1500" b="1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87081" y="5616836"/>
            <a:ext cx="44935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R/req</a:t>
            </a:r>
            <a:endParaRPr sz="1324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1298" y="4974067"/>
            <a:ext cx="6432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W/req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1136" y="5331758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20116" y="2131359"/>
            <a:ext cx="2829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9017" y="3373866"/>
            <a:ext cx="106567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Reply</a:t>
            </a:r>
            <a:r>
              <a:rPr sz="1324" b="1" spc="-8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9" dirty="0">
                <a:solidFill>
                  <a:srgbClr val="FF0000"/>
                </a:solidFill>
                <a:latin typeface="Arial"/>
                <a:cs typeface="Arial"/>
              </a:rPr>
              <a:t>xD(pA)</a:t>
            </a:r>
            <a:endParaRPr sz="1324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09295" y="3443792"/>
            <a:ext cx="1172135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18" dirty="0">
                <a:solidFill>
                  <a:srgbClr val="FF0000"/>
                </a:solidFill>
                <a:latin typeface="Arial"/>
                <a:cs typeface="Arial"/>
              </a:rPr>
              <a:t>Write_back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72698" y="2835984"/>
            <a:ext cx="157834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18" dirty="0">
                <a:solidFill>
                  <a:srgbClr val="FF0000"/>
                </a:solidFill>
                <a:latin typeface="Arial"/>
                <a:cs typeface="Arial"/>
              </a:rPr>
              <a:t>Read_to_update</a:t>
            </a:r>
            <a:r>
              <a:rPr sz="1324" b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47349" y="1407907"/>
            <a:ext cx="1439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1324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9714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6685" y="3048448"/>
            <a:ext cx="5289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Inv</a:t>
            </a:r>
            <a:r>
              <a:rPr sz="1324" b="1" spc="-4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endParaRPr sz="1324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49122" y="4546451"/>
            <a:ext cx="6432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W/req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1136" y="4705126"/>
            <a:ext cx="31992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W/_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9246" y="5686761"/>
            <a:ext cx="40061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Inv/_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31784" y="5342516"/>
            <a:ext cx="400610" cy="55992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2368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R/_</a:t>
            </a:r>
            <a:endParaRPr sz="1324">
              <a:latin typeface="Arial"/>
              <a:cs typeface="Arial"/>
            </a:endParaRPr>
          </a:p>
          <a:p>
            <a:pPr marL="11206">
              <a:spcBef>
                <a:spcPts val="1121"/>
              </a:spcBef>
            </a:pPr>
            <a:r>
              <a:rPr sz="1324" b="1" spc="-9" dirty="0">
                <a:latin typeface="Arial"/>
                <a:cs typeface="Arial"/>
              </a:rPr>
              <a:t>Inv/_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29769" y="4586792"/>
            <a:ext cx="6432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W/req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31783" y="4699746"/>
            <a:ext cx="31992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Arial"/>
                <a:cs typeface="Arial"/>
              </a:rPr>
              <a:t>W/_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49713" y="5901913"/>
            <a:ext cx="6947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endParaRPr sz="1324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30361" y="4616375"/>
            <a:ext cx="1350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15737" y="4974067"/>
            <a:ext cx="6432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W/req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spc="-44" dirty="0">
                <a:latin typeface="Arial"/>
                <a:cs typeface="Arial"/>
              </a:rPr>
              <a:t>E</a:t>
            </a:r>
            <a:endParaRPr sz="1324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48770" y="1491278"/>
            <a:ext cx="40341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18" dirty="0">
                <a:latin typeface="Arial"/>
                <a:cs typeface="Arial"/>
              </a:rPr>
              <a:t>RU/_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6427" y="6154718"/>
            <a:ext cx="40061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9" dirty="0">
                <a:latin typeface="Arial"/>
                <a:cs typeface="Arial"/>
              </a:rPr>
              <a:t>Inv/_</a:t>
            </a:r>
            <a:endParaRPr sz="1324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96639" y="1399838"/>
            <a:ext cx="4058771" cy="54922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435372">
              <a:lnSpc>
                <a:spcPct val="140000"/>
              </a:lnSpc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D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for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dirty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block,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spc="-9" dirty="0">
                <a:latin typeface="Arial"/>
                <a:cs typeface="Arial"/>
              </a:rPr>
              <a:t>modified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from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spc="-9" dirty="0">
                <a:latin typeface="Arial"/>
                <a:cs typeface="Arial"/>
              </a:rPr>
              <a:t>memory</a:t>
            </a:r>
            <a:r>
              <a:rPr sz="1324" b="1" spc="-53" dirty="0">
                <a:latin typeface="Arial"/>
                <a:cs typeface="Arial"/>
              </a:rPr>
              <a:t> </a:t>
            </a:r>
            <a:r>
              <a:rPr sz="1324" b="1" spc="-18" dirty="0">
                <a:latin typeface="Arial"/>
                <a:cs typeface="Arial"/>
              </a:rPr>
              <a:t>copy </a:t>
            </a:r>
            <a:r>
              <a:rPr sz="1324" b="1" spc="-9" dirty="0">
                <a:latin typeface="Arial"/>
                <a:cs typeface="Arial"/>
              </a:rPr>
              <a:t>RX/invalidate&amp;reply</a:t>
            </a:r>
            <a:endParaRPr sz="1324">
              <a:latin typeface="Arial"/>
              <a:cs typeface="Arial"/>
            </a:endParaRPr>
          </a:p>
        </p:txBody>
      </p:sp>
      <p:sp>
        <p:nvSpPr>
          <p:cNvPr id="45" name="Slide Number Placeholder 39">
            <a:extLst>
              <a:ext uri="{FF2B5EF4-FFF2-40B4-BE49-F238E27FC236}">
                <a16:creationId xmlns:a16="http://schemas.microsoft.com/office/drawing/2014/main" id="{C88DD2CD-9CE2-95FD-6A54-4AF5FB272E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Implementing</a:t>
            </a:r>
            <a:r>
              <a:rPr spc="-13" dirty="0"/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3" dirty="0"/>
              <a:t> </a:t>
            </a:r>
            <a:r>
              <a:rPr spc="-9" dirty="0"/>
              <a:t>Directory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320052"/>
            <a:ext cx="6986307" cy="4159940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91404" indent="-267835">
              <a:lnSpc>
                <a:spcPts val="2374"/>
              </a:lnSpc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Assume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operations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atomic,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but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they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not;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reality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is </a:t>
            </a:r>
            <a:r>
              <a:rPr sz="2206" dirty="0">
                <a:latin typeface="Calibri"/>
                <a:cs typeface="Calibri"/>
              </a:rPr>
              <a:t>much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harder</a:t>
            </a:r>
            <a:endParaRPr sz="2206">
              <a:latin typeface="Calibri"/>
              <a:cs typeface="Calibri"/>
            </a:endParaRPr>
          </a:p>
          <a:p>
            <a:pPr>
              <a:spcBef>
                <a:spcPts val="1354"/>
              </a:spcBef>
              <a:buFont typeface="Calibri"/>
              <a:buChar char="•"/>
            </a:pPr>
            <a:endParaRPr sz="2206">
              <a:latin typeface="Calibri"/>
              <a:cs typeface="Calibri"/>
            </a:endParaRPr>
          </a:p>
          <a:p>
            <a:pPr marL="278481" marR="4483" indent="-267835">
              <a:lnSpc>
                <a:spcPts val="2391"/>
              </a:lnSpc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Optimizations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lessen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network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traffic,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latencies,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work </a:t>
            </a:r>
            <a:r>
              <a:rPr sz="2206" dirty="0">
                <a:latin typeface="Calibri"/>
                <a:cs typeface="Calibri"/>
              </a:rPr>
              <a:t>done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home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(directory)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CPU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avoid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bottleneck:</a:t>
            </a:r>
            <a:endParaRPr sz="2206">
              <a:latin typeface="Calibri"/>
              <a:cs typeface="Calibri"/>
            </a:endParaRPr>
          </a:p>
          <a:p>
            <a:pPr marL="652777" lvl="1" indent="-213483">
              <a:spcBef>
                <a:spcPts val="485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For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read-miss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or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write-miss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1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Exclusive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cache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block</a:t>
            </a:r>
            <a:endParaRPr sz="1853">
              <a:latin typeface="Calibri"/>
              <a:cs typeface="Calibri"/>
            </a:endParaRPr>
          </a:p>
          <a:p>
            <a:pPr marL="1081425" marR="289688" indent="-214044">
              <a:lnSpc>
                <a:spcPts val="1677"/>
              </a:lnSpc>
              <a:spcBef>
                <a:spcPts val="490"/>
              </a:spcBef>
              <a:tabLst>
                <a:tab pos="1080865" algn="l"/>
              </a:tabLst>
            </a:pPr>
            <a:r>
              <a:rPr sz="1500" spc="-44" dirty="0">
                <a:latin typeface="Calibri"/>
                <a:cs typeface="Calibri"/>
              </a:rPr>
              <a:t>»</a:t>
            </a:r>
            <a:r>
              <a:rPr sz="1500" dirty="0">
                <a:latin typeface="Calibri"/>
                <a:cs typeface="Calibri"/>
              </a:rPr>
              <a:t>	send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directly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requestor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owner,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instead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owner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sending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spc="-22" dirty="0">
                <a:latin typeface="Calibri"/>
                <a:cs typeface="Calibri"/>
              </a:rPr>
              <a:t>to </a:t>
            </a:r>
            <a:r>
              <a:rPr sz="1500" dirty="0">
                <a:latin typeface="Calibri"/>
                <a:cs typeface="Calibri"/>
              </a:rPr>
              <a:t>home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memory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then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memory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CPU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sending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requestor</a:t>
            </a:r>
            <a:endParaRPr sz="1500">
              <a:latin typeface="Calibri"/>
              <a:cs typeface="Calibri"/>
            </a:endParaRPr>
          </a:p>
          <a:p>
            <a:pPr marL="1081425" marR="154089" indent="-214044">
              <a:lnSpc>
                <a:spcPts val="1588"/>
              </a:lnSpc>
              <a:spcBef>
                <a:spcPts val="507"/>
              </a:spcBef>
              <a:tabLst>
                <a:tab pos="1080865" algn="l"/>
              </a:tabLst>
            </a:pPr>
            <a:r>
              <a:rPr sz="1500" spc="-44" dirty="0">
                <a:latin typeface="Calibri"/>
                <a:cs typeface="Calibri"/>
              </a:rPr>
              <a:t>»</a:t>
            </a:r>
            <a:r>
              <a:rPr sz="1500" dirty="0">
                <a:latin typeface="Calibri"/>
                <a:cs typeface="Calibri"/>
              </a:rPr>
              <a:t>	let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directory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cache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block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owner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requesting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remote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spc="-22" dirty="0">
                <a:latin typeface="Calibri"/>
                <a:cs typeface="Calibri"/>
              </a:rPr>
              <a:t>let </a:t>
            </a:r>
            <a:r>
              <a:rPr sz="1500" dirty="0">
                <a:latin typeface="Calibri"/>
                <a:cs typeface="Calibri"/>
              </a:rPr>
              <a:t>requestor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send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message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owner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lessen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work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directory</a:t>
            </a:r>
            <a:endParaRPr sz="1500">
              <a:latin typeface="Calibri"/>
              <a:cs typeface="Calibri"/>
            </a:endParaRPr>
          </a:p>
          <a:p>
            <a:pPr marL="652777" lvl="1" indent="-213483">
              <a:spcBef>
                <a:spcPts val="393"/>
              </a:spcBef>
              <a:buChar char="–"/>
              <a:tabLst>
                <a:tab pos="652777" algn="l"/>
              </a:tabLst>
            </a:pPr>
            <a:r>
              <a:rPr sz="1853" dirty="0">
                <a:latin typeface="Calibri"/>
                <a:cs typeface="Calibri"/>
              </a:rPr>
              <a:t>For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write-miss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of</a:t>
            </a:r>
            <a:r>
              <a:rPr sz="1853" spc="18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Shared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(=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non-modified)</a:t>
            </a:r>
            <a:r>
              <a:rPr sz="1853" spc="22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block</a:t>
            </a:r>
            <a:endParaRPr sz="1853">
              <a:latin typeface="Calibri"/>
              <a:cs typeface="Calibri"/>
            </a:endParaRPr>
          </a:p>
          <a:p>
            <a:pPr marL="1081425" marR="200595" indent="-214044" algn="just">
              <a:lnSpc>
                <a:spcPct val="87600"/>
              </a:lnSpc>
              <a:spcBef>
                <a:spcPts val="662"/>
              </a:spcBef>
            </a:pPr>
            <a:r>
              <a:rPr sz="1500" dirty="0">
                <a:latin typeface="Calibri"/>
                <a:cs typeface="Calibri"/>
              </a:rPr>
              <a:t>»</a:t>
            </a:r>
            <a:r>
              <a:rPr sz="1500" spc="88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let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directory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cache</a:t>
            </a:r>
            <a:r>
              <a:rPr sz="1500" spc="-1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block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list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sharing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nodes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18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requestor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let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requestor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invalidate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requests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nodes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cache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block </a:t>
            </a:r>
            <a:r>
              <a:rPr sz="1500" dirty="0">
                <a:latin typeface="Calibri"/>
                <a:cs typeface="Calibri"/>
              </a:rPr>
              <a:t>copy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lessen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work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directory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4169" y="3720171"/>
            <a:ext cx="1415863" cy="246529"/>
          </a:xfrm>
          <a:custGeom>
            <a:avLst/>
            <a:gdLst/>
            <a:ahLst/>
            <a:cxnLst/>
            <a:rect l="l" t="t" r="r" b="b"/>
            <a:pathLst>
              <a:path w="1604645" h="279400">
                <a:moveTo>
                  <a:pt x="114599" y="33233"/>
                </a:moveTo>
                <a:lnTo>
                  <a:pt x="0" y="33233"/>
                </a:lnTo>
                <a:lnTo>
                  <a:pt x="0" y="262434"/>
                </a:lnTo>
                <a:lnTo>
                  <a:pt x="10295" y="263762"/>
                </a:lnTo>
                <a:lnTo>
                  <a:pt x="27886" y="279241"/>
                </a:lnTo>
                <a:lnTo>
                  <a:pt x="142486" y="279241"/>
                </a:lnTo>
                <a:lnTo>
                  <a:pt x="142265" y="273512"/>
                </a:lnTo>
                <a:lnTo>
                  <a:pt x="346092" y="273512"/>
                </a:lnTo>
                <a:lnTo>
                  <a:pt x="373214" y="271219"/>
                </a:lnTo>
                <a:lnTo>
                  <a:pt x="393459" y="270455"/>
                </a:lnTo>
                <a:lnTo>
                  <a:pt x="415234" y="265489"/>
                </a:lnTo>
                <a:lnTo>
                  <a:pt x="426062" y="265197"/>
                </a:lnTo>
                <a:lnTo>
                  <a:pt x="826742" y="265197"/>
                </a:lnTo>
                <a:lnTo>
                  <a:pt x="847276" y="262434"/>
                </a:lnTo>
                <a:lnTo>
                  <a:pt x="942012" y="262434"/>
                </a:lnTo>
                <a:lnTo>
                  <a:pt x="955382" y="260141"/>
                </a:lnTo>
                <a:lnTo>
                  <a:pt x="980975" y="257086"/>
                </a:lnTo>
                <a:lnTo>
                  <a:pt x="997019" y="257086"/>
                </a:lnTo>
                <a:lnTo>
                  <a:pt x="1011153" y="254411"/>
                </a:lnTo>
                <a:lnTo>
                  <a:pt x="1025288" y="254029"/>
                </a:lnTo>
                <a:lnTo>
                  <a:pt x="1053174" y="251355"/>
                </a:lnTo>
                <a:lnTo>
                  <a:pt x="1200626" y="251355"/>
                </a:lnTo>
                <a:lnTo>
                  <a:pt x="1225838" y="249063"/>
                </a:lnTo>
                <a:lnTo>
                  <a:pt x="1253723" y="243333"/>
                </a:lnTo>
                <a:lnTo>
                  <a:pt x="1267476" y="242569"/>
                </a:lnTo>
                <a:lnTo>
                  <a:pt x="1292688" y="237604"/>
                </a:lnTo>
                <a:lnTo>
                  <a:pt x="1311788" y="234547"/>
                </a:lnTo>
                <a:lnTo>
                  <a:pt x="1328596" y="231491"/>
                </a:lnTo>
                <a:lnTo>
                  <a:pt x="1342348" y="229199"/>
                </a:lnTo>
                <a:lnTo>
                  <a:pt x="1604017" y="229199"/>
                </a:lnTo>
                <a:lnTo>
                  <a:pt x="1604017" y="44311"/>
                </a:lnTo>
                <a:lnTo>
                  <a:pt x="231491" y="44311"/>
                </a:lnTo>
                <a:lnTo>
                  <a:pt x="217357" y="42019"/>
                </a:lnTo>
                <a:lnTo>
                  <a:pt x="203606" y="41255"/>
                </a:lnTo>
                <a:lnTo>
                  <a:pt x="190235" y="38963"/>
                </a:lnTo>
                <a:lnTo>
                  <a:pt x="162350" y="38963"/>
                </a:lnTo>
                <a:lnTo>
                  <a:pt x="128734" y="35907"/>
                </a:lnTo>
                <a:lnTo>
                  <a:pt x="114599" y="33233"/>
                </a:lnTo>
                <a:close/>
              </a:path>
              <a:path w="1604645" h="279400">
                <a:moveTo>
                  <a:pt x="822727" y="265197"/>
                </a:moveTo>
                <a:lnTo>
                  <a:pt x="426062" y="265197"/>
                </a:lnTo>
                <a:lnTo>
                  <a:pt x="443120" y="268164"/>
                </a:lnTo>
                <a:lnTo>
                  <a:pt x="788447" y="268164"/>
                </a:lnTo>
                <a:lnTo>
                  <a:pt x="807548" y="265489"/>
                </a:lnTo>
                <a:lnTo>
                  <a:pt x="822727" y="265197"/>
                </a:lnTo>
                <a:close/>
              </a:path>
              <a:path w="1604645" h="279400">
                <a:moveTo>
                  <a:pt x="1604017" y="229199"/>
                </a:moveTo>
                <a:lnTo>
                  <a:pt x="1486744" y="229199"/>
                </a:lnTo>
                <a:lnTo>
                  <a:pt x="1486744" y="251355"/>
                </a:lnTo>
                <a:lnTo>
                  <a:pt x="1601344" y="251355"/>
                </a:lnTo>
                <a:lnTo>
                  <a:pt x="1604017" y="229199"/>
                </a:lnTo>
                <a:close/>
              </a:path>
              <a:path w="1604645" h="279400">
                <a:moveTo>
                  <a:pt x="532126" y="33233"/>
                </a:moveTo>
                <a:lnTo>
                  <a:pt x="328519" y="33233"/>
                </a:lnTo>
                <a:lnTo>
                  <a:pt x="314768" y="35907"/>
                </a:lnTo>
                <a:lnTo>
                  <a:pt x="300634" y="36290"/>
                </a:lnTo>
                <a:lnTo>
                  <a:pt x="278860" y="41255"/>
                </a:lnTo>
                <a:lnTo>
                  <a:pt x="258613" y="42019"/>
                </a:lnTo>
                <a:lnTo>
                  <a:pt x="231491" y="44311"/>
                </a:lnTo>
                <a:lnTo>
                  <a:pt x="1604017" y="44311"/>
                </a:lnTo>
                <a:lnTo>
                  <a:pt x="1604017" y="38963"/>
                </a:lnTo>
                <a:lnTo>
                  <a:pt x="549036" y="38963"/>
                </a:lnTo>
                <a:lnTo>
                  <a:pt x="548934" y="36290"/>
                </a:lnTo>
                <a:lnTo>
                  <a:pt x="532126" y="33233"/>
                </a:lnTo>
                <a:close/>
              </a:path>
              <a:path w="1604645" h="279400">
                <a:moveTo>
                  <a:pt x="1604017" y="0"/>
                </a:moveTo>
                <a:lnTo>
                  <a:pt x="1219344" y="0"/>
                </a:lnTo>
                <a:lnTo>
                  <a:pt x="1202918" y="5347"/>
                </a:lnTo>
                <a:lnTo>
                  <a:pt x="1189165" y="8021"/>
                </a:lnTo>
                <a:lnTo>
                  <a:pt x="1166246" y="11078"/>
                </a:lnTo>
                <a:lnTo>
                  <a:pt x="1152876" y="13369"/>
                </a:lnTo>
                <a:lnTo>
                  <a:pt x="1127282" y="19099"/>
                </a:lnTo>
                <a:lnTo>
                  <a:pt x="1099395" y="22156"/>
                </a:lnTo>
                <a:lnTo>
                  <a:pt x="926731" y="22156"/>
                </a:lnTo>
                <a:lnTo>
                  <a:pt x="910687" y="24829"/>
                </a:lnTo>
                <a:lnTo>
                  <a:pt x="896553" y="25212"/>
                </a:lnTo>
                <a:lnTo>
                  <a:pt x="882420" y="27885"/>
                </a:lnTo>
                <a:lnTo>
                  <a:pt x="854534" y="30177"/>
                </a:lnTo>
                <a:lnTo>
                  <a:pt x="840781" y="30942"/>
                </a:lnTo>
                <a:lnTo>
                  <a:pt x="815569" y="33233"/>
                </a:lnTo>
                <a:lnTo>
                  <a:pt x="732675" y="33233"/>
                </a:lnTo>
                <a:lnTo>
                  <a:pt x="712812" y="35907"/>
                </a:lnTo>
                <a:lnTo>
                  <a:pt x="692948" y="36290"/>
                </a:lnTo>
                <a:lnTo>
                  <a:pt x="673848" y="38963"/>
                </a:lnTo>
                <a:lnTo>
                  <a:pt x="1604017" y="38963"/>
                </a:lnTo>
                <a:lnTo>
                  <a:pt x="1604017" y="0"/>
                </a:lnTo>
                <a:close/>
              </a:path>
            </a:pathLst>
          </a:custGeom>
          <a:solidFill>
            <a:srgbClr val="FFFC00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Slide Number Placeholder 39">
            <a:extLst>
              <a:ext uri="{FF2B5EF4-FFF2-40B4-BE49-F238E27FC236}">
                <a16:creationId xmlns:a16="http://schemas.microsoft.com/office/drawing/2014/main" id="{9A4756F6-FF17-972C-728E-8594EEC78A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260932"/>
            <a:ext cx="7363995" cy="890892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11206" marR="4483">
              <a:lnSpc>
                <a:spcPts val="3177"/>
              </a:lnSpc>
              <a:spcBef>
                <a:spcPts val="547"/>
              </a:spcBef>
            </a:pPr>
            <a:r>
              <a:rPr dirty="0">
                <a:latin typeface="Calibri"/>
                <a:cs typeface="Calibri"/>
              </a:rPr>
              <a:t>Basic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Transactions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Let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Remote</a:t>
            </a:r>
            <a:r>
              <a:rPr spc="-40" dirty="0"/>
              <a:t> </a:t>
            </a:r>
            <a:r>
              <a:rPr spc="-22" dirty="0"/>
              <a:t>CPU </a:t>
            </a:r>
            <a:r>
              <a:rPr dirty="0">
                <a:latin typeface="Calibri"/>
                <a:cs typeface="Calibri"/>
              </a:rPr>
              <a:t>Do</a:t>
            </a:r>
            <a:r>
              <a:rPr spc="-44" dirty="0"/>
              <a:t> </a:t>
            </a:r>
            <a:r>
              <a:rPr dirty="0">
                <a:latin typeface="Calibri"/>
                <a:cs typeface="Calibri"/>
              </a:rPr>
              <a:t>Much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Coherency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Work</a:t>
            </a:r>
            <a:r>
              <a:rPr spc="-49" dirty="0"/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0" dirty="0"/>
              <a:t> </a:t>
            </a:r>
            <a:r>
              <a:rPr spc="-9" dirty="0"/>
              <a:t>Directory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32916" y="1835756"/>
            <a:ext cx="1778934" cy="2616574"/>
            <a:chOff x="5324904" y="2080524"/>
            <a:chExt cx="2016125" cy="2965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4904" y="4946875"/>
              <a:ext cx="83455" cy="990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64175" y="3222408"/>
              <a:ext cx="1242060" cy="1730375"/>
            </a:xfrm>
            <a:custGeom>
              <a:avLst/>
              <a:gdLst/>
              <a:ahLst/>
              <a:cxnLst/>
              <a:rect l="l" t="t" r="r" b="b"/>
              <a:pathLst>
                <a:path w="1242059" h="1730375">
                  <a:moveTo>
                    <a:pt x="1242009" y="0"/>
                  </a:moveTo>
                  <a:lnTo>
                    <a:pt x="1237107" y="0"/>
                  </a:lnTo>
                  <a:lnTo>
                    <a:pt x="1001458" y="23304"/>
                  </a:lnTo>
                  <a:lnTo>
                    <a:pt x="765822" y="139827"/>
                  </a:lnTo>
                  <a:lnTo>
                    <a:pt x="569455" y="302945"/>
                  </a:lnTo>
                  <a:lnTo>
                    <a:pt x="392734" y="512686"/>
                  </a:lnTo>
                  <a:lnTo>
                    <a:pt x="235635" y="745718"/>
                  </a:lnTo>
                  <a:lnTo>
                    <a:pt x="117817" y="1048664"/>
                  </a:lnTo>
                  <a:lnTo>
                    <a:pt x="39268" y="1374914"/>
                  </a:lnTo>
                  <a:lnTo>
                    <a:pt x="0" y="1724469"/>
                  </a:lnTo>
                  <a:lnTo>
                    <a:pt x="0" y="1730298"/>
                  </a:lnTo>
                  <a:lnTo>
                    <a:pt x="4902" y="1730298"/>
                  </a:lnTo>
                  <a:lnTo>
                    <a:pt x="44183" y="1380744"/>
                  </a:lnTo>
                  <a:lnTo>
                    <a:pt x="122720" y="1054493"/>
                  </a:lnTo>
                  <a:lnTo>
                    <a:pt x="240550" y="751547"/>
                  </a:lnTo>
                  <a:lnTo>
                    <a:pt x="397637" y="518502"/>
                  </a:lnTo>
                  <a:lnTo>
                    <a:pt x="574370" y="308775"/>
                  </a:lnTo>
                  <a:lnTo>
                    <a:pt x="770737" y="145643"/>
                  </a:lnTo>
                  <a:lnTo>
                    <a:pt x="1006373" y="29133"/>
                  </a:lnTo>
                  <a:lnTo>
                    <a:pt x="1242009" y="5829"/>
                  </a:lnTo>
                  <a:lnTo>
                    <a:pt x="1242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5364177" y="3898210"/>
              <a:ext cx="589280" cy="373380"/>
            </a:xfrm>
            <a:custGeom>
              <a:avLst/>
              <a:gdLst/>
              <a:ahLst/>
              <a:cxnLst/>
              <a:rect l="l" t="t" r="r" b="b"/>
              <a:pathLst>
                <a:path w="589279" h="373379">
                  <a:moveTo>
                    <a:pt x="589098" y="0"/>
                  </a:moveTo>
                  <a:lnTo>
                    <a:pt x="0" y="0"/>
                  </a:lnTo>
                  <a:lnTo>
                    <a:pt x="0" y="372859"/>
                  </a:lnTo>
                  <a:lnTo>
                    <a:pt x="589098" y="372859"/>
                  </a:lnTo>
                  <a:lnTo>
                    <a:pt x="589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3101" y="2080524"/>
              <a:ext cx="824737" cy="1141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12918" y="2092176"/>
              <a:ext cx="824865" cy="1142365"/>
            </a:xfrm>
            <a:custGeom>
              <a:avLst/>
              <a:gdLst/>
              <a:ahLst/>
              <a:cxnLst/>
              <a:rect l="l" t="t" r="r" b="b"/>
              <a:pathLst>
                <a:path w="824865" h="1142364">
                  <a:moveTo>
                    <a:pt x="0" y="0"/>
                  </a:moveTo>
                  <a:lnTo>
                    <a:pt x="824737" y="0"/>
                  </a:lnTo>
                  <a:lnTo>
                    <a:pt x="824737" y="1141879"/>
                  </a:lnTo>
                  <a:lnTo>
                    <a:pt x="0" y="1141879"/>
                  </a:lnTo>
                  <a:lnTo>
                    <a:pt x="0" y="0"/>
                  </a:lnTo>
                  <a:close/>
                </a:path>
              </a:pathLst>
            </a:custGeom>
            <a:ln w="5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9467" y="2197042"/>
              <a:ext cx="235639" cy="2796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699467" y="2197042"/>
              <a:ext cx="236220" cy="280035"/>
            </a:xfrm>
            <a:custGeom>
              <a:avLst/>
              <a:gdLst/>
              <a:ahLst/>
              <a:cxnLst/>
              <a:rect l="l" t="t" r="r" b="b"/>
              <a:pathLst>
                <a:path w="236220" h="280035">
                  <a:moveTo>
                    <a:pt x="176729" y="256340"/>
                  </a:moveTo>
                  <a:lnTo>
                    <a:pt x="58910" y="256340"/>
                  </a:lnTo>
                  <a:lnTo>
                    <a:pt x="78546" y="279643"/>
                  </a:lnTo>
                  <a:lnTo>
                    <a:pt x="157092" y="279643"/>
                  </a:lnTo>
                  <a:lnTo>
                    <a:pt x="176729" y="256340"/>
                  </a:lnTo>
                  <a:close/>
                </a:path>
                <a:path w="236220" h="280035">
                  <a:moveTo>
                    <a:pt x="78546" y="233036"/>
                  </a:moveTo>
                  <a:lnTo>
                    <a:pt x="39273" y="233036"/>
                  </a:lnTo>
                  <a:lnTo>
                    <a:pt x="39273" y="256340"/>
                  </a:lnTo>
                  <a:lnTo>
                    <a:pt x="78546" y="256340"/>
                  </a:lnTo>
                  <a:lnTo>
                    <a:pt x="78546" y="233036"/>
                  </a:lnTo>
                  <a:close/>
                </a:path>
                <a:path w="236220" h="280035">
                  <a:moveTo>
                    <a:pt x="196366" y="23303"/>
                  </a:moveTo>
                  <a:lnTo>
                    <a:pt x="157092" y="23303"/>
                  </a:lnTo>
                  <a:lnTo>
                    <a:pt x="176729" y="46607"/>
                  </a:lnTo>
                  <a:lnTo>
                    <a:pt x="176729" y="69910"/>
                  </a:lnTo>
                  <a:lnTo>
                    <a:pt x="196366" y="69910"/>
                  </a:lnTo>
                  <a:lnTo>
                    <a:pt x="196366" y="93214"/>
                  </a:lnTo>
                  <a:lnTo>
                    <a:pt x="216002" y="93214"/>
                  </a:lnTo>
                  <a:lnTo>
                    <a:pt x="216002" y="186429"/>
                  </a:lnTo>
                  <a:lnTo>
                    <a:pt x="196366" y="209732"/>
                  </a:lnTo>
                  <a:lnTo>
                    <a:pt x="176729" y="209732"/>
                  </a:lnTo>
                  <a:lnTo>
                    <a:pt x="176729" y="233036"/>
                  </a:lnTo>
                  <a:lnTo>
                    <a:pt x="157092" y="256340"/>
                  </a:lnTo>
                  <a:lnTo>
                    <a:pt x="196366" y="256340"/>
                  </a:lnTo>
                  <a:lnTo>
                    <a:pt x="196366" y="233036"/>
                  </a:lnTo>
                  <a:lnTo>
                    <a:pt x="216002" y="233036"/>
                  </a:lnTo>
                  <a:lnTo>
                    <a:pt x="216002" y="209732"/>
                  </a:lnTo>
                  <a:lnTo>
                    <a:pt x="235639" y="186429"/>
                  </a:lnTo>
                  <a:lnTo>
                    <a:pt x="235639" y="93214"/>
                  </a:lnTo>
                  <a:lnTo>
                    <a:pt x="216002" y="69910"/>
                  </a:lnTo>
                  <a:lnTo>
                    <a:pt x="216002" y="46607"/>
                  </a:lnTo>
                  <a:lnTo>
                    <a:pt x="196366" y="46607"/>
                  </a:lnTo>
                  <a:lnTo>
                    <a:pt x="196366" y="23303"/>
                  </a:lnTo>
                  <a:close/>
                </a:path>
                <a:path w="236220" h="280035">
                  <a:moveTo>
                    <a:pt x="58910" y="46607"/>
                  </a:moveTo>
                  <a:lnTo>
                    <a:pt x="19636" y="46607"/>
                  </a:lnTo>
                  <a:lnTo>
                    <a:pt x="19636" y="69910"/>
                  </a:lnTo>
                  <a:lnTo>
                    <a:pt x="0" y="93214"/>
                  </a:lnTo>
                  <a:lnTo>
                    <a:pt x="0" y="186429"/>
                  </a:lnTo>
                  <a:lnTo>
                    <a:pt x="19636" y="209732"/>
                  </a:lnTo>
                  <a:lnTo>
                    <a:pt x="19636" y="233036"/>
                  </a:lnTo>
                  <a:lnTo>
                    <a:pt x="58910" y="233036"/>
                  </a:lnTo>
                  <a:lnTo>
                    <a:pt x="58910" y="209732"/>
                  </a:lnTo>
                  <a:lnTo>
                    <a:pt x="39273" y="209732"/>
                  </a:lnTo>
                  <a:lnTo>
                    <a:pt x="19636" y="186429"/>
                  </a:lnTo>
                  <a:lnTo>
                    <a:pt x="19636" y="93214"/>
                  </a:lnTo>
                  <a:lnTo>
                    <a:pt x="39273" y="93214"/>
                  </a:lnTo>
                  <a:lnTo>
                    <a:pt x="39273" y="69910"/>
                  </a:lnTo>
                  <a:lnTo>
                    <a:pt x="58910" y="69910"/>
                  </a:lnTo>
                  <a:lnTo>
                    <a:pt x="58910" y="46607"/>
                  </a:lnTo>
                  <a:close/>
                </a:path>
                <a:path w="236220" h="280035">
                  <a:moveTo>
                    <a:pt x="78546" y="23303"/>
                  </a:moveTo>
                  <a:lnTo>
                    <a:pt x="39273" y="23303"/>
                  </a:lnTo>
                  <a:lnTo>
                    <a:pt x="39273" y="46607"/>
                  </a:lnTo>
                  <a:lnTo>
                    <a:pt x="78546" y="46607"/>
                  </a:lnTo>
                  <a:lnTo>
                    <a:pt x="78546" y="23303"/>
                  </a:lnTo>
                  <a:close/>
                </a:path>
                <a:path w="236220" h="280035">
                  <a:moveTo>
                    <a:pt x="117820" y="0"/>
                  </a:moveTo>
                  <a:lnTo>
                    <a:pt x="78546" y="0"/>
                  </a:lnTo>
                  <a:lnTo>
                    <a:pt x="58910" y="23303"/>
                  </a:lnTo>
                  <a:lnTo>
                    <a:pt x="117820" y="23303"/>
                  </a:lnTo>
                  <a:lnTo>
                    <a:pt x="117820" y="0"/>
                  </a:lnTo>
                  <a:close/>
                </a:path>
                <a:path w="236220" h="280035">
                  <a:moveTo>
                    <a:pt x="157092" y="0"/>
                  </a:moveTo>
                  <a:lnTo>
                    <a:pt x="117820" y="0"/>
                  </a:lnTo>
                  <a:lnTo>
                    <a:pt x="117820" y="23303"/>
                  </a:lnTo>
                  <a:lnTo>
                    <a:pt x="176729" y="23303"/>
                  </a:lnTo>
                  <a:lnTo>
                    <a:pt x="157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8740" y="2523294"/>
              <a:ext cx="137455" cy="699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48557" y="2534945"/>
              <a:ext cx="137795" cy="227329"/>
            </a:xfrm>
            <a:custGeom>
              <a:avLst/>
              <a:gdLst/>
              <a:ahLst/>
              <a:cxnLst/>
              <a:rect l="l" t="t" r="r" b="b"/>
              <a:pathLst>
                <a:path w="137795" h="227330">
                  <a:moveTo>
                    <a:pt x="0" y="0"/>
                  </a:moveTo>
                  <a:lnTo>
                    <a:pt x="137456" y="0"/>
                  </a:lnTo>
                  <a:lnTo>
                    <a:pt x="137456" y="69911"/>
                  </a:lnTo>
                  <a:lnTo>
                    <a:pt x="0" y="69911"/>
                  </a:lnTo>
                  <a:lnTo>
                    <a:pt x="0" y="0"/>
                  </a:lnTo>
                  <a:close/>
                </a:path>
                <a:path w="137795" h="227330">
                  <a:moveTo>
                    <a:pt x="51546" y="81562"/>
                  </a:moveTo>
                  <a:lnTo>
                    <a:pt x="51546" y="227210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9467" y="2779635"/>
              <a:ext cx="196366" cy="2330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99467" y="2779635"/>
              <a:ext cx="196850" cy="233045"/>
            </a:xfrm>
            <a:custGeom>
              <a:avLst/>
              <a:gdLst/>
              <a:ahLst/>
              <a:cxnLst/>
              <a:rect l="l" t="t" r="r" b="b"/>
              <a:pathLst>
                <a:path w="196850" h="233044">
                  <a:moveTo>
                    <a:pt x="137455" y="209732"/>
                  </a:moveTo>
                  <a:lnTo>
                    <a:pt x="58910" y="209732"/>
                  </a:lnTo>
                  <a:lnTo>
                    <a:pt x="58910" y="233036"/>
                  </a:lnTo>
                  <a:lnTo>
                    <a:pt x="137455" y="233036"/>
                  </a:lnTo>
                  <a:lnTo>
                    <a:pt x="137455" y="209732"/>
                  </a:lnTo>
                  <a:close/>
                </a:path>
                <a:path w="196850" h="233044">
                  <a:moveTo>
                    <a:pt x="39273" y="163125"/>
                  </a:moveTo>
                  <a:lnTo>
                    <a:pt x="19636" y="163125"/>
                  </a:lnTo>
                  <a:lnTo>
                    <a:pt x="19636" y="209732"/>
                  </a:lnTo>
                  <a:lnTo>
                    <a:pt x="58910" y="209732"/>
                  </a:lnTo>
                  <a:lnTo>
                    <a:pt x="58910" y="186428"/>
                  </a:lnTo>
                  <a:lnTo>
                    <a:pt x="39273" y="186428"/>
                  </a:lnTo>
                  <a:lnTo>
                    <a:pt x="39273" y="163125"/>
                  </a:lnTo>
                  <a:close/>
                </a:path>
                <a:path w="196850" h="233044">
                  <a:moveTo>
                    <a:pt x="176729" y="163125"/>
                  </a:moveTo>
                  <a:lnTo>
                    <a:pt x="157092" y="163125"/>
                  </a:lnTo>
                  <a:lnTo>
                    <a:pt x="157092" y="186428"/>
                  </a:lnTo>
                  <a:lnTo>
                    <a:pt x="137455" y="186428"/>
                  </a:lnTo>
                  <a:lnTo>
                    <a:pt x="137455" y="209732"/>
                  </a:lnTo>
                  <a:lnTo>
                    <a:pt x="176729" y="209732"/>
                  </a:lnTo>
                  <a:lnTo>
                    <a:pt x="176729" y="163125"/>
                  </a:lnTo>
                  <a:close/>
                </a:path>
                <a:path w="196850" h="233044">
                  <a:moveTo>
                    <a:pt x="19636" y="69910"/>
                  </a:moveTo>
                  <a:lnTo>
                    <a:pt x="0" y="69910"/>
                  </a:lnTo>
                  <a:lnTo>
                    <a:pt x="0" y="163125"/>
                  </a:lnTo>
                  <a:lnTo>
                    <a:pt x="19636" y="163125"/>
                  </a:lnTo>
                  <a:lnTo>
                    <a:pt x="19636" y="69910"/>
                  </a:lnTo>
                  <a:close/>
                </a:path>
                <a:path w="196850" h="233044">
                  <a:moveTo>
                    <a:pt x="196366" y="69910"/>
                  </a:moveTo>
                  <a:lnTo>
                    <a:pt x="176729" y="69910"/>
                  </a:lnTo>
                  <a:lnTo>
                    <a:pt x="176729" y="163125"/>
                  </a:lnTo>
                  <a:lnTo>
                    <a:pt x="196366" y="163125"/>
                  </a:lnTo>
                  <a:lnTo>
                    <a:pt x="196366" y="69910"/>
                  </a:lnTo>
                  <a:close/>
                </a:path>
                <a:path w="196850" h="233044">
                  <a:moveTo>
                    <a:pt x="58910" y="23303"/>
                  </a:moveTo>
                  <a:lnTo>
                    <a:pt x="19636" y="23303"/>
                  </a:lnTo>
                  <a:lnTo>
                    <a:pt x="19636" y="69910"/>
                  </a:lnTo>
                  <a:lnTo>
                    <a:pt x="39273" y="69910"/>
                  </a:lnTo>
                  <a:lnTo>
                    <a:pt x="39273" y="46606"/>
                  </a:lnTo>
                  <a:lnTo>
                    <a:pt x="58910" y="46606"/>
                  </a:lnTo>
                  <a:lnTo>
                    <a:pt x="58910" y="23303"/>
                  </a:lnTo>
                  <a:close/>
                </a:path>
                <a:path w="196850" h="233044">
                  <a:moveTo>
                    <a:pt x="176729" y="23303"/>
                  </a:moveTo>
                  <a:lnTo>
                    <a:pt x="137455" y="23303"/>
                  </a:lnTo>
                  <a:lnTo>
                    <a:pt x="137455" y="46606"/>
                  </a:lnTo>
                  <a:lnTo>
                    <a:pt x="157092" y="46606"/>
                  </a:lnTo>
                  <a:lnTo>
                    <a:pt x="157092" y="69910"/>
                  </a:lnTo>
                  <a:lnTo>
                    <a:pt x="176729" y="69910"/>
                  </a:lnTo>
                  <a:lnTo>
                    <a:pt x="176729" y="23303"/>
                  </a:lnTo>
                  <a:close/>
                </a:path>
                <a:path w="196850" h="233044">
                  <a:moveTo>
                    <a:pt x="98183" y="0"/>
                  </a:moveTo>
                  <a:lnTo>
                    <a:pt x="58910" y="0"/>
                  </a:lnTo>
                  <a:lnTo>
                    <a:pt x="58910" y="23303"/>
                  </a:lnTo>
                  <a:lnTo>
                    <a:pt x="98183" y="23303"/>
                  </a:lnTo>
                  <a:lnTo>
                    <a:pt x="98183" y="0"/>
                  </a:lnTo>
                  <a:close/>
                </a:path>
                <a:path w="196850" h="233044">
                  <a:moveTo>
                    <a:pt x="137455" y="0"/>
                  </a:moveTo>
                  <a:lnTo>
                    <a:pt x="98183" y="0"/>
                  </a:lnTo>
                  <a:lnTo>
                    <a:pt x="98183" y="23303"/>
                  </a:lnTo>
                  <a:lnTo>
                    <a:pt x="137455" y="23303"/>
                  </a:lnTo>
                  <a:lnTo>
                    <a:pt x="137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13653" y="2686419"/>
              <a:ext cx="274911" cy="3728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00103" y="2453383"/>
              <a:ext cx="498475" cy="617855"/>
            </a:xfrm>
            <a:custGeom>
              <a:avLst/>
              <a:gdLst/>
              <a:ahLst/>
              <a:cxnLst/>
              <a:rect l="l" t="t" r="r" b="b"/>
              <a:pathLst>
                <a:path w="498475" h="617855">
                  <a:moveTo>
                    <a:pt x="223366" y="244688"/>
                  </a:moveTo>
                  <a:lnTo>
                    <a:pt x="498279" y="244688"/>
                  </a:lnTo>
                  <a:lnTo>
                    <a:pt x="498279" y="617547"/>
                  </a:lnTo>
                  <a:lnTo>
                    <a:pt x="223366" y="617547"/>
                  </a:lnTo>
                  <a:lnTo>
                    <a:pt x="223366" y="244688"/>
                  </a:lnTo>
                  <a:close/>
                </a:path>
                <a:path w="498475" h="617855">
                  <a:moveTo>
                    <a:pt x="76091" y="445682"/>
                  </a:moveTo>
                  <a:lnTo>
                    <a:pt x="218457" y="445682"/>
                  </a:lnTo>
                </a:path>
                <a:path w="498475" h="617855">
                  <a:moveTo>
                    <a:pt x="0" y="0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35961" y="1815195"/>
            <a:ext cx="739028" cy="1000125"/>
            <a:chOff x="455022" y="2057220"/>
            <a:chExt cx="837565" cy="113347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022" y="2057220"/>
              <a:ext cx="824738" cy="1118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4841" y="2068872"/>
              <a:ext cx="824865" cy="1118870"/>
            </a:xfrm>
            <a:custGeom>
              <a:avLst/>
              <a:gdLst/>
              <a:ahLst/>
              <a:cxnLst/>
              <a:rect l="l" t="t" r="r" b="b"/>
              <a:pathLst>
                <a:path w="824865" h="1118870">
                  <a:moveTo>
                    <a:pt x="0" y="0"/>
                  </a:moveTo>
                  <a:lnTo>
                    <a:pt x="824737" y="0"/>
                  </a:lnTo>
                  <a:lnTo>
                    <a:pt x="824737" y="1118575"/>
                  </a:lnTo>
                  <a:lnTo>
                    <a:pt x="0" y="1118575"/>
                  </a:lnTo>
                  <a:lnTo>
                    <a:pt x="0" y="0"/>
                  </a:lnTo>
                  <a:close/>
                </a:path>
              </a:pathLst>
            </a:custGeom>
            <a:ln w="5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388" y="2173739"/>
              <a:ext cx="235639" cy="25633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1388" y="2173739"/>
              <a:ext cx="236220" cy="256540"/>
            </a:xfrm>
            <a:custGeom>
              <a:avLst/>
              <a:gdLst/>
              <a:ahLst/>
              <a:cxnLst/>
              <a:rect l="l" t="t" r="r" b="b"/>
              <a:pathLst>
                <a:path w="236219" h="256539">
                  <a:moveTo>
                    <a:pt x="176729" y="233036"/>
                  </a:moveTo>
                  <a:lnTo>
                    <a:pt x="58909" y="233036"/>
                  </a:lnTo>
                  <a:lnTo>
                    <a:pt x="78546" y="256339"/>
                  </a:lnTo>
                  <a:lnTo>
                    <a:pt x="157093" y="256339"/>
                  </a:lnTo>
                  <a:lnTo>
                    <a:pt x="176729" y="233036"/>
                  </a:lnTo>
                  <a:close/>
                </a:path>
                <a:path w="236219" h="256539">
                  <a:moveTo>
                    <a:pt x="78546" y="209732"/>
                  </a:moveTo>
                  <a:lnTo>
                    <a:pt x="39273" y="209732"/>
                  </a:lnTo>
                  <a:lnTo>
                    <a:pt x="39273" y="233036"/>
                  </a:lnTo>
                  <a:lnTo>
                    <a:pt x="78546" y="233036"/>
                  </a:lnTo>
                  <a:lnTo>
                    <a:pt x="78546" y="209732"/>
                  </a:lnTo>
                  <a:close/>
                </a:path>
                <a:path w="236219" h="256539">
                  <a:moveTo>
                    <a:pt x="216002" y="186428"/>
                  </a:moveTo>
                  <a:lnTo>
                    <a:pt x="176729" y="186428"/>
                  </a:lnTo>
                  <a:lnTo>
                    <a:pt x="176729" y="209732"/>
                  </a:lnTo>
                  <a:lnTo>
                    <a:pt x="157093" y="233036"/>
                  </a:lnTo>
                  <a:lnTo>
                    <a:pt x="196366" y="233036"/>
                  </a:lnTo>
                  <a:lnTo>
                    <a:pt x="196366" y="209732"/>
                  </a:lnTo>
                  <a:lnTo>
                    <a:pt x="216002" y="209732"/>
                  </a:lnTo>
                  <a:lnTo>
                    <a:pt x="216002" y="186428"/>
                  </a:lnTo>
                  <a:close/>
                </a:path>
                <a:path w="236219" h="256539">
                  <a:moveTo>
                    <a:pt x="58909" y="186428"/>
                  </a:moveTo>
                  <a:lnTo>
                    <a:pt x="19636" y="186428"/>
                  </a:lnTo>
                  <a:lnTo>
                    <a:pt x="19636" y="209732"/>
                  </a:lnTo>
                  <a:lnTo>
                    <a:pt x="58909" y="209732"/>
                  </a:lnTo>
                  <a:lnTo>
                    <a:pt x="58909" y="186428"/>
                  </a:lnTo>
                  <a:close/>
                </a:path>
                <a:path w="236219" h="256539">
                  <a:moveTo>
                    <a:pt x="19636" y="69910"/>
                  </a:moveTo>
                  <a:lnTo>
                    <a:pt x="0" y="69910"/>
                  </a:lnTo>
                  <a:lnTo>
                    <a:pt x="0" y="186428"/>
                  </a:lnTo>
                  <a:lnTo>
                    <a:pt x="19636" y="186428"/>
                  </a:lnTo>
                  <a:lnTo>
                    <a:pt x="19636" y="69910"/>
                  </a:lnTo>
                  <a:close/>
                </a:path>
                <a:path w="236219" h="256539">
                  <a:moveTo>
                    <a:pt x="235639" y="69910"/>
                  </a:moveTo>
                  <a:lnTo>
                    <a:pt x="216002" y="69910"/>
                  </a:lnTo>
                  <a:lnTo>
                    <a:pt x="216002" y="186428"/>
                  </a:lnTo>
                  <a:lnTo>
                    <a:pt x="235639" y="186428"/>
                  </a:lnTo>
                  <a:lnTo>
                    <a:pt x="235639" y="69910"/>
                  </a:lnTo>
                  <a:close/>
                </a:path>
                <a:path w="236219" h="256539">
                  <a:moveTo>
                    <a:pt x="58909" y="46606"/>
                  </a:moveTo>
                  <a:lnTo>
                    <a:pt x="19636" y="46606"/>
                  </a:lnTo>
                  <a:lnTo>
                    <a:pt x="19636" y="69910"/>
                  </a:lnTo>
                  <a:lnTo>
                    <a:pt x="58909" y="69910"/>
                  </a:lnTo>
                  <a:lnTo>
                    <a:pt x="58909" y="46606"/>
                  </a:lnTo>
                  <a:close/>
                </a:path>
                <a:path w="236219" h="256539">
                  <a:moveTo>
                    <a:pt x="196366" y="23303"/>
                  </a:moveTo>
                  <a:lnTo>
                    <a:pt x="157093" y="23303"/>
                  </a:lnTo>
                  <a:lnTo>
                    <a:pt x="176729" y="46606"/>
                  </a:lnTo>
                  <a:lnTo>
                    <a:pt x="176729" y="69910"/>
                  </a:lnTo>
                  <a:lnTo>
                    <a:pt x="216002" y="69910"/>
                  </a:lnTo>
                  <a:lnTo>
                    <a:pt x="216002" y="46606"/>
                  </a:lnTo>
                  <a:lnTo>
                    <a:pt x="196366" y="46606"/>
                  </a:lnTo>
                  <a:lnTo>
                    <a:pt x="196366" y="23303"/>
                  </a:lnTo>
                  <a:close/>
                </a:path>
                <a:path w="236219" h="256539">
                  <a:moveTo>
                    <a:pt x="78546" y="23303"/>
                  </a:moveTo>
                  <a:lnTo>
                    <a:pt x="39273" y="23303"/>
                  </a:lnTo>
                  <a:lnTo>
                    <a:pt x="39273" y="46606"/>
                  </a:lnTo>
                  <a:lnTo>
                    <a:pt x="78546" y="46606"/>
                  </a:lnTo>
                  <a:lnTo>
                    <a:pt x="78546" y="23303"/>
                  </a:lnTo>
                  <a:close/>
                </a:path>
                <a:path w="236219" h="256539">
                  <a:moveTo>
                    <a:pt x="117819" y="0"/>
                  </a:moveTo>
                  <a:lnTo>
                    <a:pt x="78546" y="0"/>
                  </a:lnTo>
                  <a:lnTo>
                    <a:pt x="58909" y="23303"/>
                  </a:lnTo>
                  <a:lnTo>
                    <a:pt x="117819" y="23303"/>
                  </a:lnTo>
                  <a:lnTo>
                    <a:pt x="117819" y="0"/>
                  </a:lnTo>
                  <a:close/>
                </a:path>
                <a:path w="236219" h="256539">
                  <a:moveTo>
                    <a:pt x="157093" y="0"/>
                  </a:moveTo>
                  <a:lnTo>
                    <a:pt x="117819" y="0"/>
                  </a:lnTo>
                  <a:lnTo>
                    <a:pt x="117819" y="23303"/>
                  </a:lnTo>
                  <a:lnTo>
                    <a:pt x="176729" y="23303"/>
                  </a:lnTo>
                  <a:lnTo>
                    <a:pt x="1570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0662" y="2476686"/>
              <a:ext cx="137456" cy="9321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00480" y="2488338"/>
              <a:ext cx="137795" cy="250825"/>
            </a:xfrm>
            <a:custGeom>
              <a:avLst/>
              <a:gdLst/>
              <a:ahLst/>
              <a:cxnLst/>
              <a:rect l="l" t="t" r="r" b="b"/>
              <a:pathLst>
                <a:path w="137794" h="250825">
                  <a:moveTo>
                    <a:pt x="0" y="0"/>
                  </a:moveTo>
                  <a:lnTo>
                    <a:pt x="137456" y="0"/>
                  </a:lnTo>
                  <a:lnTo>
                    <a:pt x="137456" y="93214"/>
                  </a:lnTo>
                  <a:lnTo>
                    <a:pt x="0" y="93214"/>
                  </a:lnTo>
                  <a:lnTo>
                    <a:pt x="0" y="0"/>
                  </a:lnTo>
                  <a:close/>
                </a:path>
                <a:path w="137794" h="250825">
                  <a:moveTo>
                    <a:pt x="51546" y="81562"/>
                  </a:moveTo>
                  <a:lnTo>
                    <a:pt x="51546" y="250514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1388" y="2733027"/>
              <a:ext cx="196366" cy="2330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1388" y="2733027"/>
              <a:ext cx="196850" cy="233045"/>
            </a:xfrm>
            <a:custGeom>
              <a:avLst/>
              <a:gdLst/>
              <a:ahLst/>
              <a:cxnLst/>
              <a:rect l="l" t="t" r="r" b="b"/>
              <a:pathLst>
                <a:path w="196850" h="233044">
                  <a:moveTo>
                    <a:pt x="137456" y="209732"/>
                  </a:moveTo>
                  <a:lnTo>
                    <a:pt x="58909" y="209732"/>
                  </a:lnTo>
                  <a:lnTo>
                    <a:pt x="58909" y="233036"/>
                  </a:lnTo>
                  <a:lnTo>
                    <a:pt x="137456" y="233036"/>
                  </a:lnTo>
                  <a:lnTo>
                    <a:pt x="137456" y="209732"/>
                  </a:lnTo>
                  <a:close/>
                </a:path>
                <a:path w="196850" h="233044">
                  <a:moveTo>
                    <a:pt x="39273" y="163125"/>
                  </a:moveTo>
                  <a:lnTo>
                    <a:pt x="19636" y="163125"/>
                  </a:lnTo>
                  <a:lnTo>
                    <a:pt x="19636" y="209732"/>
                  </a:lnTo>
                  <a:lnTo>
                    <a:pt x="58909" y="209732"/>
                  </a:lnTo>
                  <a:lnTo>
                    <a:pt x="58909" y="186429"/>
                  </a:lnTo>
                  <a:lnTo>
                    <a:pt x="39273" y="186429"/>
                  </a:lnTo>
                  <a:lnTo>
                    <a:pt x="39273" y="163125"/>
                  </a:lnTo>
                  <a:close/>
                </a:path>
                <a:path w="196850" h="233044">
                  <a:moveTo>
                    <a:pt x="176729" y="163125"/>
                  </a:moveTo>
                  <a:lnTo>
                    <a:pt x="157093" y="163125"/>
                  </a:lnTo>
                  <a:lnTo>
                    <a:pt x="157093" y="186429"/>
                  </a:lnTo>
                  <a:lnTo>
                    <a:pt x="137456" y="186429"/>
                  </a:lnTo>
                  <a:lnTo>
                    <a:pt x="137456" y="209732"/>
                  </a:lnTo>
                  <a:lnTo>
                    <a:pt x="176729" y="209732"/>
                  </a:lnTo>
                  <a:lnTo>
                    <a:pt x="176729" y="163125"/>
                  </a:lnTo>
                  <a:close/>
                </a:path>
                <a:path w="196850" h="233044">
                  <a:moveTo>
                    <a:pt x="19636" y="69910"/>
                  </a:moveTo>
                  <a:lnTo>
                    <a:pt x="0" y="69910"/>
                  </a:lnTo>
                  <a:lnTo>
                    <a:pt x="0" y="163125"/>
                  </a:lnTo>
                  <a:lnTo>
                    <a:pt x="19636" y="163125"/>
                  </a:lnTo>
                  <a:lnTo>
                    <a:pt x="19636" y="69910"/>
                  </a:lnTo>
                  <a:close/>
                </a:path>
                <a:path w="196850" h="233044">
                  <a:moveTo>
                    <a:pt x="196366" y="69910"/>
                  </a:moveTo>
                  <a:lnTo>
                    <a:pt x="176729" y="69910"/>
                  </a:lnTo>
                  <a:lnTo>
                    <a:pt x="176729" y="163125"/>
                  </a:lnTo>
                  <a:lnTo>
                    <a:pt x="196366" y="163125"/>
                  </a:lnTo>
                  <a:lnTo>
                    <a:pt x="196366" y="69910"/>
                  </a:lnTo>
                  <a:close/>
                </a:path>
                <a:path w="196850" h="233044">
                  <a:moveTo>
                    <a:pt x="58909" y="23303"/>
                  </a:moveTo>
                  <a:lnTo>
                    <a:pt x="19636" y="23303"/>
                  </a:lnTo>
                  <a:lnTo>
                    <a:pt x="19636" y="69910"/>
                  </a:lnTo>
                  <a:lnTo>
                    <a:pt x="39273" y="69910"/>
                  </a:lnTo>
                  <a:lnTo>
                    <a:pt x="39273" y="46607"/>
                  </a:lnTo>
                  <a:lnTo>
                    <a:pt x="58909" y="46607"/>
                  </a:lnTo>
                  <a:lnTo>
                    <a:pt x="58909" y="23303"/>
                  </a:lnTo>
                  <a:close/>
                </a:path>
                <a:path w="196850" h="233044">
                  <a:moveTo>
                    <a:pt x="176729" y="23303"/>
                  </a:moveTo>
                  <a:lnTo>
                    <a:pt x="137456" y="23303"/>
                  </a:lnTo>
                  <a:lnTo>
                    <a:pt x="137456" y="46607"/>
                  </a:lnTo>
                  <a:lnTo>
                    <a:pt x="157093" y="46607"/>
                  </a:lnTo>
                  <a:lnTo>
                    <a:pt x="157093" y="69910"/>
                  </a:lnTo>
                  <a:lnTo>
                    <a:pt x="176729" y="69910"/>
                  </a:lnTo>
                  <a:lnTo>
                    <a:pt x="176729" y="23303"/>
                  </a:lnTo>
                  <a:close/>
                </a:path>
                <a:path w="196850" h="233044">
                  <a:moveTo>
                    <a:pt x="98183" y="0"/>
                  </a:moveTo>
                  <a:lnTo>
                    <a:pt x="58909" y="0"/>
                  </a:lnTo>
                  <a:lnTo>
                    <a:pt x="58909" y="23303"/>
                  </a:lnTo>
                  <a:lnTo>
                    <a:pt x="98183" y="23303"/>
                  </a:lnTo>
                  <a:lnTo>
                    <a:pt x="98183" y="0"/>
                  </a:lnTo>
                  <a:close/>
                </a:path>
                <a:path w="196850" h="233044">
                  <a:moveTo>
                    <a:pt x="137456" y="0"/>
                  </a:moveTo>
                  <a:lnTo>
                    <a:pt x="98183" y="0"/>
                  </a:lnTo>
                  <a:lnTo>
                    <a:pt x="98183" y="23303"/>
                  </a:lnTo>
                  <a:lnTo>
                    <a:pt x="137456" y="23303"/>
                  </a:lnTo>
                  <a:lnTo>
                    <a:pt x="1374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5574" y="2639811"/>
              <a:ext cx="274912" cy="3728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52026" y="2430079"/>
              <a:ext cx="219075" cy="422909"/>
            </a:xfrm>
            <a:custGeom>
              <a:avLst/>
              <a:gdLst/>
              <a:ahLst/>
              <a:cxnLst/>
              <a:rect l="l" t="t" r="r" b="b"/>
              <a:pathLst>
                <a:path w="219075" h="422910">
                  <a:moveTo>
                    <a:pt x="76091" y="422378"/>
                  </a:moveTo>
                  <a:lnTo>
                    <a:pt x="218457" y="422378"/>
                  </a:lnTo>
                </a:path>
                <a:path w="219075" h="422910">
                  <a:moveTo>
                    <a:pt x="0" y="0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7326" y="1947924"/>
            <a:ext cx="9020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2673" y="2441413"/>
            <a:ext cx="110378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5112" y="2339527"/>
            <a:ext cx="242607" cy="225172"/>
          </a:xfrm>
          <a:prstGeom prst="rect">
            <a:avLst/>
          </a:prstGeom>
          <a:ln w="5306">
            <a:solidFill>
              <a:srgbClr val="000000"/>
            </a:solidFill>
          </a:ln>
        </p:spPr>
        <p:txBody>
          <a:bodyPr vert="horz" wrap="square" lIns="0" tIns="54909" rIns="0" bIns="0" rtlCol="0">
            <a:spAutoFit/>
          </a:bodyPr>
          <a:lstStyle/>
          <a:p>
            <a:pPr marL="8405">
              <a:spcBef>
                <a:spcPts val="432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8714" y="2132982"/>
            <a:ext cx="103654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528501" y="2740487"/>
            <a:ext cx="739028" cy="1000125"/>
            <a:chOff x="2713234" y="3105885"/>
            <a:chExt cx="837565" cy="1133475"/>
          </a:xfrm>
        </p:grpSpPr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13234" y="3105885"/>
              <a:ext cx="824737" cy="11185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723051" y="3117537"/>
              <a:ext cx="824865" cy="1118870"/>
            </a:xfrm>
            <a:custGeom>
              <a:avLst/>
              <a:gdLst/>
              <a:ahLst/>
              <a:cxnLst/>
              <a:rect l="l" t="t" r="r" b="b"/>
              <a:pathLst>
                <a:path w="824864" h="1118870">
                  <a:moveTo>
                    <a:pt x="0" y="0"/>
                  </a:moveTo>
                  <a:lnTo>
                    <a:pt x="824737" y="0"/>
                  </a:lnTo>
                  <a:lnTo>
                    <a:pt x="824737" y="1118575"/>
                  </a:lnTo>
                  <a:lnTo>
                    <a:pt x="0" y="1118575"/>
                  </a:lnTo>
                  <a:lnTo>
                    <a:pt x="0" y="0"/>
                  </a:lnTo>
                  <a:close/>
                </a:path>
              </a:pathLst>
            </a:custGeom>
            <a:ln w="5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09600" y="3222404"/>
              <a:ext cx="216002" cy="25634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909595" y="3222408"/>
              <a:ext cx="216535" cy="256540"/>
            </a:xfrm>
            <a:custGeom>
              <a:avLst/>
              <a:gdLst/>
              <a:ahLst/>
              <a:cxnLst/>
              <a:rect l="l" t="t" r="r" b="b"/>
              <a:pathLst>
                <a:path w="216535" h="256539">
                  <a:moveTo>
                    <a:pt x="58902" y="23710"/>
                  </a:moveTo>
                  <a:lnTo>
                    <a:pt x="39268" y="23710"/>
                  </a:lnTo>
                  <a:lnTo>
                    <a:pt x="39268" y="46570"/>
                  </a:lnTo>
                  <a:lnTo>
                    <a:pt x="19634" y="46570"/>
                  </a:lnTo>
                  <a:lnTo>
                    <a:pt x="19634" y="69430"/>
                  </a:lnTo>
                  <a:lnTo>
                    <a:pt x="58902" y="69430"/>
                  </a:lnTo>
                  <a:lnTo>
                    <a:pt x="58902" y="46570"/>
                  </a:lnTo>
                  <a:lnTo>
                    <a:pt x="58902" y="23710"/>
                  </a:lnTo>
                  <a:close/>
                </a:path>
                <a:path w="216535" h="256539">
                  <a:moveTo>
                    <a:pt x="157086" y="0"/>
                  </a:moveTo>
                  <a:lnTo>
                    <a:pt x="117817" y="0"/>
                  </a:lnTo>
                  <a:lnTo>
                    <a:pt x="58902" y="0"/>
                  </a:lnTo>
                  <a:lnTo>
                    <a:pt x="58902" y="23304"/>
                  </a:lnTo>
                  <a:lnTo>
                    <a:pt x="117817" y="23304"/>
                  </a:lnTo>
                  <a:lnTo>
                    <a:pt x="157086" y="23304"/>
                  </a:lnTo>
                  <a:lnTo>
                    <a:pt x="157086" y="0"/>
                  </a:lnTo>
                  <a:close/>
                </a:path>
                <a:path w="216535" h="256539">
                  <a:moveTo>
                    <a:pt x="196367" y="46570"/>
                  </a:moveTo>
                  <a:lnTo>
                    <a:pt x="176733" y="46570"/>
                  </a:lnTo>
                  <a:lnTo>
                    <a:pt x="176733" y="23710"/>
                  </a:lnTo>
                  <a:lnTo>
                    <a:pt x="157086" y="23710"/>
                  </a:lnTo>
                  <a:lnTo>
                    <a:pt x="157086" y="46570"/>
                  </a:lnTo>
                  <a:lnTo>
                    <a:pt x="157086" y="69430"/>
                  </a:lnTo>
                  <a:lnTo>
                    <a:pt x="196367" y="69430"/>
                  </a:lnTo>
                  <a:lnTo>
                    <a:pt x="196367" y="46570"/>
                  </a:lnTo>
                  <a:close/>
                </a:path>
                <a:path w="216535" h="256539">
                  <a:moveTo>
                    <a:pt x="216001" y="69913"/>
                  </a:moveTo>
                  <a:lnTo>
                    <a:pt x="196367" y="69913"/>
                  </a:lnTo>
                  <a:lnTo>
                    <a:pt x="196367" y="186270"/>
                  </a:lnTo>
                  <a:lnTo>
                    <a:pt x="157086" y="186270"/>
                  </a:lnTo>
                  <a:lnTo>
                    <a:pt x="157086" y="209130"/>
                  </a:lnTo>
                  <a:lnTo>
                    <a:pt x="157086" y="233032"/>
                  </a:lnTo>
                  <a:lnTo>
                    <a:pt x="58902" y="233032"/>
                  </a:lnTo>
                  <a:lnTo>
                    <a:pt x="58902" y="209130"/>
                  </a:lnTo>
                  <a:lnTo>
                    <a:pt x="58902" y="186270"/>
                  </a:lnTo>
                  <a:lnTo>
                    <a:pt x="19634" y="186270"/>
                  </a:lnTo>
                  <a:lnTo>
                    <a:pt x="19634" y="69913"/>
                  </a:lnTo>
                  <a:lnTo>
                    <a:pt x="0" y="69913"/>
                  </a:lnTo>
                  <a:lnTo>
                    <a:pt x="0" y="186436"/>
                  </a:lnTo>
                  <a:lnTo>
                    <a:pt x="19634" y="186436"/>
                  </a:lnTo>
                  <a:lnTo>
                    <a:pt x="19634" y="209130"/>
                  </a:lnTo>
                  <a:lnTo>
                    <a:pt x="39268" y="209130"/>
                  </a:lnTo>
                  <a:lnTo>
                    <a:pt x="39268" y="233260"/>
                  </a:lnTo>
                  <a:lnTo>
                    <a:pt x="58902" y="233260"/>
                  </a:lnTo>
                  <a:lnTo>
                    <a:pt x="58902" y="256336"/>
                  </a:lnTo>
                  <a:lnTo>
                    <a:pt x="157086" y="256336"/>
                  </a:lnTo>
                  <a:lnTo>
                    <a:pt x="157086" y="233260"/>
                  </a:lnTo>
                  <a:lnTo>
                    <a:pt x="176733" y="233260"/>
                  </a:lnTo>
                  <a:lnTo>
                    <a:pt x="176733" y="209130"/>
                  </a:lnTo>
                  <a:lnTo>
                    <a:pt x="196367" y="209130"/>
                  </a:lnTo>
                  <a:lnTo>
                    <a:pt x="196367" y="186436"/>
                  </a:lnTo>
                  <a:lnTo>
                    <a:pt x="216001" y="186436"/>
                  </a:lnTo>
                  <a:lnTo>
                    <a:pt x="216001" y="699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2939054" y="3537003"/>
              <a:ext cx="157480" cy="93345"/>
            </a:xfrm>
            <a:custGeom>
              <a:avLst/>
              <a:gdLst/>
              <a:ahLst/>
              <a:cxnLst/>
              <a:rect l="l" t="t" r="r" b="b"/>
              <a:pathLst>
                <a:path w="157480" h="93345">
                  <a:moveTo>
                    <a:pt x="0" y="0"/>
                  </a:moveTo>
                  <a:lnTo>
                    <a:pt x="157092" y="0"/>
                  </a:lnTo>
                  <a:lnTo>
                    <a:pt x="157092" y="93214"/>
                  </a:lnTo>
                  <a:lnTo>
                    <a:pt x="0" y="93214"/>
                  </a:lnTo>
                  <a:lnTo>
                    <a:pt x="0" y="0"/>
                  </a:lnTo>
                  <a:close/>
                </a:path>
              </a:pathLst>
            </a:custGeom>
            <a:ln w="5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29237" y="3525351"/>
              <a:ext cx="157092" cy="9321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010237" y="3618566"/>
              <a:ext cx="0" cy="169545"/>
            </a:xfrm>
            <a:custGeom>
              <a:avLst/>
              <a:gdLst/>
              <a:ahLst/>
              <a:cxnLst/>
              <a:rect l="l" t="t" r="r" b="b"/>
              <a:pathLst>
                <a:path h="169545">
                  <a:moveTo>
                    <a:pt x="0" y="0"/>
                  </a:moveTo>
                  <a:lnTo>
                    <a:pt x="0" y="168951"/>
                  </a:lnTo>
                </a:path>
              </a:pathLst>
            </a:custGeom>
            <a:ln w="4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89963" y="3781691"/>
              <a:ext cx="216002" cy="23303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889963" y="3781691"/>
              <a:ext cx="216535" cy="233045"/>
            </a:xfrm>
            <a:custGeom>
              <a:avLst/>
              <a:gdLst/>
              <a:ahLst/>
              <a:cxnLst/>
              <a:rect l="l" t="t" r="r" b="b"/>
              <a:pathLst>
                <a:path w="216535" h="233045">
                  <a:moveTo>
                    <a:pt x="157092" y="209732"/>
                  </a:moveTo>
                  <a:lnTo>
                    <a:pt x="58908" y="209732"/>
                  </a:lnTo>
                  <a:lnTo>
                    <a:pt x="58908" y="233037"/>
                  </a:lnTo>
                  <a:lnTo>
                    <a:pt x="157092" y="233037"/>
                  </a:lnTo>
                  <a:lnTo>
                    <a:pt x="157092" y="209732"/>
                  </a:lnTo>
                  <a:close/>
                </a:path>
                <a:path w="216535" h="233045">
                  <a:moveTo>
                    <a:pt x="39273" y="163125"/>
                  </a:moveTo>
                  <a:lnTo>
                    <a:pt x="19636" y="163125"/>
                  </a:lnTo>
                  <a:lnTo>
                    <a:pt x="19636" y="186429"/>
                  </a:lnTo>
                  <a:lnTo>
                    <a:pt x="39273" y="209732"/>
                  </a:lnTo>
                  <a:lnTo>
                    <a:pt x="58908" y="209732"/>
                  </a:lnTo>
                  <a:lnTo>
                    <a:pt x="58908" y="186429"/>
                  </a:lnTo>
                  <a:lnTo>
                    <a:pt x="39273" y="163125"/>
                  </a:lnTo>
                  <a:close/>
                </a:path>
                <a:path w="216535" h="233045">
                  <a:moveTo>
                    <a:pt x="196366" y="163125"/>
                  </a:moveTo>
                  <a:lnTo>
                    <a:pt x="176729" y="163125"/>
                  </a:lnTo>
                  <a:lnTo>
                    <a:pt x="157092" y="186429"/>
                  </a:lnTo>
                  <a:lnTo>
                    <a:pt x="157092" y="209732"/>
                  </a:lnTo>
                  <a:lnTo>
                    <a:pt x="176729" y="209732"/>
                  </a:lnTo>
                  <a:lnTo>
                    <a:pt x="196366" y="186429"/>
                  </a:lnTo>
                  <a:lnTo>
                    <a:pt x="196366" y="163125"/>
                  </a:lnTo>
                  <a:close/>
                </a:path>
                <a:path w="216535" h="233045">
                  <a:moveTo>
                    <a:pt x="19636" y="69910"/>
                  </a:moveTo>
                  <a:lnTo>
                    <a:pt x="0" y="69910"/>
                  </a:lnTo>
                  <a:lnTo>
                    <a:pt x="0" y="163125"/>
                  </a:lnTo>
                  <a:lnTo>
                    <a:pt x="19636" y="163125"/>
                  </a:lnTo>
                  <a:lnTo>
                    <a:pt x="19636" y="69910"/>
                  </a:lnTo>
                  <a:close/>
                </a:path>
                <a:path w="216535" h="233045">
                  <a:moveTo>
                    <a:pt x="216002" y="69910"/>
                  </a:moveTo>
                  <a:lnTo>
                    <a:pt x="196366" y="69910"/>
                  </a:lnTo>
                  <a:lnTo>
                    <a:pt x="196366" y="163125"/>
                  </a:lnTo>
                  <a:lnTo>
                    <a:pt x="216002" y="163125"/>
                  </a:lnTo>
                  <a:lnTo>
                    <a:pt x="216002" y="69910"/>
                  </a:lnTo>
                  <a:close/>
                </a:path>
                <a:path w="216535" h="233045">
                  <a:moveTo>
                    <a:pt x="58908" y="23304"/>
                  </a:moveTo>
                  <a:lnTo>
                    <a:pt x="39273" y="23304"/>
                  </a:lnTo>
                  <a:lnTo>
                    <a:pt x="19636" y="46607"/>
                  </a:lnTo>
                  <a:lnTo>
                    <a:pt x="19636" y="69910"/>
                  </a:lnTo>
                  <a:lnTo>
                    <a:pt x="39273" y="69910"/>
                  </a:lnTo>
                  <a:lnTo>
                    <a:pt x="58908" y="46607"/>
                  </a:lnTo>
                  <a:lnTo>
                    <a:pt x="58908" y="23304"/>
                  </a:lnTo>
                  <a:close/>
                </a:path>
                <a:path w="216535" h="233045">
                  <a:moveTo>
                    <a:pt x="176729" y="23304"/>
                  </a:moveTo>
                  <a:lnTo>
                    <a:pt x="157092" y="23304"/>
                  </a:lnTo>
                  <a:lnTo>
                    <a:pt x="157092" y="46607"/>
                  </a:lnTo>
                  <a:lnTo>
                    <a:pt x="176729" y="69910"/>
                  </a:lnTo>
                  <a:lnTo>
                    <a:pt x="196366" y="69910"/>
                  </a:lnTo>
                  <a:lnTo>
                    <a:pt x="196366" y="46607"/>
                  </a:lnTo>
                  <a:lnTo>
                    <a:pt x="176729" y="23304"/>
                  </a:lnTo>
                  <a:close/>
                </a:path>
                <a:path w="216535" h="233045">
                  <a:moveTo>
                    <a:pt x="117819" y="0"/>
                  </a:moveTo>
                  <a:lnTo>
                    <a:pt x="58908" y="0"/>
                  </a:lnTo>
                  <a:lnTo>
                    <a:pt x="58908" y="23304"/>
                  </a:lnTo>
                  <a:lnTo>
                    <a:pt x="117819" y="23304"/>
                  </a:lnTo>
                  <a:lnTo>
                    <a:pt x="117819" y="0"/>
                  </a:lnTo>
                  <a:close/>
                </a:path>
                <a:path w="216535" h="233045">
                  <a:moveTo>
                    <a:pt x="157092" y="0"/>
                  </a:moveTo>
                  <a:lnTo>
                    <a:pt x="117819" y="0"/>
                  </a:lnTo>
                  <a:lnTo>
                    <a:pt x="117819" y="23304"/>
                  </a:lnTo>
                  <a:lnTo>
                    <a:pt x="157092" y="23304"/>
                  </a:lnTo>
                  <a:lnTo>
                    <a:pt x="157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04149" y="3688477"/>
              <a:ext cx="294549" cy="39616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10237" y="3478744"/>
              <a:ext cx="498475" cy="617855"/>
            </a:xfrm>
            <a:custGeom>
              <a:avLst/>
              <a:gdLst/>
              <a:ahLst/>
              <a:cxnLst/>
              <a:rect l="l" t="t" r="r" b="b"/>
              <a:pathLst>
                <a:path w="498475" h="617854">
                  <a:moveTo>
                    <a:pt x="203729" y="221384"/>
                  </a:moveTo>
                  <a:lnTo>
                    <a:pt x="498279" y="221384"/>
                  </a:lnTo>
                  <a:lnTo>
                    <a:pt x="498279" y="617547"/>
                  </a:lnTo>
                  <a:lnTo>
                    <a:pt x="203729" y="617547"/>
                  </a:lnTo>
                  <a:lnTo>
                    <a:pt x="203729" y="221384"/>
                  </a:lnTo>
                  <a:close/>
                </a:path>
                <a:path w="498475" h="617854">
                  <a:moveTo>
                    <a:pt x="76091" y="422378"/>
                  </a:moveTo>
                  <a:lnTo>
                    <a:pt x="198820" y="422378"/>
                  </a:lnTo>
                </a:path>
                <a:path w="498475" h="617854">
                  <a:moveTo>
                    <a:pt x="0" y="0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742538" y="2873216"/>
            <a:ext cx="9020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25211" y="3366706"/>
            <a:ext cx="110378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85107" y="3325582"/>
            <a:ext cx="24596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03927" y="3058275"/>
            <a:ext cx="103654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22594" y="4467700"/>
            <a:ext cx="739028" cy="1000125"/>
            <a:chOff x="553206" y="5063393"/>
            <a:chExt cx="837565" cy="1133475"/>
          </a:xfrm>
        </p:grpSpPr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3206" y="5063393"/>
              <a:ext cx="824737" cy="111857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63024" y="5075045"/>
              <a:ext cx="824865" cy="1118870"/>
            </a:xfrm>
            <a:custGeom>
              <a:avLst/>
              <a:gdLst/>
              <a:ahLst/>
              <a:cxnLst/>
              <a:rect l="l" t="t" r="r" b="b"/>
              <a:pathLst>
                <a:path w="824865" h="1118870">
                  <a:moveTo>
                    <a:pt x="0" y="0"/>
                  </a:moveTo>
                  <a:lnTo>
                    <a:pt x="824737" y="0"/>
                  </a:lnTo>
                  <a:lnTo>
                    <a:pt x="824737" y="1118575"/>
                  </a:lnTo>
                  <a:lnTo>
                    <a:pt x="0" y="1118575"/>
                  </a:lnTo>
                  <a:lnTo>
                    <a:pt x="0" y="0"/>
                  </a:lnTo>
                  <a:close/>
                </a:path>
              </a:pathLst>
            </a:custGeom>
            <a:ln w="5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9572" y="5179912"/>
              <a:ext cx="216002" cy="25634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49566" y="5179923"/>
              <a:ext cx="216535" cy="256540"/>
            </a:xfrm>
            <a:custGeom>
              <a:avLst/>
              <a:gdLst/>
              <a:ahLst/>
              <a:cxnLst/>
              <a:rect l="l" t="t" r="r" b="b"/>
              <a:pathLst>
                <a:path w="216534" h="256539">
                  <a:moveTo>
                    <a:pt x="157086" y="233032"/>
                  </a:moveTo>
                  <a:lnTo>
                    <a:pt x="58915" y="233032"/>
                  </a:lnTo>
                  <a:lnTo>
                    <a:pt x="58915" y="256336"/>
                  </a:lnTo>
                  <a:lnTo>
                    <a:pt x="157086" y="256336"/>
                  </a:lnTo>
                  <a:lnTo>
                    <a:pt x="157086" y="233032"/>
                  </a:lnTo>
                  <a:close/>
                </a:path>
                <a:path w="216534" h="256539">
                  <a:moveTo>
                    <a:pt x="216001" y="69900"/>
                  </a:moveTo>
                  <a:lnTo>
                    <a:pt x="196367" y="69900"/>
                  </a:lnTo>
                  <a:lnTo>
                    <a:pt x="196367" y="46126"/>
                  </a:lnTo>
                  <a:lnTo>
                    <a:pt x="176733" y="46126"/>
                  </a:lnTo>
                  <a:lnTo>
                    <a:pt x="176733" y="23266"/>
                  </a:lnTo>
                  <a:lnTo>
                    <a:pt x="157086" y="23266"/>
                  </a:lnTo>
                  <a:lnTo>
                    <a:pt x="157086" y="0"/>
                  </a:lnTo>
                  <a:lnTo>
                    <a:pt x="117817" y="0"/>
                  </a:lnTo>
                  <a:lnTo>
                    <a:pt x="58915" y="0"/>
                  </a:lnTo>
                  <a:lnTo>
                    <a:pt x="58915" y="23266"/>
                  </a:lnTo>
                  <a:lnTo>
                    <a:pt x="39268" y="23266"/>
                  </a:lnTo>
                  <a:lnTo>
                    <a:pt x="39268" y="46126"/>
                  </a:lnTo>
                  <a:lnTo>
                    <a:pt x="19634" y="46126"/>
                  </a:lnTo>
                  <a:lnTo>
                    <a:pt x="19634" y="69900"/>
                  </a:lnTo>
                  <a:lnTo>
                    <a:pt x="0" y="69900"/>
                  </a:lnTo>
                  <a:lnTo>
                    <a:pt x="0" y="186423"/>
                  </a:lnTo>
                  <a:lnTo>
                    <a:pt x="19634" y="186423"/>
                  </a:lnTo>
                  <a:lnTo>
                    <a:pt x="19634" y="209956"/>
                  </a:lnTo>
                  <a:lnTo>
                    <a:pt x="39268" y="209956"/>
                  </a:lnTo>
                  <a:lnTo>
                    <a:pt x="39268" y="232816"/>
                  </a:lnTo>
                  <a:lnTo>
                    <a:pt x="58915" y="232816"/>
                  </a:lnTo>
                  <a:lnTo>
                    <a:pt x="58915" y="209956"/>
                  </a:lnTo>
                  <a:lnTo>
                    <a:pt x="58915" y="185826"/>
                  </a:lnTo>
                  <a:lnTo>
                    <a:pt x="19634" y="185826"/>
                  </a:lnTo>
                  <a:lnTo>
                    <a:pt x="19634" y="70256"/>
                  </a:lnTo>
                  <a:lnTo>
                    <a:pt x="58915" y="70256"/>
                  </a:lnTo>
                  <a:lnTo>
                    <a:pt x="58915" y="46126"/>
                  </a:lnTo>
                  <a:lnTo>
                    <a:pt x="58915" y="23291"/>
                  </a:lnTo>
                  <a:lnTo>
                    <a:pt x="117817" y="23291"/>
                  </a:lnTo>
                  <a:lnTo>
                    <a:pt x="157086" y="23291"/>
                  </a:lnTo>
                  <a:lnTo>
                    <a:pt x="157086" y="46126"/>
                  </a:lnTo>
                  <a:lnTo>
                    <a:pt x="157086" y="70256"/>
                  </a:lnTo>
                  <a:lnTo>
                    <a:pt x="196367" y="70256"/>
                  </a:lnTo>
                  <a:lnTo>
                    <a:pt x="196367" y="185826"/>
                  </a:lnTo>
                  <a:lnTo>
                    <a:pt x="157086" y="185826"/>
                  </a:lnTo>
                  <a:lnTo>
                    <a:pt x="157086" y="209956"/>
                  </a:lnTo>
                  <a:lnTo>
                    <a:pt x="157086" y="232816"/>
                  </a:lnTo>
                  <a:lnTo>
                    <a:pt x="176733" y="232816"/>
                  </a:lnTo>
                  <a:lnTo>
                    <a:pt x="176733" y="209956"/>
                  </a:lnTo>
                  <a:lnTo>
                    <a:pt x="196367" y="209956"/>
                  </a:lnTo>
                  <a:lnTo>
                    <a:pt x="196367" y="186423"/>
                  </a:lnTo>
                  <a:lnTo>
                    <a:pt x="216001" y="186423"/>
                  </a:lnTo>
                  <a:lnTo>
                    <a:pt x="216001" y="6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9208" y="5482860"/>
              <a:ext cx="157092" cy="9321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79026" y="5494511"/>
              <a:ext cx="157480" cy="227329"/>
            </a:xfrm>
            <a:custGeom>
              <a:avLst/>
              <a:gdLst/>
              <a:ahLst/>
              <a:cxnLst/>
              <a:rect l="l" t="t" r="r" b="b"/>
              <a:pathLst>
                <a:path w="157480" h="227329">
                  <a:moveTo>
                    <a:pt x="0" y="0"/>
                  </a:moveTo>
                  <a:lnTo>
                    <a:pt x="157092" y="0"/>
                  </a:lnTo>
                  <a:lnTo>
                    <a:pt x="157092" y="93214"/>
                  </a:lnTo>
                  <a:lnTo>
                    <a:pt x="0" y="93214"/>
                  </a:lnTo>
                  <a:lnTo>
                    <a:pt x="0" y="0"/>
                  </a:lnTo>
                  <a:close/>
                </a:path>
                <a:path w="157480" h="227329">
                  <a:moveTo>
                    <a:pt x="71182" y="81562"/>
                  </a:moveTo>
                  <a:lnTo>
                    <a:pt x="71182" y="227210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29935" y="5739200"/>
              <a:ext cx="216002" cy="23303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9935" y="5739200"/>
              <a:ext cx="216535" cy="233045"/>
            </a:xfrm>
            <a:custGeom>
              <a:avLst/>
              <a:gdLst/>
              <a:ahLst/>
              <a:cxnLst/>
              <a:rect l="l" t="t" r="r" b="b"/>
              <a:pathLst>
                <a:path w="216534" h="233045">
                  <a:moveTo>
                    <a:pt x="157092" y="209732"/>
                  </a:moveTo>
                  <a:lnTo>
                    <a:pt x="58909" y="209732"/>
                  </a:lnTo>
                  <a:lnTo>
                    <a:pt x="58909" y="233036"/>
                  </a:lnTo>
                  <a:lnTo>
                    <a:pt x="157092" y="233036"/>
                  </a:lnTo>
                  <a:lnTo>
                    <a:pt x="157092" y="209732"/>
                  </a:lnTo>
                  <a:close/>
                </a:path>
                <a:path w="216534" h="233045">
                  <a:moveTo>
                    <a:pt x="39273" y="163126"/>
                  </a:moveTo>
                  <a:lnTo>
                    <a:pt x="19636" y="163126"/>
                  </a:lnTo>
                  <a:lnTo>
                    <a:pt x="19636" y="186429"/>
                  </a:lnTo>
                  <a:lnTo>
                    <a:pt x="39273" y="209732"/>
                  </a:lnTo>
                  <a:lnTo>
                    <a:pt x="58909" y="209732"/>
                  </a:lnTo>
                  <a:lnTo>
                    <a:pt x="58909" y="186429"/>
                  </a:lnTo>
                  <a:lnTo>
                    <a:pt x="39273" y="163126"/>
                  </a:lnTo>
                  <a:close/>
                </a:path>
                <a:path w="216534" h="233045">
                  <a:moveTo>
                    <a:pt x="196366" y="163126"/>
                  </a:moveTo>
                  <a:lnTo>
                    <a:pt x="176729" y="163126"/>
                  </a:lnTo>
                  <a:lnTo>
                    <a:pt x="157092" y="186429"/>
                  </a:lnTo>
                  <a:lnTo>
                    <a:pt x="157092" y="209732"/>
                  </a:lnTo>
                  <a:lnTo>
                    <a:pt x="176729" y="209732"/>
                  </a:lnTo>
                  <a:lnTo>
                    <a:pt x="196366" y="186429"/>
                  </a:lnTo>
                  <a:lnTo>
                    <a:pt x="196366" y="163126"/>
                  </a:lnTo>
                  <a:close/>
                </a:path>
                <a:path w="216534" h="233045">
                  <a:moveTo>
                    <a:pt x="19636" y="69910"/>
                  </a:moveTo>
                  <a:lnTo>
                    <a:pt x="0" y="69910"/>
                  </a:lnTo>
                  <a:lnTo>
                    <a:pt x="0" y="163126"/>
                  </a:lnTo>
                  <a:lnTo>
                    <a:pt x="19636" y="163126"/>
                  </a:lnTo>
                  <a:lnTo>
                    <a:pt x="19636" y="69910"/>
                  </a:lnTo>
                  <a:close/>
                </a:path>
                <a:path w="216534" h="233045">
                  <a:moveTo>
                    <a:pt x="216002" y="69910"/>
                  </a:moveTo>
                  <a:lnTo>
                    <a:pt x="196366" y="69910"/>
                  </a:lnTo>
                  <a:lnTo>
                    <a:pt x="196366" y="163126"/>
                  </a:lnTo>
                  <a:lnTo>
                    <a:pt x="216002" y="163126"/>
                  </a:lnTo>
                  <a:lnTo>
                    <a:pt x="216002" y="69910"/>
                  </a:lnTo>
                  <a:close/>
                </a:path>
                <a:path w="216534" h="233045">
                  <a:moveTo>
                    <a:pt x="58909" y="23303"/>
                  </a:moveTo>
                  <a:lnTo>
                    <a:pt x="39273" y="23303"/>
                  </a:lnTo>
                  <a:lnTo>
                    <a:pt x="19636" y="46607"/>
                  </a:lnTo>
                  <a:lnTo>
                    <a:pt x="19636" y="69910"/>
                  </a:lnTo>
                  <a:lnTo>
                    <a:pt x="39273" y="69910"/>
                  </a:lnTo>
                  <a:lnTo>
                    <a:pt x="58909" y="46607"/>
                  </a:lnTo>
                  <a:lnTo>
                    <a:pt x="58909" y="23303"/>
                  </a:lnTo>
                  <a:close/>
                </a:path>
                <a:path w="216534" h="233045">
                  <a:moveTo>
                    <a:pt x="176729" y="23303"/>
                  </a:moveTo>
                  <a:lnTo>
                    <a:pt x="157092" y="23303"/>
                  </a:lnTo>
                  <a:lnTo>
                    <a:pt x="157092" y="46607"/>
                  </a:lnTo>
                  <a:lnTo>
                    <a:pt x="176729" y="69910"/>
                  </a:lnTo>
                  <a:lnTo>
                    <a:pt x="196366" y="69910"/>
                  </a:lnTo>
                  <a:lnTo>
                    <a:pt x="196366" y="46607"/>
                  </a:lnTo>
                  <a:lnTo>
                    <a:pt x="176729" y="23303"/>
                  </a:lnTo>
                  <a:close/>
                </a:path>
                <a:path w="216534" h="233045">
                  <a:moveTo>
                    <a:pt x="117819" y="0"/>
                  </a:moveTo>
                  <a:lnTo>
                    <a:pt x="58909" y="0"/>
                  </a:lnTo>
                  <a:lnTo>
                    <a:pt x="58909" y="23303"/>
                  </a:lnTo>
                  <a:lnTo>
                    <a:pt x="117819" y="23303"/>
                  </a:lnTo>
                  <a:lnTo>
                    <a:pt x="117819" y="0"/>
                  </a:lnTo>
                  <a:close/>
                </a:path>
                <a:path w="216534" h="233045">
                  <a:moveTo>
                    <a:pt x="157092" y="0"/>
                  </a:moveTo>
                  <a:lnTo>
                    <a:pt x="117819" y="0"/>
                  </a:lnTo>
                  <a:lnTo>
                    <a:pt x="117819" y="23303"/>
                  </a:lnTo>
                  <a:lnTo>
                    <a:pt x="157092" y="23303"/>
                  </a:lnTo>
                  <a:lnTo>
                    <a:pt x="157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44121" y="5645985"/>
              <a:ext cx="294548" cy="37285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50209" y="5436252"/>
              <a:ext cx="498475" cy="594360"/>
            </a:xfrm>
            <a:custGeom>
              <a:avLst/>
              <a:gdLst/>
              <a:ahLst/>
              <a:cxnLst/>
              <a:rect l="l" t="t" r="r" b="b"/>
              <a:pathLst>
                <a:path w="498475" h="594360">
                  <a:moveTo>
                    <a:pt x="203729" y="221384"/>
                  </a:moveTo>
                  <a:lnTo>
                    <a:pt x="498279" y="221384"/>
                  </a:lnTo>
                  <a:lnTo>
                    <a:pt x="498279" y="594243"/>
                  </a:lnTo>
                  <a:lnTo>
                    <a:pt x="203729" y="594243"/>
                  </a:lnTo>
                  <a:lnTo>
                    <a:pt x="203729" y="221384"/>
                  </a:lnTo>
                  <a:close/>
                </a:path>
                <a:path w="498475" h="594360">
                  <a:moveTo>
                    <a:pt x="76091" y="422378"/>
                  </a:moveTo>
                  <a:lnTo>
                    <a:pt x="198820" y="422378"/>
                  </a:lnTo>
                </a:path>
                <a:path w="498475" h="594360">
                  <a:moveTo>
                    <a:pt x="0" y="0"/>
                  </a:moveTo>
                  <a:lnTo>
                    <a:pt x="0" y="52433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47837" y="4600428"/>
            <a:ext cx="79001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0511" y="5073356"/>
            <a:ext cx="99172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90407" y="5032232"/>
            <a:ext cx="23476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26552" y="4785487"/>
            <a:ext cx="9244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263672" y="2041378"/>
            <a:ext cx="1442757" cy="684119"/>
            <a:chOff x="1279761" y="2313561"/>
            <a:chExt cx="1635125" cy="775335"/>
          </a:xfrm>
        </p:grpSpPr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31053" y="2989367"/>
              <a:ext cx="83455" cy="9903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279753" y="2383472"/>
              <a:ext cx="1419225" cy="355600"/>
            </a:xfrm>
            <a:custGeom>
              <a:avLst/>
              <a:gdLst/>
              <a:ahLst/>
              <a:cxnLst/>
              <a:rect l="l" t="t" r="r" b="b"/>
              <a:pathLst>
                <a:path w="1419225" h="355600">
                  <a:moveTo>
                    <a:pt x="1418742" y="349554"/>
                  </a:moveTo>
                  <a:lnTo>
                    <a:pt x="1065288" y="163131"/>
                  </a:lnTo>
                  <a:lnTo>
                    <a:pt x="574370" y="23304"/>
                  </a:lnTo>
                  <a:lnTo>
                    <a:pt x="4914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569468" y="29133"/>
                  </a:lnTo>
                  <a:lnTo>
                    <a:pt x="1060373" y="168960"/>
                  </a:lnTo>
                  <a:lnTo>
                    <a:pt x="1413840" y="355384"/>
                  </a:lnTo>
                  <a:lnTo>
                    <a:pt x="1418742" y="355384"/>
                  </a:lnTo>
                  <a:lnTo>
                    <a:pt x="1418742" y="3495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93597" y="2733027"/>
              <a:ext cx="181637" cy="26216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849222" y="2313561"/>
              <a:ext cx="923290" cy="373380"/>
            </a:xfrm>
            <a:custGeom>
              <a:avLst/>
              <a:gdLst/>
              <a:ahLst/>
              <a:cxnLst/>
              <a:rect l="l" t="t" r="r" b="b"/>
              <a:pathLst>
                <a:path w="923289" h="373380">
                  <a:moveTo>
                    <a:pt x="922920" y="0"/>
                  </a:moveTo>
                  <a:lnTo>
                    <a:pt x="0" y="0"/>
                  </a:lnTo>
                  <a:lnTo>
                    <a:pt x="0" y="372858"/>
                  </a:lnTo>
                  <a:lnTo>
                    <a:pt x="922920" y="372858"/>
                  </a:lnTo>
                  <a:lnTo>
                    <a:pt x="922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774800" y="2051658"/>
            <a:ext cx="814668" cy="300799"/>
          </a:xfrm>
          <a:prstGeom prst="rect">
            <a:avLst/>
          </a:prstGeom>
          <a:ln w="5730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77885" marR="69480">
              <a:lnSpc>
                <a:spcPts val="1129"/>
              </a:lnSpc>
              <a:spcBef>
                <a:spcPts val="146"/>
              </a:spcBef>
            </a:pPr>
            <a:r>
              <a:rPr sz="1103" spc="-49" dirty="0">
                <a:latin typeface="Times New Roman"/>
                <a:cs typeface="Times New Roman"/>
              </a:rPr>
              <a:t>Read</a:t>
            </a:r>
            <a:r>
              <a:rPr sz="1103" spc="-9" dirty="0">
                <a:latin typeface="Times New Roman"/>
                <a:cs typeface="Times New Roman"/>
              </a:rPr>
              <a:t> </a:t>
            </a:r>
            <a:r>
              <a:rPr sz="1103" spc="-57" dirty="0">
                <a:latin typeface="Times New Roman"/>
                <a:cs typeface="Times New Roman"/>
              </a:rPr>
              <a:t>request </a:t>
            </a:r>
            <a:r>
              <a:rPr sz="1103" dirty="0">
                <a:latin typeface="Times New Roman"/>
                <a:cs typeface="Times New Roman"/>
              </a:rPr>
              <a:t>to</a:t>
            </a:r>
            <a:r>
              <a:rPr sz="1103" spc="-35" dirty="0">
                <a:latin typeface="Times New Roman"/>
                <a:cs typeface="Times New Roman"/>
              </a:rPr>
              <a:t> </a:t>
            </a:r>
            <a:r>
              <a:rPr sz="1103" spc="-9" dirty="0">
                <a:latin typeface="Times New Roman"/>
                <a:cs typeface="Times New Roman"/>
              </a:rPr>
              <a:t>directory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211691" y="2843298"/>
            <a:ext cx="1304365" cy="391085"/>
            <a:chOff x="1220850" y="3222404"/>
            <a:chExt cx="1478280" cy="443230"/>
          </a:xfrm>
        </p:grpSpPr>
        <p:pic>
          <p:nvPicPr>
            <p:cNvPr id="70" name="object 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20850" y="3222404"/>
              <a:ext cx="83455" cy="9904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456486" y="3432136"/>
              <a:ext cx="1242060" cy="122555"/>
            </a:xfrm>
            <a:custGeom>
              <a:avLst/>
              <a:gdLst/>
              <a:ahLst/>
              <a:cxnLst/>
              <a:rect l="l" t="t" r="r" b="b"/>
              <a:pathLst>
                <a:path w="1242060" h="122554">
                  <a:moveTo>
                    <a:pt x="1242009" y="116522"/>
                  </a:moveTo>
                  <a:lnTo>
                    <a:pt x="319087" y="69913"/>
                  </a:lnTo>
                  <a:lnTo>
                    <a:pt x="4902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314185" y="75742"/>
                  </a:lnTo>
                  <a:lnTo>
                    <a:pt x="1237107" y="122351"/>
                  </a:lnTo>
                  <a:lnTo>
                    <a:pt x="1242009" y="122351"/>
                  </a:lnTo>
                  <a:lnTo>
                    <a:pt x="1242009" y="116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79761" y="3315618"/>
              <a:ext cx="181637" cy="12234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535036" y="3292315"/>
              <a:ext cx="923290" cy="373380"/>
            </a:xfrm>
            <a:custGeom>
              <a:avLst/>
              <a:gdLst/>
              <a:ahLst/>
              <a:cxnLst/>
              <a:rect l="l" t="t" r="r" b="b"/>
              <a:pathLst>
                <a:path w="923289" h="373379">
                  <a:moveTo>
                    <a:pt x="922921" y="0"/>
                  </a:moveTo>
                  <a:lnTo>
                    <a:pt x="0" y="0"/>
                  </a:lnTo>
                  <a:lnTo>
                    <a:pt x="0" y="372858"/>
                  </a:lnTo>
                  <a:lnTo>
                    <a:pt x="922921" y="372858"/>
                  </a:lnTo>
                  <a:lnTo>
                    <a:pt x="922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497577" y="2915264"/>
            <a:ext cx="837079" cy="300799"/>
          </a:xfrm>
          <a:prstGeom prst="rect">
            <a:avLst/>
          </a:prstGeom>
          <a:ln w="5730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77885">
              <a:lnSpc>
                <a:spcPts val="1129"/>
              </a:lnSpc>
              <a:spcBef>
                <a:spcPts val="146"/>
              </a:spcBef>
            </a:pPr>
            <a:r>
              <a:rPr sz="1103" spc="-40" dirty="0">
                <a:latin typeface="Times New Roman"/>
                <a:cs typeface="Times New Roman"/>
              </a:rPr>
              <a:t>Reply</a:t>
            </a:r>
            <a:r>
              <a:rPr sz="1103" spc="18" dirty="0">
                <a:latin typeface="Times New Roman"/>
                <a:cs typeface="Times New Roman"/>
              </a:rPr>
              <a:t> </a:t>
            </a:r>
            <a:r>
              <a:rPr sz="1103" spc="-18" dirty="0">
                <a:latin typeface="Times New Roman"/>
                <a:cs typeface="Times New Roman"/>
              </a:rPr>
              <a:t>with </a:t>
            </a:r>
            <a:r>
              <a:rPr sz="1103" spc="-40" dirty="0">
                <a:latin typeface="Times New Roman"/>
                <a:cs typeface="Times New Roman"/>
              </a:rPr>
              <a:t>owner</a:t>
            </a:r>
            <a:r>
              <a:rPr sz="1103" spc="4" dirty="0">
                <a:latin typeface="Times New Roman"/>
                <a:cs typeface="Times New Roman"/>
              </a:rPr>
              <a:t> </a:t>
            </a:r>
            <a:r>
              <a:rPr sz="1103" spc="-49" dirty="0">
                <a:latin typeface="Times New Roman"/>
                <a:cs typeface="Times New Roman"/>
              </a:rPr>
              <a:t>identity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35886" y="2820494"/>
            <a:ext cx="767043" cy="1655108"/>
            <a:chOff x="454937" y="3196559"/>
            <a:chExt cx="869315" cy="1875789"/>
          </a:xfrm>
        </p:grpSpPr>
        <p:pic>
          <p:nvPicPr>
            <p:cNvPr id="76" name="object 7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83394" y="3222403"/>
              <a:ext cx="201275" cy="40198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279761" y="3618566"/>
              <a:ext cx="44450" cy="612140"/>
            </a:xfrm>
            <a:custGeom>
              <a:avLst/>
              <a:gdLst/>
              <a:ahLst/>
              <a:cxnLst/>
              <a:rect l="l" t="t" r="r" b="b"/>
              <a:pathLst>
                <a:path w="44450" h="612139">
                  <a:moveTo>
                    <a:pt x="4908" y="0"/>
                  </a:moveTo>
                  <a:lnTo>
                    <a:pt x="0" y="0"/>
                  </a:lnTo>
                  <a:lnTo>
                    <a:pt x="0" y="5825"/>
                  </a:lnTo>
                  <a:lnTo>
                    <a:pt x="39272" y="611720"/>
                  </a:lnTo>
                  <a:lnTo>
                    <a:pt x="44182" y="611720"/>
                  </a:lnTo>
                  <a:lnTo>
                    <a:pt x="44182" y="605895"/>
                  </a:lnTo>
                  <a:lnTo>
                    <a:pt x="4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1301851" y="4107942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0"/>
                  </a:moveTo>
                  <a:lnTo>
                    <a:pt x="0" y="29130"/>
                  </a:lnTo>
                </a:path>
                <a:path h="355600">
                  <a:moveTo>
                    <a:pt x="0" y="23304"/>
                  </a:moveTo>
                  <a:lnTo>
                    <a:pt x="0" y="52433"/>
                  </a:lnTo>
                </a:path>
                <a:path h="355600">
                  <a:moveTo>
                    <a:pt x="0" y="46607"/>
                  </a:moveTo>
                  <a:lnTo>
                    <a:pt x="0" y="75737"/>
                  </a:lnTo>
                </a:path>
                <a:path h="355600">
                  <a:moveTo>
                    <a:pt x="0" y="69911"/>
                  </a:moveTo>
                  <a:lnTo>
                    <a:pt x="0" y="99041"/>
                  </a:lnTo>
                </a:path>
                <a:path h="355600">
                  <a:moveTo>
                    <a:pt x="0" y="93215"/>
                  </a:moveTo>
                  <a:lnTo>
                    <a:pt x="0" y="122344"/>
                  </a:lnTo>
                </a:path>
                <a:path h="355600">
                  <a:moveTo>
                    <a:pt x="0" y="116518"/>
                  </a:moveTo>
                  <a:lnTo>
                    <a:pt x="0" y="145648"/>
                  </a:lnTo>
                </a:path>
                <a:path h="355600">
                  <a:moveTo>
                    <a:pt x="0" y="139822"/>
                  </a:moveTo>
                  <a:lnTo>
                    <a:pt x="0" y="168952"/>
                  </a:lnTo>
                </a:path>
                <a:path h="355600">
                  <a:moveTo>
                    <a:pt x="0" y="163126"/>
                  </a:moveTo>
                  <a:lnTo>
                    <a:pt x="0" y="192255"/>
                  </a:lnTo>
                </a:path>
                <a:path h="355600">
                  <a:moveTo>
                    <a:pt x="0" y="186429"/>
                  </a:moveTo>
                  <a:lnTo>
                    <a:pt x="0" y="215559"/>
                  </a:lnTo>
                </a:path>
                <a:path h="355600">
                  <a:moveTo>
                    <a:pt x="0" y="209733"/>
                  </a:moveTo>
                  <a:lnTo>
                    <a:pt x="0" y="238862"/>
                  </a:lnTo>
                </a:path>
                <a:path h="355600">
                  <a:moveTo>
                    <a:pt x="0" y="233037"/>
                  </a:moveTo>
                  <a:lnTo>
                    <a:pt x="0" y="262166"/>
                  </a:lnTo>
                </a:path>
                <a:path h="355600">
                  <a:moveTo>
                    <a:pt x="0" y="256340"/>
                  </a:moveTo>
                  <a:lnTo>
                    <a:pt x="0" y="285470"/>
                  </a:lnTo>
                </a:path>
                <a:path h="355600">
                  <a:moveTo>
                    <a:pt x="0" y="279644"/>
                  </a:moveTo>
                  <a:lnTo>
                    <a:pt x="0" y="308773"/>
                  </a:lnTo>
                </a:path>
                <a:path h="355600">
                  <a:moveTo>
                    <a:pt x="0" y="302948"/>
                  </a:moveTo>
                  <a:lnTo>
                    <a:pt x="0" y="332077"/>
                  </a:lnTo>
                </a:path>
                <a:path h="355600">
                  <a:moveTo>
                    <a:pt x="0" y="326251"/>
                  </a:moveTo>
                  <a:lnTo>
                    <a:pt x="0" y="355381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1279761" y="4457497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5" h="29210">
                  <a:moveTo>
                    <a:pt x="24545" y="0"/>
                  </a:moveTo>
                  <a:lnTo>
                    <a:pt x="19636" y="0"/>
                  </a:lnTo>
                  <a:lnTo>
                    <a:pt x="0" y="23304"/>
                  </a:lnTo>
                  <a:lnTo>
                    <a:pt x="0" y="29129"/>
                  </a:lnTo>
                  <a:lnTo>
                    <a:pt x="4908" y="29129"/>
                  </a:lnTo>
                  <a:lnTo>
                    <a:pt x="24545" y="5825"/>
                  </a:lnTo>
                  <a:lnTo>
                    <a:pt x="24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1282215" y="4480801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h="122554">
                  <a:moveTo>
                    <a:pt x="0" y="0"/>
                  </a:moveTo>
                  <a:lnTo>
                    <a:pt x="0" y="29129"/>
                  </a:lnTo>
                </a:path>
                <a:path h="122554">
                  <a:moveTo>
                    <a:pt x="0" y="23303"/>
                  </a:moveTo>
                  <a:lnTo>
                    <a:pt x="0" y="52433"/>
                  </a:lnTo>
                </a:path>
                <a:path h="122554">
                  <a:moveTo>
                    <a:pt x="0" y="46607"/>
                  </a:moveTo>
                  <a:lnTo>
                    <a:pt x="0" y="75736"/>
                  </a:lnTo>
                </a:path>
                <a:path h="122554">
                  <a:moveTo>
                    <a:pt x="0" y="69910"/>
                  </a:moveTo>
                  <a:lnTo>
                    <a:pt x="0" y="99040"/>
                  </a:lnTo>
                </a:path>
                <a:path h="122554">
                  <a:moveTo>
                    <a:pt x="0" y="93214"/>
                  </a:moveTo>
                  <a:lnTo>
                    <a:pt x="0" y="122344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1260124" y="4597319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5" h="29210">
                  <a:moveTo>
                    <a:pt x="24545" y="0"/>
                  </a:moveTo>
                  <a:lnTo>
                    <a:pt x="19636" y="0"/>
                  </a:lnTo>
                  <a:lnTo>
                    <a:pt x="0" y="23304"/>
                  </a:lnTo>
                  <a:lnTo>
                    <a:pt x="0" y="29129"/>
                  </a:lnTo>
                  <a:lnTo>
                    <a:pt x="4909" y="29129"/>
                  </a:lnTo>
                  <a:lnTo>
                    <a:pt x="24545" y="5825"/>
                  </a:lnTo>
                  <a:lnTo>
                    <a:pt x="24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1262578" y="4620623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29129"/>
                  </a:lnTo>
                </a:path>
                <a:path h="76200">
                  <a:moveTo>
                    <a:pt x="0" y="23303"/>
                  </a:moveTo>
                  <a:lnTo>
                    <a:pt x="0" y="52433"/>
                  </a:lnTo>
                </a:path>
                <a:path h="76200">
                  <a:moveTo>
                    <a:pt x="0" y="46607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1240487" y="4690534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5" h="29210">
                  <a:moveTo>
                    <a:pt x="24545" y="0"/>
                  </a:moveTo>
                  <a:lnTo>
                    <a:pt x="19636" y="0"/>
                  </a:lnTo>
                  <a:lnTo>
                    <a:pt x="0" y="23304"/>
                  </a:lnTo>
                  <a:lnTo>
                    <a:pt x="0" y="29129"/>
                  </a:lnTo>
                  <a:lnTo>
                    <a:pt x="4909" y="29129"/>
                  </a:lnTo>
                  <a:lnTo>
                    <a:pt x="24545" y="5826"/>
                  </a:lnTo>
                  <a:lnTo>
                    <a:pt x="24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1242941" y="4713838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29129"/>
                  </a:lnTo>
                </a:path>
                <a:path h="76200">
                  <a:moveTo>
                    <a:pt x="0" y="23303"/>
                  </a:moveTo>
                  <a:lnTo>
                    <a:pt x="0" y="52433"/>
                  </a:lnTo>
                </a:path>
                <a:path h="76200">
                  <a:moveTo>
                    <a:pt x="0" y="46607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1220850" y="4783749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5" h="29210">
                  <a:moveTo>
                    <a:pt x="24545" y="0"/>
                  </a:moveTo>
                  <a:lnTo>
                    <a:pt x="19636" y="0"/>
                  </a:lnTo>
                  <a:lnTo>
                    <a:pt x="0" y="23303"/>
                  </a:lnTo>
                  <a:lnTo>
                    <a:pt x="0" y="29129"/>
                  </a:lnTo>
                  <a:lnTo>
                    <a:pt x="4909" y="29129"/>
                  </a:lnTo>
                  <a:lnTo>
                    <a:pt x="24545" y="5825"/>
                  </a:lnTo>
                  <a:lnTo>
                    <a:pt x="24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1161940" y="4807053"/>
              <a:ext cx="64135" cy="169545"/>
            </a:xfrm>
            <a:custGeom>
              <a:avLst/>
              <a:gdLst/>
              <a:ahLst/>
              <a:cxnLst/>
              <a:rect l="l" t="t" r="r" b="b"/>
              <a:pathLst>
                <a:path w="64134" h="169545">
                  <a:moveTo>
                    <a:pt x="61364" y="0"/>
                  </a:moveTo>
                  <a:lnTo>
                    <a:pt x="61364" y="29129"/>
                  </a:lnTo>
                </a:path>
                <a:path w="64134" h="169545">
                  <a:moveTo>
                    <a:pt x="61364" y="23303"/>
                  </a:moveTo>
                  <a:lnTo>
                    <a:pt x="61364" y="52433"/>
                  </a:lnTo>
                </a:path>
                <a:path w="64134" h="169545">
                  <a:moveTo>
                    <a:pt x="39273" y="49520"/>
                  </a:moveTo>
                  <a:lnTo>
                    <a:pt x="63818" y="49520"/>
                  </a:lnTo>
                </a:path>
                <a:path w="64134" h="169545">
                  <a:moveTo>
                    <a:pt x="41727" y="46607"/>
                  </a:moveTo>
                  <a:lnTo>
                    <a:pt x="41727" y="75736"/>
                  </a:lnTo>
                </a:path>
                <a:path w="64134" h="169545">
                  <a:moveTo>
                    <a:pt x="41727" y="69910"/>
                  </a:moveTo>
                  <a:lnTo>
                    <a:pt x="41727" y="99040"/>
                  </a:lnTo>
                </a:path>
                <a:path w="64134" h="169545">
                  <a:moveTo>
                    <a:pt x="19636" y="96127"/>
                  </a:moveTo>
                  <a:lnTo>
                    <a:pt x="44182" y="96127"/>
                  </a:lnTo>
                </a:path>
                <a:path w="64134" h="169545">
                  <a:moveTo>
                    <a:pt x="22091" y="93214"/>
                  </a:moveTo>
                  <a:lnTo>
                    <a:pt x="22091" y="122344"/>
                  </a:lnTo>
                </a:path>
                <a:path w="64134" h="169545">
                  <a:moveTo>
                    <a:pt x="22091" y="116518"/>
                  </a:moveTo>
                  <a:lnTo>
                    <a:pt x="22091" y="145647"/>
                  </a:lnTo>
                </a:path>
                <a:path w="64134" h="169545">
                  <a:moveTo>
                    <a:pt x="0" y="142734"/>
                  </a:moveTo>
                  <a:lnTo>
                    <a:pt x="24545" y="142734"/>
                  </a:lnTo>
                </a:path>
                <a:path w="64134" h="169545">
                  <a:moveTo>
                    <a:pt x="2454" y="139821"/>
                  </a:moveTo>
                  <a:lnTo>
                    <a:pt x="2454" y="168951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1142304" y="4970179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5" h="29210">
                  <a:moveTo>
                    <a:pt x="24545" y="0"/>
                  </a:moveTo>
                  <a:lnTo>
                    <a:pt x="19636" y="0"/>
                  </a:lnTo>
                  <a:lnTo>
                    <a:pt x="0" y="23303"/>
                  </a:lnTo>
                  <a:lnTo>
                    <a:pt x="0" y="29129"/>
                  </a:lnTo>
                  <a:lnTo>
                    <a:pt x="4909" y="29129"/>
                  </a:lnTo>
                  <a:lnTo>
                    <a:pt x="24545" y="5825"/>
                  </a:lnTo>
                  <a:lnTo>
                    <a:pt x="24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8" name="object 88"/>
            <p:cNvSpPr/>
            <p:nvPr/>
          </p:nvSpPr>
          <p:spPr>
            <a:xfrm>
              <a:off x="457477" y="4154550"/>
              <a:ext cx="690245" cy="915035"/>
            </a:xfrm>
            <a:custGeom>
              <a:avLst/>
              <a:gdLst/>
              <a:ahLst/>
              <a:cxnLst/>
              <a:rect l="l" t="t" r="r" b="b"/>
              <a:pathLst>
                <a:path w="690244" h="915035">
                  <a:moveTo>
                    <a:pt x="687281" y="838931"/>
                  </a:moveTo>
                  <a:lnTo>
                    <a:pt x="687281" y="868061"/>
                  </a:lnTo>
                </a:path>
                <a:path w="690244" h="915035">
                  <a:moveTo>
                    <a:pt x="665190" y="865148"/>
                  </a:moveTo>
                  <a:lnTo>
                    <a:pt x="689736" y="865148"/>
                  </a:lnTo>
                </a:path>
                <a:path w="690244" h="915035">
                  <a:moveTo>
                    <a:pt x="645553" y="865148"/>
                  </a:moveTo>
                  <a:lnTo>
                    <a:pt x="670099" y="865148"/>
                  </a:lnTo>
                </a:path>
                <a:path w="690244" h="915035">
                  <a:moveTo>
                    <a:pt x="648008" y="862235"/>
                  </a:moveTo>
                  <a:lnTo>
                    <a:pt x="648008" y="891365"/>
                  </a:lnTo>
                </a:path>
                <a:path w="690244" h="915035">
                  <a:moveTo>
                    <a:pt x="625917" y="888452"/>
                  </a:moveTo>
                  <a:lnTo>
                    <a:pt x="650462" y="888452"/>
                  </a:lnTo>
                </a:path>
                <a:path w="690244" h="915035">
                  <a:moveTo>
                    <a:pt x="606280" y="888452"/>
                  </a:moveTo>
                  <a:lnTo>
                    <a:pt x="630826" y="888452"/>
                  </a:lnTo>
                </a:path>
                <a:path w="690244" h="915035">
                  <a:moveTo>
                    <a:pt x="608735" y="885539"/>
                  </a:moveTo>
                  <a:lnTo>
                    <a:pt x="608735" y="914668"/>
                  </a:lnTo>
                </a:path>
                <a:path w="690244" h="915035">
                  <a:moveTo>
                    <a:pt x="608735" y="908842"/>
                  </a:moveTo>
                  <a:lnTo>
                    <a:pt x="608735" y="914668"/>
                  </a:lnTo>
                </a:path>
                <a:path w="690244" h="915035">
                  <a:moveTo>
                    <a:pt x="0" y="46607"/>
                  </a:moveTo>
                  <a:lnTo>
                    <a:pt x="0" y="75736"/>
                  </a:lnTo>
                </a:path>
                <a:path w="690244" h="915035">
                  <a:moveTo>
                    <a:pt x="0" y="23303"/>
                  </a:moveTo>
                  <a:lnTo>
                    <a:pt x="0" y="52433"/>
                  </a:lnTo>
                </a:path>
                <a:path w="690244" h="915035">
                  <a:moveTo>
                    <a:pt x="0" y="0"/>
                  </a:moveTo>
                  <a:lnTo>
                    <a:pt x="0" y="29129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9" name="object 89"/>
            <p:cNvSpPr/>
            <p:nvPr/>
          </p:nvSpPr>
          <p:spPr>
            <a:xfrm>
              <a:off x="457477" y="3758387"/>
              <a:ext cx="19685" cy="402590"/>
            </a:xfrm>
            <a:custGeom>
              <a:avLst/>
              <a:gdLst/>
              <a:ahLst/>
              <a:cxnLst/>
              <a:rect l="l" t="t" r="r" b="b"/>
              <a:pathLst>
                <a:path w="19684" h="402589">
                  <a:moveTo>
                    <a:pt x="0" y="396163"/>
                  </a:moveTo>
                  <a:lnTo>
                    <a:pt x="0" y="401988"/>
                  </a:lnTo>
                </a:path>
                <a:path w="19684" h="402589">
                  <a:moveTo>
                    <a:pt x="19636" y="0"/>
                  </a:moveTo>
                  <a:lnTo>
                    <a:pt x="19636" y="23303"/>
                  </a:lnTo>
                </a:path>
              </a:pathLst>
            </a:custGeom>
            <a:ln w="4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0" name="object 90"/>
            <p:cNvSpPr/>
            <p:nvPr/>
          </p:nvSpPr>
          <p:spPr>
            <a:xfrm>
              <a:off x="474659" y="3269011"/>
              <a:ext cx="123189" cy="495300"/>
            </a:xfrm>
            <a:custGeom>
              <a:avLst/>
              <a:gdLst/>
              <a:ahLst/>
              <a:cxnLst/>
              <a:rect l="l" t="t" r="r" b="b"/>
              <a:pathLst>
                <a:path w="123190" h="495300">
                  <a:moveTo>
                    <a:pt x="2454" y="466073"/>
                  </a:moveTo>
                  <a:lnTo>
                    <a:pt x="2454" y="495202"/>
                  </a:lnTo>
                </a:path>
                <a:path w="123190" h="495300">
                  <a:moveTo>
                    <a:pt x="2454" y="442769"/>
                  </a:moveTo>
                  <a:lnTo>
                    <a:pt x="2454" y="471899"/>
                  </a:lnTo>
                </a:path>
                <a:path w="123190" h="495300">
                  <a:moveTo>
                    <a:pt x="2454" y="419465"/>
                  </a:moveTo>
                  <a:lnTo>
                    <a:pt x="2454" y="448595"/>
                  </a:lnTo>
                </a:path>
                <a:path w="123190" h="495300">
                  <a:moveTo>
                    <a:pt x="2454" y="396162"/>
                  </a:moveTo>
                  <a:lnTo>
                    <a:pt x="2454" y="425291"/>
                  </a:lnTo>
                </a:path>
                <a:path w="123190" h="495300">
                  <a:moveTo>
                    <a:pt x="0" y="399075"/>
                  </a:moveTo>
                  <a:lnTo>
                    <a:pt x="24545" y="399075"/>
                  </a:lnTo>
                </a:path>
                <a:path w="123190" h="495300">
                  <a:moveTo>
                    <a:pt x="22091" y="372858"/>
                  </a:moveTo>
                  <a:lnTo>
                    <a:pt x="22091" y="401987"/>
                  </a:lnTo>
                </a:path>
                <a:path w="123190" h="495300">
                  <a:moveTo>
                    <a:pt x="22091" y="349554"/>
                  </a:moveTo>
                  <a:lnTo>
                    <a:pt x="22091" y="378684"/>
                  </a:lnTo>
                </a:path>
                <a:path w="123190" h="495300">
                  <a:moveTo>
                    <a:pt x="22091" y="326251"/>
                  </a:moveTo>
                  <a:lnTo>
                    <a:pt x="22091" y="355380"/>
                  </a:lnTo>
                </a:path>
                <a:path w="123190" h="495300">
                  <a:moveTo>
                    <a:pt x="22091" y="302947"/>
                  </a:moveTo>
                  <a:lnTo>
                    <a:pt x="22091" y="332077"/>
                  </a:lnTo>
                </a:path>
                <a:path w="123190" h="495300">
                  <a:moveTo>
                    <a:pt x="22091" y="279643"/>
                  </a:moveTo>
                  <a:lnTo>
                    <a:pt x="22091" y="308773"/>
                  </a:lnTo>
                </a:path>
                <a:path w="123190" h="495300">
                  <a:moveTo>
                    <a:pt x="19636" y="282556"/>
                  </a:moveTo>
                  <a:lnTo>
                    <a:pt x="44182" y="282556"/>
                  </a:lnTo>
                </a:path>
                <a:path w="123190" h="495300">
                  <a:moveTo>
                    <a:pt x="41727" y="256340"/>
                  </a:moveTo>
                  <a:lnTo>
                    <a:pt x="41727" y="285469"/>
                  </a:lnTo>
                </a:path>
                <a:path w="123190" h="495300">
                  <a:moveTo>
                    <a:pt x="41727" y="233036"/>
                  </a:moveTo>
                  <a:lnTo>
                    <a:pt x="41727" y="262166"/>
                  </a:lnTo>
                </a:path>
                <a:path w="123190" h="495300">
                  <a:moveTo>
                    <a:pt x="41727" y="209732"/>
                  </a:moveTo>
                  <a:lnTo>
                    <a:pt x="41727" y="238862"/>
                  </a:lnTo>
                </a:path>
                <a:path w="123190" h="495300">
                  <a:moveTo>
                    <a:pt x="41727" y="186429"/>
                  </a:moveTo>
                  <a:lnTo>
                    <a:pt x="41727" y="215558"/>
                  </a:lnTo>
                </a:path>
                <a:path w="123190" h="495300">
                  <a:moveTo>
                    <a:pt x="39273" y="189342"/>
                  </a:moveTo>
                  <a:lnTo>
                    <a:pt x="63818" y="189342"/>
                  </a:lnTo>
                </a:path>
                <a:path w="123190" h="495300">
                  <a:moveTo>
                    <a:pt x="61364" y="163125"/>
                  </a:moveTo>
                  <a:lnTo>
                    <a:pt x="61364" y="192254"/>
                  </a:lnTo>
                </a:path>
                <a:path w="123190" h="495300">
                  <a:moveTo>
                    <a:pt x="61364" y="139821"/>
                  </a:moveTo>
                  <a:lnTo>
                    <a:pt x="61364" y="168951"/>
                  </a:lnTo>
                </a:path>
                <a:path w="123190" h="495300">
                  <a:moveTo>
                    <a:pt x="61364" y="116518"/>
                  </a:moveTo>
                  <a:lnTo>
                    <a:pt x="61364" y="145647"/>
                  </a:lnTo>
                </a:path>
                <a:path w="123190" h="495300">
                  <a:moveTo>
                    <a:pt x="58909" y="119431"/>
                  </a:moveTo>
                  <a:lnTo>
                    <a:pt x="83455" y="119431"/>
                  </a:lnTo>
                </a:path>
                <a:path w="123190" h="495300">
                  <a:moveTo>
                    <a:pt x="81001" y="93214"/>
                  </a:moveTo>
                  <a:lnTo>
                    <a:pt x="81001" y="122344"/>
                  </a:lnTo>
                </a:path>
                <a:path w="123190" h="495300">
                  <a:moveTo>
                    <a:pt x="81001" y="69911"/>
                  </a:moveTo>
                  <a:lnTo>
                    <a:pt x="81001" y="99040"/>
                  </a:lnTo>
                </a:path>
                <a:path w="123190" h="495300">
                  <a:moveTo>
                    <a:pt x="78546" y="72823"/>
                  </a:moveTo>
                  <a:lnTo>
                    <a:pt x="103092" y="72823"/>
                  </a:lnTo>
                </a:path>
                <a:path w="123190" h="495300">
                  <a:moveTo>
                    <a:pt x="100637" y="46607"/>
                  </a:moveTo>
                  <a:lnTo>
                    <a:pt x="100637" y="75736"/>
                  </a:lnTo>
                </a:path>
                <a:path w="123190" h="495300">
                  <a:moveTo>
                    <a:pt x="100637" y="23303"/>
                  </a:moveTo>
                  <a:lnTo>
                    <a:pt x="100637" y="52433"/>
                  </a:lnTo>
                </a:path>
                <a:path w="123190" h="495300">
                  <a:moveTo>
                    <a:pt x="98183" y="26216"/>
                  </a:moveTo>
                  <a:lnTo>
                    <a:pt x="122728" y="26216"/>
                  </a:lnTo>
                </a:path>
                <a:path w="123190" h="495300">
                  <a:moveTo>
                    <a:pt x="120274" y="0"/>
                  </a:moveTo>
                  <a:lnTo>
                    <a:pt x="120274" y="29129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1" name="object 91"/>
            <p:cNvSpPr/>
            <p:nvPr/>
          </p:nvSpPr>
          <p:spPr>
            <a:xfrm>
              <a:off x="592479" y="3245707"/>
              <a:ext cx="24765" cy="29209"/>
            </a:xfrm>
            <a:custGeom>
              <a:avLst/>
              <a:gdLst/>
              <a:ahLst/>
              <a:cxnLst/>
              <a:rect l="l" t="t" r="r" b="b"/>
              <a:pathLst>
                <a:path w="24765" h="29210">
                  <a:moveTo>
                    <a:pt x="24545" y="0"/>
                  </a:moveTo>
                  <a:lnTo>
                    <a:pt x="19636" y="0"/>
                  </a:lnTo>
                  <a:lnTo>
                    <a:pt x="0" y="23303"/>
                  </a:lnTo>
                  <a:lnTo>
                    <a:pt x="0" y="29129"/>
                  </a:lnTo>
                  <a:lnTo>
                    <a:pt x="4909" y="29129"/>
                  </a:lnTo>
                  <a:lnTo>
                    <a:pt x="24545" y="5826"/>
                  </a:lnTo>
                  <a:lnTo>
                    <a:pt x="24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2" name="object 92"/>
            <p:cNvSpPr/>
            <p:nvPr/>
          </p:nvSpPr>
          <p:spPr>
            <a:xfrm>
              <a:off x="612115" y="3199099"/>
              <a:ext cx="83820" cy="52705"/>
            </a:xfrm>
            <a:custGeom>
              <a:avLst/>
              <a:gdLst/>
              <a:ahLst/>
              <a:cxnLst/>
              <a:rect l="l" t="t" r="r" b="b"/>
              <a:pathLst>
                <a:path w="83820" h="52704">
                  <a:moveTo>
                    <a:pt x="2454" y="23304"/>
                  </a:moveTo>
                  <a:lnTo>
                    <a:pt x="2454" y="52433"/>
                  </a:lnTo>
                </a:path>
                <a:path w="83820" h="52704">
                  <a:moveTo>
                    <a:pt x="0" y="26216"/>
                  </a:moveTo>
                  <a:lnTo>
                    <a:pt x="24545" y="26216"/>
                  </a:lnTo>
                </a:path>
                <a:path w="83820" h="52704">
                  <a:moveTo>
                    <a:pt x="22091" y="0"/>
                  </a:moveTo>
                  <a:lnTo>
                    <a:pt x="22091" y="29129"/>
                  </a:lnTo>
                </a:path>
                <a:path w="83820" h="52704">
                  <a:moveTo>
                    <a:pt x="19636" y="2913"/>
                  </a:moveTo>
                  <a:lnTo>
                    <a:pt x="44182" y="2913"/>
                  </a:lnTo>
                </a:path>
                <a:path w="83820" h="52704">
                  <a:moveTo>
                    <a:pt x="39273" y="2913"/>
                  </a:moveTo>
                  <a:lnTo>
                    <a:pt x="63818" y="2913"/>
                  </a:lnTo>
                </a:path>
                <a:path w="83820" h="52704">
                  <a:moveTo>
                    <a:pt x="58909" y="2913"/>
                  </a:moveTo>
                  <a:lnTo>
                    <a:pt x="83455" y="2913"/>
                  </a:lnTo>
                </a:path>
                <a:path w="83820" h="52704">
                  <a:moveTo>
                    <a:pt x="81001" y="0"/>
                  </a:moveTo>
                  <a:lnTo>
                    <a:pt x="81001" y="582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3" name="object 9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4659" y="4690534"/>
              <a:ext cx="220911" cy="378685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55022" y="4154550"/>
              <a:ext cx="24765" cy="542290"/>
            </a:xfrm>
            <a:custGeom>
              <a:avLst/>
              <a:gdLst/>
              <a:ahLst/>
              <a:cxnLst/>
              <a:rect l="l" t="t" r="r" b="b"/>
              <a:pathLst>
                <a:path w="24765" h="542289">
                  <a:moveTo>
                    <a:pt x="0" y="541809"/>
                  </a:moveTo>
                  <a:lnTo>
                    <a:pt x="24545" y="541809"/>
                  </a:lnTo>
                  <a:lnTo>
                    <a:pt x="24545" y="0"/>
                  </a:lnTo>
                  <a:lnTo>
                    <a:pt x="0" y="0"/>
                  </a:lnTo>
                  <a:lnTo>
                    <a:pt x="0" y="541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440666" y="3347067"/>
            <a:ext cx="537322" cy="300799"/>
          </a:xfrm>
          <a:prstGeom prst="rect">
            <a:avLst/>
          </a:prstGeom>
          <a:ln w="5633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25774" marR="17930">
              <a:lnSpc>
                <a:spcPts val="1129"/>
              </a:lnSpc>
              <a:spcBef>
                <a:spcPts val="146"/>
              </a:spcBef>
            </a:pPr>
            <a:r>
              <a:rPr sz="1103" spc="-57" dirty="0">
                <a:latin typeface="Times New Roman"/>
                <a:cs typeface="Times New Roman"/>
              </a:rPr>
              <a:t>Read</a:t>
            </a:r>
            <a:r>
              <a:rPr sz="1103" spc="4" dirty="0">
                <a:latin typeface="Times New Roman"/>
                <a:cs typeface="Times New Roman"/>
              </a:rPr>
              <a:t> </a:t>
            </a:r>
            <a:r>
              <a:rPr sz="1103" spc="-53" dirty="0">
                <a:latin typeface="Times New Roman"/>
                <a:cs typeface="Times New Roman"/>
              </a:rPr>
              <a:t>req. </a:t>
            </a:r>
            <a:r>
              <a:rPr sz="1103" dirty="0">
                <a:latin typeface="Times New Roman"/>
                <a:cs typeface="Times New Roman"/>
              </a:rPr>
              <a:t>to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spc="-26" dirty="0">
                <a:latin typeface="Times New Roman"/>
                <a:cs typeface="Times New Roman"/>
              </a:rPr>
              <a:t>owner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1021101" y="3809714"/>
            <a:ext cx="496421" cy="362510"/>
            <a:chOff x="1004848" y="4317675"/>
            <a:chExt cx="562610" cy="410845"/>
          </a:xfrm>
        </p:grpSpPr>
        <p:sp>
          <p:nvSpPr>
            <p:cNvPr id="97" name="object 97"/>
            <p:cNvSpPr/>
            <p:nvPr/>
          </p:nvSpPr>
          <p:spPr>
            <a:xfrm>
              <a:off x="1004848" y="4317675"/>
              <a:ext cx="549910" cy="396240"/>
            </a:xfrm>
            <a:custGeom>
              <a:avLst/>
              <a:gdLst/>
              <a:ahLst/>
              <a:cxnLst/>
              <a:rect l="l" t="t" r="r" b="b"/>
              <a:pathLst>
                <a:path w="549910" h="396239">
                  <a:moveTo>
                    <a:pt x="549824" y="0"/>
                  </a:moveTo>
                  <a:lnTo>
                    <a:pt x="0" y="0"/>
                  </a:lnTo>
                  <a:lnTo>
                    <a:pt x="0" y="396162"/>
                  </a:lnTo>
                  <a:lnTo>
                    <a:pt x="549824" y="396162"/>
                  </a:lnTo>
                  <a:lnTo>
                    <a:pt x="549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8" name="object 98"/>
            <p:cNvSpPr/>
            <p:nvPr/>
          </p:nvSpPr>
          <p:spPr>
            <a:xfrm>
              <a:off x="1014666" y="4329327"/>
              <a:ext cx="549910" cy="396240"/>
            </a:xfrm>
            <a:custGeom>
              <a:avLst/>
              <a:gdLst/>
              <a:ahLst/>
              <a:cxnLst/>
              <a:rect l="l" t="t" r="r" b="b"/>
              <a:pathLst>
                <a:path w="549910" h="396239">
                  <a:moveTo>
                    <a:pt x="0" y="0"/>
                  </a:moveTo>
                  <a:lnTo>
                    <a:pt x="549825" y="0"/>
                  </a:lnTo>
                  <a:lnTo>
                    <a:pt x="549825" y="396162"/>
                  </a:lnTo>
                  <a:lnTo>
                    <a:pt x="0" y="396162"/>
                  </a:lnTo>
                  <a:lnTo>
                    <a:pt x="0" y="0"/>
                  </a:lnTo>
                  <a:close/>
                </a:path>
              </a:pathLst>
            </a:custGeom>
            <a:ln w="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1131180" y="3798508"/>
            <a:ext cx="247090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71" dirty="0">
                <a:latin typeface="Times New Roman"/>
                <a:cs typeface="Times New Roman"/>
              </a:rPr>
              <a:t>Data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131180" y="3942444"/>
            <a:ext cx="34009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6" dirty="0">
                <a:latin typeface="Times New Roman"/>
                <a:cs typeface="Times New Roman"/>
              </a:rPr>
              <a:t>Reply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1350303" y="3768590"/>
            <a:ext cx="1680882" cy="1157007"/>
            <a:chOff x="1377943" y="4271068"/>
            <a:chExt cx="1905000" cy="1311275"/>
          </a:xfrm>
        </p:grpSpPr>
        <p:sp>
          <p:nvSpPr>
            <p:cNvPr id="102" name="object 102"/>
            <p:cNvSpPr/>
            <p:nvPr/>
          </p:nvSpPr>
          <p:spPr>
            <a:xfrm>
              <a:off x="2970963" y="4271068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h="99060">
                  <a:moveTo>
                    <a:pt x="0" y="0"/>
                  </a:moveTo>
                  <a:lnTo>
                    <a:pt x="0" y="99040"/>
                  </a:lnTo>
                </a:path>
              </a:pathLst>
            </a:custGeom>
            <a:ln w="4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377937" y="4271073"/>
              <a:ext cx="1635125" cy="1311275"/>
            </a:xfrm>
            <a:custGeom>
              <a:avLst/>
              <a:gdLst/>
              <a:ahLst/>
              <a:cxnLst/>
              <a:rect l="l" t="t" r="r" b="b"/>
              <a:pathLst>
                <a:path w="1635125" h="1311275">
                  <a:moveTo>
                    <a:pt x="1595475" y="93218"/>
                  </a:moveTo>
                  <a:lnTo>
                    <a:pt x="1590560" y="93218"/>
                  </a:lnTo>
                  <a:lnTo>
                    <a:pt x="1531658" y="326250"/>
                  </a:lnTo>
                  <a:lnTo>
                    <a:pt x="1433474" y="559295"/>
                  </a:lnTo>
                  <a:lnTo>
                    <a:pt x="1276375" y="769023"/>
                  </a:lnTo>
                  <a:lnTo>
                    <a:pt x="1080020" y="955446"/>
                  </a:lnTo>
                  <a:lnTo>
                    <a:pt x="844372" y="1095273"/>
                  </a:lnTo>
                  <a:lnTo>
                    <a:pt x="589102" y="1211795"/>
                  </a:lnTo>
                  <a:lnTo>
                    <a:pt x="294551" y="1281709"/>
                  </a:lnTo>
                  <a:lnTo>
                    <a:pt x="0" y="1305001"/>
                  </a:lnTo>
                  <a:lnTo>
                    <a:pt x="0" y="1310830"/>
                  </a:lnTo>
                  <a:lnTo>
                    <a:pt x="4914" y="1310830"/>
                  </a:lnTo>
                  <a:lnTo>
                    <a:pt x="299453" y="1287526"/>
                  </a:lnTo>
                  <a:lnTo>
                    <a:pt x="594004" y="1217612"/>
                  </a:lnTo>
                  <a:lnTo>
                    <a:pt x="849287" y="1101102"/>
                  </a:lnTo>
                  <a:lnTo>
                    <a:pt x="1084922" y="961275"/>
                  </a:lnTo>
                  <a:lnTo>
                    <a:pt x="1281290" y="774852"/>
                  </a:lnTo>
                  <a:lnTo>
                    <a:pt x="1438389" y="565111"/>
                  </a:lnTo>
                  <a:lnTo>
                    <a:pt x="1536560" y="332079"/>
                  </a:lnTo>
                  <a:lnTo>
                    <a:pt x="1595475" y="99047"/>
                  </a:lnTo>
                  <a:lnTo>
                    <a:pt x="1595475" y="93218"/>
                  </a:lnTo>
                  <a:close/>
                </a:path>
                <a:path w="1635125" h="1311275">
                  <a:moveTo>
                    <a:pt x="1634744" y="69913"/>
                  </a:moveTo>
                  <a:lnTo>
                    <a:pt x="1595475" y="0"/>
                  </a:lnTo>
                  <a:lnTo>
                    <a:pt x="1590560" y="0"/>
                  </a:lnTo>
                  <a:lnTo>
                    <a:pt x="1551292" y="69913"/>
                  </a:lnTo>
                  <a:lnTo>
                    <a:pt x="1551292" y="75742"/>
                  </a:lnTo>
                  <a:lnTo>
                    <a:pt x="1556207" y="75742"/>
                  </a:lnTo>
                  <a:lnTo>
                    <a:pt x="1593011" y="10210"/>
                  </a:lnTo>
                  <a:lnTo>
                    <a:pt x="1629841" y="75742"/>
                  </a:lnTo>
                  <a:lnTo>
                    <a:pt x="1634744" y="75742"/>
                  </a:lnTo>
                  <a:lnTo>
                    <a:pt x="1634744" y="699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124135" y="4900268"/>
              <a:ext cx="1158875" cy="396240"/>
            </a:xfrm>
            <a:custGeom>
              <a:avLst/>
              <a:gdLst/>
              <a:ahLst/>
              <a:cxnLst/>
              <a:rect l="l" t="t" r="r" b="b"/>
              <a:pathLst>
                <a:path w="1158875" h="396239">
                  <a:moveTo>
                    <a:pt x="1158560" y="0"/>
                  </a:moveTo>
                  <a:lnTo>
                    <a:pt x="0" y="0"/>
                  </a:lnTo>
                  <a:lnTo>
                    <a:pt x="0" y="396161"/>
                  </a:lnTo>
                  <a:lnTo>
                    <a:pt x="1158560" y="396161"/>
                  </a:lnTo>
                  <a:lnTo>
                    <a:pt x="1158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2017371" y="4334047"/>
            <a:ext cx="1022537" cy="321733"/>
          </a:xfrm>
          <a:prstGeom prst="rect">
            <a:avLst/>
          </a:prstGeom>
          <a:ln w="5755">
            <a:solidFill>
              <a:srgbClr val="000000"/>
            </a:solidFill>
          </a:ln>
        </p:spPr>
        <p:txBody>
          <a:bodyPr vert="horz" wrap="square" lIns="0" tIns="39221" rIns="0" bIns="0" rtlCol="0">
            <a:spAutoFit/>
          </a:bodyPr>
          <a:lstStyle/>
          <a:p>
            <a:pPr marL="77885" marR="17370">
              <a:lnSpc>
                <a:spcPts val="1129"/>
              </a:lnSpc>
              <a:spcBef>
                <a:spcPts val="309"/>
              </a:spcBef>
            </a:pPr>
            <a:r>
              <a:rPr sz="1103" spc="-49" dirty="0">
                <a:latin typeface="Times New Roman"/>
                <a:cs typeface="Times New Roman"/>
              </a:rPr>
              <a:t>Revision</a:t>
            </a:r>
            <a:r>
              <a:rPr sz="1103" spc="57" dirty="0">
                <a:latin typeface="Times New Roman"/>
                <a:cs typeface="Times New Roman"/>
              </a:rPr>
              <a:t> </a:t>
            </a:r>
            <a:r>
              <a:rPr sz="1103" spc="-62" dirty="0">
                <a:latin typeface="Times New Roman"/>
                <a:cs typeface="Times New Roman"/>
              </a:rPr>
              <a:t>message </a:t>
            </a:r>
            <a:r>
              <a:rPr sz="1103" dirty="0">
                <a:latin typeface="Times New Roman"/>
                <a:cs typeface="Times New Roman"/>
              </a:rPr>
              <a:t>to</a:t>
            </a:r>
            <a:r>
              <a:rPr sz="1103" spc="-35" dirty="0">
                <a:latin typeface="Times New Roman"/>
                <a:cs typeface="Times New Roman"/>
              </a:rPr>
              <a:t> </a:t>
            </a:r>
            <a:r>
              <a:rPr sz="1103" spc="-9" dirty="0">
                <a:latin typeface="Times New Roman"/>
                <a:cs typeface="Times New Roman"/>
              </a:rPr>
              <a:t>directory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47015" y="1886237"/>
            <a:ext cx="13951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1. 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460382" y="2708719"/>
            <a:ext cx="13951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2. 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46041" y="3140523"/>
            <a:ext cx="13951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3. 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339097" y="3592888"/>
            <a:ext cx="18433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4a.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170765" y="4127502"/>
            <a:ext cx="174251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84" dirty="0">
                <a:latin typeface="Times New Roman"/>
                <a:cs typeface="Times New Roman"/>
              </a:rPr>
              <a:t>4</a:t>
            </a:r>
            <a:r>
              <a:rPr sz="1103" spc="-137" dirty="0">
                <a:latin typeface="Times New Roman"/>
                <a:cs typeface="Times New Roman"/>
              </a:rPr>
              <a:t> </a:t>
            </a:r>
            <a:r>
              <a:rPr sz="1103" spc="-106" dirty="0">
                <a:latin typeface="Times New Roman"/>
                <a:cs typeface="Times New Roman"/>
              </a:rPr>
              <a:t>b.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103863" y="1968486"/>
            <a:ext cx="9020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069211" y="2461975"/>
            <a:ext cx="110378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329108" y="2420851"/>
            <a:ext cx="24596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965253" y="2174106"/>
            <a:ext cx="103654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7968998" y="2226436"/>
            <a:ext cx="739028" cy="1020856"/>
            <a:chOff x="8879131" y="2523294"/>
            <a:chExt cx="837565" cy="1156970"/>
          </a:xfrm>
        </p:grpSpPr>
        <p:pic>
          <p:nvPicPr>
            <p:cNvPr id="116" name="object 11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879131" y="2523294"/>
              <a:ext cx="824738" cy="1141878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8888948" y="2534945"/>
              <a:ext cx="824865" cy="1142365"/>
            </a:xfrm>
            <a:custGeom>
              <a:avLst/>
              <a:gdLst/>
              <a:ahLst/>
              <a:cxnLst/>
              <a:rect l="l" t="t" r="r" b="b"/>
              <a:pathLst>
                <a:path w="824865" h="1142364">
                  <a:moveTo>
                    <a:pt x="0" y="0"/>
                  </a:moveTo>
                  <a:lnTo>
                    <a:pt x="824737" y="0"/>
                  </a:lnTo>
                  <a:lnTo>
                    <a:pt x="824737" y="1141879"/>
                  </a:lnTo>
                  <a:lnTo>
                    <a:pt x="0" y="1141879"/>
                  </a:lnTo>
                  <a:lnTo>
                    <a:pt x="0" y="0"/>
                  </a:lnTo>
                  <a:close/>
                </a:path>
              </a:pathLst>
            </a:custGeom>
            <a:ln w="5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8" name="object 11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75497" y="2639811"/>
              <a:ext cx="216002" cy="256340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075496" y="2639821"/>
              <a:ext cx="216535" cy="256540"/>
            </a:xfrm>
            <a:custGeom>
              <a:avLst/>
              <a:gdLst/>
              <a:ahLst/>
              <a:cxnLst/>
              <a:rect l="l" t="t" r="r" b="b"/>
              <a:pathLst>
                <a:path w="216534" h="256539">
                  <a:moveTo>
                    <a:pt x="58902" y="23368"/>
                  </a:moveTo>
                  <a:lnTo>
                    <a:pt x="39268" y="23368"/>
                  </a:lnTo>
                  <a:lnTo>
                    <a:pt x="39268" y="46228"/>
                  </a:lnTo>
                  <a:lnTo>
                    <a:pt x="19634" y="46228"/>
                  </a:lnTo>
                  <a:lnTo>
                    <a:pt x="19634" y="69913"/>
                  </a:lnTo>
                  <a:lnTo>
                    <a:pt x="0" y="69913"/>
                  </a:lnTo>
                  <a:lnTo>
                    <a:pt x="0" y="186423"/>
                  </a:lnTo>
                  <a:lnTo>
                    <a:pt x="19634" y="186423"/>
                  </a:lnTo>
                  <a:lnTo>
                    <a:pt x="19634" y="210058"/>
                  </a:lnTo>
                  <a:lnTo>
                    <a:pt x="39268" y="210058"/>
                  </a:lnTo>
                  <a:lnTo>
                    <a:pt x="39268" y="232918"/>
                  </a:lnTo>
                  <a:lnTo>
                    <a:pt x="58902" y="232918"/>
                  </a:lnTo>
                  <a:lnTo>
                    <a:pt x="58902" y="210058"/>
                  </a:lnTo>
                  <a:lnTo>
                    <a:pt x="58902" y="185928"/>
                  </a:lnTo>
                  <a:lnTo>
                    <a:pt x="19634" y="185928"/>
                  </a:lnTo>
                  <a:lnTo>
                    <a:pt x="19634" y="70358"/>
                  </a:lnTo>
                  <a:lnTo>
                    <a:pt x="58902" y="70358"/>
                  </a:lnTo>
                  <a:lnTo>
                    <a:pt x="58902" y="46228"/>
                  </a:lnTo>
                  <a:lnTo>
                    <a:pt x="58902" y="23368"/>
                  </a:lnTo>
                  <a:close/>
                </a:path>
                <a:path w="216534" h="256539">
                  <a:moveTo>
                    <a:pt x="157086" y="233032"/>
                  </a:moveTo>
                  <a:lnTo>
                    <a:pt x="58902" y="233032"/>
                  </a:lnTo>
                  <a:lnTo>
                    <a:pt x="58902" y="256336"/>
                  </a:lnTo>
                  <a:lnTo>
                    <a:pt x="157086" y="256336"/>
                  </a:lnTo>
                  <a:lnTo>
                    <a:pt x="157086" y="233032"/>
                  </a:lnTo>
                  <a:close/>
                </a:path>
                <a:path w="216534" h="256539">
                  <a:moveTo>
                    <a:pt x="157086" y="0"/>
                  </a:moveTo>
                  <a:lnTo>
                    <a:pt x="117817" y="0"/>
                  </a:lnTo>
                  <a:lnTo>
                    <a:pt x="58902" y="0"/>
                  </a:lnTo>
                  <a:lnTo>
                    <a:pt x="58902" y="23304"/>
                  </a:lnTo>
                  <a:lnTo>
                    <a:pt x="117817" y="23304"/>
                  </a:lnTo>
                  <a:lnTo>
                    <a:pt x="157086" y="23304"/>
                  </a:lnTo>
                  <a:lnTo>
                    <a:pt x="157086" y="0"/>
                  </a:lnTo>
                  <a:close/>
                </a:path>
                <a:path w="216534" h="256539">
                  <a:moveTo>
                    <a:pt x="216001" y="69913"/>
                  </a:moveTo>
                  <a:lnTo>
                    <a:pt x="196367" y="69913"/>
                  </a:lnTo>
                  <a:lnTo>
                    <a:pt x="196367" y="46228"/>
                  </a:lnTo>
                  <a:lnTo>
                    <a:pt x="176720" y="46228"/>
                  </a:lnTo>
                  <a:lnTo>
                    <a:pt x="176720" y="23368"/>
                  </a:lnTo>
                  <a:lnTo>
                    <a:pt x="157086" y="23368"/>
                  </a:lnTo>
                  <a:lnTo>
                    <a:pt x="157086" y="46228"/>
                  </a:lnTo>
                  <a:lnTo>
                    <a:pt x="157086" y="70358"/>
                  </a:lnTo>
                  <a:lnTo>
                    <a:pt x="196367" y="70358"/>
                  </a:lnTo>
                  <a:lnTo>
                    <a:pt x="196367" y="185928"/>
                  </a:lnTo>
                  <a:lnTo>
                    <a:pt x="157086" y="185928"/>
                  </a:lnTo>
                  <a:lnTo>
                    <a:pt x="157086" y="210058"/>
                  </a:lnTo>
                  <a:lnTo>
                    <a:pt x="157086" y="232918"/>
                  </a:lnTo>
                  <a:lnTo>
                    <a:pt x="176720" y="232918"/>
                  </a:lnTo>
                  <a:lnTo>
                    <a:pt x="176720" y="210058"/>
                  </a:lnTo>
                  <a:lnTo>
                    <a:pt x="196367" y="210058"/>
                  </a:lnTo>
                  <a:lnTo>
                    <a:pt x="196367" y="186423"/>
                  </a:lnTo>
                  <a:lnTo>
                    <a:pt x="216001" y="186423"/>
                  </a:lnTo>
                  <a:lnTo>
                    <a:pt x="216001" y="699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0" name="object 12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095134" y="2966063"/>
              <a:ext cx="157093" cy="6991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9104951" y="2977715"/>
              <a:ext cx="157480" cy="227329"/>
            </a:xfrm>
            <a:custGeom>
              <a:avLst/>
              <a:gdLst/>
              <a:ahLst/>
              <a:cxnLst/>
              <a:rect l="l" t="t" r="r" b="b"/>
              <a:pathLst>
                <a:path w="157479" h="227330">
                  <a:moveTo>
                    <a:pt x="0" y="0"/>
                  </a:moveTo>
                  <a:lnTo>
                    <a:pt x="157092" y="0"/>
                  </a:lnTo>
                  <a:lnTo>
                    <a:pt x="157092" y="69911"/>
                  </a:lnTo>
                  <a:lnTo>
                    <a:pt x="0" y="69911"/>
                  </a:lnTo>
                  <a:lnTo>
                    <a:pt x="0" y="0"/>
                  </a:lnTo>
                  <a:close/>
                </a:path>
                <a:path w="157479" h="227330">
                  <a:moveTo>
                    <a:pt x="71182" y="58259"/>
                  </a:moveTo>
                  <a:lnTo>
                    <a:pt x="71182" y="227210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2" name="object 12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055862" y="3199100"/>
              <a:ext cx="216002" cy="233036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9055862" y="3199100"/>
              <a:ext cx="216535" cy="233045"/>
            </a:xfrm>
            <a:custGeom>
              <a:avLst/>
              <a:gdLst/>
              <a:ahLst/>
              <a:cxnLst/>
              <a:rect l="l" t="t" r="r" b="b"/>
              <a:pathLst>
                <a:path w="216534" h="233045">
                  <a:moveTo>
                    <a:pt x="157092" y="209732"/>
                  </a:moveTo>
                  <a:lnTo>
                    <a:pt x="58908" y="209732"/>
                  </a:lnTo>
                  <a:lnTo>
                    <a:pt x="58908" y="233036"/>
                  </a:lnTo>
                  <a:lnTo>
                    <a:pt x="157092" y="233036"/>
                  </a:lnTo>
                  <a:lnTo>
                    <a:pt x="157092" y="209732"/>
                  </a:lnTo>
                  <a:close/>
                </a:path>
                <a:path w="216534" h="233045">
                  <a:moveTo>
                    <a:pt x="39272" y="163125"/>
                  </a:moveTo>
                  <a:lnTo>
                    <a:pt x="19635" y="163125"/>
                  </a:lnTo>
                  <a:lnTo>
                    <a:pt x="19635" y="186428"/>
                  </a:lnTo>
                  <a:lnTo>
                    <a:pt x="39272" y="209732"/>
                  </a:lnTo>
                  <a:lnTo>
                    <a:pt x="58908" y="209732"/>
                  </a:lnTo>
                  <a:lnTo>
                    <a:pt x="58908" y="186428"/>
                  </a:lnTo>
                  <a:lnTo>
                    <a:pt x="39272" y="163125"/>
                  </a:lnTo>
                  <a:close/>
                </a:path>
                <a:path w="216534" h="233045">
                  <a:moveTo>
                    <a:pt x="196366" y="163125"/>
                  </a:moveTo>
                  <a:lnTo>
                    <a:pt x="176729" y="163125"/>
                  </a:lnTo>
                  <a:lnTo>
                    <a:pt x="157092" y="186428"/>
                  </a:lnTo>
                  <a:lnTo>
                    <a:pt x="157092" y="209732"/>
                  </a:lnTo>
                  <a:lnTo>
                    <a:pt x="176729" y="209732"/>
                  </a:lnTo>
                  <a:lnTo>
                    <a:pt x="196366" y="186428"/>
                  </a:lnTo>
                  <a:lnTo>
                    <a:pt x="196366" y="163125"/>
                  </a:lnTo>
                  <a:close/>
                </a:path>
                <a:path w="216534" h="233045">
                  <a:moveTo>
                    <a:pt x="19635" y="69909"/>
                  </a:moveTo>
                  <a:lnTo>
                    <a:pt x="0" y="69909"/>
                  </a:lnTo>
                  <a:lnTo>
                    <a:pt x="0" y="163125"/>
                  </a:lnTo>
                  <a:lnTo>
                    <a:pt x="19635" y="163125"/>
                  </a:lnTo>
                  <a:lnTo>
                    <a:pt x="19635" y="69909"/>
                  </a:lnTo>
                  <a:close/>
                </a:path>
                <a:path w="216534" h="233045">
                  <a:moveTo>
                    <a:pt x="216002" y="69909"/>
                  </a:moveTo>
                  <a:lnTo>
                    <a:pt x="196366" y="69909"/>
                  </a:lnTo>
                  <a:lnTo>
                    <a:pt x="196366" y="163125"/>
                  </a:lnTo>
                  <a:lnTo>
                    <a:pt x="216002" y="163125"/>
                  </a:lnTo>
                  <a:lnTo>
                    <a:pt x="216002" y="69909"/>
                  </a:lnTo>
                  <a:close/>
                </a:path>
                <a:path w="216534" h="233045">
                  <a:moveTo>
                    <a:pt x="58908" y="23303"/>
                  </a:moveTo>
                  <a:lnTo>
                    <a:pt x="39272" y="23303"/>
                  </a:lnTo>
                  <a:lnTo>
                    <a:pt x="19635" y="46606"/>
                  </a:lnTo>
                  <a:lnTo>
                    <a:pt x="19635" y="69909"/>
                  </a:lnTo>
                  <a:lnTo>
                    <a:pt x="39272" y="69909"/>
                  </a:lnTo>
                  <a:lnTo>
                    <a:pt x="58908" y="46606"/>
                  </a:lnTo>
                  <a:lnTo>
                    <a:pt x="58908" y="23303"/>
                  </a:lnTo>
                  <a:close/>
                </a:path>
                <a:path w="216534" h="233045">
                  <a:moveTo>
                    <a:pt x="176729" y="23303"/>
                  </a:moveTo>
                  <a:lnTo>
                    <a:pt x="157092" y="23303"/>
                  </a:lnTo>
                  <a:lnTo>
                    <a:pt x="157092" y="46606"/>
                  </a:lnTo>
                  <a:lnTo>
                    <a:pt x="176729" y="69909"/>
                  </a:lnTo>
                  <a:lnTo>
                    <a:pt x="196366" y="69909"/>
                  </a:lnTo>
                  <a:lnTo>
                    <a:pt x="196366" y="46606"/>
                  </a:lnTo>
                  <a:lnTo>
                    <a:pt x="176729" y="23303"/>
                  </a:lnTo>
                  <a:close/>
                </a:path>
                <a:path w="216534" h="233045">
                  <a:moveTo>
                    <a:pt x="117819" y="0"/>
                  </a:moveTo>
                  <a:lnTo>
                    <a:pt x="58908" y="0"/>
                  </a:lnTo>
                  <a:lnTo>
                    <a:pt x="58908" y="23303"/>
                  </a:lnTo>
                  <a:lnTo>
                    <a:pt x="117819" y="23303"/>
                  </a:lnTo>
                  <a:lnTo>
                    <a:pt x="117819" y="0"/>
                  </a:lnTo>
                  <a:close/>
                </a:path>
                <a:path w="216534" h="233045">
                  <a:moveTo>
                    <a:pt x="157092" y="0"/>
                  </a:moveTo>
                  <a:lnTo>
                    <a:pt x="117819" y="0"/>
                  </a:lnTo>
                  <a:lnTo>
                    <a:pt x="117819" y="23303"/>
                  </a:lnTo>
                  <a:lnTo>
                    <a:pt x="157092" y="23303"/>
                  </a:lnTo>
                  <a:lnTo>
                    <a:pt x="157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4" name="object 12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389684" y="3105885"/>
              <a:ext cx="274913" cy="39616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9176133" y="2896152"/>
              <a:ext cx="498475" cy="617855"/>
            </a:xfrm>
            <a:custGeom>
              <a:avLst/>
              <a:gdLst/>
              <a:ahLst/>
              <a:cxnLst/>
              <a:rect l="l" t="t" r="r" b="b"/>
              <a:pathLst>
                <a:path w="498475" h="617854">
                  <a:moveTo>
                    <a:pt x="223366" y="221384"/>
                  </a:moveTo>
                  <a:lnTo>
                    <a:pt x="498279" y="221384"/>
                  </a:lnTo>
                  <a:lnTo>
                    <a:pt x="498279" y="617547"/>
                  </a:lnTo>
                  <a:lnTo>
                    <a:pt x="223366" y="617547"/>
                  </a:lnTo>
                  <a:lnTo>
                    <a:pt x="223366" y="221384"/>
                  </a:lnTo>
                  <a:close/>
                </a:path>
                <a:path w="498475" h="617854">
                  <a:moveTo>
                    <a:pt x="76091" y="445682"/>
                  </a:moveTo>
                  <a:lnTo>
                    <a:pt x="218457" y="445682"/>
                  </a:lnTo>
                </a:path>
                <a:path w="498475" h="617854">
                  <a:moveTo>
                    <a:pt x="0" y="0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8200361" y="2359164"/>
            <a:ext cx="9020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165708" y="2852654"/>
            <a:ext cx="110378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425604" y="2811530"/>
            <a:ext cx="24596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061750" y="2564785"/>
            <a:ext cx="103654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4503713" y="4467700"/>
            <a:ext cx="739028" cy="1020856"/>
            <a:chOff x="4951808" y="5063393"/>
            <a:chExt cx="837565" cy="1156970"/>
          </a:xfrm>
        </p:grpSpPr>
        <p:pic>
          <p:nvPicPr>
            <p:cNvPr id="131" name="object 13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51808" y="5063393"/>
              <a:ext cx="824738" cy="1141879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4961625" y="5075045"/>
              <a:ext cx="824865" cy="1142365"/>
            </a:xfrm>
            <a:custGeom>
              <a:avLst/>
              <a:gdLst/>
              <a:ahLst/>
              <a:cxnLst/>
              <a:rect l="l" t="t" r="r" b="b"/>
              <a:pathLst>
                <a:path w="824864" h="1142364">
                  <a:moveTo>
                    <a:pt x="0" y="0"/>
                  </a:moveTo>
                  <a:lnTo>
                    <a:pt x="824737" y="0"/>
                  </a:lnTo>
                  <a:lnTo>
                    <a:pt x="824737" y="1141879"/>
                  </a:lnTo>
                  <a:lnTo>
                    <a:pt x="0" y="1141879"/>
                  </a:lnTo>
                  <a:lnTo>
                    <a:pt x="0" y="0"/>
                  </a:lnTo>
                  <a:close/>
                </a:path>
              </a:pathLst>
            </a:custGeom>
            <a:ln w="5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3" name="object 13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48174" y="5179912"/>
              <a:ext cx="235639" cy="279643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5148174" y="5179912"/>
              <a:ext cx="236220" cy="280035"/>
            </a:xfrm>
            <a:custGeom>
              <a:avLst/>
              <a:gdLst/>
              <a:ahLst/>
              <a:cxnLst/>
              <a:rect l="l" t="t" r="r" b="b"/>
              <a:pathLst>
                <a:path w="236220" h="280035">
                  <a:moveTo>
                    <a:pt x="176729" y="256340"/>
                  </a:moveTo>
                  <a:lnTo>
                    <a:pt x="58908" y="256340"/>
                  </a:lnTo>
                  <a:lnTo>
                    <a:pt x="78545" y="279643"/>
                  </a:lnTo>
                  <a:lnTo>
                    <a:pt x="157092" y="279643"/>
                  </a:lnTo>
                  <a:lnTo>
                    <a:pt x="176729" y="256340"/>
                  </a:lnTo>
                  <a:close/>
                </a:path>
                <a:path w="236220" h="280035">
                  <a:moveTo>
                    <a:pt x="78545" y="233036"/>
                  </a:moveTo>
                  <a:lnTo>
                    <a:pt x="39273" y="233036"/>
                  </a:lnTo>
                  <a:lnTo>
                    <a:pt x="39273" y="256340"/>
                  </a:lnTo>
                  <a:lnTo>
                    <a:pt x="78545" y="256340"/>
                  </a:lnTo>
                  <a:lnTo>
                    <a:pt x="78545" y="233036"/>
                  </a:lnTo>
                  <a:close/>
                </a:path>
                <a:path w="236220" h="280035">
                  <a:moveTo>
                    <a:pt x="196366" y="23303"/>
                  </a:moveTo>
                  <a:lnTo>
                    <a:pt x="157092" y="23303"/>
                  </a:lnTo>
                  <a:lnTo>
                    <a:pt x="176729" y="46606"/>
                  </a:lnTo>
                  <a:lnTo>
                    <a:pt x="176729" y="69910"/>
                  </a:lnTo>
                  <a:lnTo>
                    <a:pt x="196366" y="69910"/>
                  </a:lnTo>
                  <a:lnTo>
                    <a:pt x="196366" y="93214"/>
                  </a:lnTo>
                  <a:lnTo>
                    <a:pt x="216002" y="93214"/>
                  </a:lnTo>
                  <a:lnTo>
                    <a:pt x="216002" y="186429"/>
                  </a:lnTo>
                  <a:lnTo>
                    <a:pt x="196366" y="209732"/>
                  </a:lnTo>
                  <a:lnTo>
                    <a:pt x="176729" y="209732"/>
                  </a:lnTo>
                  <a:lnTo>
                    <a:pt x="176729" y="233036"/>
                  </a:lnTo>
                  <a:lnTo>
                    <a:pt x="157092" y="256340"/>
                  </a:lnTo>
                  <a:lnTo>
                    <a:pt x="196366" y="256340"/>
                  </a:lnTo>
                  <a:lnTo>
                    <a:pt x="196366" y="233036"/>
                  </a:lnTo>
                  <a:lnTo>
                    <a:pt x="216002" y="233036"/>
                  </a:lnTo>
                  <a:lnTo>
                    <a:pt x="216002" y="209732"/>
                  </a:lnTo>
                  <a:lnTo>
                    <a:pt x="235639" y="186429"/>
                  </a:lnTo>
                  <a:lnTo>
                    <a:pt x="235639" y="93214"/>
                  </a:lnTo>
                  <a:lnTo>
                    <a:pt x="216002" y="69910"/>
                  </a:lnTo>
                  <a:lnTo>
                    <a:pt x="216002" y="46606"/>
                  </a:lnTo>
                  <a:lnTo>
                    <a:pt x="196366" y="46606"/>
                  </a:lnTo>
                  <a:lnTo>
                    <a:pt x="196366" y="23303"/>
                  </a:lnTo>
                  <a:close/>
                </a:path>
                <a:path w="236220" h="280035">
                  <a:moveTo>
                    <a:pt x="58908" y="46606"/>
                  </a:moveTo>
                  <a:lnTo>
                    <a:pt x="19636" y="46606"/>
                  </a:lnTo>
                  <a:lnTo>
                    <a:pt x="19636" y="69910"/>
                  </a:lnTo>
                  <a:lnTo>
                    <a:pt x="0" y="93214"/>
                  </a:lnTo>
                  <a:lnTo>
                    <a:pt x="0" y="186429"/>
                  </a:lnTo>
                  <a:lnTo>
                    <a:pt x="19636" y="209732"/>
                  </a:lnTo>
                  <a:lnTo>
                    <a:pt x="19636" y="233036"/>
                  </a:lnTo>
                  <a:lnTo>
                    <a:pt x="58908" y="233036"/>
                  </a:lnTo>
                  <a:lnTo>
                    <a:pt x="58908" y="209732"/>
                  </a:lnTo>
                  <a:lnTo>
                    <a:pt x="39273" y="209732"/>
                  </a:lnTo>
                  <a:lnTo>
                    <a:pt x="19636" y="186429"/>
                  </a:lnTo>
                  <a:lnTo>
                    <a:pt x="19636" y="93214"/>
                  </a:lnTo>
                  <a:lnTo>
                    <a:pt x="39273" y="93214"/>
                  </a:lnTo>
                  <a:lnTo>
                    <a:pt x="39273" y="69910"/>
                  </a:lnTo>
                  <a:lnTo>
                    <a:pt x="58908" y="69910"/>
                  </a:lnTo>
                  <a:lnTo>
                    <a:pt x="58908" y="46606"/>
                  </a:lnTo>
                  <a:close/>
                </a:path>
                <a:path w="236220" h="280035">
                  <a:moveTo>
                    <a:pt x="78545" y="23303"/>
                  </a:moveTo>
                  <a:lnTo>
                    <a:pt x="39273" y="23303"/>
                  </a:lnTo>
                  <a:lnTo>
                    <a:pt x="39273" y="46606"/>
                  </a:lnTo>
                  <a:lnTo>
                    <a:pt x="78545" y="46606"/>
                  </a:lnTo>
                  <a:lnTo>
                    <a:pt x="78545" y="23303"/>
                  </a:lnTo>
                  <a:close/>
                </a:path>
                <a:path w="236220" h="280035">
                  <a:moveTo>
                    <a:pt x="117819" y="0"/>
                  </a:moveTo>
                  <a:lnTo>
                    <a:pt x="78545" y="0"/>
                  </a:lnTo>
                  <a:lnTo>
                    <a:pt x="58908" y="23303"/>
                  </a:lnTo>
                  <a:lnTo>
                    <a:pt x="117819" y="23303"/>
                  </a:lnTo>
                  <a:lnTo>
                    <a:pt x="117819" y="0"/>
                  </a:lnTo>
                  <a:close/>
                </a:path>
                <a:path w="236220" h="280035">
                  <a:moveTo>
                    <a:pt x="157092" y="0"/>
                  </a:moveTo>
                  <a:lnTo>
                    <a:pt x="117819" y="0"/>
                  </a:lnTo>
                  <a:lnTo>
                    <a:pt x="117819" y="23303"/>
                  </a:lnTo>
                  <a:lnTo>
                    <a:pt x="176729" y="23303"/>
                  </a:lnTo>
                  <a:lnTo>
                    <a:pt x="157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5" name="object 13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87448" y="5506163"/>
              <a:ext cx="137455" cy="93214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5197264" y="5517814"/>
              <a:ext cx="137795" cy="227329"/>
            </a:xfrm>
            <a:custGeom>
              <a:avLst/>
              <a:gdLst/>
              <a:ahLst/>
              <a:cxnLst/>
              <a:rect l="l" t="t" r="r" b="b"/>
              <a:pathLst>
                <a:path w="137795" h="227329">
                  <a:moveTo>
                    <a:pt x="0" y="0"/>
                  </a:moveTo>
                  <a:lnTo>
                    <a:pt x="137456" y="0"/>
                  </a:lnTo>
                  <a:lnTo>
                    <a:pt x="137456" y="93214"/>
                  </a:lnTo>
                  <a:lnTo>
                    <a:pt x="0" y="93214"/>
                  </a:lnTo>
                  <a:lnTo>
                    <a:pt x="0" y="0"/>
                  </a:lnTo>
                  <a:close/>
                </a:path>
                <a:path w="137795" h="227329">
                  <a:moveTo>
                    <a:pt x="51546" y="81562"/>
                  </a:moveTo>
                  <a:lnTo>
                    <a:pt x="51546" y="227210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7" name="object 13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148174" y="5762504"/>
              <a:ext cx="196366" cy="233036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5148174" y="5762503"/>
              <a:ext cx="196850" cy="233045"/>
            </a:xfrm>
            <a:custGeom>
              <a:avLst/>
              <a:gdLst/>
              <a:ahLst/>
              <a:cxnLst/>
              <a:rect l="l" t="t" r="r" b="b"/>
              <a:pathLst>
                <a:path w="196850" h="233045">
                  <a:moveTo>
                    <a:pt x="137455" y="209732"/>
                  </a:moveTo>
                  <a:lnTo>
                    <a:pt x="58908" y="209732"/>
                  </a:lnTo>
                  <a:lnTo>
                    <a:pt x="58908" y="233037"/>
                  </a:lnTo>
                  <a:lnTo>
                    <a:pt x="137455" y="233037"/>
                  </a:lnTo>
                  <a:lnTo>
                    <a:pt x="137455" y="209732"/>
                  </a:lnTo>
                  <a:close/>
                </a:path>
                <a:path w="196850" h="233045">
                  <a:moveTo>
                    <a:pt x="39273" y="163126"/>
                  </a:moveTo>
                  <a:lnTo>
                    <a:pt x="19636" y="163126"/>
                  </a:lnTo>
                  <a:lnTo>
                    <a:pt x="19636" y="209732"/>
                  </a:lnTo>
                  <a:lnTo>
                    <a:pt x="58908" y="209732"/>
                  </a:lnTo>
                  <a:lnTo>
                    <a:pt x="58908" y="186429"/>
                  </a:lnTo>
                  <a:lnTo>
                    <a:pt x="39273" y="186429"/>
                  </a:lnTo>
                  <a:lnTo>
                    <a:pt x="39273" y="163126"/>
                  </a:lnTo>
                  <a:close/>
                </a:path>
                <a:path w="196850" h="233045">
                  <a:moveTo>
                    <a:pt x="176729" y="163126"/>
                  </a:moveTo>
                  <a:lnTo>
                    <a:pt x="157092" y="163126"/>
                  </a:lnTo>
                  <a:lnTo>
                    <a:pt x="157092" y="186429"/>
                  </a:lnTo>
                  <a:lnTo>
                    <a:pt x="137455" y="186429"/>
                  </a:lnTo>
                  <a:lnTo>
                    <a:pt x="137455" y="209732"/>
                  </a:lnTo>
                  <a:lnTo>
                    <a:pt x="176729" y="209732"/>
                  </a:lnTo>
                  <a:lnTo>
                    <a:pt x="176729" y="163126"/>
                  </a:lnTo>
                  <a:close/>
                </a:path>
                <a:path w="196850" h="233045">
                  <a:moveTo>
                    <a:pt x="19636" y="69912"/>
                  </a:moveTo>
                  <a:lnTo>
                    <a:pt x="0" y="69912"/>
                  </a:lnTo>
                  <a:lnTo>
                    <a:pt x="0" y="163126"/>
                  </a:lnTo>
                  <a:lnTo>
                    <a:pt x="19636" y="163126"/>
                  </a:lnTo>
                  <a:lnTo>
                    <a:pt x="19636" y="69912"/>
                  </a:lnTo>
                  <a:close/>
                </a:path>
                <a:path w="196850" h="233045">
                  <a:moveTo>
                    <a:pt x="196366" y="69912"/>
                  </a:moveTo>
                  <a:lnTo>
                    <a:pt x="176729" y="69912"/>
                  </a:lnTo>
                  <a:lnTo>
                    <a:pt x="176729" y="163126"/>
                  </a:lnTo>
                  <a:lnTo>
                    <a:pt x="196366" y="163126"/>
                  </a:lnTo>
                  <a:lnTo>
                    <a:pt x="196366" y="69912"/>
                  </a:lnTo>
                  <a:close/>
                </a:path>
                <a:path w="196850" h="233045">
                  <a:moveTo>
                    <a:pt x="58908" y="23304"/>
                  </a:moveTo>
                  <a:lnTo>
                    <a:pt x="19636" y="23304"/>
                  </a:lnTo>
                  <a:lnTo>
                    <a:pt x="19636" y="69912"/>
                  </a:lnTo>
                  <a:lnTo>
                    <a:pt x="39273" y="69912"/>
                  </a:lnTo>
                  <a:lnTo>
                    <a:pt x="39273" y="46607"/>
                  </a:lnTo>
                  <a:lnTo>
                    <a:pt x="58908" y="46607"/>
                  </a:lnTo>
                  <a:lnTo>
                    <a:pt x="58908" y="23304"/>
                  </a:lnTo>
                  <a:close/>
                </a:path>
                <a:path w="196850" h="233045">
                  <a:moveTo>
                    <a:pt x="176729" y="23304"/>
                  </a:moveTo>
                  <a:lnTo>
                    <a:pt x="137455" y="23304"/>
                  </a:lnTo>
                  <a:lnTo>
                    <a:pt x="137455" y="46607"/>
                  </a:lnTo>
                  <a:lnTo>
                    <a:pt x="157092" y="46607"/>
                  </a:lnTo>
                  <a:lnTo>
                    <a:pt x="157092" y="69912"/>
                  </a:lnTo>
                  <a:lnTo>
                    <a:pt x="176729" y="69912"/>
                  </a:lnTo>
                  <a:lnTo>
                    <a:pt x="176729" y="23304"/>
                  </a:lnTo>
                  <a:close/>
                </a:path>
                <a:path w="196850" h="233045">
                  <a:moveTo>
                    <a:pt x="98182" y="0"/>
                  </a:moveTo>
                  <a:lnTo>
                    <a:pt x="58908" y="0"/>
                  </a:lnTo>
                  <a:lnTo>
                    <a:pt x="58908" y="23304"/>
                  </a:lnTo>
                  <a:lnTo>
                    <a:pt x="98182" y="23304"/>
                  </a:lnTo>
                  <a:lnTo>
                    <a:pt x="98182" y="0"/>
                  </a:lnTo>
                  <a:close/>
                </a:path>
                <a:path w="196850" h="233045">
                  <a:moveTo>
                    <a:pt x="137455" y="0"/>
                  </a:moveTo>
                  <a:lnTo>
                    <a:pt x="98182" y="0"/>
                  </a:lnTo>
                  <a:lnTo>
                    <a:pt x="98182" y="23304"/>
                  </a:lnTo>
                  <a:lnTo>
                    <a:pt x="137455" y="23304"/>
                  </a:lnTo>
                  <a:lnTo>
                    <a:pt x="137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9" name="object 13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462360" y="5669289"/>
              <a:ext cx="274913" cy="372859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5248810" y="5436252"/>
              <a:ext cx="498475" cy="617855"/>
            </a:xfrm>
            <a:custGeom>
              <a:avLst/>
              <a:gdLst/>
              <a:ahLst/>
              <a:cxnLst/>
              <a:rect l="l" t="t" r="r" b="b"/>
              <a:pathLst>
                <a:path w="498475" h="617854">
                  <a:moveTo>
                    <a:pt x="223366" y="244688"/>
                  </a:moveTo>
                  <a:lnTo>
                    <a:pt x="498279" y="244688"/>
                  </a:lnTo>
                  <a:lnTo>
                    <a:pt x="498279" y="617547"/>
                  </a:lnTo>
                  <a:lnTo>
                    <a:pt x="223366" y="617547"/>
                  </a:lnTo>
                  <a:lnTo>
                    <a:pt x="223366" y="244688"/>
                  </a:lnTo>
                  <a:close/>
                </a:path>
                <a:path w="498475" h="617854">
                  <a:moveTo>
                    <a:pt x="76091" y="445682"/>
                  </a:moveTo>
                  <a:lnTo>
                    <a:pt x="218457" y="445682"/>
                  </a:lnTo>
                </a:path>
                <a:path w="498475" h="617854">
                  <a:moveTo>
                    <a:pt x="0" y="0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4746282" y="4620991"/>
            <a:ext cx="79001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4711629" y="5093918"/>
            <a:ext cx="99172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4971526" y="5052794"/>
            <a:ext cx="23476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607670" y="4806049"/>
            <a:ext cx="9244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6600211" y="1856319"/>
            <a:ext cx="1598519" cy="342340"/>
            <a:chOff x="7327838" y="2103828"/>
            <a:chExt cx="1811655" cy="387985"/>
          </a:xfrm>
        </p:grpSpPr>
        <p:pic>
          <p:nvPicPr>
            <p:cNvPr id="146" name="object 1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055858" y="2383472"/>
              <a:ext cx="83458" cy="99039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7327836" y="2266962"/>
              <a:ext cx="1517015" cy="76200"/>
            </a:xfrm>
            <a:custGeom>
              <a:avLst/>
              <a:gdLst/>
              <a:ahLst/>
              <a:cxnLst/>
              <a:rect l="l" t="t" r="r" b="b"/>
              <a:pathLst>
                <a:path w="1517015" h="76200">
                  <a:moveTo>
                    <a:pt x="1516926" y="69913"/>
                  </a:moveTo>
                  <a:lnTo>
                    <a:pt x="1104557" y="23304"/>
                  </a:lnTo>
                  <a:lnTo>
                    <a:pt x="0" y="0"/>
                  </a:lnTo>
                  <a:lnTo>
                    <a:pt x="0" y="5816"/>
                  </a:lnTo>
                  <a:lnTo>
                    <a:pt x="1099642" y="29019"/>
                  </a:lnTo>
                  <a:lnTo>
                    <a:pt x="1512011" y="75730"/>
                  </a:lnTo>
                  <a:lnTo>
                    <a:pt x="1516926" y="75730"/>
                  </a:lnTo>
                  <a:lnTo>
                    <a:pt x="1516926" y="699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8" name="object 1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839858" y="2336864"/>
              <a:ext cx="240548" cy="99040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7858026" y="2103828"/>
              <a:ext cx="923290" cy="373380"/>
            </a:xfrm>
            <a:custGeom>
              <a:avLst/>
              <a:gdLst/>
              <a:ahLst/>
              <a:cxnLst/>
              <a:rect l="l" t="t" r="r" b="b"/>
              <a:pathLst>
                <a:path w="923290" h="373380">
                  <a:moveTo>
                    <a:pt x="922921" y="0"/>
                  </a:moveTo>
                  <a:lnTo>
                    <a:pt x="0" y="0"/>
                  </a:lnTo>
                  <a:lnTo>
                    <a:pt x="0" y="372858"/>
                  </a:lnTo>
                  <a:lnTo>
                    <a:pt x="922921" y="372858"/>
                  </a:lnTo>
                  <a:lnTo>
                    <a:pt x="922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867843" y="2115479"/>
              <a:ext cx="923290" cy="373380"/>
            </a:xfrm>
            <a:custGeom>
              <a:avLst/>
              <a:gdLst/>
              <a:ahLst/>
              <a:cxnLst/>
              <a:rect l="l" t="t" r="r" b="b"/>
              <a:pathLst>
                <a:path w="923290" h="373380">
                  <a:moveTo>
                    <a:pt x="0" y="0"/>
                  </a:moveTo>
                  <a:lnTo>
                    <a:pt x="922920" y="0"/>
                  </a:lnTo>
                  <a:lnTo>
                    <a:pt x="922920" y="372858"/>
                  </a:lnTo>
                  <a:lnTo>
                    <a:pt x="0" y="372858"/>
                  </a:lnTo>
                  <a:lnTo>
                    <a:pt x="0" y="0"/>
                  </a:lnTo>
                  <a:close/>
                </a:path>
              </a:pathLst>
            </a:custGeom>
            <a:ln w="5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7079214" y="1858847"/>
            <a:ext cx="809625" cy="14219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21" rIns="0" bIns="0" rtlCol="0">
            <a:spAutoFit/>
          </a:bodyPr>
          <a:lstStyle/>
          <a:p>
            <a:pPr marL="75083">
              <a:lnSpc>
                <a:spcPts val="1103"/>
              </a:lnSpc>
              <a:spcBef>
                <a:spcPts val="9"/>
              </a:spcBef>
            </a:pPr>
            <a:r>
              <a:rPr sz="1103" spc="-49" dirty="0">
                <a:latin typeface="Times New Roman"/>
                <a:cs typeface="Times New Roman"/>
              </a:rPr>
              <a:t>RdEx</a:t>
            </a:r>
            <a:r>
              <a:rPr sz="1103" spc="4" dirty="0">
                <a:latin typeface="Times New Roman"/>
                <a:cs typeface="Times New Roman"/>
              </a:rPr>
              <a:t> </a:t>
            </a:r>
            <a:r>
              <a:rPr sz="1103" spc="-9" dirty="0">
                <a:latin typeface="Times New Roman"/>
                <a:cs typeface="Times New Roman"/>
              </a:rPr>
              <a:t>request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079214" y="2025955"/>
            <a:ext cx="809625" cy="15388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75083">
              <a:lnSpc>
                <a:spcPts val="1152"/>
              </a:lnSpc>
            </a:pPr>
            <a:r>
              <a:rPr sz="1103" dirty="0">
                <a:latin typeface="Times New Roman"/>
                <a:cs typeface="Times New Roman"/>
              </a:rPr>
              <a:t>to</a:t>
            </a:r>
            <a:r>
              <a:rPr sz="1103" spc="-35" dirty="0">
                <a:latin typeface="Times New Roman"/>
                <a:cs typeface="Times New Roman"/>
              </a:rPr>
              <a:t> </a:t>
            </a:r>
            <a:r>
              <a:rPr sz="1103" spc="-9" dirty="0">
                <a:latin typeface="Times New Roman"/>
                <a:cs typeface="Times New Roman"/>
              </a:rPr>
              <a:t>directory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6634863" y="2411494"/>
            <a:ext cx="1355912" cy="514350"/>
            <a:chOff x="7367112" y="2733027"/>
            <a:chExt cx="1536700" cy="582930"/>
          </a:xfrm>
        </p:grpSpPr>
        <p:pic>
          <p:nvPicPr>
            <p:cNvPr id="154" name="object 1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367112" y="2733027"/>
              <a:ext cx="83455" cy="99040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7602740" y="2942767"/>
              <a:ext cx="1301115" cy="122555"/>
            </a:xfrm>
            <a:custGeom>
              <a:avLst/>
              <a:gdLst/>
              <a:ahLst/>
              <a:cxnLst/>
              <a:rect l="l" t="t" r="r" b="b"/>
              <a:pathLst>
                <a:path w="1301115" h="122555">
                  <a:moveTo>
                    <a:pt x="1300937" y="116522"/>
                  </a:moveTo>
                  <a:lnTo>
                    <a:pt x="338734" y="69913"/>
                  </a:lnTo>
                  <a:lnTo>
                    <a:pt x="4914" y="0"/>
                  </a:lnTo>
                  <a:lnTo>
                    <a:pt x="0" y="0"/>
                  </a:lnTo>
                  <a:lnTo>
                    <a:pt x="0" y="5829"/>
                  </a:lnTo>
                  <a:lnTo>
                    <a:pt x="333832" y="75730"/>
                  </a:lnTo>
                  <a:lnTo>
                    <a:pt x="1296022" y="122339"/>
                  </a:lnTo>
                  <a:lnTo>
                    <a:pt x="1300937" y="122339"/>
                  </a:lnTo>
                  <a:lnTo>
                    <a:pt x="1300937" y="116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6" name="object 1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426022" y="2802938"/>
              <a:ext cx="181637" cy="145647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7740207" y="2919457"/>
              <a:ext cx="962660" cy="396240"/>
            </a:xfrm>
            <a:custGeom>
              <a:avLst/>
              <a:gdLst/>
              <a:ahLst/>
              <a:cxnLst/>
              <a:rect l="l" t="t" r="r" b="b"/>
              <a:pathLst>
                <a:path w="962659" h="396239">
                  <a:moveTo>
                    <a:pt x="962193" y="0"/>
                  </a:moveTo>
                  <a:lnTo>
                    <a:pt x="0" y="0"/>
                  </a:lnTo>
                  <a:lnTo>
                    <a:pt x="0" y="396161"/>
                  </a:lnTo>
                  <a:lnTo>
                    <a:pt x="962193" y="396161"/>
                  </a:lnTo>
                  <a:lnTo>
                    <a:pt x="9621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6972727" y="2586272"/>
            <a:ext cx="871818" cy="321733"/>
          </a:xfrm>
          <a:prstGeom prst="rect">
            <a:avLst/>
          </a:prstGeom>
          <a:ln w="5727">
            <a:solidFill>
              <a:srgbClr val="000000"/>
            </a:solidFill>
          </a:ln>
        </p:spPr>
        <p:txBody>
          <a:bodyPr vert="horz" wrap="square" lIns="0" tIns="39221" rIns="0" bIns="0" rtlCol="0">
            <a:spAutoFit/>
          </a:bodyPr>
          <a:lstStyle/>
          <a:p>
            <a:pPr marL="77885">
              <a:lnSpc>
                <a:spcPts val="1129"/>
              </a:lnSpc>
              <a:spcBef>
                <a:spcPts val="309"/>
              </a:spcBef>
            </a:pPr>
            <a:r>
              <a:rPr sz="1103" spc="-40" dirty="0">
                <a:latin typeface="Times New Roman"/>
                <a:cs typeface="Times New Roman"/>
              </a:rPr>
              <a:t>Reply</a:t>
            </a:r>
            <a:r>
              <a:rPr sz="1103" spc="18" dirty="0">
                <a:latin typeface="Times New Roman"/>
                <a:cs typeface="Times New Roman"/>
              </a:rPr>
              <a:t> </a:t>
            </a:r>
            <a:r>
              <a:rPr sz="1103" spc="-18" dirty="0">
                <a:latin typeface="Times New Roman"/>
                <a:cs typeface="Times New Roman"/>
              </a:rPr>
              <a:t>with </a:t>
            </a:r>
            <a:r>
              <a:rPr sz="1103" spc="-44" dirty="0">
                <a:latin typeface="Times New Roman"/>
                <a:cs typeface="Times New Roman"/>
              </a:rPr>
              <a:t>sharers</a:t>
            </a:r>
            <a:r>
              <a:rPr sz="1103" spc="18" dirty="0">
                <a:latin typeface="Times New Roman"/>
                <a:cs typeface="Times New Roman"/>
              </a:rPr>
              <a:t> </a:t>
            </a:r>
            <a:r>
              <a:rPr sz="1103" spc="-44" dirty="0">
                <a:latin typeface="Times New Roman"/>
                <a:cs typeface="Times New Roman"/>
              </a:rPr>
              <a:t>identity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6354838" y="2802173"/>
            <a:ext cx="1088651" cy="2665319"/>
            <a:chOff x="7049749" y="3175796"/>
            <a:chExt cx="1233805" cy="3020695"/>
          </a:xfrm>
        </p:grpSpPr>
        <p:sp>
          <p:nvSpPr>
            <p:cNvPr id="160" name="object 160"/>
            <p:cNvSpPr/>
            <p:nvPr/>
          </p:nvSpPr>
          <p:spPr>
            <a:xfrm>
              <a:off x="7052924" y="3225316"/>
              <a:ext cx="83820" cy="0"/>
            </a:xfrm>
            <a:custGeom>
              <a:avLst/>
              <a:gdLst/>
              <a:ahLst/>
              <a:cxnLst/>
              <a:rect l="l" t="t" r="r" b="b"/>
              <a:pathLst>
                <a:path w="83820">
                  <a:moveTo>
                    <a:pt x="0" y="0"/>
                  </a:moveTo>
                  <a:lnTo>
                    <a:pt x="83455" y="0"/>
                  </a:lnTo>
                </a:path>
              </a:pathLst>
            </a:custGeom>
            <a:ln w="5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052919" y="3175799"/>
              <a:ext cx="1045844" cy="1870710"/>
            </a:xfrm>
            <a:custGeom>
              <a:avLst/>
              <a:gdLst/>
              <a:ahLst/>
              <a:cxnLst/>
              <a:rect l="l" t="t" r="r" b="b"/>
              <a:pathLst>
                <a:path w="1045845" h="1870710">
                  <a:moveTo>
                    <a:pt x="63817" y="0"/>
                  </a:moveTo>
                  <a:lnTo>
                    <a:pt x="58915" y="0"/>
                  </a:lnTo>
                  <a:lnTo>
                    <a:pt x="0" y="46609"/>
                  </a:lnTo>
                  <a:lnTo>
                    <a:pt x="0" y="52438"/>
                  </a:lnTo>
                  <a:lnTo>
                    <a:pt x="58915" y="122351"/>
                  </a:lnTo>
                  <a:lnTo>
                    <a:pt x="63817" y="122351"/>
                  </a:lnTo>
                  <a:lnTo>
                    <a:pt x="63817" y="116522"/>
                  </a:lnTo>
                  <a:lnTo>
                    <a:pt x="7861" y="50114"/>
                  </a:lnTo>
                  <a:lnTo>
                    <a:pt x="63817" y="5829"/>
                  </a:lnTo>
                  <a:lnTo>
                    <a:pt x="63817" y="0"/>
                  </a:lnTo>
                  <a:close/>
                </a:path>
                <a:path w="1045845" h="1870710">
                  <a:moveTo>
                    <a:pt x="1045654" y="1864296"/>
                  </a:moveTo>
                  <a:lnTo>
                    <a:pt x="967105" y="1188491"/>
                  </a:lnTo>
                  <a:lnTo>
                    <a:pt x="888555" y="885545"/>
                  </a:lnTo>
                  <a:lnTo>
                    <a:pt x="770737" y="629196"/>
                  </a:lnTo>
                  <a:lnTo>
                    <a:pt x="613651" y="396163"/>
                  </a:lnTo>
                  <a:lnTo>
                    <a:pt x="456552" y="233045"/>
                  </a:lnTo>
                  <a:lnTo>
                    <a:pt x="279819" y="116522"/>
                  </a:lnTo>
                  <a:lnTo>
                    <a:pt x="83451" y="46609"/>
                  </a:lnTo>
                  <a:lnTo>
                    <a:pt x="78549" y="46609"/>
                  </a:lnTo>
                  <a:lnTo>
                    <a:pt x="78549" y="52438"/>
                  </a:lnTo>
                  <a:lnTo>
                    <a:pt x="274916" y="122351"/>
                  </a:lnTo>
                  <a:lnTo>
                    <a:pt x="451637" y="238861"/>
                  </a:lnTo>
                  <a:lnTo>
                    <a:pt x="608736" y="401993"/>
                  </a:lnTo>
                  <a:lnTo>
                    <a:pt x="765835" y="635025"/>
                  </a:lnTo>
                  <a:lnTo>
                    <a:pt x="883653" y="891362"/>
                  </a:lnTo>
                  <a:lnTo>
                    <a:pt x="962190" y="1194320"/>
                  </a:lnTo>
                  <a:lnTo>
                    <a:pt x="1040739" y="1870125"/>
                  </a:lnTo>
                  <a:lnTo>
                    <a:pt x="1045654" y="1870125"/>
                  </a:lnTo>
                  <a:lnTo>
                    <a:pt x="1045654" y="1864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2" name="object 1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445658" y="5063393"/>
              <a:ext cx="824738" cy="1118576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7455475" y="5075045"/>
              <a:ext cx="824865" cy="1118870"/>
            </a:xfrm>
            <a:custGeom>
              <a:avLst/>
              <a:gdLst/>
              <a:ahLst/>
              <a:cxnLst/>
              <a:rect l="l" t="t" r="r" b="b"/>
              <a:pathLst>
                <a:path w="824865" h="1118870">
                  <a:moveTo>
                    <a:pt x="0" y="0"/>
                  </a:moveTo>
                  <a:lnTo>
                    <a:pt x="824737" y="0"/>
                  </a:lnTo>
                  <a:lnTo>
                    <a:pt x="824737" y="1118575"/>
                  </a:lnTo>
                  <a:lnTo>
                    <a:pt x="0" y="1118575"/>
                  </a:lnTo>
                  <a:lnTo>
                    <a:pt x="0" y="0"/>
                  </a:lnTo>
                  <a:close/>
                </a:path>
              </a:pathLst>
            </a:custGeom>
            <a:ln w="5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4" name="object 16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642024" y="5179912"/>
              <a:ext cx="216002" cy="256340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7642022" y="5179923"/>
              <a:ext cx="216535" cy="256540"/>
            </a:xfrm>
            <a:custGeom>
              <a:avLst/>
              <a:gdLst/>
              <a:ahLst/>
              <a:cxnLst/>
              <a:rect l="l" t="t" r="r" b="b"/>
              <a:pathLst>
                <a:path w="216534" h="256539">
                  <a:moveTo>
                    <a:pt x="157086" y="233032"/>
                  </a:moveTo>
                  <a:lnTo>
                    <a:pt x="58902" y="233032"/>
                  </a:lnTo>
                  <a:lnTo>
                    <a:pt x="58902" y="256336"/>
                  </a:lnTo>
                  <a:lnTo>
                    <a:pt x="157086" y="256336"/>
                  </a:lnTo>
                  <a:lnTo>
                    <a:pt x="157086" y="233032"/>
                  </a:lnTo>
                  <a:close/>
                </a:path>
                <a:path w="216534" h="256539">
                  <a:moveTo>
                    <a:pt x="216001" y="69900"/>
                  </a:moveTo>
                  <a:lnTo>
                    <a:pt x="196367" y="69900"/>
                  </a:lnTo>
                  <a:lnTo>
                    <a:pt x="196367" y="46126"/>
                  </a:lnTo>
                  <a:lnTo>
                    <a:pt x="176733" y="46126"/>
                  </a:lnTo>
                  <a:lnTo>
                    <a:pt x="176733" y="23266"/>
                  </a:lnTo>
                  <a:lnTo>
                    <a:pt x="157086" y="23266"/>
                  </a:lnTo>
                  <a:lnTo>
                    <a:pt x="157086" y="0"/>
                  </a:lnTo>
                  <a:lnTo>
                    <a:pt x="117817" y="0"/>
                  </a:lnTo>
                  <a:lnTo>
                    <a:pt x="58902" y="0"/>
                  </a:lnTo>
                  <a:lnTo>
                    <a:pt x="58902" y="23266"/>
                  </a:lnTo>
                  <a:lnTo>
                    <a:pt x="39268" y="23266"/>
                  </a:lnTo>
                  <a:lnTo>
                    <a:pt x="39268" y="46126"/>
                  </a:lnTo>
                  <a:lnTo>
                    <a:pt x="19634" y="46126"/>
                  </a:lnTo>
                  <a:lnTo>
                    <a:pt x="19634" y="69900"/>
                  </a:lnTo>
                  <a:lnTo>
                    <a:pt x="0" y="69900"/>
                  </a:lnTo>
                  <a:lnTo>
                    <a:pt x="0" y="186423"/>
                  </a:lnTo>
                  <a:lnTo>
                    <a:pt x="19634" y="186423"/>
                  </a:lnTo>
                  <a:lnTo>
                    <a:pt x="19634" y="209956"/>
                  </a:lnTo>
                  <a:lnTo>
                    <a:pt x="39268" y="209956"/>
                  </a:lnTo>
                  <a:lnTo>
                    <a:pt x="39268" y="232816"/>
                  </a:lnTo>
                  <a:lnTo>
                    <a:pt x="58902" y="232816"/>
                  </a:lnTo>
                  <a:lnTo>
                    <a:pt x="58902" y="209956"/>
                  </a:lnTo>
                  <a:lnTo>
                    <a:pt x="58902" y="185826"/>
                  </a:lnTo>
                  <a:lnTo>
                    <a:pt x="19634" y="185826"/>
                  </a:lnTo>
                  <a:lnTo>
                    <a:pt x="19634" y="70256"/>
                  </a:lnTo>
                  <a:lnTo>
                    <a:pt x="58902" y="70256"/>
                  </a:lnTo>
                  <a:lnTo>
                    <a:pt x="58902" y="46126"/>
                  </a:lnTo>
                  <a:lnTo>
                    <a:pt x="58902" y="23291"/>
                  </a:lnTo>
                  <a:lnTo>
                    <a:pt x="117817" y="23291"/>
                  </a:lnTo>
                  <a:lnTo>
                    <a:pt x="157086" y="23291"/>
                  </a:lnTo>
                  <a:lnTo>
                    <a:pt x="157086" y="46126"/>
                  </a:lnTo>
                  <a:lnTo>
                    <a:pt x="157086" y="70256"/>
                  </a:lnTo>
                  <a:lnTo>
                    <a:pt x="196367" y="70256"/>
                  </a:lnTo>
                  <a:lnTo>
                    <a:pt x="196367" y="185826"/>
                  </a:lnTo>
                  <a:lnTo>
                    <a:pt x="157086" y="185826"/>
                  </a:lnTo>
                  <a:lnTo>
                    <a:pt x="157086" y="209956"/>
                  </a:lnTo>
                  <a:lnTo>
                    <a:pt x="157086" y="232816"/>
                  </a:lnTo>
                  <a:lnTo>
                    <a:pt x="176733" y="232816"/>
                  </a:lnTo>
                  <a:lnTo>
                    <a:pt x="176733" y="209956"/>
                  </a:lnTo>
                  <a:lnTo>
                    <a:pt x="196367" y="209956"/>
                  </a:lnTo>
                  <a:lnTo>
                    <a:pt x="196367" y="186423"/>
                  </a:lnTo>
                  <a:lnTo>
                    <a:pt x="216001" y="186423"/>
                  </a:lnTo>
                  <a:lnTo>
                    <a:pt x="216001" y="6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6" name="object 16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61660" y="5482860"/>
              <a:ext cx="157093" cy="93214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7671477" y="5494511"/>
              <a:ext cx="157480" cy="250825"/>
            </a:xfrm>
            <a:custGeom>
              <a:avLst/>
              <a:gdLst/>
              <a:ahLst/>
              <a:cxnLst/>
              <a:rect l="l" t="t" r="r" b="b"/>
              <a:pathLst>
                <a:path w="157479" h="250825">
                  <a:moveTo>
                    <a:pt x="0" y="0"/>
                  </a:moveTo>
                  <a:lnTo>
                    <a:pt x="157092" y="0"/>
                  </a:lnTo>
                  <a:lnTo>
                    <a:pt x="157092" y="93214"/>
                  </a:lnTo>
                  <a:lnTo>
                    <a:pt x="0" y="93214"/>
                  </a:lnTo>
                  <a:lnTo>
                    <a:pt x="0" y="0"/>
                  </a:lnTo>
                  <a:close/>
                </a:path>
                <a:path w="157479" h="250825">
                  <a:moveTo>
                    <a:pt x="71182" y="81562"/>
                  </a:moveTo>
                  <a:lnTo>
                    <a:pt x="71182" y="250514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8" name="object 16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622388" y="5739199"/>
              <a:ext cx="216002" cy="233036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7622388" y="5739199"/>
              <a:ext cx="216535" cy="233045"/>
            </a:xfrm>
            <a:custGeom>
              <a:avLst/>
              <a:gdLst/>
              <a:ahLst/>
              <a:cxnLst/>
              <a:rect l="l" t="t" r="r" b="b"/>
              <a:pathLst>
                <a:path w="216534" h="233045">
                  <a:moveTo>
                    <a:pt x="157092" y="209732"/>
                  </a:moveTo>
                  <a:lnTo>
                    <a:pt x="58908" y="209732"/>
                  </a:lnTo>
                  <a:lnTo>
                    <a:pt x="58908" y="233036"/>
                  </a:lnTo>
                  <a:lnTo>
                    <a:pt x="157092" y="233036"/>
                  </a:lnTo>
                  <a:lnTo>
                    <a:pt x="157092" y="209732"/>
                  </a:lnTo>
                  <a:close/>
                </a:path>
                <a:path w="216534" h="233045">
                  <a:moveTo>
                    <a:pt x="39272" y="163126"/>
                  </a:moveTo>
                  <a:lnTo>
                    <a:pt x="19635" y="163126"/>
                  </a:lnTo>
                  <a:lnTo>
                    <a:pt x="19635" y="186429"/>
                  </a:lnTo>
                  <a:lnTo>
                    <a:pt x="39272" y="209732"/>
                  </a:lnTo>
                  <a:lnTo>
                    <a:pt x="58908" y="209732"/>
                  </a:lnTo>
                  <a:lnTo>
                    <a:pt x="58908" y="186429"/>
                  </a:lnTo>
                  <a:lnTo>
                    <a:pt x="39272" y="163126"/>
                  </a:lnTo>
                  <a:close/>
                </a:path>
                <a:path w="216534" h="233045">
                  <a:moveTo>
                    <a:pt x="196366" y="163126"/>
                  </a:moveTo>
                  <a:lnTo>
                    <a:pt x="176729" y="163126"/>
                  </a:lnTo>
                  <a:lnTo>
                    <a:pt x="157092" y="186429"/>
                  </a:lnTo>
                  <a:lnTo>
                    <a:pt x="157092" y="209732"/>
                  </a:lnTo>
                  <a:lnTo>
                    <a:pt x="176729" y="209732"/>
                  </a:lnTo>
                  <a:lnTo>
                    <a:pt x="196366" y="186429"/>
                  </a:lnTo>
                  <a:lnTo>
                    <a:pt x="196366" y="163126"/>
                  </a:lnTo>
                  <a:close/>
                </a:path>
                <a:path w="216534" h="233045">
                  <a:moveTo>
                    <a:pt x="19635" y="69910"/>
                  </a:moveTo>
                  <a:lnTo>
                    <a:pt x="0" y="69910"/>
                  </a:lnTo>
                  <a:lnTo>
                    <a:pt x="0" y="163126"/>
                  </a:lnTo>
                  <a:lnTo>
                    <a:pt x="19635" y="163126"/>
                  </a:lnTo>
                  <a:lnTo>
                    <a:pt x="19635" y="69910"/>
                  </a:lnTo>
                  <a:close/>
                </a:path>
                <a:path w="216534" h="233045">
                  <a:moveTo>
                    <a:pt x="216002" y="69910"/>
                  </a:moveTo>
                  <a:lnTo>
                    <a:pt x="196366" y="69910"/>
                  </a:lnTo>
                  <a:lnTo>
                    <a:pt x="196366" y="163126"/>
                  </a:lnTo>
                  <a:lnTo>
                    <a:pt x="216002" y="163126"/>
                  </a:lnTo>
                  <a:lnTo>
                    <a:pt x="216002" y="69910"/>
                  </a:lnTo>
                  <a:close/>
                </a:path>
                <a:path w="216534" h="233045">
                  <a:moveTo>
                    <a:pt x="58908" y="23303"/>
                  </a:moveTo>
                  <a:lnTo>
                    <a:pt x="39272" y="23303"/>
                  </a:lnTo>
                  <a:lnTo>
                    <a:pt x="19635" y="46607"/>
                  </a:lnTo>
                  <a:lnTo>
                    <a:pt x="19635" y="69910"/>
                  </a:lnTo>
                  <a:lnTo>
                    <a:pt x="39272" y="69910"/>
                  </a:lnTo>
                  <a:lnTo>
                    <a:pt x="58908" y="46607"/>
                  </a:lnTo>
                  <a:lnTo>
                    <a:pt x="58908" y="23303"/>
                  </a:lnTo>
                  <a:close/>
                </a:path>
                <a:path w="216534" h="233045">
                  <a:moveTo>
                    <a:pt x="176729" y="23303"/>
                  </a:moveTo>
                  <a:lnTo>
                    <a:pt x="157092" y="23303"/>
                  </a:lnTo>
                  <a:lnTo>
                    <a:pt x="157092" y="46607"/>
                  </a:lnTo>
                  <a:lnTo>
                    <a:pt x="176729" y="69910"/>
                  </a:lnTo>
                  <a:lnTo>
                    <a:pt x="196366" y="69910"/>
                  </a:lnTo>
                  <a:lnTo>
                    <a:pt x="196366" y="46607"/>
                  </a:lnTo>
                  <a:lnTo>
                    <a:pt x="176729" y="23303"/>
                  </a:lnTo>
                  <a:close/>
                </a:path>
                <a:path w="216534" h="233045">
                  <a:moveTo>
                    <a:pt x="117819" y="0"/>
                  </a:moveTo>
                  <a:lnTo>
                    <a:pt x="58908" y="0"/>
                  </a:lnTo>
                  <a:lnTo>
                    <a:pt x="58908" y="23303"/>
                  </a:lnTo>
                  <a:lnTo>
                    <a:pt x="117819" y="23303"/>
                  </a:lnTo>
                  <a:lnTo>
                    <a:pt x="117819" y="0"/>
                  </a:lnTo>
                  <a:close/>
                </a:path>
                <a:path w="216534" h="233045">
                  <a:moveTo>
                    <a:pt x="157092" y="0"/>
                  </a:moveTo>
                  <a:lnTo>
                    <a:pt x="117819" y="0"/>
                  </a:lnTo>
                  <a:lnTo>
                    <a:pt x="117819" y="23303"/>
                  </a:lnTo>
                  <a:lnTo>
                    <a:pt x="157092" y="23303"/>
                  </a:lnTo>
                  <a:lnTo>
                    <a:pt x="157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0" name="object 17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936574" y="5645985"/>
              <a:ext cx="294549" cy="396162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7742660" y="5436251"/>
              <a:ext cx="498475" cy="617855"/>
            </a:xfrm>
            <a:custGeom>
              <a:avLst/>
              <a:gdLst/>
              <a:ahLst/>
              <a:cxnLst/>
              <a:rect l="l" t="t" r="r" b="b"/>
              <a:pathLst>
                <a:path w="498475" h="617854">
                  <a:moveTo>
                    <a:pt x="203729" y="221384"/>
                  </a:moveTo>
                  <a:lnTo>
                    <a:pt x="498279" y="221384"/>
                  </a:lnTo>
                  <a:lnTo>
                    <a:pt x="498279" y="617547"/>
                  </a:lnTo>
                  <a:lnTo>
                    <a:pt x="203729" y="617547"/>
                  </a:lnTo>
                  <a:lnTo>
                    <a:pt x="203729" y="221384"/>
                  </a:lnTo>
                  <a:close/>
                </a:path>
                <a:path w="498475" h="617854">
                  <a:moveTo>
                    <a:pt x="76091" y="422378"/>
                  </a:moveTo>
                  <a:lnTo>
                    <a:pt x="198820" y="422378"/>
                  </a:lnTo>
                </a:path>
                <a:path w="498475" h="617854">
                  <a:moveTo>
                    <a:pt x="0" y="0"/>
                  </a:moveTo>
                  <a:lnTo>
                    <a:pt x="0" y="75736"/>
                  </a:lnTo>
                </a:path>
              </a:pathLst>
            </a:custGeom>
            <a:ln w="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4876230" y="3449877"/>
            <a:ext cx="542365" cy="300799"/>
          </a:xfrm>
          <a:prstGeom prst="rect">
            <a:avLst/>
          </a:prstGeom>
          <a:ln w="5622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25774">
              <a:lnSpc>
                <a:spcPts val="1129"/>
              </a:lnSpc>
              <a:spcBef>
                <a:spcPts val="146"/>
              </a:spcBef>
            </a:pPr>
            <a:r>
              <a:rPr sz="1103" spc="-62" dirty="0">
                <a:latin typeface="Times New Roman"/>
                <a:cs typeface="Times New Roman"/>
              </a:rPr>
              <a:t>Inval.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spc="-44" dirty="0">
                <a:latin typeface="Times New Roman"/>
                <a:cs typeface="Times New Roman"/>
              </a:rPr>
              <a:t>req. </a:t>
            </a:r>
            <a:r>
              <a:rPr sz="1103" spc="-26" dirty="0">
                <a:latin typeface="Times New Roman"/>
                <a:cs typeface="Times New Roman"/>
              </a:rPr>
              <a:t>to</a:t>
            </a:r>
            <a:r>
              <a:rPr sz="1103" spc="-40" dirty="0">
                <a:latin typeface="Times New Roman"/>
                <a:cs typeface="Times New Roman"/>
              </a:rPr>
              <a:t> </a:t>
            </a:r>
            <a:r>
              <a:rPr sz="1103" spc="-9" dirty="0">
                <a:latin typeface="Times New Roman"/>
                <a:cs typeface="Times New Roman"/>
              </a:rPr>
              <a:t>sharer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056817" y="1618931"/>
            <a:ext cx="13951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1. 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6970185" y="2379727"/>
            <a:ext cx="13951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2. 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6929412" y="4600428"/>
            <a:ext cx="79001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44" dirty="0">
                <a:latin typeface="Times New Roman"/>
                <a:cs typeface="Times New Roman"/>
              </a:rPr>
              <a:t>P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6912085" y="5093918"/>
            <a:ext cx="99172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57" dirty="0">
                <a:latin typeface="Times New Roman"/>
                <a:cs typeface="Times New Roman"/>
              </a:rPr>
              <a:t>A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7171981" y="5052794"/>
            <a:ext cx="234763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101" dirty="0">
                <a:latin typeface="Times New Roman"/>
                <a:cs typeface="Times New Roman"/>
              </a:rPr>
              <a:t>M/D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808126" y="4785487"/>
            <a:ext cx="92449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spc="-62" dirty="0">
                <a:latin typeface="Times New Roman"/>
                <a:cs typeface="Times New Roman"/>
              </a:rPr>
              <a:t>C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5248750" y="2863860"/>
            <a:ext cx="1460126" cy="1979519"/>
            <a:chOff x="5796183" y="3245707"/>
            <a:chExt cx="1654810" cy="2243455"/>
          </a:xfrm>
        </p:grpSpPr>
        <p:pic>
          <p:nvPicPr>
            <p:cNvPr id="180" name="object 18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81647" y="3245707"/>
              <a:ext cx="83455" cy="99040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6247816" y="3338931"/>
              <a:ext cx="378460" cy="1800225"/>
            </a:xfrm>
            <a:custGeom>
              <a:avLst/>
              <a:gdLst/>
              <a:ahLst/>
              <a:cxnLst/>
              <a:rect l="l" t="t" r="r" b="b"/>
              <a:pathLst>
                <a:path w="378459" h="1800225">
                  <a:moveTo>
                    <a:pt x="378002" y="0"/>
                  </a:moveTo>
                  <a:lnTo>
                    <a:pt x="373100" y="0"/>
                  </a:lnTo>
                  <a:lnTo>
                    <a:pt x="294551" y="838923"/>
                  </a:lnTo>
                  <a:lnTo>
                    <a:pt x="117817" y="1514729"/>
                  </a:lnTo>
                  <a:lnTo>
                    <a:pt x="0" y="1794383"/>
                  </a:lnTo>
                  <a:lnTo>
                    <a:pt x="0" y="1800199"/>
                  </a:lnTo>
                  <a:lnTo>
                    <a:pt x="4914" y="1800199"/>
                  </a:lnTo>
                  <a:lnTo>
                    <a:pt x="122732" y="1520558"/>
                  </a:lnTo>
                  <a:lnTo>
                    <a:pt x="299466" y="844753"/>
                  </a:lnTo>
                  <a:lnTo>
                    <a:pt x="378002" y="5816"/>
                  </a:lnTo>
                  <a:lnTo>
                    <a:pt x="3780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2" name="object 18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96183" y="5133304"/>
              <a:ext cx="456551" cy="355381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170746" y="5110001"/>
              <a:ext cx="279821" cy="285469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6935101" y="3245713"/>
              <a:ext cx="240665" cy="1870710"/>
            </a:xfrm>
            <a:custGeom>
              <a:avLst/>
              <a:gdLst/>
              <a:ahLst/>
              <a:cxnLst/>
              <a:rect l="l" t="t" r="r" b="b"/>
              <a:pathLst>
                <a:path w="240665" h="1870710">
                  <a:moveTo>
                    <a:pt x="44183" y="0"/>
                  </a:moveTo>
                  <a:lnTo>
                    <a:pt x="0" y="0"/>
                  </a:lnTo>
                  <a:lnTo>
                    <a:pt x="0" y="629196"/>
                  </a:lnTo>
                  <a:lnTo>
                    <a:pt x="44183" y="629196"/>
                  </a:lnTo>
                  <a:lnTo>
                    <a:pt x="44183" y="0"/>
                  </a:lnTo>
                  <a:close/>
                </a:path>
                <a:path w="240665" h="1870710">
                  <a:moveTo>
                    <a:pt x="240550" y="1864296"/>
                  </a:moveTo>
                  <a:lnTo>
                    <a:pt x="122732" y="1398219"/>
                  </a:lnTo>
                  <a:lnTo>
                    <a:pt x="44183" y="745718"/>
                  </a:lnTo>
                  <a:lnTo>
                    <a:pt x="39268" y="745718"/>
                  </a:lnTo>
                  <a:lnTo>
                    <a:pt x="39268" y="751547"/>
                  </a:lnTo>
                  <a:lnTo>
                    <a:pt x="117817" y="1404048"/>
                  </a:lnTo>
                  <a:lnTo>
                    <a:pt x="235635" y="1870113"/>
                  </a:lnTo>
                  <a:lnTo>
                    <a:pt x="240550" y="1870113"/>
                  </a:lnTo>
                  <a:lnTo>
                    <a:pt x="240550" y="18642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6758377" y="3874905"/>
              <a:ext cx="608965" cy="373380"/>
            </a:xfrm>
            <a:custGeom>
              <a:avLst/>
              <a:gdLst/>
              <a:ahLst/>
              <a:cxnLst/>
              <a:rect l="l" t="t" r="r" b="b"/>
              <a:pathLst>
                <a:path w="608965" h="373379">
                  <a:moveTo>
                    <a:pt x="608735" y="0"/>
                  </a:moveTo>
                  <a:lnTo>
                    <a:pt x="0" y="0"/>
                  </a:lnTo>
                  <a:lnTo>
                    <a:pt x="0" y="372859"/>
                  </a:lnTo>
                  <a:lnTo>
                    <a:pt x="608735" y="372859"/>
                  </a:lnTo>
                  <a:lnTo>
                    <a:pt x="6087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6" name="object 186"/>
          <p:cNvSpPr txBox="1"/>
          <p:nvPr/>
        </p:nvSpPr>
        <p:spPr>
          <a:xfrm>
            <a:off x="6106405" y="3429316"/>
            <a:ext cx="542365" cy="300799"/>
          </a:xfrm>
          <a:prstGeom prst="rect">
            <a:avLst/>
          </a:prstGeom>
          <a:ln w="5633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25774">
              <a:lnSpc>
                <a:spcPts val="1129"/>
              </a:lnSpc>
              <a:spcBef>
                <a:spcPts val="146"/>
              </a:spcBef>
            </a:pPr>
            <a:r>
              <a:rPr sz="1103" spc="-62" dirty="0">
                <a:latin typeface="Times New Roman"/>
                <a:cs typeface="Times New Roman"/>
              </a:rPr>
              <a:t>Inval.</a:t>
            </a:r>
            <a:r>
              <a:rPr sz="1103" spc="9" dirty="0">
                <a:latin typeface="Times New Roman"/>
                <a:cs typeface="Times New Roman"/>
              </a:rPr>
              <a:t> </a:t>
            </a:r>
            <a:r>
              <a:rPr sz="1103" spc="-44" dirty="0">
                <a:latin typeface="Times New Roman"/>
                <a:cs typeface="Times New Roman"/>
              </a:rPr>
              <a:t>req. </a:t>
            </a:r>
            <a:r>
              <a:rPr sz="1103" spc="-26" dirty="0">
                <a:latin typeface="Times New Roman"/>
                <a:cs typeface="Times New Roman"/>
              </a:rPr>
              <a:t>to</a:t>
            </a:r>
            <a:r>
              <a:rPr sz="1103" spc="-40" dirty="0">
                <a:latin typeface="Times New Roman"/>
                <a:cs typeface="Times New Roman"/>
              </a:rPr>
              <a:t> </a:t>
            </a:r>
            <a:r>
              <a:rPr sz="1103" spc="-9" dirty="0">
                <a:latin typeface="Times New Roman"/>
                <a:cs typeface="Times New Roman"/>
              </a:rPr>
              <a:t>sharer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87" name="object 187"/>
          <p:cNvSpPr/>
          <p:nvPr/>
        </p:nvSpPr>
        <p:spPr>
          <a:xfrm>
            <a:off x="5491319" y="3994772"/>
            <a:ext cx="519953" cy="247090"/>
          </a:xfrm>
          <a:custGeom>
            <a:avLst/>
            <a:gdLst/>
            <a:ahLst/>
            <a:cxnLst/>
            <a:rect l="l" t="t" r="r" b="b"/>
            <a:pathLst>
              <a:path w="589279" h="280035">
                <a:moveTo>
                  <a:pt x="589098" y="0"/>
                </a:moveTo>
                <a:lnTo>
                  <a:pt x="0" y="0"/>
                </a:lnTo>
                <a:lnTo>
                  <a:pt x="0" y="279643"/>
                </a:lnTo>
                <a:lnTo>
                  <a:pt x="589098" y="279643"/>
                </a:lnTo>
                <a:lnTo>
                  <a:pt x="5890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8" name="object 188"/>
          <p:cNvSpPr txBox="1"/>
          <p:nvPr/>
        </p:nvSpPr>
        <p:spPr>
          <a:xfrm>
            <a:off x="5499981" y="4005053"/>
            <a:ext cx="542365" cy="183870"/>
          </a:xfrm>
          <a:prstGeom prst="rect">
            <a:avLst/>
          </a:prstGeom>
          <a:ln w="5699">
            <a:solidFill>
              <a:srgbClr val="000000"/>
            </a:solidFill>
          </a:ln>
        </p:spPr>
        <p:txBody>
          <a:bodyPr vert="horz" wrap="square" lIns="0" tIns="14007" rIns="0" bIns="0" rtlCol="0">
            <a:spAutoFit/>
          </a:bodyPr>
          <a:lstStyle/>
          <a:p>
            <a:pPr marL="43145">
              <a:spcBef>
                <a:spcPts val="110"/>
              </a:spcBef>
            </a:pPr>
            <a:r>
              <a:rPr sz="1103" spc="-62" dirty="0">
                <a:latin typeface="Times New Roman"/>
                <a:cs typeface="Times New Roman"/>
              </a:rPr>
              <a:t>Inval.</a:t>
            </a:r>
            <a:r>
              <a:rPr sz="1103" spc="9" dirty="0">
                <a:latin typeface="Times New Roman"/>
                <a:cs typeface="Times New Roman"/>
              </a:rPr>
              <a:t> </a:t>
            </a:r>
            <a:r>
              <a:rPr sz="1103" spc="-53" dirty="0">
                <a:latin typeface="Times New Roman"/>
                <a:cs typeface="Times New Roman"/>
              </a:rPr>
              <a:t>ack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/>
          <p:nvPr/>
        </p:nvSpPr>
        <p:spPr>
          <a:xfrm>
            <a:off x="6964066" y="3974211"/>
            <a:ext cx="519953" cy="247090"/>
          </a:xfrm>
          <a:custGeom>
            <a:avLst/>
            <a:gdLst/>
            <a:ahLst/>
            <a:cxnLst/>
            <a:rect l="l" t="t" r="r" b="b"/>
            <a:pathLst>
              <a:path w="589279" h="280035">
                <a:moveTo>
                  <a:pt x="589098" y="0"/>
                </a:moveTo>
                <a:lnTo>
                  <a:pt x="0" y="0"/>
                </a:lnTo>
                <a:lnTo>
                  <a:pt x="0" y="279643"/>
                </a:lnTo>
                <a:lnTo>
                  <a:pt x="589098" y="279643"/>
                </a:lnTo>
                <a:lnTo>
                  <a:pt x="5890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0" name="object 190"/>
          <p:cNvSpPr txBox="1"/>
          <p:nvPr/>
        </p:nvSpPr>
        <p:spPr>
          <a:xfrm>
            <a:off x="6972727" y="3984492"/>
            <a:ext cx="542365" cy="183870"/>
          </a:xfrm>
          <a:prstGeom prst="rect">
            <a:avLst/>
          </a:prstGeom>
          <a:ln w="5699">
            <a:solidFill>
              <a:srgbClr val="000000"/>
            </a:solidFill>
          </a:ln>
        </p:spPr>
        <p:txBody>
          <a:bodyPr vert="horz" wrap="square" lIns="0" tIns="14007" rIns="0" bIns="0" rtlCol="0">
            <a:spAutoFit/>
          </a:bodyPr>
          <a:lstStyle/>
          <a:p>
            <a:pPr marL="43145">
              <a:spcBef>
                <a:spcPts val="110"/>
              </a:spcBef>
            </a:pPr>
            <a:r>
              <a:rPr sz="1103" spc="-62" dirty="0">
                <a:latin typeface="Times New Roman"/>
                <a:cs typeface="Times New Roman"/>
              </a:rPr>
              <a:t>Inval.</a:t>
            </a:r>
            <a:r>
              <a:rPr sz="1103" spc="9" dirty="0">
                <a:latin typeface="Times New Roman"/>
                <a:cs typeface="Times New Roman"/>
              </a:rPr>
              <a:t> </a:t>
            </a:r>
            <a:r>
              <a:rPr sz="1103" spc="-53" dirty="0">
                <a:latin typeface="Times New Roman"/>
                <a:cs typeface="Times New Roman"/>
              </a:rPr>
              <a:t>ack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4873687" y="3243333"/>
            <a:ext cx="18433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3a.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086537" y="3222771"/>
            <a:ext cx="156882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84" dirty="0">
                <a:latin typeface="Times New Roman"/>
                <a:cs typeface="Times New Roman"/>
              </a:rPr>
              <a:t>3</a:t>
            </a:r>
            <a:r>
              <a:rPr sz="1103" spc="-137" dirty="0">
                <a:latin typeface="Times New Roman"/>
                <a:cs typeface="Times New Roman"/>
              </a:rPr>
              <a:t> </a:t>
            </a:r>
            <a:r>
              <a:rPr sz="1103" spc="-172" dirty="0">
                <a:latin typeface="Times New Roman"/>
                <a:cs typeface="Times New Roman"/>
              </a:rPr>
              <a:t>b.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5480112" y="3798508"/>
            <a:ext cx="184337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Times New Roman"/>
                <a:cs typeface="Times New Roman"/>
              </a:rPr>
              <a:t>4a.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6952858" y="3777947"/>
            <a:ext cx="156882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84" dirty="0">
                <a:latin typeface="Times New Roman"/>
                <a:cs typeface="Times New Roman"/>
              </a:rPr>
              <a:t>4</a:t>
            </a:r>
            <a:r>
              <a:rPr sz="1103" spc="-137" dirty="0">
                <a:latin typeface="Times New Roman"/>
                <a:cs typeface="Times New Roman"/>
              </a:rPr>
              <a:t> </a:t>
            </a:r>
            <a:r>
              <a:rPr sz="1103" spc="-172" dirty="0">
                <a:latin typeface="Times New Roman"/>
                <a:cs typeface="Times New Roman"/>
              </a:rPr>
              <a:t>b.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594061" y="1598369"/>
            <a:ext cx="648821" cy="20986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279" b="1" spc="-79" dirty="0">
                <a:latin typeface="Times New Roman"/>
                <a:cs typeface="Times New Roman"/>
              </a:rPr>
              <a:t>Requestor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46039" y="5484597"/>
            <a:ext cx="2484344" cy="68588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28016">
              <a:lnSpc>
                <a:spcPts val="1416"/>
              </a:lnSpc>
              <a:spcBef>
                <a:spcPts val="101"/>
              </a:spcBef>
            </a:pPr>
            <a:r>
              <a:rPr sz="1279" spc="-110" dirty="0">
                <a:latin typeface="Times New Roman"/>
                <a:cs typeface="Times New Roman"/>
              </a:rPr>
              <a:t>Node</a:t>
            </a:r>
            <a:r>
              <a:rPr sz="1279" spc="13" dirty="0">
                <a:latin typeface="Times New Roman"/>
                <a:cs typeface="Times New Roman"/>
              </a:rPr>
              <a:t> </a:t>
            </a:r>
            <a:r>
              <a:rPr sz="1279" spc="-18" dirty="0">
                <a:latin typeface="Times New Roman"/>
                <a:cs typeface="Times New Roman"/>
              </a:rPr>
              <a:t>with</a:t>
            </a:r>
            <a:endParaRPr sz="1279">
              <a:latin typeface="Times New Roman"/>
              <a:cs typeface="Times New Roman"/>
            </a:endParaRPr>
          </a:p>
          <a:p>
            <a:pPr marL="28016">
              <a:lnSpc>
                <a:spcPts val="1416"/>
              </a:lnSpc>
            </a:pPr>
            <a:r>
              <a:rPr sz="1279" b="1" spc="-84" dirty="0">
                <a:latin typeface="Times New Roman"/>
                <a:cs typeface="Times New Roman"/>
              </a:rPr>
              <a:t>dirty</a:t>
            </a:r>
            <a:r>
              <a:rPr sz="1279" b="1" spc="13" dirty="0">
                <a:latin typeface="Times New Roman"/>
                <a:cs typeface="Times New Roman"/>
              </a:rPr>
              <a:t> </a:t>
            </a:r>
            <a:r>
              <a:rPr sz="1279" spc="-18" dirty="0">
                <a:latin typeface="Times New Roman"/>
                <a:cs typeface="Times New Roman"/>
              </a:rPr>
              <a:t>copy</a:t>
            </a:r>
            <a:endParaRPr sz="1279">
              <a:latin typeface="Times New Roman"/>
              <a:cs typeface="Times New Roman"/>
            </a:endParaRPr>
          </a:p>
          <a:p>
            <a:pPr marL="11206">
              <a:spcBef>
                <a:spcPts val="719"/>
              </a:spcBef>
            </a:pPr>
            <a:r>
              <a:rPr sz="1456" spc="-66" dirty="0">
                <a:latin typeface="Times New Roman"/>
                <a:cs typeface="Times New Roman"/>
              </a:rPr>
              <a:t>(a)</a:t>
            </a:r>
            <a:r>
              <a:rPr sz="1456" spc="-26" dirty="0">
                <a:latin typeface="Times New Roman"/>
                <a:cs typeface="Times New Roman"/>
              </a:rPr>
              <a:t> </a:t>
            </a:r>
            <a:r>
              <a:rPr sz="1456" spc="-119" dirty="0">
                <a:latin typeface="Times New Roman"/>
                <a:cs typeface="Times New Roman"/>
              </a:rPr>
              <a:t>Read</a:t>
            </a:r>
            <a:r>
              <a:rPr sz="1456" spc="26" dirty="0">
                <a:latin typeface="Times New Roman"/>
                <a:cs typeface="Times New Roman"/>
              </a:rPr>
              <a:t> </a:t>
            </a:r>
            <a:r>
              <a:rPr sz="1456" spc="-93" dirty="0">
                <a:latin typeface="Times New Roman"/>
                <a:cs typeface="Times New Roman"/>
              </a:rPr>
              <a:t>miss</a:t>
            </a:r>
            <a:r>
              <a:rPr sz="1456" spc="4" dirty="0">
                <a:latin typeface="Times New Roman"/>
                <a:cs typeface="Times New Roman"/>
              </a:rPr>
              <a:t> </a:t>
            </a:r>
            <a:r>
              <a:rPr sz="1456" spc="-44" dirty="0">
                <a:latin typeface="Times New Roman"/>
                <a:cs typeface="Times New Roman"/>
              </a:rPr>
              <a:t>to</a:t>
            </a:r>
            <a:r>
              <a:rPr sz="1456" spc="-49" dirty="0">
                <a:latin typeface="Times New Roman"/>
                <a:cs typeface="Times New Roman"/>
              </a:rPr>
              <a:t> </a:t>
            </a:r>
            <a:r>
              <a:rPr sz="1456" dirty="0">
                <a:latin typeface="Times New Roman"/>
                <a:cs typeface="Times New Roman"/>
              </a:rPr>
              <a:t>a</a:t>
            </a:r>
            <a:r>
              <a:rPr sz="1456" spc="-35" dirty="0">
                <a:latin typeface="Times New Roman"/>
                <a:cs typeface="Times New Roman"/>
              </a:rPr>
              <a:t> </a:t>
            </a:r>
            <a:r>
              <a:rPr sz="1456" spc="-93" dirty="0">
                <a:latin typeface="Times New Roman"/>
                <a:cs typeface="Times New Roman"/>
              </a:rPr>
              <a:t>block</a:t>
            </a:r>
            <a:r>
              <a:rPr sz="1456" dirty="0">
                <a:latin typeface="Times New Roman"/>
                <a:cs typeface="Times New Roman"/>
              </a:rPr>
              <a:t> </a:t>
            </a:r>
            <a:r>
              <a:rPr sz="1456" spc="-44" dirty="0">
                <a:latin typeface="Times New Roman"/>
                <a:cs typeface="Times New Roman"/>
              </a:rPr>
              <a:t>in</a:t>
            </a:r>
            <a:r>
              <a:rPr sz="1456" spc="-13" dirty="0">
                <a:latin typeface="Times New Roman"/>
                <a:cs typeface="Times New Roman"/>
              </a:rPr>
              <a:t> </a:t>
            </a:r>
            <a:r>
              <a:rPr sz="1456" spc="-75" dirty="0">
                <a:latin typeface="Times New Roman"/>
                <a:cs typeface="Times New Roman"/>
              </a:rPr>
              <a:t>dirty</a:t>
            </a:r>
            <a:r>
              <a:rPr sz="1456" spc="-13" dirty="0">
                <a:latin typeface="Times New Roman"/>
                <a:cs typeface="Times New Roman"/>
              </a:rPr>
              <a:t> </a:t>
            </a:r>
            <a:r>
              <a:rPr sz="1456" spc="-49" dirty="0">
                <a:latin typeface="Times New Roman"/>
                <a:cs typeface="Times New Roman"/>
              </a:rPr>
              <a:t>state</a:t>
            </a:r>
            <a:endParaRPr sz="1456">
              <a:latin typeface="Times New Roman"/>
              <a:cs typeface="Times New Roman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2915802" y="2359164"/>
            <a:ext cx="907116" cy="377554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1206" marR="4483">
              <a:lnSpc>
                <a:spcPts val="1297"/>
              </a:lnSpc>
              <a:spcBef>
                <a:spcPts val="344"/>
              </a:spcBef>
            </a:pPr>
            <a:r>
              <a:rPr sz="1279" b="1" spc="-75" dirty="0">
                <a:latin typeface="Times New Roman"/>
                <a:cs typeface="Times New Roman"/>
              </a:rPr>
              <a:t>Directory</a:t>
            </a:r>
            <a:r>
              <a:rPr sz="1279" b="1" spc="-97" dirty="0">
                <a:latin typeface="Times New Roman"/>
                <a:cs typeface="Times New Roman"/>
              </a:rPr>
              <a:t> </a:t>
            </a:r>
            <a:r>
              <a:rPr sz="1279" spc="-93" dirty="0">
                <a:latin typeface="Times New Roman"/>
                <a:cs typeface="Times New Roman"/>
              </a:rPr>
              <a:t>node </a:t>
            </a:r>
            <a:r>
              <a:rPr sz="1279" spc="-62" dirty="0">
                <a:latin typeface="Times New Roman"/>
                <a:cs typeface="Times New Roman"/>
              </a:rPr>
              <a:t>for</a:t>
            </a:r>
            <a:r>
              <a:rPr sz="1279" spc="-18" dirty="0">
                <a:latin typeface="Times New Roman"/>
                <a:cs typeface="Times New Roman"/>
              </a:rPr>
              <a:t> </a:t>
            </a:r>
            <a:r>
              <a:rPr sz="1279" spc="-9" dirty="0">
                <a:latin typeface="Times New Roman"/>
                <a:cs typeface="Times New Roman"/>
              </a:rPr>
              <a:t>block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5930598" y="1598369"/>
            <a:ext cx="648821" cy="20986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279" b="1" spc="-79" dirty="0">
                <a:latin typeface="Times New Roman"/>
                <a:cs typeface="Times New Roman"/>
              </a:rPr>
              <a:t>Requestor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7888484" y="3263896"/>
            <a:ext cx="889747" cy="20986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279" b="1" spc="-71" dirty="0">
                <a:latin typeface="Times New Roman"/>
                <a:cs typeface="Times New Roman"/>
              </a:rPr>
              <a:t>Directory</a:t>
            </a:r>
            <a:r>
              <a:rPr sz="1279" spc="-71" dirty="0">
                <a:latin typeface="Times New Roman"/>
                <a:cs typeface="Times New Roman"/>
              </a:rPr>
              <a:t>node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4665770" y="5505160"/>
            <a:ext cx="453838" cy="20986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279" b="1" spc="-62" dirty="0">
                <a:latin typeface="Times New Roman"/>
                <a:cs typeface="Times New Roman"/>
              </a:rPr>
              <a:t>Sharer 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6883552" y="5464035"/>
            <a:ext cx="453838" cy="20986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279" b="1" spc="-62" dirty="0">
                <a:latin typeface="Times New Roman"/>
                <a:cs typeface="Times New Roman"/>
              </a:rPr>
              <a:t>Sharer 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5254869" y="5916400"/>
            <a:ext cx="2675404" cy="2353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56" spc="-97" dirty="0">
                <a:latin typeface="Times New Roman"/>
                <a:cs typeface="Times New Roman"/>
              </a:rPr>
              <a:t>(b)</a:t>
            </a:r>
            <a:r>
              <a:rPr sz="1456" spc="-31" dirty="0">
                <a:latin typeface="Times New Roman"/>
                <a:cs typeface="Times New Roman"/>
              </a:rPr>
              <a:t> </a:t>
            </a:r>
            <a:r>
              <a:rPr sz="1456" spc="-110" dirty="0">
                <a:latin typeface="Times New Roman"/>
                <a:cs typeface="Times New Roman"/>
              </a:rPr>
              <a:t>Write</a:t>
            </a:r>
            <a:r>
              <a:rPr sz="1456" spc="18" dirty="0">
                <a:latin typeface="Times New Roman"/>
                <a:cs typeface="Times New Roman"/>
              </a:rPr>
              <a:t> </a:t>
            </a:r>
            <a:r>
              <a:rPr sz="1456" spc="-106" dirty="0">
                <a:latin typeface="Times New Roman"/>
                <a:cs typeface="Times New Roman"/>
              </a:rPr>
              <a:t>miss</a:t>
            </a:r>
            <a:r>
              <a:rPr sz="1456" spc="13" dirty="0">
                <a:latin typeface="Times New Roman"/>
                <a:cs typeface="Times New Roman"/>
              </a:rPr>
              <a:t> </a:t>
            </a:r>
            <a:r>
              <a:rPr sz="1456" spc="-66" dirty="0">
                <a:latin typeface="Times New Roman"/>
                <a:cs typeface="Times New Roman"/>
              </a:rPr>
              <a:t>to</a:t>
            </a:r>
            <a:r>
              <a:rPr sz="1456" spc="-22" dirty="0">
                <a:latin typeface="Times New Roman"/>
                <a:cs typeface="Times New Roman"/>
              </a:rPr>
              <a:t> </a:t>
            </a:r>
            <a:r>
              <a:rPr sz="1456" dirty="0">
                <a:latin typeface="Times New Roman"/>
                <a:cs typeface="Times New Roman"/>
              </a:rPr>
              <a:t>a</a:t>
            </a:r>
            <a:r>
              <a:rPr sz="1456" spc="-18" dirty="0">
                <a:latin typeface="Times New Roman"/>
                <a:cs typeface="Times New Roman"/>
              </a:rPr>
              <a:t> </a:t>
            </a:r>
            <a:r>
              <a:rPr sz="1456" spc="-97" dirty="0">
                <a:latin typeface="Times New Roman"/>
                <a:cs typeface="Times New Roman"/>
              </a:rPr>
              <a:t>block</a:t>
            </a:r>
            <a:r>
              <a:rPr sz="1456" spc="4" dirty="0">
                <a:latin typeface="Times New Roman"/>
                <a:cs typeface="Times New Roman"/>
              </a:rPr>
              <a:t> </a:t>
            </a:r>
            <a:r>
              <a:rPr sz="1456" spc="-97" dirty="0">
                <a:latin typeface="Times New Roman"/>
                <a:cs typeface="Times New Roman"/>
              </a:rPr>
              <a:t>with</a:t>
            </a:r>
            <a:r>
              <a:rPr sz="1456" spc="9" dirty="0">
                <a:latin typeface="Times New Roman"/>
                <a:cs typeface="Times New Roman"/>
              </a:rPr>
              <a:t> </a:t>
            </a:r>
            <a:r>
              <a:rPr sz="1456" spc="-71" dirty="0">
                <a:latin typeface="Times New Roman"/>
                <a:cs typeface="Times New Roman"/>
              </a:rPr>
              <a:t>t</a:t>
            </a:r>
            <a:r>
              <a:rPr sz="1456" spc="-891" dirty="0">
                <a:latin typeface="Times New Roman"/>
                <a:cs typeface="Times New Roman"/>
              </a:rPr>
              <a:t>w</a:t>
            </a:r>
            <a:r>
              <a:rPr sz="1456" spc="-75" dirty="0">
                <a:latin typeface="Times New Roman"/>
                <a:cs typeface="Times New Roman"/>
              </a:rPr>
              <a:t>o</a:t>
            </a:r>
            <a:r>
              <a:rPr sz="1456" spc="101" dirty="0">
                <a:latin typeface="Times New Roman"/>
                <a:cs typeface="Times New Roman"/>
              </a:rPr>
              <a:t> </a:t>
            </a:r>
            <a:r>
              <a:rPr sz="1456" spc="-62" dirty="0">
                <a:latin typeface="Times New Roman"/>
                <a:cs typeface="Times New Roman"/>
              </a:rPr>
              <a:t>sharers</a:t>
            </a:r>
            <a:endParaRPr sz="1456">
              <a:latin typeface="Times New Roman"/>
              <a:cs typeface="Times New Roman"/>
            </a:endParaRPr>
          </a:p>
        </p:txBody>
      </p:sp>
      <p:sp>
        <p:nvSpPr>
          <p:cNvPr id="204" name="Slide Number Placeholder 39">
            <a:extLst>
              <a:ext uri="{FF2B5EF4-FFF2-40B4-BE49-F238E27FC236}">
                <a16:creationId xmlns:a16="http://schemas.microsoft.com/office/drawing/2014/main" id="{926208CC-6B58-A828-79AA-2ADE83A431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327606"/>
            <a:ext cx="7211567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State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Transition</a:t>
            </a:r>
            <a:r>
              <a:rPr spc="-31" dirty="0"/>
              <a:t> </a:t>
            </a:r>
            <a:r>
              <a:rPr dirty="0">
                <a:latin typeface="Calibri"/>
                <a:cs typeface="Calibri"/>
              </a:rPr>
              <a:t>Diagram</a:t>
            </a:r>
            <a:r>
              <a:rPr spc="-26" dirty="0"/>
              <a:t> </a:t>
            </a:r>
            <a:r>
              <a:rPr b="1" dirty="0">
                <a:latin typeface="Calibri"/>
                <a:cs typeface="Calibri"/>
              </a:rPr>
              <a:t>for</a:t>
            </a:r>
            <a:r>
              <a:rPr b="1" spc="-35" dirty="0"/>
              <a:t> </a:t>
            </a:r>
            <a:r>
              <a:rPr b="1" dirty="0">
                <a:latin typeface="Calibri"/>
                <a:cs typeface="Calibri"/>
              </a:rPr>
              <a:t>One</a:t>
            </a:r>
            <a:r>
              <a:rPr b="1" spc="-31" dirty="0"/>
              <a:t> </a:t>
            </a:r>
            <a:r>
              <a:rPr b="1" spc="-9" dirty="0"/>
              <a:t>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6879291" cy="3342536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States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identical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snoopy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case;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transactions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very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similar.</a:t>
            </a:r>
            <a:endParaRPr sz="2206">
              <a:latin typeface="Calibri"/>
              <a:cs typeface="Calibri"/>
            </a:endParaRPr>
          </a:p>
          <a:p>
            <a:pPr marL="278481" marR="1028195" indent="-267835">
              <a:lnSpc>
                <a:spcPts val="2453"/>
              </a:lnSpc>
              <a:spcBef>
                <a:spcPts val="77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Transitions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caused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misses,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misses, </a:t>
            </a:r>
            <a:r>
              <a:rPr sz="2206" dirty="0">
                <a:latin typeface="Calibri"/>
                <a:cs typeface="Calibri"/>
              </a:rPr>
              <a:t>invalidates,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fetch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requests</a:t>
            </a:r>
            <a:endParaRPr sz="2206">
              <a:latin typeface="Calibri"/>
              <a:cs typeface="Calibri"/>
            </a:endParaRPr>
          </a:p>
          <a:p>
            <a:pPr marL="278481" marR="592262" indent="-267835">
              <a:lnSpc>
                <a:spcPts val="2391"/>
              </a:lnSpc>
              <a:spcBef>
                <a:spcPts val="777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Generates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read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miss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&amp;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miss</a:t>
            </a:r>
            <a:r>
              <a:rPr sz="2206" i="1" spc="49" dirty="0">
                <a:latin typeface="Calibri"/>
                <a:cs typeface="Calibri"/>
              </a:rPr>
              <a:t> </a:t>
            </a:r>
            <a:r>
              <a:rPr sz="2206" i="1" dirty="0">
                <a:latin typeface="Calibri"/>
                <a:cs typeface="Calibri"/>
              </a:rPr>
              <a:t>message</a:t>
            </a:r>
            <a:r>
              <a:rPr sz="2206" i="1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home </a:t>
            </a:r>
            <a:r>
              <a:rPr sz="2206" spc="-9" dirty="0">
                <a:latin typeface="Calibri"/>
                <a:cs typeface="Calibri"/>
              </a:rPr>
              <a:t>directory.</a:t>
            </a:r>
            <a:endParaRPr sz="2206">
              <a:latin typeface="Calibri"/>
              <a:cs typeface="Calibri"/>
            </a:endParaRPr>
          </a:p>
          <a:p>
            <a:pPr marL="278481" marR="297532" indent="-267835">
              <a:lnSpc>
                <a:spcPts val="2374"/>
              </a:lnSpc>
              <a:spcBef>
                <a:spcPts val="887"/>
              </a:spcBef>
              <a:buFont typeface="Calibri"/>
              <a:buChar char="•"/>
              <a:tabLst>
                <a:tab pos="278481" algn="l"/>
              </a:tabLst>
            </a:pPr>
            <a:r>
              <a:rPr sz="2206" b="1" dirty="0">
                <a:latin typeface="Calibri"/>
                <a:cs typeface="Calibri"/>
              </a:rPr>
              <a:t>Write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misses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that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were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broadcast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on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the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bus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spc="-22" dirty="0">
                <a:latin typeface="Calibri"/>
                <a:cs typeface="Calibri"/>
              </a:rPr>
              <a:t>for </a:t>
            </a:r>
            <a:r>
              <a:rPr sz="2206" b="1" dirty="0">
                <a:latin typeface="Calibri"/>
                <a:cs typeface="Calibri"/>
              </a:rPr>
              <a:t>snooping</a:t>
            </a:r>
            <a:r>
              <a:rPr sz="2206" b="1" spc="57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=&gt;</a:t>
            </a:r>
            <a:r>
              <a:rPr sz="2206" b="1" spc="66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explicit</a:t>
            </a:r>
            <a:r>
              <a:rPr sz="2206" b="1" spc="62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invalidate</a:t>
            </a:r>
            <a:r>
              <a:rPr sz="2206" b="1" spc="66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&amp;</a:t>
            </a:r>
            <a:r>
              <a:rPr sz="2206" b="1" spc="71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data</a:t>
            </a:r>
            <a:r>
              <a:rPr sz="2206" b="1" spc="66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fetch</a:t>
            </a:r>
            <a:r>
              <a:rPr sz="2206" b="1" spc="66" dirty="0">
                <a:latin typeface="Calibri"/>
                <a:cs typeface="Calibri"/>
              </a:rPr>
              <a:t> </a:t>
            </a:r>
            <a:r>
              <a:rPr sz="2206" b="1" spc="-9" dirty="0">
                <a:latin typeface="Calibri"/>
                <a:cs typeface="Calibri"/>
              </a:rPr>
              <a:t>requests.</a:t>
            </a:r>
            <a:endParaRPr sz="2206">
              <a:latin typeface="Calibri"/>
              <a:cs typeface="Calibri"/>
            </a:endParaRPr>
          </a:p>
          <a:p>
            <a:pPr marL="278481" marR="50429" indent="-267835">
              <a:lnSpc>
                <a:spcPts val="2374"/>
              </a:lnSpc>
              <a:spcBef>
                <a:spcPts val="90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Note: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write,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bigger,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so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need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read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full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–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allocate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046730BD-ECF0-C81E-60BE-1EB448CFFF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41905" y="4618410"/>
            <a:ext cx="749112" cy="749112"/>
            <a:chOff x="3068425" y="5234198"/>
            <a:chExt cx="848994" cy="848994"/>
          </a:xfrm>
        </p:grpSpPr>
        <p:sp>
          <p:nvSpPr>
            <p:cNvPr id="3" name="object 3"/>
            <p:cNvSpPr/>
            <p:nvPr/>
          </p:nvSpPr>
          <p:spPr>
            <a:xfrm>
              <a:off x="3088640" y="5254412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89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3734485" y="5374439"/>
              <a:ext cx="163195" cy="203835"/>
            </a:xfrm>
            <a:custGeom>
              <a:avLst/>
              <a:gdLst/>
              <a:ahLst/>
              <a:cxnLst/>
              <a:rect l="l" t="t" r="r" b="b"/>
              <a:pathLst>
                <a:path w="163195" h="203835">
                  <a:moveTo>
                    <a:pt x="162721" y="0"/>
                  </a:moveTo>
                  <a:lnTo>
                    <a:pt x="0" y="81360"/>
                  </a:lnTo>
                  <a:lnTo>
                    <a:pt x="162721" y="203400"/>
                  </a:lnTo>
                  <a:lnTo>
                    <a:pt x="162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41158" y="4743107"/>
            <a:ext cx="1890993" cy="1409700"/>
            <a:chOff x="3634245" y="5375521"/>
            <a:chExt cx="2143125" cy="1597660"/>
          </a:xfrm>
        </p:grpSpPr>
        <p:sp>
          <p:nvSpPr>
            <p:cNvPr id="6" name="object 6"/>
            <p:cNvSpPr/>
            <p:nvPr/>
          </p:nvSpPr>
          <p:spPr>
            <a:xfrm>
              <a:off x="4948342" y="6143837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89" h="808990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FC01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9578" y="6548120"/>
              <a:ext cx="172590" cy="2521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47898" y="5389173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744555" y="0"/>
                  </a:moveTo>
                  <a:lnTo>
                    <a:pt x="695600" y="1519"/>
                  </a:lnTo>
                  <a:lnTo>
                    <a:pt x="647491" y="6014"/>
                  </a:lnTo>
                  <a:lnTo>
                    <a:pt x="600325" y="13390"/>
                  </a:lnTo>
                  <a:lnTo>
                    <a:pt x="554201" y="23554"/>
                  </a:lnTo>
                  <a:lnTo>
                    <a:pt x="509218" y="36412"/>
                  </a:lnTo>
                  <a:lnTo>
                    <a:pt x="465472" y="51868"/>
                  </a:lnTo>
                  <a:lnTo>
                    <a:pt x="423062" y="69830"/>
                  </a:lnTo>
                  <a:lnTo>
                    <a:pt x="382086" y="90203"/>
                  </a:lnTo>
                  <a:lnTo>
                    <a:pt x="342643" y="112893"/>
                  </a:lnTo>
                  <a:lnTo>
                    <a:pt x="304830" y="137806"/>
                  </a:lnTo>
                  <a:lnTo>
                    <a:pt x="268746" y="164847"/>
                  </a:lnTo>
                  <a:lnTo>
                    <a:pt x="234488" y="193923"/>
                  </a:lnTo>
                  <a:lnTo>
                    <a:pt x="202155" y="224939"/>
                  </a:lnTo>
                  <a:lnTo>
                    <a:pt x="171845" y="257802"/>
                  </a:lnTo>
                  <a:lnTo>
                    <a:pt x="143655" y="292417"/>
                  </a:lnTo>
                  <a:lnTo>
                    <a:pt x="117685" y="328690"/>
                  </a:lnTo>
                  <a:lnTo>
                    <a:pt x="94032" y="366527"/>
                  </a:lnTo>
                  <a:lnTo>
                    <a:pt x="72795" y="405834"/>
                  </a:lnTo>
                  <a:lnTo>
                    <a:pt x="54070" y="446516"/>
                  </a:lnTo>
                  <a:lnTo>
                    <a:pt x="37957" y="488481"/>
                  </a:lnTo>
                  <a:lnTo>
                    <a:pt x="24554" y="531633"/>
                  </a:lnTo>
                  <a:lnTo>
                    <a:pt x="13959" y="575878"/>
                  </a:lnTo>
                  <a:lnTo>
                    <a:pt x="6269" y="621123"/>
                  </a:lnTo>
                  <a:lnTo>
                    <a:pt x="1583" y="667273"/>
                  </a:lnTo>
                  <a:lnTo>
                    <a:pt x="0" y="714234"/>
                  </a:lnTo>
                  <a:lnTo>
                    <a:pt x="1583" y="761195"/>
                  </a:lnTo>
                  <a:lnTo>
                    <a:pt x="6269" y="807345"/>
                  </a:lnTo>
                  <a:lnTo>
                    <a:pt x="13959" y="852589"/>
                  </a:lnTo>
                  <a:lnTo>
                    <a:pt x="24554" y="896835"/>
                  </a:lnTo>
                  <a:lnTo>
                    <a:pt x="37957" y="939987"/>
                  </a:lnTo>
                  <a:lnTo>
                    <a:pt x="54070" y="981951"/>
                  </a:lnTo>
                  <a:lnTo>
                    <a:pt x="72795" y="1022634"/>
                  </a:lnTo>
                  <a:lnTo>
                    <a:pt x="94032" y="1061941"/>
                  </a:lnTo>
                  <a:lnTo>
                    <a:pt x="117685" y="1099778"/>
                  </a:lnTo>
                  <a:lnTo>
                    <a:pt x="143655" y="1136051"/>
                  </a:lnTo>
                  <a:lnTo>
                    <a:pt x="171845" y="1170666"/>
                  </a:lnTo>
                  <a:lnTo>
                    <a:pt x="202155" y="1203529"/>
                  </a:lnTo>
                  <a:lnTo>
                    <a:pt x="234488" y="1234545"/>
                  </a:lnTo>
                  <a:lnTo>
                    <a:pt x="268746" y="1263621"/>
                  </a:lnTo>
                  <a:lnTo>
                    <a:pt x="304830" y="1290662"/>
                  </a:lnTo>
                  <a:lnTo>
                    <a:pt x="342643" y="1315575"/>
                  </a:lnTo>
                  <a:lnTo>
                    <a:pt x="382086" y="1338264"/>
                  </a:lnTo>
                  <a:lnTo>
                    <a:pt x="423062" y="1358637"/>
                  </a:lnTo>
                  <a:lnTo>
                    <a:pt x="465472" y="1376599"/>
                  </a:lnTo>
                  <a:lnTo>
                    <a:pt x="509218" y="1392056"/>
                  </a:lnTo>
                  <a:lnTo>
                    <a:pt x="554201" y="1404913"/>
                  </a:lnTo>
                  <a:lnTo>
                    <a:pt x="600325" y="1415077"/>
                  </a:lnTo>
                  <a:lnTo>
                    <a:pt x="647491" y="1422454"/>
                  </a:lnTo>
                  <a:lnTo>
                    <a:pt x="695600" y="1426949"/>
                  </a:lnTo>
                  <a:lnTo>
                    <a:pt x="744555" y="1428468"/>
                  </a:lnTo>
                  <a:lnTo>
                    <a:pt x="793509" y="1426949"/>
                  </a:lnTo>
                  <a:lnTo>
                    <a:pt x="841618" y="1422454"/>
                  </a:lnTo>
                  <a:lnTo>
                    <a:pt x="888784" y="1415077"/>
                  </a:lnTo>
                  <a:lnTo>
                    <a:pt x="934908" y="1404913"/>
                  </a:lnTo>
                  <a:lnTo>
                    <a:pt x="979892" y="1392056"/>
                  </a:lnTo>
                  <a:lnTo>
                    <a:pt x="1023637" y="1376599"/>
                  </a:lnTo>
                  <a:lnTo>
                    <a:pt x="1066047" y="1358637"/>
                  </a:lnTo>
                  <a:lnTo>
                    <a:pt x="1107023" y="1338264"/>
                  </a:lnTo>
                  <a:lnTo>
                    <a:pt x="1146466" y="1315575"/>
                  </a:lnTo>
                  <a:lnTo>
                    <a:pt x="1184279" y="1290662"/>
                  </a:lnTo>
                  <a:lnTo>
                    <a:pt x="1220364" y="1263621"/>
                  </a:lnTo>
                  <a:lnTo>
                    <a:pt x="1254621" y="1234545"/>
                  </a:lnTo>
                  <a:lnTo>
                    <a:pt x="1286954" y="1203529"/>
                  </a:lnTo>
                  <a:lnTo>
                    <a:pt x="1317265" y="1170666"/>
                  </a:lnTo>
                  <a:lnTo>
                    <a:pt x="1345454" y="1136051"/>
                  </a:lnTo>
                  <a:lnTo>
                    <a:pt x="1371424" y="1099778"/>
                  </a:lnTo>
                  <a:lnTo>
                    <a:pt x="1395077" y="1061941"/>
                  </a:lnTo>
                  <a:lnTo>
                    <a:pt x="1416315" y="1022634"/>
                  </a:lnTo>
                  <a:lnTo>
                    <a:pt x="1435039" y="981951"/>
                  </a:lnTo>
                  <a:lnTo>
                    <a:pt x="1451152" y="939987"/>
                  </a:lnTo>
                  <a:lnTo>
                    <a:pt x="1464555" y="896835"/>
                  </a:lnTo>
                  <a:lnTo>
                    <a:pt x="1475151" y="852589"/>
                  </a:lnTo>
                  <a:lnTo>
                    <a:pt x="1482841" y="807345"/>
                  </a:lnTo>
                  <a:lnTo>
                    <a:pt x="1487526" y="761195"/>
                  </a:lnTo>
                  <a:lnTo>
                    <a:pt x="1489110" y="714234"/>
                  </a:lnTo>
                  <a:lnTo>
                    <a:pt x="1487526" y="667273"/>
                  </a:lnTo>
                  <a:lnTo>
                    <a:pt x="1482841" y="621123"/>
                  </a:lnTo>
                  <a:lnTo>
                    <a:pt x="1475151" y="575878"/>
                  </a:lnTo>
                  <a:lnTo>
                    <a:pt x="1464555" y="531633"/>
                  </a:lnTo>
                  <a:lnTo>
                    <a:pt x="1451152" y="488481"/>
                  </a:lnTo>
                  <a:lnTo>
                    <a:pt x="1435039" y="446516"/>
                  </a:lnTo>
                  <a:lnTo>
                    <a:pt x="1416315" y="405834"/>
                  </a:lnTo>
                  <a:lnTo>
                    <a:pt x="1395077" y="366527"/>
                  </a:lnTo>
                  <a:lnTo>
                    <a:pt x="1371424" y="328690"/>
                  </a:lnTo>
                  <a:lnTo>
                    <a:pt x="1345454" y="292417"/>
                  </a:lnTo>
                  <a:lnTo>
                    <a:pt x="1317265" y="257802"/>
                  </a:lnTo>
                  <a:lnTo>
                    <a:pt x="1286954" y="224939"/>
                  </a:lnTo>
                  <a:lnTo>
                    <a:pt x="1254621" y="193923"/>
                  </a:lnTo>
                  <a:lnTo>
                    <a:pt x="1220364" y="164847"/>
                  </a:lnTo>
                  <a:lnTo>
                    <a:pt x="1184279" y="137806"/>
                  </a:lnTo>
                  <a:lnTo>
                    <a:pt x="1146466" y="112893"/>
                  </a:lnTo>
                  <a:lnTo>
                    <a:pt x="1107023" y="90203"/>
                  </a:lnTo>
                  <a:lnTo>
                    <a:pt x="1066047" y="69830"/>
                  </a:lnTo>
                  <a:lnTo>
                    <a:pt x="1023637" y="51868"/>
                  </a:lnTo>
                  <a:lnTo>
                    <a:pt x="979892" y="36412"/>
                  </a:lnTo>
                  <a:lnTo>
                    <a:pt x="934908" y="23554"/>
                  </a:lnTo>
                  <a:lnTo>
                    <a:pt x="888784" y="13390"/>
                  </a:lnTo>
                  <a:lnTo>
                    <a:pt x="841618" y="6014"/>
                  </a:lnTo>
                  <a:lnTo>
                    <a:pt x="793509" y="1519"/>
                  </a:lnTo>
                  <a:lnTo>
                    <a:pt x="744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647898" y="5389173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8900" y="1215165"/>
            <a:ext cx="2235013" cy="2020817"/>
          </a:xfrm>
          <a:prstGeom prst="rect">
            <a:avLst/>
          </a:prstGeom>
        </p:spPr>
        <p:txBody>
          <a:bodyPr vert="horz" wrap="square" lIns="0" tIns="40901" rIns="0" bIns="0" rtlCol="0">
            <a:spAutoFit/>
          </a:bodyPr>
          <a:lstStyle/>
          <a:p>
            <a:pPr marL="278481" marR="4483" indent="-267835">
              <a:lnSpc>
                <a:spcPct val="91200"/>
              </a:lnSpc>
              <a:spcBef>
                <a:spcPts val="32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State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machine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i="1" u="heavy" dirty="0">
                <a:solidFill>
                  <a:srgbClr val="7B00E4"/>
                </a:solidFill>
                <a:uFill>
                  <a:solidFill>
                    <a:srgbClr val="7B00E4"/>
                  </a:solidFill>
                </a:uFill>
                <a:latin typeface="Calibri"/>
                <a:cs typeface="Calibri"/>
              </a:rPr>
              <a:t>CPU</a:t>
            </a:r>
            <a:r>
              <a:rPr sz="2206" i="1" spc="35" dirty="0">
                <a:solidFill>
                  <a:srgbClr val="7B00E4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requests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each</a:t>
            </a:r>
            <a:r>
              <a:rPr sz="2206" spc="552" dirty="0">
                <a:latin typeface="Calibri"/>
                <a:cs typeface="Calibri"/>
              </a:rPr>
              <a:t> </a:t>
            </a:r>
            <a:r>
              <a:rPr sz="2206" u="heavy" dirty="0">
                <a:solidFill>
                  <a:srgbClr val="7B00E4"/>
                </a:solidFill>
                <a:uFill>
                  <a:solidFill>
                    <a:srgbClr val="7B00E4"/>
                  </a:solidFill>
                </a:uFill>
                <a:latin typeface="Calibri"/>
                <a:cs typeface="Calibri"/>
              </a:rPr>
              <a:t>memory</a:t>
            </a:r>
            <a:r>
              <a:rPr sz="2206" u="heavy" spc="84" dirty="0">
                <a:solidFill>
                  <a:srgbClr val="7B00E4"/>
                </a:solidFill>
                <a:uFill>
                  <a:solidFill>
                    <a:srgbClr val="7B00E4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18" dirty="0">
                <a:solidFill>
                  <a:srgbClr val="7B00E4"/>
                </a:solidFill>
                <a:uFill>
                  <a:solidFill>
                    <a:srgbClr val="7B00E4"/>
                  </a:solidFill>
                </a:uFill>
                <a:latin typeface="Calibri"/>
                <a:cs typeface="Calibri"/>
              </a:rPr>
              <a:t>block</a:t>
            </a:r>
            <a:endParaRPr sz="2206">
              <a:latin typeface="Calibri"/>
              <a:cs typeface="Calibri"/>
            </a:endParaRPr>
          </a:p>
          <a:p>
            <a:pPr marL="278481" marR="478517" indent="-267835">
              <a:lnSpc>
                <a:spcPts val="2480"/>
              </a:lnSpc>
              <a:spcBef>
                <a:spcPts val="750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Invalid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state </a:t>
            </a:r>
            <a:r>
              <a:rPr sz="2206" dirty="0">
                <a:latin typeface="Calibri"/>
                <a:cs typeface="Calibri"/>
              </a:rPr>
              <a:t>if</a:t>
            </a:r>
            <a:r>
              <a:rPr sz="2206" spc="1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2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memory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261" y="3729765"/>
            <a:ext cx="3240741" cy="78786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1601406" algn="r">
              <a:lnSpc>
                <a:spcPct val="101099"/>
              </a:lnSpc>
              <a:spcBef>
                <a:spcPts val="66"/>
              </a:spcBef>
            </a:pPr>
            <a:r>
              <a:rPr sz="1677" b="1" spc="-9" dirty="0">
                <a:solidFill>
                  <a:srgbClr val="0B52FC"/>
                </a:solidFill>
                <a:latin typeface="Arial"/>
                <a:cs typeface="Arial"/>
              </a:rPr>
              <a:t>Fetch/Invalidate </a:t>
            </a:r>
            <a:r>
              <a:rPr sz="1677" b="1" dirty="0">
                <a:solidFill>
                  <a:srgbClr val="0B52FC"/>
                </a:solidFill>
                <a:latin typeface="Arial"/>
                <a:cs typeface="Arial"/>
              </a:rPr>
              <a:t>send</a:t>
            </a:r>
            <a:r>
              <a:rPr sz="1677" b="1" spc="-26" dirty="0">
                <a:solidFill>
                  <a:srgbClr val="0B52FC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B52FC"/>
                </a:solidFill>
                <a:latin typeface="Arial"/>
                <a:cs typeface="Arial"/>
              </a:rPr>
              <a:t>Data</a:t>
            </a:r>
            <a:r>
              <a:rPr sz="1677" b="1" spc="-26" dirty="0">
                <a:solidFill>
                  <a:srgbClr val="0B52FC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B52FC"/>
                </a:solidFill>
                <a:latin typeface="Arial"/>
                <a:cs typeface="Arial"/>
              </a:rPr>
              <a:t>Write</a:t>
            </a:r>
            <a:r>
              <a:rPr sz="1677" b="1" spc="-31" dirty="0">
                <a:solidFill>
                  <a:srgbClr val="0B52FC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B52FC"/>
                </a:solidFill>
                <a:latin typeface="Arial"/>
                <a:cs typeface="Arial"/>
              </a:rPr>
              <a:t>Back</a:t>
            </a:r>
            <a:r>
              <a:rPr sz="1677" b="1" spc="-26" dirty="0">
                <a:solidFill>
                  <a:srgbClr val="0B52FC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B52FC"/>
                </a:solidFill>
                <a:latin typeface="Arial"/>
                <a:cs typeface="Arial"/>
              </a:rPr>
              <a:t>message</a:t>
            </a:r>
            <a:endParaRPr sz="1677">
              <a:latin typeface="Arial"/>
              <a:cs typeface="Arial"/>
            </a:endParaRPr>
          </a:p>
          <a:p>
            <a:pPr marR="4483" algn="r">
              <a:spcBef>
                <a:spcPts val="18"/>
              </a:spcBef>
            </a:pPr>
            <a:r>
              <a:rPr sz="1677" b="1" dirty="0">
                <a:solidFill>
                  <a:srgbClr val="0B52FC"/>
                </a:solidFill>
                <a:latin typeface="Arial"/>
                <a:cs typeface="Arial"/>
              </a:rPr>
              <a:t>to</a:t>
            </a:r>
            <a:r>
              <a:rPr sz="1677" b="1" spc="-13" dirty="0">
                <a:solidFill>
                  <a:srgbClr val="0B52FC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B52FC"/>
                </a:solidFill>
                <a:latin typeface="Arial"/>
                <a:cs typeface="Arial"/>
              </a:rPr>
              <a:t>home</a:t>
            </a:r>
            <a:r>
              <a:rPr sz="1677" b="1" spc="-13" dirty="0">
                <a:solidFill>
                  <a:srgbClr val="0B52FC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B52FC"/>
                </a:solidFill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4388" y="1562099"/>
            <a:ext cx="1009090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solidFill>
                  <a:srgbClr val="0B52FC"/>
                </a:solidFill>
                <a:latin typeface="Arial"/>
                <a:cs typeface="Arial"/>
              </a:rPr>
              <a:t>Invalidate</a:t>
            </a:r>
            <a:endParaRPr sz="167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5211" y="1970891"/>
            <a:ext cx="64041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Arial MT"/>
                <a:cs typeface="Arial MT"/>
              </a:rPr>
              <a:t>Invalid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69079" y="5012616"/>
            <a:ext cx="1104340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8909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Arial MT"/>
                <a:cs typeface="Arial MT"/>
              </a:rPr>
              <a:t>Exclusive (read/write)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3236" y="669215"/>
            <a:ext cx="137720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CPU</a:t>
            </a:r>
            <a:r>
              <a:rPr sz="1677" b="1" spc="-18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Read</a:t>
            </a:r>
            <a:r>
              <a:rPr sz="1677" b="1" spc="-18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spc="-22" dirty="0">
                <a:solidFill>
                  <a:srgbClr val="7B00E4"/>
                </a:solidFill>
                <a:latin typeface="Arial"/>
                <a:cs typeface="Arial"/>
              </a:rPr>
              <a:t>hit</a:t>
            </a:r>
            <a:endParaRPr sz="1677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48270" y="2433497"/>
            <a:ext cx="1576107" cy="602876"/>
          </a:xfrm>
          <a:custGeom>
            <a:avLst/>
            <a:gdLst/>
            <a:ahLst/>
            <a:cxnLst/>
            <a:rect l="l" t="t" r="r" b="b"/>
            <a:pathLst>
              <a:path w="1786254" h="683260">
                <a:moveTo>
                  <a:pt x="1786011" y="0"/>
                </a:moveTo>
                <a:lnTo>
                  <a:pt x="0" y="0"/>
                </a:lnTo>
                <a:lnTo>
                  <a:pt x="0" y="683107"/>
                </a:lnTo>
                <a:lnTo>
                  <a:pt x="1786011" y="683107"/>
                </a:lnTo>
                <a:lnTo>
                  <a:pt x="17860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4786716" y="2172595"/>
            <a:ext cx="1680882" cy="811969"/>
          </a:xfrm>
          <a:prstGeom prst="rect">
            <a:avLst/>
          </a:prstGeom>
        </p:spPr>
        <p:txBody>
          <a:bodyPr vert="horz" wrap="square" lIns="0" tIns="24653" rIns="0" bIns="0" rtlCol="0">
            <a:spAutoFit/>
          </a:bodyPr>
          <a:lstStyle/>
          <a:p>
            <a:pPr marL="11206">
              <a:spcBef>
                <a:spcPts val="194"/>
              </a:spcBef>
            </a:pP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CPU </a:t>
            </a:r>
            <a:r>
              <a:rPr sz="1677" b="1" spc="-18" dirty="0">
                <a:solidFill>
                  <a:srgbClr val="7B00E4"/>
                </a:solidFill>
                <a:latin typeface="Arial"/>
                <a:cs typeface="Arial"/>
              </a:rPr>
              <a:t>Read</a:t>
            </a:r>
            <a:endParaRPr sz="1677">
              <a:latin typeface="Arial"/>
              <a:cs typeface="Arial"/>
            </a:endParaRPr>
          </a:p>
          <a:p>
            <a:pPr marL="391666" marR="4483" indent="-363090">
              <a:spcBef>
                <a:spcPts val="106"/>
              </a:spcBef>
            </a:pPr>
            <a:r>
              <a:rPr sz="1677" b="1" dirty="0">
                <a:latin typeface="Arial"/>
                <a:cs typeface="Arial"/>
              </a:rPr>
              <a:t>Send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Read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Miss </a:t>
            </a:r>
            <a:r>
              <a:rPr sz="1677" b="1" spc="-9" dirty="0">
                <a:latin typeface="Arial"/>
                <a:cs typeface="Arial"/>
              </a:rPr>
              <a:t>message</a:t>
            </a:r>
            <a:endParaRPr sz="1677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19767" y="3025140"/>
            <a:ext cx="1670797" cy="7838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>
              <a:lnSpc>
                <a:spcPct val="100499"/>
              </a:lnSpc>
              <a:spcBef>
                <a:spcPts val="75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CPU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Write: </a:t>
            </a:r>
            <a:r>
              <a:rPr sz="1677" b="1" dirty="0">
                <a:latin typeface="Arial"/>
                <a:cs typeface="Arial"/>
              </a:rPr>
              <a:t>Send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Write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Miss </a:t>
            </a:r>
            <a:r>
              <a:rPr sz="1677" b="1" dirty="0">
                <a:latin typeface="Arial"/>
                <a:cs typeface="Arial"/>
              </a:rPr>
              <a:t>msg</a:t>
            </a:r>
            <a:r>
              <a:rPr sz="1677" b="1" spc="-22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to</a:t>
            </a:r>
            <a:r>
              <a:rPr sz="1677" b="1" spc="-18" dirty="0">
                <a:latin typeface="Arial"/>
                <a:cs typeface="Arial"/>
              </a:rPr>
              <a:t> h.d.</a:t>
            </a:r>
            <a:endParaRPr sz="1677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2111" y="3302149"/>
            <a:ext cx="2063003" cy="78386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>
              <a:lnSpc>
                <a:spcPct val="100499"/>
              </a:lnSpc>
              <a:spcBef>
                <a:spcPts val="75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CPU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Write: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Send </a:t>
            </a:r>
            <a:r>
              <a:rPr sz="1677" b="1" dirty="0">
                <a:latin typeface="Arial"/>
                <a:cs typeface="Arial"/>
              </a:rPr>
              <a:t>Write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Miss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message </a:t>
            </a:r>
            <a:r>
              <a:rPr sz="1677" b="1" dirty="0">
                <a:latin typeface="Arial"/>
                <a:cs typeface="Arial"/>
              </a:rPr>
              <a:t>to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home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50788" y="5520913"/>
            <a:ext cx="1353671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CPU</a:t>
            </a:r>
            <a:r>
              <a:rPr sz="1677" b="1" spc="-13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read</a:t>
            </a:r>
            <a:r>
              <a:rPr sz="1677" b="1" spc="-13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spc="-22" dirty="0">
                <a:solidFill>
                  <a:srgbClr val="7B00E4"/>
                </a:solidFill>
                <a:latin typeface="Arial"/>
                <a:cs typeface="Arial"/>
              </a:rPr>
              <a:t>hit </a:t>
            </a:r>
            <a:r>
              <a:rPr sz="1677" b="1" dirty="0">
                <a:solidFill>
                  <a:srgbClr val="FC0128"/>
                </a:solidFill>
                <a:latin typeface="Arial"/>
                <a:cs typeface="Arial"/>
              </a:rPr>
              <a:t>CPU</a:t>
            </a:r>
            <a:r>
              <a:rPr sz="1677" b="1" spc="-4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C0128"/>
                </a:solidFill>
                <a:latin typeface="Arial"/>
                <a:cs typeface="Arial"/>
              </a:rPr>
              <a:t>write</a:t>
            </a:r>
            <a:r>
              <a:rPr sz="1677" b="1" spc="-4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b="1" spc="-22" dirty="0">
                <a:solidFill>
                  <a:srgbClr val="FC0128"/>
                </a:solidFill>
                <a:latin typeface="Arial"/>
                <a:cs typeface="Arial"/>
              </a:rPr>
              <a:t>hit</a:t>
            </a:r>
            <a:endParaRPr sz="1677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41157" y="1479115"/>
            <a:ext cx="3632386" cy="3602691"/>
            <a:chOff x="3634245" y="1676330"/>
            <a:chExt cx="4116704" cy="4083050"/>
          </a:xfrm>
        </p:grpSpPr>
        <p:sp>
          <p:nvSpPr>
            <p:cNvPr id="22" name="object 22"/>
            <p:cNvSpPr/>
            <p:nvPr/>
          </p:nvSpPr>
          <p:spPr>
            <a:xfrm>
              <a:off x="5163960" y="2424431"/>
              <a:ext cx="2096135" cy="121285"/>
            </a:xfrm>
            <a:custGeom>
              <a:avLst/>
              <a:gdLst/>
              <a:ahLst/>
              <a:cxnLst/>
              <a:rect l="l" t="t" r="r" b="b"/>
              <a:pathLst>
                <a:path w="2096134" h="121285">
                  <a:moveTo>
                    <a:pt x="1974250" y="0"/>
                  </a:moveTo>
                  <a:lnTo>
                    <a:pt x="1974250" y="121285"/>
                  </a:lnTo>
                  <a:lnTo>
                    <a:pt x="2055106" y="80857"/>
                  </a:lnTo>
                  <a:lnTo>
                    <a:pt x="1994463" y="80857"/>
                  </a:lnTo>
                  <a:lnTo>
                    <a:pt x="1994463" y="40427"/>
                  </a:lnTo>
                  <a:lnTo>
                    <a:pt x="2055106" y="40427"/>
                  </a:lnTo>
                  <a:lnTo>
                    <a:pt x="1974250" y="0"/>
                  </a:lnTo>
                  <a:close/>
                </a:path>
                <a:path w="2096134" h="121285">
                  <a:moveTo>
                    <a:pt x="1974250" y="40427"/>
                  </a:moveTo>
                  <a:lnTo>
                    <a:pt x="0" y="40427"/>
                  </a:lnTo>
                  <a:lnTo>
                    <a:pt x="0" y="80857"/>
                  </a:lnTo>
                  <a:lnTo>
                    <a:pt x="1974250" y="80857"/>
                  </a:lnTo>
                  <a:lnTo>
                    <a:pt x="1974250" y="40427"/>
                  </a:lnTo>
                  <a:close/>
                </a:path>
                <a:path w="2096134" h="121285">
                  <a:moveTo>
                    <a:pt x="2055106" y="40427"/>
                  </a:moveTo>
                  <a:lnTo>
                    <a:pt x="1994463" y="40427"/>
                  </a:lnTo>
                  <a:lnTo>
                    <a:pt x="1994463" y="80857"/>
                  </a:lnTo>
                  <a:lnTo>
                    <a:pt x="2055106" y="80857"/>
                  </a:lnTo>
                  <a:lnTo>
                    <a:pt x="2095535" y="60642"/>
                  </a:lnTo>
                  <a:lnTo>
                    <a:pt x="2055106" y="40427"/>
                  </a:lnTo>
                  <a:close/>
                </a:path>
              </a:pathLst>
            </a:custGeom>
            <a:solidFill>
              <a:srgbClr val="7B00E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1491" y="3125188"/>
              <a:ext cx="121285" cy="2217420"/>
            </a:xfrm>
            <a:custGeom>
              <a:avLst/>
              <a:gdLst/>
              <a:ahLst/>
              <a:cxnLst/>
              <a:rect l="l" t="t" r="r" b="b"/>
              <a:pathLst>
                <a:path w="121285" h="2217420">
                  <a:moveTo>
                    <a:pt x="40427" y="2095535"/>
                  </a:moveTo>
                  <a:lnTo>
                    <a:pt x="0" y="2095535"/>
                  </a:lnTo>
                  <a:lnTo>
                    <a:pt x="60642" y="2216820"/>
                  </a:lnTo>
                  <a:lnTo>
                    <a:pt x="111178" y="2115748"/>
                  </a:lnTo>
                  <a:lnTo>
                    <a:pt x="40427" y="2115748"/>
                  </a:lnTo>
                  <a:lnTo>
                    <a:pt x="40427" y="2095535"/>
                  </a:lnTo>
                  <a:close/>
                </a:path>
                <a:path w="121285" h="2217420">
                  <a:moveTo>
                    <a:pt x="80855" y="0"/>
                  </a:moveTo>
                  <a:lnTo>
                    <a:pt x="40426" y="0"/>
                  </a:lnTo>
                  <a:lnTo>
                    <a:pt x="40427" y="2115748"/>
                  </a:lnTo>
                  <a:lnTo>
                    <a:pt x="80855" y="2115748"/>
                  </a:lnTo>
                  <a:lnTo>
                    <a:pt x="80855" y="0"/>
                  </a:lnTo>
                  <a:close/>
                </a:path>
                <a:path w="121285" h="2217420">
                  <a:moveTo>
                    <a:pt x="121284" y="2095535"/>
                  </a:moveTo>
                  <a:lnTo>
                    <a:pt x="80855" y="2095535"/>
                  </a:lnTo>
                  <a:lnTo>
                    <a:pt x="80855" y="2115748"/>
                  </a:lnTo>
                  <a:lnTo>
                    <a:pt x="111178" y="2115748"/>
                  </a:lnTo>
                  <a:lnTo>
                    <a:pt x="121284" y="20955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038701" y="2202078"/>
              <a:ext cx="3221355" cy="3221355"/>
            </a:xfrm>
            <a:custGeom>
              <a:avLst/>
              <a:gdLst/>
              <a:ahLst/>
              <a:cxnLst/>
              <a:rect l="l" t="t" r="r" b="b"/>
              <a:pathLst>
                <a:path w="3221354" h="3221354">
                  <a:moveTo>
                    <a:pt x="121285" y="983754"/>
                  </a:moveTo>
                  <a:lnTo>
                    <a:pt x="111175" y="963549"/>
                  </a:lnTo>
                  <a:lnTo>
                    <a:pt x="60642" y="862469"/>
                  </a:lnTo>
                  <a:lnTo>
                    <a:pt x="0" y="983754"/>
                  </a:lnTo>
                  <a:lnTo>
                    <a:pt x="40424" y="983754"/>
                  </a:lnTo>
                  <a:lnTo>
                    <a:pt x="40424" y="3220796"/>
                  </a:lnTo>
                  <a:lnTo>
                    <a:pt x="80860" y="3220796"/>
                  </a:lnTo>
                  <a:lnTo>
                    <a:pt x="80860" y="983754"/>
                  </a:lnTo>
                  <a:lnTo>
                    <a:pt x="121285" y="983754"/>
                  </a:lnTo>
                  <a:close/>
                </a:path>
                <a:path w="3221354" h="3221354">
                  <a:moveTo>
                    <a:pt x="3220783" y="40436"/>
                  </a:moveTo>
                  <a:lnTo>
                    <a:pt x="1246543" y="40436"/>
                  </a:lnTo>
                  <a:lnTo>
                    <a:pt x="1246543" y="0"/>
                  </a:lnTo>
                  <a:lnTo>
                    <a:pt x="1125258" y="60642"/>
                  </a:lnTo>
                  <a:lnTo>
                    <a:pt x="1246543" y="121285"/>
                  </a:lnTo>
                  <a:lnTo>
                    <a:pt x="1246543" y="80860"/>
                  </a:lnTo>
                  <a:lnTo>
                    <a:pt x="3220783" y="80860"/>
                  </a:lnTo>
                  <a:lnTo>
                    <a:pt x="3220783" y="40436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3647898" y="1689982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705772" y="3068906"/>
              <a:ext cx="3044825" cy="2414905"/>
            </a:xfrm>
            <a:custGeom>
              <a:avLst/>
              <a:gdLst/>
              <a:ahLst/>
              <a:cxnLst/>
              <a:rect l="l" t="t" r="r" b="b"/>
              <a:pathLst>
                <a:path w="3044825" h="2414904">
                  <a:moveTo>
                    <a:pt x="57494" y="2291791"/>
                  </a:moveTo>
                  <a:lnTo>
                    <a:pt x="0" y="2414600"/>
                  </a:lnTo>
                  <a:lnTo>
                    <a:pt x="132744" y="2386910"/>
                  </a:lnTo>
                  <a:lnTo>
                    <a:pt x="117585" y="2367748"/>
                  </a:lnTo>
                  <a:lnTo>
                    <a:pt x="91803" y="2367748"/>
                  </a:lnTo>
                  <a:lnTo>
                    <a:pt x="66720" y="2336043"/>
                  </a:lnTo>
                  <a:lnTo>
                    <a:pt x="82578" y="2323498"/>
                  </a:lnTo>
                  <a:lnTo>
                    <a:pt x="57494" y="2291791"/>
                  </a:lnTo>
                  <a:close/>
                </a:path>
                <a:path w="3044825" h="2414904">
                  <a:moveTo>
                    <a:pt x="82578" y="2323498"/>
                  </a:moveTo>
                  <a:lnTo>
                    <a:pt x="66720" y="2336043"/>
                  </a:lnTo>
                  <a:lnTo>
                    <a:pt x="91803" y="2367748"/>
                  </a:lnTo>
                  <a:lnTo>
                    <a:pt x="107660" y="2355203"/>
                  </a:lnTo>
                  <a:lnTo>
                    <a:pt x="82578" y="2323498"/>
                  </a:lnTo>
                  <a:close/>
                </a:path>
                <a:path w="3044825" h="2414904">
                  <a:moveTo>
                    <a:pt x="107660" y="2355203"/>
                  </a:moveTo>
                  <a:lnTo>
                    <a:pt x="91803" y="2367748"/>
                  </a:lnTo>
                  <a:lnTo>
                    <a:pt x="117585" y="2367748"/>
                  </a:lnTo>
                  <a:lnTo>
                    <a:pt x="107660" y="2355203"/>
                  </a:lnTo>
                  <a:close/>
                </a:path>
                <a:path w="3044825" h="2414904">
                  <a:moveTo>
                    <a:pt x="3019583" y="0"/>
                  </a:moveTo>
                  <a:lnTo>
                    <a:pt x="82578" y="2323498"/>
                  </a:lnTo>
                  <a:lnTo>
                    <a:pt x="107660" y="2355203"/>
                  </a:lnTo>
                  <a:lnTo>
                    <a:pt x="3044666" y="31705"/>
                  </a:lnTo>
                  <a:lnTo>
                    <a:pt x="301958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074212" y="2862403"/>
              <a:ext cx="2381250" cy="2896870"/>
            </a:xfrm>
            <a:custGeom>
              <a:avLst/>
              <a:gdLst/>
              <a:ahLst/>
              <a:cxnLst/>
              <a:rect l="l" t="t" r="r" b="b"/>
              <a:pathLst>
                <a:path w="2381250" h="2896870">
                  <a:moveTo>
                    <a:pt x="2288147" y="80963"/>
                  </a:moveTo>
                  <a:lnTo>
                    <a:pt x="0" y="2871069"/>
                  </a:lnTo>
                  <a:lnTo>
                    <a:pt x="31259" y="2896706"/>
                  </a:lnTo>
                  <a:lnTo>
                    <a:pt x="2319407" y="106599"/>
                  </a:lnTo>
                  <a:lnTo>
                    <a:pt x="2288147" y="80963"/>
                  </a:lnTo>
                  <a:close/>
                </a:path>
                <a:path w="2381250" h="2896870">
                  <a:moveTo>
                    <a:pt x="2365857" y="65327"/>
                  </a:moveTo>
                  <a:lnTo>
                    <a:pt x="2300970" y="65327"/>
                  </a:lnTo>
                  <a:lnTo>
                    <a:pt x="2332230" y="90963"/>
                  </a:lnTo>
                  <a:lnTo>
                    <a:pt x="2319407" y="106599"/>
                  </a:lnTo>
                  <a:lnTo>
                    <a:pt x="2350668" y="132236"/>
                  </a:lnTo>
                  <a:lnTo>
                    <a:pt x="2365857" y="65327"/>
                  </a:lnTo>
                  <a:close/>
                </a:path>
                <a:path w="2381250" h="2896870">
                  <a:moveTo>
                    <a:pt x="2300970" y="65327"/>
                  </a:moveTo>
                  <a:lnTo>
                    <a:pt x="2288147" y="80963"/>
                  </a:lnTo>
                  <a:lnTo>
                    <a:pt x="2319407" y="106599"/>
                  </a:lnTo>
                  <a:lnTo>
                    <a:pt x="2332230" y="90963"/>
                  </a:lnTo>
                  <a:lnTo>
                    <a:pt x="2300970" y="65327"/>
                  </a:lnTo>
                  <a:close/>
                </a:path>
                <a:path w="2381250" h="2896870">
                  <a:moveTo>
                    <a:pt x="2380687" y="0"/>
                  </a:moveTo>
                  <a:lnTo>
                    <a:pt x="2256886" y="55327"/>
                  </a:lnTo>
                  <a:lnTo>
                    <a:pt x="2288147" y="80963"/>
                  </a:lnTo>
                  <a:lnTo>
                    <a:pt x="2300970" y="65327"/>
                  </a:lnTo>
                  <a:lnTo>
                    <a:pt x="2365857" y="65327"/>
                  </a:lnTo>
                  <a:lnTo>
                    <a:pt x="2380687" y="0"/>
                  </a:lnTo>
                  <a:close/>
                </a:path>
              </a:pathLst>
            </a:custGeom>
            <a:solidFill>
              <a:srgbClr val="7B00E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099454" y="2775025"/>
            <a:ext cx="1662953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29697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CPU</a:t>
            </a:r>
            <a:r>
              <a:rPr sz="1677" b="1" spc="-13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read</a:t>
            </a:r>
            <a:r>
              <a:rPr sz="1677" b="1" spc="-13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7B00E4"/>
                </a:solidFill>
                <a:latin typeface="Arial"/>
                <a:cs typeface="Arial"/>
              </a:rPr>
              <a:t>miss: </a:t>
            </a:r>
            <a:r>
              <a:rPr sz="1677" b="1" dirty="0">
                <a:latin typeface="Arial"/>
                <a:cs typeface="Arial"/>
              </a:rPr>
              <a:t>Send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Read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Miss</a:t>
            </a:r>
            <a:endParaRPr sz="167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36836" y="4157383"/>
            <a:ext cx="3675529" cy="218568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439294" marR="344039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Fetch:</a:t>
            </a:r>
            <a:r>
              <a:rPr sz="1677" b="1" spc="-35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send</a:t>
            </a:r>
            <a:r>
              <a:rPr sz="1677" b="1" spc="-31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Data</a:t>
            </a:r>
            <a:r>
              <a:rPr sz="1677" b="1" spc="-31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Write</a:t>
            </a:r>
            <a:r>
              <a:rPr sz="1677" b="1" spc="-35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114FFB"/>
                </a:solidFill>
                <a:latin typeface="Arial"/>
                <a:cs typeface="Arial"/>
              </a:rPr>
              <a:t>Back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message</a:t>
            </a:r>
            <a:r>
              <a:rPr sz="1677" b="1" spc="-35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to</a:t>
            </a:r>
            <a:r>
              <a:rPr sz="1677" b="1" spc="-26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114FFB"/>
                </a:solidFill>
                <a:latin typeface="Arial"/>
                <a:cs typeface="Arial"/>
              </a:rPr>
              <a:t>home</a:t>
            </a:r>
            <a:r>
              <a:rPr sz="1677" b="1" spc="-35" dirty="0">
                <a:solidFill>
                  <a:srgbClr val="114FFB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114FFB"/>
                </a:solidFill>
                <a:latin typeface="Arial"/>
                <a:cs typeface="Arial"/>
              </a:rPr>
              <a:t>directory</a:t>
            </a:r>
            <a:endParaRPr sz="1677" dirty="0">
              <a:latin typeface="Arial"/>
              <a:cs typeface="Arial"/>
            </a:endParaRPr>
          </a:p>
          <a:p>
            <a:pPr marL="11206">
              <a:lnSpc>
                <a:spcPts val="1906"/>
              </a:lnSpc>
            </a:pP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CPU</a:t>
            </a:r>
            <a:r>
              <a:rPr sz="1677" b="1" spc="-18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read</a:t>
            </a:r>
            <a:r>
              <a:rPr sz="1677" b="1" spc="-13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7B00E4"/>
                </a:solidFill>
                <a:latin typeface="Arial"/>
                <a:cs typeface="Arial"/>
              </a:rPr>
              <a:t>miss:</a:t>
            </a:r>
            <a:r>
              <a:rPr sz="1677" b="1" spc="-13" dirty="0">
                <a:solidFill>
                  <a:srgbClr val="7B00E4"/>
                </a:solidFill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send</a:t>
            </a:r>
            <a:r>
              <a:rPr sz="1677" b="1" spc="-9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Data</a:t>
            </a:r>
            <a:endParaRPr sz="1677" dirty="0">
              <a:latin typeface="Arial"/>
              <a:cs typeface="Arial"/>
            </a:endParaRPr>
          </a:p>
          <a:p>
            <a:pPr marL="11206" marR="791738">
              <a:lnSpc>
                <a:spcPts val="2030"/>
              </a:lnSpc>
              <a:spcBef>
                <a:spcPts val="53"/>
              </a:spcBef>
            </a:pPr>
            <a:r>
              <a:rPr sz="1677" b="1" dirty="0">
                <a:latin typeface="Arial"/>
                <a:cs typeface="Arial"/>
              </a:rPr>
              <a:t>Write</a:t>
            </a:r>
            <a:r>
              <a:rPr sz="1677" b="1" spc="-40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Back</a:t>
            </a:r>
            <a:r>
              <a:rPr sz="1677" b="1" spc="-35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message</a:t>
            </a:r>
            <a:r>
              <a:rPr sz="1677" b="1" spc="-35" dirty="0">
                <a:latin typeface="Arial"/>
                <a:cs typeface="Arial"/>
              </a:rPr>
              <a:t> </a:t>
            </a:r>
            <a:r>
              <a:rPr sz="1677" b="1" spc="-22" dirty="0">
                <a:latin typeface="Arial"/>
                <a:cs typeface="Arial"/>
              </a:rPr>
              <a:t>and </a:t>
            </a:r>
            <a:r>
              <a:rPr sz="1677" b="1" dirty="0">
                <a:latin typeface="Arial"/>
                <a:cs typeface="Arial"/>
              </a:rPr>
              <a:t>read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miss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to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home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directory</a:t>
            </a:r>
            <a:endParaRPr sz="1677" dirty="0">
              <a:latin typeface="Arial"/>
              <a:cs typeface="Arial"/>
            </a:endParaRPr>
          </a:p>
          <a:p>
            <a:pPr marL="290248">
              <a:spcBef>
                <a:spcPts val="843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CPU</a:t>
            </a:r>
            <a:r>
              <a:rPr sz="1677" b="1" spc="-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1677" b="1" spc="-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miss:</a:t>
            </a:r>
            <a:endParaRPr sz="1677" dirty="0">
              <a:latin typeface="Arial"/>
              <a:cs typeface="Arial"/>
            </a:endParaRPr>
          </a:p>
          <a:p>
            <a:pPr marL="290248" marR="4483">
              <a:lnSpc>
                <a:spcPts val="2030"/>
              </a:lnSpc>
              <a:spcBef>
                <a:spcPts val="75"/>
              </a:spcBef>
            </a:pPr>
            <a:r>
              <a:rPr sz="1677" b="1" dirty="0">
                <a:latin typeface="Arial"/>
                <a:cs typeface="Arial"/>
              </a:rPr>
              <a:t>send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Data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Write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Back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message </a:t>
            </a:r>
            <a:r>
              <a:rPr sz="1677" b="1" dirty="0">
                <a:latin typeface="Arial"/>
                <a:cs typeface="Arial"/>
              </a:rPr>
              <a:t>and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Write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Miss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to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home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directory</a:t>
            </a:r>
            <a:endParaRPr sz="1677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88044" y="979860"/>
            <a:ext cx="3883399" cy="3954556"/>
            <a:chOff x="4934050" y="1110508"/>
            <a:chExt cx="4401185" cy="4481830"/>
          </a:xfrm>
        </p:grpSpPr>
        <p:sp>
          <p:nvSpPr>
            <p:cNvPr id="31" name="object 31"/>
            <p:cNvSpPr/>
            <p:nvPr/>
          </p:nvSpPr>
          <p:spPr>
            <a:xfrm>
              <a:off x="4934050" y="2990427"/>
              <a:ext cx="2602230" cy="2602230"/>
            </a:xfrm>
            <a:custGeom>
              <a:avLst/>
              <a:gdLst/>
              <a:ahLst/>
              <a:cxnLst/>
              <a:rect l="l" t="t" r="r" b="b"/>
              <a:pathLst>
                <a:path w="2602229" h="2602229">
                  <a:moveTo>
                    <a:pt x="2501651" y="71467"/>
                  </a:moveTo>
                  <a:lnTo>
                    <a:pt x="0" y="2573119"/>
                  </a:lnTo>
                  <a:lnTo>
                    <a:pt x="28586" y="2601706"/>
                  </a:lnTo>
                  <a:lnTo>
                    <a:pt x="2530238" y="100055"/>
                  </a:lnTo>
                  <a:lnTo>
                    <a:pt x="2501651" y="71467"/>
                  </a:lnTo>
                  <a:close/>
                </a:path>
                <a:path w="2602229" h="2602229">
                  <a:moveTo>
                    <a:pt x="2582647" y="57176"/>
                  </a:moveTo>
                  <a:lnTo>
                    <a:pt x="2515942" y="57176"/>
                  </a:lnTo>
                  <a:lnTo>
                    <a:pt x="2544530" y="85763"/>
                  </a:lnTo>
                  <a:lnTo>
                    <a:pt x="2530238" y="100055"/>
                  </a:lnTo>
                  <a:lnTo>
                    <a:pt x="2558825" y="128642"/>
                  </a:lnTo>
                  <a:lnTo>
                    <a:pt x="2582647" y="57176"/>
                  </a:lnTo>
                  <a:close/>
                </a:path>
                <a:path w="2602229" h="2602229">
                  <a:moveTo>
                    <a:pt x="2515942" y="57176"/>
                  </a:moveTo>
                  <a:lnTo>
                    <a:pt x="2501651" y="71467"/>
                  </a:lnTo>
                  <a:lnTo>
                    <a:pt x="2530238" y="100055"/>
                  </a:lnTo>
                  <a:lnTo>
                    <a:pt x="2544530" y="85763"/>
                  </a:lnTo>
                  <a:lnTo>
                    <a:pt x="2515942" y="57176"/>
                  </a:lnTo>
                  <a:close/>
                </a:path>
                <a:path w="2602229" h="2602229">
                  <a:moveTo>
                    <a:pt x="2601706" y="0"/>
                  </a:moveTo>
                  <a:lnTo>
                    <a:pt x="2473063" y="42880"/>
                  </a:lnTo>
                  <a:lnTo>
                    <a:pt x="2501651" y="71467"/>
                  </a:lnTo>
                  <a:lnTo>
                    <a:pt x="2515942" y="57176"/>
                  </a:lnTo>
                  <a:lnTo>
                    <a:pt x="2582647" y="57176"/>
                  </a:lnTo>
                  <a:lnTo>
                    <a:pt x="2601706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8506035" y="2343572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7B00E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7271" y="2747857"/>
              <a:ext cx="172591" cy="25215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020895" y="1130722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404284" y="0"/>
                  </a:moveTo>
                  <a:lnTo>
                    <a:pt x="357136" y="2719"/>
                  </a:lnTo>
                  <a:lnTo>
                    <a:pt x="311585" y="10677"/>
                  </a:lnTo>
                  <a:lnTo>
                    <a:pt x="267935" y="23569"/>
                  </a:lnTo>
                  <a:lnTo>
                    <a:pt x="226490" y="41091"/>
                  </a:lnTo>
                  <a:lnTo>
                    <a:pt x="187552" y="62942"/>
                  </a:lnTo>
                  <a:lnTo>
                    <a:pt x="151425" y="88816"/>
                  </a:lnTo>
                  <a:lnTo>
                    <a:pt x="118412" y="118412"/>
                  </a:lnTo>
                  <a:lnTo>
                    <a:pt x="88816" y="151425"/>
                  </a:lnTo>
                  <a:lnTo>
                    <a:pt x="62942" y="187552"/>
                  </a:lnTo>
                  <a:lnTo>
                    <a:pt x="41091" y="226490"/>
                  </a:lnTo>
                  <a:lnTo>
                    <a:pt x="23569" y="267935"/>
                  </a:lnTo>
                  <a:lnTo>
                    <a:pt x="10677" y="311585"/>
                  </a:lnTo>
                  <a:lnTo>
                    <a:pt x="2719" y="357136"/>
                  </a:lnTo>
                  <a:lnTo>
                    <a:pt x="0" y="404284"/>
                  </a:lnTo>
                  <a:lnTo>
                    <a:pt x="2719" y="451431"/>
                  </a:lnTo>
                  <a:lnTo>
                    <a:pt x="10677" y="496982"/>
                  </a:lnTo>
                  <a:lnTo>
                    <a:pt x="23569" y="540631"/>
                  </a:lnTo>
                  <a:lnTo>
                    <a:pt x="41091" y="582077"/>
                  </a:lnTo>
                  <a:lnTo>
                    <a:pt x="62942" y="621015"/>
                  </a:lnTo>
                  <a:lnTo>
                    <a:pt x="88816" y="657142"/>
                  </a:lnTo>
                  <a:lnTo>
                    <a:pt x="118412" y="690155"/>
                  </a:lnTo>
                  <a:lnTo>
                    <a:pt x="151425" y="719750"/>
                  </a:lnTo>
                  <a:lnTo>
                    <a:pt x="187552" y="745624"/>
                  </a:lnTo>
                  <a:lnTo>
                    <a:pt x="226490" y="767475"/>
                  </a:lnTo>
                  <a:lnTo>
                    <a:pt x="267935" y="784997"/>
                  </a:lnTo>
                  <a:lnTo>
                    <a:pt x="311585" y="797889"/>
                  </a:lnTo>
                  <a:lnTo>
                    <a:pt x="357136" y="805847"/>
                  </a:lnTo>
                  <a:lnTo>
                    <a:pt x="404284" y="808567"/>
                  </a:lnTo>
                  <a:lnTo>
                    <a:pt x="451431" y="805847"/>
                  </a:lnTo>
                  <a:lnTo>
                    <a:pt x="496982" y="797889"/>
                  </a:lnTo>
                  <a:lnTo>
                    <a:pt x="540631" y="784997"/>
                  </a:lnTo>
                  <a:lnTo>
                    <a:pt x="582077" y="767475"/>
                  </a:lnTo>
                  <a:lnTo>
                    <a:pt x="621015" y="745624"/>
                  </a:lnTo>
                  <a:lnTo>
                    <a:pt x="657142" y="719750"/>
                  </a:lnTo>
                  <a:lnTo>
                    <a:pt x="690155" y="690155"/>
                  </a:lnTo>
                  <a:lnTo>
                    <a:pt x="719750" y="657142"/>
                  </a:lnTo>
                  <a:lnTo>
                    <a:pt x="745624" y="621015"/>
                  </a:lnTo>
                  <a:lnTo>
                    <a:pt x="767475" y="582077"/>
                  </a:lnTo>
                  <a:lnTo>
                    <a:pt x="784997" y="540631"/>
                  </a:lnTo>
                  <a:lnTo>
                    <a:pt x="797889" y="496982"/>
                  </a:lnTo>
                  <a:lnTo>
                    <a:pt x="805847" y="451431"/>
                  </a:lnTo>
                  <a:lnTo>
                    <a:pt x="808567" y="404284"/>
                  </a:lnTo>
                  <a:lnTo>
                    <a:pt x="805847" y="357136"/>
                  </a:lnTo>
                  <a:lnTo>
                    <a:pt x="797889" y="311585"/>
                  </a:lnTo>
                  <a:lnTo>
                    <a:pt x="784997" y="267935"/>
                  </a:lnTo>
                  <a:lnTo>
                    <a:pt x="767475" y="226490"/>
                  </a:lnTo>
                  <a:lnTo>
                    <a:pt x="745624" y="187552"/>
                  </a:lnTo>
                  <a:lnTo>
                    <a:pt x="719750" y="151425"/>
                  </a:lnTo>
                  <a:lnTo>
                    <a:pt x="690155" y="118412"/>
                  </a:lnTo>
                  <a:lnTo>
                    <a:pt x="657142" y="88816"/>
                  </a:lnTo>
                  <a:lnTo>
                    <a:pt x="621015" y="62942"/>
                  </a:lnTo>
                  <a:lnTo>
                    <a:pt x="582077" y="41091"/>
                  </a:lnTo>
                  <a:lnTo>
                    <a:pt x="540631" y="23569"/>
                  </a:lnTo>
                  <a:lnTo>
                    <a:pt x="496982" y="10677"/>
                  </a:lnTo>
                  <a:lnTo>
                    <a:pt x="451431" y="2719"/>
                  </a:lnTo>
                  <a:lnTo>
                    <a:pt x="40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020895" y="1130722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7B00E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8513563" y="1771549"/>
              <a:ext cx="201295" cy="180340"/>
            </a:xfrm>
            <a:custGeom>
              <a:avLst/>
              <a:gdLst/>
              <a:ahLst/>
              <a:cxnLst/>
              <a:rect l="l" t="t" r="r" b="b"/>
              <a:pathLst>
                <a:path w="201295" h="180339">
                  <a:moveTo>
                    <a:pt x="94378" y="0"/>
                  </a:moveTo>
                  <a:lnTo>
                    <a:pt x="0" y="180178"/>
                  </a:lnTo>
                  <a:lnTo>
                    <a:pt x="200770" y="147575"/>
                  </a:lnTo>
                  <a:lnTo>
                    <a:pt x="94378" y="0"/>
                  </a:lnTo>
                  <a:close/>
                </a:path>
              </a:pathLst>
            </a:custGeom>
            <a:solidFill>
              <a:srgbClr val="7B00E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7246020" y="1689982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09" h="1428750">
                  <a:moveTo>
                    <a:pt x="744555" y="0"/>
                  </a:moveTo>
                  <a:lnTo>
                    <a:pt x="695600" y="1519"/>
                  </a:lnTo>
                  <a:lnTo>
                    <a:pt x="647491" y="6014"/>
                  </a:lnTo>
                  <a:lnTo>
                    <a:pt x="600325" y="13390"/>
                  </a:lnTo>
                  <a:lnTo>
                    <a:pt x="554201" y="23554"/>
                  </a:lnTo>
                  <a:lnTo>
                    <a:pt x="509218" y="36412"/>
                  </a:lnTo>
                  <a:lnTo>
                    <a:pt x="465472" y="51868"/>
                  </a:lnTo>
                  <a:lnTo>
                    <a:pt x="423062" y="69830"/>
                  </a:lnTo>
                  <a:lnTo>
                    <a:pt x="382086" y="90203"/>
                  </a:lnTo>
                  <a:lnTo>
                    <a:pt x="342643" y="112893"/>
                  </a:lnTo>
                  <a:lnTo>
                    <a:pt x="304830" y="137805"/>
                  </a:lnTo>
                  <a:lnTo>
                    <a:pt x="268746" y="164846"/>
                  </a:lnTo>
                  <a:lnTo>
                    <a:pt x="234488" y="193922"/>
                  </a:lnTo>
                  <a:lnTo>
                    <a:pt x="202155" y="224938"/>
                  </a:lnTo>
                  <a:lnTo>
                    <a:pt x="171845" y="257801"/>
                  </a:lnTo>
                  <a:lnTo>
                    <a:pt x="143655" y="292416"/>
                  </a:lnTo>
                  <a:lnTo>
                    <a:pt x="117685" y="328689"/>
                  </a:lnTo>
                  <a:lnTo>
                    <a:pt x="94032" y="366526"/>
                  </a:lnTo>
                  <a:lnTo>
                    <a:pt x="72795" y="405833"/>
                  </a:lnTo>
                  <a:lnTo>
                    <a:pt x="54070" y="446515"/>
                  </a:lnTo>
                  <a:lnTo>
                    <a:pt x="37957" y="488480"/>
                  </a:lnTo>
                  <a:lnTo>
                    <a:pt x="24554" y="531631"/>
                  </a:lnTo>
                  <a:lnTo>
                    <a:pt x="13959" y="575877"/>
                  </a:lnTo>
                  <a:lnTo>
                    <a:pt x="6269" y="621121"/>
                  </a:lnTo>
                  <a:lnTo>
                    <a:pt x="1583" y="667271"/>
                  </a:lnTo>
                  <a:lnTo>
                    <a:pt x="0" y="714232"/>
                  </a:lnTo>
                  <a:lnTo>
                    <a:pt x="1583" y="761193"/>
                  </a:lnTo>
                  <a:lnTo>
                    <a:pt x="6269" y="807343"/>
                  </a:lnTo>
                  <a:lnTo>
                    <a:pt x="13959" y="852588"/>
                  </a:lnTo>
                  <a:lnTo>
                    <a:pt x="24554" y="896834"/>
                  </a:lnTo>
                  <a:lnTo>
                    <a:pt x="37957" y="939986"/>
                  </a:lnTo>
                  <a:lnTo>
                    <a:pt x="54070" y="981950"/>
                  </a:lnTo>
                  <a:lnTo>
                    <a:pt x="72795" y="1022633"/>
                  </a:lnTo>
                  <a:lnTo>
                    <a:pt x="94032" y="1061940"/>
                  </a:lnTo>
                  <a:lnTo>
                    <a:pt x="117685" y="1099777"/>
                  </a:lnTo>
                  <a:lnTo>
                    <a:pt x="143655" y="1136050"/>
                  </a:lnTo>
                  <a:lnTo>
                    <a:pt x="171845" y="1170665"/>
                  </a:lnTo>
                  <a:lnTo>
                    <a:pt x="202155" y="1203527"/>
                  </a:lnTo>
                  <a:lnTo>
                    <a:pt x="234488" y="1234544"/>
                  </a:lnTo>
                  <a:lnTo>
                    <a:pt x="268746" y="1263619"/>
                  </a:lnTo>
                  <a:lnTo>
                    <a:pt x="304830" y="1290661"/>
                  </a:lnTo>
                  <a:lnTo>
                    <a:pt x="342643" y="1315573"/>
                  </a:lnTo>
                  <a:lnTo>
                    <a:pt x="382086" y="1338263"/>
                  </a:lnTo>
                  <a:lnTo>
                    <a:pt x="423062" y="1358636"/>
                  </a:lnTo>
                  <a:lnTo>
                    <a:pt x="465472" y="1376598"/>
                  </a:lnTo>
                  <a:lnTo>
                    <a:pt x="509218" y="1392054"/>
                  </a:lnTo>
                  <a:lnTo>
                    <a:pt x="554201" y="1404912"/>
                  </a:lnTo>
                  <a:lnTo>
                    <a:pt x="600325" y="1415076"/>
                  </a:lnTo>
                  <a:lnTo>
                    <a:pt x="647491" y="1422452"/>
                  </a:lnTo>
                  <a:lnTo>
                    <a:pt x="695600" y="1426947"/>
                  </a:lnTo>
                  <a:lnTo>
                    <a:pt x="744555" y="1428466"/>
                  </a:lnTo>
                  <a:lnTo>
                    <a:pt x="793509" y="1426947"/>
                  </a:lnTo>
                  <a:lnTo>
                    <a:pt x="841618" y="1422452"/>
                  </a:lnTo>
                  <a:lnTo>
                    <a:pt x="888784" y="1415076"/>
                  </a:lnTo>
                  <a:lnTo>
                    <a:pt x="934908" y="1404912"/>
                  </a:lnTo>
                  <a:lnTo>
                    <a:pt x="979892" y="1392054"/>
                  </a:lnTo>
                  <a:lnTo>
                    <a:pt x="1023637" y="1376598"/>
                  </a:lnTo>
                  <a:lnTo>
                    <a:pt x="1066047" y="1358636"/>
                  </a:lnTo>
                  <a:lnTo>
                    <a:pt x="1107023" y="1338263"/>
                  </a:lnTo>
                  <a:lnTo>
                    <a:pt x="1146466" y="1315573"/>
                  </a:lnTo>
                  <a:lnTo>
                    <a:pt x="1184279" y="1290661"/>
                  </a:lnTo>
                  <a:lnTo>
                    <a:pt x="1220364" y="1263619"/>
                  </a:lnTo>
                  <a:lnTo>
                    <a:pt x="1254621" y="1234544"/>
                  </a:lnTo>
                  <a:lnTo>
                    <a:pt x="1286954" y="1203527"/>
                  </a:lnTo>
                  <a:lnTo>
                    <a:pt x="1317265" y="1170665"/>
                  </a:lnTo>
                  <a:lnTo>
                    <a:pt x="1345454" y="1136050"/>
                  </a:lnTo>
                  <a:lnTo>
                    <a:pt x="1371424" y="1099777"/>
                  </a:lnTo>
                  <a:lnTo>
                    <a:pt x="1395077" y="1061940"/>
                  </a:lnTo>
                  <a:lnTo>
                    <a:pt x="1416315" y="1022633"/>
                  </a:lnTo>
                  <a:lnTo>
                    <a:pt x="1435039" y="981950"/>
                  </a:lnTo>
                  <a:lnTo>
                    <a:pt x="1451152" y="939986"/>
                  </a:lnTo>
                  <a:lnTo>
                    <a:pt x="1464555" y="896834"/>
                  </a:lnTo>
                  <a:lnTo>
                    <a:pt x="1475151" y="852588"/>
                  </a:lnTo>
                  <a:lnTo>
                    <a:pt x="1482841" y="807343"/>
                  </a:lnTo>
                  <a:lnTo>
                    <a:pt x="1487526" y="761193"/>
                  </a:lnTo>
                  <a:lnTo>
                    <a:pt x="1489110" y="714232"/>
                  </a:lnTo>
                  <a:lnTo>
                    <a:pt x="1487526" y="667271"/>
                  </a:lnTo>
                  <a:lnTo>
                    <a:pt x="1482841" y="621121"/>
                  </a:lnTo>
                  <a:lnTo>
                    <a:pt x="1475151" y="575877"/>
                  </a:lnTo>
                  <a:lnTo>
                    <a:pt x="1464555" y="531631"/>
                  </a:lnTo>
                  <a:lnTo>
                    <a:pt x="1451152" y="488480"/>
                  </a:lnTo>
                  <a:lnTo>
                    <a:pt x="1435039" y="446515"/>
                  </a:lnTo>
                  <a:lnTo>
                    <a:pt x="1416315" y="405833"/>
                  </a:lnTo>
                  <a:lnTo>
                    <a:pt x="1395077" y="366526"/>
                  </a:lnTo>
                  <a:lnTo>
                    <a:pt x="1371424" y="328689"/>
                  </a:lnTo>
                  <a:lnTo>
                    <a:pt x="1345454" y="292416"/>
                  </a:lnTo>
                  <a:lnTo>
                    <a:pt x="1317265" y="257801"/>
                  </a:lnTo>
                  <a:lnTo>
                    <a:pt x="1286954" y="224938"/>
                  </a:lnTo>
                  <a:lnTo>
                    <a:pt x="1254621" y="193922"/>
                  </a:lnTo>
                  <a:lnTo>
                    <a:pt x="1220364" y="164846"/>
                  </a:lnTo>
                  <a:lnTo>
                    <a:pt x="1184279" y="137805"/>
                  </a:lnTo>
                  <a:lnTo>
                    <a:pt x="1146466" y="112893"/>
                  </a:lnTo>
                  <a:lnTo>
                    <a:pt x="1107023" y="90203"/>
                  </a:lnTo>
                  <a:lnTo>
                    <a:pt x="1066047" y="69830"/>
                  </a:lnTo>
                  <a:lnTo>
                    <a:pt x="1023637" y="51868"/>
                  </a:lnTo>
                  <a:lnTo>
                    <a:pt x="979892" y="36412"/>
                  </a:lnTo>
                  <a:lnTo>
                    <a:pt x="934908" y="23554"/>
                  </a:lnTo>
                  <a:lnTo>
                    <a:pt x="888784" y="13390"/>
                  </a:lnTo>
                  <a:lnTo>
                    <a:pt x="841618" y="6014"/>
                  </a:lnTo>
                  <a:lnTo>
                    <a:pt x="793509" y="1519"/>
                  </a:lnTo>
                  <a:lnTo>
                    <a:pt x="744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7246020" y="1689982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09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690712" y="1812216"/>
            <a:ext cx="1044949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166416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Arial MT"/>
                <a:cs typeface="Arial MT"/>
              </a:rPr>
              <a:t>Shared (read/only)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1008451" y="679748"/>
            <a:ext cx="4043643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26" dirty="0"/>
              <a:t>CPU-</a:t>
            </a:r>
            <a:r>
              <a:rPr dirty="0">
                <a:latin typeface="Calibri"/>
                <a:cs typeface="Calibri"/>
              </a:rPr>
              <a:t>Cache</a:t>
            </a:r>
            <a:r>
              <a:rPr spc="9" dirty="0"/>
              <a:t> </a:t>
            </a:r>
            <a:r>
              <a:rPr dirty="0">
                <a:latin typeface="Calibri"/>
                <a:cs typeface="Calibri"/>
              </a:rPr>
              <a:t>State</a:t>
            </a:r>
            <a:r>
              <a:rPr spc="13" dirty="0"/>
              <a:t> </a:t>
            </a:r>
            <a:r>
              <a:rPr spc="-9" dirty="0"/>
              <a:t>Machine</a:t>
            </a:r>
          </a:p>
        </p:txBody>
      </p:sp>
      <p:sp>
        <p:nvSpPr>
          <p:cNvPr id="42" name="Slide Number Placeholder 39">
            <a:extLst>
              <a:ext uri="{FF2B5EF4-FFF2-40B4-BE49-F238E27FC236}">
                <a16:creationId xmlns:a16="http://schemas.microsoft.com/office/drawing/2014/main" id="{1060380E-4612-E776-0985-325735B031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327606"/>
            <a:ext cx="7047071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State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Transition</a:t>
            </a:r>
            <a:r>
              <a:rPr spc="-22" dirty="0"/>
              <a:t> </a:t>
            </a:r>
            <a:r>
              <a:rPr dirty="0">
                <a:latin typeface="Calibri"/>
                <a:cs typeface="Calibri"/>
              </a:rPr>
              <a:t>Diagram</a:t>
            </a:r>
            <a:r>
              <a:rPr spc="-18" dirty="0"/>
              <a:t> </a:t>
            </a:r>
            <a:r>
              <a:rPr b="1" dirty="0">
                <a:latin typeface="Calibri"/>
                <a:cs typeface="Calibri"/>
              </a:rPr>
              <a:t>for</a:t>
            </a:r>
            <a:r>
              <a:rPr b="1" spc="-26" dirty="0"/>
              <a:t> </a:t>
            </a:r>
            <a:r>
              <a:rPr b="1" spc="-9" dirty="0"/>
              <a:t>Directory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320052"/>
            <a:ext cx="6780679" cy="3767781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lnSpc>
                <a:spcPts val="2374"/>
              </a:lnSpc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Same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states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&amp;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structure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transition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diagram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an </a:t>
            </a:r>
            <a:r>
              <a:rPr sz="2206" dirty="0">
                <a:latin typeface="Calibri"/>
                <a:cs typeface="Calibri"/>
              </a:rPr>
              <a:t>individual</a:t>
            </a:r>
            <a:r>
              <a:rPr sz="2206" spc="110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cache</a:t>
            </a:r>
            <a:endParaRPr sz="2206">
              <a:latin typeface="Calibri"/>
              <a:cs typeface="Calibri"/>
            </a:endParaRPr>
          </a:p>
          <a:p>
            <a:pPr>
              <a:spcBef>
                <a:spcPts val="1354"/>
              </a:spcBef>
              <a:buFont typeface="Calibri"/>
              <a:buChar char="•"/>
            </a:pPr>
            <a:endParaRPr sz="2206">
              <a:latin typeface="Calibri"/>
              <a:cs typeface="Calibri"/>
            </a:endParaRPr>
          </a:p>
          <a:p>
            <a:pPr marL="278481" marR="66118" indent="-267835">
              <a:lnSpc>
                <a:spcPts val="2391"/>
              </a:lnSpc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2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actions: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update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state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&amp;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send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messages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to </a:t>
            </a:r>
            <a:r>
              <a:rPr sz="2206" dirty="0">
                <a:latin typeface="Calibri"/>
                <a:cs typeface="Calibri"/>
              </a:rPr>
              <a:t>satisfy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requests</a:t>
            </a:r>
            <a:endParaRPr sz="2206">
              <a:latin typeface="Calibri"/>
              <a:cs typeface="Calibri"/>
            </a:endParaRPr>
          </a:p>
          <a:p>
            <a:pPr>
              <a:spcBef>
                <a:spcPts val="1059"/>
              </a:spcBef>
              <a:buFont typeface="Calibri"/>
              <a:buChar char="•"/>
            </a:pPr>
            <a:endParaRPr sz="2206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Tracks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all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copies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block</a:t>
            </a:r>
            <a:endParaRPr sz="2206">
              <a:latin typeface="Calibri"/>
              <a:cs typeface="Calibri"/>
            </a:endParaRPr>
          </a:p>
          <a:p>
            <a:pPr>
              <a:spcBef>
                <a:spcPts val="1319"/>
              </a:spcBef>
              <a:buFont typeface="Calibri"/>
              <a:buChar char="•"/>
            </a:pPr>
            <a:endParaRPr sz="2206">
              <a:latin typeface="Calibri"/>
              <a:cs typeface="Calibri"/>
            </a:endParaRPr>
          </a:p>
          <a:p>
            <a:pPr marL="278481" marR="382701" indent="-267835">
              <a:lnSpc>
                <a:spcPts val="2480"/>
              </a:lnSpc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Also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indicates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action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that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updates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sharing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set, </a:t>
            </a:r>
            <a:r>
              <a:rPr sz="2206" dirty="0">
                <a:solidFill>
                  <a:srgbClr val="114FFB"/>
                </a:solidFill>
                <a:latin typeface="Calibri"/>
                <a:cs typeface="Calibri"/>
              </a:rPr>
              <a:t>Sharers</a:t>
            </a:r>
            <a:r>
              <a:rPr sz="2206" dirty="0">
                <a:latin typeface="Calibri"/>
                <a:cs typeface="Calibri"/>
              </a:rPr>
              <a:t>,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well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sending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message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7718BBF5-9363-F03B-CC9F-EFF709DC81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Example</a:t>
            </a:r>
            <a:r>
              <a:rPr spc="-53" dirty="0"/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44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1" y="1249278"/>
            <a:ext cx="6910668" cy="4800304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Message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sent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causes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two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actions: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Update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directory</a:t>
            </a:r>
            <a:endParaRPr sz="1677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More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messages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satisfy</a:t>
            </a:r>
            <a:r>
              <a:rPr sz="1677" spc="-9" dirty="0">
                <a:latin typeface="Calibri"/>
                <a:cs typeface="Calibri"/>
              </a:rPr>
              <a:t> request</a:t>
            </a:r>
            <a:endParaRPr sz="1677">
              <a:latin typeface="Calibri"/>
              <a:cs typeface="Calibri"/>
            </a:endParaRPr>
          </a:p>
          <a:p>
            <a:pPr marL="278481" marR="226371" indent="-267835">
              <a:lnSpc>
                <a:spcPts val="2374"/>
              </a:lnSpc>
              <a:spcBef>
                <a:spcPts val="860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Block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Arial MT"/>
                <a:cs typeface="Arial MT"/>
              </a:rPr>
              <a:t>Uncached</a:t>
            </a:r>
            <a:r>
              <a:rPr sz="2206" spc="-5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6" dirty="0">
                <a:latin typeface="Calibri"/>
                <a:cs typeface="Calibri"/>
              </a:rPr>
              <a:t>state: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the </a:t>
            </a:r>
            <a:r>
              <a:rPr sz="2206" dirty="0">
                <a:latin typeface="Calibri"/>
                <a:cs typeface="Calibri"/>
              </a:rPr>
              <a:t>current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value;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only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possible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requests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that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are:</a:t>
            </a:r>
            <a:endParaRPr sz="2206">
              <a:latin typeface="Calibri"/>
              <a:cs typeface="Calibri"/>
            </a:endParaRPr>
          </a:p>
          <a:p>
            <a:pPr marL="651657" marR="269516" lvl="1" indent="-212363">
              <a:lnSpc>
                <a:spcPts val="1844"/>
              </a:lnSpc>
              <a:spcBef>
                <a:spcPts val="609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Read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1677" dirty="0">
                <a:latin typeface="Calibri"/>
                <a:cs typeface="Calibri"/>
              </a:rPr>
              <a:t>: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from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-9" dirty="0">
                <a:latin typeface="Calibri"/>
                <a:cs typeface="Calibri"/>
              </a:rPr>
              <a:t> &amp;requestor 	</a:t>
            </a:r>
            <a:r>
              <a:rPr sz="1677" dirty="0">
                <a:latin typeface="Calibri"/>
                <a:cs typeface="Calibri"/>
              </a:rPr>
              <a:t>made </a:t>
            </a:r>
            <a:r>
              <a:rPr sz="1677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only</a:t>
            </a:r>
            <a:r>
              <a:rPr sz="1677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sharing node; state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made </a:t>
            </a:r>
            <a:r>
              <a:rPr sz="1677" spc="-9" dirty="0">
                <a:latin typeface="Calibri"/>
                <a:cs typeface="Calibri"/>
              </a:rPr>
              <a:t>Shared.</a:t>
            </a:r>
            <a:endParaRPr sz="1677">
              <a:latin typeface="Calibri"/>
              <a:cs typeface="Calibri"/>
            </a:endParaRPr>
          </a:p>
          <a:p>
            <a:pPr marL="651657" marR="4483" lvl="1" indent="-212363">
              <a:lnSpc>
                <a:spcPct val="90000"/>
              </a:lnSpc>
              <a:spcBef>
                <a:spcPts val="547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Write</a:t>
            </a:r>
            <a:r>
              <a:rPr sz="1677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1677" dirty="0">
                <a:latin typeface="Calibri"/>
                <a:cs typeface="Calibri"/>
              </a:rPr>
              <a:t>: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value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&amp;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becomes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the 	</a:t>
            </a:r>
            <a:r>
              <a:rPr sz="1677" dirty="0">
                <a:latin typeface="Calibri"/>
                <a:cs typeface="Calibri"/>
              </a:rPr>
              <a:t>Sharing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node.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made Exclusive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indicate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that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only</a:t>
            </a:r>
            <a:r>
              <a:rPr sz="1677" spc="-9" dirty="0">
                <a:latin typeface="Calibri"/>
                <a:cs typeface="Calibri"/>
              </a:rPr>
              <a:t> valid 	</a:t>
            </a:r>
            <a:r>
              <a:rPr sz="1677" dirty="0">
                <a:latin typeface="Calibri"/>
                <a:cs typeface="Calibri"/>
              </a:rPr>
              <a:t>copy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cached.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Sharers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indicates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identity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owner.</a:t>
            </a:r>
            <a:endParaRPr sz="1677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Block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Arial MT"/>
                <a:cs typeface="Arial MT"/>
              </a:rPr>
              <a:t>Shared</a:t>
            </a:r>
            <a:r>
              <a:rPr sz="2206" spc="-5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6" dirty="0">
                <a:latin typeface="Calibri"/>
                <a:cs typeface="Calibri"/>
              </a:rPr>
              <a:t>=&gt;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up-to-</a:t>
            </a:r>
            <a:r>
              <a:rPr sz="2206" spc="-9" dirty="0">
                <a:latin typeface="Calibri"/>
                <a:cs typeface="Calibri"/>
              </a:rPr>
              <a:t>date:</a:t>
            </a:r>
            <a:endParaRPr sz="2206">
              <a:latin typeface="Calibri"/>
              <a:cs typeface="Calibri"/>
            </a:endParaRPr>
          </a:p>
          <a:p>
            <a:pPr marL="651657" marR="152408" lvl="1" indent="-212363" algn="just">
              <a:lnSpc>
                <a:spcPts val="1844"/>
              </a:lnSpc>
              <a:spcBef>
                <a:spcPts val="644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Read</a:t>
            </a:r>
            <a:r>
              <a:rPr sz="1677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1677" dirty="0">
                <a:latin typeface="Calibri"/>
                <a:cs typeface="Calibri"/>
              </a:rPr>
              <a:t>: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requesting 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back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from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44" dirty="0">
                <a:latin typeface="Calibri"/>
                <a:cs typeface="Calibri"/>
              </a:rPr>
              <a:t>&amp; 	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added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sharing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set.</a:t>
            </a:r>
            <a:endParaRPr sz="1677">
              <a:latin typeface="Calibri"/>
              <a:cs typeface="Calibri"/>
            </a:endParaRPr>
          </a:p>
          <a:p>
            <a:pPr marL="651657" marR="62756" lvl="1" indent="-212363" algn="just">
              <a:lnSpc>
                <a:spcPct val="89500"/>
              </a:lnSpc>
              <a:spcBef>
                <a:spcPts val="560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Write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1677" dirty="0">
                <a:latin typeface="Calibri"/>
                <a:cs typeface="Calibri"/>
              </a:rPr>
              <a:t>: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value.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All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the 	</a:t>
            </a:r>
            <a:r>
              <a:rPr sz="1677" dirty="0">
                <a:latin typeface="Calibri"/>
                <a:cs typeface="Calibri"/>
              </a:rPr>
              <a:t>set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Sharers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are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invalidate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messages,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&amp;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Sharers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identity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of 	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processor.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state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block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made </a:t>
            </a:r>
            <a:r>
              <a:rPr sz="1677" spc="-9" dirty="0">
                <a:latin typeface="Calibri"/>
                <a:cs typeface="Calibri"/>
              </a:rPr>
              <a:t>Exclusive.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34B7FF96-3C52-DC94-2B81-AECFE3C2B1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Example</a:t>
            </a:r>
            <a:r>
              <a:rPr spc="-53" dirty="0"/>
              <a:t> </a:t>
            </a:r>
            <a:r>
              <a:rPr dirty="0">
                <a:latin typeface="Calibri"/>
                <a:cs typeface="Calibri"/>
              </a:rPr>
              <a:t>Directory</a:t>
            </a:r>
            <a:r>
              <a:rPr spc="-44" dirty="0"/>
              <a:t> </a:t>
            </a:r>
            <a:r>
              <a:rPr spc="-9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320052"/>
            <a:ext cx="6995831" cy="4909350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4483" indent="-267835">
              <a:lnSpc>
                <a:spcPct val="90000"/>
              </a:lnSpc>
              <a:spcBef>
                <a:spcPts val="35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Block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F0000"/>
                </a:solidFill>
                <a:latin typeface="Times New Roman"/>
                <a:cs typeface="Times New Roman"/>
              </a:rPr>
              <a:t>Exclusive</a:t>
            </a:r>
            <a:r>
              <a:rPr sz="2206" dirty="0">
                <a:latin typeface="Calibri"/>
                <a:cs typeface="Calibri"/>
              </a:rPr>
              <a:t>: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current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held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the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processor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identified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set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Sharers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(the </a:t>
            </a:r>
            <a:r>
              <a:rPr sz="2206" dirty="0">
                <a:latin typeface="Calibri"/>
                <a:cs typeface="Calibri"/>
              </a:rPr>
              <a:t>owner)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=&gt;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three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possible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requests:</a:t>
            </a:r>
            <a:endParaRPr sz="2206">
              <a:latin typeface="Calibri"/>
              <a:cs typeface="Calibri"/>
            </a:endParaRPr>
          </a:p>
          <a:p>
            <a:pPr marL="651657" marR="43145" lvl="1" indent="-212363">
              <a:lnSpc>
                <a:spcPct val="90900"/>
              </a:lnSpc>
              <a:spcBef>
                <a:spcPts val="604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Read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1677" dirty="0">
                <a:latin typeface="Calibri"/>
                <a:cs typeface="Calibri"/>
              </a:rPr>
              <a:t>: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owner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fetch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message,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causing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state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of 	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 owner</a:t>
            </a:r>
            <a:r>
              <a:rPr sz="1677" dirty="0">
                <a:latin typeface="Arial MT"/>
                <a:cs typeface="Arial MT"/>
              </a:rPr>
              <a:t>’</a:t>
            </a:r>
            <a:r>
              <a:rPr sz="1677" dirty="0">
                <a:latin typeface="Calibri"/>
                <a:cs typeface="Calibri"/>
              </a:rPr>
              <a:t>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 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transition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 causes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owner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send 	</a:t>
            </a:r>
            <a:r>
              <a:rPr sz="1677" dirty="0">
                <a:latin typeface="Calibri"/>
                <a:cs typeface="Calibri"/>
              </a:rPr>
              <a:t>data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directory,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where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written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&amp;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back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to 	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40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processor.</a:t>
            </a:r>
            <a:endParaRPr sz="1677">
              <a:latin typeface="Calibri"/>
              <a:cs typeface="Calibri"/>
            </a:endParaRPr>
          </a:p>
          <a:p>
            <a:pPr marL="653338" marR="249344">
              <a:lnSpc>
                <a:spcPct val="90000"/>
              </a:lnSpc>
              <a:spcBef>
                <a:spcPts val="31"/>
              </a:spcBef>
            </a:pPr>
            <a:r>
              <a:rPr sz="1677" dirty="0">
                <a:latin typeface="Calibri"/>
                <a:cs typeface="Calibri"/>
              </a:rPr>
              <a:t>Identity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added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Sharers,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which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still </a:t>
            </a:r>
            <a:r>
              <a:rPr sz="1677" dirty="0">
                <a:latin typeface="Calibri"/>
                <a:cs typeface="Calibri"/>
              </a:rPr>
              <a:t>contains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identity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that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was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owner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(since it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still </a:t>
            </a:r>
            <a:r>
              <a:rPr sz="1677" dirty="0">
                <a:latin typeface="Calibri"/>
                <a:cs typeface="Calibri"/>
              </a:rPr>
              <a:t>has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readable copy).</a:t>
            </a:r>
            <a:r>
              <a:rPr sz="1677" spc="357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State is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shared.</a:t>
            </a:r>
            <a:endParaRPr sz="1677">
              <a:latin typeface="Calibri"/>
              <a:cs typeface="Calibri"/>
            </a:endParaRPr>
          </a:p>
          <a:p>
            <a:pPr marL="651657" marR="60515" lvl="1" indent="-212363">
              <a:lnSpc>
                <a:spcPct val="89100"/>
              </a:lnSpc>
              <a:spcBef>
                <a:spcPts val="604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677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FF0000"/>
                </a:solidFill>
                <a:latin typeface="Calibri"/>
                <a:cs typeface="Calibri"/>
              </a:rPr>
              <a:t>write-</a:t>
            </a: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back</a:t>
            </a:r>
            <a:r>
              <a:rPr sz="1677" dirty="0">
                <a:latin typeface="Calibri"/>
                <a:cs typeface="Calibri"/>
              </a:rPr>
              <a:t>: owner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replacing the block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 hence </a:t>
            </a:r>
            <a:r>
              <a:rPr sz="1677" spc="-18" dirty="0">
                <a:latin typeface="Calibri"/>
                <a:cs typeface="Calibri"/>
              </a:rPr>
              <a:t>must 	</a:t>
            </a:r>
            <a:r>
              <a:rPr sz="1677" dirty="0">
                <a:latin typeface="Calibri"/>
                <a:cs typeface="Calibri"/>
              </a:rPr>
              <a:t>write it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back, making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memory copy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up-to-</a:t>
            </a:r>
            <a:r>
              <a:rPr sz="1677" dirty="0">
                <a:latin typeface="Calibri"/>
                <a:cs typeface="Calibri"/>
              </a:rPr>
              <a:t>date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(the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home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directory 	</a:t>
            </a:r>
            <a:r>
              <a:rPr sz="1677" dirty="0">
                <a:latin typeface="Calibri"/>
                <a:cs typeface="Calibri"/>
              </a:rPr>
              <a:t>essentially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becomes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owner),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now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Uncached,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the 	</a:t>
            </a:r>
            <a:r>
              <a:rPr sz="1677" dirty="0">
                <a:latin typeface="Calibri"/>
                <a:cs typeface="Calibri"/>
              </a:rPr>
              <a:t>Sharer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empty.</a:t>
            </a:r>
            <a:endParaRPr sz="1677">
              <a:latin typeface="Calibri"/>
              <a:cs typeface="Calibri"/>
            </a:endParaRPr>
          </a:p>
          <a:p>
            <a:pPr marL="651657" marR="270636" lvl="1" indent="-212363">
              <a:lnSpc>
                <a:spcPct val="90000"/>
              </a:lnSpc>
              <a:spcBef>
                <a:spcPts val="644"/>
              </a:spcBef>
              <a:buChar char="–"/>
              <a:tabLst>
                <a:tab pos="653338" algn="l"/>
              </a:tabLst>
            </a:pPr>
            <a:r>
              <a:rPr sz="1677" dirty="0">
                <a:solidFill>
                  <a:srgbClr val="FF0000"/>
                </a:solidFill>
                <a:latin typeface="Calibri"/>
                <a:cs typeface="Calibri"/>
              </a:rPr>
              <a:t>Write miss</a:t>
            </a:r>
            <a:r>
              <a:rPr sz="1677" dirty="0">
                <a:latin typeface="Calibri"/>
                <a:cs typeface="Calibri"/>
              </a:rPr>
              <a:t>: block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has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new owner.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message is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old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owner 	</a:t>
            </a:r>
            <a:r>
              <a:rPr sz="1677" dirty="0">
                <a:latin typeface="Calibri"/>
                <a:cs typeface="Calibri"/>
              </a:rPr>
              <a:t>causing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cache 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send the value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block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directory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from 	</a:t>
            </a:r>
            <a:r>
              <a:rPr sz="1677" dirty="0">
                <a:latin typeface="Calibri"/>
                <a:cs typeface="Calibri"/>
              </a:rPr>
              <a:t>which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sent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requesting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processor,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which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becomes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22" dirty="0">
                <a:latin typeface="Calibri"/>
                <a:cs typeface="Calibri"/>
              </a:rPr>
              <a:t>new 	</a:t>
            </a:r>
            <a:r>
              <a:rPr sz="1677" dirty="0">
                <a:latin typeface="Calibri"/>
                <a:cs typeface="Calibri"/>
              </a:rPr>
              <a:t>owner.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Sharers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set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identity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new owner,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 state 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31" dirty="0">
                <a:latin typeface="Calibri"/>
                <a:cs typeface="Calibri"/>
              </a:rPr>
              <a:t>is 	</a:t>
            </a:r>
            <a:r>
              <a:rPr sz="1677" dirty="0">
                <a:latin typeface="Calibri"/>
                <a:cs typeface="Calibri"/>
              </a:rPr>
              <a:t>made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Exclusive.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21AD56F9-99C3-CA26-7CD2-F9B0017D7E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16127" y="1693302"/>
            <a:ext cx="1855134" cy="1391210"/>
            <a:chOff x="7232544" y="1919075"/>
            <a:chExt cx="2102485" cy="1576705"/>
          </a:xfrm>
        </p:grpSpPr>
        <p:sp>
          <p:nvSpPr>
            <p:cNvPr id="3" name="object 3"/>
            <p:cNvSpPr/>
            <p:nvPr/>
          </p:nvSpPr>
          <p:spPr>
            <a:xfrm>
              <a:off x="8506035" y="1939290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90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7246020" y="2053837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09" h="1428750">
                  <a:moveTo>
                    <a:pt x="744555" y="0"/>
                  </a:moveTo>
                  <a:lnTo>
                    <a:pt x="695600" y="1519"/>
                  </a:lnTo>
                  <a:lnTo>
                    <a:pt x="647491" y="6014"/>
                  </a:lnTo>
                  <a:lnTo>
                    <a:pt x="600325" y="13390"/>
                  </a:lnTo>
                  <a:lnTo>
                    <a:pt x="554201" y="23554"/>
                  </a:lnTo>
                  <a:lnTo>
                    <a:pt x="509218" y="36412"/>
                  </a:lnTo>
                  <a:lnTo>
                    <a:pt x="465472" y="51868"/>
                  </a:lnTo>
                  <a:lnTo>
                    <a:pt x="423062" y="69830"/>
                  </a:lnTo>
                  <a:lnTo>
                    <a:pt x="382086" y="90203"/>
                  </a:lnTo>
                  <a:lnTo>
                    <a:pt x="342643" y="112893"/>
                  </a:lnTo>
                  <a:lnTo>
                    <a:pt x="304830" y="137805"/>
                  </a:lnTo>
                  <a:lnTo>
                    <a:pt x="268746" y="164846"/>
                  </a:lnTo>
                  <a:lnTo>
                    <a:pt x="234488" y="193922"/>
                  </a:lnTo>
                  <a:lnTo>
                    <a:pt x="202155" y="224938"/>
                  </a:lnTo>
                  <a:lnTo>
                    <a:pt x="171845" y="257801"/>
                  </a:lnTo>
                  <a:lnTo>
                    <a:pt x="143655" y="292416"/>
                  </a:lnTo>
                  <a:lnTo>
                    <a:pt x="117685" y="328689"/>
                  </a:lnTo>
                  <a:lnTo>
                    <a:pt x="94032" y="366526"/>
                  </a:lnTo>
                  <a:lnTo>
                    <a:pt x="72795" y="405833"/>
                  </a:lnTo>
                  <a:lnTo>
                    <a:pt x="54070" y="446515"/>
                  </a:lnTo>
                  <a:lnTo>
                    <a:pt x="37957" y="488480"/>
                  </a:lnTo>
                  <a:lnTo>
                    <a:pt x="24554" y="531631"/>
                  </a:lnTo>
                  <a:lnTo>
                    <a:pt x="13959" y="575877"/>
                  </a:lnTo>
                  <a:lnTo>
                    <a:pt x="6269" y="621121"/>
                  </a:lnTo>
                  <a:lnTo>
                    <a:pt x="1583" y="667271"/>
                  </a:lnTo>
                  <a:lnTo>
                    <a:pt x="0" y="714232"/>
                  </a:lnTo>
                  <a:lnTo>
                    <a:pt x="1583" y="761193"/>
                  </a:lnTo>
                  <a:lnTo>
                    <a:pt x="6269" y="807343"/>
                  </a:lnTo>
                  <a:lnTo>
                    <a:pt x="13959" y="852588"/>
                  </a:lnTo>
                  <a:lnTo>
                    <a:pt x="24554" y="896834"/>
                  </a:lnTo>
                  <a:lnTo>
                    <a:pt x="37957" y="939986"/>
                  </a:lnTo>
                  <a:lnTo>
                    <a:pt x="54070" y="981950"/>
                  </a:lnTo>
                  <a:lnTo>
                    <a:pt x="72795" y="1022633"/>
                  </a:lnTo>
                  <a:lnTo>
                    <a:pt x="94032" y="1061940"/>
                  </a:lnTo>
                  <a:lnTo>
                    <a:pt x="117685" y="1099777"/>
                  </a:lnTo>
                  <a:lnTo>
                    <a:pt x="143655" y="1136050"/>
                  </a:lnTo>
                  <a:lnTo>
                    <a:pt x="171845" y="1170665"/>
                  </a:lnTo>
                  <a:lnTo>
                    <a:pt x="202155" y="1203527"/>
                  </a:lnTo>
                  <a:lnTo>
                    <a:pt x="234488" y="1234544"/>
                  </a:lnTo>
                  <a:lnTo>
                    <a:pt x="268746" y="1263619"/>
                  </a:lnTo>
                  <a:lnTo>
                    <a:pt x="304830" y="1290661"/>
                  </a:lnTo>
                  <a:lnTo>
                    <a:pt x="342643" y="1315573"/>
                  </a:lnTo>
                  <a:lnTo>
                    <a:pt x="382086" y="1338263"/>
                  </a:lnTo>
                  <a:lnTo>
                    <a:pt x="423062" y="1358636"/>
                  </a:lnTo>
                  <a:lnTo>
                    <a:pt x="465472" y="1376598"/>
                  </a:lnTo>
                  <a:lnTo>
                    <a:pt x="509218" y="1392054"/>
                  </a:lnTo>
                  <a:lnTo>
                    <a:pt x="554201" y="1404912"/>
                  </a:lnTo>
                  <a:lnTo>
                    <a:pt x="600325" y="1415076"/>
                  </a:lnTo>
                  <a:lnTo>
                    <a:pt x="647491" y="1422452"/>
                  </a:lnTo>
                  <a:lnTo>
                    <a:pt x="695600" y="1426947"/>
                  </a:lnTo>
                  <a:lnTo>
                    <a:pt x="744555" y="1428466"/>
                  </a:lnTo>
                  <a:lnTo>
                    <a:pt x="793509" y="1426947"/>
                  </a:lnTo>
                  <a:lnTo>
                    <a:pt x="841618" y="1422452"/>
                  </a:lnTo>
                  <a:lnTo>
                    <a:pt x="888784" y="1415076"/>
                  </a:lnTo>
                  <a:lnTo>
                    <a:pt x="934908" y="1404912"/>
                  </a:lnTo>
                  <a:lnTo>
                    <a:pt x="979892" y="1392054"/>
                  </a:lnTo>
                  <a:lnTo>
                    <a:pt x="1023637" y="1376598"/>
                  </a:lnTo>
                  <a:lnTo>
                    <a:pt x="1066047" y="1358636"/>
                  </a:lnTo>
                  <a:lnTo>
                    <a:pt x="1107023" y="1338263"/>
                  </a:lnTo>
                  <a:lnTo>
                    <a:pt x="1146466" y="1315573"/>
                  </a:lnTo>
                  <a:lnTo>
                    <a:pt x="1184279" y="1290661"/>
                  </a:lnTo>
                  <a:lnTo>
                    <a:pt x="1220364" y="1263619"/>
                  </a:lnTo>
                  <a:lnTo>
                    <a:pt x="1254621" y="1234544"/>
                  </a:lnTo>
                  <a:lnTo>
                    <a:pt x="1286954" y="1203527"/>
                  </a:lnTo>
                  <a:lnTo>
                    <a:pt x="1317265" y="1170665"/>
                  </a:lnTo>
                  <a:lnTo>
                    <a:pt x="1345454" y="1136050"/>
                  </a:lnTo>
                  <a:lnTo>
                    <a:pt x="1371424" y="1099777"/>
                  </a:lnTo>
                  <a:lnTo>
                    <a:pt x="1395077" y="1061940"/>
                  </a:lnTo>
                  <a:lnTo>
                    <a:pt x="1416315" y="1022633"/>
                  </a:lnTo>
                  <a:lnTo>
                    <a:pt x="1435039" y="981950"/>
                  </a:lnTo>
                  <a:lnTo>
                    <a:pt x="1451152" y="939986"/>
                  </a:lnTo>
                  <a:lnTo>
                    <a:pt x="1464555" y="896834"/>
                  </a:lnTo>
                  <a:lnTo>
                    <a:pt x="1475151" y="852588"/>
                  </a:lnTo>
                  <a:lnTo>
                    <a:pt x="1482841" y="807343"/>
                  </a:lnTo>
                  <a:lnTo>
                    <a:pt x="1487526" y="761193"/>
                  </a:lnTo>
                  <a:lnTo>
                    <a:pt x="1489110" y="714232"/>
                  </a:lnTo>
                  <a:lnTo>
                    <a:pt x="1487526" y="667271"/>
                  </a:lnTo>
                  <a:lnTo>
                    <a:pt x="1482841" y="621121"/>
                  </a:lnTo>
                  <a:lnTo>
                    <a:pt x="1475151" y="575877"/>
                  </a:lnTo>
                  <a:lnTo>
                    <a:pt x="1464555" y="531631"/>
                  </a:lnTo>
                  <a:lnTo>
                    <a:pt x="1451152" y="488480"/>
                  </a:lnTo>
                  <a:lnTo>
                    <a:pt x="1435039" y="446515"/>
                  </a:lnTo>
                  <a:lnTo>
                    <a:pt x="1416315" y="405833"/>
                  </a:lnTo>
                  <a:lnTo>
                    <a:pt x="1395077" y="366526"/>
                  </a:lnTo>
                  <a:lnTo>
                    <a:pt x="1371424" y="328689"/>
                  </a:lnTo>
                  <a:lnTo>
                    <a:pt x="1345454" y="292416"/>
                  </a:lnTo>
                  <a:lnTo>
                    <a:pt x="1317265" y="257801"/>
                  </a:lnTo>
                  <a:lnTo>
                    <a:pt x="1286954" y="224938"/>
                  </a:lnTo>
                  <a:lnTo>
                    <a:pt x="1254621" y="193922"/>
                  </a:lnTo>
                  <a:lnTo>
                    <a:pt x="1220364" y="164846"/>
                  </a:lnTo>
                  <a:lnTo>
                    <a:pt x="1184279" y="137805"/>
                  </a:lnTo>
                  <a:lnTo>
                    <a:pt x="1146466" y="112893"/>
                  </a:lnTo>
                  <a:lnTo>
                    <a:pt x="1107023" y="90203"/>
                  </a:lnTo>
                  <a:lnTo>
                    <a:pt x="1066047" y="69830"/>
                  </a:lnTo>
                  <a:lnTo>
                    <a:pt x="1023637" y="51868"/>
                  </a:lnTo>
                  <a:lnTo>
                    <a:pt x="979892" y="36412"/>
                  </a:lnTo>
                  <a:lnTo>
                    <a:pt x="934908" y="23554"/>
                  </a:lnTo>
                  <a:lnTo>
                    <a:pt x="888784" y="13390"/>
                  </a:lnTo>
                  <a:lnTo>
                    <a:pt x="841618" y="6014"/>
                  </a:lnTo>
                  <a:lnTo>
                    <a:pt x="793509" y="1519"/>
                  </a:lnTo>
                  <a:lnTo>
                    <a:pt x="744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7246020" y="2053837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09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41812" y="4975039"/>
            <a:ext cx="1837765" cy="1373841"/>
            <a:chOff x="3068320" y="5638377"/>
            <a:chExt cx="2082800" cy="1557020"/>
          </a:xfrm>
        </p:grpSpPr>
        <p:sp>
          <p:nvSpPr>
            <p:cNvPr id="7" name="object 7"/>
            <p:cNvSpPr/>
            <p:nvPr/>
          </p:nvSpPr>
          <p:spPr>
            <a:xfrm>
              <a:off x="3088640" y="5658697"/>
              <a:ext cx="808990" cy="808990"/>
            </a:xfrm>
            <a:custGeom>
              <a:avLst/>
              <a:gdLst/>
              <a:ahLst/>
              <a:cxnLst/>
              <a:rect l="l" t="t" r="r" b="b"/>
              <a:pathLst>
                <a:path w="808989" h="808989">
                  <a:moveTo>
                    <a:pt x="0" y="404283"/>
                  </a:moveTo>
                  <a:lnTo>
                    <a:pt x="2719" y="357135"/>
                  </a:lnTo>
                  <a:lnTo>
                    <a:pt x="10677" y="311584"/>
                  </a:lnTo>
                  <a:lnTo>
                    <a:pt x="23569" y="267935"/>
                  </a:lnTo>
                  <a:lnTo>
                    <a:pt x="41091" y="226489"/>
                  </a:lnTo>
                  <a:lnTo>
                    <a:pt x="62942" y="187551"/>
                  </a:lnTo>
                  <a:lnTo>
                    <a:pt x="88816" y="151424"/>
                  </a:lnTo>
                  <a:lnTo>
                    <a:pt x="118411" y="118411"/>
                  </a:lnTo>
                  <a:lnTo>
                    <a:pt x="151424" y="88816"/>
                  </a:lnTo>
                  <a:lnTo>
                    <a:pt x="187551" y="62942"/>
                  </a:lnTo>
                  <a:lnTo>
                    <a:pt x="226489" y="41091"/>
                  </a:lnTo>
                  <a:lnTo>
                    <a:pt x="267935" y="23569"/>
                  </a:lnTo>
                  <a:lnTo>
                    <a:pt x="311584" y="10677"/>
                  </a:lnTo>
                  <a:lnTo>
                    <a:pt x="357135" y="2719"/>
                  </a:lnTo>
                  <a:lnTo>
                    <a:pt x="404283" y="0"/>
                  </a:lnTo>
                  <a:lnTo>
                    <a:pt x="451431" y="2719"/>
                  </a:lnTo>
                  <a:lnTo>
                    <a:pt x="496981" y="10677"/>
                  </a:lnTo>
                  <a:lnTo>
                    <a:pt x="540631" y="23569"/>
                  </a:lnTo>
                  <a:lnTo>
                    <a:pt x="582076" y="41091"/>
                  </a:lnTo>
                  <a:lnTo>
                    <a:pt x="621014" y="62942"/>
                  </a:lnTo>
                  <a:lnTo>
                    <a:pt x="657141" y="88816"/>
                  </a:lnTo>
                  <a:lnTo>
                    <a:pt x="690154" y="118411"/>
                  </a:lnTo>
                  <a:lnTo>
                    <a:pt x="719750" y="151424"/>
                  </a:lnTo>
                  <a:lnTo>
                    <a:pt x="745624" y="187551"/>
                  </a:lnTo>
                  <a:lnTo>
                    <a:pt x="767474" y="226489"/>
                  </a:lnTo>
                  <a:lnTo>
                    <a:pt x="784997" y="267935"/>
                  </a:lnTo>
                  <a:lnTo>
                    <a:pt x="797889" y="311584"/>
                  </a:lnTo>
                  <a:lnTo>
                    <a:pt x="805846" y="357135"/>
                  </a:lnTo>
                  <a:lnTo>
                    <a:pt x="808566" y="404283"/>
                  </a:lnTo>
                  <a:lnTo>
                    <a:pt x="805846" y="451431"/>
                  </a:lnTo>
                  <a:lnTo>
                    <a:pt x="797889" y="496981"/>
                  </a:lnTo>
                  <a:lnTo>
                    <a:pt x="784997" y="540631"/>
                  </a:lnTo>
                  <a:lnTo>
                    <a:pt x="767474" y="582076"/>
                  </a:lnTo>
                  <a:lnTo>
                    <a:pt x="745624" y="621014"/>
                  </a:lnTo>
                  <a:lnTo>
                    <a:pt x="719750" y="657141"/>
                  </a:lnTo>
                  <a:lnTo>
                    <a:pt x="690154" y="690154"/>
                  </a:lnTo>
                  <a:lnTo>
                    <a:pt x="657141" y="719750"/>
                  </a:lnTo>
                  <a:lnTo>
                    <a:pt x="621014" y="745624"/>
                  </a:lnTo>
                  <a:lnTo>
                    <a:pt x="582076" y="767474"/>
                  </a:lnTo>
                  <a:lnTo>
                    <a:pt x="540631" y="784997"/>
                  </a:lnTo>
                  <a:lnTo>
                    <a:pt x="496981" y="797889"/>
                  </a:lnTo>
                  <a:lnTo>
                    <a:pt x="451431" y="805846"/>
                  </a:lnTo>
                  <a:lnTo>
                    <a:pt x="404283" y="808566"/>
                  </a:lnTo>
                  <a:lnTo>
                    <a:pt x="357135" y="805846"/>
                  </a:lnTo>
                  <a:lnTo>
                    <a:pt x="311584" y="797889"/>
                  </a:lnTo>
                  <a:lnTo>
                    <a:pt x="267935" y="784997"/>
                  </a:lnTo>
                  <a:lnTo>
                    <a:pt x="226489" y="767474"/>
                  </a:lnTo>
                  <a:lnTo>
                    <a:pt x="187551" y="745624"/>
                  </a:lnTo>
                  <a:lnTo>
                    <a:pt x="151424" y="719750"/>
                  </a:lnTo>
                  <a:lnTo>
                    <a:pt x="118411" y="690154"/>
                  </a:lnTo>
                  <a:lnTo>
                    <a:pt x="88816" y="657141"/>
                  </a:lnTo>
                  <a:lnTo>
                    <a:pt x="62942" y="621014"/>
                  </a:lnTo>
                  <a:lnTo>
                    <a:pt x="41091" y="582076"/>
                  </a:lnTo>
                  <a:lnTo>
                    <a:pt x="23569" y="540631"/>
                  </a:lnTo>
                  <a:lnTo>
                    <a:pt x="10677" y="496981"/>
                  </a:lnTo>
                  <a:lnTo>
                    <a:pt x="2719" y="451431"/>
                  </a:lnTo>
                  <a:lnTo>
                    <a:pt x="0" y="404283"/>
                  </a:lnTo>
                  <a:close/>
                </a:path>
              </a:pathLst>
            </a:custGeom>
            <a:ln w="40428">
              <a:solidFill>
                <a:srgbClr val="FC01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734485" y="5778722"/>
              <a:ext cx="163195" cy="203835"/>
            </a:xfrm>
            <a:custGeom>
              <a:avLst/>
              <a:gdLst/>
              <a:ahLst/>
              <a:cxnLst/>
              <a:rect l="l" t="t" r="r" b="b"/>
              <a:pathLst>
                <a:path w="163195" h="203835">
                  <a:moveTo>
                    <a:pt x="162721" y="0"/>
                  </a:moveTo>
                  <a:lnTo>
                    <a:pt x="0" y="81360"/>
                  </a:lnTo>
                  <a:lnTo>
                    <a:pt x="162721" y="203400"/>
                  </a:lnTo>
                  <a:lnTo>
                    <a:pt x="162721" y="0"/>
                  </a:lnTo>
                  <a:close/>
                </a:path>
              </a:pathLst>
            </a:custGeom>
            <a:solidFill>
              <a:srgbClr val="FC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647898" y="5753028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744555" y="0"/>
                  </a:moveTo>
                  <a:lnTo>
                    <a:pt x="695600" y="1519"/>
                  </a:lnTo>
                  <a:lnTo>
                    <a:pt x="647491" y="6014"/>
                  </a:lnTo>
                  <a:lnTo>
                    <a:pt x="600325" y="13390"/>
                  </a:lnTo>
                  <a:lnTo>
                    <a:pt x="554201" y="23554"/>
                  </a:lnTo>
                  <a:lnTo>
                    <a:pt x="509218" y="36412"/>
                  </a:lnTo>
                  <a:lnTo>
                    <a:pt x="465472" y="51868"/>
                  </a:lnTo>
                  <a:lnTo>
                    <a:pt x="423062" y="69830"/>
                  </a:lnTo>
                  <a:lnTo>
                    <a:pt x="382086" y="90203"/>
                  </a:lnTo>
                  <a:lnTo>
                    <a:pt x="342643" y="112893"/>
                  </a:lnTo>
                  <a:lnTo>
                    <a:pt x="304830" y="137806"/>
                  </a:lnTo>
                  <a:lnTo>
                    <a:pt x="268746" y="164847"/>
                  </a:lnTo>
                  <a:lnTo>
                    <a:pt x="234488" y="193923"/>
                  </a:lnTo>
                  <a:lnTo>
                    <a:pt x="202155" y="224939"/>
                  </a:lnTo>
                  <a:lnTo>
                    <a:pt x="171845" y="257802"/>
                  </a:lnTo>
                  <a:lnTo>
                    <a:pt x="143655" y="292417"/>
                  </a:lnTo>
                  <a:lnTo>
                    <a:pt x="117685" y="328690"/>
                  </a:lnTo>
                  <a:lnTo>
                    <a:pt x="94032" y="366527"/>
                  </a:lnTo>
                  <a:lnTo>
                    <a:pt x="72795" y="405834"/>
                  </a:lnTo>
                  <a:lnTo>
                    <a:pt x="54070" y="446516"/>
                  </a:lnTo>
                  <a:lnTo>
                    <a:pt x="37957" y="488481"/>
                  </a:lnTo>
                  <a:lnTo>
                    <a:pt x="24554" y="531633"/>
                  </a:lnTo>
                  <a:lnTo>
                    <a:pt x="13959" y="575878"/>
                  </a:lnTo>
                  <a:lnTo>
                    <a:pt x="6269" y="621123"/>
                  </a:lnTo>
                  <a:lnTo>
                    <a:pt x="1583" y="667273"/>
                  </a:lnTo>
                  <a:lnTo>
                    <a:pt x="0" y="714234"/>
                  </a:lnTo>
                  <a:lnTo>
                    <a:pt x="1583" y="761195"/>
                  </a:lnTo>
                  <a:lnTo>
                    <a:pt x="6269" y="807345"/>
                  </a:lnTo>
                  <a:lnTo>
                    <a:pt x="13959" y="852589"/>
                  </a:lnTo>
                  <a:lnTo>
                    <a:pt x="24554" y="896835"/>
                  </a:lnTo>
                  <a:lnTo>
                    <a:pt x="37957" y="939987"/>
                  </a:lnTo>
                  <a:lnTo>
                    <a:pt x="54070" y="981951"/>
                  </a:lnTo>
                  <a:lnTo>
                    <a:pt x="72795" y="1022634"/>
                  </a:lnTo>
                  <a:lnTo>
                    <a:pt x="94032" y="1061941"/>
                  </a:lnTo>
                  <a:lnTo>
                    <a:pt x="117685" y="1099778"/>
                  </a:lnTo>
                  <a:lnTo>
                    <a:pt x="143655" y="1136051"/>
                  </a:lnTo>
                  <a:lnTo>
                    <a:pt x="171845" y="1170666"/>
                  </a:lnTo>
                  <a:lnTo>
                    <a:pt x="202155" y="1203529"/>
                  </a:lnTo>
                  <a:lnTo>
                    <a:pt x="234488" y="1234545"/>
                  </a:lnTo>
                  <a:lnTo>
                    <a:pt x="268746" y="1263621"/>
                  </a:lnTo>
                  <a:lnTo>
                    <a:pt x="304830" y="1290662"/>
                  </a:lnTo>
                  <a:lnTo>
                    <a:pt x="342643" y="1315575"/>
                  </a:lnTo>
                  <a:lnTo>
                    <a:pt x="382086" y="1338264"/>
                  </a:lnTo>
                  <a:lnTo>
                    <a:pt x="423062" y="1358637"/>
                  </a:lnTo>
                  <a:lnTo>
                    <a:pt x="465472" y="1376599"/>
                  </a:lnTo>
                  <a:lnTo>
                    <a:pt x="509218" y="1392056"/>
                  </a:lnTo>
                  <a:lnTo>
                    <a:pt x="554201" y="1404913"/>
                  </a:lnTo>
                  <a:lnTo>
                    <a:pt x="600325" y="1415077"/>
                  </a:lnTo>
                  <a:lnTo>
                    <a:pt x="647491" y="1422454"/>
                  </a:lnTo>
                  <a:lnTo>
                    <a:pt x="695600" y="1426949"/>
                  </a:lnTo>
                  <a:lnTo>
                    <a:pt x="744555" y="1428468"/>
                  </a:lnTo>
                  <a:lnTo>
                    <a:pt x="793509" y="1426949"/>
                  </a:lnTo>
                  <a:lnTo>
                    <a:pt x="841618" y="1422454"/>
                  </a:lnTo>
                  <a:lnTo>
                    <a:pt x="888784" y="1415077"/>
                  </a:lnTo>
                  <a:lnTo>
                    <a:pt x="934908" y="1404913"/>
                  </a:lnTo>
                  <a:lnTo>
                    <a:pt x="979892" y="1392056"/>
                  </a:lnTo>
                  <a:lnTo>
                    <a:pt x="1023637" y="1376599"/>
                  </a:lnTo>
                  <a:lnTo>
                    <a:pt x="1066047" y="1358637"/>
                  </a:lnTo>
                  <a:lnTo>
                    <a:pt x="1107023" y="1338264"/>
                  </a:lnTo>
                  <a:lnTo>
                    <a:pt x="1146466" y="1315575"/>
                  </a:lnTo>
                  <a:lnTo>
                    <a:pt x="1184279" y="1290662"/>
                  </a:lnTo>
                  <a:lnTo>
                    <a:pt x="1220364" y="1263621"/>
                  </a:lnTo>
                  <a:lnTo>
                    <a:pt x="1254621" y="1234545"/>
                  </a:lnTo>
                  <a:lnTo>
                    <a:pt x="1286954" y="1203529"/>
                  </a:lnTo>
                  <a:lnTo>
                    <a:pt x="1317265" y="1170666"/>
                  </a:lnTo>
                  <a:lnTo>
                    <a:pt x="1345454" y="1136051"/>
                  </a:lnTo>
                  <a:lnTo>
                    <a:pt x="1371424" y="1099778"/>
                  </a:lnTo>
                  <a:lnTo>
                    <a:pt x="1395077" y="1061941"/>
                  </a:lnTo>
                  <a:lnTo>
                    <a:pt x="1416315" y="1022634"/>
                  </a:lnTo>
                  <a:lnTo>
                    <a:pt x="1435039" y="981951"/>
                  </a:lnTo>
                  <a:lnTo>
                    <a:pt x="1451152" y="939987"/>
                  </a:lnTo>
                  <a:lnTo>
                    <a:pt x="1464555" y="896835"/>
                  </a:lnTo>
                  <a:lnTo>
                    <a:pt x="1475151" y="852589"/>
                  </a:lnTo>
                  <a:lnTo>
                    <a:pt x="1482841" y="807345"/>
                  </a:lnTo>
                  <a:lnTo>
                    <a:pt x="1487526" y="761195"/>
                  </a:lnTo>
                  <a:lnTo>
                    <a:pt x="1489110" y="714234"/>
                  </a:lnTo>
                  <a:lnTo>
                    <a:pt x="1487526" y="667273"/>
                  </a:lnTo>
                  <a:lnTo>
                    <a:pt x="1482841" y="621123"/>
                  </a:lnTo>
                  <a:lnTo>
                    <a:pt x="1475151" y="575878"/>
                  </a:lnTo>
                  <a:lnTo>
                    <a:pt x="1464555" y="531633"/>
                  </a:lnTo>
                  <a:lnTo>
                    <a:pt x="1451152" y="488481"/>
                  </a:lnTo>
                  <a:lnTo>
                    <a:pt x="1435039" y="446516"/>
                  </a:lnTo>
                  <a:lnTo>
                    <a:pt x="1416315" y="405834"/>
                  </a:lnTo>
                  <a:lnTo>
                    <a:pt x="1395077" y="366527"/>
                  </a:lnTo>
                  <a:lnTo>
                    <a:pt x="1371424" y="328690"/>
                  </a:lnTo>
                  <a:lnTo>
                    <a:pt x="1345454" y="292417"/>
                  </a:lnTo>
                  <a:lnTo>
                    <a:pt x="1317265" y="257802"/>
                  </a:lnTo>
                  <a:lnTo>
                    <a:pt x="1286954" y="224939"/>
                  </a:lnTo>
                  <a:lnTo>
                    <a:pt x="1254621" y="193923"/>
                  </a:lnTo>
                  <a:lnTo>
                    <a:pt x="1220364" y="164847"/>
                  </a:lnTo>
                  <a:lnTo>
                    <a:pt x="1184279" y="137806"/>
                  </a:lnTo>
                  <a:lnTo>
                    <a:pt x="1146466" y="112893"/>
                  </a:lnTo>
                  <a:lnTo>
                    <a:pt x="1107023" y="90203"/>
                  </a:lnTo>
                  <a:lnTo>
                    <a:pt x="1066047" y="69830"/>
                  </a:lnTo>
                  <a:lnTo>
                    <a:pt x="1023637" y="51868"/>
                  </a:lnTo>
                  <a:lnTo>
                    <a:pt x="979892" y="36412"/>
                  </a:lnTo>
                  <a:lnTo>
                    <a:pt x="934908" y="23554"/>
                  </a:lnTo>
                  <a:lnTo>
                    <a:pt x="888784" y="13390"/>
                  </a:lnTo>
                  <a:lnTo>
                    <a:pt x="841618" y="6014"/>
                  </a:lnTo>
                  <a:lnTo>
                    <a:pt x="793509" y="1519"/>
                  </a:lnTo>
                  <a:lnTo>
                    <a:pt x="744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647898" y="5753028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3227" y="1091452"/>
            <a:ext cx="1944221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State</a:t>
            </a:r>
            <a:r>
              <a:rPr sz="2206" spc="2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machine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768" y="1392666"/>
            <a:ext cx="2953310" cy="971985"/>
          </a:xfrm>
          <a:prstGeom prst="rect">
            <a:avLst/>
          </a:prstGeom>
        </p:spPr>
        <p:txBody>
          <a:bodyPr vert="horz" wrap="square" lIns="0" tIns="48185" rIns="0" bIns="0" rtlCol="0">
            <a:spAutoFit/>
          </a:bodyPr>
          <a:lstStyle/>
          <a:p>
            <a:pPr marL="11206" marR="4483">
              <a:lnSpc>
                <a:spcPts val="2391"/>
              </a:lnSpc>
              <a:spcBef>
                <a:spcPts val="379"/>
              </a:spcBef>
            </a:pPr>
            <a:r>
              <a:rPr sz="2206" dirty="0">
                <a:latin typeface="Calibri"/>
                <a:cs typeface="Calibri"/>
              </a:rPr>
              <a:t>for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i="1" u="heavy" dirty="0">
                <a:solidFill>
                  <a:srgbClr val="3366FF"/>
                </a:solidFill>
                <a:uFill>
                  <a:solidFill>
                    <a:srgbClr val="3366FF"/>
                  </a:solidFill>
                </a:uFill>
                <a:latin typeface="Calibri"/>
                <a:cs typeface="Calibri"/>
              </a:rPr>
              <a:t>Directory</a:t>
            </a:r>
            <a:r>
              <a:rPr sz="2206" u="heavy" spc="49" dirty="0">
                <a:solidFill>
                  <a:srgbClr val="3366FF"/>
                </a:solidFill>
                <a:uFill>
                  <a:solidFill>
                    <a:srgbClr val="618FF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requests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for </a:t>
            </a:r>
            <a:r>
              <a:rPr sz="2206" spc="-18" dirty="0">
                <a:latin typeface="Calibri"/>
                <a:cs typeface="Calibri"/>
              </a:rPr>
              <a:t>each</a:t>
            </a:r>
            <a:endParaRPr sz="2206">
              <a:latin typeface="Calibri"/>
              <a:cs typeface="Calibri"/>
            </a:endParaRPr>
          </a:p>
          <a:p>
            <a:pPr marL="11206">
              <a:lnSpc>
                <a:spcPts val="2422"/>
              </a:lnSpc>
            </a:pPr>
            <a:r>
              <a:rPr sz="2206" u="heavy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Calibri"/>
                <a:cs typeface="Calibri"/>
              </a:rPr>
              <a:t>memory</a:t>
            </a:r>
            <a:r>
              <a:rPr sz="2206" u="heavy" spc="84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Calibri"/>
                <a:cs typeface="Calibri"/>
              </a:rPr>
              <a:t> </a:t>
            </a:r>
            <a:r>
              <a:rPr sz="2206" u="heavy" spc="-18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Calibri"/>
                <a:cs typeface="Calibri"/>
              </a:rPr>
              <a:t>block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228" y="2414643"/>
            <a:ext cx="2085415" cy="683634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278481" marR="4483" indent="-267835">
              <a:lnSpc>
                <a:spcPts val="2453"/>
              </a:lnSpc>
              <a:spcBef>
                <a:spcPts val="331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Uncached</a:t>
            </a:r>
            <a:r>
              <a:rPr sz="2206" spc="11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state </a:t>
            </a:r>
            <a:r>
              <a:rPr sz="2206" dirty="0">
                <a:latin typeface="Calibri"/>
                <a:cs typeface="Calibri"/>
              </a:rPr>
              <a:t>if</a:t>
            </a:r>
            <a:r>
              <a:rPr sz="2206" spc="1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2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memory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8061" y="3651773"/>
            <a:ext cx="1734110" cy="77427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15689" algn="r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1677" b="1" spc="-3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1677" b="1" spc="-3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Back: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Sharers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{}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(Write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back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block)</a:t>
            </a:r>
            <a:endParaRPr sz="167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0359" y="2293619"/>
            <a:ext cx="98499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-9" dirty="0">
                <a:latin typeface="Arial MT"/>
                <a:cs typeface="Arial MT"/>
              </a:rPr>
              <a:t>Uncached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0712" y="2132255"/>
            <a:ext cx="1044388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166416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Arial MT"/>
                <a:cs typeface="Arial MT"/>
              </a:rPr>
              <a:t>Shared </a:t>
            </a:r>
            <a:r>
              <a:rPr sz="1677" dirty="0">
                <a:latin typeface="Arial MT"/>
                <a:cs typeface="Arial MT"/>
              </a:rPr>
              <a:t>(read</a:t>
            </a:r>
            <a:r>
              <a:rPr sz="1677" spc="-35" dirty="0">
                <a:latin typeface="Arial MT"/>
                <a:cs typeface="Arial MT"/>
              </a:rPr>
              <a:t> </a:t>
            </a:r>
            <a:r>
              <a:rPr sz="1677" spc="-18" dirty="0">
                <a:latin typeface="Arial MT"/>
                <a:cs typeface="Arial MT"/>
              </a:rPr>
              <a:t>only)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9015" y="5440232"/>
            <a:ext cx="1104340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 indent="89092">
              <a:lnSpc>
                <a:spcPct val="101099"/>
              </a:lnSpc>
              <a:spcBef>
                <a:spcPts val="66"/>
              </a:spcBef>
            </a:pPr>
            <a:r>
              <a:rPr sz="1677" spc="-9" dirty="0">
                <a:latin typeface="Arial MT"/>
                <a:cs typeface="Arial MT"/>
              </a:rPr>
              <a:t>Exclusive (read/write)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1045" y="1438386"/>
            <a:ext cx="1664074" cy="10360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>
              <a:lnSpc>
                <a:spcPct val="100699"/>
              </a:lnSpc>
              <a:spcBef>
                <a:spcPts val="75"/>
              </a:spcBef>
            </a:pP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Read</a:t>
            </a:r>
            <a:r>
              <a:rPr sz="1677" b="1" spc="-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miss: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Sharers</a:t>
            </a:r>
            <a:r>
              <a:rPr sz="1677" b="1" spc="-22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=</a:t>
            </a:r>
            <a:r>
              <a:rPr sz="1677" b="1" spc="-22" dirty="0">
                <a:solidFill>
                  <a:srgbClr val="008000"/>
                </a:solidFill>
                <a:latin typeface="Arial"/>
                <a:cs typeface="Arial"/>
              </a:rPr>
              <a:t> {P}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send</a:t>
            </a:r>
            <a:r>
              <a:rPr sz="1677" b="1" spc="-22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Data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Value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Reply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9914" y="3237604"/>
            <a:ext cx="1954866" cy="156211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389425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1677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Miss: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send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Invalidate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677" b="1" spc="-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Sharers;</a:t>
            </a:r>
            <a:endParaRPr sz="1677">
              <a:latin typeface="Arial"/>
              <a:cs typeface="Arial"/>
            </a:endParaRPr>
          </a:p>
          <a:p>
            <a:pPr marL="11206" marR="4483">
              <a:lnSpc>
                <a:spcPct val="98400"/>
              </a:lnSpc>
              <a:spcBef>
                <a:spcPts val="53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then</a:t>
            </a:r>
            <a:r>
              <a:rPr sz="1677" b="1" spc="-2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Sharers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{P};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send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1677" b="1" spc="-2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Value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Reply</a:t>
            </a:r>
            <a:r>
              <a:rPr sz="1677" b="1" spc="-3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msg</a:t>
            </a:r>
            <a:endParaRPr sz="1677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98034" y="2478089"/>
            <a:ext cx="2842372" cy="2628340"/>
            <a:chOff x="4038705" y="2808500"/>
            <a:chExt cx="3221355" cy="2978785"/>
          </a:xfrm>
        </p:grpSpPr>
        <p:sp>
          <p:nvSpPr>
            <p:cNvPr id="21" name="object 21"/>
            <p:cNvSpPr/>
            <p:nvPr/>
          </p:nvSpPr>
          <p:spPr>
            <a:xfrm>
              <a:off x="5163960" y="2808500"/>
              <a:ext cx="2096135" cy="81280"/>
            </a:xfrm>
            <a:custGeom>
              <a:avLst/>
              <a:gdLst/>
              <a:ahLst/>
              <a:cxnLst/>
              <a:rect l="l" t="t" r="r" b="b"/>
              <a:pathLst>
                <a:path w="2096134" h="81280">
                  <a:moveTo>
                    <a:pt x="2014678" y="0"/>
                  </a:moveTo>
                  <a:lnTo>
                    <a:pt x="2014678" y="80855"/>
                  </a:lnTo>
                  <a:lnTo>
                    <a:pt x="2068583" y="53903"/>
                  </a:lnTo>
                  <a:lnTo>
                    <a:pt x="2028153" y="53903"/>
                  </a:lnTo>
                  <a:lnTo>
                    <a:pt x="2028153" y="26951"/>
                  </a:lnTo>
                  <a:lnTo>
                    <a:pt x="2068583" y="26951"/>
                  </a:lnTo>
                  <a:lnTo>
                    <a:pt x="2014678" y="0"/>
                  </a:lnTo>
                  <a:close/>
                </a:path>
                <a:path w="2096134" h="81280">
                  <a:moveTo>
                    <a:pt x="2014678" y="26951"/>
                  </a:moveTo>
                  <a:lnTo>
                    <a:pt x="0" y="26951"/>
                  </a:lnTo>
                  <a:lnTo>
                    <a:pt x="0" y="53903"/>
                  </a:lnTo>
                  <a:lnTo>
                    <a:pt x="2014678" y="53903"/>
                  </a:lnTo>
                  <a:lnTo>
                    <a:pt x="2014678" y="26951"/>
                  </a:lnTo>
                  <a:close/>
                </a:path>
                <a:path w="2096134" h="81280">
                  <a:moveTo>
                    <a:pt x="2068583" y="26951"/>
                  </a:moveTo>
                  <a:lnTo>
                    <a:pt x="2028153" y="26951"/>
                  </a:lnTo>
                  <a:lnTo>
                    <a:pt x="2028153" y="53903"/>
                  </a:lnTo>
                  <a:lnTo>
                    <a:pt x="2068583" y="53903"/>
                  </a:lnTo>
                  <a:lnTo>
                    <a:pt x="2095535" y="40427"/>
                  </a:lnTo>
                  <a:lnTo>
                    <a:pt x="2068583" y="26951"/>
                  </a:lnTo>
                  <a:close/>
                </a:path>
              </a:pathLst>
            </a:custGeom>
            <a:solidFill>
              <a:srgbClr val="00AE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8701" y="3428402"/>
              <a:ext cx="384175" cy="2358390"/>
            </a:xfrm>
            <a:custGeom>
              <a:avLst/>
              <a:gdLst/>
              <a:ahLst/>
              <a:cxnLst/>
              <a:rect l="l" t="t" r="r" b="b"/>
              <a:pathLst>
                <a:path w="384175" h="2358390">
                  <a:moveTo>
                    <a:pt x="121285" y="121285"/>
                  </a:moveTo>
                  <a:lnTo>
                    <a:pt x="111175" y="101079"/>
                  </a:lnTo>
                  <a:lnTo>
                    <a:pt x="60642" y="0"/>
                  </a:lnTo>
                  <a:lnTo>
                    <a:pt x="0" y="121285"/>
                  </a:lnTo>
                  <a:lnTo>
                    <a:pt x="40424" y="121285"/>
                  </a:lnTo>
                  <a:lnTo>
                    <a:pt x="40424" y="2358326"/>
                  </a:lnTo>
                  <a:lnTo>
                    <a:pt x="80860" y="2358326"/>
                  </a:lnTo>
                  <a:lnTo>
                    <a:pt x="80860" y="121285"/>
                  </a:lnTo>
                  <a:lnTo>
                    <a:pt x="121285" y="121285"/>
                  </a:lnTo>
                  <a:close/>
                </a:path>
                <a:path w="384175" h="2358390">
                  <a:moveTo>
                    <a:pt x="384073" y="2156180"/>
                  </a:moveTo>
                  <a:lnTo>
                    <a:pt x="343636" y="2156180"/>
                  </a:lnTo>
                  <a:lnTo>
                    <a:pt x="343636" y="60642"/>
                  </a:lnTo>
                  <a:lnTo>
                    <a:pt x="303212" y="60642"/>
                  </a:lnTo>
                  <a:lnTo>
                    <a:pt x="303212" y="2156180"/>
                  </a:lnTo>
                  <a:lnTo>
                    <a:pt x="262788" y="2156180"/>
                  </a:lnTo>
                  <a:lnTo>
                    <a:pt x="323430" y="2277465"/>
                  </a:lnTo>
                  <a:lnTo>
                    <a:pt x="373964" y="2176399"/>
                  </a:lnTo>
                  <a:lnTo>
                    <a:pt x="384073" y="2156180"/>
                  </a:lnTo>
                  <a:close/>
                </a:path>
              </a:pathLst>
            </a:custGeom>
            <a:solidFill>
              <a:srgbClr val="FC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26784" y="3113891"/>
            <a:ext cx="1442757" cy="1296136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11206" marR="4483">
              <a:lnSpc>
                <a:spcPct val="100800"/>
              </a:lnSpc>
              <a:spcBef>
                <a:spcPts val="71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1677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Miss: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Sharers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{P};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send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 Data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677" b="1" spc="-7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Reply 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msg</a:t>
            </a:r>
            <a:endParaRPr sz="1677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341314" y="1800318"/>
            <a:ext cx="4370294" cy="4649321"/>
            <a:chOff x="3634422" y="2040361"/>
            <a:chExt cx="4953000" cy="5269230"/>
          </a:xfrm>
        </p:grpSpPr>
        <p:sp>
          <p:nvSpPr>
            <p:cNvPr id="25" name="object 25"/>
            <p:cNvSpPr/>
            <p:nvPr/>
          </p:nvSpPr>
          <p:spPr>
            <a:xfrm>
              <a:off x="3647898" y="2053837"/>
              <a:ext cx="1489710" cy="1428750"/>
            </a:xfrm>
            <a:custGeom>
              <a:avLst/>
              <a:gdLst/>
              <a:ahLst/>
              <a:cxnLst/>
              <a:rect l="l" t="t" r="r" b="b"/>
              <a:pathLst>
                <a:path w="1489710" h="1428750">
                  <a:moveTo>
                    <a:pt x="0" y="714233"/>
                  </a:moveTo>
                  <a:lnTo>
                    <a:pt x="1583" y="667272"/>
                  </a:lnTo>
                  <a:lnTo>
                    <a:pt x="6269" y="621122"/>
                  </a:lnTo>
                  <a:lnTo>
                    <a:pt x="13959" y="575878"/>
                  </a:lnTo>
                  <a:lnTo>
                    <a:pt x="24554" y="531632"/>
                  </a:lnTo>
                  <a:lnTo>
                    <a:pt x="37957" y="488480"/>
                  </a:lnTo>
                  <a:lnTo>
                    <a:pt x="54070" y="446516"/>
                  </a:lnTo>
                  <a:lnTo>
                    <a:pt x="72795" y="405833"/>
                  </a:lnTo>
                  <a:lnTo>
                    <a:pt x="94032" y="366526"/>
                  </a:lnTo>
                  <a:lnTo>
                    <a:pt x="117685" y="328689"/>
                  </a:lnTo>
                  <a:lnTo>
                    <a:pt x="143655" y="292416"/>
                  </a:lnTo>
                  <a:lnTo>
                    <a:pt x="171845" y="257801"/>
                  </a:lnTo>
                  <a:lnTo>
                    <a:pt x="202155" y="224939"/>
                  </a:lnTo>
                  <a:lnTo>
                    <a:pt x="234488" y="193922"/>
                  </a:lnTo>
                  <a:lnTo>
                    <a:pt x="268746" y="164846"/>
                  </a:lnTo>
                  <a:lnTo>
                    <a:pt x="304830" y="137805"/>
                  </a:lnTo>
                  <a:lnTo>
                    <a:pt x="342643" y="112893"/>
                  </a:lnTo>
                  <a:lnTo>
                    <a:pt x="382086" y="90203"/>
                  </a:lnTo>
                  <a:lnTo>
                    <a:pt x="423062" y="69830"/>
                  </a:lnTo>
                  <a:lnTo>
                    <a:pt x="465472" y="51868"/>
                  </a:lnTo>
                  <a:lnTo>
                    <a:pt x="509218" y="36412"/>
                  </a:lnTo>
                  <a:lnTo>
                    <a:pt x="554201" y="23554"/>
                  </a:lnTo>
                  <a:lnTo>
                    <a:pt x="600325" y="13390"/>
                  </a:lnTo>
                  <a:lnTo>
                    <a:pt x="647491" y="6014"/>
                  </a:lnTo>
                  <a:lnTo>
                    <a:pt x="695600" y="1519"/>
                  </a:lnTo>
                  <a:lnTo>
                    <a:pt x="744555" y="0"/>
                  </a:lnTo>
                  <a:lnTo>
                    <a:pt x="793509" y="1519"/>
                  </a:lnTo>
                  <a:lnTo>
                    <a:pt x="841618" y="6014"/>
                  </a:lnTo>
                  <a:lnTo>
                    <a:pt x="888784" y="13390"/>
                  </a:lnTo>
                  <a:lnTo>
                    <a:pt x="934908" y="23554"/>
                  </a:lnTo>
                  <a:lnTo>
                    <a:pt x="979891" y="36412"/>
                  </a:lnTo>
                  <a:lnTo>
                    <a:pt x="1023637" y="51868"/>
                  </a:lnTo>
                  <a:lnTo>
                    <a:pt x="1066047" y="69830"/>
                  </a:lnTo>
                  <a:lnTo>
                    <a:pt x="1107023" y="90203"/>
                  </a:lnTo>
                  <a:lnTo>
                    <a:pt x="1146466" y="112893"/>
                  </a:lnTo>
                  <a:lnTo>
                    <a:pt x="1184279" y="137805"/>
                  </a:lnTo>
                  <a:lnTo>
                    <a:pt x="1220363" y="164846"/>
                  </a:lnTo>
                  <a:lnTo>
                    <a:pt x="1254621" y="193922"/>
                  </a:lnTo>
                  <a:lnTo>
                    <a:pt x="1286954" y="224939"/>
                  </a:lnTo>
                  <a:lnTo>
                    <a:pt x="1317264" y="257801"/>
                  </a:lnTo>
                  <a:lnTo>
                    <a:pt x="1345454" y="292416"/>
                  </a:lnTo>
                  <a:lnTo>
                    <a:pt x="1371424" y="328689"/>
                  </a:lnTo>
                  <a:lnTo>
                    <a:pt x="1395077" y="366526"/>
                  </a:lnTo>
                  <a:lnTo>
                    <a:pt x="1416314" y="405833"/>
                  </a:lnTo>
                  <a:lnTo>
                    <a:pt x="1435039" y="446516"/>
                  </a:lnTo>
                  <a:lnTo>
                    <a:pt x="1451152" y="488480"/>
                  </a:lnTo>
                  <a:lnTo>
                    <a:pt x="1464555" y="531632"/>
                  </a:lnTo>
                  <a:lnTo>
                    <a:pt x="1475150" y="575878"/>
                  </a:lnTo>
                  <a:lnTo>
                    <a:pt x="1482840" y="621122"/>
                  </a:lnTo>
                  <a:lnTo>
                    <a:pt x="1487526" y="667272"/>
                  </a:lnTo>
                  <a:lnTo>
                    <a:pt x="1489110" y="714233"/>
                  </a:lnTo>
                  <a:lnTo>
                    <a:pt x="1487526" y="761194"/>
                  </a:lnTo>
                  <a:lnTo>
                    <a:pt x="1482840" y="807344"/>
                  </a:lnTo>
                  <a:lnTo>
                    <a:pt x="1475150" y="852589"/>
                  </a:lnTo>
                  <a:lnTo>
                    <a:pt x="1464555" y="896835"/>
                  </a:lnTo>
                  <a:lnTo>
                    <a:pt x="1451152" y="939987"/>
                  </a:lnTo>
                  <a:lnTo>
                    <a:pt x="1435039" y="981951"/>
                  </a:lnTo>
                  <a:lnTo>
                    <a:pt x="1416314" y="1022634"/>
                  </a:lnTo>
                  <a:lnTo>
                    <a:pt x="1395077" y="1061941"/>
                  </a:lnTo>
                  <a:lnTo>
                    <a:pt x="1371424" y="1099778"/>
                  </a:lnTo>
                  <a:lnTo>
                    <a:pt x="1345454" y="1136051"/>
                  </a:lnTo>
                  <a:lnTo>
                    <a:pt x="1317264" y="1170665"/>
                  </a:lnTo>
                  <a:lnTo>
                    <a:pt x="1286954" y="1203528"/>
                  </a:lnTo>
                  <a:lnTo>
                    <a:pt x="1254621" y="1234544"/>
                  </a:lnTo>
                  <a:lnTo>
                    <a:pt x="1220363" y="1263620"/>
                  </a:lnTo>
                  <a:lnTo>
                    <a:pt x="1184279" y="1290661"/>
                  </a:lnTo>
                  <a:lnTo>
                    <a:pt x="1146466" y="1315574"/>
                  </a:lnTo>
                  <a:lnTo>
                    <a:pt x="1107023" y="1338264"/>
                  </a:lnTo>
                  <a:lnTo>
                    <a:pt x="1066047" y="1358637"/>
                  </a:lnTo>
                  <a:lnTo>
                    <a:pt x="1023637" y="1376598"/>
                  </a:lnTo>
                  <a:lnTo>
                    <a:pt x="979891" y="1392055"/>
                  </a:lnTo>
                  <a:lnTo>
                    <a:pt x="934908" y="1404912"/>
                  </a:lnTo>
                  <a:lnTo>
                    <a:pt x="888784" y="1415076"/>
                  </a:lnTo>
                  <a:lnTo>
                    <a:pt x="841618" y="1422453"/>
                  </a:lnTo>
                  <a:lnTo>
                    <a:pt x="793509" y="1426948"/>
                  </a:lnTo>
                  <a:lnTo>
                    <a:pt x="744555" y="1428467"/>
                  </a:lnTo>
                  <a:lnTo>
                    <a:pt x="695600" y="1426948"/>
                  </a:lnTo>
                  <a:lnTo>
                    <a:pt x="647491" y="1422453"/>
                  </a:lnTo>
                  <a:lnTo>
                    <a:pt x="600325" y="1415076"/>
                  </a:lnTo>
                  <a:lnTo>
                    <a:pt x="554201" y="1404912"/>
                  </a:lnTo>
                  <a:lnTo>
                    <a:pt x="509218" y="1392055"/>
                  </a:lnTo>
                  <a:lnTo>
                    <a:pt x="465472" y="1376598"/>
                  </a:lnTo>
                  <a:lnTo>
                    <a:pt x="423062" y="1358637"/>
                  </a:lnTo>
                  <a:lnTo>
                    <a:pt x="382086" y="1338264"/>
                  </a:lnTo>
                  <a:lnTo>
                    <a:pt x="342643" y="1315574"/>
                  </a:lnTo>
                  <a:lnTo>
                    <a:pt x="304830" y="1290661"/>
                  </a:lnTo>
                  <a:lnTo>
                    <a:pt x="268746" y="1263620"/>
                  </a:lnTo>
                  <a:lnTo>
                    <a:pt x="234488" y="1234544"/>
                  </a:lnTo>
                  <a:lnTo>
                    <a:pt x="202155" y="1203528"/>
                  </a:lnTo>
                  <a:lnTo>
                    <a:pt x="171845" y="1170665"/>
                  </a:lnTo>
                  <a:lnTo>
                    <a:pt x="143655" y="1136051"/>
                  </a:lnTo>
                  <a:lnTo>
                    <a:pt x="117685" y="1099778"/>
                  </a:lnTo>
                  <a:lnTo>
                    <a:pt x="94032" y="1061941"/>
                  </a:lnTo>
                  <a:lnTo>
                    <a:pt x="72795" y="1022634"/>
                  </a:lnTo>
                  <a:lnTo>
                    <a:pt x="54070" y="981951"/>
                  </a:lnTo>
                  <a:lnTo>
                    <a:pt x="37957" y="939987"/>
                  </a:lnTo>
                  <a:lnTo>
                    <a:pt x="24554" y="896835"/>
                  </a:lnTo>
                  <a:lnTo>
                    <a:pt x="13959" y="852589"/>
                  </a:lnTo>
                  <a:lnTo>
                    <a:pt x="6269" y="807344"/>
                  </a:lnTo>
                  <a:lnTo>
                    <a:pt x="1583" y="761194"/>
                  </a:lnTo>
                  <a:lnTo>
                    <a:pt x="0" y="714233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705774" y="3379092"/>
              <a:ext cx="2924175" cy="2407920"/>
            </a:xfrm>
            <a:custGeom>
              <a:avLst/>
              <a:gdLst/>
              <a:ahLst/>
              <a:cxnLst/>
              <a:rect l="l" t="t" r="r" b="b"/>
              <a:pathLst>
                <a:path w="2924175" h="2407920">
                  <a:moveTo>
                    <a:pt x="55203" y="2283771"/>
                  </a:moveTo>
                  <a:lnTo>
                    <a:pt x="0" y="2407626"/>
                  </a:lnTo>
                  <a:lnTo>
                    <a:pt x="132205" y="2377476"/>
                  </a:lnTo>
                  <a:lnTo>
                    <a:pt x="117082" y="2359073"/>
                  </a:lnTo>
                  <a:lnTo>
                    <a:pt x="90924" y="2359073"/>
                  </a:lnTo>
                  <a:lnTo>
                    <a:pt x="65256" y="2327837"/>
                  </a:lnTo>
                  <a:lnTo>
                    <a:pt x="80870" y="2315006"/>
                  </a:lnTo>
                  <a:lnTo>
                    <a:pt x="55203" y="2283771"/>
                  </a:lnTo>
                  <a:close/>
                </a:path>
                <a:path w="2924175" h="2407920">
                  <a:moveTo>
                    <a:pt x="80870" y="2315006"/>
                  </a:moveTo>
                  <a:lnTo>
                    <a:pt x="65256" y="2327837"/>
                  </a:lnTo>
                  <a:lnTo>
                    <a:pt x="90924" y="2359073"/>
                  </a:lnTo>
                  <a:lnTo>
                    <a:pt x="106538" y="2346242"/>
                  </a:lnTo>
                  <a:lnTo>
                    <a:pt x="80870" y="2315006"/>
                  </a:lnTo>
                  <a:close/>
                </a:path>
                <a:path w="2924175" h="2407920">
                  <a:moveTo>
                    <a:pt x="106538" y="2346242"/>
                  </a:moveTo>
                  <a:lnTo>
                    <a:pt x="90924" y="2359073"/>
                  </a:lnTo>
                  <a:lnTo>
                    <a:pt x="117082" y="2359073"/>
                  </a:lnTo>
                  <a:lnTo>
                    <a:pt x="106538" y="2346242"/>
                  </a:lnTo>
                  <a:close/>
                </a:path>
                <a:path w="2924175" h="2407920">
                  <a:moveTo>
                    <a:pt x="2898005" y="0"/>
                  </a:moveTo>
                  <a:lnTo>
                    <a:pt x="80870" y="2315006"/>
                  </a:lnTo>
                  <a:lnTo>
                    <a:pt x="106538" y="2346242"/>
                  </a:lnTo>
                  <a:lnTo>
                    <a:pt x="2923673" y="31234"/>
                  </a:lnTo>
                  <a:lnTo>
                    <a:pt x="2898005" y="0"/>
                  </a:lnTo>
                  <a:close/>
                </a:path>
              </a:pathLst>
            </a:custGeom>
            <a:solidFill>
              <a:srgbClr val="FC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053723" y="3152139"/>
              <a:ext cx="2320925" cy="2950845"/>
            </a:xfrm>
            <a:custGeom>
              <a:avLst/>
              <a:gdLst/>
              <a:ahLst/>
              <a:cxnLst/>
              <a:rect l="l" t="t" r="r" b="b"/>
              <a:pathLst>
                <a:path w="2320925" h="2950845">
                  <a:moveTo>
                    <a:pt x="2229558" y="82953"/>
                  </a:moveTo>
                  <a:lnTo>
                    <a:pt x="0" y="2925316"/>
                  </a:lnTo>
                  <a:lnTo>
                    <a:pt x="31809" y="2950268"/>
                  </a:lnTo>
                  <a:lnTo>
                    <a:pt x="2261368" y="107905"/>
                  </a:lnTo>
                  <a:lnTo>
                    <a:pt x="2229558" y="82953"/>
                  </a:lnTo>
                  <a:close/>
                </a:path>
                <a:path w="2320925" h="2950845">
                  <a:moveTo>
                    <a:pt x="2306624" y="67038"/>
                  </a:moveTo>
                  <a:lnTo>
                    <a:pt x="2242042" y="67038"/>
                  </a:lnTo>
                  <a:lnTo>
                    <a:pt x="2273852" y="91989"/>
                  </a:lnTo>
                  <a:lnTo>
                    <a:pt x="2261368" y="107905"/>
                  </a:lnTo>
                  <a:lnTo>
                    <a:pt x="2293179" y="132857"/>
                  </a:lnTo>
                  <a:lnTo>
                    <a:pt x="2306624" y="67038"/>
                  </a:lnTo>
                  <a:close/>
                </a:path>
                <a:path w="2320925" h="2950845">
                  <a:moveTo>
                    <a:pt x="2242042" y="67038"/>
                  </a:moveTo>
                  <a:lnTo>
                    <a:pt x="2229558" y="82953"/>
                  </a:lnTo>
                  <a:lnTo>
                    <a:pt x="2261368" y="107905"/>
                  </a:lnTo>
                  <a:lnTo>
                    <a:pt x="2273852" y="91989"/>
                  </a:lnTo>
                  <a:lnTo>
                    <a:pt x="2242042" y="67038"/>
                  </a:lnTo>
                  <a:close/>
                </a:path>
                <a:path w="2320925" h="2950845">
                  <a:moveTo>
                    <a:pt x="2320319" y="0"/>
                  </a:moveTo>
                  <a:lnTo>
                    <a:pt x="2197748" y="58002"/>
                  </a:lnTo>
                  <a:lnTo>
                    <a:pt x="2229558" y="82953"/>
                  </a:lnTo>
                  <a:lnTo>
                    <a:pt x="2242042" y="67038"/>
                  </a:lnTo>
                  <a:lnTo>
                    <a:pt x="2306624" y="67038"/>
                  </a:lnTo>
                  <a:lnTo>
                    <a:pt x="2320319" y="0"/>
                  </a:lnTo>
                  <a:close/>
                </a:path>
              </a:pathLst>
            </a:custGeom>
            <a:solidFill>
              <a:srgbClr val="00AE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649100" y="5466661"/>
              <a:ext cx="2938145" cy="1843405"/>
            </a:xfrm>
            <a:custGeom>
              <a:avLst/>
              <a:gdLst/>
              <a:ahLst/>
              <a:cxnLst/>
              <a:rect l="l" t="t" r="r" b="b"/>
              <a:pathLst>
                <a:path w="2938145" h="1843404">
                  <a:moveTo>
                    <a:pt x="2937791" y="0"/>
                  </a:moveTo>
                  <a:lnTo>
                    <a:pt x="0" y="0"/>
                  </a:lnTo>
                  <a:lnTo>
                    <a:pt x="0" y="1842858"/>
                  </a:lnTo>
                  <a:lnTo>
                    <a:pt x="2937791" y="1842858"/>
                  </a:lnTo>
                  <a:lnTo>
                    <a:pt x="29377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192485" y="4843183"/>
            <a:ext cx="2306171" cy="156211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742429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Read</a:t>
            </a:r>
            <a:r>
              <a:rPr sz="1677" b="1" spc="-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miss: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Sharers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+=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{P};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send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Fetch;</a:t>
            </a:r>
            <a:endParaRPr sz="1677">
              <a:latin typeface="Arial"/>
              <a:cs typeface="Arial"/>
            </a:endParaRPr>
          </a:p>
          <a:p>
            <a:pPr marL="11206" marR="4483">
              <a:lnSpc>
                <a:spcPct val="98400"/>
              </a:lnSpc>
              <a:spcBef>
                <a:spcPts val="53"/>
              </a:spcBef>
            </a:pP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send</a:t>
            </a:r>
            <a:r>
              <a:rPr sz="1677" b="1" spc="-53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Data</a:t>
            </a:r>
            <a:r>
              <a:rPr sz="1677" b="1" spc="-49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Value</a:t>
            </a:r>
            <a:r>
              <a:rPr sz="1677" b="1" spc="-53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Reply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msg</a:t>
            </a:r>
            <a:r>
              <a:rPr sz="1677" b="1" spc="-31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to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remote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008000"/>
                </a:solidFill>
                <a:latin typeface="Arial"/>
                <a:cs typeface="Arial"/>
              </a:rPr>
              <a:t>cache </a:t>
            </a:r>
            <a:r>
              <a:rPr sz="1677" i="1" dirty="0">
                <a:solidFill>
                  <a:srgbClr val="008000"/>
                </a:solidFill>
                <a:latin typeface="Arial"/>
                <a:cs typeface="Arial"/>
              </a:rPr>
              <a:t>(Write</a:t>
            </a:r>
            <a:r>
              <a:rPr sz="1677" i="1" spc="-13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008000"/>
                </a:solidFill>
                <a:latin typeface="Arial"/>
                <a:cs typeface="Arial"/>
              </a:rPr>
              <a:t>back</a:t>
            </a:r>
            <a:r>
              <a:rPr sz="1677" i="1" spc="-13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i="1" spc="-9" dirty="0">
                <a:solidFill>
                  <a:srgbClr val="008000"/>
                </a:solidFill>
                <a:latin typeface="Arial"/>
                <a:cs typeface="Arial"/>
              </a:rPr>
              <a:t>block)</a:t>
            </a:r>
            <a:endParaRPr sz="1677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26947" y="783664"/>
            <a:ext cx="2152650" cy="862293"/>
          </a:xfrm>
          <a:custGeom>
            <a:avLst/>
            <a:gdLst/>
            <a:ahLst/>
            <a:cxnLst/>
            <a:rect l="l" t="t" r="r" b="b"/>
            <a:pathLst>
              <a:path w="2439670" h="977264">
                <a:moveTo>
                  <a:pt x="2439181" y="0"/>
                </a:moveTo>
                <a:lnTo>
                  <a:pt x="0" y="0"/>
                </a:lnTo>
                <a:lnTo>
                  <a:pt x="0" y="977035"/>
                </a:lnTo>
                <a:lnTo>
                  <a:pt x="2439181" y="977035"/>
                </a:lnTo>
                <a:lnTo>
                  <a:pt x="2439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 txBox="1"/>
          <p:nvPr/>
        </p:nvSpPr>
        <p:spPr>
          <a:xfrm>
            <a:off x="6500461" y="803685"/>
            <a:ext cx="1567703" cy="51362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Read</a:t>
            </a:r>
            <a:r>
              <a:rPr sz="1677" b="1" spc="-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miss: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Sharers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+=</a:t>
            </a:r>
            <a:r>
              <a:rPr sz="1677" b="1" spc="-26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{P};</a:t>
            </a:r>
            <a:endParaRPr sz="1677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00461" y="1320052"/>
            <a:ext cx="230617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send</a:t>
            </a:r>
            <a:r>
              <a:rPr sz="1677" b="1" spc="-53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Data</a:t>
            </a:r>
            <a:r>
              <a:rPr sz="1677" b="1" spc="-49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008000"/>
                </a:solidFill>
                <a:latin typeface="Arial"/>
                <a:cs typeface="Arial"/>
              </a:rPr>
              <a:t>Value</a:t>
            </a:r>
            <a:r>
              <a:rPr sz="1677" b="1" spc="-53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008000"/>
                </a:solidFill>
                <a:latin typeface="Arial"/>
                <a:cs typeface="Arial"/>
              </a:rPr>
              <a:t>Reply</a:t>
            </a:r>
            <a:endParaRPr sz="1677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8899" y="4800152"/>
            <a:ext cx="2306171" cy="13097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867382" algn="just">
              <a:spcBef>
                <a:spcPts val="88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1677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Miss: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Sharers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677" b="1" spc="-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{P};</a:t>
            </a:r>
            <a:endParaRPr sz="1677">
              <a:latin typeface="Arial"/>
              <a:cs typeface="Arial"/>
            </a:endParaRPr>
          </a:p>
          <a:p>
            <a:pPr marL="11206" marR="4483" algn="just">
              <a:lnSpc>
                <a:spcPts val="2030"/>
              </a:lnSpc>
              <a:spcBef>
                <a:spcPts val="71"/>
              </a:spcBef>
            </a:pP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send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Fetch/Invalidate;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send</a:t>
            </a:r>
            <a:r>
              <a:rPr sz="1677" b="1" spc="-5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1677" b="1" spc="-4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1677" b="1" spc="-5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18" dirty="0">
                <a:solidFill>
                  <a:srgbClr val="FF0000"/>
                </a:solidFill>
                <a:latin typeface="Arial"/>
                <a:cs typeface="Arial"/>
              </a:rPr>
              <a:t>Reply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msg</a:t>
            </a:r>
            <a:r>
              <a:rPr sz="1677" b="1" spc="-3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677" b="1" spc="-2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remote</a:t>
            </a:r>
            <a:r>
              <a:rPr sz="1677" b="1" spc="-2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cache</a:t>
            </a:r>
            <a:endParaRPr sz="1677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14214" y="2375504"/>
            <a:ext cx="178174" cy="151840"/>
          </a:xfrm>
          <a:custGeom>
            <a:avLst/>
            <a:gdLst/>
            <a:ahLst/>
            <a:cxnLst/>
            <a:rect l="l" t="t" r="r" b="b"/>
            <a:pathLst>
              <a:path w="201929" h="172085">
                <a:moveTo>
                  <a:pt x="201763" y="0"/>
                </a:moveTo>
                <a:lnTo>
                  <a:pt x="0" y="25751"/>
                </a:lnTo>
                <a:lnTo>
                  <a:pt x="141660" y="171711"/>
                </a:lnTo>
                <a:lnTo>
                  <a:pt x="201763" y="0"/>
                </a:lnTo>
                <a:close/>
              </a:path>
            </a:pathLst>
          </a:custGeom>
          <a:solidFill>
            <a:srgbClr val="00AE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1008451" y="679748"/>
            <a:ext cx="378478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Directory</a:t>
            </a:r>
            <a:r>
              <a:rPr spc="-18" dirty="0"/>
              <a:t> </a:t>
            </a:r>
            <a:r>
              <a:rPr dirty="0">
                <a:latin typeface="Calibri"/>
                <a:cs typeface="Calibri"/>
              </a:rPr>
              <a:t>State</a:t>
            </a:r>
            <a:r>
              <a:rPr spc="-22" dirty="0"/>
              <a:t> </a:t>
            </a:r>
            <a:r>
              <a:rPr spc="-9" dirty="0"/>
              <a:t>Machine</a:t>
            </a:r>
          </a:p>
        </p:txBody>
      </p:sp>
      <p:sp>
        <p:nvSpPr>
          <p:cNvPr id="37" name="Slide Number Placeholder 39">
            <a:extLst>
              <a:ext uri="{FF2B5EF4-FFF2-40B4-BE49-F238E27FC236}">
                <a16:creationId xmlns:a16="http://schemas.microsoft.com/office/drawing/2014/main" id="{7FD1D726-539D-95B5-D998-4CDB09FB68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1338" y="2382961"/>
          <a:ext cx="7814976" cy="24873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7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62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Bus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Directory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65" dirty="0">
                          <a:latin typeface="Verdana"/>
                          <a:cs typeface="Verdana"/>
                        </a:rPr>
                        <a:t>Memor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 marR="5778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latin typeface="Verdana"/>
                          <a:cs typeface="Verdana"/>
                        </a:rPr>
                        <a:t>step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Stat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Add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Actio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Proc.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{Procs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63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50165" algn="ctr">
                        <a:lnSpc>
                          <a:spcPts val="1365"/>
                        </a:lnSpc>
                        <a:spcBef>
                          <a:spcPts val="200"/>
                        </a:spcBef>
                      </a:pP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P2:</a:t>
                      </a:r>
                      <a:r>
                        <a:rPr sz="1300" spc="-8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241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40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78262" y="5270799"/>
            <a:ext cx="384978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8033" y="1970891"/>
            <a:ext cx="25667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25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44" dirty="0">
                <a:latin typeface="Arial"/>
                <a:cs typeface="Arial"/>
              </a:rPr>
              <a:t>2</a:t>
            </a:r>
            <a:endParaRPr sz="16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6945" y="1970891"/>
            <a:ext cx="130604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Interconnect</a:t>
            </a:r>
            <a:endParaRPr sz="167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1005" y="1970891"/>
            <a:ext cx="84268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Memory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3007" y="1970891"/>
            <a:ext cx="9614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0" name="Slide Number Placeholder 39">
            <a:extLst>
              <a:ext uri="{FF2B5EF4-FFF2-40B4-BE49-F238E27FC236}">
                <a16:creationId xmlns:a16="http://schemas.microsoft.com/office/drawing/2014/main" id="{66065DC5-DDDD-FA3F-404D-68105B074E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1337" y="2280156"/>
          <a:ext cx="7814976" cy="2670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7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62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Bus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Directory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65" dirty="0">
                          <a:latin typeface="Verdana"/>
                          <a:cs typeface="Verdana"/>
                        </a:rPr>
                        <a:t>Memor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 marR="5778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latin typeface="Verdana"/>
                          <a:cs typeface="Verdana"/>
                        </a:rPr>
                        <a:t>step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Stat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Add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Actio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Proc.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{Procs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1484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{P1}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422">
                <a:tc gridSpan="2">
                  <a:txBody>
                    <a:bodyPr/>
                    <a:lstStyle/>
                    <a:p>
                      <a:pPr marR="12446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63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50165" algn="ctr">
                        <a:lnSpc>
                          <a:spcPts val="156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P2:</a:t>
                      </a:r>
                      <a:r>
                        <a:rPr sz="1300" spc="-8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40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78262" y="5270799"/>
            <a:ext cx="384978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8033" y="1970891"/>
            <a:ext cx="25667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25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44" dirty="0">
                <a:latin typeface="Arial"/>
                <a:cs typeface="Arial"/>
              </a:rPr>
              <a:t>2</a:t>
            </a:r>
            <a:endParaRPr sz="16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6945" y="1970891"/>
            <a:ext cx="130604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Interconnect</a:t>
            </a:r>
            <a:endParaRPr sz="167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1005" y="1970891"/>
            <a:ext cx="84268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Memory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3007" y="1970891"/>
            <a:ext cx="9614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0" name="Slide Number Placeholder 39">
            <a:extLst>
              <a:ext uri="{FF2B5EF4-FFF2-40B4-BE49-F238E27FC236}">
                <a16:creationId xmlns:a16="http://schemas.microsoft.com/office/drawing/2014/main" id="{5EE25A3E-93CA-BF2C-9057-3E28944552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1338" y="2382961"/>
          <a:ext cx="7814976" cy="24873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7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81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62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Bus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Directory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65" dirty="0">
                          <a:latin typeface="Verdana"/>
                          <a:cs typeface="Verdana"/>
                        </a:rPr>
                        <a:t>Memor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 marR="5778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latin typeface="Verdana"/>
                          <a:cs typeface="Verdana"/>
                        </a:rPr>
                        <a:t>step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Stat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Add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Actio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Proc.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{Procs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1484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{P1}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12446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63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50165" algn="ctr">
                        <a:lnSpc>
                          <a:spcPts val="1365"/>
                        </a:lnSpc>
                        <a:spcBef>
                          <a:spcPts val="200"/>
                        </a:spcBef>
                      </a:pP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P2:</a:t>
                      </a:r>
                      <a:r>
                        <a:rPr sz="1300" spc="-8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2412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40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78262" y="5270799"/>
            <a:ext cx="384978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8033" y="1970891"/>
            <a:ext cx="25667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25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44" dirty="0">
                <a:latin typeface="Arial"/>
                <a:cs typeface="Arial"/>
              </a:rPr>
              <a:t>2</a:t>
            </a:r>
            <a:endParaRPr sz="16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6945" y="1970891"/>
            <a:ext cx="130604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Interconnect</a:t>
            </a:r>
            <a:endParaRPr sz="167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1005" y="1970891"/>
            <a:ext cx="84268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Memory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3007" y="1970891"/>
            <a:ext cx="9614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0" name="Slide Number Placeholder 39">
            <a:extLst>
              <a:ext uri="{FF2B5EF4-FFF2-40B4-BE49-F238E27FC236}">
                <a16:creationId xmlns:a16="http://schemas.microsoft.com/office/drawing/2014/main" id="{60C476A4-521B-212A-DDE4-678AAD4FC8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52677" y="4263904"/>
            <a:ext cx="45384" cy="8965"/>
            <a:chOff x="9313967" y="4832425"/>
            <a:chExt cx="51435" cy="10160"/>
          </a:xfrm>
        </p:grpSpPr>
        <p:sp>
          <p:nvSpPr>
            <p:cNvPr id="4" name="object 4"/>
            <p:cNvSpPr/>
            <p:nvPr/>
          </p:nvSpPr>
          <p:spPr>
            <a:xfrm>
              <a:off x="9314602" y="4833060"/>
              <a:ext cx="50165" cy="0"/>
            </a:xfrm>
            <a:custGeom>
              <a:avLst/>
              <a:gdLst/>
              <a:ahLst/>
              <a:cxnLst/>
              <a:rect l="l" t="t" r="r" b="b"/>
              <a:pathLst>
                <a:path w="50165">
                  <a:moveTo>
                    <a:pt x="0" y="0"/>
                  </a:moveTo>
                  <a:lnTo>
                    <a:pt x="495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9314602" y="4833060"/>
              <a:ext cx="50165" cy="9525"/>
            </a:xfrm>
            <a:custGeom>
              <a:avLst/>
              <a:gdLst/>
              <a:ahLst/>
              <a:cxnLst/>
              <a:rect l="l" t="t" r="r" b="b"/>
              <a:pathLst>
                <a:path w="50165" h="9525">
                  <a:moveTo>
                    <a:pt x="0" y="9388"/>
                  </a:moveTo>
                  <a:lnTo>
                    <a:pt x="49540" y="9388"/>
                  </a:lnTo>
                  <a:lnTo>
                    <a:pt x="49540" y="0"/>
                  </a:lnTo>
                  <a:lnTo>
                    <a:pt x="0" y="0"/>
                  </a:lnTo>
                  <a:lnTo>
                    <a:pt x="0" y="93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/>
          <p:nvPr/>
        </p:nvSpPr>
        <p:spPr>
          <a:xfrm>
            <a:off x="2471682" y="3674655"/>
            <a:ext cx="357468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990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8006364" y="3674655"/>
            <a:ext cx="199465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0" y="0"/>
                </a:moveTo>
                <a:lnTo>
                  <a:pt x="225985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8039605" y="3891692"/>
            <a:ext cx="199465" cy="179918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>
              <a:spcBef>
                <a:spcPts val="26"/>
              </a:spcBef>
            </a:pPr>
            <a:r>
              <a:rPr sz="1147" spc="26" dirty="0">
                <a:latin typeface="Verdana"/>
                <a:cs typeface="Verdana"/>
              </a:rPr>
              <a:t>10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9605" y="4082220"/>
            <a:ext cx="199465" cy="179918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>
              <a:spcBef>
                <a:spcPts val="26"/>
              </a:spcBef>
            </a:pPr>
            <a:r>
              <a:rPr sz="1147" spc="26" dirty="0">
                <a:latin typeface="Verdana"/>
                <a:cs typeface="Verdana"/>
              </a:rPr>
              <a:t>10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39605" y="4272748"/>
            <a:ext cx="199465" cy="179918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>
              <a:spcBef>
                <a:spcPts val="26"/>
              </a:spcBef>
            </a:pPr>
            <a:r>
              <a:rPr sz="1147" spc="26" dirty="0">
                <a:latin typeface="Verdana"/>
                <a:cs typeface="Verdana"/>
              </a:rPr>
              <a:t>10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8033" y="1970891"/>
            <a:ext cx="25667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25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44" dirty="0">
                <a:latin typeface="Arial"/>
                <a:cs typeface="Arial"/>
              </a:rPr>
              <a:t>2</a:t>
            </a:r>
            <a:endParaRPr sz="1677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6945" y="1970891"/>
            <a:ext cx="130604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Interconnect</a:t>
            </a:r>
            <a:endParaRPr sz="167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1005" y="1970891"/>
            <a:ext cx="84268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Memory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13007" y="1970891"/>
            <a:ext cx="9614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9000" y="3522019"/>
            <a:ext cx="204507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i="1" spc="-35" dirty="0">
                <a:solidFill>
                  <a:srgbClr val="FC0128"/>
                </a:solidFill>
                <a:latin typeface="Arial"/>
                <a:cs typeface="Arial"/>
              </a:rPr>
              <a:t>A1</a:t>
            </a:r>
            <a:endParaRPr sz="1324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33800" y="3670733"/>
            <a:ext cx="1492623" cy="1719542"/>
            <a:chOff x="4079240" y="4160164"/>
            <a:chExt cx="1691639" cy="1948814"/>
          </a:xfrm>
        </p:grpSpPr>
        <p:sp>
          <p:nvSpPr>
            <p:cNvPr id="17" name="object 17"/>
            <p:cNvSpPr/>
            <p:nvPr/>
          </p:nvSpPr>
          <p:spPr>
            <a:xfrm>
              <a:off x="5408424" y="4164609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39">
                  <a:moveTo>
                    <a:pt x="0" y="0"/>
                  </a:moveTo>
                  <a:lnTo>
                    <a:pt x="357898" y="0"/>
                  </a:lnTo>
                </a:path>
              </a:pathLst>
            </a:custGeom>
            <a:ln w="8449">
              <a:solidFill>
                <a:srgbClr val="DD090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9240" y="5581395"/>
              <a:ext cx="1277112" cy="52730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878262" y="4846107"/>
            <a:ext cx="3849781" cy="700422"/>
          </a:xfrm>
          <a:prstGeom prst="rect">
            <a:avLst/>
          </a:prstGeom>
        </p:spPr>
        <p:txBody>
          <a:bodyPr vert="horz" wrap="square" lIns="0" tIns="109257" rIns="0" bIns="0" rtlCol="0">
            <a:spAutoFit/>
          </a:bodyPr>
          <a:lstStyle/>
          <a:p>
            <a:pPr marL="944146">
              <a:spcBef>
                <a:spcPts val="860"/>
              </a:spcBef>
            </a:pPr>
            <a:r>
              <a:rPr sz="1324" i="1" u="sng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"/>
                <a:cs typeface="Arial"/>
              </a:rPr>
              <a:t>Write</a:t>
            </a:r>
            <a:r>
              <a:rPr sz="1324" i="1" u="sng" spc="-66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"/>
                <a:cs typeface="Arial"/>
              </a:rPr>
              <a:t> </a:t>
            </a:r>
            <a:r>
              <a:rPr sz="1324" i="1" u="sng" spc="-18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"/>
                <a:cs typeface="Arial"/>
              </a:rPr>
              <a:t>Back</a:t>
            </a:r>
            <a:endParaRPr sz="1324" dirty="0">
              <a:latin typeface="Arial"/>
              <a:cs typeface="Arial"/>
            </a:endParaRPr>
          </a:p>
          <a:p>
            <a:pPr marL="11206">
              <a:spcBef>
                <a:spcPts val="984"/>
              </a:spcBef>
            </a:pP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09334" y="3637429"/>
            <a:ext cx="707651" cy="1355912"/>
          </a:xfrm>
          <a:custGeom>
            <a:avLst/>
            <a:gdLst/>
            <a:ahLst/>
            <a:cxnLst/>
            <a:rect l="l" t="t" r="r" b="b"/>
            <a:pathLst>
              <a:path w="802004" h="1536700">
                <a:moveTo>
                  <a:pt x="0" y="1536276"/>
                </a:moveTo>
                <a:lnTo>
                  <a:pt x="801828" y="0"/>
                </a:lnTo>
              </a:path>
            </a:pathLst>
          </a:custGeom>
          <a:ln w="26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7425764" y="3566085"/>
            <a:ext cx="428065" cy="142875"/>
          </a:xfrm>
          <a:custGeom>
            <a:avLst/>
            <a:gdLst/>
            <a:ahLst/>
            <a:cxnLst/>
            <a:rect l="l" t="t" r="r" b="b"/>
            <a:pathLst>
              <a:path w="485140" h="161925">
                <a:moveTo>
                  <a:pt x="485140" y="0"/>
                </a:moveTo>
                <a:lnTo>
                  <a:pt x="0" y="0"/>
                </a:lnTo>
                <a:lnTo>
                  <a:pt x="0" y="161714"/>
                </a:lnTo>
                <a:lnTo>
                  <a:pt x="485140" y="161714"/>
                </a:lnTo>
                <a:lnTo>
                  <a:pt x="485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701338" y="2359180"/>
          <a:ext cx="7969615" cy="28578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7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17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46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215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18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Bus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Directory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65" dirty="0">
                          <a:latin typeface="Verdana"/>
                          <a:cs typeface="Verdana"/>
                        </a:rPr>
                        <a:t>Memor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 marR="5778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latin typeface="Verdana"/>
                          <a:cs typeface="Verdana"/>
                        </a:rPr>
                        <a:t>step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Stat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Add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Actio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Proc.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16764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{Procs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211454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1484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16764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49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{P1}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12446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503555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503555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23545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Shar.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ctr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RdMs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marR="115570" algn="r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Shar.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Ftch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67640">
                        <a:lnSpc>
                          <a:spcPts val="1600"/>
                        </a:lnSpc>
                      </a:pPr>
                      <a:r>
                        <a:rPr sz="1300" i="1" spc="-25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A1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45415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Shar.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D090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100" spc="60" dirty="0">
                          <a:latin typeface="Verdana"/>
                          <a:cs typeface="Verdana"/>
                        </a:rPr>
                        <a:t>A1</a:t>
                      </a:r>
                      <a:r>
                        <a:rPr sz="11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u="sng" spc="-114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Sh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79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P1,P2}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190500">
                        <a:lnSpc>
                          <a:spcPts val="1565"/>
                        </a:lnSpc>
                      </a:pP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P2:</a:t>
                      </a:r>
                      <a:r>
                        <a:rPr sz="1300" spc="-8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D0907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211454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40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7925172" y="3922807"/>
            <a:ext cx="428065" cy="142875"/>
          </a:xfrm>
          <a:custGeom>
            <a:avLst/>
            <a:gdLst/>
            <a:ahLst/>
            <a:cxnLst/>
            <a:rect l="l" t="t" r="r" b="b"/>
            <a:pathLst>
              <a:path w="485140" h="161925">
                <a:moveTo>
                  <a:pt x="485140" y="0"/>
                </a:moveTo>
                <a:lnTo>
                  <a:pt x="0" y="0"/>
                </a:lnTo>
                <a:lnTo>
                  <a:pt x="0" y="161712"/>
                </a:lnTo>
                <a:lnTo>
                  <a:pt x="485140" y="161712"/>
                </a:lnTo>
                <a:lnTo>
                  <a:pt x="485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7925170" y="4136841"/>
            <a:ext cx="428065" cy="285750"/>
          </a:xfrm>
          <a:custGeom>
            <a:avLst/>
            <a:gdLst/>
            <a:ahLst/>
            <a:cxnLst/>
            <a:rect l="l" t="t" r="r" b="b"/>
            <a:pathLst>
              <a:path w="485140" h="323850">
                <a:moveTo>
                  <a:pt x="485140" y="0"/>
                </a:moveTo>
                <a:lnTo>
                  <a:pt x="0" y="0"/>
                </a:lnTo>
                <a:lnTo>
                  <a:pt x="0" y="161709"/>
                </a:lnTo>
                <a:lnTo>
                  <a:pt x="0" y="323430"/>
                </a:lnTo>
                <a:lnTo>
                  <a:pt x="485140" y="323430"/>
                </a:lnTo>
                <a:lnTo>
                  <a:pt x="485140" y="161709"/>
                </a:lnTo>
                <a:lnTo>
                  <a:pt x="485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Slide Number Placeholder 39">
            <a:extLst>
              <a:ext uri="{FF2B5EF4-FFF2-40B4-BE49-F238E27FC236}">
                <a16:creationId xmlns:a16="http://schemas.microsoft.com/office/drawing/2014/main" id="{0F81090B-1925-6657-740D-C837C9F022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8262" y="5661324"/>
            <a:ext cx="384978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71682" y="3674655"/>
            <a:ext cx="357468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990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4906609" y="3674655"/>
            <a:ext cx="316006" cy="0"/>
          </a:xfrm>
          <a:custGeom>
            <a:avLst/>
            <a:gdLst/>
            <a:ahLst/>
            <a:cxnLst/>
            <a:rect l="l" t="t" r="r" b="b"/>
            <a:pathLst>
              <a:path w="358139">
                <a:moveTo>
                  <a:pt x="0" y="0"/>
                </a:moveTo>
                <a:lnTo>
                  <a:pt x="357898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8006364" y="3674655"/>
            <a:ext cx="199465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0" y="0"/>
                </a:moveTo>
                <a:lnTo>
                  <a:pt x="225985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8039605" y="4272748"/>
            <a:ext cx="199465" cy="179918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>
              <a:spcBef>
                <a:spcPts val="26"/>
              </a:spcBef>
            </a:pPr>
            <a:r>
              <a:rPr sz="1147" spc="26" dirty="0">
                <a:latin typeface="Verdana"/>
                <a:cs typeface="Verdana"/>
              </a:rPr>
              <a:t>10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8033" y="1970891"/>
            <a:ext cx="25667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25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44" dirty="0">
                <a:latin typeface="Arial"/>
                <a:cs typeface="Arial"/>
              </a:rPr>
              <a:t>2</a:t>
            </a:r>
            <a:endParaRPr sz="167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6945" y="1970891"/>
            <a:ext cx="130604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Interconnect</a:t>
            </a:r>
            <a:endParaRPr sz="167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1005" y="1970891"/>
            <a:ext cx="84268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Memory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3007" y="1970891"/>
            <a:ext cx="9614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6836" y="3540845"/>
            <a:ext cx="204507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i="1" spc="-35" dirty="0">
                <a:solidFill>
                  <a:srgbClr val="FC0128"/>
                </a:solidFill>
                <a:latin typeface="Arial"/>
                <a:cs typeface="Arial"/>
              </a:rPr>
              <a:t>A1</a:t>
            </a:r>
            <a:endParaRPr sz="1324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25764" y="3566084"/>
            <a:ext cx="428065" cy="159684"/>
            <a:chOff x="8263466" y="4041562"/>
            <a:chExt cx="485140" cy="180975"/>
          </a:xfrm>
        </p:grpSpPr>
        <p:sp>
          <p:nvSpPr>
            <p:cNvPr id="14" name="object 14"/>
            <p:cNvSpPr/>
            <p:nvPr/>
          </p:nvSpPr>
          <p:spPr>
            <a:xfrm>
              <a:off x="8378013" y="4209389"/>
              <a:ext cx="228600" cy="12700"/>
            </a:xfrm>
            <a:custGeom>
              <a:avLst/>
              <a:gdLst/>
              <a:ahLst/>
              <a:cxnLst/>
              <a:rect l="l" t="t" r="r" b="b"/>
              <a:pathLst>
                <a:path w="228600" h="12700">
                  <a:moveTo>
                    <a:pt x="2286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28600" y="127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C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8263466" y="4041562"/>
              <a:ext cx="485140" cy="161925"/>
            </a:xfrm>
            <a:custGeom>
              <a:avLst/>
              <a:gdLst/>
              <a:ahLst/>
              <a:cxnLst/>
              <a:rect l="l" t="t" r="r" b="b"/>
              <a:pathLst>
                <a:path w="485140" h="161925">
                  <a:moveTo>
                    <a:pt x="485140" y="0"/>
                  </a:moveTo>
                  <a:lnTo>
                    <a:pt x="0" y="0"/>
                  </a:lnTo>
                  <a:lnTo>
                    <a:pt x="0" y="161714"/>
                  </a:lnTo>
                  <a:lnTo>
                    <a:pt x="485140" y="161714"/>
                  </a:lnTo>
                  <a:lnTo>
                    <a:pt x="485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01338" y="2359180"/>
          <a:ext cx="7969056" cy="30573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7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17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46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215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Bus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Directory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65" dirty="0">
                          <a:latin typeface="Verdana"/>
                          <a:cs typeface="Verdana"/>
                        </a:rPr>
                        <a:t>Memor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 marR="5778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latin typeface="Verdana"/>
                          <a:cs typeface="Verdana"/>
                        </a:rPr>
                        <a:t>step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Stat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Add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Actio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Proc.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16764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{Procs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211454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1484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16764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49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{P1}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12446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5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503555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503555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23545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Shar.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ctr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5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RdMs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marR="115570" algn="r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Shar.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Ftch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67640">
                        <a:lnSpc>
                          <a:spcPts val="1600"/>
                        </a:lnSpc>
                      </a:pPr>
                      <a:r>
                        <a:rPr sz="1300" i="1" spc="-25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A1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Shar.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5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100" spc="60" dirty="0">
                          <a:latin typeface="Verdana"/>
                          <a:cs typeface="Verdana"/>
                        </a:rPr>
                        <a:t>A1</a:t>
                      </a:r>
                      <a:r>
                        <a:rPr sz="11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u="sng" spc="-114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Sh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79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P1,P2}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190500">
                        <a:lnSpc>
                          <a:spcPts val="1565"/>
                        </a:lnSpc>
                      </a:pP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P2:</a:t>
                      </a:r>
                      <a:r>
                        <a:rPr sz="1300" spc="-8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304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Inv.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61009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Inval.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167640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493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{P2}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211454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40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7925172" y="4279526"/>
            <a:ext cx="428065" cy="142875"/>
          </a:xfrm>
          <a:custGeom>
            <a:avLst/>
            <a:gdLst/>
            <a:ahLst/>
            <a:cxnLst/>
            <a:rect l="l" t="t" r="r" b="b"/>
            <a:pathLst>
              <a:path w="485140" h="161925">
                <a:moveTo>
                  <a:pt x="485140" y="0"/>
                </a:moveTo>
                <a:lnTo>
                  <a:pt x="0" y="0"/>
                </a:lnTo>
                <a:lnTo>
                  <a:pt x="0" y="161712"/>
                </a:lnTo>
                <a:lnTo>
                  <a:pt x="485140" y="161712"/>
                </a:lnTo>
                <a:lnTo>
                  <a:pt x="485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Slide Number Placeholder 39">
            <a:extLst>
              <a:ext uri="{FF2B5EF4-FFF2-40B4-BE49-F238E27FC236}">
                <a16:creationId xmlns:a16="http://schemas.microsoft.com/office/drawing/2014/main" id="{56A87F06-9C1A-15DF-F1C9-E79E7C8DFA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8262" y="5661324"/>
            <a:ext cx="384978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latin typeface="Arial MT"/>
                <a:cs typeface="Arial MT"/>
              </a:rPr>
              <a:t>A1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and</a:t>
            </a:r>
            <a:r>
              <a:rPr sz="1677" spc="-10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A2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map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same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cache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block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71682" y="3674655"/>
            <a:ext cx="357468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990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4906609" y="3674655"/>
            <a:ext cx="316006" cy="0"/>
          </a:xfrm>
          <a:custGeom>
            <a:avLst/>
            <a:gdLst/>
            <a:ahLst/>
            <a:cxnLst/>
            <a:rect l="l" t="t" r="r" b="b"/>
            <a:pathLst>
              <a:path w="358139">
                <a:moveTo>
                  <a:pt x="0" y="0"/>
                </a:moveTo>
                <a:lnTo>
                  <a:pt x="357898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8006364" y="3674655"/>
            <a:ext cx="199465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0" y="0"/>
                </a:moveTo>
                <a:lnTo>
                  <a:pt x="225985" y="0"/>
                </a:lnTo>
              </a:path>
            </a:pathLst>
          </a:custGeom>
          <a:ln w="8449">
            <a:solidFill>
              <a:srgbClr val="DD0907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2468033" y="1970891"/>
            <a:ext cx="256670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1</a:t>
            </a:r>
            <a:r>
              <a:rPr sz="1677" b="1" spc="251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Processor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44" dirty="0">
                <a:latin typeface="Arial"/>
                <a:cs typeface="Arial"/>
              </a:rPr>
              <a:t>2</a:t>
            </a:r>
            <a:endParaRPr sz="167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6945" y="1970891"/>
            <a:ext cx="130604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Interconnect</a:t>
            </a:r>
            <a:endParaRPr sz="167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1005" y="1970891"/>
            <a:ext cx="84268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Memory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3007" y="1970891"/>
            <a:ext cx="9614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Directory</a:t>
            </a:r>
            <a:endParaRPr sz="167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9000" y="3522019"/>
            <a:ext cx="204507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324" i="1" spc="-35" dirty="0">
                <a:solidFill>
                  <a:srgbClr val="FC0128"/>
                </a:solidFill>
                <a:latin typeface="Arial"/>
                <a:cs typeface="Arial"/>
              </a:rPr>
              <a:t>A1</a:t>
            </a:r>
            <a:endParaRPr sz="1324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54420" y="3566085"/>
            <a:ext cx="428065" cy="142875"/>
          </a:xfrm>
          <a:custGeom>
            <a:avLst/>
            <a:gdLst/>
            <a:ahLst/>
            <a:cxnLst/>
            <a:rect l="l" t="t" r="r" b="b"/>
            <a:pathLst>
              <a:path w="485140" h="161925">
                <a:moveTo>
                  <a:pt x="485140" y="0"/>
                </a:moveTo>
                <a:lnTo>
                  <a:pt x="0" y="0"/>
                </a:lnTo>
                <a:lnTo>
                  <a:pt x="0" y="161714"/>
                </a:lnTo>
                <a:lnTo>
                  <a:pt x="485140" y="161714"/>
                </a:lnTo>
                <a:lnTo>
                  <a:pt x="485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01338" y="2359180"/>
          <a:ext cx="7976340" cy="30573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50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4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78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6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8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9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5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6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2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Bus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Directory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45"/>
                        </a:lnSpc>
                        <a:spcBef>
                          <a:spcPts val="15"/>
                        </a:spcBef>
                      </a:pPr>
                      <a:r>
                        <a:rPr sz="1200" i="1" spc="-65" dirty="0">
                          <a:latin typeface="Verdana"/>
                          <a:cs typeface="Verdana"/>
                        </a:rPr>
                        <a:t>Memor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68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 marR="5778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latin typeface="Verdana"/>
                          <a:cs typeface="Verdana"/>
                        </a:rPr>
                        <a:t>step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Stat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Add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5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Actio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Proc.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000D3"/>
                          </a:solidFill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17653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35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Addr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State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46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02ABEA"/>
                          </a:solidFill>
                          <a:latin typeface="Verdana"/>
                          <a:cs typeface="Verdana"/>
                        </a:rPr>
                        <a:t>{Procs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latin typeface="Verdana"/>
                          <a:cs typeface="Verdana"/>
                        </a:rPr>
                        <a:t>Value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1484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1765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49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{P1}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862">
                <a:tc gridSpan="2">
                  <a:txBody>
                    <a:bodyPr/>
                    <a:lstStyle/>
                    <a:p>
                      <a:pPr marR="12446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5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P1: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3048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530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L="63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Read</a:t>
                      </a:r>
                      <a:r>
                        <a:rPr sz="1100" spc="-9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23545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Shar.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ctr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5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RdMs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marR="115570" algn="r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1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Shar.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2159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2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Ftch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76530">
                        <a:lnSpc>
                          <a:spcPts val="1600"/>
                        </a:lnSpc>
                      </a:pPr>
                      <a:r>
                        <a:rPr sz="1300" i="1" spc="-25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A1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spc="-25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Shar.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10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5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100" spc="60" dirty="0">
                          <a:latin typeface="Verdana"/>
                          <a:cs typeface="Verdana"/>
                        </a:rPr>
                        <a:t>A1</a:t>
                      </a:r>
                      <a:r>
                        <a:rPr sz="11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Sh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795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P1,P2}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89535" algn="ctr">
                        <a:lnSpc>
                          <a:spcPts val="1565"/>
                        </a:lnSpc>
                      </a:pP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P2:</a:t>
                      </a:r>
                      <a:r>
                        <a:rPr sz="1300" spc="-8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20</a:t>
                      </a:r>
                      <a:r>
                        <a:rPr sz="1300" spc="-5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300" spc="-100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solidFill>
                            <a:srgbClr val="037C03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653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3048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Inv.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61009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1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Inval.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176530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4930">
                        <a:lnSpc>
                          <a:spcPts val="1580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{P2}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1530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77">
                <a:tc>
                  <a:txBody>
                    <a:bodyPr/>
                    <a:lstStyle/>
                    <a:p>
                      <a:pPr marR="1968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P2: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Write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5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40</a:t>
                      </a:r>
                      <a:r>
                        <a:rPr sz="1100" spc="-1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100" spc="-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4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51484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WrMs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30" dirty="0">
                          <a:solidFill>
                            <a:srgbClr val="F20884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1765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Excl.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4930">
                        <a:lnSpc>
                          <a:spcPts val="1545"/>
                        </a:lnSpc>
                        <a:spcBef>
                          <a:spcPts val="20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{P2}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241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  <a:spcBef>
                          <a:spcPts val="70"/>
                        </a:spcBef>
                      </a:pPr>
                      <a:r>
                        <a:rPr sz="1100" spc="5" dirty="0"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61009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u="sng" spc="-20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WrBk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A1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u="sng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A1</a:t>
                      </a:r>
                      <a:r>
                        <a:rPr sz="1200" i="1" spc="480" dirty="0">
                          <a:solidFill>
                            <a:srgbClr val="DD0907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Un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 marR="21590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ca.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u="sng" spc="-31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{}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545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7470" algn="ctr">
                        <a:lnSpc>
                          <a:spcPts val="1585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A2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ts val="1585"/>
                        </a:lnSpc>
                        <a:spcBef>
                          <a:spcPts val="55"/>
                        </a:spcBef>
                      </a:pPr>
                      <a:r>
                        <a:rPr sz="1200" i="1" u="sng" spc="-2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40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ts val="1585"/>
                        </a:lnSpc>
                        <a:spcBef>
                          <a:spcPts val="55"/>
                        </a:spcBef>
                      </a:pPr>
                      <a:r>
                        <a:rPr sz="1200" i="1" u="sng" spc="-55" dirty="0">
                          <a:solidFill>
                            <a:srgbClr val="DD0907"/>
                          </a:solidFill>
                          <a:uFill>
                            <a:solidFill>
                              <a:srgbClr val="DD0907"/>
                            </a:solidFill>
                          </a:uFill>
                          <a:latin typeface="Verdana"/>
                          <a:cs typeface="Verdana"/>
                        </a:rPr>
                        <a:t>DaRp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16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3175" algn="ctr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P2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solidFill>
                            <a:srgbClr val="008012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marR="176530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30" dirty="0">
                          <a:latin typeface="Verdana"/>
                          <a:cs typeface="Verdana"/>
                        </a:rPr>
                        <a:t>A2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marR="21590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Excl.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465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</a:rPr>
                        <a:t>{P2}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05"/>
                        </a:spcBef>
                      </a:pPr>
                      <a:r>
                        <a:rPr sz="1100" spc="5" dirty="0">
                          <a:latin typeface="Verdana"/>
                          <a:cs typeface="Verdana"/>
                        </a:rPr>
                        <a:t>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1176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4857377" y="4242141"/>
            <a:ext cx="3567393" cy="405653"/>
            <a:chOff x="5352627" y="4807760"/>
            <a:chExt cx="4043045" cy="45974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627" y="4807760"/>
              <a:ext cx="4020934" cy="2539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4524" y="5061732"/>
              <a:ext cx="4020935" cy="205673"/>
            </a:xfrm>
            <a:prstGeom prst="rect">
              <a:avLst/>
            </a:prstGeom>
          </p:spPr>
        </p:pic>
      </p:grpSp>
      <p:sp>
        <p:nvSpPr>
          <p:cNvPr id="18" name="Slide Number Placeholder 39">
            <a:extLst>
              <a:ext uri="{FF2B5EF4-FFF2-40B4-BE49-F238E27FC236}">
                <a16:creationId xmlns:a16="http://schemas.microsoft.com/office/drawing/2014/main" id="{5AE9C04E-8901-4C22-C87B-E4BAA5E5DD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27</a:t>
            </a:fld>
            <a:endParaRPr lang="en-US" spc="-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A</a:t>
            </a:r>
            <a:r>
              <a:rPr spc="-57" dirty="0"/>
              <a:t> </a:t>
            </a:r>
            <a:r>
              <a:rPr dirty="0">
                <a:latin typeface="Calibri"/>
                <a:cs typeface="Calibri"/>
              </a:rPr>
              <a:t>Popular</a:t>
            </a:r>
            <a:r>
              <a:rPr spc="-53" dirty="0"/>
              <a:t> </a:t>
            </a:r>
            <a:r>
              <a:rPr dirty="0">
                <a:latin typeface="Calibri"/>
                <a:cs typeface="Calibri"/>
              </a:rPr>
              <a:t>Middle</a:t>
            </a:r>
            <a:r>
              <a:rPr spc="-57" dirty="0"/>
              <a:t> </a:t>
            </a:r>
            <a:r>
              <a:rPr spc="-9" dirty="0"/>
              <a:t>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1" y="1252817"/>
            <a:ext cx="6507256" cy="2910560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Two-level</a:t>
            </a:r>
            <a:r>
              <a:rPr sz="2206" spc="11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“hierarchy”</a:t>
            </a:r>
            <a:endParaRPr sz="2206">
              <a:latin typeface="Calibri"/>
              <a:cs typeface="Calibri"/>
            </a:endParaRPr>
          </a:p>
          <a:p>
            <a:pPr marL="278481" marR="4483" indent="-267835">
              <a:lnSpc>
                <a:spcPts val="2453"/>
              </a:lnSpc>
              <a:spcBef>
                <a:spcPts val="77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Individual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nodes</a:t>
            </a:r>
            <a:r>
              <a:rPr sz="2206" spc="11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are</a:t>
            </a:r>
            <a:r>
              <a:rPr sz="2206" spc="12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multiprocessors,</a:t>
            </a:r>
            <a:r>
              <a:rPr sz="2206" spc="10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connected</a:t>
            </a:r>
            <a:r>
              <a:rPr sz="2206" spc="115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non- </a:t>
            </a:r>
            <a:r>
              <a:rPr sz="2206" spc="-9" dirty="0">
                <a:latin typeface="Calibri"/>
                <a:cs typeface="Calibri"/>
              </a:rPr>
              <a:t>hierarchically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397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e.g. mesh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(bussed)</a:t>
            </a:r>
            <a:r>
              <a:rPr sz="1677" spc="13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SMPs</a:t>
            </a:r>
            <a:endParaRPr sz="1677">
              <a:latin typeface="Calibri"/>
              <a:cs typeface="Calibri"/>
            </a:endParaRPr>
          </a:p>
          <a:p>
            <a:pPr marL="278481" indent="-267275">
              <a:spcBef>
                <a:spcPts val="46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10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among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nodes</a:t>
            </a:r>
            <a:r>
              <a:rPr sz="2206" spc="9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directory-</a:t>
            </a:r>
            <a:r>
              <a:rPr sz="2206" spc="-9" dirty="0">
                <a:latin typeface="Calibri"/>
                <a:cs typeface="Calibri"/>
              </a:rPr>
              <a:t>based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directory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keeps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track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nodes,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individual</a:t>
            </a:r>
            <a:r>
              <a:rPr sz="1677" spc="-9" dirty="0">
                <a:latin typeface="Calibri"/>
                <a:cs typeface="Calibri"/>
              </a:rPr>
              <a:t> processors</a:t>
            </a:r>
            <a:endParaRPr sz="1677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within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nodes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(or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directory)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orthogonal,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needs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good interface for</a:t>
            </a:r>
            <a:r>
              <a:rPr sz="1677" spc="-9" dirty="0">
                <a:latin typeface="Calibri"/>
                <a:cs typeface="Calibri"/>
              </a:rPr>
              <a:t> functionality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5A094CEA-16F3-B2AF-0DE2-76284BF0B4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28</a:t>
            </a:fld>
            <a:endParaRPr lang="en-US" spc="-4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3276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645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And</a:t>
            </a:r>
            <a:r>
              <a:rPr spc="-40" dirty="0"/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/>
              <a:t> </a:t>
            </a:r>
            <a:r>
              <a:rPr dirty="0">
                <a:latin typeface="Calibri"/>
                <a:cs typeface="Calibri"/>
              </a:rPr>
              <a:t>Conclusion</a:t>
            </a:r>
            <a:r>
              <a:rPr spc="-35" dirty="0"/>
              <a:t> </a:t>
            </a:r>
            <a:r>
              <a:rPr spc="-53"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8310" y="1306605"/>
            <a:ext cx="6930278" cy="4709773"/>
          </a:xfrm>
          <a:prstGeom prst="rect">
            <a:avLst/>
          </a:prstGeom>
        </p:spPr>
        <p:txBody>
          <a:bodyPr vert="horz" wrap="square" lIns="0" tIns="65554" rIns="0" bIns="0" rtlCol="0">
            <a:spAutoFit/>
          </a:bodyPr>
          <a:lstStyle/>
          <a:p>
            <a:pPr marL="278481" marR="932379" indent="-267835">
              <a:lnSpc>
                <a:spcPts val="2224"/>
              </a:lnSpc>
              <a:spcBef>
                <a:spcPts val="516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Caches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contain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all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information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state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cached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blocks</a:t>
            </a:r>
            <a:endParaRPr sz="2206">
              <a:latin typeface="Calibri"/>
              <a:cs typeface="Calibri"/>
            </a:endParaRPr>
          </a:p>
          <a:p>
            <a:pPr marL="278481" marR="253827" indent="-267835">
              <a:lnSpc>
                <a:spcPts val="2118"/>
              </a:lnSpc>
              <a:spcBef>
                <a:spcPts val="75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over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shared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medium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for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smaller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MP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by </a:t>
            </a:r>
            <a:r>
              <a:rPr sz="2206" dirty="0">
                <a:latin typeface="Calibri"/>
                <a:cs typeface="Calibri"/>
              </a:rPr>
              <a:t>invalidating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other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copies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write</a:t>
            </a:r>
            <a:endParaRPr sz="2206">
              <a:latin typeface="Calibri"/>
              <a:cs typeface="Calibri"/>
            </a:endParaRPr>
          </a:p>
          <a:p>
            <a:pPr marL="277360" marR="4483" indent="-266714" algn="just">
              <a:lnSpc>
                <a:spcPts val="2118"/>
              </a:lnSpc>
              <a:spcBef>
                <a:spcPts val="891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Sharing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cached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49" dirty="0">
                <a:latin typeface="Calibri"/>
                <a:cs typeface="Calibri"/>
              </a:rPr>
              <a:t>  </a:t>
            </a:r>
            <a:r>
              <a:rPr sz="2206" dirty="0">
                <a:latin typeface="Symbol"/>
                <a:cs typeface="Symbol"/>
              </a:rPr>
              <a:t></a:t>
            </a:r>
            <a:r>
              <a:rPr sz="2206" spc="31" dirty="0">
                <a:latin typeface="Times New Roman"/>
                <a:cs typeface="Times New Roman"/>
              </a:rPr>
              <a:t> </a:t>
            </a: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(values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returned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44" dirty="0">
                <a:latin typeface="Calibri"/>
                <a:cs typeface="Calibri"/>
              </a:rPr>
              <a:t>a 	</a:t>
            </a:r>
            <a:r>
              <a:rPr sz="2206" dirty="0">
                <a:latin typeface="Calibri"/>
                <a:cs typeface="Calibri"/>
              </a:rPr>
              <a:t>read),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Consistency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(when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value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will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returned 	</a:t>
            </a:r>
            <a:r>
              <a:rPr sz="2206" dirty="0">
                <a:latin typeface="Calibri"/>
                <a:cs typeface="Calibri"/>
              </a:rPr>
              <a:t>by</a:t>
            </a:r>
            <a:r>
              <a:rPr sz="2206" spc="1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18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read)</a:t>
            </a:r>
            <a:endParaRPr sz="2206">
              <a:latin typeface="Calibri"/>
              <a:cs typeface="Calibri"/>
            </a:endParaRPr>
          </a:p>
          <a:p>
            <a:pPr marL="278481" marR="129435" indent="-267835">
              <a:lnSpc>
                <a:spcPct val="79600"/>
              </a:lnSpc>
              <a:spcBef>
                <a:spcPts val="918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and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Protocols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are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similar;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bus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makes </a:t>
            </a:r>
            <a:r>
              <a:rPr sz="2206" dirty="0">
                <a:latin typeface="Calibri"/>
                <a:cs typeface="Calibri"/>
              </a:rPr>
              <a:t>snooping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easier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because</a:t>
            </a:r>
            <a:r>
              <a:rPr sz="2206" spc="10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broadcast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(snooping</a:t>
            </a:r>
            <a:r>
              <a:rPr sz="2206" spc="93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=&gt; </a:t>
            </a:r>
            <a:r>
              <a:rPr sz="2206" dirty="0">
                <a:latin typeface="Calibri"/>
                <a:cs typeface="Calibri"/>
              </a:rPr>
              <a:t>uniform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memory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access)</a:t>
            </a:r>
            <a:endParaRPr sz="2206">
              <a:latin typeface="Calibri"/>
              <a:cs typeface="Calibri"/>
            </a:endParaRPr>
          </a:p>
          <a:p>
            <a:pPr marL="278481" marR="207880" indent="-267835">
              <a:lnSpc>
                <a:spcPts val="2118"/>
              </a:lnSpc>
              <a:spcBef>
                <a:spcPts val="869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has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extra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structure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</a:t>
            </a:r>
            <a:r>
              <a:rPr sz="2206" spc="40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keep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track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state </a:t>
            </a:r>
            <a:r>
              <a:rPr sz="2206" dirty="0">
                <a:latin typeface="Calibri"/>
                <a:cs typeface="Calibri"/>
              </a:rPr>
              <a:t>of</a:t>
            </a:r>
            <a:r>
              <a:rPr sz="2206" spc="3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all</a:t>
            </a:r>
            <a:r>
              <a:rPr sz="2206" spc="2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blocks</a:t>
            </a:r>
            <a:endParaRPr sz="2206">
              <a:latin typeface="Calibri"/>
              <a:cs typeface="Calibri"/>
            </a:endParaRPr>
          </a:p>
          <a:p>
            <a:pPr marL="278481" marR="24654" indent="-267835">
              <a:lnSpc>
                <a:spcPts val="2118"/>
              </a:lnSpc>
              <a:spcBef>
                <a:spcPts val="891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Distributing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directory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=&gt;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scalable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shared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address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space </a:t>
            </a:r>
            <a:r>
              <a:rPr sz="2206" dirty="0">
                <a:latin typeface="Calibri"/>
                <a:cs typeface="Calibri"/>
              </a:rPr>
              <a:t>multiprocessor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=&gt;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coherent,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Non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uniform</a:t>
            </a:r>
            <a:r>
              <a:rPr sz="2206" spc="88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memory access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DC25FA79-31D2-A9F5-1621-87C5C3DE1BE6}"/>
              </a:ext>
            </a:extLst>
          </p:cNvPr>
          <p:cNvSpPr txBox="1">
            <a:spLocks/>
          </p:cNvSpPr>
          <p:nvPr/>
        </p:nvSpPr>
        <p:spPr>
          <a:xfrm>
            <a:off x="8505825" y="6346231"/>
            <a:ext cx="362158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29</a:t>
            </a:fld>
            <a:endParaRPr lang="en-US" spc="-4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356182"/>
            <a:ext cx="7288935" cy="795244"/>
          </a:xfrm>
          <a:prstGeom prst="rect">
            <a:avLst/>
          </a:prstGeom>
        </p:spPr>
        <p:txBody>
          <a:bodyPr vert="horz" wrap="square" lIns="0" tIns="384137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sz="2647" spc="-18" dirty="0"/>
              <a:t>Performance</a:t>
            </a:r>
            <a:r>
              <a:rPr sz="2647" spc="-84" dirty="0"/>
              <a:t> </a:t>
            </a:r>
            <a:r>
              <a:rPr sz="2647" dirty="0"/>
              <a:t>of</a:t>
            </a:r>
            <a:r>
              <a:rPr sz="2647" spc="-71" dirty="0"/>
              <a:t> </a:t>
            </a:r>
            <a:r>
              <a:rPr sz="2647" spc="-9" dirty="0"/>
              <a:t>Symmetric</a:t>
            </a:r>
            <a:r>
              <a:rPr sz="2647" spc="-66" dirty="0"/>
              <a:t> </a:t>
            </a:r>
            <a:r>
              <a:rPr sz="2647" spc="-22" dirty="0"/>
              <a:t>Shared-</a:t>
            </a:r>
            <a:r>
              <a:rPr sz="2647" spc="-9" dirty="0"/>
              <a:t>Memory</a:t>
            </a:r>
            <a:r>
              <a:rPr sz="2647" spc="-79" dirty="0"/>
              <a:t> </a:t>
            </a:r>
            <a:r>
              <a:rPr sz="2647" spc="-22" dirty="0"/>
              <a:t>MPs</a:t>
            </a:r>
            <a:endParaRPr sz="2647" dirty="0"/>
          </a:p>
        </p:txBody>
      </p:sp>
      <p:sp>
        <p:nvSpPr>
          <p:cNvPr id="3" name="object 3"/>
          <p:cNvSpPr txBox="1"/>
          <p:nvPr/>
        </p:nvSpPr>
        <p:spPr>
          <a:xfrm>
            <a:off x="1020341" y="1249278"/>
            <a:ext cx="5701553" cy="2487940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Cache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performance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combination</a:t>
            </a:r>
            <a:r>
              <a:rPr sz="2206" spc="84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of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Uniprocessor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 miss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traffic</a:t>
            </a:r>
            <a:endParaRPr sz="1677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Traffic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caused by</a:t>
            </a:r>
            <a:r>
              <a:rPr sz="1677" spc="-9" dirty="0">
                <a:latin typeface="Calibri"/>
                <a:cs typeface="Calibri"/>
              </a:rPr>
              <a:t> communication</a:t>
            </a:r>
            <a:endParaRPr sz="1677">
              <a:latin typeface="Calibri"/>
              <a:cs typeface="Calibri"/>
            </a:endParaRPr>
          </a:p>
          <a:p>
            <a:pPr marL="867382">
              <a:spcBef>
                <a:spcPts val="361"/>
              </a:spcBef>
            </a:pPr>
            <a:r>
              <a:rPr sz="1677" dirty="0">
                <a:latin typeface="Calibri"/>
                <a:cs typeface="Calibri"/>
              </a:rPr>
              <a:t>»</a:t>
            </a:r>
            <a:r>
              <a:rPr sz="1677" spc="39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Results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invalidations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and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subsequent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</a:t>
            </a:r>
            <a:r>
              <a:rPr sz="1677" spc="-9" dirty="0">
                <a:latin typeface="Calibri"/>
                <a:cs typeface="Calibri"/>
              </a:rPr>
              <a:t> misses</a:t>
            </a:r>
            <a:endParaRPr sz="1677">
              <a:latin typeface="Calibri"/>
              <a:cs typeface="Calibri"/>
            </a:endParaRPr>
          </a:p>
          <a:p>
            <a:pPr>
              <a:spcBef>
                <a:spcPts val="1787"/>
              </a:spcBef>
            </a:pPr>
            <a:endParaRPr sz="1677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4th</a:t>
            </a:r>
            <a:r>
              <a:rPr sz="2206" spc="71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C: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b="1" i="1" dirty="0">
                <a:solidFill>
                  <a:srgbClr val="FF0000"/>
                </a:solidFill>
                <a:latin typeface="Calibri"/>
                <a:cs typeface="Calibri"/>
              </a:rPr>
              <a:t>coherency</a:t>
            </a:r>
            <a:r>
              <a:rPr sz="2206" b="1" i="1" spc="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6" b="1" i="1" spc="-18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endParaRPr sz="2206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1677" dirty="0">
                <a:latin typeface="Calibri"/>
                <a:cs typeface="Calibri"/>
              </a:rPr>
              <a:t>Joins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Compulsory,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Capacity,</a:t>
            </a:r>
            <a:r>
              <a:rPr sz="1677" spc="-9" dirty="0">
                <a:latin typeface="Calibri"/>
                <a:cs typeface="Calibri"/>
              </a:rPr>
              <a:t> Conflict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3D859A94-D1C0-EC84-0D17-FA58BFE613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30</a:t>
            </a:fld>
            <a:endParaRPr lang="en-US" spc="-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403806"/>
            <a:ext cx="5183740" cy="823301"/>
          </a:xfrm>
          <a:prstGeom prst="rect">
            <a:avLst/>
          </a:prstGeom>
        </p:spPr>
        <p:txBody>
          <a:bodyPr vert="horz" wrap="square" lIns="0" tIns="358139" rIns="0" bIns="0" rtlCol="0">
            <a:spAutoFit/>
          </a:bodyPr>
          <a:lstStyle/>
          <a:p>
            <a:pPr marL="367572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Coherency</a:t>
            </a:r>
            <a:r>
              <a:rPr spc="-62" dirty="0"/>
              <a:t> </a:t>
            </a:r>
            <a:r>
              <a:rPr spc="-9" dirty="0"/>
              <a:t>Misses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6724" y="1352325"/>
            <a:ext cx="7034493" cy="436141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72913" marR="401752" indent="-428088">
              <a:spcBef>
                <a:spcPts val="88"/>
              </a:spcBef>
              <a:buAutoNum type="arabicPeriod"/>
              <a:tabLst>
                <a:tab pos="472913" algn="l"/>
              </a:tabLst>
            </a:pPr>
            <a:r>
              <a:rPr sz="2206" dirty="0">
                <a:solidFill>
                  <a:srgbClr val="FC0128"/>
                </a:solidFill>
                <a:latin typeface="Calibri"/>
                <a:cs typeface="Calibri"/>
              </a:rPr>
              <a:t>True</a:t>
            </a:r>
            <a:r>
              <a:rPr sz="2206" spc="75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C0128"/>
                </a:solidFill>
                <a:latin typeface="Calibri"/>
                <a:cs typeface="Calibri"/>
              </a:rPr>
              <a:t>sharing</a:t>
            </a:r>
            <a:r>
              <a:rPr sz="2206" spc="71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C0128"/>
                </a:solidFill>
                <a:latin typeface="Calibri"/>
                <a:cs typeface="Calibri"/>
              </a:rPr>
              <a:t>misses</a:t>
            </a:r>
            <a:r>
              <a:rPr sz="2206" spc="66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arise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from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communication</a:t>
            </a:r>
            <a:r>
              <a:rPr sz="2206" spc="79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of </a:t>
            </a:r>
            <a:r>
              <a:rPr sz="2206" dirty="0">
                <a:latin typeface="Calibri"/>
                <a:cs typeface="Calibri"/>
              </a:rPr>
              <a:t>data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through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cache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coherence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mechanism</a:t>
            </a:r>
            <a:endParaRPr sz="2206">
              <a:latin typeface="Calibri"/>
              <a:cs typeface="Calibri"/>
            </a:endParaRPr>
          </a:p>
          <a:p>
            <a:pPr marL="793419" lvl="1" indent="-320505">
              <a:spcBef>
                <a:spcPts val="1059"/>
              </a:spcBef>
              <a:buChar char="•"/>
              <a:tabLst>
                <a:tab pos="793419" algn="l"/>
              </a:tabLst>
            </a:pPr>
            <a:r>
              <a:rPr sz="1677" dirty="0">
                <a:latin typeface="Calibri"/>
                <a:cs typeface="Calibri"/>
              </a:rPr>
              <a:t>Invalidates</a:t>
            </a:r>
            <a:r>
              <a:rPr sz="1677" spc="-18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due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1</a:t>
            </a:r>
            <a:r>
              <a:rPr sz="1721" baseline="25641" dirty="0">
                <a:latin typeface="Calibri"/>
                <a:cs typeface="Calibri"/>
              </a:rPr>
              <a:t>st</a:t>
            </a:r>
            <a:r>
              <a:rPr sz="1721" spc="146" baseline="25641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write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block</a:t>
            </a:r>
            <a:endParaRPr sz="1677">
              <a:latin typeface="Calibri"/>
              <a:cs typeface="Calibri"/>
            </a:endParaRPr>
          </a:p>
          <a:p>
            <a:pPr marL="793419" lvl="1" indent="-320505">
              <a:spcBef>
                <a:spcPts val="993"/>
              </a:spcBef>
              <a:buChar char="•"/>
              <a:tabLst>
                <a:tab pos="793419" algn="l"/>
              </a:tabLst>
            </a:pPr>
            <a:r>
              <a:rPr sz="1677" dirty="0">
                <a:latin typeface="Calibri"/>
                <a:cs typeface="Calibri"/>
              </a:rPr>
              <a:t>Reads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another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CPU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of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the modified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 different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cache</a:t>
            </a:r>
            <a:endParaRPr sz="1677">
              <a:latin typeface="Calibri"/>
              <a:cs typeface="Calibri"/>
            </a:endParaRPr>
          </a:p>
          <a:p>
            <a:pPr marL="793419" lvl="1" indent="-320505">
              <a:spcBef>
                <a:spcPts val="997"/>
              </a:spcBef>
              <a:buFont typeface="Calibri"/>
              <a:buChar char="•"/>
              <a:tabLst>
                <a:tab pos="793419" algn="l"/>
              </a:tabLst>
            </a:pPr>
            <a:r>
              <a:rPr sz="1677" b="1" i="1" dirty="0">
                <a:latin typeface="Calibri"/>
                <a:cs typeface="Calibri"/>
              </a:rPr>
              <a:t>Miss</a:t>
            </a:r>
            <a:r>
              <a:rPr sz="1677" b="1" i="1" spc="4" dirty="0">
                <a:latin typeface="Calibri"/>
                <a:cs typeface="Calibri"/>
              </a:rPr>
              <a:t> </a:t>
            </a:r>
            <a:r>
              <a:rPr sz="1677" b="1" i="1" dirty="0">
                <a:latin typeface="Calibri"/>
                <a:cs typeface="Calibri"/>
              </a:rPr>
              <a:t>would still</a:t>
            </a:r>
            <a:r>
              <a:rPr sz="1677" b="1" i="1" spc="-4" dirty="0">
                <a:latin typeface="Calibri"/>
                <a:cs typeface="Calibri"/>
              </a:rPr>
              <a:t> </a:t>
            </a:r>
            <a:r>
              <a:rPr sz="1677" b="1" i="1" dirty="0">
                <a:latin typeface="Calibri"/>
                <a:cs typeface="Calibri"/>
              </a:rPr>
              <a:t>occur</a:t>
            </a:r>
            <a:r>
              <a:rPr sz="1677" b="1" i="1" spc="4" dirty="0">
                <a:latin typeface="Calibri"/>
                <a:cs typeface="Calibri"/>
              </a:rPr>
              <a:t> </a:t>
            </a:r>
            <a:r>
              <a:rPr sz="1677" b="1" i="1" dirty="0">
                <a:latin typeface="Calibri"/>
                <a:cs typeface="Calibri"/>
              </a:rPr>
              <a:t>if</a:t>
            </a:r>
            <a:r>
              <a:rPr sz="1677" b="1" i="1" spc="9" dirty="0">
                <a:latin typeface="Calibri"/>
                <a:cs typeface="Calibri"/>
              </a:rPr>
              <a:t> </a:t>
            </a:r>
            <a:r>
              <a:rPr sz="1677" b="1" i="1" dirty="0">
                <a:latin typeface="Calibri"/>
                <a:cs typeface="Calibri"/>
              </a:rPr>
              <a:t>block size</a:t>
            </a:r>
            <a:r>
              <a:rPr sz="1677" b="1" i="1" spc="4" dirty="0">
                <a:latin typeface="Calibri"/>
                <a:cs typeface="Calibri"/>
              </a:rPr>
              <a:t> </a:t>
            </a:r>
            <a:r>
              <a:rPr sz="1677" b="1" i="1" dirty="0">
                <a:latin typeface="Calibri"/>
                <a:cs typeface="Calibri"/>
              </a:rPr>
              <a:t>were</a:t>
            </a:r>
            <a:r>
              <a:rPr sz="1677" b="1" i="1" spc="4" dirty="0">
                <a:latin typeface="Calibri"/>
                <a:cs typeface="Calibri"/>
              </a:rPr>
              <a:t> </a:t>
            </a:r>
            <a:r>
              <a:rPr sz="1677" b="1" i="1" dirty="0">
                <a:latin typeface="Calibri"/>
                <a:cs typeface="Calibri"/>
              </a:rPr>
              <a:t>1 </a:t>
            </a:r>
            <a:r>
              <a:rPr sz="1677" b="1" i="1" spc="-18" dirty="0">
                <a:latin typeface="Calibri"/>
                <a:cs typeface="Calibri"/>
              </a:rPr>
              <a:t>word</a:t>
            </a:r>
            <a:endParaRPr sz="1677">
              <a:latin typeface="Calibri"/>
              <a:cs typeface="Calibri"/>
            </a:endParaRPr>
          </a:p>
          <a:p>
            <a:pPr marL="472913" marR="26896" indent="-428088">
              <a:lnSpc>
                <a:spcPct val="101600"/>
              </a:lnSpc>
              <a:spcBef>
                <a:spcPts val="1293"/>
              </a:spcBef>
              <a:buAutoNum type="arabicPeriod"/>
              <a:tabLst>
                <a:tab pos="472913" algn="l"/>
              </a:tabLst>
            </a:pPr>
            <a:r>
              <a:rPr sz="2206" dirty="0">
                <a:solidFill>
                  <a:srgbClr val="FC0128"/>
                </a:solidFill>
                <a:latin typeface="Calibri"/>
                <a:cs typeface="Calibri"/>
              </a:rPr>
              <a:t>False</a:t>
            </a:r>
            <a:r>
              <a:rPr sz="2206" spc="62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C0128"/>
                </a:solidFill>
                <a:latin typeface="Calibri"/>
                <a:cs typeface="Calibri"/>
              </a:rPr>
              <a:t>sharing</a:t>
            </a:r>
            <a:r>
              <a:rPr sz="2206" spc="53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FC0128"/>
                </a:solidFill>
                <a:latin typeface="Calibri"/>
                <a:cs typeface="Calibri"/>
              </a:rPr>
              <a:t>misses</a:t>
            </a:r>
            <a:r>
              <a:rPr sz="2206" spc="62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when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a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</a:t>
            </a:r>
            <a:r>
              <a:rPr sz="2206" spc="57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invalidated</a:t>
            </a:r>
            <a:r>
              <a:rPr sz="2206" spc="62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because </a:t>
            </a:r>
            <a:r>
              <a:rPr sz="2206" dirty="0">
                <a:latin typeface="Calibri"/>
                <a:cs typeface="Calibri"/>
              </a:rPr>
              <a:t>some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word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in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block,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other</a:t>
            </a:r>
            <a:r>
              <a:rPr sz="2206" spc="44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than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the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one</a:t>
            </a:r>
            <a:r>
              <a:rPr sz="2206" spc="53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being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read, </a:t>
            </a:r>
            <a:r>
              <a:rPr sz="2206" dirty="0">
                <a:latin typeface="Calibri"/>
                <a:cs typeface="Calibri"/>
              </a:rPr>
              <a:t>is</a:t>
            </a:r>
            <a:r>
              <a:rPr sz="2206" spc="35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written</a:t>
            </a:r>
            <a:r>
              <a:rPr sz="2206" spc="49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into</a:t>
            </a:r>
            <a:endParaRPr sz="2206">
              <a:latin typeface="Calibri"/>
              <a:cs typeface="Calibri"/>
            </a:endParaRPr>
          </a:p>
          <a:p>
            <a:pPr marL="793978" marR="84609" lvl="1" indent="-321066">
              <a:lnSpc>
                <a:spcPct val="101099"/>
              </a:lnSpc>
              <a:spcBef>
                <a:spcPts val="1037"/>
              </a:spcBef>
              <a:buChar char="•"/>
              <a:tabLst>
                <a:tab pos="793978" algn="l"/>
              </a:tabLst>
            </a:pPr>
            <a:r>
              <a:rPr sz="1677" dirty="0">
                <a:latin typeface="Calibri"/>
                <a:cs typeface="Calibri"/>
              </a:rPr>
              <a:t>Invalidation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does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cause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new value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to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be communicated,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but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only </a:t>
            </a:r>
            <a:r>
              <a:rPr sz="1677" dirty="0">
                <a:latin typeface="Calibri"/>
                <a:cs typeface="Calibri"/>
              </a:rPr>
              <a:t>causes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an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extra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cache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18" dirty="0">
                <a:latin typeface="Calibri"/>
                <a:cs typeface="Calibri"/>
              </a:rPr>
              <a:t>miss</a:t>
            </a:r>
            <a:endParaRPr sz="1677">
              <a:latin typeface="Calibri"/>
              <a:cs typeface="Calibri"/>
            </a:endParaRPr>
          </a:p>
          <a:p>
            <a:pPr marL="793419" lvl="1" indent="-320505">
              <a:spcBef>
                <a:spcPts val="993"/>
              </a:spcBef>
              <a:buChar char="•"/>
              <a:tabLst>
                <a:tab pos="793419" algn="l"/>
              </a:tabLst>
            </a:pPr>
            <a:r>
              <a:rPr sz="1677" dirty="0">
                <a:latin typeface="Calibri"/>
                <a:cs typeface="Calibri"/>
              </a:rPr>
              <a:t>Block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shared,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but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word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in block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is</a:t>
            </a:r>
            <a:r>
              <a:rPr sz="1677" spc="-9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actually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-9" dirty="0">
                <a:latin typeface="Calibri"/>
                <a:cs typeface="Calibri"/>
              </a:rPr>
              <a:t>shared</a:t>
            </a:r>
            <a:endParaRPr sz="1677">
              <a:latin typeface="Calibri"/>
              <a:cs typeface="Calibri"/>
            </a:endParaRPr>
          </a:p>
          <a:p>
            <a:pPr marL="842727"/>
            <a:r>
              <a:rPr sz="1677" dirty="0">
                <a:latin typeface="Symbol"/>
                <a:cs typeface="Symbol"/>
              </a:rPr>
              <a:t></a:t>
            </a:r>
            <a:r>
              <a:rPr sz="1677" spc="-40" dirty="0">
                <a:latin typeface="Times New Roman"/>
                <a:cs typeface="Times New Roman"/>
              </a:rPr>
              <a:t> </a:t>
            </a:r>
            <a:r>
              <a:rPr sz="1677" dirty="0">
                <a:latin typeface="Calibri"/>
                <a:cs typeface="Calibri"/>
              </a:rPr>
              <a:t>miss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would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not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occur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if block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size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were</a:t>
            </a:r>
            <a:r>
              <a:rPr sz="1677" spc="4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1 </a:t>
            </a:r>
            <a:r>
              <a:rPr sz="1677" spc="-18" dirty="0">
                <a:latin typeface="Calibri"/>
                <a:cs typeface="Calibri"/>
              </a:rPr>
              <a:t>word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Slide Number Placeholder 39">
            <a:extLst>
              <a:ext uri="{FF2B5EF4-FFF2-40B4-BE49-F238E27FC236}">
                <a16:creationId xmlns:a16="http://schemas.microsoft.com/office/drawing/2014/main" id="{21EC1D3F-5EC6-A977-55C8-15F364E8F6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31</a:t>
            </a:fld>
            <a:endParaRPr lang="en-US" spc="-4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403806"/>
            <a:ext cx="6993659" cy="834164"/>
          </a:xfrm>
          <a:prstGeom prst="rect">
            <a:avLst/>
          </a:prstGeom>
        </p:spPr>
        <p:txBody>
          <a:bodyPr vert="horz" wrap="square" lIns="0" tIns="368897" rIns="0" bIns="0" rtlCol="0">
            <a:spAutoFit/>
          </a:bodyPr>
          <a:lstStyle/>
          <a:p>
            <a:pPr marL="263352">
              <a:spcBef>
                <a:spcPts val="88"/>
              </a:spcBef>
            </a:pPr>
            <a:r>
              <a:rPr dirty="0"/>
              <a:t>Example:</a:t>
            </a:r>
            <a:r>
              <a:rPr spc="-44" dirty="0"/>
              <a:t> </a:t>
            </a:r>
            <a:r>
              <a:rPr dirty="0"/>
              <a:t>True</a:t>
            </a:r>
            <a:r>
              <a:rPr spc="-44" dirty="0"/>
              <a:t> </a:t>
            </a:r>
            <a:r>
              <a:rPr dirty="0"/>
              <a:t>v.</a:t>
            </a:r>
            <a:r>
              <a:rPr spc="-40" dirty="0"/>
              <a:t> </a:t>
            </a:r>
            <a:r>
              <a:rPr dirty="0"/>
              <a:t>False</a:t>
            </a:r>
            <a:r>
              <a:rPr spc="-44" dirty="0"/>
              <a:t> </a:t>
            </a:r>
            <a:r>
              <a:rPr dirty="0"/>
              <a:t>Sharing</a:t>
            </a:r>
            <a:r>
              <a:rPr spc="-44" dirty="0"/>
              <a:t> </a:t>
            </a:r>
            <a:r>
              <a:rPr dirty="0"/>
              <a:t>v.</a:t>
            </a:r>
            <a:r>
              <a:rPr spc="-40" dirty="0"/>
              <a:t> </a:t>
            </a:r>
            <a:r>
              <a:rPr spc="-18" dirty="0"/>
              <a:t>Hit?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77385" y="2482546"/>
          <a:ext cx="7990914" cy="319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spc="-2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P1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P2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200" b="1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True,</a:t>
                      </a:r>
                      <a:r>
                        <a:rPr sz="2200" b="1" spc="35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False,</a:t>
                      </a:r>
                      <a:r>
                        <a:rPr sz="2200" b="1" spc="35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Hit?</a:t>
                      </a:r>
                      <a:r>
                        <a:rPr sz="2200" b="1" spc="50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20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Why?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spc="-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900" spc="-4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x1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1900" b="1" spc="-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miss;</a:t>
                      </a:r>
                      <a:r>
                        <a:rPr sz="1900" b="1" spc="-10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invalidate</a:t>
                      </a:r>
                      <a:r>
                        <a:rPr sz="1900" b="1" spc="-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x1</a:t>
                      </a:r>
                      <a:r>
                        <a:rPr sz="1900" b="1" spc="-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900" b="1" spc="-2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309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spc="-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90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Read</a:t>
                      </a:r>
                      <a:r>
                        <a:rPr sz="1900" spc="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x2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sz="1900" b="1" spc="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miss;</a:t>
                      </a:r>
                      <a:r>
                        <a:rPr sz="1900" b="1" spc="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x1</a:t>
                      </a:r>
                      <a:r>
                        <a:rPr sz="1900" b="1" spc="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irrelevant</a:t>
                      </a:r>
                      <a:r>
                        <a:rPr sz="1900" b="1" spc="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900" b="1" spc="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9244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900" spc="-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120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90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900" spc="-4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x1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sz="1900" b="1" spc="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miss;</a:t>
                      </a:r>
                      <a:r>
                        <a:rPr sz="1900" b="1" spc="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x1</a:t>
                      </a:r>
                      <a:r>
                        <a:rPr sz="1900" b="1" spc="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irrelevant</a:t>
                      </a:r>
                      <a:r>
                        <a:rPr sz="1900" b="1" spc="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900" b="1" spc="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8441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900" spc="-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120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90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900" spc="-4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x2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sz="1900" b="1" spc="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miss;</a:t>
                      </a:r>
                      <a:r>
                        <a:rPr sz="1900" b="1" spc="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x1</a:t>
                      </a:r>
                      <a:r>
                        <a:rPr sz="1900" b="1" spc="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irrelevant</a:t>
                      </a:r>
                      <a:r>
                        <a:rPr sz="1900" b="1" spc="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900" b="1" spc="3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672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900" spc="-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90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Read</a:t>
                      </a:r>
                      <a:r>
                        <a:rPr sz="1900" spc="50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25" dirty="0">
                          <a:solidFill>
                            <a:srgbClr val="0332B7"/>
                          </a:solidFill>
                          <a:latin typeface="Arial MT"/>
                          <a:cs typeface="Arial MT"/>
                        </a:rPr>
                        <a:t>x2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True miss;</a:t>
                      </a:r>
                      <a:r>
                        <a:rPr sz="1900" b="1" spc="-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value</a:t>
                      </a:r>
                      <a:r>
                        <a:rPr sz="1900" b="1" spc="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was updated</a:t>
                      </a:r>
                      <a:r>
                        <a:rPr sz="1900" b="1" spc="10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by </a:t>
                      </a:r>
                      <a:r>
                        <a:rPr sz="1900" b="1" spc="-25" dirty="0">
                          <a:solidFill>
                            <a:srgbClr val="00AE00"/>
                          </a:solidFill>
                          <a:latin typeface="Arial"/>
                          <a:cs typeface="Arial"/>
                        </a:rPr>
                        <a:t>P2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6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07855" y="1601545"/>
            <a:ext cx="6703359" cy="57557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690" indent="-213483">
              <a:lnSpc>
                <a:spcPts val="2215"/>
              </a:lnSpc>
              <a:spcBef>
                <a:spcPts val="88"/>
              </a:spcBef>
              <a:buFont typeface="Arial MT"/>
              <a:buChar char="•"/>
              <a:tabLst>
                <a:tab pos="224690" algn="l"/>
              </a:tabLst>
            </a:pPr>
            <a:r>
              <a:rPr sz="1853" b="1" dirty="0">
                <a:latin typeface="Arial"/>
                <a:cs typeface="Arial"/>
              </a:rPr>
              <a:t>Assume</a:t>
            </a:r>
            <a:r>
              <a:rPr sz="1853" b="1" spc="18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x1</a:t>
            </a:r>
            <a:r>
              <a:rPr sz="1853" b="1" spc="22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and</a:t>
            </a:r>
            <a:r>
              <a:rPr sz="1853" b="1" spc="26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x2</a:t>
            </a:r>
            <a:r>
              <a:rPr sz="1853" b="1" spc="22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in</a:t>
            </a:r>
            <a:r>
              <a:rPr sz="1853" b="1" spc="26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same</a:t>
            </a:r>
            <a:r>
              <a:rPr sz="1853" b="1" spc="18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cache</a:t>
            </a:r>
            <a:r>
              <a:rPr sz="1853" b="1" spc="22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block</a:t>
            </a:r>
            <a:r>
              <a:rPr sz="1853" b="1" spc="44" dirty="0">
                <a:latin typeface="Arial"/>
                <a:cs typeface="Arial"/>
              </a:rPr>
              <a:t> </a:t>
            </a:r>
            <a:r>
              <a:rPr sz="1853" dirty="0">
                <a:latin typeface="Arial MT"/>
                <a:cs typeface="Arial MT"/>
              </a:rPr>
              <a:t>but</a:t>
            </a:r>
            <a:r>
              <a:rPr sz="1853" spc="13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different</a:t>
            </a:r>
            <a:r>
              <a:rPr sz="1853" spc="13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words</a:t>
            </a:r>
            <a:endParaRPr sz="1853">
              <a:latin typeface="Arial MT"/>
              <a:cs typeface="Arial MT"/>
            </a:endParaRPr>
          </a:p>
          <a:p>
            <a:pPr marL="224690" indent="-213483">
              <a:lnSpc>
                <a:spcPts val="2215"/>
              </a:lnSpc>
              <a:buChar char="•"/>
              <a:tabLst>
                <a:tab pos="224690" algn="l"/>
              </a:tabLst>
            </a:pPr>
            <a:r>
              <a:rPr sz="1853" dirty="0">
                <a:latin typeface="Arial MT"/>
                <a:cs typeface="Arial MT"/>
              </a:rPr>
              <a:t>P1</a:t>
            </a:r>
            <a:r>
              <a:rPr sz="1853" spc="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P2</a:t>
            </a:r>
            <a:r>
              <a:rPr sz="1853" spc="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both</a:t>
            </a:r>
            <a:r>
              <a:rPr sz="1853" spc="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read</a:t>
            </a:r>
            <a:r>
              <a:rPr sz="1853" spc="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x1</a:t>
            </a:r>
            <a:r>
              <a:rPr sz="1853" spc="18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and</a:t>
            </a:r>
            <a:r>
              <a:rPr sz="1853" spc="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x2</a:t>
            </a:r>
            <a:r>
              <a:rPr sz="1853" spc="22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before.</a:t>
            </a:r>
            <a:endParaRPr sz="1853">
              <a:latin typeface="Arial MT"/>
              <a:cs typeface="Arial MT"/>
            </a:endParaRPr>
          </a:p>
        </p:txBody>
      </p:sp>
      <p:sp>
        <p:nvSpPr>
          <p:cNvPr id="6" name="Slide Number Placeholder 39">
            <a:extLst>
              <a:ext uri="{FF2B5EF4-FFF2-40B4-BE49-F238E27FC236}">
                <a16:creationId xmlns:a16="http://schemas.microsoft.com/office/drawing/2014/main" id="{F9B4773F-FD2A-5C07-DC81-DC0239F67A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505825" y="6346231"/>
            <a:ext cx="362158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32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1092</TotalTime>
  <Words>3142</Words>
  <Application>Microsoft Office PowerPoint</Application>
  <PresentationFormat>On-screen Show (4:3)</PresentationFormat>
  <Paragraphs>849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Arial</vt:lpstr>
      <vt:lpstr>Arial MT</vt:lpstr>
      <vt:lpstr>Calibri</vt:lpstr>
      <vt:lpstr>Symbol</vt:lpstr>
      <vt:lpstr>Times New Roman</vt:lpstr>
      <vt:lpstr>Verdana</vt:lpstr>
      <vt:lpstr>1_Office Theme</vt:lpstr>
      <vt:lpstr>PowerPoint Presentation</vt:lpstr>
      <vt:lpstr>Outline</vt:lpstr>
      <vt:lpstr>DIRECTORY BASED PROTOCOL</vt:lpstr>
      <vt:lpstr>Scalable Approach: Directories</vt:lpstr>
      <vt:lpstr>Basic Operation of Directory</vt:lpstr>
      <vt:lpstr>Picture To Keep In Mind</vt:lpstr>
      <vt:lpstr>Directory in Distributed-Memory Multi-Processor</vt:lpstr>
      <vt:lpstr>Directory Protocol</vt:lpstr>
      <vt:lpstr>Directory Protocol</vt:lpstr>
      <vt:lpstr>Example Directory Protocol (1st Read)</vt:lpstr>
      <vt:lpstr>Example Directory Protocol (Read Share)</vt:lpstr>
      <vt:lpstr>Example Directory Protocol (Write to shared)</vt:lpstr>
      <vt:lpstr>Example Directory Protocol (Write to Exclusive)</vt:lpstr>
      <vt:lpstr>Implementing a Directory</vt:lpstr>
      <vt:lpstr>Basic Directory Transactions To Let Remote CPU Do Much Coherency Work For Directory</vt:lpstr>
      <vt:lpstr>State Transition Diagram for One Block</vt:lpstr>
      <vt:lpstr>CPU-Cache State Machine</vt:lpstr>
      <vt:lpstr>State Transition Diagram for Directory</vt:lpstr>
      <vt:lpstr>Example Directory Protocol</vt:lpstr>
      <vt:lpstr>Example Directory Protocol</vt:lpstr>
      <vt:lpstr>Directory State Machine</vt:lpstr>
      <vt:lpstr>Example</vt:lpstr>
      <vt:lpstr>Example</vt:lpstr>
      <vt:lpstr>Example</vt:lpstr>
      <vt:lpstr>Example</vt:lpstr>
      <vt:lpstr>Example</vt:lpstr>
      <vt:lpstr>Example</vt:lpstr>
      <vt:lpstr>A Popular Middle Ground</vt:lpstr>
      <vt:lpstr>And in Conclusion …</vt:lpstr>
      <vt:lpstr>Performance of Symmetric Shared-Memory MPs</vt:lpstr>
      <vt:lpstr>Coherency Misses</vt:lpstr>
      <vt:lpstr>Example: True v. False Sharing v. Hit?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605</cp:revision>
  <dcterms:created xsi:type="dcterms:W3CDTF">2025-09-07T23:26:05Z</dcterms:created>
  <dcterms:modified xsi:type="dcterms:W3CDTF">2025-12-03T14:32:03Z</dcterms:modified>
</cp:coreProperties>
</file>