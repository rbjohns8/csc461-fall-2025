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71"/>
  </p:notesMasterIdLst>
  <p:sldIdLst>
    <p:sldId id="348" r:id="rId2"/>
    <p:sldId id="259" r:id="rId3"/>
    <p:sldId id="260" r:id="rId4"/>
    <p:sldId id="261" r:id="rId5"/>
    <p:sldId id="262" r:id="rId6"/>
    <p:sldId id="263" r:id="rId7"/>
    <p:sldId id="264" r:id="rId8"/>
    <p:sldId id="265" r:id="rId9"/>
    <p:sldId id="349" r:id="rId10"/>
    <p:sldId id="266" r:id="rId11"/>
    <p:sldId id="350" r:id="rId12"/>
    <p:sldId id="351" r:id="rId13"/>
    <p:sldId id="353" r:id="rId14"/>
    <p:sldId id="352" r:id="rId15"/>
    <p:sldId id="355" r:id="rId16"/>
    <p:sldId id="354" r:id="rId17"/>
    <p:sldId id="356" r:id="rId18"/>
    <p:sldId id="357" r:id="rId19"/>
    <p:sldId id="358" r:id="rId20"/>
    <p:sldId id="360" r:id="rId21"/>
    <p:sldId id="359" r:id="rId22"/>
    <p:sldId id="290"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645" autoAdjust="0"/>
  </p:normalViewPr>
  <p:slideViewPr>
    <p:cSldViewPr snapToGrid="0">
      <p:cViewPr varScale="1">
        <p:scale>
          <a:sx n="57" d="100"/>
          <a:sy n="57" d="100"/>
        </p:scale>
        <p:origin x="212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47FD1-F16B-4674-8E3F-229D935503AB}" type="datetimeFigureOut">
              <a:rPr lang="en-US" smtClean="0"/>
              <a:t>9/17/2025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FFC65-791B-4559-8ED4-77406F77020D}" type="slidenum">
              <a:rPr lang="en-US" smtClean="0"/>
              <a:t>‹#›</a:t>
            </a:fld>
            <a:endParaRPr lang="en-US"/>
          </a:p>
        </p:txBody>
      </p:sp>
    </p:spTree>
    <p:extLst>
      <p:ext uri="{BB962C8B-B14F-4D97-AF65-F5344CB8AC3E}">
        <p14:creationId xmlns:p14="http://schemas.microsoft.com/office/powerpoint/2010/main" val="2250111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80CBAE93-06AC-4832-A6F6-170F7BEDB2E9}" type="datetime3">
              <a:rPr lang="en-US" smtClean="0"/>
              <a:t>17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77CEACC0-B677-4A29-B1E6-BCE98563D55B}" type="slidenum">
              <a:rPr lang="en-US"/>
              <a:pPr/>
              <a:t>1</a:t>
            </a:fld>
            <a:endParaRPr lang="en-US"/>
          </a:p>
        </p:txBody>
      </p:sp>
      <p:sp>
        <p:nvSpPr>
          <p:cNvPr id="234498" name="Rectangle 2"/>
          <p:cNvSpPr>
            <a:spLocks noGrp="1" noRot="1" noChangeAspect="1" noChangeArrowheads="1" noTextEdit="1"/>
          </p:cNvSpPr>
          <p:nvPr>
            <p:ph type="sldImg"/>
          </p:nvPr>
        </p:nvSpPr>
        <p:spPr>
          <a:ln/>
        </p:spPr>
      </p:sp>
      <p:sp>
        <p:nvSpPr>
          <p:cNvPr id="234499"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1920739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 bitwise OR of contents from register and an immediate value</a:t>
            </a:r>
          </a:p>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8</a:t>
            </a:fld>
            <a:endParaRPr lang="en-US"/>
          </a:p>
        </p:txBody>
      </p:sp>
    </p:spTree>
    <p:extLst>
      <p:ext uri="{BB962C8B-B14F-4D97-AF65-F5344CB8AC3E}">
        <p14:creationId xmlns:p14="http://schemas.microsoft.com/office/powerpoint/2010/main" val="2550489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a:t>We will use MIPS32/MIPS64 ISA.</a:t>
            </a:r>
            <a:endParaRPr lang="en-US" dirty="0"/>
          </a:p>
          <a:p>
            <a:endParaRPr lang="en-US" dirty="0"/>
          </a:p>
        </p:txBody>
      </p:sp>
      <p:sp>
        <p:nvSpPr>
          <p:cNvPr id="4" name="Header Placeholder 3"/>
          <p:cNvSpPr>
            <a:spLocks noGrp="1"/>
          </p:cNvSpPr>
          <p:nvPr>
            <p:ph type="hdr" sz="quarter"/>
          </p:nvPr>
        </p:nvSpPr>
        <p:spPr/>
        <p:txBody>
          <a:bodyPr/>
          <a:lstStyle/>
          <a:p>
            <a:r>
              <a:rPr lang="en-US"/>
              <a:t>The University of Adelaide, School of Computer Science</a:t>
            </a:r>
          </a:p>
        </p:txBody>
      </p:sp>
      <p:sp>
        <p:nvSpPr>
          <p:cNvPr id="5" name="Date Placeholder 4"/>
          <p:cNvSpPr>
            <a:spLocks noGrp="1"/>
          </p:cNvSpPr>
          <p:nvPr>
            <p:ph type="dt" idx="1"/>
          </p:nvPr>
        </p:nvSpPr>
        <p:spPr/>
        <p:txBody>
          <a:bodyPr/>
          <a:lstStyle/>
          <a:p>
            <a:fld id="{BF77CC44-A053-40D7-931F-166C5A61B4B5}" type="datetime3">
              <a:rPr lang="en-US" smtClean="0"/>
              <a:t>17 September 2025</a:t>
            </a:fld>
            <a:endParaRPr lang="en-US"/>
          </a:p>
        </p:txBody>
      </p:sp>
      <p:sp>
        <p:nvSpPr>
          <p:cNvPr id="6" name="Footer Placeholder 5"/>
          <p:cNvSpPr>
            <a:spLocks noGrp="1"/>
          </p:cNvSpPr>
          <p:nvPr>
            <p:ph type="ftr" sz="quarter" idx="4"/>
          </p:nvPr>
        </p:nvSpPr>
        <p:spPr/>
        <p:txBody>
          <a:bodyPr/>
          <a:lstStyle/>
          <a:p>
            <a:r>
              <a:rPr lang="en-US"/>
              <a:t>Chapter 2 — Instructions: Language of the Computer</a:t>
            </a:r>
          </a:p>
        </p:txBody>
      </p:sp>
      <p:sp>
        <p:nvSpPr>
          <p:cNvPr id="7" name="Slide Number Placeholder 6"/>
          <p:cNvSpPr>
            <a:spLocks noGrp="1"/>
          </p:cNvSpPr>
          <p:nvPr>
            <p:ph type="sldNum" sz="quarter" idx="5"/>
          </p:nvPr>
        </p:nvSpPr>
        <p:spPr/>
        <p:txBody>
          <a:bodyPr/>
          <a:lstStyle/>
          <a:p>
            <a:fld id="{EE145C4F-ECA4-4DD7-819E-C9FECED27844}" type="slidenum">
              <a:rPr lang="en-US" smtClean="0"/>
              <a:pPr/>
              <a:t>9</a:t>
            </a:fld>
            <a:endParaRPr lang="en-US"/>
          </a:p>
        </p:txBody>
      </p:sp>
    </p:spTree>
    <p:extLst>
      <p:ext uri="{BB962C8B-B14F-4D97-AF65-F5344CB8AC3E}">
        <p14:creationId xmlns:p14="http://schemas.microsoft.com/office/powerpoint/2010/main" val="540011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$s2, L1</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$s1, $s1, 1</a:t>
            </a:r>
          </a:p>
          <a:p>
            <a:r>
              <a:rPr lang="en-US" sz="1200" dirty="0">
                <a:latin typeface="Courier New" panose="02070309020205020404" pitchFamily="49" charset="0"/>
                <a:cs typeface="Courier New" panose="02070309020205020404" pitchFamily="49" charset="0"/>
              </a:rPr>
              <a:t>L1: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$s2, $s2, -1</a:t>
            </a:r>
          </a:p>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11</a:t>
            </a:fld>
            <a:endParaRPr lang="en-US"/>
          </a:p>
        </p:txBody>
      </p:sp>
    </p:spTree>
    <p:extLst>
      <p:ext uri="{BB962C8B-B14F-4D97-AF65-F5344CB8AC3E}">
        <p14:creationId xmlns:p14="http://schemas.microsoft.com/office/powerpoint/2010/main" val="1508308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CDB1C-D55D-D701-910F-E3800B230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6C9FB-370A-6544-DD3C-A82C9EF9DF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97890F-A86F-362D-F57F-FB679075F6F8}"/>
              </a:ext>
            </a:extLst>
          </p:cNvPr>
          <p:cNvSpPr>
            <a:spLocks noGrp="1"/>
          </p:cNvSpPr>
          <p:nvPr>
            <p:ph type="body" idx="1"/>
          </p:nvPr>
        </p:nvSpPr>
        <p:spPr/>
        <p:txBody>
          <a:bodyPr/>
          <a:lstStyle/>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$s2, ELSE</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$s1, $s1, 1</a:t>
            </a:r>
          </a:p>
          <a:p>
            <a:r>
              <a:rPr lang="en-US" sz="1200" dirty="0">
                <a:latin typeface="Courier New" panose="02070309020205020404" pitchFamily="49" charset="0"/>
                <a:cs typeface="Courier New" panose="02070309020205020404" pitchFamily="49" charset="0"/>
              </a:rPr>
              <a:t>         j NEXT</a:t>
            </a:r>
          </a:p>
          <a:p>
            <a:r>
              <a:rPr lang="en-US" sz="1200" dirty="0">
                <a:latin typeface="Courier New" panose="02070309020205020404" pitchFamily="49" charset="0"/>
                <a:cs typeface="Courier New" panose="02070309020205020404" pitchFamily="49" charset="0"/>
              </a:rPr>
              <a:t>ELSE: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$s2, $s2, -1</a:t>
            </a:r>
          </a:p>
          <a:p>
            <a:r>
              <a:rPr lang="en-US" sz="1200" dirty="0">
                <a:latin typeface="Courier New" panose="02070309020205020404" pitchFamily="49" charset="0"/>
                <a:cs typeface="Courier New" panose="02070309020205020404" pitchFamily="49" charset="0"/>
              </a:rPr>
              <a:t>NEXT: add  $s2, $s2, $s1</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A common mistake is not to include the jump instruction in the if-body.</a:t>
            </a:r>
          </a:p>
          <a:p>
            <a:endParaRPr lang="en-US" dirty="0"/>
          </a:p>
        </p:txBody>
      </p:sp>
      <p:sp>
        <p:nvSpPr>
          <p:cNvPr id="4" name="Slide Number Placeholder 3">
            <a:extLst>
              <a:ext uri="{FF2B5EF4-FFF2-40B4-BE49-F238E27FC236}">
                <a16:creationId xmlns:a16="http://schemas.microsoft.com/office/drawing/2014/main" id="{39259A83-76C6-0B3B-0B84-971530B0C298}"/>
              </a:ext>
            </a:extLst>
          </p:cNvPr>
          <p:cNvSpPr>
            <a:spLocks noGrp="1"/>
          </p:cNvSpPr>
          <p:nvPr>
            <p:ph type="sldNum" sz="quarter" idx="5"/>
          </p:nvPr>
        </p:nvSpPr>
        <p:spPr/>
        <p:txBody>
          <a:bodyPr/>
          <a:lstStyle/>
          <a:p>
            <a:fld id="{2F1FFC65-791B-4559-8ED4-77406F77020D}" type="slidenum">
              <a:rPr lang="en-US" smtClean="0"/>
              <a:t>12</a:t>
            </a:fld>
            <a:endParaRPr lang="en-US"/>
          </a:p>
        </p:txBody>
      </p:sp>
    </p:spTree>
    <p:extLst>
      <p:ext uri="{BB962C8B-B14F-4D97-AF65-F5344CB8AC3E}">
        <p14:creationId xmlns:p14="http://schemas.microsoft.com/office/powerpoint/2010/main" val="919374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B0F6C-3EFA-83BF-029C-1C766BE40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3B625-9E08-38D1-D1EB-099E26E3BC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A6AC7-38C5-87C3-8D94-25B43F9E10C9}"/>
              </a:ext>
            </a:extLst>
          </p:cNvPr>
          <p:cNvSpPr>
            <a:spLocks noGrp="1"/>
          </p:cNvSpPr>
          <p:nvPr>
            <p:ph type="body" idx="1"/>
          </p:nvPr>
        </p:nvSpPr>
        <p:spPr/>
        <p:txBody>
          <a:bodyPr/>
          <a:lstStyle/>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$s2, ELSE</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$s1, $s1, 1</a:t>
            </a:r>
          </a:p>
          <a:p>
            <a:r>
              <a:rPr lang="en-US" sz="1200" dirty="0">
                <a:latin typeface="Courier New" panose="02070309020205020404" pitchFamily="49" charset="0"/>
                <a:cs typeface="Courier New" panose="02070309020205020404" pitchFamily="49" charset="0"/>
              </a:rPr>
              <a:t>         j NEXT</a:t>
            </a:r>
          </a:p>
          <a:p>
            <a:r>
              <a:rPr lang="en-US" sz="1200" dirty="0">
                <a:latin typeface="Courier New" panose="02070309020205020404" pitchFamily="49" charset="0"/>
                <a:cs typeface="Courier New" panose="02070309020205020404" pitchFamily="49" charset="0"/>
              </a:rPr>
              <a:t>ELSE: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$s2, $s2, -1</a:t>
            </a:r>
          </a:p>
          <a:p>
            <a:r>
              <a:rPr lang="en-US" sz="1200" dirty="0">
                <a:latin typeface="Courier New" panose="02070309020205020404" pitchFamily="49" charset="0"/>
                <a:cs typeface="Courier New" panose="02070309020205020404" pitchFamily="49" charset="0"/>
              </a:rPr>
              <a:t>NEXT: add  $s2, $s2, $s1</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A common mistake is not to include the jump instruction in the if-body.</a:t>
            </a:r>
          </a:p>
          <a:p>
            <a:endParaRPr lang="en-US" dirty="0"/>
          </a:p>
        </p:txBody>
      </p:sp>
      <p:sp>
        <p:nvSpPr>
          <p:cNvPr id="4" name="Slide Number Placeholder 3">
            <a:extLst>
              <a:ext uri="{FF2B5EF4-FFF2-40B4-BE49-F238E27FC236}">
                <a16:creationId xmlns:a16="http://schemas.microsoft.com/office/drawing/2014/main" id="{3834B7F8-94E7-B26C-DBEF-F597D047A622}"/>
              </a:ext>
            </a:extLst>
          </p:cNvPr>
          <p:cNvSpPr>
            <a:spLocks noGrp="1"/>
          </p:cNvSpPr>
          <p:nvPr>
            <p:ph type="sldNum" sz="quarter" idx="5"/>
          </p:nvPr>
        </p:nvSpPr>
        <p:spPr/>
        <p:txBody>
          <a:bodyPr/>
          <a:lstStyle/>
          <a:p>
            <a:fld id="{2F1FFC65-791B-4559-8ED4-77406F77020D}" type="slidenum">
              <a:rPr lang="en-US" smtClean="0"/>
              <a:t>13</a:t>
            </a:fld>
            <a:endParaRPr lang="en-US"/>
          </a:p>
        </p:txBody>
      </p:sp>
    </p:spTree>
    <p:extLst>
      <p:ext uri="{BB962C8B-B14F-4D97-AF65-F5344CB8AC3E}">
        <p14:creationId xmlns:p14="http://schemas.microsoft.com/office/powerpoint/2010/main" val="4095265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090B3-A60D-4AA1-AAC1-921B9608B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EE07F-04B9-0CE3-6940-369D9EA932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AAB710-357C-DFC6-D18A-C6B14FF507D4}"/>
              </a:ext>
            </a:extLst>
          </p:cNvPr>
          <p:cNvSpPr>
            <a:spLocks noGrp="1"/>
          </p:cNvSpPr>
          <p:nvPr>
            <p:ph type="body" idx="1"/>
          </p:nvPr>
        </p:nvSpPr>
        <p:spPr/>
        <p:txBody>
          <a:bodyPr/>
          <a:lstStyle/>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$s2, ELSE</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$s3, ELSE</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$s1, $s1, 1</a:t>
            </a:r>
          </a:p>
          <a:p>
            <a:r>
              <a:rPr lang="en-US" sz="1200" dirty="0">
                <a:latin typeface="Courier New" panose="02070309020205020404" pitchFamily="49" charset="0"/>
                <a:cs typeface="Courier New" panose="02070309020205020404" pitchFamily="49" charset="0"/>
              </a:rPr>
              <a:t>      j NEXT</a:t>
            </a:r>
          </a:p>
          <a:p>
            <a:r>
              <a:rPr lang="en-US" sz="1200" dirty="0">
                <a:latin typeface="Courier New" panose="02070309020205020404" pitchFamily="49" charset="0"/>
                <a:cs typeface="Courier New" panose="02070309020205020404" pitchFamily="49" charset="0"/>
              </a:rPr>
              <a:t>ELSE: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$s2, $s2, -1</a:t>
            </a:r>
          </a:p>
          <a:p>
            <a:r>
              <a:rPr lang="en-US" sz="1200" dirty="0">
                <a:latin typeface="Courier New" panose="02070309020205020404" pitchFamily="49" charset="0"/>
                <a:cs typeface="Courier New" panose="02070309020205020404" pitchFamily="49" charset="0"/>
              </a:rPr>
              <a:t>NEXT: add  $s2, $s1, $s2</a:t>
            </a:r>
          </a:p>
          <a:p>
            <a:r>
              <a:rPr lang="en-US" sz="1200" dirty="0">
                <a:latin typeface="Courier New" panose="02070309020205020404" pitchFamily="49" charset="0"/>
                <a:cs typeface="Courier New" panose="02070309020205020404" pitchFamily="49" charset="0"/>
              </a:rPr>
              <a:t>      add  $s2, $s3, $s2</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Short circuiting occurs when the first condition is false.</a:t>
            </a:r>
          </a:p>
          <a:p>
            <a:endParaRPr lang="en-US" dirty="0"/>
          </a:p>
        </p:txBody>
      </p:sp>
      <p:sp>
        <p:nvSpPr>
          <p:cNvPr id="4" name="Slide Number Placeholder 3">
            <a:extLst>
              <a:ext uri="{FF2B5EF4-FFF2-40B4-BE49-F238E27FC236}">
                <a16:creationId xmlns:a16="http://schemas.microsoft.com/office/drawing/2014/main" id="{36CDE711-6288-32A3-CC29-5E17C34D289A}"/>
              </a:ext>
            </a:extLst>
          </p:cNvPr>
          <p:cNvSpPr>
            <a:spLocks noGrp="1"/>
          </p:cNvSpPr>
          <p:nvPr>
            <p:ph type="sldNum" sz="quarter" idx="5"/>
          </p:nvPr>
        </p:nvSpPr>
        <p:spPr/>
        <p:txBody>
          <a:bodyPr/>
          <a:lstStyle/>
          <a:p>
            <a:fld id="{2F1FFC65-791B-4559-8ED4-77406F77020D}" type="slidenum">
              <a:rPr lang="en-US" smtClean="0"/>
              <a:t>14</a:t>
            </a:fld>
            <a:endParaRPr lang="en-US"/>
          </a:p>
        </p:txBody>
      </p:sp>
    </p:spTree>
    <p:extLst>
      <p:ext uri="{BB962C8B-B14F-4D97-AF65-F5344CB8AC3E}">
        <p14:creationId xmlns:p14="http://schemas.microsoft.com/office/powerpoint/2010/main" val="1897888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3E5F2-A440-11EC-151E-A812FFF10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B9876-8EB5-F3F7-4CC4-07197BCC8C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C752B4-72E3-78E4-3123-F7A8DEF8A6F1}"/>
              </a:ext>
            </a:extLst>
          </p:cNvPr>
          <p:cNvSpPr>
            <a:spLocks noGrp="1"/>
          </p:cNvSpPr>
          <p:nvPr>
            <p:ph type="body" idx="1"/>
          </p:nvPr>
        </p:nvSpPr>
        <p:spPr/>
        <p:txBody>
          <a:bodyPr/>
          <a:lstStyle/>
          <a:p>
            <a:r>
              <a:rPr lang="en-US" sz="1200" dirty="0">
                <a:latin typeface="Courier New" panose="02070309020205020404" pitchFamily="49" charset="0"/>
                <a:cs typeface="Courier New" panose="02070309020205020404" pitchFamily="49" charset="0"/>
              </a:rPr>
              <a:t>        </a:t>
            </a:r>
            <a:r>
              <a:rPr lang="en-US" sz="1200" b="1" dirty="0" err="1">
                <a:latin typeface="Courier New" panose="02070309020205020404" pitchFamily="49" charset="0"/>
                <a:cs typeface="Courier New" panose="02070309020205020404" pitchFamily="49" charset="0"/>
              </a:rPr>
              <a:t>beq</a:t>
            </a:r>
            <a:r>
              <a:rPr lang="en-US" sz="1200" dirty="0">
                <a:latin typeface="Courier New" panose="02070309020205020404" pitchFamily="49" charset="0"/>
                <a:cs typeface="Courier New" panose="02070309020205020404" pitchFamily="49" charset="0"/>
              </a:rPr>
              <a:t>  $s1, $s2, IF</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$s3, ELSE</a:t>
            </a:r>
          </a:p>
          <a:p>
            <a:r>
              <a:rPr lang="en-US" sz="1200" b="1" dirty="0">
                <a:latin typeface="Courier New" panose="02070309020205020404" pitchFamily="49" charset="0"/>
                <a:cs typeface="Courier New" panose="02070309020205020404" pitchFamily="49" charset="0"/>
              </a:rPr>
              <a:t>IF: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$s1, $s1, 1</a:t>
            </a:r>
          </a:p>
          <a:p>
            <a:r>
              <a:rPr lang="en-US" sz="1200" dirty="0">
                <a:latin typeface="Courier New" panose="02070309020205020404" pitchFamily="49" charset="0"/>
                <a:cs typeface="Courier New" panose="02070309020205020404" pitchFamily="49" charset="0"/>
              </a:rPr>
              <a:t>        j NEXT</a:t>
            </a:r>
          </a:p>
          <a:p>
            <a:r>
              <a:rPr lang="en-US" sz="1200" dirty="0">
                <a:latin typeface="Courier New" panose="02070309020205020404" pitchFamily="49" charset="0"/>
                <a:cs typeface="Courier New" panose="02070309020205020404" pitchFamily="49" charset="0"/>
              </a:rPr>
              <a:t>ELSE: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$s2, $s2, -1</a:t>
            </a:r>
          </a:p>
          <a:p>
            <a:r>
              <a:rPr lang="en-US" sz="1200" dirty="0">
                <a:latin typeface="Courier New" panose="02070309020205020404" pitchFamily="49" charset="0"/>
                <a:cs typeface="Courier New" panose="02070309020205020404" pitchFamily="49" charset="0"/>
              </a:rPr>
              <a:t>NEXT: add  $s2, $s1, $s2</a:t>
            </a:r>
          </a:p>
          <a:p>
            <a:r>
              <a:rPr lang="en-US" sz="1200" dirty="0">
                <a:latin typeface="Courier New" panose="02070309020205020404" pitchFamily="49" charset="0"/>
                <a:cs typeface="Courier New" panose="02070309020205020404" pitchFamily="49" charset="0"/>
              </a:rPr>
              <a:t>      add  $s2, $s3, $s2</a:t>
            </a:r>
          </a:p>
          <a:p>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Short circuiting occurs when the first condition is </a:t>
            </a:r>
            <a:r>
              <a:rPr lang="en-US" sz="1200" b="1" dirty="0">
                <a:latin typeface="Courier New" panose="02070309020205020404" pitchFamily="49" charset="0"/>
                <a:cs typeface="Courier New" panose="02070309020205020404" pitchFamily="49" charset="0"/>
              </a:rPr>
              <a:t>true</a:t>
            </a:r>
            <a:r>
              <a:rPr lang="en-US" sz="1200" dirty="0">
                <a:latin typeface="Courier New" panose="02070309020205020404" pitchFamily="49" charset="0"/>
                <a:cs typeface="Courier New" panose="02070309020205020404" pitchFamily="49" charset="0"/>
              </a:rPr>
              <a:t>.</a:t>
            </a:r>
          </a:p>
          <a:p>
            <a:endParaRPr lang="en-US" dirty="0"/>
          </a:p>
        </p:txBody>
      </p:sp>
      <p:sp>
        <p:nvSpPr>
          <p:cNvPr id="4" name="Slide Number Placeholder 3">
            <a:extLst>
              <a:ext uri="{FF2B5EF4-FFF2-40B4-BE49-F238E27FC236}">
                <a16:creationId xmlns:a16="http://schemas.microsoft.com/office/drawing/2014/main" id="{0CC54B17-FFC2-11E4-B51F-9367B0D8F300}"/>
              </a:ext>
            </a:extLst>
          </p:cNvPr>
          <p:cNvSpPr>
            <a:spLocks noGrp="1"/>
          </p:cNvSpPr>
          <p:nvPr>
            <p:ph type="sldNum" sz="quarter" idx="5"/>
          </p:nvPr>
        </p:nvSpPr>
        <p:spPr/>
        <p:txBody>
          <a:bodyPr/>
          <a:lstStyle/>
          <a:p>
            <a:fld id="{2F1FFC65-791B-4559-8ED4-77406F77020D}" type="slidenum">
              <a:rPr lang="en-US" smtClean="0"/>
              <a:t>15</a:t>
            </a:fld>
            <a:endParaRPr lang="en-US"/>
          </a:p>
        </p:txBody>
      </p:sp>
    </p:spTree>
    <p:extLst>
      <p:ext uri="{BB962C8B-B14F-4D97-AF65-F5344CB8AC3E}">
        <p14:creationId xmlns:p14="http://schemas.microsoft.com/office/powerpoint/2010/main" val="3259198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29229-48A2-F1DF-B073-134A773D9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8C21C-8B29-02E8-35C8-B68F9962F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9388A-2208-EE23-33FD-CAA91EEDEBC9}"/>
              </a:ext>
            </a:extLst>
          </p:cNvPr>
          <p:cNvSpPr>
            <a:spLocks noGrp="1"/>
          </p:cNvSpPr>
          <p:nvPr>
            <p:ph type="body" idx="1"/>
          </p:nvPr>
        </p:nvSpPr>
        <p:spPr/>
        <p:txBody>
          <a:bodyPr/>
          <a:lstStyle/>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$s4, $zero, 1</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$s4, C2_COND</a:t>
            </a:r>
          </a:p>
          <a:p>
            <a:r>
              <a:rPr lang="en-US" sz="1200" dirty="0">
                <a:latin typeface="Courier New" panose="02070309020205020404" pitchFamily="49" charset="0"/>
                <a:cs typeface="Courier New" panose="02070309020205020404" pitchFamily="49" charset="0"/>
              </a:rPr>
              <a:t>         j C1_BODY</a:t>
            </a:r>
          </a:p>
          <a:p>
            <a:r>
              <a:rPr lang="en-US" sz="1200" dirty="0">
                <a:latin typeface="Courier New" panose="02070309020205020404" pitchFamily="49" charset="0"/>
                <a:cs typeface="Courier New" panose="02070309020205020404" pitchFamily="49" charset="0"/>
              </a:rPr>
              <a:t>C2_COND: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$s4, $zero, 2</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$s4, C3_COND</a:t>
            </a:r>
          </a:p>
          <a:p>
            <a:r>
              <a:rPr lang="en-US" sz="1200" dirty="0">
                <a:latin typeface="Courier New" panose="02070309020205020404" pitchFamily="49" charset="0"/>
                <a:cs typeface="Courier New" panose="02070309020205020404" pitchFamily="49" charset="0"/>
              </a:rPr>
              <a:t>         j C2_BODY</a:t>
            </a:r>
          </a:p>
          <a:p>
            <a:r>
              <a:rPr lang="en-US" sz="1200" dirty="0">
                <a:latin typeface="Courier New" panose="02070309020205020404" pitchFamily="49" charset="0"/>
                <a:cs typeface="Courier New" panose="02070309020205020404" pitchFamily="49" charset="0"/>
              </a:rPr>
              <a:t>C3_COND: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$s4, $zero, 3</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$s4, EXIT</a:t>
            </a:r>
          </a:p>
          <a:p>
            <a:r>
              <a:rPr lang="en-US" sz="1200" dirty="0">
                <a:latin typeface="Courier New" panose="02070309020205020404" pitchFamily="49" charset="0"/>
                <a:cs typeface="Courier New" panose="02070309020205020404" pitchFamily="49" charset="0"/>
              </a:rPr>
              <a:t>         j C3_BODY</a:t>
            </a:r>
          </a:p>
          <a:p>
            <a:r>
              <a:rPr lang="en-US" sz="1200" dirty="0">
                <a:latin typeface="Courier New" panose="02070309020205020404" pitchFamily="49" charset="0"/>
                <a:cs typeface="Courier New" panose="02070309020205020404" pitchFamily="49" charset="0"/>
              </a:rPr>
              <a:t>C1_BODY: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$s1, $s1, 1</a:t>
            </a:r>
          </a:p>
          <a:p>
            <a:r>
              <a:rPr lang="en-US" sz="1200" dirty="0">
                <a:latin typeface="Courier New" panose="02070309020205020404" pitchFamily="49" charset="0"/>
                <a:cs typeface="Courier New" panose="02070309020205020404" pitchFamily="49" charset="0"/>
              </a:rPr>
              <a:t>C2_BODY: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$s1, $s1, 2</a:t>
            </a:r>
          </a:p>
          <a:p>
            <a:r>
              <a:rPr lang="en-US" sz="1200" dirty="0">
                <a:latin typeface="Courier New" panose="02070309020205020404" pitchFamily="49" charset="0"/>
                <a:cs typeface="Courier New" panose="02070309020205020404" pitchFamily="49" charset="0"/>
              </a:rPr>
              <a:t>         j EXIT</a:t>
            </a:r>
          </a:p>
          <a:p>
            <a:r>
              <a:rPr lang="en-US" sz="1200" dirty="0">
                <a:latin typeface="Courier New" panose="02070309020205020404" pitchFamily="49" charset="0"/>
                <a:cs typeface="Courier New" panose="02070309020205020404" pitchFamily="49" charset="0"/>
              </a:rPr>
              <a:t>C3_BODY: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$s1, $s1, 3</a:t>
            </a:r>
          </a:p>
          <a:p>
            <a:r>
              <a:rPr lang="en-US" sz="1200" dirty="0">
                <a:latin typeface="Courier New" panose="02070309020205020404" pitchFamily="49" charset="0"/>
                <a:cs typeface="Courier New" panose="02070309020205020404" pitchFamily="49" charset="0"/>
              </a:rPr>
              <a:t>EXIT:</a:t>
            </a:r>
            <a:endParaRPr lang="en-US" dirty="0"/>
          </a:p>
        </p:txBody>
      </p:sp>
      <p:sp>
        <p:nvSpPr>
          <p:cNvPr id="4" name="Slide Number Placeholder 3">
            <a:extLst>
              <a:ext uri="{FF2B5EF4-FFF2-40B4-BE49-F238E27FC236}">
                <a16:creationId xmlns:a16="http://schemas.microsoft.com/office/drawing/2014/main" id="{8955C54F-8D68-1BBF-B6FC-2A90C4C2E46A}"/>
              </a:ext>
            </a:extLst>
          </p:cNvPr>
          <p:cNvSpPr>
            <a:spLocks noGrp="1"/>
          </p:cNvSpPr>
          <p:nvPr>
            <p:ph type="sldNum" sz="quarter" idx="5"/>
          </p:nvPr>
        </p:nvSpPr>
        <p:spPr/>
        <p:txBody>
          <a:bodyPr/>
          <a:lstStyle/>
          <a:p>
            <a:fld id="{2F1FFC65-791B-4559-8ED4-77406F77020D}" type="slidenum">
              <a:rPr lang="en-US" smtClean="0"/>
              <a:t>16</a:t>
            </a:fld>
            <a:endParaRPr lang="en-US"/>
          </a:p>
        </p:txBody>
      </p:sp>
    </p:spTree>
    <p:extLst>
      <p:ext uri="{BB962C8B-B14F-4D97-AF65-F5344CB8AC3E}">
        <p14:creationId xmlns:p14="http://schemas.microsoft.com/office/powerpoint/2010/main" val="1004641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EDF7B-E590-6A18-D473-A13EDBEE9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E0106-557C-9B97-41D5-F67ADB057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9200AE-7E91-697D-E6B4-43B6E10C5DAC}"/>
              </a:ext>
            </a:extLst>
          </p:cNvPr>
          <p:cNvSpPr>
            <a:spLocks noGrp="1"/>
          </p:cNvSpPr>
          <p:nvPr>
            <p:ph type="body" idx="1"/>
          </p:nvPr>
        </p:nvSpPr>
        <p:spPr/>
        <p:txBody>
          <a:bodyPr/>
          <a:lstStyle/>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$s4, $zero, 1</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$s4, C2_COND</a:t>
            </a:r>
          </a:p>
          <a:p>
            <a:r>
              <a:rPr lang="en-US" sz="1200" dirty="0">
                <a:latin typeface="Courier New" panose="02070309020205020404" pitchFamily="49" charset="0"/>
                <a:cs typeface="Courier New" panose="02070309020205020404" pitchFamily="49" charset="0"/>
              </a:rPr>
              <a:t>         j C1_BODY</a:t>
            </a:r>
          </a:p>
          <a:p>
            <a:r>
              <a:rPr lang="en-US" sz="1200" dirty="0">
                <a:latin typeface="Courier New" panose="02070309020205020404" pitchFamily="49" charset="0"/>
                <a:cs typeface="Courier New" panose="02070309020205020404" pitchFamily="49" charset="0"/>
              </a:rPr>
              <a:t>C2_COND: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$s4, $zero, 2</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$s4, C3_COND</a:t>
            </a:r>
          </a:p>
          <a:p>
            <a:r>
              <a:rPr lang="en-US" sz="1200" dirty="0">
                <a:latin typeface="Courier New" panose="02070309020205020404" pitchFamily="49" charset="0"/>
                <a:cs typeface="Courier New" panose="02070309020205020404" pitchFamily="49" charset="0"/>
              </a:rPr>
              <a:t>         j C2_BODY</a:t>
            </a:r>
          </a:p>
          <a:p>
            <a:r>
              <a:rPr lang="en-US" sz="1200" dirty="0">
                <a:latin typeface="Courier New" panose="02070309020205020404" pitchFamily="49" charset="0"/>
                <a:cs typeface="Courier New" panose="02070309020205020404" pitchFamily="49" charset="0"/>
              </a:rPr>
              <a:t>C3_COND: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$s4, $zero, 3</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bne</a:t>
            </a:r>
            <a:r>
              <a:rPr lang="en-US" sz="1200" dirty="0">
                <a:latin typeface="Courier New" panose="02070309020205020404" pitchFamily="49" charset="0"/>
                <a:cs typeface="Courier New" panose="02070309020205020404" pitchFamily="49" charset="0"/>
              </a:rPr>
              <a:t> $s1, $s4, EXIT</a:t>
            </a:r>
          </a:p>
          <a:p>
            <a:r>
              <a:rPr lang="en-US" sz="1200" dirty="0">
                <a:latin typeface="Courier New" panose="02070309020205020404" pitchFamily="49" charset="0"/>
                <a:cs typeface="Courier New" panose="02070309020205020404" pitchFamily="49" charset="0"/>
              </a:rPr>
              <a:t>         j C3_BODY</a:t>
            </a:r>
          </a:p>
          <a:p>
            <a:r>
              <a:rPr lang="en-US" sz="1200" dirty="0">
                <a:latin typeface="Courier New" panose="02070309020205020404" pitchFamily="49" charset="0"/>
                <a:cs typeface="Courier New" panose="02070309020205020404" pitchFamily="49" charset="0"/>
              </a:rPr>
              <a:t>C1_BODY: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$s1, $s1, 1</a:t>
            </a:r>
          </a:p>
          <a:p>
            <a:r>
              <a:rPr lang="en-US" sz="1200" dirty="0">
                <a:latin typeface="Courier New" panose="02070309020205020404" pitchFamily="49" charset="0"/>
                <a:cs typeface="Courier New" panose="02070309020205020404" pitchFamily="49" charset="0"/>
              </a:rPr>
              <a:t>C2_BODY: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$s1, $s1, 2</a:t>
            </a:r>
          </a:p>
          <a:p>
            <a:r>
              <a:rPr lang="en-US" sz="1200" dirty="0">
                <a:latin typeface="Courier New" panose="02070309020205020404" pitchFamily="49" charset="0"/>
                <a:cs typeface="Courier New" panose="02070309020205020404" pitchFamily="49" charset="0"/>
              </a:rPr>
              <a:t>         j EXIT</a:t>
            </a:r>
          </a:p>
          <a:p>
            <a:r>
              <a:rPr lang="en-US" sz="1200" dirty="0">
                <a:latin typeface="Courier New" panose="02070309020205020404" pitchFamily="49" charset="0"/>
                <a:cs typeface="Courier New" panose="02070309020205020404" pitchFamily="49" charset="0"/>
              </a:rPr>
              <a:t>C3_BODY: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$s1, $s1, 3</a:t>
            </a:r>
          </a:p>
          <a:p>
            <a:r>
              <a:rPr lang="en-US" sz="1200" dirty="0">
                <a:latin typeface="Courier New" panose="02070309020205020404" pitchFamily="49" charset="0"/>
                <a:cs typeface="Courier New" panose="02070309020205020404" pitchFamily="49" charset="0"/>
              </a:rPr>
              <a:t>EXIT:</a:t>
            </a:r>
            <a:endParaRPr lang="en-US" dirty="0"/>
          </a:p>
        </p:txBody>
      </p:sp>
      <p:sp>
        <p:nvSpPr>
          <p:cNvPr id="4" name="Slide Number Placeholder 3">
            <a:extLst>
              <a:ext uri="{FF2B5EF4-FFF2-40B4-BE49-F238E27FC236}">
                <a16:creationId xmlns:a16="http://schemas.microsoft.com/office/drawing/2014/main" id="{6C514B89-9D20-ECF4-F7E2-1F8C55D2A28C}"/>
              </a:ext>
            </a:extLst>
          </p:cNvPr>
          <p:cNvSpPr>
            <a:spLocks noGrp="1"/>
          </p:cNvSpPr>
          <p:nvPr>
            <p:ph type="sldNum" sz="quarter" idx="5"/>
          </p:nvPr>
        </p:nvSpPr>
        <p:spPr/>
        <p:txBody>
          <a:bodyPr/>
          <a:lstStyle/>
          <a:p>
            <a:fld id="{2F1FFC65-791B-4559-8ED4-77406F77020D}" type="slidenum">
              <a:rPr lang="en-US" smtClean="0"/>
              <a:t>17</a:t>
            </a:fld>
            <a:endParaRPr lang="en-US"/>
          </a:p>
        </p:txBody>
      </p:sp>
    </p:spTree>
    <p:extLst>
      <p:ext uri="{BB962C8B-B14F-4D97-AF65-F5344CB8AC3E}">
        <p14:creationId xmlns:p14="http://schemas.microsoft.com/office/powerpoint/2010/main" val="1082250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E52AD-E309-A797-58DC-E1EDF203B5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E8245-B579-C861-B559-9E46FF1980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3F544-6803-7C00-F0EE-637C3D6D39F9}"/>
              </a:ext>
            </a:extLst>
          </p:cNvPr>
          <p:cNvSpPr>
            <a:spLocks noGrp="1"/>
          </p:cNvSpPr>
          <p:nvPr>
            <p:ph type="body" idx="1"/>
          </p:nvPr>
        </p:nvSpPr>
        <p:spPr/>
        <p:txBody>
          <a:bodyPr/>
          <a:lstStyle/>
          <a:p>
            <a:r>
              <a:rPr lang="en-US" sz="1200" dirty="0">
                <a:latin typeface="Courier New" panose="02070309020205020404" pitchFamily="49" charset="0"/>
                <a:cs typeface="Courier New" panose="02070309020205020404" pitchFamily="49" charset="0"/>
              </a:rPr>
              <a:t>L1: </a:t>
            </a:r>
            <a:r>
              <a:rPr lang="en-US" sz="1200" dirty="0" err="1">
                <a:latin typeface="Courier New" panose="02070309020205020404" pitchFamily="49" charset="0"/>
                <a:cs typeface="Courier New" panose="02070309020205020404" pitchFamily="49" charset="0"/>
              </a:rPr>
              <a:t>bge</a:t>
            </a:r>
            <a:r>
              <a:rPr lang="en-US" sz="1200" dirty="0">
                <a:latin typeface="Courier New" panose="02070309020205020404" pitchFamily="49" charset="0"/>
                <a:cs typeface="Courier New" panose="02070309020205020404" pitchFamily="49" charset="0"/>
              </a:rPr>
              <a:t>  $s1, $s2, DONE  # branch if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&lt; j)</a:t>
            </a:r>
          </a:p>
          <a:p>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addi</a:t>
            </a:r>
            <a:r>
              <a:rPr lang="en-US" sz="1200" dirty="0">
                <a:latin typeface="Courier New" panose="02070309020205020404" pitchFamily="49" charset="0"/>
                <a:cs typeface="Courier New" panose="02070309020205020404" pitchFamily="49" charset="0"/>
              </a:rPr>
              <a:t> $s3, $s3, 1            # k++</a:t>
            </a:r>
          </a:p>
          <a:p>
            <a:r>
              <a:rPr lang="en-US" sz="1200" dirty="0">
                <a:latin typeface="Courier New" panose="02070309020205020404" pitchFamily="49" charset="0"/>
                <a:cs typeface="Courier New" panose="02070309020205020404" pitchFamily="49" charset="0"/>
              </a:rPr>
              <a:t>    add  $s1, $s1, $s1        #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 2</a:t>
            </a:r>
          </a:p>
          <a:p>
            <a:r>
              <a:rPr lang="en-US" sz="1200" dirty="0">
                <a:latin typeface="Courier New" panose="02070309020205020404" pitchFamily="49" charset="0"/>
                <a:cs typeface="Courier New" panose="02070309020205020404" pitchFamily="49" charset="0"/>
              </a:rPr>
              <a:t>    j L1</a:t>
            </a:r>
          </a:p>
          <a:p>
            <a:r>
              <a:rPr lang="en-US" sz="1200" dirty="0">
                <a:latin typeface="Courier New" panose="02070309020205020404" pitchFamily="49" charset="0"/>
                <a:cs typeface="Courier New" panose="02070309020205020404" pitchFamily="49" charset="0"/>
              </a:rPr>
              <a:t>DONE:</a:t>
            </a:r>
          </a:p>
        </p:txBody>
      </p:sp>
      <p:sp>
        <p:nvSpPr>
          <p:cNvPr id="4" name="Slide Number Placeholder 3">
            <a:extLst>
              <a:ext uri="{FF2B5EF4-FFF2-40B4-BE49-F238E27FC236}">
                <a16:creationId xmlns:a16="http://schemas.microsoft.com/office/drawing/2014/main" id="{2B926F6C-1545-BA29-62DB-EDD9A59ADA09}"/>
              </a:ext>
            </a:extLst>
          </p:cNvPr>
          <p:cNvSpPr>
            <a:spLocks noGrp="1"/>
          </p:cNvSpPr>
          <p:nvPr>
            <p:ph type="sldNum" sz="quarter" idx="5"/>
          </p:nvPr>
        </p:nvSpPr>
        <p:spPr/>
        <p:txBody>
          <a:bodyPr/>
          <a:lstStyle/>
          <a:p>
            <a:fld id="{2F1FFC65-791B-4559-8ED4-77406F77020D}" type="slidenum">
              <a:rPr lang="en-US" smtClean="0"/>
              <a:t>18</a:t>
            </a:fld>
            <a:endParaRPr lang="en-US"/>
          </a:p>
        </p:txBody>
      </p:sp>
    </p:spTree>
    <p:extLst>
      <p:ext uri="{BB962C8B-B14F-4D97-AF65-F5344CB8AC3E}">
        <p14:creationId xmlns:p14="http://schemas.microsoft.com/office/powerpoint/2010/main" val="1840004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08317-990B-B8A3-B756-F4B672DF5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03407-01FC-4BB0-8C70-089312272E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FD1507-96BA-A9F5-1AA7-D4F7D98F9744}"/>
              </a:ext>
            </a:extLst>
          </p:cNvPr>
          <p:cNvSpPr>
            <a:spLocks noGrp="1"/>
          </p:cNvSpPr>
          <p:nvPr>
            <p:ph type="body" idx="1"/>
          </p:nvPr>
        </p:nvSpPr>
        <p:spPr/>
        <p:txBody>
          <a:bodyPr/>
          <a:lstStyle/>
          <a:p>
            <a:endParaRPr lang="en-US" sz="1200"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AF98D9AA-9208-E563-BF69-40F166B1FC63}"/>
              </a:ext>
            </a:extLst>
          </p:cNvPr>
          <p:cNvSpPr>
            <a:spLocks noGrp="1"/>
          </p:cNvSpPr>
          <p:nvPr>
            <p:ph type="sldNum" sz="quarter" idx="5"/>
          </p:nvPr>
        </p:nvSpPr>
        <p:spPr/>
        <p:txBody>
          <a:bodyPr/>
          <a:lstStyle/>
          <a:p>
            <a:fld id="{2F1FFC65-791B-4559-8ED4-77406F77020D}" type="slidenum">
              <a:rPr lang="en-US" smtClean="0"/>
              <a:t>19</a:t>
            </a:fld>
            <a:endParaRPr lang="en-US"/>
          </a:p>
        </p:txBody>
      </p:sp>
    </p:spTree>
    <p:extLst>
      <p:ext uri="{BB962C8B-B14F-4D97-AF65-F5344CB8AC3E}">
        <p14:creationId xmlns:p14="http://schemas.microsoft.com/office/powerpoint/2010/main" val="32967054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
            </a:r>
          </a:p>
          <a:p>
            <a:r>
              <a:rPr lang="en-US" dirty="0"/>
              <a:t>     LD $t1, 2000($0)</a:t>
            </a:r>
          </a:p>
          <a:p>
            <a:r>
              <a:rPr lang="en-US" dirty="0"/>
              <a:t>     LD $t2, 2008($0)</a:t>
            </a:r>
          </a:p>
          <a:p>
            <a:r>
              <a:rPr lang="en-US" dirty="0"/>
              <a:t>     SLT $t3, $t2, $t1</a:t>
            </a:r>
          </a:p>
          <a:p>
            <a:r>
              <a:rPr lang="en-US" dirty="0"/>
              <a:t>     BEQ $t3, $0, DONE</a:t>
            </a:r>
          </a:p>
          <a:p>
            <a:r>
              <a:rPr lang="en-US" dirty="0"/>
              <a:t>     DADD $t4, $t2, $t1</a:t>
            </a:r>
          </a:p>
          <a:p>
            <a:r>
              <a:rPr lang="en-US" dirty="0"/>
              <a:t>     DSUB $t4, $0, $t4</a:t>
            </a:r>
          </a:p>
          <a:p>
            <a:r>
              <a:rPr lang="en-US" dirty="0"/>
              <a:t>     SD $t4, 2016($0)</a:t>
            </a:r>
          </a:p>
          <a:p>
            <a:r>
              <a:rPr lang="en-US" dirty="0"/>
              <a:t>DONE:</a:t>
            </a:r>
          </a:p>
          <a:p>
            <a:endParaRPr lang="en-US" dirty="0"/>
          </a:p>
          <a:p>
            <a:r>
              <a:rPr lang="en-US" dirty="0"/>
              <a:t>b) 4 instructions</a:t>
            </a:r>
          </a:p>
          <a:p>
            <a:r>
              <a:rPr lang="en-US" dirty="0"/>
              <a:t>c) 2</a:t>
            </a:r>
          </a:p>
          <a:p>
            <a:r>
              <a:rPr lang="en-US" dirty="0"/>
              <a:t>d) 28 bytes</a:t>
            </a:r>
          </a:p>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20</a:t>
            </a:fld>
            <a:endParaRPr lang="en-US"/>
          </a:p>
        </p:txBody>
      </p:sp>
    </p:spTree>
    <p:extLst>
      <p:ext uri="{BB962C8B-B14F-4D97-AF65-F5344CB8AC3E}">
        <p14:creationId xmlns:p14="http://schemas.microsoft.com/office/powerpoint/2010/main" val="11958678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&gt;&gt;</a:t>
            </a:r>
          </a:p>
          <a:p>
            <a:r>
              <a:rPr lang="en-US" sz="1200" b="0" i="0" kern="1200" dirty="0">
                <a:solidFill>
                  <a:schemeClr val="tx1"/>
                </a:solidFill>
                <a:effectLst/>
                <a:latin typeface="+mn-lt"/>
                <a:ea typeface="+mn-ea"/>
                <a:cs typeface="+mn-cs"/>
              </a:rPr>
              <a:t>A processor is fundamentally composed of two main components: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data path and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controller (or control unit)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data path </a:t>
            </a:r>
            <a:r>
              <a:rPr lang="en-US" sz="1200" b="0" i="0" kern="1200" dirty="0">
                <a:solidFill>
                  <a:schemeClr val="tx1"/>
                </a:solidFill>
                <a:effectLst/>
                <a:latin typeface="+mn-lt"/>
                <a:ea typeface="+mn-ea"/>
                <a:cs typeface="+mn-cs"/>
              </a:rPr>
              <a:t>is a collection of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functional units,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storage elements,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and interconnections </a:t>
            </a:r>
          </a:p>
          <a:p>
            <a:pPr marL="0" indent="0">
              <a:buFont typeface="Arial" panose="020B0604020202020204" pitchFamily="34" charset="0"/>
              <a:buNone/>
            </a:pPr>
            <a:r>
              <a:rPr lang="en-US" sz="1200" b="0" i="0" kern="1200" dirty="0">
                <a:solidFill>
                  <a:schemeClr val="tx1"/>
                </a:solidFill>
                <a:effectLst/>
                <a:latin typeface="+mn-lt"/>
                <a:ea typeface="+mn-ea"/>
                <a:cs typeface="+mn-cs"/>
              </a:rPr>
              <a:t>designed to perform data processing and transfer operations.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 encompasses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storage components like registers and memory,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functional units such as arithmetic logic units (ALUs) and multipliers,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and the routing infrastructure like buses and multiplexers. </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data path is responsible for executing the computational tasks defined by the system’s ISA.</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controller</a:t>
            </a:r>
            <a:r>
              <a:rPr lang="en-US" sz="1200" b="0" i="0" kern="1200" dirty="0">
                <a:solidFill>
                  <a:schemeClr val="tx1"/>
                </a:solidFill>
                <a:effectLst/>
                <a:latin typeface="+mn-lt"/>
                <a:ea typeface="+mn-ea"/>
                <a:cs typeface="+mn-cs"/>
              </a:rPr>
              <a:t>, is responsible for managing the data path's operation</a:t>
            </a:r>
          </a:p>
          <a:p>
            <a:r>
              <a:rPr lang="en-US" sz="1200" b="0" i="0" kern="1200" dirty="0">
                <a:solidFill>
                  <a:schemeClr val="tx1"/>
                </a:solidFill>
                <a:effectLst/>
                <a:latin typeface="+mn-lt"/>
                <a:ea typeface="+mn-ea"/>
                <a:cs typeface="+mn-cs"/>
              </a:rPr>
              <a:t>and can be implemented as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finite state machine (FSM),</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stored program,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or a combination of both.</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 receives external control inputs and status signals from the data path, and in response, generates control signals to orchestrate the sequence of operations, enabling or disabling specific components and managing timing.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controller ensures that data flows correctly through the data path by interpreting status signals and issuing the appropriate control signals to achieve the desired function.</a:t>
            </a:r>
          </a:p>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23</a:t>
            </a:fld>
            <a:endParaRPr lang="en-US"/>
          </a:p>
        </p:txBody>
      </p:sp>
    </p:spTree>
    <p:extLst>
      <p:ext uri="{BB962C8B-B14F-4D97-AF65-F5344CB8AC3E}">
        <p14:creationId xmlns:p14="http://schemas.microsoft.com/office/powerpoint/2010/main" val="7442934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IR: </a:t>
            </a:r>
            <a:r>
              <a:rPr lang="en-US" dirty="0"/>
              <a:t>Instruction register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MUX</a:t>
            </a:r>
            <a:r>
              <a:rPr lang="en-US" sz="1200" b="0" i="0" kern="1200" dirty="0">
                <a:solidFill>
                  <a:schemeClr val="tx1"/>
                </a:solidFill>
                <a:effectLst/>
                <a:latin typeface="+mn-lt"/>
                <a:ea typeface="+mn-ea"/>
                <a:cs typeface="+mn-cs"/>
              </a:rPr>
              <a:t> (Multiplexer): used to select one output from multiple input data streams based on control signals generated by the control unit</a:t>
            </a:r>
          </a:p>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25</a:t>
            </a:fld>
            <a:endParaRPr lang="en-US"/>
          </a:p>
        </p:txBody>
      </p:sp>
    </p:spTree>
    <p:extLst>
      <p:ext uri="{BB962C8B-B14F-4D97-AF65-F5344CB8AC3E}">
        <p14:creationId xmlns:p14="http://schemas.microsoft.com/office/powerpoint/2010/main" val="353966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IR: </a:t>
            </a:r>
            <a:r>
              <a:rPr lang="en-US" dirty="0"/>
              <a:t>Instruction register</a:t>
            </a:r>
          </a:p>
          <a:p>
            <a:endParaRPr lang="en-US" dirty="0"/>
          </a:p>
          <a:p>
            <a:r>
              <a:rPr lang="en-US" sz="1200" b="0" i="0" kern="1200" dirty="0">
                <a:solidFill>
                  <a:schemeClr val="tx1"/>
                </a:solidFill>
                <a:effectLst/>
                <a:latin typeface="+mn-lt"/>
                <a:ea typeface="+mn-ea"/>
                <a:cs typeface="+mn-cs"/>
              </a:rPr>
              <a:t>IR ← Mem[PC], meaning the instruction register is loaded with the contents of the memory location pointed to by the program counter</a:t>
            </a:r>
          </a:p>
          <a:p>
            <a:endParaRPr lang="en-US" b="0" dirty="0"/>
          </a:p>
          <a:p>
            <a:r>
              <a:rPr lang="en-US" sz="1200" b="0" i="0" kern="1200" dirty="0">
                <a:solidFill>
                  <a:schemeClr val="tx1"/>
                </a:solidFill>
                <a:effectLst/>
                <a:latin typeface="+mn-lt"/>
                <a:ea typeface="+mn-ea"/>
                <a:cs typeface="+mn-cs"/>
              </a:rPr>
              <a:t>JAL (Jump and Link): used to call a subroutine by jumping to a target address and saving the return address in register $</a:t>
            </a:r>
            <a:r>
              <a:rPr lang="en-US" sz="1200" b="0" i="0" kern="1200" dirty="0" err="1">
                <a:solidFill>
                  <a:schemeClr val="tx1"/>
                </a:solidFill>
                <a:effectLst/>
                <a:latin typeface="+mn-lt"/>
                <a:ea typeface="+mn-ea"/>
                <a:cs typeface="+mn-cs"/>
              </a:rPr>
              <a:t>ra</a:t>
            </a:r>
            <a:r>
              <a:rPr lang="en-US" sz="1200" b="0" i="0" kern="1200" dirty="0">
                <a:solidFill>
                  <a:schemeClr val="tx1"/>
                </a:solidFill>
                <a:effectLst/>
                <a:latin typeface="+mn-lt"/>
                <a:ea typeface="+mn-ea"/>
                <a:cs typeface="+mn-cs"/>
              </a:rPr>
              <a:t> (register 31)</a:t>
            </a:r>
          </a:p>
          <a:p>
            <a:r>
              <a:rPr lang="en-US" sz="1200" b="0" i="0" kern="1200" dirty="0">
                <a:solidFill>
                  <a:schemeClr val="tx1"/>
                </a:solidFill>
                <a:effectLst/>
                <a:latin typeface="+mn-lt"/>
                <a:ea typeface="+mn-ea"/>
                <a:cs typeface="+mn-cs"/>
              </a:rPr>
              <a:t>JR (Jump Register): performs an unconditional jump to an address specified in a register</a:t>
            </a:r>
          </a:p>
          <a:p>
            <a:r>
              <a:rPr lang="en-US" sz="1200" b="0" i="0" kern="1200" dirty="0">
                <a:solidFill>
                  <a:schemeClr val="tx1"/>
                </a:solidFill>
                <a:effectLst/>
                <a:latin typeface="+mn-lt"/>
                <a:ea typeface="+mn-ea"/>
                <a:cs typeface="+mn-cs"/>
              </a:rPr>
              <a:t>J (Jump): performs an unconditional jump to a specified target address, which is calculated by adding an immediate offset to the program counter (PC)</a:t>
            </a:r>
          </a:p>
          <a:p>
            <a:endParaRPr lang="en-US" b="0" dirty="0"/>
          </a:p>
        </p:txBody>
      </p:sp>
      <p:sp>
        <p:nvSpPr>
          <p:cNvPr id="4" name="Slide Number Placeholder 3"/>
          <p:cNvSpPr>
            <a:spLocks noGrp="1"/>
          </p:cNvSpPr>
          <p:nvPr>
            <p:ph type="sldNum" sz="quarter" idx="5"/>
          </p:nvPr>
        </p:nvSpPr>
        <p:spPr/>
        <p:txBody>
          <a:bodyPr/>
          <a:lstStyle/>
          <a:p>
            <a:fld id="{2F1FFC65-791B-4559-8ED4-77406F77020D}" type="slidenum">
              <a:rPr lang="en-US" smtClean="0"/>
              <a:t>26</a:t>
            </a:fld>
            <a:endParaRPr lang="en-US"/>
          </a:p>
        </p:txBody>
      </p:sp>
    </p:spTree>
    <p:extLst>
      <p:ext uri="{BB962C8B-B14F-4D97-AF65-F5344CB8AC3E}">
        <p14:creationId xmlns:p14="http://schemas.microsoft.com/office/powerpoint/2010/main" val="2607532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Pipeline latches </a:t>
            </a:r>
          </a:p>
          <a:p>
            <a:r>
              <a:rPr lang="en-US" sz="1200" b="0" i="0" kern="1200" dirty="0">
                <a:solidFill>
                  <a:schemeClr val="tx1"/>
                </a:solidFill>
                <a:effectLst/>
                <a:latin typeface="+mn-lt"/>
                <a:ea typeface="+mn-ea"/>
                <a:cs typeface="+mn-cs"/>
              </a:rPr>
              <a:t>are interface registers used to hold intermediate data between stages in a pipelined processor.</a:t>
            </a:r>
          </a:p>
          <a:p>
            <a:endParaRPr lang="en-US" sz="1200" b="1" i="0" kern="1200" dirty="0">
              <a:solidFill>
                <a:schemeClr val="tx1"/>
              </a:solidFill>
              <a:effectLst/>
              <a:latin typeface="+mn-lt"/>
              <a:ea typeface="+mn-ea"/>
              <a:cs typeface="+mn-cs"/>
            </a:endParaRPr>
          </a:p>
          <a:p>
            <a:r>
              <a:rPr lang="en-US" b="0" u="sng" dirty="0"/>
              <a:t>IF/ID</a:t>
            </a:r>
            <a:r>
              <a:rPr lang="en-US" b="0" dirty="0"/>
              <a:t>, </a:t>
            </a:r>
            <a:r>
              <a:rPr lang="en-US" b="0" u="sng" dirty="0"/>
              <a:t>ID/EX</a:t>
            </a:r>
            <a:r>
              <a:rPr lang="en-US" b="0" dirty="0"/>
              <a:t>, </a:t>
            </a:r>
            <a:r>
              <a:rPr lang="en-US" b="0" u="sng" dirty="0"/>
              <a:t>EX/MEM</a:t>
            </a:r>
            <a:r>
              <a:rPr lang="en-US" b="0" dirty="0"/>
              <a:t>, </a:t>
            </a:r>
            <a:r>
              <a:rPr lang="en-US" b="0" u="sng" dirty="0"/>
              <a:t>MEM/WB</a:t>
            </a:r>
            <a:r>
              <a:rPr lang="en-US" b="0" dirty="0"/>
              <a:t> components are </a:t>
            </a:r>
          </a:p>
          <a:p>
            <a:r>
              <a:rPr lang="en-US" sz="1200" b="1" i="0" kern="1200" dirty="0">
                <a:solidFill>
                  <a:schemeClr val="tx1"/>
                </a:solidFill>
                <a:effectLst/>
                <a:latin typeface="+mn-lt"/>
                <a:ea typeface="+mn-ea"/>
                <a:cs typeface="+mn-cs"/>
              </a:rPr>
              <a:t>buffers</a:t>
            </a:r>
            <a:r>
              <a:rPr lang="en-US" sz="1200" b="0" i="0" kern="1200" dirty="0">
                <a:solidFill>
                  <a:schemeClr val="tx1"/>
                </a:solidFill>
                <a:effectLst/>
                <a:latin typeface="+mn-lt"/>
                <a:ea typeface="+mn-ea"/>
                <a:cs typeface="+mn-cs"/>
              </a:rPr>
              <a:t> that hold information produced in one stage for use in the next stage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MUX</a:t>
            </a:r>
            <a:r>
              <a:rPr lang="en-US" sz="1200" b="0" i="0" kern="1200" dirty="0">
                <a:solidFill>
                  <a:schemeClr val="tx1"/>
                </a:solidFill>
                <a:effectLst/>
                <a:latin typeface="+mn-lt"/>
                <a:ea typeface="+mn-ea"/>
                <a:cs typeface="+mn-cs"/>
              </a:rPr>
              <a:t> (Multiplexer): used to select one output from multiple input data streams based on control signals generated by the control unit</a:t>
            </a:r>
          </a:p>
          <a:p>
            <a:endParaRPr lang="en-US" b="0" dirty="0"/>
          </a:p>
        </p:txBody>
      </p:sp>
      <p:sp>
        <p:nvSpPr>
          <p:cNvPr id="4" name="Slide Number Placeholder 3"/>
          <p:cNvSpPr>
            <a:spLocks noGrp="1"/>
          </p:cNvSpPr>
          <p:nvPr>
            <p:ph type="sldNum" sz="quarter" idx="5"/>
          </p:nvPr>
        </p:nvSpPr>
        <p:spPr/>
        <p:txBody>
          <a:bodyPr/>
          <a:lstStyle/>
          <a:p>
            <a:fld id="{2F1FFC65-791B-4559-8ED4-77406F77020D}" type="slidenum">
              <a:rPr lang="en-US" smtClean="0"/>
              <a:t>27</a:t>
            </a:fld>
            <a:endParaRPr lang="en-US"/>
          </a:p>
        </p:txBody>
      </p:sp>
    </p:spTree>
    <p:extLst>
      <p:ext uri="{BB962C8B-B14F-4D97-AF65-F5344CB8AC3E}">
        <p14:creationId xmlns:p14="http://schemas.microsoft.com/office/powerpoint/2010/main" val="730482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CCT = longest instruction time</a:t>
            </a:r>
          </a:p>
        </p:txBody>
      </p:sp>
      <p:sp>
        <p:nvSpPr>
          <p:cNvPr id="4" name="Slide Number Placeholder 3"/>
          <p:cNvSpPr>
            <a:spLocks noGrp="1"/>
          </p:cNvSpPr>
          <p:nvPr>
            <p:ph type="sldNum" sz="quarter" idx="5"/>
          </p:nvPr>
        </p:nvSpPr>
        <p:spPr/>
        <p:txBody>
          <a:bodyPr/>
          <a:lstStyle/>
          <a:p>
            <a:fld id="{2F1FFC65-791B-4559-8ED4-77406F77020D}" type="slidenum">
              <a:rPr lang="en-US" smtClean="0"/>
              <a:t>29</a:t>
            </a:fld>
            <a:endParaRPr lang="en-US"/>
          </a:p>
        </p:txBody>
      </p:sp>
    </p:spTree>
    <p:extLst>
      <p:ext uri="{BB962C8B-B14F-4D97-AF65-F5344CB8AC3E}">
        <p14:creationId xmlns:p14="http://schemas.microsoft.com/office/powerpoint/2010/main" val="994877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CCT = longest stage time</a:t>
            </a:r>
          </a:p>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30</a:t>
            </a:fld>
            <a:endParaRPr lang="en-US"/>
          </a:p>
        </p:txBody>
      </p:sp>
    </p:spTree>
    <p:extLst>
      <p:ext uri="{BB962C8B-B14F-4D97-AF65-F5344CB8AC3E}">
        <p14:creationId xmlns:p14="http://schemas.microsoft.com/office/powerpoint/2010/main" val="20854407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9, CCT = longest stage time</a:t>
            </a:r>
          </a:p>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31</a:t>
            </a:fld>
            <a:endParaRPr lang="en-US"/>
          </a:p>
        </p:txBody>
      </p:sp>
    </p:spTree>
    <p:extLst>
      <p:ext uri="{BB962C8B-B14F-4D97-AF65-F5344CB8AC3E}">
        <p14:creationId xmlns:p14="http://schemas.microsoft.com/office/powerpoint/2010/main" val="28387733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a basic 5-stage pipeline, an instruction can load data from memory in the same cycle that another instruction is fetched, </a:t>
            </a:r>
          </a:p>
          <a:p>
            <a:r>
              <a:rPr lang="en-US" sz="1200" b="0" i="0" kern="1200" dirty="0">
                <a:solidFill>
                  <a:schemeClr val="tx1"/>
                </a:solidFill>
                <a:effectLst/>
                <a:latin typeface="+mn-lt"/>
                <a:ea typeface="+mn-ea"/>
                <a:cs typeface="+mn-cs"/>
              </a:rPr>
              <a:t>but this can lead to a </a:t>
            </a:r>
            <a:r>
              <a:rPr lang="en-US" sz="1200" b="1" i="0" kern="1200" dirty="0">
                <a:solidFill>
                  <a:schemeClr val="tx1"/>
                </a:solidFill>
                <a:effectLst/>
                <a:latin typeface="+mn-lt"/>
                <a:ea typeface="+mn-ea"/>
                <a:cs typeface="+mn-cs"/>
              </a:rPr>
              <a:t>structural hazard </a:t>
            </a:r>
            <a:r>
              <a:rPr lang="en-US" sz="1200" b="0" i="0" kern="1200" dirty="0">
                <a:solidFill>
                  <a:schemeClr val="tx1"/>
                </a:solidFill>
                <a:effectLst/>
                <a:latin typeface="+mn-lt"/>
                <a:ea typeface="+mn-ea"/>
                <a:cs typeface="+mn-cs"/>
              </a:rPr>
              <a:t>due to a resource conflict on the shared memory system.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occurs because both operations require access to the same memory unit simultaneously, </a:t>
            </a:r>
          </a:p>
          <a:p>
            <a:r>
              <a:rPr lang="en-US" sz="1200" b="0" i="0" kern="1200" dirty="0">
                <a:solidFill>
                  <a:schemeClr val="tx1"/>
                </a:solidFill>
                <a:effectLst/>
                <a:latin typeface="+mn-lt"/>
                <a:ea typeface="+mn-ea"/>
                <a:cs typeface="+mn-cs"/>
              </a:rPr>
              <a:t>which is a common issue in von Neumann architecture where instructions and data share the same memory.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resolve this, one solution is to stall the instruction fetch for one cycle, allowing the memory access for the load instruction to complete first.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However, processors like ARM that use a </a:t>
            </a:r>
            <a:r>
              <a:rPr lang="en-US" sz="1200" b="1" i="0" kern="1200" dirty="0">
                <a:solidFill>
                  <a:schemeClr val="tx1"/>
                </a:solidFill>
                <a:effectLst/>
                <a:latin typeface="+mn-lt"/>
                <a:ea typeface="+mn-ea"/>
                <a:cs typeface="+mn-cs"/>
              </a:rPr>
              <a:t>Harvard architecture</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which separates instruction and data memory, avoid this structural hazard entirely.</a:t>
            </a:r>
          </a:p>
          <a:p>
            <a:endParaRPr lang="en-US" b="0" dirty="0"/>
          </a:p>
        </p:txBody>
      </p:sp>
      <p:sp>
        <p:nvSpPr>
          <p:cNvPr id="4" name="Slide Number Placeholder 3"/>
          <p:cNvSpPr>
            <a:spLocks noGrp="1"/>
          </p:cNvSpPr>
          <p:nvPr>
            <p:ph type="sldNum" sz="quarter" idx="5"/>
          </p:nvPr>
        </p:nvSpPr>
        <p:spPr/>
        <p:txBody>
          <a:bodyPr/>
          <a:lstStyle/>
          <a:p>
            <a:fld id="{2F1FFC65-791B-4559-8ED4-77406F77020D}" type="slidenum">
              <a:rPr lang="en-US" smtClean="0"/>
              <a:t>37</a:t>
            </a:fld>
            <a:endParaRPr lang="en-US"/>
          </a:p>
        </p:txBody>
      </p:sp>
    </p:spTree>
    <p:extLst>
      <p:ext uri="{BB962C8B-B14F-4D97-AF65-F5344CB8AC3E}">
        <p14:creationId xmlns:p14="http://schemas.microsoft.com/office/powerpoint/2010/main" val="20646417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Cycle time overhead: from registers between stages</a:t>
            </a:r>
          </a:p>
          <a:p>
            <a:endParaRPr lang="en-US" b="0" dirty="0"/>
          </a:p>
        </p:txBody>
      </p:sp>
      <p:sp>
        <p:nvSpPr>
          <p:cNvPr id="4" name="Slide Number Placeholder 3"/>
          <p:cNvSpPr>
            <a:spLocks noGrp="1"/>
          </p:cNvSpPr>
          <p:nvPr>
            <p:ph type="sldNum" sz="quarter" idx="5"/>
          </p:nvPr>
        </p:nvSpPr>
        <p:spPr/>
        <p:txBody>
          <a:bodyPr/>
          <a:lstStyle/>
          <a:p>
            <a:fld id="{2F1FFC65-791B-4559-8ED4-77406F77020D}" type="slidenum">
              <a:rPr lang="en-US" smtClean="0"/>
              <a:t>38</a:t>
            </a:fld>
            <a:endParaRPr lang="en-US"/>
          </a:p>
        </p:txBody>
      </p:sp>
    </p:spTree>
    <p:extLst>
      <p:ext uri="{BB962C8B-B14F-4D97-AF65-F5344CB8AC3E}">
        <p14:creationId xmlns:p14="http://schemas.microsoft.com/office/powerpoint/2010/main" val="16123408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However, processors like ARM that use a </a:t>
            </a:r>
            <a:r>
              <a:rPr lang="en-US" sz="1200" b="1" i="0" kern="1200" dirty="0">
                <a:solidFill>
                  <a:schemeClr val="tx1"/>
                </a:solidFill>
                <a:effectLst/>
                <a:latin typeface="+mn-lt"/>
                <a:ea typeface="+mn-ea"/>
                <a:cs typeface="+mn-cs"/>
              </a:rPr>
              <a:t>Harvard architecture</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which separates instruction and data memory, avoid this structural hazard entirely.</a:t>
            </a:r>
            <a:endParaRPr lang="en-US" dirty="0"/>
          </a:p>
          <a:p>
            <a:endParaRPr lang="en-US" dirty="0"/>
          </a:p>
          <a:p>
            <a:r>
              <a:rPr lang="en-US" dirty="0" err="1"/>
              <a:t>Speedup</a:t>
            </a:r>
            <a:r>
              <a:rPr lang="en-US" baseline="-25000" dirty="0" err="1"/>
              <a:t>A</a:t>
            </a:r>
            <a:r>
              <a:rPr lang="en-US" dirty="0"/>
              <a:t> = Pipeline depth / (1+0) x Cycle </a:t>
            </a:r>
            <a:r>
              <a:rPr lang="en-US" dirty="0" err="1"/>
              <a:t>Time</a:t>
            </a:r>
            <a:r>
              <a:rPr lang="en-US" baseline="-25000" dirty="0" err="1"/>
              <a:t>unpipelined</a:t>
            </a:r>
            <a:r>
              <a:rPr lang="en-US" dirty="0"/>
              <a:t> / Cycle </a:t>
            </a:r>
            <a:r>
              <a:rPr lang="en-US" dirty="0" err="1"/>
              <a:t>Time</a:t>
            </a:r>
            <a:r>
              <a:rPr lang="en-US" baseline="-25000" dirty="0" err="1"/>
              <a:t>pipelined</a:t>
            </a:r>
            <a:endParaRPr lang="en-US" baseline="-25000" dirty="0"/>
          </a:p>
          <a:p>
            <a:r>
              <a:rPr lang="en-US" baseline="0" dirty="0" err="1"/>
              <a:t>Speedup</a:t>
            </a:r>
            <a:r>
              <a:rPr lang="en-US" baseline="-25000" dirty="0" err="1"/>
              <a:t>B</a:t>
            </a:r>
            <a:r>
              <a:rPr lang="en-US" baseline="0" dirty="0"/>
              <a:t> = </a:t>
            </a:r>
            <a:r>
              <a:rPr lang="en-US" dirty="0"/>
              <a:t>Pipeline depth / (1+0.2 x 1) x Cycle </a:t>
            </a:r>
            <a:r>
              <a:rPr lang="en-US" dirty="0" err="1"/>
              <a:t>Time</a:t>
            </a:r>
            <a:r>
              <a:rPr lang="en-US" baseline="-25000" dirty="0" err="1"/>
              <a:t>unpipelined</a:t>
            </a:r>
            <a:r>
              <a:rPr lang="en-US" dirty="0"/>
              <a:t> / (Cycle </a:t>
            </a:r>
            <a:r>
              <a:rPr lang="en-US" dirty="0" err="1"/>
              <a:t>Time</a:t>
            </a:r>
            <a:r>
              <a:rPr lang="en-US" baseline="-25000" dirty="0" err="1"/>
              <a:t>pipelined</a:t>
            </a:r>
            <a:r>
              <a:rPr lang="en-US" baseline="0" dirty="0"/>
              <a:t> / 1.05)</a:t>
            </a:r>
          </a:p>
          <a:p>
            <a:endParaRPr lang="en-US" baseline="0" dirty="0"/>
          </a:p>
          <a:p>
            <a:r>
              <a:rPr lang="en-US" baseline="0" dirty="0" err="1"/>
              <a:t>Speedup</a:t>
            </a:r>
            <a:r>
              <a:rPr lang="en-US" baseline="-25000" dirty="0" err="1"/>
              <a:t>A</a:t>
            </a:r>
            <a:r>
              <a:rPr lang="en-US" baseline="0" dirty="0"/>
              <a:t> / </a:t>
            </a:r>
            <a:r>
              <a:rPr lang="en-US" baseline="0" dirty="0" err="1"/>
              <a:t>Speedup</a:t>
            </a:r>
            <a:r>
              <a:rPr lang="en-US" baseline="-25000" dirty="0" err="1"/>
              <a:t>B</a:t>
            </a:r>
            <a:r>
              <a:rPr lang="en-US" baseline="-25000" dirty="0"/>
              <a:t> </a:t>
            </a:r>
            <a:r>
              <a:rPr lang="en-US" baseline="0" dirty="0"/>
              <a:t>= 1.2 / 1.05 = 1.14</a:t>
            </a:r>
          </a:p>
          <a:p>
            <a:endParaRPr lang="en-US" baseline="0" dirty="0"/>
          </a:p>
        </p:txBody>
      </p:sp>
      <p:sp>
        <p:nvSpPr>
          <p:cNvPr id="4" name="Slide Number Placeholder 3"/>
          <p:cNvSpPr>
            <a:spLocks noGrp="1"/>
          </p:cNvSpPr>
          <p:nvPr>
            <p:ph type="sldNum" sz="quarter" idx="5"/>
          </p:nvPr>
        </p:nvSpPr>
        <p:spPr/>
        <p:txBody>
          <a:bodyPr/>
          <a:lstStyle/>
          <a:p>
            <a:fld id="{2F1FFC65-791B-4559-8ED4-77406F77020D}" type="slidenum">
              <a:rPr lang="en-US" smtClean="0"/>
              <a:t>39</a:t>
            </a:fld>
            <a:endParaRPr lang="en-US"/>
          </a:p>
        </p:txBody>
      </p:sp>
    </p:spTree>
    <p:extLst>
      <p:ext uri="{BB962C8B-B14F-4D97-AF65-F5344CB8AC3E}">
        <p14:creationId xmlns:p14="http://schemas.microsoft.com/office/powerpoint/2010/main" val="27250679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45</a:t>
            </a:fld>
            <a:endParaRPr lang="en-US"/>
          </a:p>
        </p:txBody>
      </p:sp>
    </p:spTree>
    <p:extLst>
      <p:ext uri="{BB962C8B-B14F-4D97-AF65-F5344CB8AC3E}">
        <p14:creationId xmlns:p14="http://schemas.microsoft.com/office/powerpoint/2010/main" val="27347874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load instruction's data cannot be forwarded directly to the ALU of another instruction in the same cycle to resolve a data dependency.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load instruction accesses data memory in the MEM stage, </a:t>
            </a:r>
          </a:p>
          <a:p>
            <a:r>
              <a:rPr lang="en-US" sz="1200" b="0" i="0" kern="1200" dirty="0">
                <a:solidFill>
                  <a:schemeClr val="tx1"/>
                </a:solidFill>
                <a:effectLst/>
                <a:latin typeface="+mn-lt"/>
                <a:ea typeface="+mn-ea"/>
                <a:cs typeface="+mn-cs"/>
              </a:rPr>
              <a:t>and the data becomes available at the end of that stage.</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F1FFC65-791B-4559-8ED4-77406F77020D}" type="slidenum">
              <a:rPr lang="en-US" smtClean="0"/>
              <a:t>47</a:t>
            </a:fld>
            <a:endParaRPr lang="en-US"/>
          </a:p>
        </p:txBody>
      </p:sp>
    </p:spTree>
    <p:extLst>
      <p:ext uri="{BB962C8B-B14F-4D97-AF65-F5344CB8AC3E}">
        <p14:creationId xmlns:p14="http://schemas.microsoft.com/office/powerpoint/2010/main" val="5639287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 instruction needs to stall for one cycle.</a:t>
            </a:r>
          </a:p>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48</a:t>
            </a:fld>
            <a:endParaRPr lang="en-US"/>
          </a:p>
        </p:txBody>
      </p:sp>
    </p:spTree>
    <p:extLst>
      <p:ext uri="{BB962C8B-B14F-4D97-AF65-F5344CB8AC3E}">
        <p14:creationId xmlns:p14="http://schemas.microsoft.com/office/powerpoint/2010/main" val="20083221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10</a:t>
            </a:r>
          </a:p>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49</a:t>
            </a:fld>
            <a:endParaRPr lang="en-US"/>
          </a:p>
        </p:txBody>
      </p:sp>
    </p:spTree>
    <p:extLst>
      <p:ext uri="{BB962C8B-B14F-4D97-AF65-F5344CB8AC3E}">
        <p14:creationId xmlns:p14="http://schemas.microsoft.com/office/powerpoint/2010/main" val="5455574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Pipeline Load Hazard Avoidance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Software scheduling is a technique used to avoid load-use data hazards in a 5-stage pipeline </a:t>
            </a:r>
          </a:p>
          <a:p>
            <a:r>
              <a:rPr lang="en-US" sz="1200" b="0" i="0" kern="1200" dirty="0">
                <a:solidFill>
                  <a:schemeClr val="tx1"/>
                </a:solidFill>
                <a:effectLst/>
                <a:latin typeface="+mn-lt"/>
                <a:ea typeface="+mn-ea"/>
                <a:cs typeface="+mn-cs"/>
              </a:rPr>
              <a:t>by reordering instructions to prevent a dependent instruction from using the result of a load before it is available.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is particularly important because the data from a load instruction (</a:t>
            </a:r>
            <a:r>
              <a:rPr lang="en-US" sz="1200" b="0" i="0" kern="1200" dirty="0" err="1">
                <a:solidFill>
                  <a:schemeClr val="tx1"/>
                </a:solidFill>
                <a:effectLst/>
                <a:latin typeface="+mn-lt"/>
                <a:ea typeface="+mn-ea"/>
                <a:cs typeface="+mn-cs"/>
              </a:rPr>
              <a:t>lw</a:t>
            </a:r>
            <a:r>
              <a:rPr lang="en-US" sz="1200" b="0" i="0" kern="1200" dirty="0">
                <a:solidFill>
                  <a:schemeClr val="tx1"/>
                </a:solidFill>
                <a:effectLst/>
                <a:latin typeface="+mn-lt"/>
                <a:ea typeface="+mn-ea"/>
                <a:cs typeface="+mn-cs"/>
              </a:rPr>
              <a:t>) is not available until the Memory Access (MEM) stage, </a:t>
            </a:r>
          </a:p>
          <a:p>
            <a:r>
              <a:rPr lang="en-US" sz="1200" b="0" i="0" kern="1200" dirty="0">
                <a:solidFill>
                  <a:schemeClr val="tx1"/>
                </a:solidFill>
                <a:effectLst/>
                <a:latin typeface="+mn-lt"/>
                <a:ea typeface="+mn-ea"/>
                <a:cs typeface="+mn-cs"/>
              </a:rPr>
              <a:t>which is the fourth stage of the pipeline, but the dependent instruction may need it in the Execute (EX) stage, the third stage.</a:t>
            </a:r>
          </a:p>
          <a:p>
            <a:endParaRPr lang="en-US" dirty="0"/>
          </a:p>
          <a:p>
            <a:r>
              <a:rPr lang="en-US" b="1" dirty="0"/>
              <a:t>C. 2</a:t>
            </a:r>
            <a:endParaRPr lang="en-US" dirty="0"/>
          </a:p>
          <a:p>
            <a:pPr marL="228600" indent="-228600">
              <a:buAutoNum type="arabicPeriod"/>
            </a:pPr>
            <a:r>
              <a:rPr lang="en-US" dirty="0"/>
              <a:t>LW and ADD with </a:t>
            </a:r>
            <a:r>
              <a:rPr lang="en-US" dirty="0" err="1"/>
              <a:t>Rc</a:t>
            </a:r>
            <a:endParaRPr lang="en-US" dirty="0"/>
          </a:p>
          <a:p>
            <a:pPr marL="228600" indent="-228600">
              <a:buAutoNum type="arabicPeriod"/>
            </a:pPr>
            <a:r>
              <a:rPr lang="en-US" dirty="0"/>
              <a:t>LW and SUB with Rf</a:t>
            </a:r>
          </a:p>
          <a:p>
            <a:pPr marL="0" indent="0">
              <a:buNone/>
            </a:pPr>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50</a:t>
            </a:fld>
            <a:endParaRPr lang="en-US"/>
          </a:p>
        </p:txBody>
      </p:sp>
    </p:spTree>
    <p:extLst>
      <p:ext uri="{BB962C8B-B14F-4D97-AF65-F5344CB8AC3E}">
        <p14:creationId xmlns:p14="http://schemas.microsoft.com/office/powerpoint/2010/main" val="1013055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F1FFC65-791B-4559-8ED4-77406F77020D}" type="slidenum">
              <a:rPr lang="en-US" smtClean="0"/>
              <a:t>51</a:t>
            </a:fld>
            <a:endParaRPr lang="en-US"/>
          </a:p>
        </p:txBody>
      </p:sp>
    </p:spTree>
    <p:extLst>
      <p:ext uri="{BB962C8B-B14F-4D97-AF65-F5344CB8AC3E}">
        <p14:creationId xmlns:p14="http://schemas.microsoft.com/office/powerpoint/2010/main" val="33745817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52</a:t>
            </a:fld>
            <a:endParaRPr lang="en-US"/>
          </a:p>
        </p:txBody>
      </p:sp>
    </p:spTree>
    <p:extLst>
      <p:ext uri="{BB962C8B-B14F-4D97-AF65-F5344CB8AC3E}">
        <p14:creationId xmlns:p14="http://schemas.microsoft.com/office/powerpoint/2010/main" val="33376165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sng" kern="1200" dirty="0">
                <a:solidFill>
                  <a:schemeClr val="tx1"/>
                </a:solidFill>
                <a:effectLst/>
                <a:latin typeface="+mn-lt"/>
                <a:ea typeface="+mn-ea"/>
                <a:cs typeface="+mn-cs"/>
              </a:rPr>
              <a:t>Figure C-22 (page C-35)</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Registers convey values and control information from one stage to the next. </a:t>
            </a:r>
          </a:p>
          <a:p>
            <a:r>
              <a:rPr lang="en-US" sz="1200" b="0" i="0" kern="1200" dirty="0">
                <a:solidFill>
                  <a:schemeClr val="tx1"/>
                </a:solidFill>
                <a:effectLst/>
                <a:latin typeface="+mn-lt"/>
                <a:ea typeface="+mn-ea"/>
                <a:cs typeface="+mn-cs"/>
              </a:rPr>
              <a:t>The PC can be thought of as a pipeline register, </a:t>
            </a:r>
          </a:p>
          <a:p>
            <a:r>
              <a:rPr lang="en-US" sz="1200" b="0" i="0" kern="1200" dirty="0">
                <a:solidFill>
                  <a:schemeClr val="tx1"/>
                </a:solidFill>
                <a:effectLst/>
                <a:latin typeface="+mn-lt"/>
                <a:ea typeface="+mn-ea"/>
                <a:cs typeface="+mn-cs"/>
              </a:rPr>
              <a:t>Most of the data paths flow from left to right, which is from earlier in time to later.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branch condition is evaluated in the EX stage.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t>
            </a:r>
            <a:r>
              <a:rPr lang="en-US" sz="1200" b="0" i="0" u="sng" kern="1200" dirty="0">
                <a:solidFill>
                  <a:schemeClr val="tx1"/>
                </a:solidFill>
                <a:effectLst/>
                <a:latin typeface="+mn-lt"/>
                <a:ea typeface="+mn-ea"/>
                <a:cs typeface="+mn-cs"/>
              </a:rPr>
              <a:t>ALU performs a comparison</a:t>
            </a:r>
            <a:r>
              <a:rPr lang="en-US" sz="1200" b="0" i="0" u="none"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(e.g., </a:t>
            </a:r>
            <a:r>
              <a:rPr lang="en-US" sz="1200" b="0" i="0" u="sng" kern="1200" dirty="0">
                <a:solidFill>
                  <a:schemeClr val="tx1"/>
                </a:solidFill>
                <a:effectLst/>
                <a:latin typeface="+mn-lt"/>
                <a:ea typeface="+mn-ea"/>
                <a:cs typeface="+mn-cs"/>
              </a:rPr>
              <a:t>subtraction for </a:t>
            </a:r>
            <a:r>
              <a:rPr lang="en-US" sz="1200" b="0" i="0" u="sng" kern="1200" dirty="0" err="1">
                <a:solidFill>
                  <a:schemeClr val="tx1"/>
                </a:solidFill>
                <a:effectLst/>
                <a:latin typeface="+mn-lt"/>
                <a:ea typeface="+mn-ea"/>
                <a:cs typeface="+mn-cs"/>
              </a:rPr>
              <a:t>beq</a:t>
            </a:r>
            <a:r>
              <a:rPr lang="en-US" sz="1200" b="0" i="0" kern="1200" dirty="0">
                <a:solidFill>
                  <a:schemeClr val="tx1"/>
                </a:solidFill>
                <a:effectLst/>
                <a:latin typeface="+mn-lt"/>
                <a:ea typeface="+mn-ea"/>
                <a:cs typeface="+mn-cs"/>
              </a:rPr>
              <a:t>) on the two register operands read from the register file, </a:t>
            </a:r>
          </a:p>
          <a:p>
            <a:r>
              <a:rPr lang="en-US" sz="1200" b="0" i="0" kern="1200" dirty="0">
                <a:solidFill>
                  <a:schemeClr val="tx1"/>
                </a:solidFill>
                <a:effectLst/>
                <a:latin typeface="+mn-lt"/>
                <a:ea typeface="+mn-ea"/>
                <a:cs typeface="+mn-cs"/>
              </a:rPr>
              <a:t>and the result is used to set the </a:t>
            </a:r>
            <a:r>
              <a:rPr lang="en-US" sz="1200" b="0" i="0" u="sng" kern="1200" dirty="0">
                <a:solidFill>
                  <a:schemeClr val="tx1"/>
                </a:solidFill>
                <a:effectLst/>
                <a:latin typeface="+mn-lt"/>
                <a:ea typeface="+mn-ea"/>
                <a:cs typeface="+mn-cs"/>
              </a:rPr>
              <a:t>Zero signal</a:t>
            </a:r>
            <a:r>
              <a:rPr lang="en-US" sz="1200" b="0" i="0" kern="1200" dirty="0">
                <a:solidFill>
                  <a:schemeClr val="tx1"/>
                </a:solidFill>
                <a:effectLst/>
                <a:latin typeface="+mn-lt"/>
                <a:ea typeface="+mn-ea"/>
                <a:cs typeface="+mn-cs"/>
              </a:rPr>
              <a:t>, which indicates if the </a:t>
            </a:r>
            <a:r>
              <a:rPr lang="en-US" sz="1200" b="0" i="0" u="sng" kern="1200" dirty="0">
                <a:solidFill>
                  <a:schemeClr val="tx1"/>
                </a:solidFill>
                <a:effectLst/>
                <a:latin typeface="+mn-lt"/>
                <a:ea typeface="+mn-ea"/>
                <a:cs typeface="+mn-cs"/>
              </a:rPr>
              <a:t>two values are equal</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a:t>
            </a:r>
            <a:r>
              <a:rPr lang="en-US" sz="1200" b="0" i="0" u="sng" kern="1200" dirty="0">
                <a:solidFill>
                  <a:schemeClr val="tx1"/>
                </a:solidFill>
                <a:effectLst/>
                <a:latin typeface="+mn-lt"/>
                <a:ea typeface="+mn-ea"/>
                <a:cs typeface="+mn-cs"/>
              </a:rPr>
              <a:t>Zero signal</a:t>
            </a:r>
            <a:r>
              <a:rPr lang="en-US" sz="1200" b="0" i="0" kern="1200" dirty="0">
                <a:solidFill>
                  <a:schemeClr val="tx1"/>
                </a:solidFill>
                <a:effectLst/>
                <a:latin typeface="+mn-lt"/>
                <a:ea typeface="+mn-ea"/>
                <a:cs typeface="+mn-cs"/>
              </a:rPr>
              <a:t> is used by the </a:t>
            </a:r>
            <a:r>
              <a:rPr lang="en-US" sz="1200" b="0" i="0" u="sng" kern="1200" dirty="0">
                <a:solidFill>
                  <a:schemeClr val="tx1"/>
                </a:solidFill>
                <a:effectLst/>
                <a:latin typeface="+mn-lt"/>
                <a:ea typeface="+mn-ea"/>
                <a:cs typeface="+mn-cs"/>
              </a:rPr>
              <a:t>branch control logic</a:t>
            </a:r>
            <a:r>
              <a:rPr lang="en-US" sz="1200" b="0" i="0" kern="1200" dirty="0">
                <a:solidFill>
                  <a:schemeClr val="tx1"/>
                </a:solidFill>
                <a:effectLst/>
                <a:latin typeface="+mn-lt"/>
                <a:ea typeface="+mn-ea"/>
                <a:cs typeface="+mn-cs"/>
              </a:rPr>
              <a:t> to determine if the </a:t>
            </a:r>
            <a:r>
              <a:rPr lang="en-US" sz="1200" b="0" i="0" u="sng" kern="1200" dirty="0">
                <a:solidFill>
                  <a:schemeClr val="tx1"/>
                </a:solidFill>
                <a:effectLst/>
                <a:latin typeface="+mn-lt"/>
                <a:ea typeface="+mn-ea"/>
                <a:cs typeface="+mn-cs"/>
              </a:rPr>
              <a:t>branch condition</a:t>
            </a:r>
            <a:r>
              <a:rPr lang="en-US" sz="1200" b="0" i="0" kern="1200" dirty="0">
                <a:solidFill>
                  <a:schemeClr val="tx1"/>
                </a:solidFill>
                <a:effectLst/>
                <a:latin typeface="+mn-lt"/>
                <a:ea typeface="+mn-ea"/>
                <a:cs typeface="+mn-cs"/>
              </a:rPr>
              <a:t> is met.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Program Counter (</a:t>
            </a:r>
            <a:r>
              <a:rPr lang="en-US" sz="1200" b="0" i="0" u="sng" kern="1200" dirty="0">
                <a:solidFill>
                  <a:schemeClr val="tx1"/>
                </a:solidFill>
                <a:effectLst/>
                <a:latin typeface="+mn-lt"/>
                <a:ea typeface="+mn-ea"/>
                <a:cs typeface="+mn-cs"/>
              </a:rPr>
              <a:t>PC</a:t>
            </a:r>
            <a:r>
              <a:rPr lang="en-US" sz="1200" b="0" i="0" kern="1200" dirty="0">
                <a:solidFill>
                  <a:schemeClr val="tx1"/>
                </a:solidFill>
                <a:effectLst/>
                <a:latin typeface="+mn-lt"/>
                <a:ea typeface="+mn-ea"/>
                <a:cs typeface="+mn-cs"/>
              </a:rPr>
              <a:t>) is </a:t>
            </a:r>
            <a:r>
              <a:rPr lang="en-US" sz="1200" b="0" i="0" u="sng" kern="1200" dirty="0">
                <a:solidFill>
                  <a:schemeClr val="tx1"/>
                </a:solidFill>
                <a:effectLst/>
                <a:latin typeface="+mn-lt"/>
                <a:ea typeface="+mn-ea"/>
                <a:cs typeface="+mn-cs"/>
              </a:rPr>
              <a:t>updated</a:t>
            </a:r>
            <a:r>
              <a:rPr lang="en-US" sz="1200" b="0" i="0" kern="1200" dirty="0">
                <a:solidFill>
                  <a:schemeClr val="tx1"/>
                </a:solidFill>
                <a:effectLst/>
                <a:latin typeface="+mn-lt"/>
                <a:ea typeface="+mn-ea"/>
                <a:cs typeface="+mn-cs"/>
              </a:rPr>
              <a:t> based on the </a:t>
            </a:r>
            <a:r>
              <a:rPr lang="en-US" sz="1200" b="0" i="0" u="sng" kern="1200" dirty="0">
                <a:solidFill>
                  <a:schemeClr val="tx1"/>
                </a:solidFill>
                <a:effectLst/>
                <a:latin typeface="+mn-lt"/>
                <a:ea typeface="+mn-ea"/>
                <a:cs typeface="+mn-cs"/>
              </a:rPr>
              <a:t>Branch control signal</a:t>
            </a:r>
            <a:r>
              <a:rPr lang="en-US" sz="1200" b="0" i="0" kern="1200" dirty="0">
                <a:solidFill>
                  <a:schemeClr val="tx1"/>
                </a:solidFill>
                <a:effectLst/>
                <a:latin typeface="+mn-lt"/>
                <a:ea typeface="+mn-ea"/>
                <a:cs typeface="+mn-cs"/>
              </a:rPr>
              <a:t> and the </a:t>
            </a:r>
            <a:r>
              <a:rPr lang="en-US" sz="1200" b="0" i="0" u="sng" kern="1200" dirty="0">
                <a:solidFill>
                  <a:schemeClr val="tx1"/>
                </a:solidFill>
                <a:effectLst/>
                <a:latin typeface="+mn-lt"/>
                <a:ea typeface="+mn-ea"/>
                <a:cs typeface="+mn-cs"/>
              </a:rPr>
              <a:t>Zero signal</a:t>
            </a:r>
            <a:r>
              <a:rPr lang="en-US" sz="1200" b="0" i="0" kern="1200" dirty="0">
                <a:solidFill>
                  <a:schemeClr val="tx1"/>
                </a:solidFill>
                <a:effectLst/>
                <a:latin typeface="+mn-lt"/>
                <a:ea typeface="+mn-ea"/>
                <a:cs typeface="+mn-cs"/>
              </a:rPr>
              <a:t>.</a:t>
            </a:r>
            <a:endParaRPr lang="en-US" dirty="0"/>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F1FFC65-791B-4559-8ED4-77406F77020D}" type="slidenum">
              <a:rPr lang="en-US" smtClean="0"/>
              <a:t>55</a:t>
            </a:fld>
            <a:endParaRPr lang="en-US"/>
          </a:p>
        </p:txBody>
      </p:sp>
    </p:spTree>
    <p:extLst>
      <p:ext uri="{BB962C8B-B14F-4D97-AF65-F5344CB8AC3E}">
        <p14:creationId xmlns:p14="http://schemas.microsoft.com/office/powerpoint/2010/main" val="31913891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sng" kern="1200" dirty="0">
                <a:solidFill>
                  <a:schemeClr val="tx1"/>
                </a:solidFill>
                <a:effectLst/>
                <a:latin typeface="+mn-lt"/>
                <a:ea typeface="+mn-ea"/>
                <a:cs typeface="+mn-cs"/>
              </a:rPr>
              <a:t>Figure C-23 (page C-37)</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IF state: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fetch the instruction</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computing the new PC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and store the incremented PC both into the PC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and into a </a:t>
            </a:r>
            <a:r>
              <a:rPr lang="en-US" sz="1200" b="1" i="0" kern="1200" dirty="0">
                <a:solidFill>
                  <a:schemeClr val="tx1"/>
                </a:solidFill>
                <a:effectLst/>
                <a:latin typeface="+mn-lt"/>
                <a:ea typeface="+mn-ea"/>
                <a:cs typeface="+mn-cs"/>
              </a:rPr>
              <a:t>pipeline register </a:t>
            </a:r>
            <a:r>
              <a:rPr lang="en-US" sz="1200" b="0" i="0" kern="1200" dirty="0">
                <a:solidFill>
                  <a:schemeClr val="tx1"/>
                </a:solidFill>
                <a:effectLst/>
                <a:latin typeface="+mn-lt"/>
                <a:ea typeface="+mn-ea"/>
                <a:cs typeface="+mn-cs"/>
              </a:rPr>
              <a:t>(NPC)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for later use in computing the branch-target address.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ID stage: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registers are fetched,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extend the sign of the lower 16 bits of the IR (the immediate field),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and pass along the IR and NPC.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EX stage: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perform an ALU operation or an address calculation;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pass along the IR and the B register (if the instruction is a store).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The branch condition is evaluated,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and we set the value of </a:t>
            </a:r>
            <a:r>
              <a:rPr lang="en-US" sz="1200" b="0" i="0" kern="1200" dirty="0" err="1">
                <a:solidFill>
                  <a:schemeClr val="tx1"/>
                </a:solidFill>
                <a:effectLst/>
                <a:latin typeface="+mn-lt"/>
                <a:ea typeface="+mn-ea"/>
                <a:cs typeface="+mn-cs"/>
              </a:rPr>
              <a:t>cond</a:t>
            </a:r>
            <a:r>
              <a:rPr lang="en-US" sz="1200" b="0" i="0" kern="1200" dirty="0">
                <a:solidFill>
                  <a:schemeClr val="tx1"/>
                </a:solidFill>
                <a:effectLst/>
                <a:latin typeface="+mn-lt"/>
                <a:ea typeface="+mn-ea"/>
                <a:cs typeface="+mn-cs"/>
              </a:rPr>
              <a:t> to 1 if the instruction is a taken branch.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MEM phase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cycle the memory,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write the PC if needed,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and pass along values needed in the final pipe stage.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WB stage:</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update the register field from either the ALU output or the loaded value. </a:t>
            </a: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F1FFC65-791B-4559-8ED4-77406F77020D}" type="slidenum">
              <a:rPr lang="en-US" smtClean="0"/>
              <a:t>57</a:t>
            </a:fld>
            <a:endParaRPr lang="en-US"/>
          </a:p>
        </p:txBody>
      </p:sp>
    </p:spTree>
    <p:extLst>
      <p:ext uri="{BB962C8B-B14F-4D97-AF65-F5344CB8AC3E}">
        <p14:creationId xmlns:p14="http://schemas.microsoft.com/office/powerpoint/2010/main" val="23442467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Figure C-28 (C-42):</a:t>
            </a:r>
          </a:p>
          <a:p>
            <a:endParaRPr lang="en-US" dirty="0"/>
          </a:p>
          <a:p>
            <a:r>
              <a:rPr lang="en-US" dirty="0"/>
              <a:t>Two important changes have been made,</a:t>
            </a:r>
          </a:p>
          <a:p>
            <a:r>
              <a:rPr lang="en-US" dirty="0"/>
              <a:t>each of which removes 1 cycle from the 3-cycle stall for branches.</a:t>
            </a:r>
          </a:p>
          <a:p>
            <a:pPr marL="228600" indent="-228600">
              <a:buAutoNum type="arabicPeriod"/>
            </a:pPr>
            <a:r>
              <a:rPr lang="en-US" dirty="0"/>
              <a:t>Move both the branch-target address calculation and the branch condition decision to the ID cycle.</a:t>
            </a:r>
            <a:br>
              <a:rPr lang="en-US" dirty="0"/>
            </a:br>
            <a:endParaRPr lang="en-US" dirty="0"/>
          </a:p>
          <a:p>
            <a:pPr marL="228600" indent="-228600">
              <a:buAutoNum type="arabicPeriod"/>
            </a:pPr>
            <a:r>
              <a:rPr lang="en-US" dirty="0"/>
              <a:t>Write to the PC of the next instruction in the IF phase, </a:t>
            </a:r>
            <a:br>
              <a:rPr lang="en-US" dirty="0"/>
            </a:br>
            <a:r>
              <a:rPr lang="en-US" dirty="0"/>
              <a:t>using either the branch-target address computed during ID </a:t>
            </a:r>
            <a:br>
              <a:rPr lang="en-US" dirty="0"/>
            </a:br>
            <a:r>
              <a:rPr lang="en-US" dirty="0"/>
              <a:t>or the incremented PC computed during IF. </a:t>
            </a:r>
          </a:p>
          <a:p>
            <a:pPr marL="0" indent="0">
              <a:buNone/>
            </a:pPr>
            <a:endParaRPr lang="en-US" dirty="0"/>
          </a:p>
          <a:p>
            <a:pPr marL="0" indent="0">
              <a:buNone/>
            </a:pPr>
            <a:r>
              <a:rPr lang="en-US" u="sng" dirty="0"/>
              <a:t>Downside: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latin typeface="Times New Roman"/>
                <a:cs typeface="Times New Roman"/>
              </a:rPr>
              <a:t>The</a:t>
            </a:r>
            <a:r>
              <a:rPr lang="en-US" sz="1200" spc="31" dirty="0">
                <a:solidFill>
                  <a:srgbClr val="FF0000"/>
                </a:solidFill>
                <a:latin typeface="Times New Roman"/>
                <a:cs typeface="Times New Roman"/>
              </a:rPr>
              <a:t> </a:t>
            </a:r>
            <a:r>
              <a:rPr lang="en-US" sz="1200" dirty="0">
                <a:solidFill>
                  <a:srgbClr val="FF0000"/>
                </a:solidFill>
                <a:latin typeface="Times New Roman"/>
                <a:cs typeface="Times New Roman"/>
              </a:rPr>
              <a:t>fast</a:t>
            </a:r>
            <a:r>
              <a:rPr lang="en-US" sz="1200" spc="35" dirty="0">
                <a:solidFill>
                  <a:srgbClr val="FF0000"/>
                </a:solidFill>
                <a:latin typeface="Times New Roman"/>
                <a:cs typeface="Times New Roman"/>
              </a:rPr>
              <a:t> </a:t>
            </a:r>
            <a:r>
              <a:rPr lang="en-US" sz="1200" dirty="0">
                <a:solidFill>
                  <a:srgbClr val="FF0000"/>
                </a:solidFill>
                <a:latin typeface="Times New Roman"/>
                <a:cs typeface="Times New Roman"/>
              </a:rPr>
              <a:t>branch</a:t>
            </a:r>
            <a:r>
              <a:rPr lang="en-US" sz="1200" spc="26" dirty="0">
                <a:solidFill>
                  <a:srgbClr val="FF0000"/>
                </a:solidFill>
                <a:latin typeface="Times New Roman"/>
                <a:cs typeface="Times New Roman"/>
              </a:rPr>
              <a:t> </a:t>
            </a:r>
            <a:r>
              <a:rPr lang="en-US" sz="1200" spc="-9" dirty="0">
                <a:solidFill>
                  <a:srgbClr val="FF0000"/>
                </a:solidFill>
                <a:latin typeface="Times New Roman"/>
                <a:cs typeface="Times New Roman"/>
              </a:rPr>
              <a:t>design </a:t>
            </a:r>
            <a:r>
              <a:rPr lang="en-US" sz="1200" dirty="0">
                <a:solidFill>
                  <a:srgbClr val="FF0000"/>
                </a:solidFill>
                <a:latin typeface="Times New Roman"/>
                <a:cs typeface="Times New Roman"/>
              </a:rPr>
              <a:t>needs</a:t>
            </a:r>
            <a:r>
              <a:rPr lang="en-US" sz="1200" spc="22" dirty="0">
                <a:solidFill>
                  <a:srgbClr val="FF0000"/>
                </a:solidFill>
                <a:latin typeface="Times New Roman"/>
                <a:cs typeface="Times New Roman"/>
              </a:rPr>
              <a:t> </a:t>
            </a:r>
            <a:r>
              <a:rPr lang="en-US" sz="1200" dirty="0">
                <a:solidFill>
                  <a:srgbClr val="FF0000"/>
                </a:solidFill>
                <a:latin typeface="Times New Roman"/>
                <a:cs typeface="Times New Roman"/>
              </a:rPr>
              <a:t>a</a:t>
            </a:r>
            <a:r>
              <a:rPr lang="en-US" sz="1200" spc="26" dirty="0">
                <a:solidFill>
                  <a:srgbClr val="FF0000"/>
                </a:solidFill>
                <a:latin typeface="Times New Roman"/>
                <a:cs typeface="Times New Roman"/>
              </a:rPr>
              <a:t> </a:t>
            </a:r>
            <a:r>
              <a:rPr lang="en-US" sz="1200" u="heavy" dirty="0">
                <a:solidFill>
                  <a:srgbClr val="FF0000"/>
                </a:solidFill>
                <a:uFill>
                  <a:solidFill>
                    <a:srgbClr val="FF0000"/>
                  </a:solidFill>
                </a:uFill>
                <a:latin typeface="Times New Roman"/>
                <a:cs typeface="Times New Roman"/>
              </a:rPr>
              <a:t>slightly</a:t>
            </a:r>
            <a:r>
              <a:rPr lang="en-US" sz="1200" u="heavy" spc="26" dirty="0">
                <a:solidFill>
                  <a:srgbClr val="FF0000"/>
                </a:solidFill>
                <a:uFill>
                  <a:solidFill>
                    <a:srgbClr val="FF0000"/>
                  </a:solidFill>
                </a:uFill>
                <a:latin typeface="Times New Roman"/>
                <a:cs typeface="Times New Roman"/>
              </a:rPr>
              <a:t> </a:t>
            </a:r>
            <a:r>
              <a:rPr lang="en-US" sz="1200" u="heavy" spc="-9" dirty="0">
                <a:solidFill>
                  <a:srgbClr val="FF0000"/>
                </a:solidFill>
                <a:uFill>
                  <a:solidFill>
                    <a:srgbClr val="FF0000"/>
                  </a:solidFill>
                </a:uFill>
                <a:latin typeface="Times New Roman"/>
                <a:cs typeface="Times New Roman"/>
              </a:rPr>
              <a:t>longer</a:t>
            </a:r>
            <a:r>
              <a:rPr lang="en-US" sz="1200" spc="-9" dirty="0">
                <a:solidFill>
                  <a:srgbClr val="FF0000"/>
                </a:solidFill>
                <a:latin typeface="Times New Roman"/>
                <a:cs typeface="Times New Roman"/>
              </a:rPr>
              <a:t> </a:t>
            </a:r>
            <a:r>
              <a:rPr lang="en-US" sz="1200" u="heavy" dirty="0">
                <a:solidFill>
                  <a:srgbClr val="FF0000"/>
                </a:solidFill>
                <a:uFill>
                  <a:solidFill>
                    <a:srgbClr val="FF0000"/>
                  </a:solidFill>
                </a:uFill>
                <a:latin typeface="Times New Roman"/>
                <a:cs typeface="Times New Roman"/>
              </a:rPr>
              <a:t>stage</a:t>
            </a:r>
            <a:r>
              <a:rPr lang="en-US" sz="1200" u="heavy" spc="35" dirty="0">
                <a:solidFill>
                  <a:srgbClr val="FF0000"/>
                </a:solidFill>
                <a:uFill>
                  <a:solidFill>
                    <a:srgbClr val="FF0000"/>
                  </a:solidFill>
                </a:uFill>
                <a:latin typeface="Times New Roman"/>
                <a:cs typeface="Times New Roman"/>
              </a:rPr>
              <a:t> </a:t>
            </a:r>
            <a:r>
              <a:rPr lang="en-US" sz="1200" u="heavy" dirty="0">
                <a:solidFill>
                  <a:srgbClr val="FF0000"/>
                </a:solidFill>
                <a:uFill>
                  <a:solidFill>
                    <a:srgbClr val="FF0000"/>
                  </a:solidFill>
                </a:uFill>
                <a:latin typeface="Times New Roman"/>
                <a:cs typeface="Times New Roman"/>
              </a:rPr>
              <a:t>2</a:t>
            </a:r>
            <a:r>
              <a:rPr lang="en-US" sz="1200" u="heavy" spc="35" dirty="0">
                <a:solidFill>
                  <a:srgbClr val="FF0000"/>
                </a:solidFill>
                <a:uFill>
                  <a:solidFill>
                    <a:srgbClr val="FF0000"/>
                  </a:solidFill>
                </a:uFill>
                <a:latin typeface="Times New Roman"/>
                <a:cs typeface="Times New Roman"/>
              </a:rPr>
              <a:t> </a:t>
            </a:r>
            <a:r>
              <a:rPr lang="en-US" sz="1200" u="heavy" dirty="0">
                <a:solidFill>
                  <a:srgbClr val="FF0000"/>
                </a:solidFill>
                <a:uFill>
                  <a:solidFill>
                    <a:srgbClr val="FF0000"/>
                  </a:solidFill>
                </a:uFill>
                <a:latin typeface="Times New Roman"/>
                <a:cs typeface="Times New Roman"/>
              </a:rPr>
              <a:t>cycle</a:t>
            </a:r>
            <a:r>
              <a:rPr lang="en-US" sz="1200" u="heavy" spc="40" dirty="0">
                <a:solidFill>
                  <a:srgbClr val="FF0000"/>
                </a:solidFill>
                <a:uFill>
                  <a:solidFill>
                    <a:srgbClr val="FF0000"/>
                  </a:solidFill>
                </a:uFill>
                <a:latin typeface="Times New Roman"/>
                <a:cs typeface="Times New Roman"/>
              </a:rPr>
              <a:t> </a:t>
            </a:r>
            <a:r>
              <a:rPr lang="en-US" sz="1200" u="heavy" dirty="0">
                <a:solidFill>
                  <a:srgbClr val="FF0000"/>
                </a:solidFill>
                <a:uFill>
                  <a:solidFill>
                    <a:srgbClr val="FF0000"/>
                  </a:solidFill>
                </a:uFill>
                <a:latin typeface="Times New Roman"/>
                <a:cs typeface="Times New Roman"/>
              </a:rPr>
              <a:t>time</a:t>
            </a:r>
            <a:r>
              <a:rPr lang="en-US" sz="1200" dirty="0">
                <a:solidFill>
                  <a:srgbClr val="FF0000"/>
                </a:solidFill>
                <a:latin typeface="Times New Roman"/>
                <a:cs typeface="Times New Roman"/>
              </a:rPr>
              <a:t>,</a:t>
            </a:r>
            <a:r>
              <a:rPr lang="en-US" sz="1200" spc="26" dirty="0">
                <a:solidFill>
                  <a:srgbClr val="FF0000"/>
                </a:solidFill>
                <a:latin typeface="Times New Roman"/>
                <a:cs typeface="Times New Roman"/>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spc="-9" dirty="0">
                <a:solidFill>
                  <a:srgbClr val="FF0000"/>
                </a:solidFill>
                <a:latin typeface="Times New Roman"/>
                <a:cs typeface="Times New Roman"/>
              </a:rPr>
              <a:t>making </a:t>
            </a:r>
            <a:r>
              <a:rPr lang="en-US" sz="1200" dirty="0">
                <a:solidFill>
                  <a:srgbClr val="FF0000"/>
                </a:solidFill>
                <a:latin typeface="Times New Roman"/>
                <a:cs typeface="Times New Roman"/>
              </a:rPr>
              <a:t>the</a:t>
            </a:r>
            <a:r>
              <a:rPr lang="en-US" sz="1200" spc="26" dirty="0">
                <a:solidFill>
                  <a:srgbClr val="FF0000"/>
                </a:solidFill>
                <a:latin typeface="Times New Roman"/>
                <a:cs typeface="Times New Roman"/>
              </a:rPr>
              <a:t> </a:t>
            </a:r>
            <a:r>
              <a:rPr lang="en-US" sz="1200" dirty="0">
                <a:solidFill>
                  <a:srgbClr val="FF0000"/>
                </a:solidFill>
                <a:latin typeface="Times New Roman"/>
                <a:cs typeface="Times New Roman"/>
              </a:rPr>
              <a:t>clock</a:t>
            </a:r>
            <a:r>
              <a:rPr lang="en-US" sz="1200" spc="22" dirty="0">
                <a:solidFill>
                  <a:srgbClr val="FF0000"/>
                </a:solidFill>
                <a:latin typeface="Times New Roman"/>
                <a:cs typeface="Times New Roman"/>
              </a:rPr>
              <a:t> </a:t>
            </a:r>
            <a:r>
              <a:rPr lang="en-US" sz="1200" dirty="0">
                <a:solidFill>
                  <a:srgbClr val="FF0000"/>
                </a:solidFill>
                <a:latin typeface="Times New Roman"/>
                <a:cs typeface="Times New Roman"/>
              </a:rPr>
              <a:t>a</a:t>
            </a:r>
            <a:r>
              <a:rPr lang="en-US" sz="1200" spc="26" dirty="0">
                <a:solidFill>
                  <a:srgbClr val="FF0000"/>
                </a:solidFill>
                <a:latin typeface="Times New Roman"/>
                <a:cs typeface="Times New Roman"/>
              </a:rPr>
              <a:t> </a:t>
            </a:r>
            <a:r>
              <a:rPr lang="en-US" sz="1200" dirty="0">
                <a:solidFill>
                  <a:srgbClr val="FF0000"/>
                </a:solidFill>
                <a:latin typeface="Times New Roman"/>
                <a:cs typeface="Times New Roman"/>
              </a:rPr>
              <a:t>little</a:t>
            </a:r>
            <a:r>
              <a:rPr lang="en-US" sz="1200" spc="26" dirty="0">
                <a:solidFill>
                  <a:srgbClr val="FF0000"/>
                </a:solidFill>
                <a:latin typeface="Times New Roman"/>
                <a:cs typeface="Times New Roman"/>
              </a:rPr>
              <a:t> </a:t>
            </a:r>
            <a:r>
              <a:rPr lang="en-US" sz="1200" dirty="0">
                <a:solidFill>
                  <a:srgbClr val="FF0000"/>
                </a:solidFill>
                <a:latin typeface="Times New Roman"/>
                <a:cs typeface="Times New Roman"/>
              </a:rPr>
              <a:t>slower</a:t>
            </a:r>
            <a:r>
              <a:rPr lang="en-US" sz="1200" spc="26" dirty="0">
                <a:solidFill>
                  <a:srgbClr val="FF0000"/>
                </a:solidFill>
                <a:latin typeface="Times New Roman"/>
                <a:cs typeface="Times New Roman"/>
              </a:rPr>
              <a:t> </a:t>
            </a:r>
            <a:r>
              <a:rPr lang="en-US" sz="1200" spc="-22" dirty="0">
                <a:solidFill>
                  <a:srgbClr val="FF0000"/>
                </a:solidFill>
                <a:latin typeface="Times New Roman"/>
                <a:cs typeface="Times New Roman"/>
              </a:rPr>
              <a:t>for </a:t>
            </a:r>
            <a:r>
              <a:rPr lang="en-US" sz="1200" dirty="0">
                <a:solidFill>
                  <a:srgbClr val="FF0000"/>
                </a:solidFill>
                <a:latin typeface="Times New Roman"/>
                <a:cs typeface="Times New Roman"/>
              </a:rPr>
              <a:t>all</a:t>
            </a:r>
            <a:r>
              <a:rPr lang="en-US" sz="1200" spc="13" dirty="0">
                <a:solidFill>
                  <a:srgbClr val="FF0000"/>
                </a:solidFill>
                <a:latin typeface="Times New Roman"/>
                <a:cs typeface="Times New Roman"/>
              </a:rPr>
              <a:t> </a:t>
            </a:r>
            <a:r>
              <a:rPr lang="en-US" sz="1200" spc="-9" dirty="0">
                <a:solidFill>
                  <a:srgbClr val="FF0000"/>
                </a:solidFill>
                <a:latin typeface="Times New Roman"/>
                <a:cs typeface="Times New Roman"/>
              </a:rPr>
              <a:t>stages.</a:t>
            </a:r>
            <a:endParaRPr lang="en-US" sz="1200" dirty="0">
              <a:latin typeface="Times New Roman"/>
              <a:cs typeface="Times New Roman"/>
            </a:endParaRPr>
          </a:p>
          <a:p>
            <a:pPr marL="0" indent="0">
              <a:buNone/>
            </a:pPr>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60</a:t>
            </a:fld>
            <a:endParaRPr lang="en-US"/>
          </a:p>
        </p:txBody>
      </p:sp>
    </p:spTree>
    <p:extLst>
      <p:ext uri="{BB962C8B-B14F-4D97-AF65-F5344CB8AC3E}">
        <p14:creationId xmlns:p14="http://schemas.microsoft.com/office/powerpoint/2010/main" val="16032764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Figure C-29 (C-42):</a:t>
            </a:r>
          </a:p>
          <a:p>
            <a:endParaRPr lang="en-US" dirty="0"/>
          </a:p>
          <a:p>
            <a:r>
              <a:rPr lang="en-US" dirty="0"/>
              <a:t>A separate adder is used to compute the </a:t>
            </a:r>
            <a:r>
              <a:rPr lang="en-US" u="sng" dirty="0"/>
              <a:t>branch-target address during</a:t>
            </a:r>
            <a:r>
              <a:rPr lang="en-US" dirty="0"/>
              <a:t> ID.</a:t>
            </a:r>
          </a:p>
          <a:p>
            <a:r>
              <a:rPr lang="en-US" dirty="0"/>
              <a:t>The </a:t>
            </a:r>
            <a:r>
              <a:rPr lang="en-US" u="sng" dirty="0"/>
              <a:t>branch condition</a:t>
            </a:r>
            <a:r>
              <a:rPr lang="en-US" dirty="0"/>
              <a:t> (Regs[IF/ID.IR</a:t>
            </a:r>
            <a:r>
              <a:rPr lang="en-US" baseline="-25000" dirty="0"/>
              <a:t>6..10</a:t>
            </a:r>
            <a:r>
              <a:rPr lang="en-US" dirty="0"/>
              <a:t>] op 0) will also be performed. </a:t>
            </a:r>
          </a:p>
          <a:p>
            <a:endParaRPr lang="en-US" dirty="0"/>
          </a:p>
          <a:p>
            <a:r>
              <a:rPr lang="en-US" dirty="0"/>
              <a:t>The </a:t>
            </a:r>
            <a:r>
              <a:rPr lang="en-US" u="sng" dirty="0"/>
              <a:t>selection</a:t>
            </a:r>
            <a:r>
              <a:rPr lang="en-US" dirty="0"/>
              <a:t> of the </a:t>
            </a:r>
            <a:r>
              <a:rPr lang="en-US" u="sng" dirty="0"/>
              <a:t>sequential PC or the branch-target PC</a:t>
            </a:r>
            <a:r>
              <a:rPr lang="en-US" dirty="0"/>
              <a:t> still occurs during IF, </a:t>
            </a:r>
          </a:p>
          <a:p>
            <a:r>
              <a:rPr lang="en-US" dirty="0"/>
              <a:t>but it now uses values from the ID stage that correspond to the values set by the previous instruction. </a:t>
            </a:r>
          </a:p>
          <a:p>
            <a:endParaRPr lang="en-US" dirty="0"/>
          </a:p>
          <a:p>
            <a:r>
              <a:rPr lang="en-US" dirty="0"/>
              <a:t>This change reduces the branch penalty by 2 cycles: </a:t>
            </a:r>
          </a:p>
          <a:p>
            <a:pPr marL="171450" indent="-171450">
              <a:buFont typeface="Arial" panose="020B0604020202020204" pitchFamily="34" charset="0"/>
              <a:buChar char="•"/>
            </a:pPr>
            <a:r>
              <a:rPr lang="en-US" dirty="0"/>
              <a:t>One from evaluating the branch target and condition earlier and </a:t>
            </a:r>
          </a:p>
          <a:p>
            <a:pPr marL="171450" indent="-171450">
              <a:buFont typeface="Arial" panose="020B0604020202020204" pitchFamily="34" charset="0"/>
              <a:buChar char="•"/>
            </a:pPr>
            <a:r>
              <a:rPr lang="en-US" dirty="0"/>
              <a:t>One from controlling the PC selection on the same clock cycle rather than on the next cycle.</a:t>
            </a:r>
          </a:p>
          <a:p>
            <a:endParaRPr lang="en-US" dirty="0"/>
          </a:p>
          <a:p>
            <a:r>
              <a:rPr lang="en-US" dirty="0"/>
              <a:t>Since the value of </a:t>
            </a:r>
            <a:r>
              <a:rPr lang="en-US" dirty="0" err="1"/>
              <a:t>cond</a:t>
            </a:r>
            <a:r>
              <a:rPr lang="en-US" dirty="0"/>
              <a:t> is set to 0, </a:t>
            </a:r>
          </a:p>
          <a:p>
            <a:r>
              <a:rPr lang="en-US" dirty="0"/>
              <a:t>unless the instruction in ID is a taken branch, </a:t>
            </a:r>
          </a:p>
          <a:p>
            <a:r>
              <a:rPr lang="en-US" dirty="0"/>
              <a:t>the processor must decode the instruction before the end of ID. </a:t>
            </a:r>
          </a:p>
          <a:p>
            <a:endParaRPr lang="en-US" dirty="0"/>
          </a:p>
          <a:p>
            <a:r>
              <a:rPr lang="en-US" dirty="0"/>
              <a:t>Because the branch is done by the end of ID, </a:t>
            </a:r>
          </a:p>
          <a:p>
            <a:r>
              <a:rPr lang="en-US" dirty="0"/>
              <a:t>the EX, MEM, and WB stages are unused for branches. </a:t>
            </a:r>
          </a:p>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61</a:t>
            </a:fld>
            <a:endParaRPr lang="en-US"/>
          </a:p>
        </p:txBody>
      </p:sp>
    </p:spTree>
    <p:extLst>
      <p:ext uri="{BB962C8B-B14F-4D97-AF65-F5344CB8AC3E}">
        <p14:creationId xmlns:p14="http://schemas.microsoft.com/office/powerpoint/2010/main" val="1993397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unpipelined multi-cycle:</a:t>
            </a:r>
          </a:p>
          <a:p>
            <a:r>
              <a:rPr lang="pt-BR" sz="1200" b="0" i="0" kern="1200" dirty="0">
                <a:solidFill>
                  <a:schemeClr val="tx1"/>
                </a:solidFill>
                <a:effectLst/>
                <a:latin typeface="+mn-lt"/>
                <a:ea typeface="+mn-ea"/>
                <a:cs typeface="+mn-cs"/>
              </a:rPr>
              <a:t>CPI=(0.50×4)+(0.20×5)+(0.10×4)+(0.20×3)</a:t>
            </a:r>
          </a:p>
          <a:p>
            <a:r>
              <a:rPr lang="pt-BR" sz="1200" b="0" i="0" kern="1200" dirty="0">
                <a:solidFill>
                  <a:schemeClr val="tx1"/>
                </a:solidFill>
                <a:effectLst/>
                <a:latin typeface="+mn-lt"/>
                <a:ea typeface="+mn-ea"/>
                <a:cs typeface="+mn-cs"/>
              </a:rPr>
              <a:t>     =2.0+1.0+0.4+0.6</a:t>
            </a:r>
          </a:p>
          <a:p>
            <a:r>
              <a:rPr lang="pt-BR" sz="1200" b="0" i="0" kern="1200" dirty="0">
                <a:solidFill>
                  <a:schemeClr val="tx1"/>
                </a:solidFill>
                <a:effectLst/>
                <a:latin typeface="+mn-lt"/>
                <a:ea typeface="+mn-ea"/>
                <a:cs typeface="+mn-cs"/>
              </a:rPr>
              <a:t>     =4.0</a:t>
            </a:r>
          </a:p>
          <a:p>
            <a:endParaRPr lang="en-US" dirty="0"/>
          </a:p>
          <a:p>
            <a:r>
              <a:rPr lang="en-US" dirty="0"/>
              <a:t>Machine A:</a:t>
            </a:r>
          </a:p>
          <a:p>
            <a:r>
              <a:rPr lang="pt-BR" sz="1200" b="0" i="0" kern="1200" dirty="0">
                <a:solidFill>
                  <a:schemeClr val="tx1"/>
                </a:solidFill>
                <a:effectLst/>
                <a:latin typeface="+mn-lt"/>
                <a:ea typeface="+mn-ea"/>
                <a:cs typeface="+mn-cs"/>
              </a:rPr>
              <a:t>CPI=(0.50×4)+(0.20×5)+(0.10×4)+(0.20×1)</a:t>
            </a:r>
          </a:p>
          <a:p>
            <a:r>
              <a:rPr lang="pt-BR" sz="1200" b="0" i="0" kern="1200" dirty="0">
                <a:solidFill>
                  <a:schemeClr val="tx1"/>
                </a:solidFill>
                <a:effectLst/>
                <a:latin typeface="+mn-lt"/>
                <a:ea typeface="+mn-ea"/>
                <a:cs typeface="+mn-cs"/>
              </a:rPr>
              <a:t>     =2.0+1.0+0.4+0.2</a:t>
            </a:r>
          </a:p>
          <a:p>
            <a:r>
              <a:rPr lang="pt-BR" sz="1200" b="0" i="0" kern="1200" dirty="0">
                <a:solidFill>
                  <a:schemeClr val="tx1"/>
                </a:solidFill>
                <a:effectLst/>
                <a:latin typeface="+mn-lt"/>
                <a:ea typeface="+mn-ea"/>
                <a:cs typeface="+mn-cs"/>
              </a:rPr>
              <a:t>     =3.6</a:t>
            </a:r>
          </a:p>
          <a:p>
            <a:endParaRPr lang="en-US" dirty="0"/>
          </a:p>
          <a:p>
            <a:r>
              <a:rPr lang="en-US" dirty="0"/>
              <a:t>Machine B:</a:t>
            </a:r>
          </a:p>
          <a:p>
            <a:r>
              <a:rPr lang="pt-BR" sz="1200" b="0" i="0" kern="1200" dirty="0">
                <a:solidFill>
                  <a:schemeClr val="tx1"/>
                </a:solidFill>
                <a:effectLst/>
                <a:latin typeface="+mn-lt"/>
                <a:ea typeface="+mn-ea"/>
                <a:cs typeface="+mn-cs"/>
              </a:rPr>
              <a:t>CPI=(0.50×4)+(0.20×3)+(0.10×4)+(0.20×3)</a:t>
            </a:r>
          </a:p>
          <a:p>
            <a:r>
              <a:rPr lang="pt-BR" sz="1200" b="0" i="0" kern="1200" dirty="0">
                <a:solidFill>
                  <a:schemeClr val="tx1"/>
                </a:solidFill>
                <a:effectLst/>
                <a:latin typeface="+mn-lt"/>
                <a:ea typeface="+mn-ea"/>
                <a:cs typeface="+mn-cs"/>
              </a:rPr>
              <a:t>     =2.0+0.6+0.4+0.6</a:t>
            </a:r>
          </a:p>
          <a:p>
            <a:r>
              <a:rPr lang="pt-BR" sz="1200" b="0" i="0" kern="1200" dirty="0">
                <a:solidFill>
                  <a:schemeClr val="tx1"/>
                </a:solidFill>
                <a:effectLst/>
                <a:latin typeface="+mn-lt"/>
                <a:ea typeface="+mn-ea"/>
                <a:cs typeface="+mn-cs"/>
              </a:rPr>
              <a:t>     =3.6</a:t>
            </a:r>
          </a:p>
          <a:p>
            <a:endParaRPr lang="pt-BR" sz="1200" b="0" i="0" kern="1200" dirty="0">
              <a:solidFill>
                <a:schemeClr val="tx1"/>
              </a:solidFill>
              <a:effectLst/>
              <a:latin typeface="+mn-lt"/>
              <a:ea typeface="+mn-ea"/>
              <a:cs typeface="+mn-cs"/>
            </a:endParaRPr>
          </a:p>
          <a:p>
            <a:r>
              <a:rPr lang="pt-BR" sz="1200" b="1" i="0" kern="1200" dirty="0">
                <a:solidFill>
                  <a:schemeClr val="tx1"/>
                </a:solidFill>
                <a:effectLst/>
                <a:latin typeface="+mn-lt"/>
                <a:ea typeface="+mn-ea"/>
                <a:cs typeface="+mn-cs"/>
              </a:rPr>
              <a:t>Answer:</a:t>
            </a:r>
            <a:r>
              <a:rPr lang="pt-BR" sz="1200" b="0" i="0" kern="1200" dirty="0">
                <a:solidFill>
                  <a:schemeClr val="tx1"/>
                </a:solidFill>
                <a:effectLst/>
                <a:latin typeface="+mn-lt"/>
                <a:ea typeface="+mn-ea"/>
                <a:cs typeface="+mn-cs"/>
              </a:rPr>
              <a:t> C, same speedup from both.</a:t>
            </a:r>
          </a:p>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62</a:t>
            </a:fld>
            <a:endParaRPr lang="en-US"/>
          </a:p>
        </p:txBody>
      </p:sp>
    </p:spTree>
    <p:extLst>
      <p:ext uri="{BB962C8B-B14F-4D97-AF65-F5344CB8AC3E}">
        <p14:creationId xmlns:p14="http://schemas.microsoft.com/office/powerpoint/2010/main" val="24868029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1FFC65-791B-4559-8ED4-77406F77020D}" type="slidenum">
              <a:rPr lang="en-US" smtClean="0"/>
              <a:t>64</a:t>
            </a:fld>
            <a:endParaRPr lang="en-US"/>
          </a:p>
        </p:txBody>
      </p:sp>
    </p:spTree>
    <p:extLst>
      <p:ext uri="{BB962C8B-B14F-4D97-AF65-F5344CB8AC3E}">
        <p14:creationId xmlns:p14="http://schemas.microsoft.com/office/powerpoint/2010/main" val="5000343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&gt;&gt;</a:t>
            </a:r>
          </a:p>
          <a:p>
            <a:r>
              <a:rPr lang="en-US" sz="1200" b="0" i="0" kern="1200" dirty="0">
                <a:solidFill>
                  <a:schemeClr val="tx1"/>
                </a:solidFill>
                <a:effectLst/>
                <a:latin typeface="+mn-lt"/>
                <a:ea typeface="+mn-ea"/>
                <a:cs typeface="+mn-cs"/>
              </a:rPr>
              <a:t>Modern processor designs generally do not use branch delay slots, </a:t>
            </a:r>
          </a:p>
          <a:p>
            <a:r>
              <a:rPr lang="en-US" sz="1200" b="0" i="0" kern="1200" dirty="0">
                <a:solidFill>
                  <a:schemeClr val="tx1"/>
                </a:solidFill>
                <a:effectLst/>
                <a:latin typeface="+mn-lt"/>
                <a:ea typeface="+mn-ea"/>
                <a:cs typeface="+mn-cs"/>
              </a:rPr>
              <a:t>opting instead for more complex forms of branch prediction to manage pipeline hazards.</a:t>
            </a:r>
          </a:p>
          <a:p>
            <a:endParaRPr lang="en-US" b="0" dirty="0"/>
          </a:p>
          <a:p>
            <a:r>
              <a:rPr lang="en-US" sz="1200" b="0" i="0" kern="1200" dirty="0">
                <a:solidFill>
                  <a:schemeClr val="tx1"/>
                </a:solidFill>
                <a:effectLst/>
                <a:latin typeface="+mn-lt"/>
                <a:ea typeface="+mn-ea"/>
                <a:cs typeface="+mn-cs"/>
              </a:rPr>
              <a:t>Branch delay slots are largely obsolete in modern CPU architectures, </a:t>
            </a:r>
          </a:p>
          <a:p>
            <a:r>
              <a:rPr lang="en-US" sz="1200" b="0" i="0" kern="1200" dirty="0">
                <a:solidFill>
                  <a:schemeClr val="tx1"/>
                </a:solidFill>
                <a:effectLst/>
                <a:latin typeface="+mn-lt"/>
                <a:ea typeface="+mn-ea"/>
                <a:cs typeface="+mn-cs"/>
              </a:rPr>
              <a:t>primarily because longer and more complex pipelines </a:t>
            </a:r>
          </a:p>
          <a:p>
            <a:r>
              <a:rPr lang="en-US" sz="1200" b="0" i="0" kern="1200" dirty="0">
                <a:solidFill>
                  <a:schemeClr val="tx1"/>
                </a:solidFill>
                <a:effectLst/>
                <a:latin typeface="+mn-lt"/>
                <a:ea typeface="+mn-ea"/>
                <a:cs typeface="+mn-cs"/>
              </a:rPr>
              <a:t>make a single delay slot insufficient to hide the increased branch latency</a:t>
            </a:r>
          </a:p>
          <a:p>
            <a:endParaRPr lang="en-US" b="0" dirty="0"/>
          </a:p>
        </p:txBody>
      </p:sp>
      <p:sp>
        <p:nvSpPr>
          <p:cNvPr id="4" name="Slide Number Placeholder 3"/>
          <p:cNvSpPr>
            <a:spLocks noGrp="1"/>
          </p:cNvSpPr>
          <p:nvPr>
            <p:ph type="sldNum" sz="quarter" idx="5"/>
          </p:nvPr>
        </p:nvSpPr>
        <p:spPr/>
        <p:txBody>
          <a:bodyPr/>
          <a:lstStyle/>
          <a:p>
            <a:fld id="{2F1FFC65-791B-4559-8ED4-77406F77020D}" type="slidenum">
              <a:rPr lang="en-US" smtClean="0"/>
              <a:t>68</a:t>
            </a:fld>
            <a:endParaRPr lang="en-US"/>
          </a:p>
        </p:txBody>
      </p:sp>
    </p:spTree>
    <p:extLst>
      <p:ext uri="{BB962C8B-B14F-4D97-AF65-F5344CB8AC3E}">
        <p14:creationId xmlns:p14="http://schemas.microsoft.com/office/powerpoint/2010/main" val="2755377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461665"/>
          </a:xfrm>
          <a:prstGeom prst="rect">
            <a:avLst/>
          </a:prstGeom>
        </p:spPr>
        <p:txBody>
          <a:bodyPr wrap="square" lIns="0" tIns="0" rIns="0" bIns="0">
            <a:spAutoFit/>
          </a:bodyPr>
          <a:lstStyle>
            <a:lvl1pPr>
              <a:defRPr sz="3000" b="0" i="0">
                <a:solidFill>
                  <a:srgbClr val="0332B7"/>
                </a:solidFill>
                <a:latin typeface="Calibri"/>
                <a:cs typeface="Calibri"/>
              </a:defRPr>
            </a:lvl1pPr>
          </a:lstStyle>
          <a:p>
            <a:endParaRPr/>
          </a:p>
        </p:txBody>
      </p:sp>
      <p:sp>
        <p:nvSpPr>
          <p:cNvPr id="3" name="Holder 3"/>
          <p:cNvSpPr>
            <a:spLocks noGrp="1"/>
          </p:cNvSpPr>
          <p:nvPr>
            <p:ph type="subTitle" idx="4"/>
          </p:nvPr>
        </p:nvSpPr>
        <p:spPr>
          <a:xfrm>
            <a:off x="1371600" y="3840480"/>
            <a:ext cx="6400800"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AD33BCA5-7B68-4A17-B4CA-FA5A880E1A91}" type="datetime1">
              <a:rPr lang="en-US" smtClean="0"/>
              <a:t>9/17/2025</a:t>
            </a:fld>
            <a:endParaRPr lang="en-US"/>
          </a:p>
        </p:txBody>
      </p:sp>
      <p:sp>
        <p:nvSpPr>
          <p:cNvPr id="6" name="Holder 6"/>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39521">
              <a:lnSpc>
                <a:spcPts val="1747"/>
              </a:lnSpc>
            </a:pPr>
            <a:fld id="{81D60167-4931-47E6-BA6A-407CBD079E47}" type="slidenum">
              <a:rPr lang="en-US" spc="-44" smtClean="0"/>
              <a:pPr marL="139521">
                <a:lnSpc>
                  <a:spcPts val="1747"/>
                </a:lnSpc>
              </a:pPr>
              <a:t>‹#›</a:t>
            </a:fld>
            <a:endParaRPr lang="en-US" spc="-44" dirty="0"/>
          </a:p>
        </p:txBody>
      </p:sp>
    </p:spTree>
    <p:extLst>
      <p:ext uri="{BB962C8B-B14F-4D97-AF65-F5344CB8AC3E}">
        <p14:creationId xmlns:p14="http://schemas.microsoft.com/office/powerpoint/2010/main" val="3680302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881303" y="457647"/>
            <a:ext cx="5874905" cy="461665"/>
          </a:xfrm>
        </p:spPr>
        <p:txBody>
          <a:bodyPr lIns="0" tIns="0" rIns="0" bIns="0"/>
          <a:lstStyle>
            <a:lvl1pPr>
              <a:defRPr sz="3000" b="0" i="0">
                <a:solidFill>
                  <a:srgbClr val="0332B7"/>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AB8C0C40-36B9-4003-BB81-7EF048C41E5F}" type="datetime1">
              <a:rPr lang="en-US" smtClean="0"/>
              <a:t>9/17/2025</a:t>
            </a:fld>
            <a:endParaRPr lang="en-US"/>
          </a:p>
        </p:txBody>
      </p:sp>
      <p:sp>
        <p:nvSpPr>
          <p:cNvPr id="6" name="Holder 6"/>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39521">
              <a:lnSpc>
                <a:spcPts val="1747"/>
              </a:lnSpc>
            </a:pPr>
            <a:fld id="{81D60167-4931-47E6-BA6A-407CBD079E47}" type="slidenum">
              <a:rPr lang="en-US" spc="-44" smtClean="0"/>
              <a:pPr marL="139521">
                <a:lnSpc>
                  <a:spcPts val="1747"/>
                </a:lnSpc>
              </a:pPr>
              <a:t>‹#›</a:t>
            </a:fld>
            <a:endParaRPr lang="en-US" spc="-44" dirty="0"/>
          </a:p>
        </p:txBody>
      </p:sp>
    </p:spTree>
    <p:extLst>
      <p:ext uri="{BB962C8B-B14F-4D97-AF65-F5344CB8AC3E}">
        <p14:creationId xmlns:p14="http://schemas.microsoft.com/office/powerpoint/2010/main" val="1735314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881303" y="457647"/>
            <a:ext cx="5874905" cy="461665"/>
          </a:xfrm>
        </p:spPr>
        <p:txBody>
          <a:bodyPr lIns="0" tIns="0" rIns="0" bIns="0"/>
          <a:lstStyle>
            <a:lvl1pPr>
              <a:defRPr sz="3000" b="0" i="0">
                <a:solidFill>
                  <a:srgbClr val="0332B7"/>
                </a:solidFill>
                <a:latin typeface="Calibri"/>
                <a:cs typeface="Calibri"/>
              </a:defRPr>
            </a:lvl1pPr>
          </a:lstStyle>
          <a:p>
            <a:endParaRPr/>
          </a:p>
        </p:txBody>
      </p:sp>
      <p:sp>
        <p:nvSpPr>
          <p:cNvPr id="3" name="Holder 3"/>
          <p:cNvSpPr>
            <a:spLocks noGrp="1"/>
          </p:cNvSpPr>
          <p:nvPr>
            <p:ph sz="half" idx="2"/>
          </p:nvPr>
        </p:nvSpPr>
        <p:spPr>
          <a:xfrm>
            <a:off x="457200" y="1577340"/>
            <a:ext cx="39776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027E1C25-691F-42F7-AE73-004896FB1E65}" type="datetime1">
              <a:rPr lang="en-US" smtClean="0"/>
              <a:t>9/17/2025</a:t>
            </a:fld>
            <a:endParaRPr lang="en-US"/>
          </a:p>
        </p:txBody>
      </p:sp>
      <p:sp>
        <p:nvSpPr>
          <p:cNvPr id="7" name="Holder 7"/>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39521">
              <a:lnSpc>
                <a:spcPts val="1747"/>
              </a:lnSpc>
            </a:pPr>
            <a:fld id="{81D60167-4931-47E6-BA6A-407CBD079E47}" type="slidenum">
              <a:rPr lang="en-US" spc="-44" smtClean="0"/>
              <a:pPr marL="139521">
                <a:lnSpc>
                  <a:spcPts val="1747"/>
                </a:lnSpc>
              </a:pPr>
              <a:t>‹#›</a:t>
            </a:fld>
            <a:endParaRPr lang="en-US" spc="-44" dirty="0"/>
          </a:p>
        </p:txBody>
      </p:sp>
    </p:spTree>
    <p:extLst>
      <p:ext uri="{BB962C8B-B14F-4D97-AF65-F5344CB8AC3E}">
        <p14:creationId xmlns:p14="http://schemas.microsoft.com/office/powerpoint/2010/main" val="404384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881303" y="457647"/>
            <a:ext cx="5874905" cy="461665"/>
          </a:xfrm>
        </p:spPr>
        <p:txBody>
          <a:bodyPr lIns="0" tIns="0" rIns="0" bIns="0"/>
          <a:lstStyle>
            <a:lvl1pPr>
              <a:defRPr sz="3000" b="0" i="0">
                <a:solidFill>
                  <a:srgbClr val="0332B7"/>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741AE5BB-E39A-4F84-9C20-2BF5CFB3F8D2}" type="datetime1">
              <a:rPr lang="en-US" smtClean="0"/>
              <a:t>9/17/2025</a:t>
            </a:fld>
            <a:endParaRPr lang="en-US"/>
          </a:p>
        </p:txBody>
      </p:sp>
      <p:sp>
        <p:nvSpPr>
          <p:cNvPr id="5" name="Holder 5"/>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39521">
              <a:lnSpc>
                <a:spcPts val="1747"/>
              </a:lnSpc>
            </a:pPr>
            <a:fld id="{81D60167-4931-47E6-BA6A-407CBD079E47}" type="slidenum">
              <a:rPr lang="en-US" spc="-44" smtClean="0"/>
              <a:pPr marL="139521">
                <a:lnSpc>
                  <a:spcPts val="1747"/>
                </a:lnSpc>
              </a:pPr>
              <a:t>‹#›</a:t>
            </a:fld>
            <a:endParaRPr lang="en-US" spc="-44" dirty="0"/>
          </a:p>
        </p:txBody>
      </p:sp>
    </p:spTree>
    <p:extLst>
      <p:ext uri="{BB962C8B-B14F-4D97-AF65-F5344CB8AC3E}">
        <p14:creationId xmlns:p14="http://schemas.microsoft.com/office/powerpoint/2010/main" val="3125613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1253" y="1159438"/>
            <a:ext cx="7543223" cy="44824"/>
          </a:xfrm>
          <a:custGeom>
            <a:avLst/>
            <a:gdLst/>
            <a:ahLst/>
            <a:cxnLst/>
            <a:rect l="l" t="t" r="r" b="b"/>
            <a:pathLst>
              <a:path w="8297545" h="50800">
                <a:moveTo>
                  <a:pt x="8297342" y="20320"/>
                </a:moveTo>
                <a:lnTo>
                  <a:pt x="0" y="20320"/>
                </a:lnTo>
                <a:lnTo>
                  <a:pt x="0" y="50800"/>
                </a:lnTo>
                <a:lnTo>
                  <a:pt x="8297342" y="50800"/>
                </a:lnTo>
                <a:lnTo>
                  <a:pt x="8297342" y="20320"/>
                </a:lnTo>
                <a:close/>
              </a:path>
              <a:path w="8297545" h="50800">
                <a:moveTo>
                  <a:pt x="8297342" y="0"/>
                </a:moveTo>
                <a:lnTo>
                  <a:pt x="0" y="0"/>
                </a:lnTo>
                <a:lnTo>
                  <a:pt x="0" y="10160"/>
                </a:lnTo>
                <a:lnTo>
                  <a:pt x="8297342" y="10160"/>
                </a:lnTo>
                <a:lnTo>
                  <a:pt x="8297342" y="0"/>
                </a:lnTo>
                <a:close/>
              </a:path>
            </a:pathLst>
          </a:custGeom>
          <a:solidFill>
            <a:srgbClr val="FBBA03"/>
          </a:solidFill>
        </p:spPr>
        <p:txBody>
          <a:bodyPr wrap="square" lIns="0" tIns="0" rIns="0" bIns="0" rtlCol="0"/>
          <a:lstStyle/>
          <a:p>
            <a:endParaRPr sz="1588"/>
          </a:p>
        </p:txBody>
      </p:sp>
      <p:pic>
        <p:nvPicPr>
          <p:cNvPr id="17" name="bg object 17"/>
          <p:cNvPicPr/>
          <p:nvPr/>
        </p:nvPicPr>
        <p:blipFill>
          <a:blip r:embed="rId2" cstate="print"/>
          <a:stretch>
            <a:fillRect/>
          </a:stretch>
        </p:blipFill>
        <p:spPr>
          <a:xfrm>
            <a:off x="2030362" y="1671388"/>
            <a:ext cx="5164606" cy="438118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4DDF2088-A20F-4BD4-8A47-825C8DAA6038}" type="datetime1">
              <a:rPr lang="en-US" smtClean="0"/>
              <a:t>9/17/2025</a:t>
            </a:fld>
            <a:endParaRPr lang="en-US"/>
          </a:p>
        </p:txBody>
      </p:sp>
      <p:sp>
        <p:nvSpPr>
          <p:cNvPr id="4" name="Holder 4"/>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39521">
              <a:lnSpc>
                <a:spcPts val="1747"/>
              </a:lnSpc>
            </a:pPr>
            <a:fld id="{81D60167-4931-47E6-BA6A-407CBD079E47}" type="slidenum">
              <a:rPr lang="en-US" spc="-44" smtClean="0"/>
              <a:pPr marL="139521">
                <a:lnSpc>
                  <a:spcPts val="1747"/>
                </a:lnSpc>
              </a:pPr>
              <a:t>‹#›</a:t>
            </a:fld>
            <a:endParaRPr lang="en-US" spc="-44" dirty="0"/>
          </a:p>
        </p:txBody>
      </p:sp>
    </p:spTree>
    <p:extLst>
      <p:ext uri="{BB962C8B-B14F-4D97-AF65-F5344CB8AC3E}">
        <p14:creationId xmlns:p14="http://schemas.microsoft.com/office/powerpoint/2010/main" val="4212037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pic>
        <p:nvPicPr>
          <p:cNvPr id="14" name="Picture 13" descr="Hennessy_cover-v2 (Final).png"/>
          <p:cNvPicPr>
            <a:picLocks noChangeAspect="1"/>
          </p:cNvPicPr>
          <p:nvPr userDrawn="1"/>
        </p:nvPicPr>
        <p:blipFill>
          <a:blip r:embed="rId2" cstate="print"/>
          <a:stretch>
            <a:fillRect/>
          </a:stretch>
        </p:blipFill>
        <p:spPr>
          <a:xfrm>
            <a:off x="179512" y="1412776"/>
            <a:ext cx="1872208" cy="2309056"/>
          </a:xfrm>
          <a:prstGeom prst="rect">
            <a:avLst/>
          </a:prstGeom>
          <a:ln>
            <a:noFill/>
          </a:ln>
          <a:effectLst>
            <a:outerShdw blurRad="292100" dist="139700" dir="2700000" algn="tl" rotWithShape="0">
              <a:srgbClr val="333333">
                <a:alpha val="65000"/>
              </a:srgbClr>
            </a:outerShdw>
          </a:effectLst>
        </p:spPr>
      </p:pic>
      <p:sp>
        <p:nvSpPr>
          <p:cNvPr id="240647" name="Rectangle 7"/>
          <p:cNvSpPr>
            <a:spLocks noChangeArrowheads="1"/>
          </p:cNvSpPr>
          <p:nvPr userDrawn="1"/>
        </p:nvSpPr>
        <p:spPr bwMode="auto">
          <a:xfrm>
            <a:off x="0" y="0"/>
            <a:ext cx="9144000" cy="765175"/>
          </a:xfrm>
          <a:prstGeom prst="rect">
            <a:avLst/>
          </a:prstGeom>
          <a:solidFill>
            <a:srgbClr val="767D79"/>
          </a:solidFill>
          <a:ln w="9525">
            <a:noFill/>
            <a:miter lim="800000"/>
            <a:headEnd/>
            <a:tailEnd/>
          </a:ln>
          <a:effectLst/>
        </p:spPr>
        <p:txBody>
          <a:bodyPr wrap="none" anchor="ctr"/>
          <a:lstStyle/>
          <a:p>
            <a:pPr algn="ctr" eaLnBrk="0" hangingPunct="0">
              <a:spcBef>
                <a:spcPct val="0"/>
              </a:spcBef>
              <a:buClrTx/>
              <a:buSzTx/>
              <a:buFontTx/>
              <a:buNone/>
            </a:pPr>
            <a:endParaRPr lang="en-GB" sz="2400">
              <a:solidFill>
                <a:schemeClr val="bg1"/>
              </a:solidFill>
              <a:latin typeface="Arial" charset="0"/>
            </a:endParaRPr>
          </a:p>
        </p:txBody>
      </p:sp>
      <p:sp>
        <p:nvSpPr>
          <p:cNvPr id="240649" name="Rectangle 9"/>
          <p:cNvSpPr>
            <a:spLocks noChangeArrowheads="1"/>
          </p:cNvSpPr>
          <p:nvPr userDrawn="1"/>
        </p:nvSpPr>
        <p:spPr bwMode="auto">
          <a:xfrm>
            <a:off x="0" y="765175"/>
            <a:ext cx="9144000" cy="17463"/>
          </a:xfrm>
          <a:prstGeom prst="rect">
            <a:avLst/>
          </a:prstGeom>
          <a:solidFill>
            <a:srgbClr val="000000"/>
          </a:solidFill>
          <a:ln w="9525">
            <a:noFill/>
            <a:miter lim="800000"/>
            <a:headEnd/>
            <a:tailEnd/>
          </a:ln>
          <a:effectLst/>
        </p:spPr>
        <p:txBody>
          <a:bodyPr wrap="none" anchor="ctr"/>
          <a:lstStyle/>
          <a:p>
            <a:endParaRPr lang="en-US"/>
          </a:p>
        </p:txBody>
      </p:sp>
      <p:pic>
        <p:nvPicPr>
          <p:cNvPr id="240657" name="Picture 17" descr="MK_logo2"/>
          <p:cNvPicPr>
            <a:picLocks noChangeAspect="1" noChangeArrowheads="1"/>
          </p:cNvPicPr>
          <p:nvPr userDrawn="1"/>
        </p:nvPicPr>
        <p:blipFill>
          <a:blip r:embed="rId3" cstate="print"/>
          <a:srcRect/>
          <a:stretch>
            <a:fillRect/>
          </a:stretch>
        </p:blipFill>
        <p:spPr bwMode="auto">
          <a:xfrm>
            <a:off x="107950" y="50800"/>
            <a:ext cx="1228725" cy="714375"/>
          </a:xfrm>
          <a:prstGeom prst="rect">
            <a:avLst/>
          </a:prstGeom>
          <a:noFill/>
        </p:spPr>
      </p:pic>
      <p:sp>
        <p:nvSpPr>
          <p:cNvPr id="240659" name="Rectangle 19"/>
          <p:cNvSpPr>
            <a:spLocks noChangeArrowheads="1"/>
          </p:cNvSpPr>
          <p:nvPr userDrawn="1"/>
        </p:nvSpPr>
        <p:spPr bwMode="auto">
          <a:xfrm>
            <a:off x="2197100" y="765175"/>
            <a:ext cx="46038" cy="5732463"/>
          </a:xfrm>
          <a:prstGeom prst="rect">
            <a:avLst/>
          </a:prstGeom>
          <a:gradFill rotWithShape="1">
            <a:gsLst>
              <a:gs pos="0">
                <a:srgbClr val="808080"/>
              </a:gs>
              <a:gs pos="100000">
                <a:srgbClr val="FFFFFF"/>
              </a:gs>
            </a:gsLst>
            <a:lin ang="5400000" scaled="1"/>
          </a:gradFill>
          <a:ln w="9525">
            <a:noFill/>
            <a:miter lim="800000"/>
            <a:headEnd/>
            <a:tailEnd/>
          </a:ln>
          <a:effectLst/>
        </p:spPr>
        <p:txBody>
          <a:bodyPr wrap="none" anchor="ctr"/>
          <a:lstStyle/>
          <a:p>
            <a:endParaRPr lang="en-US"/>
          </a:p>
        </p:txBody>
      </p:sp>
      <p:sp>
        <p:nvSpPr>
          <p:cNvPr id="240660" name="Rectangle 20"/>
          <p:cNvSpPr>
            <a:spLocks noChangeArrowheads="1"/>
          </p:cNvSpPr>
          <p:nvPr userDrawn="1"/>
        </p:nvSpPr>
        <p:spPr bwMode="auto">
          <a:xfrm>
            <a:off x="2559050" y="1195388"/>
            <a:ext cx="46038" cy="3816350"/>
          </a:xfrm>
          <a:prstGeom prst="rect">
            <a:avLst/>
          </a:prstGeom>
          <a:gradFill rotWithShape="1">
            <a:gsLst>
              <a:gs pos="0">
                <a:srgbClr val="767D79"/>
              </a:gs>
              <a:gs pos="100000">
                <a:schemeClr val="bg1"/>
              </a:gs>
            </a:gsLst>
            <a:lin ang="5400000" scaled="1"/>
          </a:gradFill>
          <a:ln w="9525">
            <a:noFill/>
            <a:miter lim="800000"/>
            <a:headEnd/>
            <a:tailEnd/>
          </a:ln>
          <a:effectLst/>
        </p:spPr>
        <p:txBody>
          <a:bodyPr wrap="none" anchor="ctr"/>
          <a:lstStyle/>
          <a:p>
            <a:endParaRPr lang="en-US"/>
          </a:p>
        </p:txBody>
      </p:sp>
      <p:sp>
        <p:nvSpPr>
          <p:cNvPr id="240661" name="Rectangle 21"/>
          <p:cNvSpPr>
            <a:spLocks noChangeArrowheads="1"/>
          </p:cNvSpPr>
          <p:nvPr userDrawn="1"/>
        </p:nvSpPr>
        <p:spPr bwMode="auto">
          <a:xfrm>
            <a:off x="2341563" y="1916113"/>
            <a:ext cx="6623050" cy="46037"/>
          </a:xfrm>
          <a:prstGeom prst="rect">
            <a:avLst/>
          </a:prstGeom>
          <a:gradFill rotWithShape="1">
            <a:gsLst>
              <a:gs pos="0">
                <a:srgbClr val="5F5F5F"/>
              </a:gs>
              <a:gs pos="100000">
                <a:schemeClr val="bg1"/>
              </a:gs>
            </a:gsLst>
            <a:lin ang="0" scaled="1"/>
          </a:gradFill>
          <a:ln w="9525">
            <a:noFill/>
            <a:miter lim="800000"/>
            <a:headEnd/>
            <a:tailEnd/>
          </a:ln>
          <a:effectLst/>
        </p:spPr>
        <p:txBody>
          <a:bodyPr wrap="none" anchor="ctr"/>
          <a:lstStyle/>
          <a:p>
            <a:endParaRPr lang="en-US"/>
          </a:p>
        </p:txBody>
      </p:sp>
      <p:sp>
        <p:nvSpPr>
          <p:cNvPr id="240678" name="Rectangle 38"/>
          <p:cNvSpPr>
            <a:spLocks noChangeArrowheads="1"/>
          </p:cNvSpPr>
          <p:nvPr userDrawn="1"/>
        </p:nvSpPr>
        <p:spPr bwMode="auto">
          <a:xfrm>
            <a:off x="0" y="6308725"/>
            <a:ext cx="9144000" cy="549275"/>
          </a:xfrm>
          <a:prstGeom prst="rect">
            <a:avLst/>
          </a:prstGeom>
          <a:solidFill>
            <a:srgbClr val="767D79"/>
          </a:solidFill>
          <a:ln w="9525">
            <a:noFill/>
            <a:miter lim="800000"/>
            <a:headEnd/>
            <a:tailEnd/>
          </a:ln>
          <a:effectLst/>
        </p:spPr>
        <p:txBody>
          <a:bodyPr wrap="none" anchor="ctr"/>
          <a:lstStyle/>
          <a:p>
            <a:endParaRPr lang="en-US"/>
          </a:p>
        </p:txBody>
      </p:sp>
      <p:sp>
        <p:nvSpPr>
          <p:cNvPr id="240679" name="Rectangle 39"/>
          <p:cNvSpPr>
            <a:spLocks noChangeArrowheads="1"/>
          </p:cNvSpPr>
          <p:nvPr userDrawn="1"/>
        </p:nvSpPr>
        <p:spPr bwMode="auto">
          <a:xfrm>
            <a:off x="0" y="6308725"/>
            <a:ext cx="9144000" cy="17463"/>
          </a:xfrm>
          <a:prstGeom prst="rect">
            <a:avLst/>
          </a:prstGeom>
          <a:solidFill>
            <a:srgbClr val="000000"/>
          </a:solidFill>
          <a:ln w="9525">
            <a:noFill/>
            <a:miter lim="800000"/>
            <a:headEnd/>
            <a:tailEnd/>
          </a:ln>
          <a:effectLst/>
        </p:spPr>
        <p:txBody>
          <a:bodyPr wrap="none" anchor="ctr"/>
          <a:lstStyle/>
          <a:p>
            <a:endParaRPr lang="en-US"/>
          </a:p>
        </p:txBody>
      </p:sp>
      <p:sp>
        <p:nvSpPr>
          <p:cNvPr id="240680" name="Rectangle 40"/>
          <p:cNvSpPr>
            <a:spLocks noGrp="1" noChangeArrowheads="1"/>
          </p:cNvSpPr>
          <p:nvPr>
            <p:ph type="ftr" sz="quarter" idx="3"/>
          </p:nvPr>
        </p:nvSpPr>
        <p:spPr/>
        <p:txBody>
          <a:bodyPr/>
          <a:lstStyle>
            <a:lvl1pPr>
              <a:defRPr/>
            </a:lvl1pPr>
          </a:lstStyle>
          <a:p>
            <a:endParaRPr lang="en-AU" dirty="0"/>
          </a:p>
        </p:txBody>
      </p:sp>
      <p:pic>
        <p:nvPicPr>
          <p:cNvPr id="240681" name="Picture 41" descr="MK_logo2"/>
          <p:cNvPicPr>
            <a:picLocks noChangeAspect="1" noChangeArrowheads="1"/>
          </p:cNvPicPr>
          <p:nvPr userDrawn="1"/>
        </p:nvPicPr>
        <p:blipFill>
          <a:blip r:embed="rId3" cstate="print"/>
          <a:srcRect/>
          <a:stretch>
            <a:fillRect/>
          </a:stretch>
        </p:blipFill>
        <p:spPr bwMode="auto">
          <a:xfrm>
            <a:off x="179388" y="6381750"/>
            <a:ext cx="792162" cy="460375"/>
          </a:xfrm>
          <a:prstGeom prst="rect">
            <a:avLst/>
          </a:prstGeom>
          <a:noFill/>
        </p:spPr>
      </p:pic>
      <p:sp>
        <p:nvSpPr>
          <p:cNvPr id="240682" name="Text Box 42"/>
          <p:cNvSpPr txBox="1">
            <a:spLocks noChangeArrowheads="1"/>
          </p:cNvSpPr>
          <p:nvPr userDrawn="1"/>
        </p:nvSpPr>
        <p:spPr bwMode="auto">
          <a:xfrm>
            <a:off x="8388350" y="6497638"/>
            <a:ext cx="576263" cy="274637"/>
          </a:xfrm>
          <a:prstGeom prst="rect">
            <a:avLst/>
          </a:prstGeom>
          <a:noFill/>
          <a:ln w="9525">
            <a:noFill/>
            <a:miter lim="800000"/>
            <a:headEnd/>
            <a:tailEnd/>
          </a:ln>
          <a:effectLst/>
        </p:spPr>
        <p:txBody>
          <a:bodyPr>
            <a:spAutoFit/>
          </a:bodyPr>
          <a:lstStyle/>
          <a:p>
            <a:pPr algn="r">
              <a:spcBef>
                <a:spcPct val="0"/>
              </a:spcBef>
              <a:buClrTx/>
              <a:buSzTx/>
              <a:buFontTx/>
              <a:buNone/>
            </a:pPr>
            <a:fld id="{63BBFCE6-A6C8-4251-973B-1D0917AA6A4E}" type="slidenum">
              <a:rPr lang="en-AU" sz="1200" b="1">
                <a:latin typeface="Arial" charset="0"/>
              </a:rPr>
              <a:pPr algn="r">
                <a:spcBef>
                  <a:spcPct val="0"/>
                </a:spcBef>
                <a:buClrTx/>
                <a:buSzTx/>
                <a:buFontTx/>
                <a:buNone/>
              </a:pPr>
              <a:t>‹#›</a:t>
            </a:fld>
            <a:endParaRPr lang="en-GB" sz="1200">
              <a:latin typeface="Arial" charset="0"/>
            </a:endParaRPr>
          </a:p>
        </p:txBody>
      </p:sp>
    </p:spTree>
    <p:extLst>
      <p:ext uri="{BB962C8B-B14F-4D97-AF65-F5344CB8AC3E}">
        <p14:creationId xmlns:p14="http://schemas.microsoft.com/office/powerpoint/2010/main" val="2555599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1253" y="1159438"/>
            <a:ext cx="7543223" cy="44824"/>
          </a:xfrm>
          <a:custGeom>
            <a:avLst/>
            <a:gdLst/>
            <a:ahLst/>
            <a:cxnLst/>
            <a:rect l="l" t="t" r="r" b="b"/>
            <a:pathLst>
              <a:path w="8297545" h="50800">
                <a:moveTo>
                  <a:pt x="8297342" y="20320"/>
                </a:moveTo>
                <a:lnTo>
                  <a:pt x="0" y="20320"/>
                </a:lnTo>
                <a:lnTo>
                  <a:pt x="0" y="50800"/>
                </a:lnTo>
                <a:lnTo>
                  <a:pt x="8297342" y="50800"/>
                </a:lnTo>
                <a:lnTo>
                  <a:pt x="8297342" y="20320"/>
                </a:lnTo>
                <a:close/>
              </a:path>
              <a:path w="8297545" h="50800">
                <a:moveTo>
                  <a:pt x="8297342" y="0"/>
                </a:moveTo>
                <a:lnTo>
                  <a:pt x="0" y="0"/>
                </a:lnTo>
                <a:lnTo>
                  <a:pt x="0" y="10160"/>
                </a:lnTo>
                <a:lnTo>
                  <a:pt x="8297342" y="10160"/>
                </a:lnTo>
                <a:lnTo>
                  <a:pt x="8297342" y="0"/>
                </a:lnTo>
                <a:close/>
              </a:path>
            </a:pathLst>
          </a:custGeom>
          <a:solidFill>
            <a:srgbClr val="FBBA03"/>
          </a:solidFill>
        </p:spPr>
        <p:txBody>
          <a:bodyPr wrap="square" lIns="0" tIns="0" rIns="0" bIns="0" rtlCol="0"/>
          <a:lstStyle/>
          <a:p>
            <a:endParaRPr sz="1588"/>
          </a:p>
        </p:txBody>
      </p:sp>
      <p:sp>
        <p:nvSpPr>
          <p:cNvPr id="2" name="Holder 2"/>
          <p:cNvSpPr>
            <a:spLocks noGrp="1"/>
          </p:cNvSpPr>
          <p:nvPr>
            <p:ph type="title"/>
          </p:nvPr>
        </p:nvSpPr>
        <p:spPr>
          <a:xfrm>
            <a:off x="881303" y="457647"/>
            <a:ext cx="5874905" cy="523220"/>
          </a:xfrm>
          <a:prstGeom prst="rect">
            <a:avLst/>
          </a:prstGeom>
        </p:spPr>
        <p:txBody>
          <a:bodyPr wrap="square" lIns="0" tIns="0" rIns="0" bIns="0">
            <a:spAutoFit/>
          </a:bodyPr>
          <a:lstStyle>
            <a:lvl1pPr>
              <a:defRPr sz="3400" b="0" i="0">
                <a:solidFill>
                  <a:srgbClr val="0332B7"/>
                </a:solidFill>
                <a:latin typeface="Calibri"/>
                <a:cs typeface="Calibri"/>
              </a:defRPr>
            </a:lvl1pPr>
          </a:lstStyle>
          <a:p>
            <a:endParaRPr/>
          </a:p>
        </p:txBody>
      </p:sp>
      <p:sp>
        <p:nvSpPr>
          <p:cNvPr id="3" name="Holder 3"/>
          <p:cNvSpPr>
            <a:spLocks noGrp="1"/>
          </p:cNvSpPr>
          <p:nvPr>
            <p:ph type="body" idx="1"/>
          </p:nvPr>
        </p:nvSpPr>
        <p:spPr>
          <a:xfrm>
            <a:off x="1272308" y="3058065"/>
            <a:ext cx="6451599"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63F7D5B-6E80-4D33-AFB9-F6BF177DB6D8}" type="datetime1">
              <a:rPr lang="en-US" smtClean="0"/>
              <a:t>9/17/2025</a:t>
            </a:fld>
            <a:endParaRPr lang="en-US"/>
          </a:p>
        </p:txBody>
      </p:sp>
      <p:sp>
        <p:nvSpPr>
          <p:cNvPr id="6" name="Holder 6"/>
          <p:cNvSpPr>
            <a:spLocks noGrp="1"/>
          </p:cNvSpPr>
          <p:nvPr>
            <p:ph type="sldNum" sz="quarter" idx="7"/>
          </p:nvPr>
        </p:nvSpPr>
        <p:spPr>
          <a:xfrm>
            <a:off x="8568187" y="6346231"/>
            <a:ext cx="299796" cy="436017"/>
          </a:xfrm>
          <a:prstGeom prst="rect">
            <a:avLst/>
          </a:prstGeom>
        </p:spPr>
        <p:txBody>
          <a:bodyPr wrap="square" lIns="0" tIns="0" rIns="0" bIns="0">
            <a:spAutoFit/>
          </a:bodyPr>
          <a:lstStyle>
            <a:lvl1pPr>
              <a:defRPr sz="1500" b="0" i="0">
                <a:solidFill>
                  <a:schemeClr val="tx1"/>
                </a:solidFill>
                <a:latin typeface="Arial MT"/>
                <a:cs typeface="Arial MT"/>
              </a:defRPr>
            </a:lvl1pPr>
          </a:lstStyle>
          <a:p>
            <a:pPr marL="139521">
              <a:lnSpc>
                <a:spcPts val="1747"/>
              </a:lnSpc>
            </a:pPr>
            <a:fld id="{81D60167-4931-47E6-BA6A-407CBD079E47}" type="slidenum">
              <a:rPr lang="en-US" spc="-44" smtClean="0"/>
              <a:pPr marL="139521">
                <a:lnSpc>
                  <a:spcPts val="1747"/>
                </a:lnSpc>
              </a:pPr>
              <a:t>‹#›</a:t>
            </a:fld>
            <a:endParaRPr lang="en-US" spc="-44" dirty="0"/>
          </a:p>
        </p:txBody>
      </p:sp>
    </p:spTree>
    <p:extLst>
      <p:ext uri="{BB962C8B-B14F-4D97-AF65-F5344CB8AC3E}">
        <p14:creationId xmlns:p14="http://schemas.microsoft.com/office/powerpoint/2010/main" val="2204528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80" r:id="rId6"/>
  </p:sldLayoutIdLst>
  <p:hf hdr="0" ftr="0" dt="0"/>
  <p:txStyles>
    <p:titleStyle>
      <a:lvl1pPr>
        <a:defRPr>
          <a:latin typeface="+mj-lt"/>
          <a:ea typeface="+mj-ea"/>
          <a:cs typeface="+mj-cs"/>
        </a:defRPr>
      </a:lvl1pPr>
    </p:titleStyle>
    <p:body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bodyStyle>
    <p:other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homepage.cs.uiowa.edu/~ghosh/01-23-07.pdf"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www.cs.columbia.edu/~martha/courses/3827/au15/mips-isa.pdf" TargetMode="External"/><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sourceforge.net/projects/spimsimulator/files/" TargetMode="External"/><Relationship Id="rId2" Type="http://schemas.openxmlformats.org/officeDocument/2006/relationships/hyperlink" Target="https://spimsimulator.sourceforge.net/" TargetMode="External"/><Relationship Id="rId1" Type="http://schemas.openxmlformats.org/officeDocument/2006/relationships/slideLayout" Target="../slideLayouts/slideLayout4.xml"/><Relationship Id="rId4" Type="http://schemas.openxmlformats.org/officeDocument/2006/relationships/hyperlink" Target="https://sourceforge.net/p/spimsimulator/code/HEAD/tre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5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53.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png"/><Relationship Id="rId3" Type="http://schemas.openxmlformats.org/officeDocument/2006/relationships/image" Target="../media/image45.png"/><Relationship Id="rId7" Type="http://schemas.openxmlformats.org/officeDocument/2006/relationships/image" Target="../media/image49.png"/><Relationship Id="rId12" Type="http://schemas.openxmlformats.org/officeDocument/2006/relationships/image" Target="../media/image54.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5" Type="http://schemas.openxmlformats.org/officeDocument/2006/relationships/image" Target="../media/image5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 Id="rId14" Type="http://schemas.openxmlformats.org/officeDocument/2006/relationships/image" Target="../media/image5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8.png"/><Relationship Id="rId7"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12.png"/><Relationship Id="rId10" Type="http://schemas.openxmlformats.org/officeDocument/2006/relationships/image" Target="../media/image63.png"/><Relationship Id="rId4" Type="http://schemas.openxmlformats.org/officeDocument/2006/relationships/image" Target="../media/image14.png"/><Relationship Id="rId9" Type="http://schemas.openxmlformats.org/officeDocument/2006/relationships/image" Target="../media/image6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8.png"/><Relationship Id="rId7" Type="http://schemas.openxmlformats.org/officeDocument/2006/relationships/image" Target="../media/image60.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jpg"/><Relationship Id="rId5" Type="http://schemas.openxmlformats.org/officeDocument/2006/relationships/image" Target="../media/image12.png"/><Relationship Id="rId10" Type="http://schemas.openxmlformats.org/officeDocument/2006/relationships/image" Target="../media/image63.png"/><Relationship Id="rId4" Type="http://schemas.openxmlformats.org/officeDocument/2006/relationships/image" Target="../media/image14.png"/><Relationship Id="rId9" Type="http://schemas.openxmlformats.org/officeDocument/2006/relationships/image" Target="../media/image6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10" Type="http://schemas.openxmlformats.org/officeDocument/2006/relationships/image" Target="../media/image67.png"/><Relationship Id="rId4" Type="http://schemas.openxmlformats.org/officeDocument/2006/relationships/image" Target="../media/image12.png"/><Relationship Id="rId9" Type="http://schemas.openxmlformats.org/officeDocument/2006/relationships/image" Target="../media/image66.png"/></Relationships>
</file>

<file path=ppt/slides/_rels/slide6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8.jpg"/><Relationship Id="rId5" Type="http://schemas.openxmlformats.org/officeDocument/2006/relationships/image" Target="../media/image60.png"/><Relationship Id="rId10" Type="http://schemas.openxmlformats.org/officeDocument/2006/relationships/image" Target="../media/image67.png"/><Relationship Id="rId4" Type="http://schemas.openxmlformats.org/officeDocument/2006/relationships/image" Target="../media/image12.png"/><Relationship Id="rId9" Type="http://schemas.openxmlformats.org/officeDocument/2006/relationships/image" Target="../media/image66.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83" name="Rectangle 11"/>
          <p:cNvSpPr>
            <a:spLocks noChangeArrowheads="1"/>
          </p:cNvSpPr>
          <p:nvPr/>
        </p:nvSpPr>
        <p:spPr bwMode="auto">
          <a:xfrm>
            <a:off x="2843213" y="1254125"/>
            <a:ext cx="2324354" cy="461665"/>
          </a:xfrm>
          <a:prstGeom prst="rect">
            <a:avLst/>
          </a:prstGeom>
          <a:noFill/>
          <a:ln w="9525" algn="ctr">
            <a:noFill/>
            <a:miter lim="800000"/>
            <a:headEnd/>
            <a:tailEnd/>
          </a:ln>
          <a:effectLst/>
        </p:spPr>
        <p:txBody>
          <a:bodyPr wrap="none">
            <a:spAutoFit/>
          </a:bodyPr>
          <a:lstStyle/>
          <a:p>
            <a:r>
              <a:rPr lang="en-AU" sz="2400" dirty="0">
                <a:solidFill>
                  <a:srgbClr val="000099"/>
                </a:solidFill>
                <a:latin typeface="Arial" charset="0"/>
              </a:rPr>
              <a:t>Appendix A &amp; C</a:t>
            </a:r>
            <a:endParaRPr lang="en-GB" sz="2400" dirty="0">
              <a:solidFill>
                <a:srgbClr val="000099"/>
              </a:solidFill>
              <a:latin typeface="Arial" charset="0"/>
            </a:endParaRPr>
          </a:p>
        </p:txBody>
      </p:sp>
      <p:sp>
        <p:nvSpPr>
          <p:cNvPr id="233484" name="Rectangle 12"/>
          <p:cNvSpPr>
            <a:spLocks noChangeArrowheads="1"/>
          </p:cNvSpPr>
          <p:nvPr/>
        </p:nvSpPr>
        <p:spPr bwMode="auto">
          <a:xfrm>
            <a:off x="2843213" y="2060575"/>
            <a:ext cx="5832475" cy="523220"/>
          </a:xfrm>
          <a:prstGeom prst="rect">
            <a:avLst/>
          </a:prstGeom>
          <a:noFill/>
          <a:ln w="9525" algn="ctr">
            <a:noFill/>
            <a:miter lim="800000"/>
            <a:headEnd/>
            <a:tailEnd/>
          </a:ln>
          <a:effectLst/>
        </p:spPr>
        <p:txBody>
          <a:bodyPr>
            <a:spAutoFit/>
          </a:bodyPr>
          <a:lstStyle/>
          <a:p>
            <a:pPr algn="ctr">
              <a:lnSpc>
                <a:spcPct val="100000"/>
              </a:lnSpc>
              <a:spcBef>
                <a:spcPts val="100"/>
              </a:spcBef>
            </a:pPr>
            <a:r>
              <a:rPr lang="en-US" sz="2800" dirty="0">
                <a:solidFill>
                  <a:srgbClr val="0332B7"/>
                </a:solidFill>
                <a:latin typeface="Arial MT"/>
                <a:cs typeface="Arial MT"/>
              </a:rPr>
              <a:t>MIPS</a:t>
            </a:r>
            <a:r>
              <a:rPr lang="en-US" sz="2800" spc="-114" dirty="0">
                <a:solidFill>
                  <a:srgbClr val="0332B7"/>
                </a:solidFill>
                <a:latin typeface="Arial MT"/>
                <a:cs typeface="Arial MT"/>
              </a:rPr>
              <a:t> </a:t>
            </a:r>
            <a:r>
              <a:rPr lang="en-US" sz="2800" dirty="0">
                <a:solidFill>
                  <a:srgbClr val="0332B7"/>
                </a:solidFill>
                <a:latin typeface="Arial MT"/>
                <a:cs typeface="Arial MT"/>
              </a:rPr>
              <a:t>ISA</a:t>
            </a:r>
            <a:r>
              <a:rPr lang="en-US" sz="2800" spc="-110" dirty="0">
                <a:solidFill>
                  <a:srgbClr val="0332B7"/>
                </a:solidFill>
                <a:latin typeface="Arial MT"/>
                <a:cs typeface="Arial MT"/>
              </a:rPr>
              <a:t> </a:t>
            </a:r>
            <a:r>
              <a:rPr lang="en-US" sz="2800" dirty="0">
                <a:solidFill>
                  <a:srgbClr val="0332B7"/>
                </a:solidFill>
                <a:latin typeface="Arial MT"/>
                <a:cs typeface="Arial MT"/>
              </a:rPr>
              <a:t>&amp;</a:t>
            </a:r>
            <a:r>
              <a:rPr lang="en-US" sz="2800" spc="-114" dirty="0">
                <a:solidFill>
                  <a:srgbClr val="0332B7"/>
                </a:solidFill>
                <a:latin typeface="Arial MT"/>
                <a:cs typeface="Arial MT"/>
              </a:rPr>
              <a:t> </a:t>
            </a:r>
            <a:r>
              <a:rPr lang="en-US" sz="2800" spc="-20" dirty="0">
                <a:solidFill>
                  <a:srgbClr val="0332B7"/>
                </a:solidFill>
                <a:latin typeface="Arial MT"/>
                <a:cs typeface="Arial MT"/>
              </a:rPr>
              <a:t>Instruction</a:t>
            </a:r>
            <a:r>
              <a:rPr lang="en-US" sz="2800" spc="-105" dirty="0">
                <a:solidFill>
                  <a:srgbClr val="0332B7"/>
                </a:solidFill>
                <a:latin typeface="Arial MT"/>
                <a:cs typeface="Arial MT"/>
              </a:rPr>
              <a:t> </a:t>
            </a:r>
            <a:r>
              <a:rPr lang="en-US" sz="2800" spc="-10" dirty="0">
                <a:solidFill>
                  <a:srgbClr val="0332B7"/>
                </a:solidFill>
                <a:latin typeface="Arial MT"/>
                <a:cs typeface="Arial MT"/>
              </a:rPr>
              <a:t>Processing</a:t>
            </a:r>
            <a:endParaRPr lang="en-US" sz="2800" dirty="0">
              <a:latin typeface="Arial MT"/>
              <a:cs typeface="Arial MT"/>
            </a:endParaRPr>
          </a:p>
        </p:txBody>
      </p:sp>
      <p:sp>
        <p:nvSpPr>
          <p:cNvPr id="233485" name="Text Box 13"/>
          <p:cNvSpPr txBox="1">
            <a:spLocks noChangeArrowheads="1"/>
          </p:cNvSpPr>
          <p:nvPr/>
        </p:nvSpPr>
        <p:spPr bwMode="auto">
          <a:xfrm>
            <a:off x="3299585" y="-100013"/>
            <a:ext cx="3481466" cy="830997"/>
          </a:xfrm>
          <a:prstGeom prst="rect">
            <a:avLst/>
          </a:prstGeom>
          <a:noFill/>
          <a:ln w="9525" algn="ctr">
            <a:noFill/>
            <a:miter lim="800000"/>
            <a:headEnd/>
            <a:tailEnd/>
          </a:ln>
          <a:effectLst/>
        </p:spPr>
        <p:txBody>
          <a:bodyPr wrap="none">
            <a:spAutoFit/>
          </a:bodyPr>
          <a:lstStyle/>
          <a:p>
            <a:pPr algn="ctr"/>
            <a:r>
              <a:rPr lang="en-US" sz="2800" dirty="0">
                <a:solidFill>
                  <a:schemeClr val="bg1"/>
                </a:solidFill>
                <a:latin typeface="Times New Roman" pitchFamily="18" charset="0"/>
              </a:rPr>
              <a:t>Computer Architecture</a:t>
            </a:r>
          </a:p>
          <a:p>
            <a:pPr algn="ctr"/>
            <a:r>
              <a:rPr lang="en-US" sz="2000" dirty="0">
                <a:solidFill>
                  <a:schemeClr val="bg1"/>
                </a:solidFill>
                <a:latin typeface="Arial" charset="0"/>
              </a:rPr>
              <a:t>A Quantitative Approach</a:t>
            </a:r>
            <a:endParaRPr lang="en-GB" sz="2000" dirty="0">
              <a:solidFill>
                <a:schemeClr val="bg1"/>
              </a:solidFill>
              <a:latin typeface="Arial" charset="0"/>
            </a:endParaRPr>
          </a:p>
        </p:txBody>
      </p:sp>
      <p:pic>
        <p:nvPicPr>
          <p:cNvPr id="3" name="Picture 2" descr="A book cover of a computer architecture&#10;&#10;AI-generated content may be incorrect.">
            <a:extLst>
              <a:ext uri="{FF2B5EF4-FFF2-40B4-BE49-F238E27FC236}">
                <a16:creationId xmlns:a16="http://schemas.microsoft.com/office/drawing/2014/main" id="{C8AD8ECF-BB96-6B99-D501-645D3AF2CE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3806512"/>
            <a:ext cx="1894513" cy="23155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44419" y="2377028"/>
            <a:ext cx="4947397" cy="1447606"/>
          </a:xfrm>
          <a:prstGeom prst="rect">
            <a:avLst/>
          </a:prstGeom>
        </p:spPr>
        <p:txBody>
          <a:bodyPr vert="horz" wrap="square" lIns="0" tIns="11206" rIns="0" bIns="0" rtlCol="0" anchor="ctr">
            <a:spAutoFit/>
          </a:bodyPr>
          <a:lstStyle/>
          <a:p>
            <a:pPr marL="11206">
              <a:lnSpc>
                <a:spcPts val="4487"/>
              </a:lnSpc>
              <a:spcBef>
                <a:spcPts val="88"/>
              </a:spcBef>
            </a:pPr>
            <a:r>
              <a:rPr sz="3794" b="1" dirty="0">
                <a:latin typeface="Arial"/>
                <a:cs typeface="Arial"/>
              </a:rPr>
              <a:t>MIPS</a:t>
            </a:r>
            <a:r>
              <a:rPr sz="3794" b="1" spc="-84" dirty="0">
                <a:latin typeface="Arial"/>
                <a:cs typeface="Arial"/>
              </a:rPr>
              <a:t> </a:t>
            </a:r>
            <a:r>
              <a:rPr sz="3794" b="1" dirty="0">
                <a:latin typeface="Arial"/>
                <a:cs typeface="Arial"/>
              </a:rPr>
              <a:t>ISA</a:t>
            </a:r>
            <a:r>
              <a:rPr sz="3794" b="1" spc="-79" dirty="0">
                <a:latin typeface="Arial"/>
                <a:cs typeface="Arial"/>
              </a:rPr>
              <a:t> </a:t>
            </a:r>
            <a:r>
              <a:rPr sz="3794" b="1" dirty="0">
                <a:latin typeface="Arial"/>
                <a:cs typeface="Arial"/>
              </a:rPr>
              <a:t>&amp;</a:t>
            </a:r>
            <a:r>
              <a:rPr sz="3794" b="1" spc="-84" dirty="0">
                <a:latin typeface="Arial"/>
                <a:cs typeface="Arial"/>
              </a:rPr>
              <a:t> </a:t>
            </a:r>
            <a:r>
              <a:rPr sz="3794" b="1" spc="-9" dirty="0">
                <a:latin typeface="Arial"/>
                <a:cs typeface="Arial"/>
              </a:rPr>
              <a:t>PIPELINING</a:t>
            </a:r>
            <a:endParaRPr sz="3794" dirty="0">
              <a:latin typeface="Arial"/>
              <a:cs typeface="Arial"/>
            </a:endParaRPr>
          </a:p>
          <a:p>
            <a:pPr marL="11206">
              <a:lnSpc>
                <a:spcPts val="2157"/>
              </a:lnSpc>
            </a:pPr>
            <a:r>
              <a:rPr sz="1853" b="1" dirty="0">
                <a:latin typeface="Arial"/>
                <a:cs typeface="Arial"/>
              </a:rPr>
              <a:t>-</a:t>
            </a:r>
            <a:r>
              <a:rPr sz="1853" b="1" spc="75" dirty="0">
                <a:latin typeface="Arial"/>
                <a:cs typeface="Arial"/>
              </a:rPr>
              <a:t> </a:t>
            </a:r>
            <a:r>
              <a:rPr sz="1853" b="1" dirty="0">
                <a:latin typeface="Arial"/>
                <a:cs typeface="Arial"/>
              </a:rPr>
              <a:t>CHAPTER</a:t>
            </a:r>
            <a:r>
              <a:rPr sz="1853" b="1" spc="97" dirty="0">
                <a:latin typeface="Arial"/>
                <a:cs typeface="Arial"/>
              </a:rPr>
              <a:t> </a:t>
            </a:r>
            <a:r>
              <a:rPr sz="1853" b="1" dirty="0">
                <a:latin typeface="Arial"/>
                <a:cs typeface="Arial"/>
              </a:rPr>
              <a:t>1,</a:t>
            </a:r>
            <a:r>
              <a:rPr sz="1853" b="1" spc="71" dirty="0">
                <a:latin typeface="Arial"/>
                <a:cs typeface="Arial"/>
              </a:rPr>
              <a:t> </a:t>
            </a:r>
            <a:r>
              <a:rPr sz="1853" b="1" dirty="0">
                <a:latin typeface="Arial"/>
                <a:cs typeface="Arial"/>
              </a:rPr>
              <a:t>APPENDIX</a:t>
            </a:r>
            <a:r>
              <a:rPr sz="1853" b="1" spc="93" dirty="0">
                <a:latin typeface="Arial"/>
                <a:cs typeface="Arial"/>
              </a:rPr>
              <a:t> </a:t>
            </a:r>
            <a:r>
              <a:rPr sz="1853" b="1" spc="-22" dirty="0">
                <a:latin typeface="Arial"/>
                <a:cs typeface="Arial"/>
              </a:rPr>
              <a:t>A</a:t>
            </a:r>
            <a:r>
              <a:rPr lang="en-US" sz="1853" b="1" spc="-22" dirty="0">
                <a:latin typeface="Arial"/>
                <a:cs typeface="Arial"/>
              </a:rPr>
              <a:t> </a:t>
            </a:r>
            <a:r>
              <a:rPr sz="1853" b="1" spc="-22" dirty="0">
                <a:latin typeface="Arial"/>
                <a:cs typeface="Arial"/>
              </a:rPr>
              <a:t>/</a:t>
            </a:r>
            <a:r>
              <a:rPr lang="en-US" sz="1853" b="1" spc="-22" dirty="0">
                <a:latin typeface="Arial"/>
                <a:cs typeface="Arial"/>
              </a:rPr>
              <a:t> </a:t>
            </a:r>
            <a:r>
              <a:rPr sz="1853" b="1" spc="-22" dirty="0">
                <a:latin typeface="Arial"/>
                <a:cs typeface="Arial"/>
              </a:rPr>
              <a:t>C</a:t>
            </a:r>
            <a:endParaRPr sz="1853" dirty="0">
              <a:latin typeface="Arial"/>
              <a:cs typeface="Arial"/>
            </a:endParaRPr>
          </a:p>
        </p:txBody>
      </p:sp>
      <p:sp>
        <p:nvSpPr>
          <p:cNvPr id="6" name="Slide Number Placeholder 5">
            <a:extLst>
              <a:ext uri="{FF2B5EF4-FFF2-40B4-BE49-F238E27FC236}">
                <a16:creationId xmlns:a16="http://schemas.microsoft.com/office/drawing/2014/main" id="{CF6B8623-3501-A0A3-9486-01CFE3F5AD7F}"/>
              </a:ext>
            </a:extLst>
          </p:cNvPr>
          <p:cNvSpPr>
            <a:spLocks noGrp="1"/>
          </p:cNvSpPr>
          <p:nvPr>
            <p:ph type="sldNum" sz="quarter" idx="7"/>
          </p:nvPr>
        </p:nvSpPr>
        <p:spPr/>
        <p:txBody>
          <a:bodyPr/>
          <a:lstStyle/>
          <a:p>
            <a:pPr marL="11206">
              <a:lnSpc>
                <a:spcPts val="1747"/>
              </a:lnSpc>
            </a:pPr>
            <a:fld id="{81D60167-4931-47E6-BA6A-407CBD079E47}" type="slidenum">
              <a:rPr lang="en-US" spc="-22" smtClean="0"/>
              <a:pPr marL="11206">
                <a:lnSpc>
                  <a:spcPts val="1747"/>
                </a:lnSpc>
              </a:pPr>
              <a:t>2</a:t>
            </a:fld>
            <a:endParaRPr lang="en-US" spc="-2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3377" y="670487"/>
            <a:ext cx="6814638" cy="472980"/>
          </a:xfrm>
          <a:prstGeom prst="rect">
            <a:avLst/>
          </a:prstGeom>
        </p:spPr>
        <p:txBody>
          <a:bodyPr vert="horz" wrap="square" lIns="0" tIns="11206" rIns="0" bIns="0" rtlCol="0" anchor="ctr">
            <a:spAutoFit/>
          </a:bodyPr>
          <a:lstStyle/>
          <a:p>
            <a:pPr marL="11206">
              <a:lnSpc>
                <a:spcPct val="100000"/>
              </a:lnSpc>
              <a:spcBef>
                <a:spcPts val="88"/>
              </a:spcBef>
            </a:pPr>
            <a:r>
              <a:rPr lang="en-US" spc="-9" dirty="0">
                <a:latin typeface="Calibri"/>
                <a:cs typeface="Calibri"/>
              </a:rPr>
              <a:t>Outline</a:t>
            </a:r>
          </a:p>
        </p:txBody>
      </p:sp>
      <p:sp>
        <p:nvSpPr>
          <p:cNvPr id="5" name="Slide Number Placeholder 4">
            <a:extLst>
              <a:ext uri="{FF2B5EF4-FFF2-40B4-BE49-F238E27FC236}">
                <a16:creationId xmlns:a16="http://schemas.microsoft.com/office/drawing/2014/main" id="{70FC544B-ED12-40D0-22F7-CA4EE6FFEA28}"/>
              </a:ext>
            </a:extLst>
          </p:cNvPr>
          <p:cNvSpPr>
            <a:spLocks noGrp="1"/>
          </p:cNvSpPr>
          <p:nvPr>
            <p:ph type="sldNum" sz="quarter" idx="7"/>
          </p:nvPr>
        </p:nvSpPr>
        <p:spPr/>
        <p:txBody>
          <a:bodyPr/>
          <a:lstStyle/>
          <a:p>
            <a:fld id="{4FE321F0-2018-4E50-8BB3-A5631EBD98DD}" type="slidenum">
              <a:rPr lang="en-US" sz="1500" smtClean="0">
                <a:solidFill>
                  <a:schemeClr val="tx1"/>
                </a:solidFill>
                <a:latin typeface="Arial MT"/>
              </a:rPr>
              <a:t>3</a:t>
            </a:fld>
            <a:endParaRPr lang="en-US" sz="1500" dirty="0">
              <a:solidFill>
                <a:schemeClr val="tx1"/>
              </a:solidFill>
              <a:latin typeface="Arial MT"/>
            </a:endParaRPr>
          </a:p>
        </p:txBody>
      </p:sp>
      <p:sp>
        <p:nvSpPr>
          <p:cNvPr id="3" name="object 3"/>
          <p:cNvSpPr txBox="1"/>
          <p:nvPr/>
        </p:nvSpPr>
        <p:spPr>
          <a:xfrm>
            <a:off x="833378" y="1235785"/>
            <a:ext cx="6814638" cy="3046423"/>
          </a:xfrm>
          <a:prstGeom prst="rect">
            <a:avLst/>
          </a:prstGeom>
        </p:spPr>
        <p:txBody>
          <a:bodyPr vert="horz" wrap="square" lIns="0" tIns="75640" rIns="0" bIns="0" rtlCol="0">
            <a:spAutoFit/>
          </a:bodyPr>
          <a:lstStyle/>
          <a:p>
            <a:pPr marL="279602" indent="-268395">
              <a:spcBef>
                <a:spcPts val="596"/>
              </a:spcBef>
              <a:buChar char="•"/>
              <a:tabLst>
                <a:tab pos="279602" algn="l"/>
              </a:tabLst>
            </a:pPr>
            <a:r>
              <a:rPr lang="en-US" sz="2400" dirty="0">
                <a:latin typeface="Calibri"/>
                <a:cs typeface="Calibri"/>
              </a:rPr>
              <a:t>MIPS</a:t>
            </a:r>
            <a:r>
              <a:rPr lang="en-US" sz="2400" spc="-79" dirty="0">
                <a:latin typeface="Calibri"/>
                <a:cs typeface="Calibri"/>
              </a:rPr>
              <a:t> </a:t>
            </a:r>
            <a:r>
              <a:rPr lang="en-US" sz="2400" dirty="0">
                <a:latin typeface="Calibri"/>
                <a:cs typeface="Calibri"/>
              </a:rPr>
              <a:t>–</a:t>
            </a:r>
            <a:r>
              <a:rPr lang="en-US" sz="2400" spc="-71" dirty="0">
                <a:latin typeface="Calibri"/>
                <a:cs typeface="Calibri"/>
              </a:rPr>
              <a:t> </a:t>
            </a:r>
            <a:r>
              <a:rPr lang="en-US" sz="2400" dirty="0">
                <a:latin typeface="Calibri"/>
                <a:cs typeface="Calibri"/>
              </a:rPr>
              <a:t>An</a:t>
            </a:r>
            <a:r>
              <a:rPr lang="en-US" sz="2400" spc="-75" dirty="0">
                <a:latin typeface="Calibri"/>
                <a:cs typeface="Calibri"/>
              </a:rPr>
              <a:t> </a:t>
            </a:r>
            <a:r>
              <a:rPr lang="en-US" sz="2400" dirty="0">
                <a:latin typeface="Calibri"/>
                <a:cs typeface="Calibri"/>
              </a:rPr>
              <a:t>ISA</a:t>
            </a:r>
            <a:r>
              <a:rPr lang="en-US" sz="2400" spc="-79" dirty="0">
                <a:latin typeface="Calibri"/>
                <a:cs typeface="Calibri"/>
              </a:rPr>
              <a:t> </a:t>
            </a:r>
            <a:r>
              <a:rPr lang="en-US" sz="2400" dirty="0">
                <a:latin typeface="Calibri"/>
                <a:cs typeface="Calibri"/>
              </a:rPr>
              <a:t>for</a:t>
            </a:r>
            <a:r>
              <a:rPr lang="en-US" sz="2400" spc="-71" dirty="0">
                <a:latin typeface="Calibri"/>
                <a:cs typeface="Calibri"/>
              </a:rPr>
              <a:t> </a:t>
            </a:r>
            <a:r>
              <a:rPr lang="en-US" sz="2400" spc="-9" dirty="0">
                <a:latin typeface="Calibri"/>
                <a:cs typeface="Calibri"/>
              </a:rPr>
              <a:t>Pipelining</a:t>
            </a:r>
            <a:endParaRPr lang="en-US" sz="2400" dirty="0">
              <a:latin typeface="Calibri"/>
              <a:cs typeface="Calibri"/>
            </a:endParaRPr>
          </a:p>
          <a:p>
            <a:pPr marL="279602" indent="-268395">
              <a:spcBef>
                <a:spcPts val="507"/>
              </a:spcBef>
              <a:buChar char="•"/>
              <a:tabLst>
                <a:tab pos="279602" algn="l"/>
              </a:tabLst>
            </a:pPr>
            <a:r>
              <a:rPr lang="en-US" sz="2400" dirty="0">
                <a:latin typeface="Calibri"/>
                <a:cs typeface="Calibri"/>
              </a:rPr>
              <a:t>5</a:t>
            </a:r>
            <a:r>
              <a:rPr lang="en-US" sz="2400" spc="-84" dirty="0">
                <a:latin typeface="Calibri"/>
                <a:cs typeface="Calibri"/>
              </a:rPr>
              <a:t> </a:t>
            </a:r>
            <a:r>
              <a:rPr lang="en-US" sz="2400" dirty="0">
                <a:latin typeface="Calibri"/>
                <a:cs typeface="Calibri"/>
              </a:rPr>
              <a:t>stage</a:t>
            </a:r>
            <a:r>
              <a:rPr lang="en-US" sz="2400" spc="-75" dirty="0">
                <a:latin typeface="Calibri"/>
                <a:cs typeface="Calibri"/>
              </a:rPr>
              <a:t> </a:t>
            </a:r>
            <a:r>
              <a:rPr lang="en-US" sz="2400" spc="-9" dirty="0">
                <a:latin typeface="Calibri"/>
                <a:cs typeface="Calibri"/>
              </a:rPr>
              <a:t>pipelining</a:t>
            </a:r>
            <a:endParaRPr lang="en-US" sz="2400" dirty="0">
              <a:latin typeface="Calibri"/>
              <a:cs typeface="Calibri"/>
            </a:endParaRPr>
          </a:p>
          <a:p>
            <a:pPr marL="279602" indent="-268395">
              <a:spcBef>
                <a:spcPts val="507"/>
              </a:spcBef>
              <a:buChar char="•"/>
              <a:tabLst>
                <a:tab pos="279602" algn="l"/>
              </a:tabLst>
            </a:pPr>
            <a:r>
              <a:rPr lang="en-US" sz="2400" spc="-18" dirty="0">
                <a:latin typeface="Calibri"/>
                <a:cs typeface="Calibri"/>
              </a:rPr>
              <a:t>Structural</a:t>
            </a:r>
            <a:r>
              <a:rPr lang="en-US" sz="2400" spc="-84" dirty="0">
                <a:latin typeface="Calibri"/>
                <a:cs typeface="Calibri"/>
              </a:rPr>
              <a:t> </a:t>
            </a:r>
            <a:r>
              <a:rPr lang="en-US" sz="2400" dirty="0">
                <a:latin typeface="Calibri"/>
                <a:cs typeface="Calibri"/>
              </a:rPr>
              <a:t>and</a:t>
            </a:r>
            <a:r>
              <a:rPr lang="en-US" sz="2400" spc="-79" dirty="0">
                <a:latin typeface="Calibri"/>
                <a:cs typeface="Calibri"/>
              </a:rPr>
              <a:t> </a:t>
            </a:r>
            <a:r>
              <a:rPr lang="en-US" sz="2400" spc="-9" dirty="0">
                <a:latin typeface="Calibri"/>
                <a:cs typeface="Calibri"/>
              </a:rPr>
              <a:t>Data</a:t>
            </a:r>
            <a:r>
              <a:rPr lang="en-US" sz="2400" spc="-84" dirty="0">
                <a:latin typeface="Calibri"/>
                <a:cs typeface="Calibri"/>
              </a:rPr>
              <a:t> </a:t>
            </a:r>
            <a:r>
              <a:rPr lang="en-US" sz="2400" spc="-9" dirty="0">
                <a:latin typeface="Calibri"/>
                <a:cs typeface="Calibri"/>
              </a:rPr>
              <a:t>Hazards</a:t>
            </a:r>
            <a:endParaRPr lang="en-US" sz="2400" dirty="0">
              <a:latin typeface="Calibri"/>
              <a:cs typeface="Calibri"/>
            </a:endParaRPr>
          </a:p>
          <a:p>
            <a:pPr marL="279602" indent="-268395">
              <a:spcBef>
                <a:spcPts val="529"/>
              </a:spcBef>
              <a:buChar char="•"/>
              <a:tabLst>
                <a:tab pos="279602" algn="l"/>
              </a:tabLst>
            </a:pPr>
            <a:r>
              <a:rPr lang="en-US" sz="2400" spc="-9" dirty="0">
                <a:latin typeface="Calibri"/>
                <a:cs typeface="Calibri"/>
              </a:rPr>
              <a:t>Forwarding</a:t>
            </a:r>
            <a:endParaRPr lang="en-US" sz="2400" dirty="0">
              <a:latin typeface="Calibri"/>
              <a:cs typeface="Calibri"/>
            </a:endParaRPr>
          </a:p>
          <a:p>
            <a:pPr marL="279602" indent="-268395">
              <a:spcBef>
                <a:spcPts val="507"/>
              </a:spcBef>
              <a:buChar char="•"/>
              <a:tabLst>
                <a:tab pos="279602" algn="l"/>
              </a:tabLst>
            </a:pPr>
            <a:r>
              <a:rPr lang="en-US" sz="2400" spc="-9" dirty="0">
                <a:latin typeface="Calibri"/>
                <a:cs typeface="Calibri"/>
              </a:rPr>
              <a:t>Branch</a:t>
            </a:r>
            <a:r>
              <a:rPr lang="en-US" sz="2400" spc="-115" dirty="0">
                <a:latin typeface="Calibri"/>
                <a:cs typeface="Calibri"/>
              </a:rPr>
              <a:t> </a:t>
            </a:r>
            <a:r>
              <a:rPr lang="en-US" sz="2400" spc="-9" dirty="0">
                <a:latin typeface="Calibri"/>
                <a:cs typeface="Calibri"/>
              </a:rPr>
              <a:t>Schemes</a:t>
            </a:r>
            <a:endParaRPr lang="en-US" sz="2400" dirty="0">
              <a:latin typeface="Calibri"/>
              <a:cs typeface="Calibri"/>
            </a:endParaRPr>
          </a:p>
          <a:p>
            <a:pPr marL="279602" indent="-268395">
              <a:spcBef>
                <a:spcPts val="512"/>
              </a:spcBef>
              <a:buChar char="•"/>
              <a:tabLst>
                <a:tab pos="279602" algn="l"/>
              </a:tabLst>
            </a:pPr>
            <a:r>
              <a:rPr lang="en-US" sz="2400" spc="-18" dirty="0">
                <a:latin typeface="Calibri"/>
                <a:cs typeface="Calibri"/>
              </a:rPr>
              <a:t>Exceptions</a:t>
            </a:r>
            <a:r>
              <a:rPr lang="en-US" sz="2400" spc="-79" dirty="0">
                <a:latin typeface="Calibri"/>
                <a:cs typeface="Calibri"/>
              </a:rPr>
              <a:t> </a:t>
            </a:r>
            <a:r>
              <a:rPr lang="en-US" sz="2400" dirty="0">
                <a:latin typeface="Calibri"/>
                <a:cs typeface="Calibri"/>
              </a:rPr>
              <a:t>and</a:t>
            </a:r>
            <a:r>
              <a:rPr lang="en-US" sz="2400" spc="-75" dirty="0">
                <a:latin typeface="Calibri"/>
                <a:cs typeface="Calibri"/>
              </a:rPr>
              <a:t> </a:t>
            </a:r>
            <a:r>
              <a:rPr lang="en-US" sz="2400" spc="-9" dirty="0">
                <a:latin typeface="Calibri"/>
                <a:cs typeface="Calibri"/>
              </a:rPr>
              <a:t>Interrupts</a:t>
            </a:r>
            <a:endParaRPr lang="en-US" sz="2400" dirty="0">
              <a:latin typeface="Calibri"/>
              <a:cs typeface="Calibri"/>
            </a:endParaRPr>
          </a:p>
          <a:p>
            <a:pPr marL="279602" indent="-268395">
              <a:spcBef>
                <a:spcPts val="507"/>
              </a:spcBef>
              <a:buChar char="•"/>
              <a:tabLst>
                <a:tab pos="279602" algn="l"/>
              </a:tabLst>
            </a:pPr>
            <a:r>
              <a:rPr lang="en-US" sz="2400" spc="-9" dirty="0">
                <a:latin typeface="Calibri"/>
                <a:cs typeface="Calibri"/>
              </a:rPr>
              <a:t>Conclusion</a:t>
            </a:r>
            <a:endParaRPr lang="en-US" sz="24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8101" y="655099"/>
            <a:ext cx="6779914" cy="503758"/>
          </a:xfrm>
          <a:prstGeom prst="rect">
            <a:avLst/>
          </a:prstGeom>
        </p:spPr>
        <p:txBody>
          <a:bodyPr vert="horz" wrap="square" lIns="0" tIns="11206" rIns="0" bIns="0" rtlCol="0" anchor="ctr">
            <a:spAutoFit/>
          </a:bodyPr>
          <a:lstStyle/>
          <a:p>
            <a:pPr marL="11206">
              <a:lnSpc>
                <a:spcPct val="100000"/>
              </a:lnSpc>
              <a:spcBef>
                <a:spcPts val="88"/>
              </a:spcBef>
            </a:pPr>
            <a:r>
              <a:rPr lang="en-US" sz="3200" dirty="0">
                <a:latin typeface="Calibri"/>
                <a:cs typeface="Calibri"/>
              </a:rPr>
              <a:t>A</a:t>
            </a:r>
            <a:r>
              <a:rPr lang="en-US" sz="3200" spc="9" dirty="0">
                <a:latin typeface="Calibri"/>
                <a:cs typeface="Calibri"/>
              </a:rPr>
              <a:t> </a:t>
            </a:r>
            <a:r>
              <a:rPr lang="en-US" sz="3200" dirty="0">
                <a:latin typeface="Calibri"/>
                <a:cs typeface="Calibri"/>
              </a:rPr>
              <a:t>"Typical"</a:t>
            </a:r>
            <a:r>
              <a:rPr lang="en-US" sz="3200" spc="13" dirty="0">
                <a:latin typeface="Calibri"/>
                <a:cs typeface="Calibri"/>
              </a:rPr>
              <a:t> </a:t>
            </a:r>
            <a:r>
              <a:rPr lang="en-US" sz="3200" dirty="0">
                <a:latin typeface="Calibri"/>
                <a:cs typeface="Calibri"/>
              </a:rPr>
              <a:t>RISC</a:t>
            </a:r>
            <a:r>
              <a:rPr lang="en-US" sz="3200" spc="18" dirty="0">
                <a:latin typeface="Calibri"/>
                <a:cs typeface="Calibri"/>
              </a:rPr>
              <a:t> </a:t>
            </a:r>
            <a:r>
              <a:rPr lang="en-US" sz="3200" dirty="0">
                <a:latin typeface="Calibri"/>
                <a:cs typeface="Calibri"/>
              </a:rPr>
              <a:t>ISA</a:t>
            </a:r>
            <a:r>
              <a:rPr lang="en-US" sz="3200" spc="9" dirty="0">
                <a:latin typeface="Calibri"/>
                <a:cs typeface="Calibri"/>
              </a:rPr>
              <a:t> </a:t>
            </a:r>
            <a:r>
              <a:rPr lang="en-US" sz="3200" spc="-9" dirty="0">
                <a:latin typeface="Calibri"/>
                <a:cs typeface="Calibri"/>
              </a:rPr>
              <a:t>(32-</a:t>
            </a:r>
            <a:r>
              <a:rPr lang="en-US" sz="3200" dirty="0">
                <a:latin typeface="Calibri"/>
                <a:cs typeface="Calibri"/>
              </a:rPr>
              <a:t>bit</a:t>
            </a:r>
            <a:r>
              <a:rPr lang="en-US" sz="3200" spc="13" dirty="0">
                <a:latin typeface="Calibri"/>
                <a:cs typeface="Calibri"/>
              </a:rPr>
              <a:t> </a:t>
            </a:r>
            <a:r>
              <a:rPr lang="en-US" sz="3200" spc="-9" dirty="0">
                <a:latin typeface="Calibri"/>
                <a:cs typeface="Calibri"/>
              </a:rPr>
              <a:t>version)</a:t>
            </a:r>
          </a:p>
        </p:txBody>
      </p:sp>
      <p:sp>
        <p:nvSpPr>
          <p:cNvPr id="5" name="Slide Number Placeholder 4">
            <a:extLst>
              <a:ext uri="{FF2B5EF4-FFF2-40B4-BE49-F238E27FC236}">
                <a16:creationId xmlns:a16="http://schemas.microsoft.com/office/drawing/2014/main" id="{5B70E9D3-7D5C-79B4-8ADA-FC0C629491DA}"/>
              </a:ext>
            </a:extLst>
          </p:cNvPr>
          <p:cNvSpPr>
            <a:spLocks noGrp="1"/>
          </p:cNvSpPr>
          <p:nvPr>
            <p:ph type="sldNum" sz="quarter" idx="7"/>
          </p:nvPr>
        </p:nvSpPr>
        <p:spPr/>
        <p:txBody>
          <a:bodyPr/>
          <a:lstStyle/>
          <a:p>
            <a:fld id="{4FE321F0-2018-4E50-8BB3-A5631EBD98DD}" type="slidenum">
              <a:rPr lang="en-US" smtClean="0"/>
              <a:t>4</a:t>
            </a:fld>
            <a:endParaRPr lang="en-US"/>
          </a:p>
        </p:txBody>
      </p:sp>
      <p:sp>
        <p:nvSpPr>
          <p:cNvPr id="3" name="object 3"/>
          <p:cNvSpPr txBox="1"/>
          <p:nvPr/>
        </p:nvSpPr>
        <p:spPr>
          <a:xfrm>
            <a:off x="868101" y="1235785"/>
            <a:ext cx="7500395" cy="3685059"/>
          </a:xfrm>
          <a:prstGeom prst="rect">
            <a:avLst/>
          </a:prstGeom>
        </p:spPr>
        <p:txBody>
          <a:bodyPr vert="horz" wrap="square" lIns="0" tIns="75640" rIns="0" bIns="0" rtlCol="0">
            <a:spAutoFit/>
          </a:bodyPr>
          <a:lstStyle/>
          <a:p>
            <a:pPr marL="279602" indent="-268395">
              <a:spcBef>
                <a:spcPts val="596"/>
              </a:spcBef>
              <a:buChar char="•"/>
              <a:tabLst>
                <a:tab pos="279602" algn="l"/>
              </a:tabLst>
            </a:pPr>
            <a:r>
              <a:rPr lang="en-US" sz="2400" spc="-26" dirty="0">
                <a:latin typeface="Calibri"/>
                <a:cs typeface="Calibri"/>
              </a:rPr>
              <a:t>32-</a:t>
            </a:r>
            <a:r>
              <a:rPr lang="en-US" sz="2400" dirty="0">
                <a:latin typeface="Calibri"/>
                <a:cs typeface="Calibri"/>
              </a:rPr>
              <a:t>bit</a:t>
            </a:r>
            <a:r>
              <a:rPr lang="en-US" sz="2400" spc="-71" dirty="0">
                <a:latin typeface="Calibri"/>
                <a:cs typeface="Calibri"/>
              </a:rPr>
              <a:t> </a:t>
            </a:r>
            <a:r>
              <a:rPr lang="en-US" sz="2400" dirty="0">
                <a:latin typeface="Calibri"/>
                <a:cs typeface="Calibri"/>
              </a:rPr>
              <a:t>fixed</a:t>
            </a:r>
            <a:r>
              <a:rPr lang="en-US" sz="2400" spc="-66" dirty="0">
                <a:latin typeface="Calibri"/>
                <a:cs typeface="Calibri"/>
              </a:rPr>
              <a:t> </a:t>
            </a:r>
            <a:r>
              <a:rPr lang="en-US" sz="2400" spc="-9" dirty="0">
                <a:latin typeface="Calibri"/>
                <a:cs typeface="Calibri"/>
              </a:rPr>
              <a:t>format</a:t>
            </a:r>
            <a:r>
              <a:rPr lang="en-US" sz="2400" spc="-71" dirty="0">
                <a:latin typeface="Calibri"/>
                <a:cs typeface="Calibri"/>
              </a:rPr>
              <a:t> </a:t>
            </a:r>
            <a:r>
              <a:rPr lang="en-US" sz="2400" spc="-18" dirty="0">
                <a:latin typeface="Calibri"/>
                <a:cs typeface="Calibri"/>
              </a:rPr>
              <a:t>instruction</a:t>
            </a:r>
            <a:r>
              <a:rPr lang="en-US" sz="2400" spc="-66" dirty="0">
                <a:latin typeface="Calibri"/>
                <a:cs typeface="Calibri"/>
              </a:rPr>
              <a:t> </a:t>
            </a:r>
            <a:r>
              <a:rPr lang="en-US" sz="2400" dirty="0">
                <a:latin typeface="Calibri"/>
                <a:cs typeface="Calibri"/>
              </a:rPr>
              <a:t>(only</a:t>
            </a:r>
            <a:r>
              <a:rPr lang="en-US" sz="2400" spc="-66" dirty="0">
                <a:latin typeface="Calibri"/>
                <a:cs typeface="Calibri"/>
              </a:rPr>
              <a:t> </a:t>
            </a:r>
            <a:r>
              <a:rPr lang="en-US" sz="2400" dirty="0">
                <a:latin typeface="Calibri"/>
                <a:cs typeface="Calibri"/>
              </a:rPr>
              <a:t>3</a:t>
            </a:r>
            <a:r>
              <a:rPr lang="en-US" sz="2400" spc="-75" dirty="0">
                <a:latin typeface="Calibri"/>
                <a:cs typeface="Calibri"/>
              </a:rPr>
              <a:t> </a:t>
            </a:r>
            <a:r>
              <a:rPr lang="en-US" sz="2400" spc="-18" dirty="0">
                <a:latin typeface="Calibri"/>
                <a:cs typeface="Calibri"/>
              </a:rPr>
              <a:t>formats:</a:t>
            </a:r>
            <a:r>
              <a:rPr lang="en-US" sz="2400" spc="-75" dirty="0">
                <a:latin typeface="Calibri"/>
                <a:cs typeface="Calibri"/>
              </a:rPr>
              <a:t> </a:t>
            </a:r>
            <a:r>
              <a:rPr lang="en-US" sz="2400" b="1" dirty="0">
                <a:latin typeface="Calibri"/>
                <a:cs typeface="Calibri"/>
              </a:rPr>
              <a:t>R</a:t>
            </a:r>
            <a:r>
              <a:rPr lang="en-US" sz="2400" dirty="0">
                <a:latin typeface="Calibri"/>
                <a:cs typeface="Calibri"/>
              </a:rPr>
              <a:t>,</a:t>
            </a:r>
            <a:r>
              <a:rPr lang="en-US" sz="2400" spc="-57" dirty="0">
                <a:latin typeface="Calibri"/>
                <a:cs typeface="Calibri"/>
              </a:rPr>
              <a:t> </a:t>
            </a:r>
            <a:r>
              <a:rPr lang="en-US" sz="2400" b="1" dirty="0">
                <a:latin typeface="Calibri"/>
                <a:cs typeface="Calibri"/>
              </a:rPr>
              <a:t>I</a:t>
            </a:r>
            <a:r>
              <a:rPr lang="en-US" sz="2400" dirty="0">
                <a:latin typeface="Calibri"/>
                <a:cs typeface="Calibri"/>
              </a:rPr>
              <a:t>,</a:t>
            </a:r>
            <a:r>
              <a:rPr lang="en-US" sz="2400" spc="-62" dirty="0">
                <a:latin typeface="Calibri"/>
                <a:cs typeface="Calibri"/>
              </a:rPr>
              <a:t> </a:t>
            </a:r>
            <a:r>
              <a:rPr lang="en-US" sz="2400" b="1" spc="-22" dirty="0">
                <a:latin typeface="Calibri"/>
                <a:cs typeface="Calibri"/>
              </a:rPr>
              <a:t>J</a:t>
            </a:r>
            <a:r>
              <a:rPr lang="en-US" sz="2400" spc="-22" dirty="0">
                <a:latin typeface="Calibri"/>
                <a:cs typeface="Calibri"/>
              </a:rPr>
              <a:t>)</a:t>
            </a:r>
            <a:endParaRPr lang="en-US" sz="2400" dirty="0">
              <a:latin typeface="Calibri"/>
              <a:cs typeface="Calibri"/>
            </a:endParaRPr>
          </a:p>
          <a:p>
            <a:pPr marL="279602" indent="-268395">
              <a:spcBef>
                <a:spcPts val="507"/>
              </a:spcBef>
              <a:buChar char="•"/>
              <a:tabLst>
                <a:tab pos="279602" algn="l"/>
              </a:tabLst>
            </a:pPr>
            <a:r>
              <a:rPr lang="en-US" sz="2400" dirty="0">
                <a:latin typeface="Calibri"/>
                <a:cs typeface="Calibri"/>
              </a:rPr>
              <a:t>32</a:t>
            </a:r>
            <a:r>
              <a:rPr lang="en-US" sz="2400" spc="-88" dirty="0">
                <a:latin typeface="Calibri"/>
                <a:cs typeface="Calibri"/>
              </a:rPr>
              <a:t> </a:t>
            </a:r>
            <a:r>
              <a:rPr lang="en-US" sz="2400" spc="-26" dirty="0">
                <a:latin typeface="Calibri"/>
                <a:cs typeface="Calibri"/>
              </a:rPr>
              <a:t>32-</a:t>
            </a:r>
            <a:r>
              <a:rPr lang="en-US" sz="2400" dirty="0">
                <a:latin typeface="Calibri"/>
                <a:cs typeface="Calibri"/>
              </a:rPr>
              <a:t>bit</a:t>
            </a:r>
            <a:r>
              <a:rPr lang="en-US" sz="2400" spc="-84" dirty="0">
                <a:latin typeface="Calibri"/>
                <a:cs typeface="Calibri"/>
              </a:rPr>
              <a:t> </a:t>
            </a:r>
            <a:r>
              <a:rPr lang="en-US" sz="2400" dirty="0">
                <a:latin typeface="Calibri"/>
                <a:cs typeface="Calibri"/>
              </a:rPr>
              <a:t>GPR</a:t>
            </a:r>
            <a:r>
              <a:rPr lang="en-US" sz="2400" spc="-88" dirty="0">
                <a:latin typeface="Calibri"/>
                <a:cs typeface="Calibri"/>
              </a:rPr>
              <a:t> </a:t>
            </a:r>
            <a:r>
              <a:rPr lang="en-US" sz="2400" dirty="0">
                <a:latin typeface="Calibri"/>
                <a:cs typeface="Calibri"/>
              </a:rPr>
              <a:t>(R0</a:t>
            </a:r>
            <a:r>
              <a:rPr lang="en-US" sz="2400" spc="-88" dirty="0">
                <a:latin typeface="Calibri"/>
                <a:cs typeface="Calibri"/>
              </a:rPr>
              <a:t> </a:t>
            </a:r>
            <a:r>
              <a:rPr lang="en-US" sz="2400" spc="-18" dirty="0">
                <a:latin typeface="Calibri"/>
                <a:cs typeface="Calibri"/>
              </a:rPr>
              <a:t>contains</a:t>
            </a:r>
            <a:r>
              <a:rPr lang="en-US" sz="2400" spc="-79" dirty="0">
                <a:latin typeface="Calibri"/>
                <a:cs typeface="Calibri"/>
              </a:rPr>
              <a:t> </a:t>
            </a:r>
            <a:r>
              <a:rPr lang="en-US" sz="2400" dirty="0">
                <a:latin typeface="Calibri"/>
                <a:cs typeface="Calibri"/>
              </a:rPr>
              <a:t>zero,</a:t>
            </a:r>
            <a:r>
              <a:rPr lang="en-US" sz="2400" spc="-75" dirty="0">
                <a:latin typeface="Calibri"/>
                <a:cs typeface="Calibri"/>
              </a:rPr>
              <a:t> </a:t>
            </a:r>
            <a:r>
              <a:rPr lang="en-US" sz="2400" dirty="0">
                <a:latin typeface="Calibri"/>
                <a:cs typeface="Calibri"/>
              </a:rPr>
              <a:t>DP</a:t>
            </a:r>
            <a:r>
              <a:rPr lang="en-US" sz="2400" spc="-84" dirty="0">
                <a:latin typeface="Calibri"/>
                <a:cs typeface="Calibri"/>
              </a:rPr>
              <a:t> </a:t>
            </a:r>
            <a:r>
              <a:rPr lang="en-US" sz="2400" dirty="0">
                <a:latin typeface="Calibri"/>
                <a:cs typeface="Calibri"/>
              </a:rPr>
              <a:t>takes</a:t>
            </a:r>
            <a:r>
              <a:rPr lang="en-US" sz="2400" spc="-79" dirty="0">
                <a:latin typeface="Calibri"/>
                <a:cs typeface="Calibri"/>
              </a:rPr>
              <a:t> </a:t>
            </a:r>
            <a:r>
              <a:rPr lang="en-US" sz="2400" spc="-9" dirty="0">
                <a:latin typeface="Calibri"/>
                <a:cs typeface="Calibri"/>
              </a:rPr>
              <a:t>pair)</a:t>
            </a:r>
            <a:endParaRPr lang="en-US" sz="2400" dirty="0">
              <a:latin typeface="Calibri"/>
              <a:cs typeface="Calibri"/>
            </a:endParaRPr>
          </a:p>
          <a:p>
            <a:pPr marL="279602" indent="-268395">
              <a:spcBef>
                <a:spcPts val="507"/>
              </a:spcBef>
              <a:buChar char="•"/>
              <a:tabLst>
                <a:tab pos="279602" algn="l"/>
              </a:tabLst>
            </a:pPr>
            <a:r>
              <a:rPr lang="en-US" sz="2400" spc="-26" dirty="0">
                <a:latin typeface="Calibri"/>
                <a:cs typeface="Calibri"/>
              </a:rPr>
              <a:t>3-</a:t>
            </a:r>
            <a:r>
              <a:rPr lang="en-US" sz="2400" spc="-9" dirty="0">
                <a:latin typeface="Calibri"/>
                <a:cs typeface="Calibri"/>
              </a:rPr>
              <a:t>address,</a:t>
            </a:r>
            <a:r>
              <a:rPr lang="en-US" sz="2400" spc="-71" dirty="0">
                <a:latin typeface="Calibri"/>
                <a:cs typeface="Calibri"/>
              </a:rPr>
              <a:t> </a:t>
            </a:r>
            <a:r>
              <a:rPr lang="en-US" sz="2400" spc="-26" dirty="0">
                <a:latin typeface="Calibri"/>
                <a:cs typeface="Calibri"/>
              </a:rPr>
              <a:t>register-</a:t>
            </a:r>
            <a:r>
              <a:rPr lang="en-US" sz="2400" spc="-9" dirty="0">
                <a:latin typeface="Calibri"/>
                <a:cs typeface="Calibri"/>
              </a:rPr>
              <a:t>register</a:t>
            </a:r>
            <a:r>
              <a:rPr lang="en-US" sz="2400" spc="-71" dirty="0">
                <a:latin typeface="Calibri"/>
                <a:cs typeface="Calibri"/>
              </a:rPr>
              <a:t> </a:t>
            </a:r>
            <a:r>
              <a:rPr lang="en-US" sz="2400" spc="-18" dirty="0">
                <a:latin typeface="Calibri"/>
                <a:cs typeface="Calibri"/>
              </a:rPr>
              <a:t>arithmetic</a:t>
            </a:r>
            <a:r>
              <a:rPr lang="en-US" sz="2400" spc="-79" dirty="0">
                <a:latin typeface="Calibri"/>
                <a:cs typeface="Calibri"/>
              </a:rPr>
              <a:t> </a:t>
            </a:r>
            <a:r>
              <a:rPr lang="en-US" sz="2400" spc="-9" dirty="0">
                <a:latin typeface="Calibri"/>
                <a:cs typeface="Calibri"/>
              </a:rPr>
              <a:t>instruction</a:t>
            </a:r>
            <a:endParaRPr lang="en-US" sz="2400" dirty="0">
              <a:latin typeface="Calibri"/>
              <a:cs typeface="Calibri"/>
            </a:endParaRPr>
          </a:p>
          <a:p>
            <a:pPr marL="279602" indent="-268395">
              <a:spcBef>
                <a:spcPts val="529"/>
              </a:spcBef>
              <a:buChar char="•"/>
              <a:tabLst>
                <a:tab pos="279602" algn="l"/>
              </a:tabLst>
            </a:pPr>
            <a:r>
              <a:rPr lang="en-US" sz="2400" spc="-9" dirty="0">
                <a:latin typeface="Calibri"/>
                <a:cs typeface="Calibri"/>
              </a:rPr>
              <a:t>Single</a:t>
            </a:r>
            <a:r>
              <a:rPr lang="en-US" sz="2400" spc="-93" dirty="0">
                <a:latin typeface="Calibri"/>
                <a:cs typeface="Calibri"/>
              </a:rPr>
              <a:t> </a:t>
            </a:r>
            <a:r>
              <a:rPr lang="en-US" sz="2400" spc="-9" dirty="0">
                <a:latin typeface="Calibri"/>
                <a:cs typeface="Calibri"/>
              </a:rPr>
              <a:t>address</a:t>
            </a:r>
            <a:r>
              <a:rPr lang="en-US" sz="2400" spc="-97" dirty="0">
                <a:latin typeface="Calibri"/>
                <a:cs typeface="Calibri"/>
              </a:rPr>
              <a:t> </a:t>
            </a:r>
            <a:r>
              <a:rPr lang="en-US" sz="2400" dirty="0">
                <a:latin typeface="Calibri"/>
                <a:cs typeface="Calibri"/>
              </a:rPr>
              <a:t>mode</a:t>
            </a:r>
            <a:r>
              <a:rPr lang="en-US" sz="2400" spc="-93" dirty="0">
                <a:latin typeface="Calibri"/>
                <a:cs typeface="Calibri"/>
              </a:rPr>
              <a:t> </a:t>
            </a:r>
            <a:r>
              <a:rPr lang="en-US" sz="2400" dirty="0">
                <a:latin typeface="Calibri"/>
                <a:cs typeface="Calibri"/>
              </a:rPr>
              <a:t>for</a:t>
            </a:r>
            <a:r>
              <a:rPr lang="en-US" sz="2400" spc="-88" dirty="0">
                <a:latin typeface="Calibri"/>
                <a:cs typeface="Calibri"/>
              </a:rPr>
              <a:t> </a:t>
            </a:r>
            <a:r>
              <a:rPr lang="en-US" sz="2400" spc="-9" dirty="0">
                <a:latin typeface="Calibri"/>
                <a:cs typeface="Calibri"/>
              </a:rPr>
              <a:t>load/store</a:t>
            </a:r>
            <a:endParaRPr lang="en-US" sz="2400" dirty="0">
              <a:latin typeface="Calibri"/>
              <a:cs typeface="Calibri"/>
            </a:endParaRPr>
          </a:p>
          <a:p>
            <a:pPr marL="654458" lvl="1" indent="-213483">
              <a:spcBef>
                <a:spcPts val="405"/>
              </a:spcBef>
              <a:buChar char="–"/>
              <a:tabLst>
                <a:tab pos="654458" algn="l"/>
              </a:tabLst>
            </a:pPr>
            <a:r>
              <a:rPr lang="en-US" sz="2000" dirty="0">
                <a:latin typeface="Calibri"/>
                <a:cs typeface="Calibri"/>
              </a:rPr>
              <a:t>Simply, </a:t>
            </a:r>
            <a:r>
              <a:rPr lang="en-US" sz="2000" b="1" dirty="0">
                <a:latin typeface="Calibri"/>
                <a:cs typeface="Calibri"/>
              </a:rPr>
              <a:t>base</a:t>
            </a:r>
            <a:r>
              <a:rPr lang="en-US" sz="2000" b="1" spc="-4" dirty="0">
                <a:latin typeface="Calibri"/>
                <a:cs typeface="Calibri"/>
              </a:rPr>
              <a:t> </a:t>
            </a:r>
            <a:r>
              <a:rPr lang="en-US" sz="2000" b="1" dirty="0">
                <a:latin typeface="Calibri"/>
                <a:cs typeface="Calibri"/>
              </a:rPr>
              <a:t>+</a:t>
            </a:r>
            <a:r>
              <a:rPr lang="en-US" sz="2000" b="1" spc="4" dirty="0">
                <a:latin typeface="Calibri"/>
                <a:cs typeface="Calibri"/>
              </a:rPr>
              <a:t> </a:t>
            </a:r>
            <a:r>
              <a:rPr lang="en-US" sz="2000" b="1" spc="-9" dirty="0">
                <a:latin typeface="Calibri"/>
                <a:cs typeface="Calibri"/>
              </a:rPr>
              <a:t>displacement</a:t>
            </a:r>
            <a:endParaRPr lang="en-US" sz="2000" dirty="0">
              <a:latin typeface="Calibri"/>
              <a:cs typeface="Calibri"/>
            </a:endParaRPr>
          </a:p>
          <a:p>
            <a:pPr marL="654458" lvl="1" indent="-213483">
              <a:spcBef>
                <a:spcPts val="468"/>
              </a:spcBef>
              <a:buChar char="–"/>
              <a:tabLst>
                <a:tab pos="654458" algn="l"/>
              </a:tabLst>
            </a:pPr>
            <a:r>
              <a:rPr lang="en-US" sz="2000" dirty="0">
                <a:latin typeface="Calibri"/>
                <a:cs typeface="Calibri"/>
              </a:rPr>
              <a:t>No</a:t>
            </a:r>
            <a:r>
              <a:rPr lang="en-US" sz="2000" spc="26" dirty="0">
                <a:latin typeface="Calibri"/>
                <a:cs typeface="Calibri"/>
              </a:rPr>
              <a:t> </a:t>
            </a:r>
            <a:r>
              <a:rPr lang="en-US" sz="2000" dirty="0">
                <a:latin typeface="Calibri"/>
                <a:cs typeface="Calibri"/>
              </a:rPr>
              <a:t>memory</a:t>
            </a:r>
            <a:r>
              <a:rPr lang="en-US" sz="2000" spc="26" dirty="0">
                <a:latin typeface="Calibri"/>
                <a:cs typeface="Calibri"/>
              </a:rPr>
              <a:t> </a:t>
            </a:r>
            <a:r>
              <a:rPr lang="en-US" sz="2000" dirty="0">
                <a:latin typeface="Calibri"/>
                <a:cs typeface="Calibri"/>
              </a:rPr>
              <a:t>indirection</a:t>
            </a:r>
            <a:r>
              <a:rPr lang="en-US" sz="2000" spc="31" dirty="0">
                <a:latin typeface="Calibri"/>
                <a:cs typeface="Calibri"/>
              </a:rPr>
              <a:t> </a:t>
            </a:r>
            <a:r>
              <a:rPr lang="en-US" sz="2000" dirty="0">
                <a:latin typeface="Calibri"/>
                <a:cs typeface="Calibri"/>
              </a:rPr>
              <a:t>(since</a:t>
            </a:r>
            <a:r>
              <a:rPr lang="en-US" sz="2000" spc="35" dirty="0">
                <a:latin typeface="Calibri"/>
                <a:cs typeface="Calibri"/>
              </a:rPr>
              <a:t> </a:t>
            </a:r>
            <a:r>
              <a:rPr lang="en-US" sz="2000" dirty="0">
                <a:latin typeface="Calibri"/>
                <a:cs typeface="Calibri"/>
              </a:rPr>
              <a:t>it</a:t>
            </a:r>
            <a:r>
              <a:rPr lang="en-US" sz="2000" spc="22" dirty="0">
                <a:latin typeface="Calibri"/>
                <a:cs typeface="Calibri"/>
              </a:rPr>
              <a:t> </a:t>
            </a:r>
            <a:r>
              <a:rPr lang="en-US" sz="2000" dirty="0">
                <a:latin typeface="Calibri"/>
                <a:cs typeface="Calibri"/>
              </a:rPr>
              <a:t>needs</a:t>
            </a:r>
            <a:r>
              <a:rPr lang="en-US" sz="2000" spc="18" dirty="0">
                <a:latin typeface="Calibri"/>
                <a:cs typeface="Calibri"/>
              </a:rPr>
              <a:t> </a:t>
            </a:r>
            <a:r>
              <a:rPr lang="en-US" sz="2000" dirty="0">
                <a:latin typeface="Calibri"/>
                <a:cs typeface="Calibri"/>
              </a:rPr>
              <a:t>another</a:t>
            </a:r>
            <a:r>
              <a:rPr lang="en-US" sz="2000" spc="22" dirty="0">
                <a:latin typeface="Calibri"/>
                <a:cs typeface="Calibri"/>
              </a:rPr>
              <a:t> </a:t>
            </a:r>
            <a:r>
              <a:rPr lang="en-US" sz="2000" dirty="0">
                <a:latin typeface="Calibri"/>
                <a:cs typeface="Calibri"/>
              </a:rPr>
              <a:t>memory</a:t>
            </a:r>
            <a:r>
              <a:rPr lang="en-US" sz="2000" spc="22" dirty="0">
                <a:latin typeface="Calibri"/>
                <a:cs typeface="Calibri"/>
              </a:rPr>
              <a:t> </a:t>
            </a:r>
            <a:r>
              <a:rPr lang="en-US" sz="2000" spc="-9" dirty="0">
                <a:latin typeface="Calibri"/>
                <a:cs typeface="Calibri"/>
              </a:rPr>
              <a:t>access)</a:t>
            </a:r>
            <a:endParaRPr lang="en-US" sz="2000" dirty="0">
              <a:latin typeface="Calibri"/>
              <a:cs typeface="Calibri"/>
            </a:endParaRPr>
          </a:p>
          <a:p>
            <a:pPr marL="279602" indent="-268395">
              <a:spcBef>
                <a:spcPts val="463"/>
              </a:spcBef>
              <a:buChar char="•"/>
              <a:tabLst>
                <a:tab pos="279602" algn="l"/>
              </a:tabLst>
            </a:pPr>
            <a:r>
              <a:rPr lang="en-US" sz="2400" spc="-9" dirty="0">
                <a:latin typeface="Calibri"/>
                <a:cs typeface="Calibri"/>
              </a:rPr>
              <a:t>Simple</a:t>
            </a:r>
            <a:r>
              <a:rPr lang="en-US" sz="2400" spc="-66" dirty="0">
                <a:latin typeface="Calibri"/>
                <a:cs typeface="Calibri"/>
              </a:rPr>
              <a:t> </a:t>
            </a:r>
            <a:r>
              <a:rPr lang="en-US" sz="2400" spc="-9" dirty="0">
                <a:latin typeface="Calibri"/>
                <a:cs typeface="Calibri"/>
              </a:rPr>
              <a:t>branch</a:t>
            </a:r>
            <a:r>
              <a:rPr lang="en-US" sz="2400" spc="-71" dirty="0">
                <a:latin typeface="Calibri"/>
                <a:cs typeface="Calibri"/>
              </a:rPr>
              <a:t> </a:t>
            </a:r>
            <a:r>
              <a:rPr lang="en-US" sz="2400" spc="-18" dirty="0">
                <a:latin typeface="Calibri"/>
                <a:cs typeface="Calibri"/>
              </a:rPr>
              <a:t>conditions</a:t>
            </a:r>
            <a:r>
              <a:rPr lang="en-US" sz="2400" spc="-71" dirty="0">
                <a:latin typeface="Calibri"/>
                <a:cs typeface="Calibri"/>
              </a:rPr>
              <a:t> </a:t>
            </a:r>
            <a:r>
              <a:rPr lang="en-US" sz="2400" spc="-9" dirty="0">
                <a:latin typeface="Calibri"/>
                <a:cs typeface="Calibri"/>
              </a:rPr>
              <a:t>(e.g.,</a:t>
            </a:r>
            <a:r>
              <a:rPr lang="en-US" sz="2400" spc="-62" dirty="0">
                <a:latin typeface="Calibri"/>
                <a:cs typeface="Calibri"/>
              </a:rPr>
              <a:t> </a:t>
            </a:r>
            <a:r>
              <a:rPr lang="en-US" sz="2400" spc="-26" dirty="0">
                <a:latin typeface="Calibri"/>
                <a:cs typeface="Calibri"/>
              </a:rPr>
              <a:t>single-</a:t>
            </a:r>
            <a:r>
              <a:rPr lang="en-US" sz="2400" dirty="0">
                <a:latin typeface="Calibri"/>
                <a:cs typeface="Calibri"/>
              </a:rPr>
              <a:t>bit:</a:t>
            </a:r>
            <a:r>
              <a:rPr lang="en-US" sz="2400" spc="-66" dirty="0">
                <a:latin typeface="Calibri"/>
                <a:cs typeface="Calibri"/>
              </a:rPr>
              <a:t> </a:t>
            </a:r>
            <a:r>
              <a:rPr lang="en-US" sz="2400" dirty="0">
                <a:latin typeface="Calibri"/>
                <a:cs typeface="Calibri"/>
              </a:rPr>
              <a:t>0</a:t>
            </a:r>
            <a:r>
              <a:rPr lang="en-US" sz="2400" spc="-71" dirty="0">
                <a:latin typeface="Calibri"/>
                <a:cs typeface="Calibri"/>
              </a:rPr>
              <a:t> </a:t>
            </a:r>
            <a:r>
              <a:rPr lang="en-US" sz="2400" dirty="0">
                <a:latin typeface="Calibri"/>
                <a:cs typeface="Calibri"/>
              </a:rPr>
              <a:t>or</a:t>
            </a:r>
            <a:r>
              <a:rPr lang="en-US" sz="2400" spc="-66" dirty="0">
                <a:latin typeface="Calibri"/>
                <a:cs typeface="Calibri"/>
              </a:rPr>
              <a:t> </a:t>
            </a:r>
            <a:r>
              <a:rPr lang="en-US" sz="2400" spc="-9" dirty="0">
                <a:latin typeface="Calibri"/>
                <a:cs typeface="Calibri"/>
              </a:rPr>
              <a:t>not?)</a:t>
            </a:r>
            <a:endParaRPr lang="en-US" sz="2400" dirty="0">
              <a:latin typeface="Calibri"/>
              <a:cs typeface="Calibri"/>
            </a:endParaRPr>
          </a:p>
          <a:p>
            <a:pPr marL="279602" indent="-268395">
              <a:spcBef>
                <a:spcPts val="507"/>
              </a:spcBef>
              <a:buChar char="•"/>
              <a:tabLst>
                <a:tab pos="279602" algn="l"/>
              </a:tabLst>
            </a:pPr>
            <a:r>
              <a:rPr lang="en-US" sz="2400" spc="-9" dirty="0">
                <a:latin typeface="Calibri"/>
                <a:cs typeface="Calibri"/>
              </a:rPr>
              <a:t>Delayed</a:t>
            </a:r>
            <a:r>
              <a:rPr lang="en-US" sz="2400" spc="-88" dirty="0">
                <a:latin typeface="Calibri"/>
                <a:cs typeface="Calibri"/>
              </a:rPr>
              <a:t> </a:t>
            </a:r>
            <a:r>
              <a:rPr lang="en-US" sz="2400" spc="-9" dirty="0">
                <a:latin typeface="Calibri"/>
                <a:cs typeface="Calibri"/>
              </a:rPr>
              <a:t>branch</a:t>
            </a:r>
            <a:r>
              <a:rPr lang="en-US" sz="2400" spc="-88" dirty="0">
                <a:latin typeface="Calibri"/>
                <a:cs typeface="Calibri"/>
              </a:rPr>
              <a:t> </a:t>
            </a:r>
            <a:r>
              <a:rPr lang="en-US" sz="2400" dirty="0">
                <a:latin typeface="Calibri"/>
                <a:cs typeface="Calibri"/>
              </a:rPr>
              <a:t>(helped</a:t>
            </a:r>
            <a:r>
              <a:rPr lang="en-US" sz="2400" spc="-84" dirty="0">
                <a:latin typeface="Calibri"/>
                <a:cs typeface="Calibri"/>
              </a:rPr>
              <a:t> </a:t>
            </a:r>
            <a:r>
              <a:rPr lang="en-US" sz="2400" dirty="0">
                <a:latin typeface="Calibri"/>
                <a:cs typeface="Calibri"/>
              </a:rPr>
              <a:t>by</a:t>
            </a:r>
            <a:r>
              <a:rPr lang="en-US" sz="2400" spc="-88" dirty="0">
                <a:latin typeface="Calibri"/>
                <a:cs typeface="Calibri"/>
              </a:rPr>
              <a:t> </a:t>
            </a:r>
            <a:r>
              <a:rPr lang="en-US" sz="2400" spc="-9" dirty="0">
                <a:latin typeface="Calibri"/>
                <a:cs typeface="Calibri"/>
              </a:rPr>
              <a:t>compiler)</a:t>
            </a:r>
            <a:endParaRPr lang="en-US" sz="2400" dirty="0">
              <a:latin typeface="Calibri"/>
              <a:cs typeface="Calibri"/>
            </a:endParaRPr>
          </a:p>
          <a:p>
            <a:pPr marL="654458" lvl="1" indent="-213483">
              <a:spcBef>
                <a:spcPts val="512"/>
              </a:spcBef>
              <a:buChar char="–"/>
              <a:tabLst>
                <a:tab pos="654458" algn="l"/>
              </a:tabLst>
            </a:pPr>
            <a:r>
              <a:rPr lang="en-US" sz="2000" dirty="0">
                <a:latin typeface="Calibri"/>
                <a:cs typeface="Calibri"/>
              </a:rPr>
              <a:t>ineffective</a:t>
            </a:r>
            <a:r>
              <a:rPr lang="en-US" sz="2000" spc="22" dirty="0">
                <a:latin typeface="Calibri"/>
                <a:cs typeface="Calibri"/>
              </a:rPr>
              <a:t> </a:t>
            </a:r>
            <a:r>
              <a:rPr lang="en-US" sz="2000" dirty="0">
                <a:latin typeface="Calibri"/>
                <a:cs typeface="Calibri"/>
              </a:rPr>
              <a:t>in</a:t>
            </a:r>
            <a:r>
              <a:rPr lang="en-US" sz="2000" spc="26" dirty="0">
                <a:latin typeface="Calibri"/>
                <a:cs typeface="Calibri"/>
              </a:rPr>
              <a:t> </a:t>
            </a:r>
            <a:r>
              <a:rPr lang="en-US" sz="2000" dirty="0">
                <a:latin typeface="Calibri"/>
                <a:cs typeface="Calibri"/>
              </a:rPr>
              <a:t>deep</a:t>
            </a:r>
            <a:r>
              <a:rPr lang="en-US" sz="2000" spc="26" dirty="0">
                <a:latin typeface="Calibri"/>
                <a:cs typeface="Calibri"/>
              </a:rPr>
              <a:t> </a:t>
            </a:r>
            <a:r>
              <a:rPr lang="en-US" sz="2000" dirty="0">
                <a:latin typeface="Calibri"/>
                <a:cs typeface="Calibri"/>
              </a:rPr>
              <a:t>pipelines,</a:t>
            </a:r>
            <a:r>
              <a:rPr lang="en-US" sz="2000" spc="18" dirty="0">
                <a:latin typeface="Calibri"/>
                <a:cs typeface="Calibri"/>
              </a:rPr>
              <a:t> </a:t>
            </a:r>
            <a:r>
              <a:rPr lang="en-US" sz="2000" dirty="0">
                <a:latin typeface="Calibri"/>
                <a:cs typeface="Calibri"/>
              </a:rPr>
              <a:t>so</a:t>
            </a:r>
            <a:r>
              <a:rPr lang="en-US" sz="2000" spc="18" dirty="0">
                <a:latin typeface="Calibri"/>
                <a:cs typeface="Calibri"/>
              </a:rPr>
              <a:t> </a:t>
            </a:r>
            <a:r>
              <a:rPr lang="en-US" sz="2000" dirty="0">
                <a:latin typeface="Calibri"/>
                <a:cs typeface="Calibri"/>
              </a:rPr>
              <a:t>no</a:t>
            </a:r>
            <a:r>
              <a:rPr lang="en-US" sz="2000" spc="22" dirty="0">
                <a:latin typeface="Calibri"/>
                <a:cs typeface="Calibri"/>
              </a:rPr>
              <a:t> </a:t>
            </a:r>
            <a:r>
              <a:rPr lang="en-US" sz="2000" dirty="0">
                <a:latin typeface="Calibri"/>
                <a:cs typeface="Calibri"/>
              </a:rPr>
              <a:t>longer</a:t>
            </a:r>
            <a:r>
              <a:rPr lang="en-US" sz="2000" spc="13" dirty="0">
                <a:latin typeface="Calibri"/>
                <a:cs typeface="Calibri"/>
              </a:rPr>
              <a:t> </a:t>
            </a:r>
            <a:r>
              <a:rPr lang="en-US" sz="2000" spc="-18" dirty="0">
                <a:latin typeface="Calibri"/>
                <a:cs typeface="Calibri"/>
              </a:rPr>
              <a:t>used</a:t>
            </a:r>
            <a:endParaRPr lang="en-US" sz="20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9162" y="562765"/>
            <a:ext cx="6958853" cy="688424"/>
          </a:xfrm>
          <a:prstGeom prst="rect">
            <a:avLst/>
          </a:prstGeom>
        </p:spPr>
        <p:txBody>
          <a:bodyPr vert="horz" wrap="square" lIns="0" tIns="11206" rIns="0" bIns="0" rtlCol="0" anchor="ctr">
            <a:spAutoFit/>
          </a:bodyPr>
          <a:lstStyle/>
          <a:p>
            <a:pPr marL="11206">
              <a:lnSpc>
                <a:spcPct val="100000"/>
              </a:lnSpc>
              <a:spcBef>
                <a:spcPts val="88"/>
              </a:spcBef>
            </a:pPr>
            <a:r>
              <a:rPr dirty="0"/>
              <a:t>Example:</a:t>
            </a:r>
            <a:r>
              <a:rPr spc="-13" dirty="0"/>
              <a:t> </a:t>
            </a:r>
            <a:r>
              <a:rPr spc="-18" dirty="0"/>
              <a:t>MIPS</a:t>
            </a:r>
          </a:p>
        </p:txBody>
      </p:sp>
      <p:sp>
        <p:nvSpPr>
          <p:cNvPr id="20" name="Slide Number Placeholder 19">
            <a:extLst>
              <a:ext uri="{FF2B5EF4-FFF2-40B4-BE49-F238E27FC236}">
                <a16:creationId xmlns:a16="http://schemas.microsoft.com/office/drawing/2014/main" id="{B2127F93-1C1D-0EAB-4278-78EDAC0660F2}"/>
              </a:ext>
            </a:extLst>
          </p:cNvPr>
          <p:cNvSpPr>
            <a:spLocks noGrp="1"/>
          </p:cNvSpPr>
          <p:nvPr>
            <p:ph type="sldNum" sz="quarter" idx="7"/>
          </p:nvPr>
        </p:nvSpPr>
        <p:spPr/>
        <p:txBody>
          <a:bodyPr/>
          <a:lstStyle/>
          <a:p>
            <a:fld id="{4FE321F0-2018-4E50-8BB3-A5631EBD98DD}" type="slidenum">
              <a:rPr lang="en-US" smtClean="0"/>
              <a:t>5</a:t>
            </a:fld>
            <a:endParaRPr lang="en-US"/>
          </a:p>
        </p:txBody>
      </p:sp>
      <p:graphicFrame>
        <p:nvGraphicFramePr>
          <p:cNvPr id="3" name="object 3"/>
          <p:cNvGraphicFramePr>
            <a:graphicFrameLocks noGrp="1"/>
          </p:cNvGraphicFramePr>
          <p:nvPr/>
        </p:nvGraphicFramePr>
        <p:xfrm>
          <a:off x="1488141" y="3307993"/>
          <a:ext cx="5570444" cy="334496"/>
        </p:xfrm>
        <a:graphic>
          <a:graphicData uri="http://schemas.openxmlformats.org/drawingml/2006/table">
            <a:tbl>
              <a:tblPr firstRow="1" bandRow="1">
                <a:tableStyleId>{2D5ABB26-0587-4C30-8999-92F81FD0307C}</a:tableStyleId>
              </a:tblPr>
              <a:tblGrid>
                <a:gridCol w="992281">
                  <a:extLst>
                    <a:ext uri="{9D8B030D-6E8A-4147-A177-3AD203B41FA5}">
                      <a16:colId xmlns:a16="http://schemas.microsoft.com/office/drawing/2014/main" val="20000"/>
                    </a:ext>
                  </a:extLst>
                </a:gridCol>
                <a:gridCol w="860612">
                  <a:extLst>
                    <a:ext uri="{9D8B030D-6E8A-4147-A177-3AD203B41FA5}">
                      <a16:colId xmlns:a16="http://schemas.microsoft.com/office/drawing/2014/main" val="20001"/>
                    </a:ext>
                  </a:extLst>
                </a:gridCol>
                <a:gridCol w="860611">
                  <a:extLst>
                    <a:ext uri="{9D8B030D-6E8A-4147-A177-3AD203B41FA5}">
                      <a16:colId xmlns:a16="http://schemas.microsoft.com/office/drawing/2014/main" val="20002"/>
                    </a:ext>
                  </a:extLst>
                </a:gridCol>
                <a:gridCol w="2856940">
                  <a:extLst>
                    <a:ext uri="{9D8B030D-6E8A-4147-A177-3AD203B41FA5}">
                      <a16:colId xmlns:a16="http://schemas.microsoft.com/office/drawing/2014/main" val="20003"/>
                    </a:ext>
                  </a:extLst>
                </a:gridCol>
              </a:tblGrid>
              <a:tr h="334496">
                <a:tc>
                  <a:txBody>
                    <a:bodyPr/>
                    <a:lstStyle/>
                    <a:p>
                      <a:pPr marR="53975" algn="ctr">
                        <a:lnSpc>
                          <a:spcPct val="100000"/>
                        </a:lnSpc>
                        <a:spcBef>
                          <a:spcPts val="345"/>
                        </a:spcBef>
                      </a:pPr>
                      <a:r>
                        <a:rPr sz="1700" spc="-25" dirty="0">
                          <a:latin typeface="Calibri"/>
                          <a:cs typeface="Calibri"/>
                        </a:rPr>
                        <a:t>Op</a:t>
                      </a:r>
                      <a:endParaRPr sz="1700">
                        <a:latin typeface="Calibri"/>
                        <a:cs typeface="Calibri"/>
                      </a:endParaRPr>
                    </a:p>
                  </a:txBody>
                  <a:tcPr marL="0" marR="0" marT="38660" marB="0">
                    <a:lnL w="28575">
                      <a:solidFill>
                        <a:srgbClr val="000000"/>
                      </a:solidFill>
                      <a:prstDash val="solid"/>
                    </a:lnL>
                    <a:lnR w="57150">
                      <a:solidFill>
                        <a:srgbClr val="000000"/>
                      </a:solidFill>
                      <a:prstDash val="solid"/>
                    </a:lnR>
                    <a:lnT w="28575">
                      <a:solidFill>
                        <a:srgbClr val="000000"/>
                      </a:solidFill>
                      <a:prstDash val="solid"/>
                    </a:lnT>
                    <a:lnB w="28575">
                      <a:solidFill>
                        <a:srgbClr val="000000"/>
                      </a:solidFill>
                      <a:prstDash val="solid"/>
                    </a:lnB>
                  </a:tcPr>
                </a:tc>
                <a:tc>
                  <a:txBody>
                    <a:bodyPr/>
                    <a:lstStyle/>
                    <a:p>
                      <a:pPr marL="243204">
                        <a:lnSpc>
                          <a:spcPct val="100000"/>
                        </a:lnSpc>
                        <a:spcBef>
                          <a:spcPts val="560"/>
                        </a:spcBef>
                      </a:pPr>
                      <a:r>
                        <a:rPr sz="1700" spc="-25" dirty="0">
                          <a:latin typeface="Calibri"/>
                          <a:cs typeface="Calibri"/>
                        </a:rPr>
                        <a:t>rs</a:t>
                      </a:r>
                      <a:endParaRPr sz="1700">
                        <a:latin typeface="Calibri"/>
                        <a:cs typeface="Calibri"/>
                      </a:endParaRPr>
                    </a:p>
                  </a:txBody>
                  <a:tcPr marL="0" marR="0" marT="62753" marB="0">
                    <a:lnL w="57150">
                      <a:solidFill>
                        <a:srgbClr val="000000"/>
                      </a:solidFill>
                      <a:prstDash val="solid"/>
                    </a:lnL>
                    <a:lnR w="57150">
                      <a:solidFill>
                        <a:srgbClr val="000000"/>
                      </a:solidFill>
                      <a:prstDash val="solid"/>
                    </a:lnR>
                    <a:lnT w="28575">
                      <a:solidFill>
                        <a:srgbClr val="000000"/>
                      </a:solidFill>
                      <a:prstDash val="solid"/>
                    </a:lnT>
                    <a:lnB w="28575">
                      <a:solidFill>
                        <a:srgbClr val="000000"/>
                      </a:solidFill>
                      <a:prstDash val="solid"/>
                    </a:lnB>
                  </a:tcPr>
                </a:tc>
                <a:tc>
                  <a:txBody>
                    <a:bodyPr/>
                    <a:lstStyle/>
                    <a:p>
                      <a:pPr marL="324485">
                        <a:lnSpc>
                          <a:spcPct val="100000"/>
                        </a:lnSpc>
                        <a:spcBef>
                          <a:spcPts val="560"/>
                        </a:spcBef>
                      </a:pPr>
                      <a:r>
                        <a:rPr sz="1700" spc="-25" dirty="0">
                          <a:latin typeface="Calibri"/>
                          <a:cs typeface="Calibri"/>
                        </a:rPr>
                        <a:t>rt</a:t>
                      </a:r>
                      <a:endParaRPr sz="1700">
                        <a:latin typeface="Calibri"/>
                        <a:cs typeface="Calibri"/>
                      </a:endParaRPr>
                    </a:p>
                  </a:txBody>
                  <a:tcPr marL="0" marR="0" marT="62753" marB="0">
                    <a:lnL w="57150">
                      <a:solidFill>
                        <a:srgbClr val="000000"/>
                      </a:solidFill>
                      <a:prstDash val="solid"/>
                    </a:lnL>
                    <a:lnR w="57150">
                      <a:solidFill>
                        <a:srgbClr val="000000"/>
                      </a:solidFill>
                      <a:prstDash val="solid"/>
                    </a:lnR>
                    <a:lnT w="28575">
                      <a:solidFill>
                        <a:srgbClr val="000000"/>
                      </a:solidFill>
                      <a:prstDash val="solid"/>
                    </a:lnT>
                    <a:lnB w="28575">
                      <a:solidFill>
                        <a:srgbClr val="000000"/>
                      </a:solidFill>
                      <a:prstDash val="solid"/>
                    </a:lnB>
                  </a:tcPr>
                </a:tc>
                <a:tc>
                  <a:txBody>
                    <a:bodyPr/>
                    <a:lstStyle/>
                    <a:p>
                      <a:pPr marL="730885">
                        <a:lnSpc>
                          <a:spcPct val="100000"/>
                        </a:lnSpc>
                        <a:spcBef>
                          <a:spcPts val="370"/>
                        </a:spcBef>
                      </a:pPr>
                      <a:r>
                        <a:rPr sz="1700" spc="-10" dirty="0">
                          <a:latin typeface="Calibri"/>
                          <a:cs typeface="Calibri"/>
                        </a:rPr>
                        <a:t>immediate</a:t>
                      </a:r>
                      <a:endParaRPr sz="1700">
                        <a:latin typeface="Calibri"/>
                        <a:cs typeface="Calibri"/>
                      </a:endParaRPr>
                    </a:p>
                  </a:txBody>
                  <a:tcPr marL="0" marR="0" marT="41462" marB="0">
                    <a:lnL w="5715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4" name="object 4"/>
          <p:cNvSpPr txBox="1"/>
          <p:nvPr/>
        </p:nvSpPr>
        <p:spPr>
          <a:xfrm>
            <a:off x="1118347" y="2756527"/>
            <a:ext cx="5505450" cy="524846"/>
          </a:xfrm>
          <a:prstGeom prst="rect">
            <a:avLst/>
          </a:prstGeom>
        </p:spPr>
        <p:txBody>
          <a:bodyPr vert="horz" wrap="square" lIns="0" tIns="36979" rIns="0" bIns="0" rtlCol="0">
            <a:spAutoFit/>
          </a:bodyPr>
          <a:lstStyle/>
          <a:p>
            <a:pPr marL="11206">
              <a:spcBef>
                <a:spcPts val="291"/>
              </a:spcBef>
            </a:pPr>
            <a:r>
              <a:rPr sz="1677" b="1" spc="-22" dirty="0">
                <a:latin typeface="Calibri"/>
                <a:cs typeface="Calibri"/>
              </a:rPr>
              <a:t>Register-</a:t>
            </a:r>
            <a:r>
              <a:rPr sz="1677" b="1" dirty="0">
                <a:latin typeface="Calibri"/>
                <a:cs typeface="Calibri"/>
              </a:rPr>
              <a:t>Immediate</a:t>
            </a:r>
            <a:r>
              <a:rPr sz="1677" b="1" spc="-9" dirty="0">
                <a:latin typeface="Calibri"/>
                <a:cs typeface="Calibri"/>
              </a:rPr>
              <a:t> </a:t>
            </a:r>
            <a:r>
              <a:rPr sz="1677" b="1" dirty="0">
                <a:latin typeface="Calibri"/>
                <a:cs typeface="Calibri"/>
              </a:rPr>
              <a:t>–</a:t>
            </a:r>
            <a:r>
              <a:rPr sz="1677" b="1" spc="-4" dirty="0">
                <a:latin typeface="Calibri"/>
                <a:cs typeface="Calibri"/>
              </a:rPr>
              <a:t> </a:t>
            </a:r>
            <a:r>
              <a:rPr sz="1677" b="1" dirty="0">
                <a:latin typeface="Calibri"/>
                <a:cs typeface="Calibri"/>
              </a:rPr>
              <a:t>I</a:t>
            </a:r>
            <a:r>
              <a:rPr sz="1677" b="1" spc="-13" dirty="0">
                <a:latin typeface="Calibri"/>
                <a:cs typeface="Calibri"/>
              </a:rPr>
              <a:t> </a:t>
            </a:r>
            <a:r>
              <a:rPr sz="1677" b="1" dirty="0">
                <a:latin typeface="Calibri"/>
                <a:cs typeface="Calibri"/>
              </a:rPr>
              <a:t>Format</a:t>
            </a:r>
            <a:r>
              <a:rPr sz="1677" b="1" spc="-9" dirty="0">
                <a:latin typeface="Calibri"/>
                <a:cs typeface="Calibri"/>
              </a:rPr>
              <a:t> </a:t>
            </a:r>
            <a:r>
              <a:rPr sz="1677" b="1" dirty="0">
                <a:latin typeface="Calibri"/>
                <a:cs typeface="Calibri"/>
              </a:rPr>
              <a:t>–</a:t>
            </a:r>
            <a:r>
              <a:rPr sz="1677" b="1" spc="-4" dirty="0">
                <a:latin typeface="Calibri"/>
                <a:cs typeface="Calibri"/>
              </a:rPr>
              <a:t> </a:t>
            </a:r>
            <a:r>
              <a:rPr sz="1677" b="1" dirty="0">
                <a:latin typeface="Calibri"/>
                <a:cs typeface="Calibri"/>
              </a:rPr>
              <a:t>All</a:t>
            </a:r>
            <a:r>
              <a:rPr sz="1677" b="1" spc="-13" dirty="0">
                <a:latin typeface="Calibri"/>
                <a:cs typeface="Calibri"/>
              </a:rPr>
              <a:t> </a:t>
            </a:r>
            <a:r>
              <a:rPr sz="1677" b="1" dirty="0">
                <a:latin typeface="Calibri"/>
                <a:cs typeface="Calibri"/>
              </a:rPr>
              <a:t>immediate</a:t>
            </a:r>
            <a:r>
              <a:rPr sz="1677" b="1" spc="-13" dirty="0">
                <a:latin typeface="Calibri"/>
                <a:cs typeface="Calibri"/>
              </a:rPr>
              <a:t> </a:t>
            </a:r>
            <a:r>
              <a:rPr sz="1677" b="1" dirty="0">
                <a:latin typeface="Calibri"/>
                <a:cs typeface="Calibri"/>
              </a:rPr>
              <a:t>arithmetic</a:t>
            </a:r>
            <a:r>
              <a:rPr sz="1677" b="1" spc="-9" dirty="0">
                <a:latin typeface="Calibri"/>
                <a:cs typeface="Calibri"/>
              </a:rPr>
              <a:t> </a:t>
            </a:r>
            <a:r>
              <a:rPr sz="1677" b="1" spc="-22" dirty="0">
                <a:latin typeface="Calibri"/>
                <a:cs typeface="Calibri"/>
              </a:rPr>
              <a:t>ops</a:t>
            </a:r>
            <a:endParaRPr sz="1677">
              <a:latin typeface="Calibri"/>
              <a:cs typeface="Calibri"/>
            </a:endParaRPr>
          </a:p>
          <a:p>
            <a:pPr marL="369814">
              <a:spcBef>
                <a:spcPts val="163"/>
              </a:spcBef>
              <a:tabLst>
                <a:tab pos="1158190" algn="l"/>
                <a:tab pos="1445075" algn="l"/>
                <a:tab pos="2090569" algn="l"/>
                <a:tab pos="2879505" algn="l"/>
                <a:tab pos="3166391" algn="l"/>
              </a:tabLst>
            </a:pPr>
            <a:r>
              <a:rPr sz="1324" b="1" spc="-22" dirty="0">
                <a:latin typeface="Calibri"/>
                <a:cs typeface="Calibri"/>
              </a:rPr>
              <a:t>31</a:t>
            </a:r>
            <a:r>
              <a:rPr sz="1324" b="1" dirty="0">
                <a:latin typeface="Calibri"/>
                <a:cs typeface="Calibri"/>
              </a:rPr>
              <a:t>	</a:t>
            </a:r>
            <a:r>
              <a:rPr sz="1324" b="1" spc="-22" dirty="0">
                <a:latin typeface="Calibri"/>
                <a:cs typeface="Calibri"/>
              </a:rPr>
              <a:t>26</a:t>
            </a:r>
            <a:r>
              <a:rPr sz="1324" b="1" dirty="0">
                <a:latin typeface="Calibri"/>
                <a:cs typeface="Calibri"/>
              </a:rPr>
              <a:t>	</a:t>
            </a:r>
            <a:r>
              <a:rPr sz="1324" b="1" spc="-22" dirty="0">
                <a:latin typeface="Calibri"/>
                <a:cs typeface="Calibri"/>
              </a:rPr>
              <a:t>25</a:t>
            </a:r>
            <a:r>
              <a:rPr sz="1324" b="1" dirty="0">
                <a:latin typeface="Calibri"/>
                <a:cs typeface="Calibri"/>
              </a:rPr>
              <a:t>	21</a:t>
            </a:r>
            <a:r>
              <a:rPr sz="1324" b="1" spc="31" dirty="0">
                <a:latin typeface="Calibri"/>
                <a:cs typeface="Calibri"/>
              </a:rPr>
              <a:t> </a:t>
            </a:r>
            <a:r>
              <a:rPr sz="1324" b="1" spc="-22" dirty="0">
                <a:latin typeface="Calibri"/>
                <a:cs typeface="Calibri"/>
              </a:rPr>
              <a:t>20</a:t>
            </a:r>
            <a:r>
              <a:rPr sz="1324" b="1" dirty="0">
                <a:latin typeface="Calibri"/>
                <a:cs typeface="Calibri"/>
              </a:rPr>
              <a:t>	</a:t>
            </a:r>
            <a:r>
              <a:rPr sz="1324" b="1" spc="-22" dirty="0">
                <a:latin typeface="Calibri"/>
                <a:cs typeface="Calibri"/>
              </a:rPr>
              <a:t>16</a:t>
            </a:r>
            <a:r>
              <a:rPr sz="1324" b="1" dirty="0">
                <a:latin typeface="Calibri"/>
                <a:cs typeface="Calibri"/>
              </a:rPr>
              <a:t>	</a:t>
            </a:r>
            <a:r>
              <a:rPr sz="1324" b="1" spc="-22" dirty="0">
                <a:latin typeface="Calibri"/>
                <a:cs typeface="Calibri"/>
              </a:rPr>
              <a:t>15</a:t>
            </a:r>
            <a:endParaRPr sz="1324">
              <a:latin typeface="Calibri"/>
              <a:cs typeface="Calibri"/>
            </a:endParaRPr>
          </a:p>
        </p:txBody>
      </p:sp>
      <p:sp>
        <p:nvSpPr>
          <p:cNvPr id="5" name="object 5"/>
          <p:cNvSpPr txBox="1"/>
          <p:nvPr/>
        </p:nvSpPr>
        <p:spPr>
          <a:xfrm>
            <a:off x="6999194" y="3058757"/>
            <a:ext cx="108137" cy="215089"/>
          </a:xfrm>
          <a:prstGeom prst="rect">
            <a:avLst/>
          </a:prstGeom>
        </p:spPr>
        <p:txBody>
          <a:bodyPr vert="horz" wrap="square" lIns="0" tIns="11206" rIns="0" bIns="0" rtlCol="0">
            <a:spAutoFit/>
          </a:bodyPr>
          <a:lstStyle/>
          <a:p>
            <a:pPr marL="11206">
              <a:spcBef>
                <a:spcPts val="88"/>
              </a:spcBef>
            </a:pPr>
            <a:r>
              <a:rPr sz="1324" b="1" spc="-44" dirty="0">
                <a:latin typeface="Calibri"/>
                <a:cs typeface="Calibri"/>
              </a:rPr>
              <a:t>0</a:t>
            </a:r>
            <a:endParaRPr sz="1324">
              <a:latin typeface="Calibri"/>
              <a:cs typeface="Calibri"/>
            </a:endParaRPr>
          </a:p>
        </p:txBody>
      </p:sp>
      <p:sp>
        <p:nvSpPr>
          <p:cNvPr id="6" name="object 6"/>
          <p:cNvSpPr/>
          <p:nvPr/>
        </p:nvSpPr>
        <p:spPr>
          <a:xfrm>
            <a:off x="1500094" y="5507333"/>
            <a:ext cx="980515" cy="335056"/>
          </a:xfrm>
          <a:custGeom>
            <a:avLst/>
            <a:gdLst/>
            <a:ahLst/>
            <a:cxnLst/>
            <a:rect l="l" t="t" r="r" b="b"/>
            <a:pathLst>
              <a:path w="1111250" h="379729">
                <a:moveTo>
                  <a:pt x="0" y="0"/>
                </a:moveTo>
                <a:lnTo>
                  <a:pt x="1110826" y="0"/>
                </a:lnTo>
                <a:lnTo>
                  <a:pt x="1110826" y="379306"/>
                </a:lnTo>
                <a:lnTo>
                  <a:pt x="0" y="379306"/>
                </a:lnTo>
                <a:lnTo>
                  <a:pt x="0" y="0"/>
                </a:lnTo>
                <a:close/>
              </a:path>
            </a:pathLst>
          </a:custGeom>
          <a:ln w="27093">
            <a:solidFill>
              <a:srgbClr val="000000"/>
            </a:solidFill>
          </a:ln>
        </p:spPr>
        <p:txBody>
          <a:bodyPr wrap="square" lIns="0" tIns="0" rIns="0" bIns="0" rtlCol="0"/>
          <a:lstStyle/>
          <a:p>
            <a:endParaRPr sz="1588"/>
          </a:p>
        </p:txBody>
      </p:sp>
      <p:sp>
        <p:nvSpPr>
          <p:cNvPr id="7" name="object 7"/>
          <p:cNvSpPr txBox="1"/>
          <p:nvPr/>
        </p:nvSpPr>
        <p:spPr>
          <a:xfrm>
            <a:off x="1512047" y="5558118"/>
            <a:ext cx="956422" cy="269399"/>
          </a:xfrm>
          <a:prstGeom prst="rect">
            <a:avLst/>
          </a:prstGeom>
        </p:spPr>
        <p:txBody>
          <a:bodyPr vert="horz" wrap="square" lIns="0" tIns="11206" rIns="0" bIns="0" rtlCol="0">
            <a:spAutoFit/>
          </a:bodyPr>
          <a:lstStyle/>
          <a:p>
            <a:pPr marL="262792">
              <a:spcBef>
                <a:spcPts val="88"/>
              </a:spcBef>
            </a:pPr>
            <a:r>
              <a:rPr sz="1677" spc="-22" dirty="0">
                <a:latin typeface="Calibri"/>
                <a:cs typeface="Calibri"/>
              </a:rPr>
              <a:t>Op</a:t>
            </a:r>
            <a:endParaRPr sz="1677">
              <a:latin typeface="Calibri"/>
              <a:cs typeface="Calibri"/>
            </a:endParaRPr>
          </a:p>
        </p:txBody>
      </p:sp>
      <p:sp>
        <p:nvSpPr>
          <p:cNvPr id="8" name="object 8"/>
          <p:cNvSpPr txBox="1"/>
          <p:nvPr/>
        </p:nvSpPr>
        <p:spPr>
          <a:xfrm>
            <a:off x="1118348" y="4951804"/>
            <a:ext cx="3995457" cy="508628"/>
          </a:xfrm>
          <a:prstGeom prst="rect">
            <a:avLst/>
          </a:prstGeom>
        </p:spPr>
        <p:txBody>
          <a:bodyPr vert="horz" wrap="square" lIns="0" tIns="33618" rIns="0" bIns="0" rtlCol="0">
            <a:spAutoFit/>
          </a:bodyPr>
          <a:lstStyle/>
          <a:p>
            <a:pPr marL="11206">
              <a:spcBef>
                <a:spcPts val="265"/>
              </a:spcBef>
            </a:pPr>
            <a:r>
              <a:rPr sz="1677" b="1" dirty="0">
                <a:latin typeface="Calibri"/>
                <a:cs typeface="Calibri"/>
              </a:rPr>
              <a:t>Jump</a:t>
            </a:r>
            <a:r>
              <a:rPr sz="1677" b="1" spc="-13" dirty="0">
                <a:latin typeface="Calibri"/>
                <a:cs typeface="Calibri"/>
              </a:rPr>
              <a:t> </a:t>
            </a:r>
            <a:r>
              <a:rPr sz="1677" b="1" dirty="0">
                <a:latin typeface="Calibri"/>
                <a:cs typeface="Calibri"/>
              </a:rPr>
              <a:t>/</a:t>
            </a:r>
            <a:r>
              <a:rPr sz="1677" b="1" spc="4" dirty="0">
                <a:latin typeface="Calibri"/>
                <a:cs typeface="Calibri"/>
              </a:rPr>
              <a:t> </a:t>
            </a:r>
            <a:r>
              <a:rPr sz="1677" b="1" dirty="0">
                <a:latin typeface="Calibri"/>
                <a:cs typeface="Calibri"/>
              </a:rPr>
              <a:t>Call</a:t>
            </a:r>
            <a:r>
              <a:rPr sz="1677" b="1" spc="-9" dirty="0">
                <a:latin typeface="Calibri"/>
                <a:cs typeface="Calibri"/>
              </a:rPr>
              <a:t> </a:t>
            </a:r>
            <a:r>
              <a:rPr sz="1677" b="1" dirty="0">
                <a:latin typeface="Calibri"/>
                <a:cs typeface="Calibri"/>
              </a:rPr>
              <a:t>– J</a:t>
            </a:r>
            <a:r>
              <a:rPr sz="1677" b="1" spc="4" dirty="0">
                <a:latin typeface="Calibri"/>
                <a:cs typeface="Calibri"/>
              </a:rPr>
              <a:t> </a:t>
            </a:r>
            <a:r>
              <a:rPr sz="1677" b="1" dirty="0">
                <a:latin typeface="Calibri"/>
                <a:cs typeface="Calibri"/>
              </a:rPr>
              <a:t>Format</a:t>
            </a:r>
            <a:r>
              <a:rPr sz="1677" b="1" spc="-4" dirty="0">
                <a:latin typeface="Calibri"/>
                <a:cs typeface="Calibri"/>
              </a:rPr>
              <a:t> </a:t>
            </a:r>
            <a:r>
              <a:rPr sz="1677" b="1" dirty="0">
                <a:latin typeface="Calibri"/>
                <a:cs typeface="Calibri"/>
              </a:rPr>
              <a:t>–</a:t>
            </a:r>
            <a:r>
              <a:rPr sz="1677" b="1" spc="4" dirty="0">
                <a:latin typeface="Calibri"/>
                <a:cs typeface="Calibri"/>
              </a:rPr>
              <a:t> </a:t>
            </a:r>
            <a:r>
              <a:rPr sz="1677" b="1" dirty="0">
                <a:latin typeface="Calibri"/>
                <a:cs typeface="Calibri"/>
              </a:rPr>
              <a:t>Long distance</a:t>
            </a:r>
            <a:r>
              <a:rPr sz="1677" b="1" spc="-4" dirty="0">
                <a:latin typeface="Calibri"/>
                <a:cs typeface="Calibri"/>
              </a:rPr>
              <a:t> </a:t>
            </a:r>
            <a:r>
              <a:rPr sz="1677" b="1" spc="-9" dirty="0">
                <a:latin typeface="Calibri"/>
                <a:cs typeface="Calibri"/>
              </a:rPr>
              <a:t>jumps</a:t>
            </a:r>
            <a:endParaRPr sz="1677">
              <a:latin typeface="Calibri"/>
              <a:cs typeface="Calibri"/>
            </a:endParaRPr>
          </a:p>
          <a:p>
            <a:pPr marL="369814">
              <a:spcBef>
                <a:spcPts val="141"/>
              </a:spcBef>
              <a:tabLst>
                <a:tab pos="1158190" algn="l"/>
                <a:tab pos="1445075" algn="l"/>
              </a:tabLst>
            </a:pPr>
            <a:r>
              <a:rPr sz="1324" b="1" spc="-22" dirty="0">
                <a:latin typeface="Calibri"/>
                <a:cs typeface="Calibri"/>
              </a:rPr>
              <a:t>31</a:t>
            </a:r>
            <a:r>
              <a:rPr sz="1324" b="1" dirty="0">
                <a:latin typeface="Calibri"/>
                <a:cs typeface="Calibri"/>
              </a:rPr>
              <a:t>	</a:t>
            </a:r>
            <a:r>
              <a:rPr sz="1324" b="1" spc="-22" dirty="0">
                <a:latin typeface="Calibri"/>
                <a:cs typeface="Calibri"/>
              </a:rPr>
              <a:t>26</a:t>
            </a:r>
            <a:r>
              <a:rPr sz="1324" b="1" dirty="0">
                <a:latin typeface="Calibri"/>
                <a:cs typeface="Calibri"/>
              </a:rPr>
              <a:t>	</a:t>
            </a:r>
            <a:r>
              <a:rPr sz="1324" b="1" spc="-22" dirty="0">
                <a:latin typeface="Calibri"/>
                <a:cs typeface="Calibri"/>
              </a:rPr>
              <a:t>25</a:t>
            </a:r>
            <a:endParaRPr sz="1324">
              <a:latin typeface="Calibri"/>
              <a:cs typeface="Calibri"/>
            </a:endParaRPr>
          </a:p>
        </p:txBody>
      </p:sp>
      <p:sp>
        <p:nvSpPr>
          <p:cNvPr id="9" name="object 9"/>
          <p:cNvSpPr/>
          <p:nvPr/>
        </p:nvSpPr>
        <p:spPr>
          <a:xfrm>
            <a:off x="2504142" y="5507333"/>
            <a:ext cx="4566397" cy="335056"/>
          </a:xfrm>
          <a:custGeom>
            <a:avLst/>
            <a:gdLst/>
            <a:ahLst/>
            <a:cxnLst/>
            <a:rect l="l" t="t" r="r" b="b"/>
            <a:pathLst>
              <a:path w="5175250" h="379729">
                <a:moveTo>
                  <a:pt x="0" y="0"/>
                </a:moveTo>
                <a:lnTo>
                  <a:pt x="5174826" y="0"/>
                </a:lnTo>
                <a:lnTo>
                  <a:pt x="5174826" y="379306"/>
                </a:lnTo>
                <a:lnTo>
                  <a:pt x="0" y="379306"/>
                </a:lnTo>
                <a:lnTo>
                  <a:pt x="0" y="0"/>
                </a:lnTo>
                <a:close/>
              </a:path>
            </a:pathLst>
          </a:custGeom>
          <a:ln w="27093">
            <a:solidFill>
              <a:srgbClr val="000000"/>
            </a:solidFill>
          </a:ln>
        </p:spPr>
        <p:txBody>
          <a:bodyPr wrap="square" lIns="0" tIns="0" rIns="0" bIns="0" rtlCol="0"/>
          <a:lstStyle/>
          <a:p>
            <a:endParaRPr sz="1588"/>
          </a:p>
        </p:txBody>
      </p:sp>
      <p:sp>
        <p:nvSpPr>
          <p:cNvPr id="10" name="object 10"/>
          <p:cNvSpPr txBox="1"/>
          <p:nvPr/>
        </p:nvSpPr>
        <p:spPr>
          <a:xfrm>
            <a:off x="6999194" y="5247939"/>
            <a:ext cx="108137" cy="215089"/>
          </a:xfrm>
          <a:prstGeom prst="rect">
            <a:avLst/>
          </a:prstGeom>
        </p:spPr>
        <p:txBody>
          <a:bodyPr vert="horz" wrap="square" lIns="0" tIns="11206" rIns="0" bIns="0" rtlCol="0">
            <a:spAutoFit/>
          </a:bodyPr>
          <a:lstStyle/>
          <a:p>
            <a:pPr marL="11206">
              <a:spcBef>
                <a:spcPts val="88"/>
              </a:spcBef>
            </a:pPr>
            <a:r>
              <a:rPr sz="1324" b="1" spc="-44" dirty="0">
                <a:latin typeface="Calibri"/>
                <a:cs typeface="Calibri"/>
              </a:rPr>
              <a:t>0</a:t>
            </a:r>
            <a:endParaRPr sz="1324">
              <a:latin typeface="Calibri"/>
              <a:cs typeface="Calibri"/>
            </a:endParaRPr>
          </a:p>
        </p:txBody>
      </p:sp>
      <p:graphicFrame>
        <p:nvGraphicFramePr>
          <p:cNvPr id="11" name="object 11"/>
          <p:cNvGraphicFramePr>
            <a:graphicFrameLocks noGrp="1"/>
          </p:cNvGraphicFramePr>
          <p:nvPr/>
        </p:nvGraphicFramePr>
        <p:xfrm>
          <a:off x="1488141" y="2232228"/>
          <a:ext cx="5570444" cy="334496"/>
        </p:xfrm>
        <a:graphic>
          <a:graphicData uri="http://schemas.openxmlformats.org/drawingml/2006/table">
            <a:tbl>
              <a:tblPr firstRow="1" bandRow="1">
                <a:tableStyleId>{2D5ABB26-0587-4C30-8999-92F81FD0307C}</a:tableStyleId>
              </a:tblPr>
              <a:tblGrid>
                <a:gridCol w="992281">
                  <a:extLst>
                    <a:ext uri="{9D8B030D-6E8A-4147-A177-3AD203B41FA5}">
                      <a16:colId xmlns:a16="http://schemas.microsoft.com/office/drawing/2014/main" val="20000"/>
                    </a:ext>
                  </a:extLst>
                </a:gridCol>
                <a:gridCol w="860612">
                  <a:extLst>
                    <a:ext uri="{9D8B030D-6E8A-4147-A177-3AD203B41FA5}">
                      <a16:colId xmlns:a16="http://schemas.microsoft.com/office/drawing/2014/main" val="20001"/>
                    </a:ext>
                  </a:extLst>
                </a:gridCol>
                <a:gridCol w="860611">
                  <a:extLst>
                    <a:ext uri="{9D8B030D-6E8A-4147-A177-3AD203B41FA5}">
                      <a16:colId xmlns:a16="http://schemas.microsoft.com/office/drawing/2014/main" val="20002"/>
                    </a:ext>
                  </a:extLst>
                </a:gridCol>
                <a:gridCol w="860612">
                  <a:extLst>
                    <a:ext uri="{9D8B030D-6E8A-4147-A177-3AD203B41FA5}">
                      <a16:colId xmlns:a16="http://schemas.microsoft.com/office/drawing/2014/main" val="20003"/>
                    </a:ext>
                  </a:extLst>
                </a:gridCol>
                <a:gridCol w="848846">
                  <a:extLst>
                    <a:ext uri="{9D8B030D-6E8A-4147-A177-3AD203B41FA5}">
                      <a16:colId xmlns:a16="http://schemas.microsoft.com/office/drawing/2014/main" val="20004"/>
                    </a:ext>
                  </a:extLst>
                </a:gridCol>
                <a:gridCol w="1147482">
                  <a:extLst>
                    <a:ext uri="{9D8B030D-6E8A-4147-A177-3AD203B41FA5}">
                      <a16:colId xmlns:a16="http://schemas.microsoft.com/office/drawing/2014/main" val="20005"/>
                    </a:ext>
                  </a:extLst>
                </a:gridCol>
              </a:tblGrid>
              <a:tr h="334496">
                <a:tc>
                  <a:txBody>
                    <a:bodyPr/>
                    <a:lstStyle/>
                    <a:p>
                      <a:pPr marR="53975" algn="ctr">
                        <a:lnSpc>
                          <a:spcPct val="100000"/>
                        </a:lnSpc>
                        <a:spcBef>
                          <a:spcPts val="345"/>
                        </a:spcBef>
                      </a:pPr>
                      <a:r>
                        <a:rPr sz="1700" spc="-25" dirty="0">
                          <a:latin typeface="Calibri"/>
                          <a:cs typeface="Calibri"/>
                        </a:rPr>
                        <a:t>Op</a:t>
                      </a:r>
                      <a:endParaRPr sz="1700">
                        <a:latin typeface="Calibri"/>
                        <a:cs typeface="Calibri"/>
                      </a:endParaRPr>
                    </a:p>
                  </a:txBody>
                  <a:tcPr marL="0" marR="0" marT="38660" marB="0">
                    <a:lnL w="28575">
                      <a:solidFill>
                        <a:srgbClr val="000000"/>
                      </a:solidFill>
                      <a:prstDash val="solid"/>
                    </a:lnL>
                    <a:lnR w="57150">
                      <a:solidFill>
                        <a:srgbClr val="000000"/>
                      </a:solidFill>
                      <a:prstDash val="solid"/>
                    </a:lnR>
                    <a:lnT w="28575">
                      <a:solidFill>
                        <a:srgbClr val="000000"/>
                      </a:solidFill>
                      <a:prstDash val="solid"/>
                    </a:lnT>
                    <a:lnB w="28575">
                      <a:solidFill>
                        <a:srgbClr val="000000"/>
                      </a:solidFill>
                      <a:prstDash val="solid"/>
                    </a:lnB>
                  </a:tcPr>
                </a:tc>
                <a:tc>
                  <a:txBody>
                    <a:bodyPr/>
                    <a:lstStyle/>
                    <a:p>
                      <a:pPr marL="243204">
                        <a:lnSpc>
                          <a:spcPct val="100000"/>
                        </a:lnSpc>
                        <a:spcBef>
                          <a:spcPts val="560"/>
                        </a:spcBef>
                      </a:pPr>
                      <a:r>
                        <a:rPr sz="1700" spc="-25" dirty="0">
                          <a:latin typeface="Calibri"/>
                          <a:cs typeface="Calibri"/>
                        </a:rPr>
                        <a:t>rs</a:t>
                      </a:r>
                      <a:endParaRPr sz="1700">
                        <a:latin typeface="Calibri"/>
                        <a:cs typeface="Calibri"/>
                      </a:endParaRPr>
                    </a:p>
                  </a:txBody>
                  <a:tcPr marL="0" marR="0" marT="62753" marB="0">
                    <a:lnL w="57150">
                      <a:solidFill>
                        <a:srgbClr val="000000"/>
                      </a:solidFill>
                      <a:prstDash val="solid"/>
                    </a:lnL>
                    <a:lnR w="57150">
                      <a:solidFill>
                        <a:srgbClr val="000000"/>
                      </a:solidFill>
                      <a:prstDash val="solid"/>
                    </a:lnR>
                    <a:lnT w="28575">
                      <a:solidFill>
                        <a:srgbClr val="000000"/>
                      </a:solidFill>
                      <a:prstDash val="solid"/>
                    </a:lnT>
                    <a:lnB w="28575">
                      <a:solidFill>
                        <a:srgbClr val="000000"/>
                      </a:solidFill>
                      <a:prstDash val="solid"/>
                    </a:lnB>
                  </a:tcPr>
                </a:tc>
                <a:tc>
                  <a:txBody>
                    <a:bodyPr/>
                    <a:lstStyle/>
                    <a:p>
                      <a:pPr marL="324485">
                        <a:lnSpc>
                          <a:spcPct val="100000"/>
                        </a:lnSpc>
                        <a:spcBef>
                          <a:spcPts val="560"/>
                        </a:spcBef>
                      </a:pPr>
                      <a:r>
                        <a:rPr sz="1700" spc="-25" dirty="0">
                          <a:latin typeface="Calibri"/>
                          <a:cs typeface="Calibri"/>
                        </a:rPr>
                        <a:t>rt</a:t>
                      </a:r>
                      <a:endParaRPr sz="1700">
                        <a:latin typeface="Calibri"/>
                        <a:cs typeface="Calibri"/>
                      </a:endParaRPr>
                    </a:p>
                  </a:txBody>
                  <a:tcPr marL="0" marR="0" marT="62753" marB="0">
                    <a:lnL w="57150">
                      <a:solidFill>
                        <a:srgbClr val="000000"/>
                      </a:solidFill>
                      <a:prstDash val="solid"/>
                    </a:lnL>
                    <a:lnR w="57150">
                      <a:solidFill>
                        <a:srgbClr val="000000"/>
                      </a:solidFill>
                      <a:prstDash val="solid"/>
                    </a:lnR>
                    <a:lnT w="28575">
                      <a:solidFill>
                        <a:srgbClr val="000000"/>
                      </a:solidFill>
                      <a:prstDash val="solid"/>
                    </a:lnT>
                    <a:lnB w="28575">
                      <a:solidFill>
                        <a:srgbClr val="000000"/>
                      </a:solidFill>
                      <a:prstDash val="solid"/>
                    </a:lnB>
                  </a:tcPr>
                </a:tc>
                <a:tc>
                  <a:txBody>
                    <a:bodyPr/>
                    <a:lstStyle/>
                    <a:p>
                      <a:pPr marL="243204">
                        <a:lnSpc>
                          <a:spcPct val="100000"/>
                        </a:lnSpc>
                        <a:spcBef>
                          <a:spcPts val="560"/>
                        </a:spcBef>
                      </a:pPr>
                      <a:r>
                        <a:rPr sz="1700" spc="-25" dirty="0">
                          <a:latin typeface="Calibri"/>
                          <a:cs typeface="Calibri"/>
                        </a:rPr>
                        <a:t>rd</a:t>
                      </a:r>
                      <a:endParaRPr sz="1700">
                        <a:latin typeface="Calibri"/>
                        <a:cs typeface="Calibri"/>
                      </a:endParaRPr>
                    </a:p>
                  </a:txBody>
                  <a:tcPr marL="0" marR="0" marT="62753" marB="0">
                    <a:lnL w="57150">
                      <a:solidFill>
                        <a:srgbClr val="000000"/>
                      </a:solidFill>
                      <a:prstDash val="solid"/>
                    </a:lnL>
                    <a:lnR w="57150">
                      <a:solidFill>
                        <a:srgbClr val="000000"/>
                      </a:solidFill>
                      <a:prstDash val="solid"/>
                    </a:lnR>
                    <a:lnT w="28575">
                      <a:solidFill>
                        <a:srgbClr val="000000"/>
                      </a:solidFill>
                      <a:prstDash val="solid"/>
                    </a:lnT>
                    <a:lnB w="28575">
                      <a:solidFill>
                        <a:srgbClr val="000000"/>
                      </a:solidFill>
                      <a:prstDash val="solid"/>
                    </a:lnB>
                  </a:tcPr>
                </a:tc>
                <a:tc>
                  <a:txBody>
                    <a:bodyPr/>
                    <a:lstStyle/>
                    <a:p>
                      <a:pPr marL="229870">
                        <a:lnSpc>
                          <a:spcPct val="100000"/>
                        </a:lnSpc>
                        <a:spcBef>
                          <a:spcPts val="489"/>
                        </a:spcBef>
                      </a:pPr>
                      <a:r>
                        <a:rPr sz="1700" spc="-10" dirty="0">
                          <a:latin typeface="Times New Roman"/>
                          <a:cs typeface="Times New Roman"/>
                        </a:rPr>
                        <a:t>shamt</a:t>
                      </a:r>
                      <a:endParaRPr sz="1700">
                        <a:latin typeface="Times New Roman"/>
                        <a:cs typeface="Times New Roman"/>
                      </a:endParaRPr>
                    </a:p>
                  </a:txBody>
                  <a:tcPr marL="0" marR="0" marT="54908" marB="0">
                    <a:lnL w="5715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c>
                  <a:txBody>
                    <a:bodyPr/>
                    <a:lstStyle/>
                    <a:p>
                      <a:pPr marL="338455">
                        <a:lnSpc>
                          <a:spcPct val="100000"/>
                        </a:lnSpc>
                        <a:spcBef>
                          <a:spcPts val="560"/>
                        </a:spcBef>
                      </a:pPr>
                      <a:r>
                        <a:rPr sz="1700" spc="-10" dirty="0">
                          <a:latin typeface="Calibri"/>
                          <a:cs typeface="Calibri"/>
                        </a:rPr>
                        <a:t>funct</a:t>
                      </a:r>
                      <a:endParaRPr sz="1700" dirty="0">
                        <a:latin typeface="Calibri"/>
                        <a:cs typeface="Calibri"/>
                      </a:endParaRPr>
                    </a:p>
                  </a:txBody>
                  <a:tcPr marL="0" marR="0" marT="62753"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12" name="object 12"/>
          <p:cNvSpPr txBox="1"/>
          <p:nvPr/>
        </p:nvSpPr>
        <p:spPr>
          <a:xfrm>
            <a:off x="1476936" y="1982992"/>
            <a:ext cx="3850901" cy="215089"/>
          </a:xfrm>
          <a:prstGeom prst="rect">
            <a:avLst/>
          </a:prstGeom>
        </p:spPr>
        <p:txBody>
          <a:bodyPr vert="horz" wrap="square" lIns="0" tIns="11206" rIns="0" bIns="0" rtlCol="0">
            <a:spAutoFit/>
          </a:bodyPr>
          <a:lstStyle/>
          <a:p>
            <a:pPr marL="11206">
              <a:spcBef>
                <a:spcPts val="88"/>
              </a:spcBef>
              <a:tabLst>
                <a:tab pos="799581" algn="l"/>
                <a:tab pos="1086468" algn="l"/>
                <a:tab pos="1731961" algn="l"/>
                <a:tab pos="2520898" algn="l"/>
                <a:tab pos="2807784" algn="l"/>
                <a:tab pos="3453276" algn="l"/>
              </a:tabLst>
            </a:pPr>
            <a:r>
              <a:rPr sz="1324" b="1" spc="-22" dirty="0">
                <a:latin typeface="Calibri"/>
                <a:cs typeface="Calibri"/>
              </a:rPr>
              <a:t>31</a:t>
            </a:r>
            <a:r>
              <a:rPr sz="1324" b="1" dirty="0">
                <a:latin typeface="Calibri"/>
                <a:cs typeface="Calibri"/>
              </a:rPr>
              <a:t>	</a:t>
            </a:r>
            <a:r>
              <a:rPr sz="1324" b="1" spc="-22" dirty="0">
                <a:latin typeface="Calibri"/>
                <a:cs typeface="Calibri"/>
              </a:rPr>
              <a:t>26</a:t>
            </a:r>
            <a:r>
              <a:rPr sz="1324" b="1" dirty="0">
                <a:latin typeface="Calibri"/>
                <a:cs typeface="Calibri"/>
              </a:rPr>
              <a:t>	</a:t>
            </a:r>
            <a:r>
              <a:rPr sz="1324" b="1" spc="-22" dirty="0">
                <a:latin typeface="Calibri"/>
                <a:cs typeface="Calibri"/>
              </a:rPr>
              <a:t>25</a:t>
            </a:r>
            <a:r>
              <a:rPr sz="1324" b="1" dirty="0">
                <a:latin typeface="Calibri"/>
                <a:cs typeface="Calibri"/>
              </a:rPr>
              <a:t>	21</a:t>
            </a:r>
            <a:r>
              <a:rPr sz="1324" b="1" spc="31" dirty="0">
                <a:latin typeface="Calibri"/>
                <a:cs typeface="Calibri"/>
              </a:rPr>
              <a:t> </a:t>
            </a:r>
            <a:r>
              <a:rPr sz="1324" b="1" spc="-22" dirty="0">
                <a:latin typeface="Calibri"/>
                <a:cs typeface="Calibri"/>
              </a:rPr>
              <a:t>20</a:t>
            </a:r>
            <a:r>
              <a:rPr sz="1324" b="1" dirty="0">
                <a:latin typeface="Calibri"/>
                <a:cs typeface="Calibri"/>
              </a:rPr>
              <a:t>	</a:t>
            </a:r>
            <a:r>
              <a:rPr sz="1324" b="1" spc="-22" dirty="0">
                <a:latin typeface="Calibri"/>
                <a:cs typeface="Calibri"/>
              </a:rPr>
              <a:t>16</a:t>
            </a:r>
            <a:r>
              <a:rPr sz="1324" b="1" dirty="0">
                <a:latin typeface="Calibri"/>
                <a:cs typeface="Calibri"/>
              </a:rPr>
              <a:t>	</a:t>
            </a:r>
            <a:r>
              <a:rPr sz="1324" b="1" spc="-22" dirty="0">
                <a:latin typeface="Calibri"/>
                <a:cs typeface="Calibri"/>
              </a:rPr>
              <a:t>15</a:t>
            </a:r>
            <a:r>
              <a:rPr sz="1324" b="1" dirty="0">
                <a:latin typeface="Calibri"/>
                <a:cs typeface="Calibri"/>
              </a:rPr>
              <a:t>	</a:t>
            </a:r>
            <a:r>
              <a:rPr sz="1985" b="1" baseline="3703" dirty="0">
                <a:latin typeface="Calibri"/>
                <a:cs typeface="Calibri"/>
              </a:rPr>
              <a:t>11</a:t>
            </a:r>
            <a:r>
              <a:rPr sz="1985" b="1" spc="46" baseline="3703" dirty="0">
                <a:latin typeface="Calibri"/>
                <a:cs typeface="Calibri"/>
              </a:rPr>
              <a:t> </a:t>
            </a:r>
            <a:r>
              <a:rPr sz="1985" b="1" spc="-33" baseline="3703" dirty="0">
                <a:latin typeface="Calibri"/>
                <a:cs typeface="Calibri"/>
              </a:rPr>
              <a:t>10</a:t>
            </a:r>
            <a:endParaRPr sz="1985" baseline="3703" dirty="0">
              <a:latin typeface="Calibri"/>
              <a:cs typeface="Calibri"/>
            </a:endParaRPr>
          </a:p>
        </p:txBody>
      </p:sp>
      <p:sp>
        <p:nvSpPr>
          <p:cNvPr id="13" name="object 13"/>
          <p:cNvSpPr txBox="1"/>
          <p:nvPr/>
        </p:nvSpPr>
        <p:spPr>
          <a:xfrm>
            <a:off x="6999194" y="1982992"/>
            <a:ext cx="108137" cy="215089"/>
          </a:xfrm>
          <a:prstGeom prst="rect">
            <a:avLst/>
          </a:prstGeom>
        </p:spPr>
        <p:txBody>
          <a:bodyPr vert="horz" wrap="square" lIns="0" tIns="11206" rIns="0" bIns="0" rtlCol="0">
            <a:spAutoFit/>
          </a:bodyPr>
          <a:lstStyle/>
          <a:p>
            <a:pPr marL="11206">
              <a:spcBef>
                <a:spcPts val="88"/>
              </a:spcBef>
            </a:pPr>
            <a:r>
              <a:rPr sz="1324" b="1" spc="-44" dirty="0">
                <a:latin typeface="Calibri"/>
                <a:cs typeface="Calibri"/>
              </a:rPr>
              <a:t>0</a:t>
            </a:r>
            <a:endParaRPr sz="1324">
              <a:latin typeface="Calibri"/>
              <a:cs typeface="Calibri"/>
            </a:endParaRPr>
          </a:p>
        </p:txBody>
      </p:sp>
      <p:sp>
        <p:nvSpPr>
          <p:cNvPr id="14" name="object 14"/>
          <p:cNvSpPr txBox="1"/>
          <p:nvPr/>
        </p:nvSpPr>
        <p:spPr>
          <a:xfrm>
            <a:off x="2516094" y="5485503"/>
            <a:ext cx="4542304" cy="269399"/>
          </a:xfrm>
          <a:prstGeom prst="rect">
            <a:avLst/>
          </a:prstGeom>
        </p:spPr>
        <p:txBody>
          <a:bodyPr vert="horz" wrap="square" lIns="0" tIns="11206" rIns="0" bIns="0" rtlCol="0">
            <a:spAutoFit/>
          </a:bodyPr>
          <a:lstStyle/>
          <a:p>
            <a:pPr marR="76764" algn="ctr">
              <a:spcBef>
                <a:spcPts val="88"/>
              </a:spcBef>
            </a:pPr>
            <a:r>
              <a:rPr sz="1677" dirty="0">
                <a:latin typeface="Calibri"/>
                <a:cs typeface="Calibri"/>
              </a:rPr>
              <a:t>Offset</a:t>
            </a:r>
            <a:r>
              <a:rPr sz="1677" spc="-13" dirty="0">
                <a:latin typeface="Calibri"/>
                <a:cs typeface="Calibri"/>
              </a:rPr>
              <a:t> </a:t>
            </a:r>
            <a:r>
              <a:rPr sz="1677" dirty="0">
                <a:latin typeface="Calibri"/>
                <a:cs typeface="Calibri"/>
              </a:rPr>
              <a:t>added</a:t>
            </a:r>
            <a:r>
              <a:rPr sz="1677" spc="4" dirty="0">
                <a:latin typeface="Calibri"/>
                <a:cs typeface="Calibri"/>
              </a:rPr>
              <a:t> </a:t>
            </a:r>
            <a:r>
              <a:rPr sz="1677" dirty="0">
                <a:latin typeface="Calibri"/>
                <a:cs typeface="Calibri"/>
              </a:rPr>
              <a:t>to</a:t>
            </a:r>
            <a:r>
              <a:rPr sz="1677" spc="-4" dirty="0">
                <a:latin typeface="Calibri"/>
                <a:cs typeface="Calibri"/>
              </a:rPr>
              <a:t> </a:t>
            </a:r>
            <a:r>
              <a:rPr sz="1677" spc="-22" dirty="0">
                <a:latin typeface="Calibri"/>
                <a:cs typeface="Calibri"/>
              </a:rPr>
              <a:t>PC</a:t>
            </a:r>
            <a:endParaRPr sz="1677">
              <a:latin typeface="Calibri"/>
              <a:cs typeface="Calibri"/>
            </a:endParaRPr>
          </a:p>
        </p:txBody>
      </p:sp>
      <p:sp>
        <p:nvSpPr>
          <p:cNvPr id="15" name="object 15"/>
          <p:cNvSpPr txBox="1"/>
          <p:nvPr/>
        </p:nvSpPr>
        <p:spPr>
          <a:xfrm>
            <a:off x="1118347" y="1647713"/>
            <a:ext cx="4693584" cy="269399"/>
          </a:xfrm>
          <a:prstGeom prst="rect">
            <a:avLst/>
          </a:prstGeom>
        </p:spPr>
        <p:txBody>
          <a:bodyPr vert="horz" wrap="square" lIns="0" tIns="11206" rIns="0" bIns="0" rtlCol="0">
            <a:spAutoFit/>
          </a:bodyPr>
          <a:lstStyle/>
          <a:p>
            <a:pPr marL="11206">
              <a:spcBef>
                <a:spcPts val="88"/>
              </a:spcBef>
            </a:pPr>
            <a:r>
              <a:rPr sz="1677" b="1" spc="-22" dirty="0">
                <a:latin typeface="Calibri"/>
                <a:cs typeface="Calibri"/>
              </a:rPr>
              <a:t>Register-</a:t>
            </a:r>
            <a:r>
              <a:rPr sz="1677" b="1" dirty="0">
                <a:latin typeface="Calibri"/>
                <a:cs typeface="Calibri"/>
              </a:rPr>
              <a:t>Register</a:t>
            </a:r>
            <a:r>
              <a:rPr sz="1677" b="1" spc="-9" dirty="0">
                <a:latin typeface="Calibri"/>
                <a:cs typeface="Calibri"/>
              </a:rPr>
              <a:t> </a:t>
            </a:r>
            <a:r>
              <a:rPr sz="1677" b="1" dirty="0">
                <a:latin typeface="Calibri"/>
                <a:cs typeface="Calibri"/>
              </a:rPr>
              <a:t>–</a:t>
            </a:r>
            <a:r>
              <a:rPr sz="1677" b="1" spc="-4" dirty="0">
                <a:latin typeface="Calibri"/>
                <a:cs typeface="Calibri"/>
              </a:rPr>
              <a:t> </a:t>
            </a:r>
            <a:r>
              <a:rPr sz="1677" b="1" dirty="0">
                <a:latin typeface="Calibri"/>
                <a:cs typeface="Calibri"/>
              </a:rPr>
              <a:t>R</a:t>
            </a:r>
            <a:r>
              <a:rPr sz="1677" b="1" spc="-4" dirty="0">
                <a:latin typeface="Calibri"/>
                <a:cs typeface="Calibri"/>
              </a:rPr>
              <a:t> </a:t>
            </a:r>
            <a:r>
              <a:rPr sz="1677" b="1" dirty="0">
                <a:latin typeface="Calibri"/>
                <a:cs typeface="Calibri"/>
              </a:rPr>
              <a:t>Format</a:t>
            </a:r>
            <a:r>
              <a:rPr sz="1677" b="1" spc="-4" dirty="0">
                <a:latin typeface="Calibri"/>
                <a:cs typeface="Calibri"/>
              </a:rPr>
              <a:t> </a:t>
            </a:r>
            <a:r>
              <a:rPr sz="1677" b="1" dirty="0">
                <a:latin typeface="Calibri"/>
                <a:cs typeface="Calibri"/>
              </a:rPr>
              <a:t>–</a:t>
            </a:r>
            <a:r>
              <a:rPr sz="1677" b="1" spc="-4" dirty="0">
                <a:latin typeface="Calibri"/>
                <a:cs typeface="Calibri"/>
              </a:rPr>
              <a:t> </a:t>
            </a:r>
            <a:r>
              <a:rPr sz="1677" b="1" dirty="0">
                <a:latin typeface="Calibri"/>
                <a:cs typeface="Calibri"/>
              </a:rPr>
              <a:t>Arithmetic</a:t>
            </a:r>
            <a:r>
              <a:rPr sz="1677" b="1" spc="-9" dirty="0">
                <a:latin typeface="Calibri"/>
                <a:cs typeface="Calibri"/>
              </a:rPr>
              <a:t> operations</a:t>
            </a:r>
            <a:endParaRPr sz="1677" dirty="0">
              <a:latin typeface="Calibri"/>
              <a:cs typeface="Calibri"/>
            </a:endParaRPr>
          </a:p>
        </p:txBody>
      </p:sp>
      <p:sp>
        <p:nvSpPr>
          <p:cNvPr id="16" name="object 16"/>
          <p:cNvSpPr txBox="1"/>
          <p:nvPr/>
        </p:nvSpPr>
        <p:spPr>
          <a:xfrm>
            <a:off x="5779994" y="1958787"/>
            <a:ext cx="323290" cy="215089"/>
          </a:xfrm>
          <a:prstGeom prst="rect">
            <a:avLst/>
          </a:prstGeom>
        </p:spPr>
        <p:txBody>
          <a:bodyPr vert="horz" wrap="square" lIns="0" tIns="11206" rIns="0" bIns="0" rtlCol="0">
            <a:spAutoFit/>
          </a:bodyPr>
          <a:lstStyle/>
          <a:p>
            <a:pPr marL="11206">
              <a:spcBef>
                <a:spcPts val="88"/>
              </a:spcBef>
              <a:tabLst>
                <a:tab pos="225810" algn="l"/>
              </a:tabLst>
            </a:pPr>
            <a:r>
              <a:rPr sz="1324" b="1" spc="-44" dirty="0">
                <a:latin typeface="Calibri"/>
                <a:cs typeface="Calibri"/>
              </a:rPr>
              <a:t>6</a:t>
            </a:r>
            <a:r>
              <a:rPr sz="1324" b="1" dirty="0">
                <a:latin typeface="Calibri"/>
                <a:cs typeface="Calibri"/>
              </a:rPr>
              <a:t>	</a:t>
            </a:r>
            <a:r>
              <a:rPr sz="1324" b="1" spc="-44" dirty="0">
                <a:latin typeface="Calibri"/>
                <a:cs typeface="Calibri"/>
              </a:rPr>
              <a:t>5</a:t>
            </a:r>
            <a:endParaRPr sz="1324">
              <a:latin typeface="Calibri"/>
              <a:cs typeface="Calibri"/>
            </a:endParaRPr>
          </a:p>
        </p:txBody>
      </p:sp>
      <p:graphicFrame>
        <p:nvGraphicFramePr>
          <p:cNvPr id="17" name="object 17"/>
          <p:cNvGraphicFramePr>
            <a:graphicFrameLocks noGrp="1"/>
          </p:cNvGraphicFramePr>
          <p:nvPr/>
        </p:nvGraphicFramePr>
        <p:xfrm>
          <a:off x="1488141" y="4347898"/>
          <a:ext cx="5570444" cy="334496"/>
        </p:xfrm>
        <a:graphic>
          <a:graphicData uri="http://schemas.openxmlformats.org/drawingml/2006/table">
            <a:tbl>
              <a:tblPr firstRow="1" bandRow="1">
                <a:tableStyleId>{2D5ABB26-0587-4C30-8999-92F81FD0307C}</a:tableStyleId>
              </a:tblPr>
              <a:tblGrid>
                <a:gridCol w="992281">
                  <a:extLst>
                    <a:ext uri="{9D8B030D-6E8A-4147-A177-3AD203B41FA5}">
                      <a16:colId xmlns:a16="http://schemas.microsoft.com/office/drawing/2014/main" val="20000"/>
                    </a:ext>
                  </a:extLst>
                </a:gridCol>
                <a:gridCol w="860612">
                  <a:extLst>
                    <a:ext uri="{9D8B030D-6E8A-4147-A177-3AD203B41FA5}">
                      <a16:colId xmlns:a16="http://schemas.microsoft.com/office/drawing/2014/main" val="20001"/>
                    </a:ext>
                  </a:extLst>
                </a:gridCol>
                <a:gridCol w="860611">
                  <a:extLst>
                    <a:ext uri="{9D8B030D-6E8A-4147-A177-3AD203B41FA5}">
                      <a16:colId xmlns:a16="http://schemas.microsoft.com/office/drawing/2014/main" val="20002"/>
                    </a:ext>
                  </a:extLst>
                </a:gridCol>
                <a:gridCol w="2856940">
                  <a:extLst>
                    <a:ext uri="{9D8B030D-6E8A-4147-A177-3AD203B41FA5}">
                      <a16:colId xmlns:a16="http://schemas.microsoft.com/office/drawing/2014/main" val="20003"/>
                    </a:ext>
                  </a:extLst>
                </a:gridCol>
              </a:tblGrid>
              <a:tr h="334496">
                <a:tc>
                  <a:txBody>
                    <a:bodyPr/>
                    <a:lstStyle/>
                    <a:p>
                      <a:pPr marR="53975" algn="ctr">
                        <a:lnSpc>
                          <a:spcPct val="100000"/>
                        </a:lnSpc>
                        <a:spcBef>
                          <a:spcPts val="350"/>
                        </a:spcBef>
                      </a:pPr>
                      <a:r>
                        <a:rPr sz="1700" spc="-25" dirty="0">
                          <a:latin typeface="Calibri"/>
                          <a:cs typeface="Calibri"/>
                        </a:rPr>
                        <a:t>Op</a:t>
                      </a:r>
                      <a:endParaRPr sz="1700">
                        <a:latin typeface="Calibri"/>
                        <a:cs typeface="Calibri"/>
                      </a:endParaRPr>
                    </a:p>
                  </a:txBody>
                  <a:tcPr marL="0" marR="0" marT="39221" marB="0">
                    <a:lnL w="28575">
                      <a:solidFill>
                        <a:srgbClr val="000000"/>
                      </a:solidFill>
                      <a:prstDash val="solid"/>
                    </a:lnL>
                    <a:lnR w="57150">
                      <a:solidFill>
                        <a:srgbClr val="000000"/>
                      </a:solidFill>
                      <a:prstDash val="solid"/>
                    </a:lnR>
                    <a:lnT w="28575">
                      <a:solidFill>
                        <a:srgbClr val="000000"/>
                      </a:solidFill>
                      <a:prstDash val="solid"/>
                    </a:lnT>
                    <a:lnB w="28575">
                      <a:solidFill>
                        <a:srgbClr val="000000"/>
                      </a:solidFill>
                      <a:prstDash val="solid"/>
                    </a:lnB>
                  </a:tcPr>
                </a:tc>
                <a:tc>
                  <a:txBody>
                    <a:bodyPr/>
                    <a:lstStyle/>
                    <a:p>
                      <a:pPr marL="243204">
                        <a:lnSpc>
                          <a:spcPct val="100000"/>
                        </a:lnSpc>
                        <a:spcBef>
                          <a:spcPts val="545"/>
                        </a:spcBef>
                      </a:pPr>
                      <a:r>
                        <a:rPr sz="1700" spc="-25" dirty="0">
                          <a:latin typeface="Calibri"/>
                          <a:cs typeface="Calibri"/>
                        </a:rPr>
                        <a:t>rs</a:t>
                      </a:r>
                      <a:endParaRPr sz="1700">
                        <a:latin typeface="Calibri"/>
                        <a:cs typeface="Calibri"/>
                      </a:endParaRPr>
                    </a:p>
                  </a:txBody>
                  <a:tcPr marL="0" marR="0" marT="61072" marB="0">
                    <a:lnL w="57150">
                      <a:solidFill>
                        <a:srgbClr val="000000"/>
                      </a:solidFill>
                      <a:prstDash val="solid"/>
                    </a:lnL>
                    <a:lnR w="57150">
                      <a:solidFill>
                        <a:srgbClr val="000000"/>
                      </a:solidFill>
                      <a:prstDash val="solid"/>
                    </a:lnR>
                    <a:lnT w="28575">
                      <a:solidFill>
                        <a:srgbClr val="000000"/>
                      </a:solidFill>
                      <a:prstDash val="solid"/>
                    </a:lnT>
                    <a:lnB w="28575">
                      <a:solidFill>
                        <a:srgbClr val="000000"/>
                      </a:solidFill>
                      <a:prstDash val="solid"/>
                    </a:lnB>
                  </a:tcPr>
                </a:tc>
                <a:tc>
                  <a:txBody>
                    <a:bodyPr/>
                    <a:lstStyle/>
                    <a:p>
                      <a:pPr marL="232410">
                        <a:lnSpc>
                          <a:spcPct val="100000"/>
                        </a:lnSpc>
                        <a:spcBef>
                          <a:spcPts val="350"/>
                        </a:spcBef>
                      </a:pPr>
                      <a:r>
                        <a:rPr sz="1700" spc="-10" dirty="0">
                          <a:latin typeface="Calibri"/>
                          <a:cs typeface="Calibri"/>
                        </a:rPr>
                        <a:t>rt/opx</a:t>
                      </a:r>
                      <a:endParaRPr sz="1700">
                        <a:latin typeface="Calibri"/>
                        <a:cs typeface="Calibri"/>
                      </a:endParaRPr>
                    </a:p>
                  </a:txBody>
                  <a:tcPr marL="0" marR="0" marT="39221" marB="0">
                    <a:lnL w="57150">
                      <a:solidFill>
                        <a:srgbClr val="000000"/>
                      </a:solidFill>
                      <a:prstDash val="solid"/>
                    </a:lnL>
                    <a:lnR w="57150">
                      <a:solidFill>
                        <a:srgbClr val="000000"/>
                      </a:solidFill>
                      <a:prstDash val="solid"/>
                    </a:lnR>
                    <a:lnT w="28575">
                      <a:solidFill>
                        <a:srgbClr val="000000"/>
                      </a:solidFill>
                      <a:prstDash val="solid"/>
                    </a:lnT>
                    <a:lnB w="28575">
                      <a:solidFill>
                        <a:srgbClr val="000000"/>
                      </a:solidFill>
                      <a:prstDash val="solid"/>
                    </a:lnB>
                  </a:tcPr>
                </a:tc>
                <a:tc>
                  <a:txBody>
                    <a:bodyPr/>
                    <a:lstStyle/>
                    <a:p>
                      <a:pPr marL="730885">
                        <a:lnSpc>
                          <a:spcPct val="100000"/>
                        </a:lnSpc>
                        <a:spcBef>
                          <a:spcPts val="350"/>
                        </a:spcBef>
                      </a:pPr>
                      <a:r>
                        <a:rPr sz="1700" spc="-10" dirty="0">
                          <a:latin typeface="Calibri"/>
                          <a:cs typeface="Calibri"/>
                        </a:rPr>
                        <a:t>immediate</a:t>
                      </a:r>
                      <a:endParaRPr sz="1700" dirty="0">
                        <a:latin typeface="Calibri"/>
                        <a:cs typeface="Calibri"/>
                      </a:endParaRPr>
                    </a:p>
                  </a:txBody>
                  <a:tcPr marL="0" marR="0" marT="39221" marB="0">
                    <a:lnL w="5715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18" name="object 18"/>
          <p:cNvSpPr txBox="1"/>
          <p:nvPr/>
        </p:nvSpPr>
        <p:spPr>
          <a:xfrm>
            <a:off x="1118347" y="3797330"/>
            <a:ext cx="6097121" cy="524846"/>
          </a:xfrm>
          <a:prstGeom prst="rect">
            <a:avLst/>
          </a:prstGeom>
        </p:spPr>
        <p:txBody>
          <a:bodyPr vert="horz" wrap="square" lIns="0" tIns="36979" rIns="0" bIns="0" rtlCol="0">
            <a:spAutoFit/>
          </a:bodyPr>
          <a:lstStyle/>
          <a:p>
            <a:pPr marL="11206">
              <a:spcBef>
                <a:spcPts val="291"/>
              </a:spcBef>
            </a:pPr>
            <a:r>
              <a:rPr sz="1677" b="1" dirty="0">
                <a:latin typeface="Calibri"/>
                <a:cs typeface="Calibri"/>
              </a:rPr>
              <a:t>Branch</a:t>
            </a:r>
            <a:r>
              <a:rPr sz="1677" b="1" spc="-40" dirty="0">
                <a:latin typeface="Calibri"/>
                <a:cs typeface="Calibri"/>
              </a:rPr>
              <a:t> </a:t>
            </a:r>
            <a:r>
              <a:rPr sz="1677" b="1" dirty="0">
                <a:latin typeface="Calibri"/>
                <a:cs typeface="Calibri"/>
              </a:rPr>
              <a:t>–</a:t>
            </a:r>
            <a:r>
              <a:rPr sz="1677" b="1" spc="-26" dirty="0">
                <a:latin typeface="Calibri"/>
                <a:cs typeface="Calibri"/>
              </a:rPr>
              <a:t> </a:t>
            </a:r>
            <a:r>
              <a:rPr sz="1677" b="1" dirty="0">
                <a:latin typeface="Calibri"/>
                <a:cs typeface="Calibri"/>
              </a:rPr>
              <a:t>I</a:t>
            </a:r>
            <a:r>
              <a:rPr sz="1677" b="1" spc="-35" dirty="0">
                <a:latin typeface="Calibri"/>
                <a:cs typeface="Calibri"/>
              </a:rPr>
              <a:t> </a:t>
            </a:r>
            <a:r>
              <a:rPr sz="1677" b="1" dirty="0">
                <a:latin typeface="Calibri"/>
                <a:cs typeface="Calibri"/>
              </a:rPr>
              <a:t>Format</a:t>
            </a:r>
            <a:r>
              <a:rPr sz="1677" b="1" spc="-31" dirty="0">
                <a:latin typeface="Calibri"/>
                <a:cs typeface="Calibri"/>
              </a:rPr>
              <a:t> </a:t>
            </a:r>
            <a:r>
              <a:rPr sz="1677" b="1" dirty="0">
                <a:latin typeface="Calibri"/>
                <a:cs typeface="Calibri"/>
              </a:rPr>
              <a:t>–</a:t>
            </a:r>
            <a:r>
              <a:rPr sz="1677" b="1" spc="-26" dirty="0">
                <a:latin typeface="Calibri"/>
                <a:cs typeface="Calibri"/>
              </a:rPr>
              <a:t> </a:t>
            </a:r>
            <a:r>
              <a:rPr sz="1677" b="1" dirty="0">
                <a:latin typeface="Calibri"/>
                <a:cs typeface="Calibri"/>
              </a:rPr>
              <a:t>Moderate</a:t>
            </a:r>
            <a:r>
              <a:rPr sz="1677" b="1" spc="-35" dirty="0">
                <a:latin typeface="Calibri"/>
                <a:cs typeface="Calibri"/>
              </a:rPr>
              <a:t> </a:t>
            </a:r>
            <a:r>
              <a:rPr sz="1677" b="1" dirty="0">
                <a:latin typeface="Calibri"/>
                <a:cs typeface="Calibri"/>
              </a:rPr>
              <a:t>relative</a:t>
            </a:r>
            <a:r>
              <a:rPr sz="1677" b="1" spc="-35" dirty="0">
                <a:latin typeface="Calibri"/>
                <a:cs typeface="Calibri"/>
              </a:rPr>
              <a:t> </a:t>
            </a:r>
            <a:r>
              <a:rPr sz="1677" b="1" dirty="0">
                <a:latin typeface="Calibri"/>
                <a:cs typeface="Calibri"/>
              </a:rPr>
              <a:t>distance</a:t>
            </a:r>
            <a:r>
              <a:rPr sz="1677" b="1" spc="-35" dirty="0">
                <a:latin typeface="Calibri"/>
                <a:cs typeface="Calibri"/>
              </a:rPr>
              <a:t> </a:t>
            </a:r>
            <a:r>
              <a:rPr sz="1677" b="1" dirty="0">
                <a:latin typeface="Calibri"/>
                <a:cs typeface="Calibri"/>
              </a:rPr>
              <a:t>conditional</a:t>
            </a:r>
            <a:r>
              <a:rPr sz="1677" b="1" spc="-35" dirty="0">
                <a:latin typeface="Calibri"/>
                <a:cs typeface="Calibri"/>
              </a:rPr>
              <a:t> </a:t>
            </a:r>
            <a:r>
              <a:rPr sz="1677" b="1" spc="-9" dirty="0">
                <a:latin typeface="Calibri"/>
                <a:cs typeface="Calibri"/>
              </a:rPr>
              <a:t>branches</a:t>
            </a:r>
            <a:endParaRPr sz="1677" dirty="0">
              <a:latin typeface="Calibri"/>
              <a:cs typeface="Calibri"/>
            </a:endParaRPr>
          </a:p>
          <a:p>
            <a:pPr marL="369814">
              <a:spcBef>
                <a:spcPts val="163"/>
              </a:spcBef>
              <a:tabLst>
                <a:tab pos="1158190" algn="l"/>
                <a:tab pos="1445075" algn="l"/>
                <a:tab pos="2090569" algn="l"/>
                <a:tab pos="2879505" algn="l"/>
                <a:tab pos="3166391" algn="l"/>
                <a:tab pos="5891807" algn="l"/>
              </a:tabLst>
            </a:pPr>
            <a:r>
              <a:rPr sz="1324" b="1" spc="-22" dirty="0">
                <a:latin typeface="Calibri"/>
                <a:cs typeface="Calibri"/>
              </a:rPr>
              <a:t>31</a:t>
            </a:r>
            <a:r>
              <a:rPr sz="1324" b="1" dirty="0">
                <a:latin typeface="Calibri"/>
                <a:cs typeface="Calibri"/>
              </a:rPr>
              <a:t>	</a:t>
            </a:r>
            <a:r>
              <a:rPr sz="1324" b="1" spc="-22" dirty="0">
                <a:latin typeface="Calibri"/>
                <a:cs typeface="Calibri"/>
              </a:rPr>
              <a:t>26</a:t>
            </a:r>
            <a:r>
              <a:rPr sz="1324" b="1" dirty="0">
                <a:latin typeface="Calibri"/>
                <a:cs typeface="Calibri"/>
              </a:rPr>
              <a:t>	</a:t>
            </a:r>
            <a:r>
              <a:rPr sz="1324" b="1" spc="-22" dirty="0">
                <a:latin typeface="Calibri"/>
                <a:cs typeface="Calibri"/>
              </a:rPr>
              <a:t>25</a:t>
            </a:r>
            <a:r>
              <a:rPr sz="1324" b="1" dirty="0">
                <a:latin typeface="Calibri"/>
                <a:cs typeface="Calibri"/>
              </a:rPr>
              <a:t>	21</a:t>
            </a:r>
            <a:r>
              <a:rPr sz="1324" b="1" spc="31" dirty="0">
                <a:latin typeface="Calibri"/>
                <a:cs typeface="Calibri"/>
              </a:rPr>
              <a:t> </a:t>
            </a:r>
            <a:r>
              <a:rPr sz="1324" b="1" spc="-22" dirty="0">
                <a:latin typeface="Calibri"/>
                <a:cs typeface="Calibri"/>
              </a:rPr>
              <a:t>20</a:t>
            </a:r>
            <a:r>
              <a:rPr sz="1324" b="1" dirty="0">
                <a:latin typeface="Calibri"/>
                <a:cs typeface="Calibri"/>
              </a:rPr>
              <a:t>	</a:t>
            </a:r>
            <a:r>
              <a:rPr sz="1324" b="1" spc="-22" dirty="0">
                <a:latin typeface="Calibri"/>
                <a:cs typeface="Calibri"/>
              </a:rPr>
              <a:t>16</a:t>
            </a:r>
            <a:r>
              <a:rPr sz="1324" b="1" dirty="0">
                <a:latin typeface="Calibri"/>
                <a:cs typeface="Calibri"/>
              </a:rPr>
              <a:t>	</a:t>
            </a:r>
            <a:r>
              <a:rPr sz="1324" b="1" spc="-22" dirty="0">
                <a:latin typeface="Calibri"/>
                <a:cs typeface="Calibri"/>
              </a:rPr>
              <a:t>15</a:t>
            </a:r>
            <a:r>
              <a:rPr sz="1324" b="1" dirty="0">
                <a:latin typeface="Calibri"/>
                <a:cs typeface="Calibri"/>
              </a:rPr>
              <a:t>	</a:t>
            </a:r>
            <a:r>
              <a:rPr sz="1324" b="1" spc="-44" dirty="0">
                <a:latin typeface="Calibri"/>
                <a:cs typeface="Calibri"/>
              </a:rPr>
              <a:t>0</a:t>
            </a:r>
            <a:endParaRPr sz="1324"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9162" y="562765"/>
            <a:ext cx="6958853" cy="688424"/>
          </a:xfrm>
          <a:prstGeom prst="rect">
            <a:avLst/>
          </a:prstGeom>
        </p:spPr>
        <p:txBody>
          <a:bodyPr vert="horz" wrap="square" lIns="0" tIns="11206" rIns="0" bIns="0" rtlCol="0" anchor="ctr">
            <a:spAutoFit/>
          </a:bodyPr>
          <a:lstStyle/>
          <a:p>
            <a:pPr marL="11206">
              <a:lnSpc>
                <a:spcPct val="100000"/>
              </a:lnSpc>
              <a:spcBef>
                <a:spcPts val="88"/>
              </a:spcBef>
            </a:pPr>
            <a:r>
              <a:rPr dirty="0"/>
              <a:t>Example:</a:t>
            </a:r>
            <a:r>
              <a:rPr spc="-13" dirty="0"/>
              <a:t> </a:t>
            </a:r>
            <a:r>
              <a:rPr spc="-22" dirty="0"/>
              <a:t>BEQ</a:t>
            </a:r>
          </a:p>
        </p:txBody>
      </p:sp>
      <p:sp>
        <p:nvSpPr>
          <p:cNvPr id="5" name="Slide Number Placeholder 4">
            <a:extLst>
              <a:ext uri="{FF2B5EF4-FFF2-40B4-BE49-F238E27FC236}">
                <a16:creationId xmlns:a16="http://schemas.microsoft.com/office/drawing/2014/main" id="{ACDD5051-F49C-171B-7CAB-CD2F04F1FC4D}"/>
              </a:ext>
            </a:extLst>
          </p:cNvPr>
          <p:cNvSpPr>
            <a:spLocks noGrp="1"/>
          </p:cNvSpPr>
          <p:nvPr>
            <p:ph type="sldNum" sz="quarter" idx="7"/>
          </p:nvPr>
        </p:nvSpPr>
        <p:spPr/>
        <p:txBody>
          <a:bodyPr/>
          <a:lstStyle/>
          <a:p>
            <a:fld id="{4FE321F0-2018-4E50-8BB3-A5631EBD98DD}" type="slidenum">
              <a:rPr lang="en-US" smtClean="0"/>
              <a:t>6</a:t>
            </a:fld>
            <a:endParaRPr lang="en-US"/>
          </a:p>
        </p:txBody>
      </p:sp>
      <p:pic>
        <p:nvPicPr>
          <p:cNvPr id="3" name="object 3"/>
          <p:cNvPicPr/>
          <p:nvPr/>
        </p:nvPicPr>
        <p:blipFill>
          <a:blip r:embed="rId2" cstate="print"/>
          <a:stretch>
            <a:fillRect/>
          </a:stretch>
        </p:blipFill>
        <p:spPr>
          <a:xfrm>
            <a:off x="801863" y="1501647"/>
            <a:ext cx="7630984" cy="37417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9162" y="562765"/>
            <a:ext cx="6958853" cy="688424"/>
          </a:xfrm>
          <a:prstGeom prst="rect">
            <a:avLst/>
          </a:prstGeom>
        </p:spPr>
        <p:txBody>
          <a:bodyPr vert="horz" wrap="square" lIns="0" tIns="11206" rIns="0" bIns="0" rtlCol="0" anchor="ctr">
            <a:spAutoFit/>
          </a:bodyPr>
          <a:lstStyle/>
          <a:p>
            <a:pPr marL="11206">
              <a:lnSpc>
                <a:spcPct val="100000"/>
              </a:lnSpc>
              <a:spcBef>
                <a:spcPts val="88"/>
              </a:spcBef>
            </a:pPr>
            <a:r>
              <a:rPr dirty="0"/>
              <a:t>Example:</a:t>
            </a:r>
            <a:r>
              <a:rPr spc="-13" dirty="0"/>
              <a:t> </a:t>
            </a:r>
            <a:r>
              <a:rPr spc="-18" dirty="0"/>
              <a:t>BGEZ</a:t>
            </a:r>
          </a:p>
        </p:txBody>
      </p:sp>
      <p:sp>
        <p:nvSpPr>
          <p:cNvPr id="6" name="Slide Number Placeholder 5">
            <a:extLst>
              <a:ext uri="{FF2B5EF4-FFF2-40B4-BE49-F238E27FC236}">
                <a16:creationId xmlns:a16="http://schemas.microsoft.com/office/drawing/2014/main" id="{EB4502BF-1F69-672C-1579-CF0265F79E4F}"/>
              </a:ext>
            </a:extLst>
          </p:cNvPr>
          <p:cNvSpPr>
            <a:spLocks noGrp="1"/>
          </p:cNvSpPr>
          <p:nvPr>
            <p:ph type="sldNum" sz="quarter" idx="7"/>
          </p:nvPr>
        </p:nvSpPr>
        <p:spPr/>
        <p:txBody>
          <a:bodyPr/>
          <a:lstStyle/>
          <a:p>
            <a:fld id="{4FE321F0-2018-4E50-8BB3-A5631EBD98DD}" type="slidenum">
              <a:rPr lang="en-US" smtClean="0"/>
              <a:t>7</a:t>
            </a:fld>
            <a:endParaRPr lang="en-US"/>
          </a:p>
        </p:txBody>
      </p:sp>
      <p:pic>
        <p:nvPicPr>
          <p:cNvPr id="3" name="object 3"/>
          <p:cNvPicPr/>
          <p:nvPr/>
        </p:nvPicPr>
        <p:blipFill>
          <a:blip r:embed="rId2" cstate="print"/>
          <a:stretch>
            <a:fillRect/>
          </a:stretch>
        </p:blipFill>
        <p:spPr>
          <a:xfrm>
            <a:off x="798652" y="1468783"/>
            <a:ext cx="7711441" cy="3855571"/>
          </a:xfrm>
          <a:prstGeom prst="rect">
            <a:avLst/>
          </a:prstGeom>
        </p:spPr>
      </p:pic>
      <p:sp>
        <p:nvSpPr>
          <p:cNvPr id="4" name="object 4"/>
          <p:cNvSpPr txBox="1"/>
          <p:nvPr/>
        </p:nvSpPr>
        <p:spPr>
          <a:xfrm>
            <a:off x="1364078" y="5640547"/>
            <a:ext cx="6580588" cy="319092"/>
          </a:xfrm>
          <a:prstGeom prst="rect">
            <a:avLst/>
          </a:prstGeom>
        </p:spPr>
        <p:txBody>
          <a:bodyPr vert="horz" wrap="square" lIns="0" tIns="11206" rIns="0" bIns="0" rtlCol="0">
            <a:spAutoFit/>
          </a:bodyPr>
          <a:lstStyle/>
          <a:p>
            <a:pPr marL="11206">
              <a:spcBef>
                <a:spcPts val="88"/>
              </a:spcBef>
            </a:pPr>
            <a:r>
              <a:rPr sz="2000" b="1" dirty="0">
                <a:solidFill>
                  <a:srgbClr val="FC0128"/>
                </a:solidFill>
                <a:latin typeface="Arial"/>
                <a:cs typeface="Arial"/>
              </a:rPr>
              <a:t>rt field</a:t>
            </a:r>
            <a:r>
              <a:rPr sz="2000" b="1" spc="-4" dirty="0">
                <a:solidFill>
                  <a:srgbClr val="FC0128"/>
                </a:solidFill>
                <a:latin typeface="Arial"/>
                <a:cs typeface="Arial"/>
              </a:rPr>
              <a:t> </a:t>
            </a:r>
            <a:r>
              <a:rPr sz="2000" b="1" dirty="0">
                <a:solidFill>
                  <a:srgbClr val="FC0128"/>
                </a:solidFill>
                <a:latin typeface="Arial"/>
                <a:cs typeface="Arial"/>
              </a:rPr>
              <a:t>is</a:t>
            </a:r>
            <a:r>
              <a:rPr sz="2000" b="1" spc="-4" dirty="0">
                <a:solidFill>
                  <a:srgbClr val="FC0128"/>
                </a:solidFill>
                <a:latin typeface="Arial"/>
                <a:cs typeface="Arial"/>
              </a:rPr>
              <a:t> </a:t>
            </a:r>
            <a:r>
              <a:rPr sz="2000" b="1" dirty="0">
                <a:solidFill>
                  <a:srgbClr val="FC0128"/>
                </a:solidFill>
                <a:latin typeface="Arial"/>
                <a:cs typeface="Arial"/>
              </a:rPr>
              <a:t>used</a:t>
            </a:r>
            <a:r>
              <a:rPr sz="2000" b="1" spc="-4" dirty="0">
                <a:solidFill>
                  <a:srgbClr val="FC0128"/>
                </a:solidFill>
                <a:latin typeface="Arial"/>
                <a:cs typeface="Arial"/>
              </a:rPr>
              <a:t> </a:t>
            </a:r>
            <a:r>
              <a:rPr sz="2000" b="1" dirty="0">
                <a:solidFill>
                  <a:srgbClr val="FC0128"/>
                </a:solidFill>
                <a:latin typeface="Arial"/>
                <a:cs typeface="Arial"/>
              </a:rPr>
              <a:t>to</a:t>
            </a:r>
            <a:r>
              <a:rPr sz="2000" b="1" spc="-4" dirty="0">
                <a:solidFill>
                  <a:srgbClr val="FC0128"/>
                </a:solidFill>
                <a:latin typeface="Arial"/>
                <a:cs typeface="Arial"/>
              </a:rPr>
              <a:t> </a:t>
            </a:r>
            <a:r>
              <a:rPr sz="2000" b="1" dirty="0">
                <a:solidFill>
                  <a:srgbClr val="FC0128"/>
                </a:solidFill>
                <a:latin typeface="Arial"/>
                <a:cs typeface="Arial"/>
              </a:rPr>
              <a:t>identify</a:t>
            </a:r>
            <a:r>
              <a:rPr sz="2000" b="1" spc="-4" dirty="0">
                <a:solidFill>
                  <a:srgbClr val="FC0128"/>
                </a:solidFill>
                <a:latin typeface="Arial"/>
                <a:cs typeface="Arial"/>
              </a:rPr>
              <a:t> </a:t>
            </a:r>
            <a:r>
              <a:rPr sz="2000" b="1" dirty="0">
                <a:solidFill>
                  <a:srgbClr val="FC0128"/>
                </a:solidFill>
                <a:latin typeface="Arial"/>
                <a:cs typeface="Arial"/>
              </a:rPr>
              <a:t>specific</a:t>
            </a:r>
            <a:r>
              <a:rPr sz="2000" b="1" spc="-4" dirty="0">
                <a:solidFill>
                  <a:srgbClr val="FC0128"/>
                </a:solidFill>
                <a:latin typeface="Arial"/>
                <a:cs typeface="Arial"/>
              </a:rPr>
              <a:t> </a:t>
            </a:r>
            <a:r>
              <a:rPr sz="2000" b="1" dirty="0">
                <a:solidFill>
                  <a:srgbClr val="FC0128"/>
                </a:solidFill>
                <a:latin typeface="Arial"/>
                <a:cs typeface="Arial"/>
              </a:rPr>
              <a:t>branch </a:t>
            </a:r>
            <a:r>
              <a:rPr sz="2000" b="1" spc="-9" dirty="0">
                <a:solidFill>
                  <a:srgbClr val="FC0128"/>
                </a:solidFill>
                <a:latin typeface="Arial"/>
                <a:cs typeface="Arial"/>
              </a:rPr>
              <a:t>instruction</a:t>
            </a:r>
            <a:endParaRPr sz="2000" dirty="0">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0228" y="670487"/>
            <a:ext cx="6837787" cy="472980"/>
          </a:xfrm>
          <a:prstGeom prst="rect">
            <a:avLst/>
          </a:prstGeom>
        </p:spPr>
        <p:txBody>
          <a:bodyPr vert="horz" wrap="square" lIns="0" tIns="11206" rIns="0" bIns="0" rtlCol="0" anchor="ctr">
            <a:spAutoFit/>
          </a:bodyPr>
          <a:lstStyle/>
          <a:p>
            <a:pPr marL="11206">
              <a:lnSpc>
                <a:spcPct val="100000"/>
              </a:lnSpc>
              <a:spcBef>
                <a:spcPts val="88"/>
              </a:spcBef>
            </a:pPr>
            <a:r>
              <a:rPr lang="en-US" dirty="0"/>
              <a:t>Pseudo-</a:t>
            </a:r>
            <a:r>
              <a:rPr lang="en-US" spc="-9" dirty="0"/>
              <a:t>instructions</a:t>
            </a:r>
          </a:p>
        </p:txBody>
      </p:sp>
      <p:sp>
        <p:nvSpPr>
          <p:cNvPr id="5" name="Slide Number Placeholder 4">
            <a:extLst>
              <a:ext uri="{FF2B5EF4-FFF2-40B4-BE49-F238E27FC236}">
                <a16:creationId xmlns:a16="http://schemas.microsoft.com/office/drawing/2014/main" id="{9DC23767-FBD0-39B9-A42D-FEB04F455C5C}"/>
              </a:ext>
            </a:extLst>
          </p:cNvPr>
          <p:cNvSpPr>
            <a:spLocks noGrp="1"/>
          </p:cNvSpPr>
          <p:nvPr>
            <p:ph type="sldNum" sz="quarter" idx="7"/>
          </p:nvPr>
        </p:nvSpPr>
        <p:spPr/>
        <p:txBody>
          <a:bodyPr/>
          <a:lstStyle/>
          <a:p>
            <a:fld id="{4FE321F0-2018-4E50-8BB3-A5631EBD98DD}" type="slidenum">
              <a:rPr lang="en-US" smtClean="0"/>
              <a:t>8</a:t>
            </a:fld>
            <a:endParaRPr lang="en-US" dirty="0"/>
          </a:p>
        </p:txBody>
      </p:sp>
      <p:sp>
        <p:nvSpPr>
          <p:cNvPr id="3" name="object 3"/>
          <p:cNvSpPr txBox="1"/>
          <p:nvPr/>
        </p:nvSpPr>
        <p:spPr>
          <a:xfrm>
            <a:off x="868101" y="1246543"/>
            <a:ext cx="7465671" cy="5044405"/>
          </a:xfrm>
          <a:prstGeom prst="rect">
            <a:avLst/>
          </a:prstGeom>
        </p:spPr>
        <p:txBody>
          <a:bodyPr vert="horz" wrap="square" lIns="0" tIns="75640" rIns="0" bIns="0" rtlCol="0">
            <a:spAutoFit/>
          </a:bodyPr>
          <a:lstStyle/>
          <a:p>
            <a:pPr marL="279602" indent="-268395">
              <a:spcBef>
                <a:spcPts val="596"/>
              </a:spcBef>
              <a:buChar char="•"/>
              <a:tabLst>
                <a:tab pos="279602" algn="l"/>
              </a:tabLst>
            </a:pPr>
            <a:r>
              <a:rPr lang="en-US" sz="2400" dirty="0">
                <a:latin typeface="Arial MT"/>
                <a:cs typeface="Arial MT"/>
              </a:rPr>
              <a:t>Do</a:t>
            </a:r>
            <a:r>
              <a:rPr lang="en-US" sz="2400" spc="-101" dirty="0">
                <a:latin typeface="Arial MT"/>
                <a:cs typeface="Arial MT"/>
              </a:rPr>
              <a:t> </a:t>
            </a:r>
            <a:r>
              <a:rPr lang="en-US" sz="2400" dirty="0">
                <a:latin typeface="Arial MT"/>
                <a:cs typeface="Arial MT"/>
              </a:rPr>
              <a:t>not</a:t>
            </a:r>
            <a:r>
              <a:rPr lang="en-US" sz="2400" spc="-97" dirty="0">
                <a:latin typeface="Arial MT"/>
                <a:cs typeface="Arial MT"/>
              </a:rPr>
              <a:t> </a:t>
            </a:r>
            <a:r>
              <a:rPr lang="en-US" sz="2400" dirty="0">
                <a:latin typeface="Arial MT"/>
                <a:cs typeface="Arial MT"/>
              </a:rPr>
              <a:t>have</a:t>
            </a:r>
            <a:r>
              <a:rPr lang="en-US" sz="2400" spc="-101" dirty="0">
                <a:latin typeface="Arial MT"/>
                <a:cs typeface="Arial MT"/>
              </a:rPr>
              <a:t> </a:t>
            </a:r>
            <a:r>
              <a:rPr lang="en-US" sz="2400" spc="-18" dirty="0">
                <a:latin typeface="Arial MT"/>
                <a:cs typeface="Arial MT"/>
              </a:rPr>
              <a:t>hardware</a:t>
            </a:r>
            <a:r>
              <a:rPr lang="en-US" sz="2400" spc="-97" dirty="0">
                <a:latin typeface="Arial MT"/>
                <a:cs typeface="Arial MT"/>
              </a:rPr>
              <a:t> </a:t>
            </a:r>
            <a:r>
              <a:rPr lang="en-US" sz="2400" spc="-9" dirty="0">
                <a:latin typeface="Arial MT"/>
                <a:cs typeface="Arial MT"/>
              </a:rPr>
              <a:t>implementation</a:t>
            </a:r>
            <a:endParaRPr lang="en-US" sz="2400" dirty="0">
              <a:latin typeface="Arial MT"/>
              <a:cs typeface="Arial MT"/>
            </a:endParaRPr>
          </a:p>
          <a:p>
            <a:pPr marL="279602" indent="-268395">
              <a:spcBef>
                <a:spcPts val="507"/>
              </a:spcBef>
              <a:buChar char="•"/>
              <a:tabLst>
                <a:tab pos="279602" algn="l"/>
              </a:tabLst>
            </a:pPr>
            <a:r>
              <a:rPr lang="en-US" sz="2400" spc="-18" dirty="0">
                <a:latin typeface="Arial MT"/>
                <a:cs typeface="Arial MT"/>
              </a:rPr>
              <a:t>Instead,</a:t>
            </a:r>
            <a:r>
              <a:rPr lang="en-US" sz="2400" spc="-106" dirty="0">
                <a:latin typeface="Arial MT"/>
                <a:cs typeface="Arial MT"/>
              </a:rPr>
              <a:t> </a:t>
            </a:r>
            <a:r>
              <a:rPr lang="en-US" sz="2400" spc="-9" dirty="0">
                <a:latin typeface="Arial MT"/>
                <a:cs typeface="Arial MT"/>
              </a:rPr>
              <a:t>mapped</a:t>
            </a:r>
            <a:r>
              <a:rPr lang="en-US" sz="2400" spc="-101" dirty="0">
                <a:latin typeface="Arial MT"/>
                <a:cs typeface="Arial MT"/>
              </a:rPr>
              <a:t> </a:t>
            </a:r>
            <a:r>
              <a:rPr lang="en-US" sz="2400" dirty="0">
                <a:latin typeface="Arial MT"/>
                <a:cs typeface="Arial MT"/>
              </a:rPr>
              <a:t>to</a:t>
            </a:r>
            <a:r>
              <a:rPr lang="en-US" sz="2400" spc="-101" dirty="0">
                <a:latin typeface="Arial MT"/>
                <a:cs typeface="Arial MT"/>
              </a:rPr>
              <a:t> </a:t>
            </a:r>
            <a:r>
              <a:rPr lang="en-US" sz="2400" spc="-9" dirty="0">
                <a:latin typeface="Arial MT"/>
                <a:cs typeface="Arial MT"/>
              </a:rPr>
              <a:t>multiple</a:t>
            </a:r>
            <a:r>
              <a:rPr lang="en-US" sz="2400" spc="-106" dirty="0">
                <a:latin typeface="Arial MT"/>
                <a:cs typeface="Arial MT"/>
              </a:rPr>
              <a:t> </a:t>
            </a:r>
            <a:r>
              <a:rPr lang="en-US" sz="2400" dirty="0">
                <a:latin typeface="Arial MT"/>
                <a:cs typeface="Arial MT"/>
              </a:rPr>
              <a:t>basic</a:t>
            </a:r>
            <a:r>
              <a:rPr lang="en-US" sz="2400" spc="-106" dirty="0">
                <a:latin typeface="Arial MT"/>
                <a:cs typeface="Arial MT"/>
              </a:rPr>
              <a:t> </a:t>
            </a:r>
            <a:r>
              <a:rPr lang="en-US" sz="2400" spc="-9" dirty="0">
                <a:latin typeface="Arial MT"/>
                <a:cs typeface="Arial MT"/>
              </a:rPr>
              <a:t>instructions</a:t>
            </a:r>
            <a:endParaRPr lang="en-US" sz="2400" dirty="0">
              <a:latin typeface="Arial MT"/>
              <a:cs typeface="Arial MT"/>
            </a:endParaRPr>
          </a:p>
          <a:p>
            <a:pPr marL="279602" indent="-268395">
              <a:spcBef>
                <a:spcPts val="507"/>
              </a:spcBef>
              <a:spcAft>
                <a:spcPts val="1800"/>
              </a:spcAft>
              <a:buChar char="•"/>
              <a:tabLst>
                <a:tab pos="279602" algn="l"/>
              </a:tabLst>
            </a:pPr>
            <a:r>
              <a:rPr lang="en-US" sz="2400" spc="-22" dirty="0">
                <a:latin typeface="Arial MT"/>
                <a:cs typeface="Arial MT"/>
              </a:rPr>
              <a:t>Convenience</a:t>
            </a:r>
            <a:r>
              <a:rPr lang="en-US" sz="2400" spc="-79" dirty="0">
                <a:latin typeface="Arial MT"/>
                <a:cs typeface="Arial MT"/>
              </a:rPr>
              <a:t> </a:t>
            </a:r>
            <a:r>
              <a:rPr lang="en-US" sz="2400" dirty="0">
                <a:latin typeface="Arial MT"/>
                <a:cs typeface="Arial MT"/>
              </a:rPr>
              <a:t>for</a:t>
            </a:r>
            <a:r>
              <a:rPr lang="en-US" sz="2400" spc="-75" dirty="0">
                <a:latin typeface="Arial MT"/>
                <a:cs typeface="Arial MT"/>
              </a:rPr>
              <a:t> </a:t>
            </a:r>
            <a:r>
              <a:rPr lang="en-US" sz="2400" spc="-9" dirty="0">
                <a:latin typeface="Arial MT"/>
                <a:cs typeface="Arial MT"/>
              </a:rPr>
              <a:t>programmers</a:t>
            </a:r>
            <a:endParaRPr lang="en-US" sz="2400" dirty="0">
              <a:latin typeface="Arial MT"/>
              <a:cs typeface="Arial MT"/>
            </a:endParaRPr>
          </a:p>
          <a:p>
            <a:pPr marL="279602" indent="-268395">
              <a:spcBef>
                <a:spcPts val="4"/>
              </a:spcBef>
              <a:buChar char="•"/>
              <a:tabLst>
                <a:tab pos="279602" algn="l"/>
              </a:tabLst>
            </a:pPr>
            <a:r>
              <a:rPr lang="en-US" sz="2400" spc="-9" dirty="0">
                <a:latin typeface="Arial MT"/>
                <a:cs typeface="Arial MT"/>
              </a:rPr>
              <a:t>Examples</a:t>
            </a:r>
            <a:endParaRPr lang="en-US" sz="2400" dirty="0">
              <a:latin typeface="Arial MT"/>
              <a:cs typeface="Arial MT"/>
            </a:endParaRPr>
          </a:p>
          <a:p>
            <a:pPr marL="441535">
              <a:spcBef>
                <a:spcPts val="326"/>
              </a:spcBef>
            </a:pPr>
            <a:r>
              <a:rPr lang="en-US" dirty="0">
                <a:latin typeface="Courier New"/>
                <a:cs typeface="Courier New"/>
              </a:rPr>
              <a:t>–</a:t>
            </a:r>
            <a:r>
              <a:rPr lang="en-US" spc="-132" dirty="0">
                <a:latin typeface="Courier New"/>
                <a:cs typeface="Courier New"/>
              </a:rPr>
              <a:t> </a:t>
            </a:r>
            <a:r>
              <a:rPr lang="en-US" b="1" dirty="0">
                <a:latin typeface="Courier New"/>
                <a:cs typeface="Courier New"/>
              </a:rPr>
              <a:t>li</a:t>
            </a:r>
            <a:r>
              <a:rPr lang="en-US" b="1" spc="-18" dirty="0">
                <a:latin typeface="Courier New"/>
                <a:cs typeface="Courier New"/>
              </a:rPr>
              <a:t> </a:t>
            </a:r>
            <a:r>
              <a:rPr lang="en-US" b="1" dirty="0">
                <a:latin typeface="Courier New"/>
                <a:cs typeface="Courier New"/>
              </a:rPr>
              <a:t>R16,</a:t>
            </a:r>
            <a:r>
              <a:rPr lang="en-US" b="1" spc="-18" dirty="0">
                <a:latin typeface="Courier New"/>
                <a:cs typeface="Courier New"/>
              </a:rPr>
              <a:t> </a:t>
            </a:r>
            <a:r>
              <a:rPr lang="en-US" b="1" spc="-22" dirty="0">
                <a:latin typeface="Courier New"/>
                <a:cs typeface="Courier New"/>
              </a:rPr>
              <a:t>10</a:t>
            </a:r>
            <a:endParaRPr lang="en-US" dirty="0">
              <a:latin typeface="Courier New"/>
              <a:cs typeface="Courier New"/>
            </a:endParaRPr>
          </a:p>
          <a:p>
            <a:pPr marL="656700">
              <a:spcBef>
                <a:spcPts val="1460"/>
              </a:spcBef>
              <a:tabLst>
                <a:tab pos="2507450" algn="l"/>
              </a:tabLst>
            </a:pPr>
            <a:r>
              <a:rPr lang="en-US" dirty="0">
                <a:latin typeface="Arial MT"/>
                <a:cs typeface="Arial MT"/>
              </a:rPr>
              <a:t>will</a:t>
            </a:r>
            <a:r>
              <a:rPr lang="en-US" spc="-26" dirty="0">
                <a:latin typeface="Arial MT"/>
                <a:cs typeface="Arial MT"/>
              </a:rPr>
              <a:t> </a:t>
            </a:r>
            <a:r>
              <a:rPr lang="en-US" dirty="0">
                <a:latin typeface="Arial MT"/>
                <a:cs typeface="Arial MT"/>
              </a:rPr>
              <a:t>be</a:t>
            </a:r>
            <a:r>
              <a:rPr lang="en-US" spc="-18" dirty="0">
                <a:latin typeface="Arial MT"/>
                <a:cs typeface="Arial MT"/>
              </a:rPr>
              <a:t> </a:t>
            </a:r>
            <a:r>
              <a:rPr lang="en-US" dirty="0">
                <a:latin typeface="Arial MT"/>
                <a:cs typeface="Arial MT"/>
              </a:rPr>
              <a:t>translated</a:t>
            </a:r>
            <a:r>
              <a:rPr lang="en-US" spc="-22" dirty="0">
                <a:latin typeface="Arial MT"/>
                <a:cs typeface="Arial MT"/>
              </a:rPr>
              <a:t> to:</a:t>
            </a:r>
            <a:r>
              <a:rPr lang="en-US" dirty="0">
                <a:latin typeface="Arial MT"/>
                <a:cs typeface="Arial MT"/>
              </a:rPr>
              <a:t>	</a:t>
            </a:r>
            <a:r>
              <a:rPr lang="en-US" b="1" dirty="0" err="1">
                <a:latin typeface="Courier New"/>
                <a:cs typeface="Courier New"/>
              </a:rPr>
              <a:t>ori</a:t>
            </a:r>
            <a:r>
              <a:rPr lang="en-US" b="1" spc="-26" dirty="0">
                <a:latin typeface="Courier New"/>
                <a:cs typeface="Courier New"/>
              </a:rPr>
              <a:t> </a:t>
            </a:r>
            <a:r>
              <a:rPr lang="en-US" b="1" dirty="0">
                <a:latin typeface="Courier New"/>
                <a:cs typeface="Courier New"/>
              </a:rPr>
              <a:t>R16,</a:t>
            </a:r>
            <a:r>
              <a:rPr lang="en-US" b="1" spc="-26" dirty="0">
                <a:latin typeface="Courier New"/>
                <a:cs typeface="Courier New"/>
              </a:rPr>
              <a:t> </a:t>
            </a:r>
            <a:r>
              <a:rPr lang="en-US" b="1" dirty="0">
                <a:latin typeface="Courier New"/>
                <a:cs typeface="Courier New"/>
              </a:rPr>
              <a:t>R0,</a:t>
            </a:r>
            <a:r>
              <a:rPr lang="en-US" b="1" spc="-26" dirty="0">
                <a:latin typeface="Courier New"/>
                <a:cs typeface="Courier New"/>
              </a:rPr>
              <a:t> </a:t>
            </a:r>
            <a:r>
              <a:rPr lang="en-US" b="1" spc="-22" dirty="0">
                <a:latin typeface="Courier New"/>
                <a:cs typeface="Courier New"/>
              </a:rPr>
              <a:t>10</a:t>
            </a:r>
            <a:endParaRPr lang="en-US" dirty="0">
              <a:latin typeface="Courier New"/>
              <a:cs typeface="Courier New"/>
            </a:endParaRPr>
          </a:p>
          <a:p>
            <a:pPr>
              <a:spcBef>
                <a:spcPts val="313"/>
              </a:spcBef>
            </a:pPr>
            <a:endParaRPr lang="en-US" dirty="0">
              <a:latin typeface="Courier New"/>
              <a:cs typeface="Courier New"/>
            </a:endParaRPr>
          </a:p>
          <a:p>
            <a:pPr marL="656700" lvl="1" indent="-215164">
              <a:buFont typeface="Courier New"/>
              <a:buChar char="–"/>
              <a:tabLst>
                <a:tab pos="656700" algn="l"/>
              </a:tabLst>
            </a:pPr>
            <a:r>
              <a:rPr lang="en-US" b="1" dirty="0" err="1">
                <a:latin typeface="Courier New"/>
                <a:cs typeface="Courier New"/>
              </a:rPr>
              <a:t>blt</a:t>
            </a:r>
            <a:r>
              <a:rPr lang="en-US" b="1" spc="-26" dirty="0">
                <a:latin typeface="Courier New"/>
                <a:cs typeface="Courier New"/>
              </a:rPr>
              <a:t> </a:t>
            </a:r>
            <a:r>
              <a:rPr lang="en-US" b="1" dirty="0">
                <a:latin typeface="Courier New"/>
                <a:cs typeface="Courier New"/>
              </a:rPr>
              <a:t>R9,</a:t>
            </a:r>
            <a:r>
              <a:rPr lang="en-US" b="1" spc="-26" dirty="0">
                <a:latin typeface="Courier New"/>
                <a:cs typeface="Courier New"/>
              </a:rPr>
              <a:t> </a:t>
            </a:r>
            <a:r>
              <a:rPr lang="en-US" b="1" dirty="0">
                <a:latin typeface="Courier New"/>
                <a:cs typeface="Courier New"/>
              </a:rPr>
              <a:t>R10,</a:t>
            </a:r>
            <a:r>
              <a:rPr lang="en-US" b="1" spc="-26" dirty="0">
                <a:latin typeface="Courier New"/>
                <a:cs typeface="Courier New"/>
              </a:rPr>
              <a:t> </a:t>
            </a:r>
            <a:r>
              <a:rPr lang="en-US" b="1" spc="-9" dirty="0">
                <a:latin typeface="Courier New"/>
                <a:cs typeface="Courier New"/>
              </a:rPr>
              <a:t>target</a:t>
            </a:r>
            <a:endParaRPr lang="en-US" dirty="0">
              <a:latin typeface="Courier New"/>
              <a:cs typeface="Courier New"/>
            </a:endParaRPr>
          </a:p>
          <a:p>
            <a:pPr marL="656700">
              <a:spcBef>
                <a:spcPts val="1460"/>
              </a:spcBef>
            </a:pPr>
            <a:r>
              <a:rPr lang="en-US" dirty="0">
                <a:latin typeface="Arial MT"/>
                <a:cs typeface="Arial MT"/>
              </a:rPr>
              <a:t>will</a:t>
            </a:r>
            <a:r>
              <a:rPr lang="en-US" spc="-26" dirty="0">
                <a:latin typeface="Arial MT"/>
                <a:cs typeface="Arial MT"/>
              </a:rPr>
              <a:t> </a:t>
            </a:r>
            <a:r>
              <a:rPr lang="en-US" dirty="0">
                <a:latin typeface="Arial MT"/>
                <a:cs typeface="Arial MT"/>
              </a:rPr>
              <a:t>be</a:t>
            </a:r>
            <a:r>
              <a:rPr lang="en-US" spc="-18" dirty="0">
                <a:latin typeface="Arial MT"/>
                <a:cs typeface="Arial MT"/>
              </a:rPr>
              <a:t> </a:t>
            </a:r>
            <a:r>
              <a:rPr lang="en-US" dirty="0">
                <a:latin typeface="Arial MT"/>
                <a:cs typeface="Arial MT"/>
              </a:rPr>
              <a:t>translated</a:t>
            </a:r>
            <a:r>
              <a:rPr lang="en-US" spc="-22" dirty="0">
                <a:latin typeface="Arial MT"/>
                <a:cs typeface="Arial MT"/>
              </a:rPr>
              <a:t> to:</a:t>
            </a:r>
            <a:endParaRPr lang="en-US" dirty="0">
              <a:latin typeface="Arial MT"/>
              <a:cs typeface="Arial MT"/>
            </a:endParaRPr>
          </a:p>
          <a:p>
            <a:pPr marL="656700">
              <a:lnSpc>
                <a:spcPts val="1738"/>
              </a:lnSpc>
              <a:spcBef>
                <a:spcPts val="1460"/>
              </a:spcBef>
            </a:pPr>
            <a:r>
              <a:rPr lang="en-US" b="1" dirty="0" err="1">
                <a:latin typeface="Courier New"/>
                <a:cs typeface="Courier New"/>
              </a:rPr>
              <a:t>slt</a:t>
            </a:r>
            <a:r>
              <a:rPr lang="en-US" b="1" spc="-26" dirty="0">
                <a:latin typeface="Courier New"/>
                <a:cs typeface="Courier New"/>
              </a:rPr>
              <a:t> </a:t>
            </a:r>
            <a:r>
              <a:rPr lang="en-US" b="1" dirty="0">
                <a:latin typeface="Courier New"/>
                <a:cs typeface="Courier New"/>
              </a:rPr>
              <a:t>R1,</a:t>
            </a:r>
            <a:r>
              <a:rPr lang="en-US" b="1" spc="-22" dirty="0">
                <a:latin typeface="Courier New"/>
                <a:cs typeface="Courier New"/>
              </a:rPr>
              <a:t> </a:t>
            </a:r>
            <a:r>
              <a:rPr lang="en-US" b="1" dirty="0">
                <a:latin typeface="Courier New"/>
                <a:cs typeface="Courier New"/>
              </a:rPr>
              <a:t>R9,</a:t>
            </a:r>
            <a:r>
              <a:rPr lang="en-US" b="1" spc="-22" dirty="0">
                <a:latin typeface="Courier New"/>
                <a:cs typeface="Courier New"/>
              </a:rPr>
              <a:t> R10</a:t>
            </a:r>
            <a:endParaRPr lang="en-US" dirty="0">
              <a:latin typeface="Courier New"/>
              <a:cs typeface="Courier New"/>
            </a:endParaRPr>
          </a:p>
          <a:p>
            <a:pPr marL="656700">
              <a:lnSpc>
                <a:spcPts val="1738"/>
              </a:lnSpc>
            </a:pPr>
            <a:r>
              <a:rPr lang="en-US" b="1" dirty="0" err="1">
                <a:latin typeface="Courier New"/>
                <a:cs typeface="Courier New"/>
              </a:rPr>
              <a:t>bne</a:t>
            </a:r>
            <a:r>
              <a:rPr lang="en-US" b="1" spc="-26" dirty="0">
                <a:latin typeface="Courier New"/>
                <a:cs typeface="Courier New"/>
              </a:rPr>
              <a:t> </a:t>
            </a:r>
            <a:r>
              <a:rPr lang="en-US" b="1" dirty="0">
                <a:latin typeface="Courier New"/>
                <a:cs typeface="Courier New"/>
              </a:rPr>
              <a:t>R1,</a:t>
            </a:r>
            <a:r>
              <a:rPr lang="en-US" b="1" spc="-22" dirty="0">
                <a:latin typeface="Courier New"/>
                <a:cs typeface="Courier New"/>
              </a:rPr>
              <a:t> </a:t>
            </a:r>
            <a:r>
              <a:rPr lang="en-US" b="1" dirty="0">
                <a:latin typeface="Courier New"/>
                <a:cs typeface="Courier New"/>
              </a:rPr>
              <a:t>R0,</a:t>
            </a:r>
            <a:r>
              <a:rPr lang="en-US" b="1" spc="-22" dirty="0">
                <a:latin typeface="Courier New"/>
                <a:cs typeface="Courier New"/>
              </a:rPr>
              <a:t> </a:t>
            </a:r>
            <a:r>
              <a:rPr lang="en-US" b="1" spc="-9" dirty="0">
                <a:latin typeface="Courier New"/>
                <a:cs typeface="Courier New"/>
              </a:rPr>
              <a:t>target</a:t>
            </a:r>
            <a:endParaRPr lang="en-US" dirty="0">
              <a:latin typeface="Courier New"/>
              <a:cs typeface="Courier New"/>
            </a:endParaRPr>
          </a:p>
          <a:p>
            <a:pPr>
              <a:spcBef>
                <a:spcPts val="821"/>
              </a:spcBef>
            </a:pPr>
            <a:endParaRPr lang="en-US" dirty="0">
              <a:latin typeface="Courier New"/>
              <a:cs typeface="Courier New"/>
            </a:endParaRPr>
          </a:p>
          <a:p>
            <a:pPr marL="656700" lvl="1" indent="-215164">
              <a:buChar char="–"/>
              <a:tabLst>
                <a:tab pos="656700" algn="l"/>
              </a:tabLst>
            </a:pPr>
            <a:r>
              <a:rPr lang="en-US" dirty="0">
                <a:latin typeface="Arial MT"/>
                <a:cs typeface="Arial MT"/>
              </a:rPr>
              <a:t>Note</a:t>
            </a:r>
            <a:r>
              <a:rPr lang="en-US" spc="-18" dirty="0">
                <a:latin typeface="Arial MT"/>
                <a:cs typeface="Arial MT"/>
              </a:rPr>
              <a:t> </a:t>
            </a:r>
            <a:r>
              <a:rPr lang="en-US" dirty="0">
                <a:latin typeface="Arial MT"/>
                <a:cs typeface="Arial MT"/>
              </a:rPr>
              <a:t>that</a:t>
            </a:r>
            <a:r>
              <a:rPr lang="en-US" spc="-4" dirty="0">
                <a:latin typeface="Arial MT"/>
                <a:cs typeface="Arial MT"/>
              </a:rPr>
              <a:t> </a:t>
            </a:r>
            <a:r>
              <a:rPr lang="en-US" dirty="0">
                <a:latin typeface="Arial MT"/>
                <a:cs typeface="Arial MT"/>
              </a:rPr>
              <a:t>in</a:t>
            </a:r>
            <a:r>
              <a:rPr lang="en-US" spc="-13" dirty="0">
                <a:latin typeface="Arial MT"/>
                <a:cs typeface="Arial MT"/>
              </a:rPr>
              <a:t> </a:t>
            </a:r>
            <a:r>
              <a:rPr lang="en-US" dirty="0">
                <a:latin typeface="Arial MT"/>
                <a:cs typeface="Arial MT"/>
              </a:rPr>
              <a:t>the</a:t>
            </a:r>
            <a:r>
              <a:rPr lang="en-US" spc="-13" dirty="0">
                <a:latin typeface="Arial MT"/>
                <a:cs typeface="Arial MT"/>
              </a:rPr>
              <a:t> </a:t>
            </a:r>
            <a:r>
              <a:rPr lang="en-US" dirty="0">
                <a:latin typeface="Arial MT"/>
                <a:cs typeface="Arial MT"/>
              </a:rPr>
              <a:t>real</a:t>
            </a:r>
            <a:r>
              <a:rPr lang="en-US" spc="-18" dirty="0">
                <a:latin typeface="Arial MT"/>
                <a:cs typeface="Arial MT"/>
              </a:rPr>
              <a:t> </a:t>
            </a:r>
            <a:r>
              <a:rPr lang="en-US" dirty="0">
                <a:latin typeface="Arial MT"/>
                <a:cs typeface="Arial MT"/>
              </a:rPr>
              <a:t>code,</a:t>
            </a:r>
            <a:r>
              <a:rPr lang="en-US" spc="-9" dirty="0">
                <a:latin typeface="Arial MT"/>
                <a:cs typeface="Arial MT"/>
              </a:rPr>
              <a:t> </a:t>
            </a:r>
            <a:r>
              <a:rPr lang="en-US" dirty="0">
                <a:latin typeface="Arial MT"/>
                <a:cs typeface="Arial MT"/>
              </a:rPr>
              <a:t>we</a:t>
            </a:r>
            <a:r>
              <a:rPr lang="en-US" spc="-13" dirty="0">
                <a:latin typeface="Arial MT"/>
                <a:cs typeface="Arial MT"/>
              </a:rPr>
              <a:t> </a:t>
            </a:r>
            <a:r>
              <a:rPr lang="en-US" dirty="0">
                <a:latin typeface="Arial MT"/>
                <a:cs typeface="Arial MT"/>
              </a:rPr>
              <a:t>use</a:t>
            </a:r>
            <a:r>
              <a:rPr lang="en-US" spc="-13" dirty="0">
                <a:latin typeface="Arial MT"/>
                <a:cs typeface="Arial MT"/>
              </a:rPr>
              <a:t> </a:t>
            </a:r>
            <a:r>
              <a:rPr lang="en-US" dirty="0">
                <a:latin typeface="Arial MT"/>
                <a:cs typeface="Arial MT"/>
              </a:rPr>
              <a:t>mnemonics</a:t>
            </a:r>
            <a:r>
              <a:rPr lang="en-US" spc="-9" dirty="0">
                <a:latin typeface="Arial MT"/>
                <a:cs typeface="Arial MT"/>
              </a:rPr>
              <a:t> </a:t>
            </a:r>
            <a:r>
              <a:rPr lang="en-US" dirty="0">
                <a:latin typeface="Arial MT"/>
                <a:cs typeface="Arial MT"/>
              </a:rPr>
              <a:t>(like</a:t>
            </a:r>
            <a:r>
              <a:rPr lang="en-US" spc="-13" dirty="0">
                <a:latin typeface="Arial MT"/>
                <a:cs typeface="Arial MT"/>
              </a:rPr>
              <a:t> </a:t>
            </a:r>
            <a:r>
              <a:rPr lang="en-US" dirty="0">
                <a:latin typeface="Arial MT"/>
                <a:cs typeface="Arial MT"/>
              </a:rPr>
              <a:t>$t0</a:t>
            </a:r>
            <a:r>
              <a:rPr lang="en-US" spc="-18" dirty="0">
                <a:latin typeface="Arial MT"/>
                <a:cs typeface="Arial MT"/>
              </a:rPr>
              <a:t> </a:t>
            </a:r>
            <a:r>
              <a:rPr lang="en-US" dirty="0">
                <a:latin typeface="Arial MT"/>
                <a:cs typeface="Arial MT"/>
              </a:rPr>
              <a:t>or</a:t>
            </a:r>
            <a:r>
              <a:rPr lang="en-US" spc="-4" dirty="0">
                <a:latin typeface="Arial MT"/>
                <a:cs typeface="Arial MT"/>
              </a:rPr>
              <a:t> </a:t>
            </a:r>
            <a:r>
              <a:rPr lang="en-US" spc="-18" dirty="0">
                <a:latin typeface="Arial MT"/>
                <a:cs typeface="Arial MT"/>
              </a:rPr>
              <a:t>$s0)</a:t>
            </a:r>
            <a:endParaRPr lang="en-US" dirty="0">
              <a:latin typeface="Arial MT"/>
              <a:cs typeface="Arial M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fade">
                                      <p:cBhvr>
                                        <p:cTn id="27" dur="500"/>
                                        <p:tgtEl>
                                          <p:spTgt spid="3">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2" end="12"/>
                                            </p:txEl>
                                          </p:spTgt>
                                        </p:tgtEl>
                                        <p:attrNameLst>
                                          <p:attrName>style.visibility</p:attrName>
                                        </p:attrNameLst>
                                      </p:cBhvr>
                                      <p:to>
                                        <p:strVal val="visible"/>
                                      </p:to>
                                    </p:set>
                                    <p:animEffect transition="in" filter="fade">
                                      <p:cBhvr>
                                        <p:cTn id="3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02708" y="524327"/>
            <a:ext cx="7307636" cy="626869"/>
          </a:xfrm>
          <a:prstGeom prst="rect">
            <a:avLst/>
          </a:prstGeom>
        </p:spPr>
        <p:txBody>
          <a:bodyPr vert="horz" wrap="square" lIns="0" tIns="11206" rIns="0" bIns="0" numCol="1" rtlCol="0" anchor="b" anchorCtr="0" compatLnSpc="1">
            <a:prstTxWarp prst="textNoShape">
              <a:avLst/>
            </a:prstTxWarp>
            <a:spAutoFit/>
          </a:bodyPr>
          <a:lstStyle/>
          <a:p>
            <a:pPr marL="11206">
              <a:spcBef>
                <a:spcPts val="88"/>
              </a:spcBef>
            </a:pPr>
            <a:r>
              <a:rPr dirty="0"/>
              <a:t>MIP</a:t>
            </a:r>
            <a:r>
              <a:rPr spc="-31" dirty="0"/>
              <a:t> </a:t>
            </a:r>
            <a:r>
              <a:rPr spc="-9" dirty="0"/>
              <a:t>Registers</a:t>
            </a:r>
          </a:p>
        </p:txBody>
      </p:sp>
      <p:pic>
        <p:nvPicPr>
          <p:cNvPr id="4" name="object 4"/>
          <p:cNvPicPr/>
          <p:nvPr/>
        </p:nvPicPr>
        <p:blipFill>
          <a:blip r:embed="rId3" cstate="print"/>
          <a:stretch>
            <a:fillRect/>
          </a:stretch>
        </p:blipFill>
        <p:spPr>
          <a:xfrm>
            <a:off x="1950973" y="1320352"/>
            <a:ext cx="4704152" cy="4578378"/>
          </a:xfrm>
          <a:prstGeom prst="rect">
            <a:avLst/>
          </a:prstGeom>
        </p:spPr>
      </p:pic>
      <p:sp>
        <p:nvSpPr>
          <p:cNvPr id="5" name="object 5"/>
          <p:cNvSpPr txBox="1"/>
          <p:nvPr/>
        </p:nvSpPr>
        <p:spPr>
          <a:xfrm>
            <a:off x="1970830" y="5968100"/>
            <a:ext cx="3291728" cy="187839"/>
          </a:xfrm>
          <a:prstGeom prst="rect">
            <a:avLst/>
          </a:prstGeom>
        </p:spPr>
        <p:txBody>
          <a:bodyPr vert="horz" wrap="square" lIns="0" tIns="11206" rIns="0" bIns="0" rtlCol="0">
            <a:spAutoFit/>
          </a:bodyPr>
          <a:lstStyle/>
          <a:p>
            <a:pPr marL="11206">
              <a:spcBef>
                <a:spcPts val="88"/>
              </a:spcBef>
            </a:pPr>
            <a:r>
              <a:rPr sz="1147" u="sng" spc="-26" dirty="0">
                <a:solidFill>
                  <a:srgbClr val="FC0128"/>
                </a:solidFill>
                <a:uFill>
                  <a:solidFill>
                    <a:srgbClr val="FC0128"/>
                  </a:solidFill>
                </a:uFill>
                <a:latin typeface="Arial MT"/>
                <a:cs typeface="Arial MT"/>
                <a:hlinkClick r:id="rId4"/>
              </a:rPr>
              <a:t>http://homepage.cs.uiowa.edu/~ghosh/01-23-</a:t>
            </a:r>
            <a:r>
              <a:rPr sz="1147" u="sng" spc="-9" dirty="0">
                <a:solidFill>
                  <a:srgbClr val="FC0128"/>
                </a:solidFill>
                <a:uFill>
                  <a:solidFill>
                    <a:srgbClr val="FC0128"/>
                  </a:solidFill>
                </a:uFill>
                <a:latin typeface="Arial MT"/>
                <a:cs typeface="Arial MT"/>
                <a:hlinkClick r:id="rId4"/>
              </a:rPr>
              <a:t>07.pdf</a:t>
            </a:r>
            <a:endParaRPr sz="1147">
              <a:latin typeface="Arial MT"/>
              <a:cs typeface="Arial MT"/>
            </a:endParaRPr>
          </a:p>
        </p:txBody>
      </p:sp>
      <p:sp>
        <p:nvSpPr>
          <p:cNvPr id="6" name="object 6"/>
          <p:cNvSpPr txBox="1"/>
          <p:nvPr/>
        </p:nvSpPr>
        <p:spPr>
          <a:xfrm>
            <a:off x="1948418" y="6237041"/>
            <a:ext cx="2032747" cy="187839"/>
          </a:xfrm>
          <a:prstGeom prst="rect">
            <a:avLst/>
          </a:prstGeom>
        </p:spPr>
        <p:txBody>
          <a:bodyPr vert="horz" wrap="square" lIns="0" tIns="11206" rIns="0" bIns="0" rtlCol="0">
            <a:spAutoFit/>
          </a:bodyPr>
          <a:lstStyle/>
          <a:p>
            <a:pPr marL="33619">
              <a:spcBef>
                <a:spcPts val="88"/>
              </a:spcBef>
            </a:pPr>
            <a:r>
              <a:rPr sz="1147" dirty="0">
                <a:latin typeface="Arial MT"/>
                <a:cs typeface="Arial MT"/>
              </a:rPr>
              <a:t>Fig.</a:t>
            </a:r>
            <a:r>
              <a:rPr sz="1147" spc="-49" dirty="0">
                <a:latin typeface="Arial MT"/>
                <a:cs typeface="Arial MT"/>
              </a:rPr>
              <a:t> </a:t>
            </a:r>
            <a:r>
              <a:rPr sz="1147" dirty="0">
                <a:latin typeface="Arial MT"/>
                <a:cs typeface="Arial MT"/>
              </a:rPr>
              <a:t>1.4</a:t>
            </a:r>
            <a:r>
              <a:rPr sz="1147" spc="-62" dirty="0">
                <a:latin typeface="Arial MT"/>
                <a:cs typeface="Arial MT"/>
              </a:rPr>
              <a:t> </a:t>
            </a:r>
            <a:r>
              <a:rPr sz="1147" dirty="0">
                <a:latin typeface="Arial MT"/>
                <a:cs typeface="Arial MT"/>
              </a:rPr>
              <a:t>in</a:t>
            </a:r>
            <a:r>
              <a:rPr sz="1147" spc="-57" dirty="0">
                <a:latin typeface="Arial MT"/>
                <a:cs typeface="Arial MT"/>
              </a:rPr>
              <a:t> </a:t>
            </a:r>
            <a:r>
              <a:rPr sz="1147" spc="-9" dirty="0">
                <a:latin typeface="Arial MT"/>
                <a:cs typeface="Arial MT"/>
              </a:rPr>
              <a:t>textbook</a:t>
            </a:r>
            <a:r>
              <a:rPr sz="1147" spc="-57" dirty="0">
                <a:latin typeface="Arial MT"/>
                <a:cs typeface="Arial MT"/>
              </a:rPr>
              <a:t> </a:t>
            </a:r>
            <a:r>
              <a:rPr sz="1147" dirty="0">
                <a:latin typeface="Arial MT"/>
                <a:cs typeface="Arial MT"/>
              </a:rPr>
              <a:t>(5</a:t>
            </a:r>
            <a:r>
              <a:rPr sz="1191" baseline="24691" dirty="0">
                <a:latin typeface="Arial MT"/>
                <a:cs typeface="Arial MT"/>
              </a:rPr>
              <a:t>th</a:t>
            </a:r>
            <a:r>
              <a:rPr sz="1191" spc="53" baseline="24691" dirty="0">
                <a:latin typeface="Arial MT"/>
                <a:cs typeface="Arial MT"/>
              </a:rPr>
              <a:t> </a:t>
            </a:r>
            <a:r>
              <a:rPr sz="1147" spc="-9" dirty="0">
                <a:latin typeface="Arial MT"/>
                <a:cs typeface="Arial MT"/>
              </a:rPr>
              <a:t>edition)</a:t>
            </a:r>
            <a:endParaRPr sz="1147">
              <a:latin typeface="Arial MT"/>
              <a:cs typeface="Arial MT"/>
            </a:endParaRPr>
          </a:p>
        </p:txBody>
      </p:sp>
      <p:sp>
        <p:nvSpPr>
          <p:cNvPr id="2" name="Slide Number Placeholder 4">
            <a:extLst>
              <a:ext uri="{FF2B5EF4-FFF2-40B4-BE49-F238E27FC236}">
                <a16:creationId xmlns:a16="http://schemas.microsoft.com/office/drawing/2014/main" id="{E50BCB7E-D18D-7D2F-0588-02126492182B}"/>
              </a:ext>
            </a:extLst>
          </p:cNvPr>
          <p:cNvSpPr>
            <a:spLocks noGrp="1"/>
          </p:cNvSpPr>
          <p:nvPr>
            <p:ph type="sldNum" sz="quarter" idx="7"/>
          </p:nvPr>
        </p:nvSpPr>
        <p:spPr>
          <a:xfrm>
            <a:off x="8568187" y="6346231"/>
            <a:ext cx="299796" cy="436017"/>
          </a:xfrm>
        </p:spPr>
        <p:txBody>
          <a:bodyPr/>
          <a:lstStyle/>
          <a:p>
            <a:fld id="{4FE321F0-2018-4E50-8BB3-A5631EBD98DD}" type="slidenum">
              <a:rPr lang="en-US" smtClean="0"/>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9162" y="670487"/>
            <a:ext cx="6958853" cy="472980"/>
          </a:xfrm>
          <a:prstGeom prst="rect">
            <a:avLst/>
          </a:prstGeom>
        </p:spPr>
        <p:txBody>
          <a:bodyPr vert="horz" wrap="square" lIns="0" tIns="11206" rIns="0" bIns="0" rtlCol="0" anchor="ctr">
            <a:spAutoFit/>
          </a:bodyPr>
          <a:lstStyle/>
          <a:p>
            <a:pPr marL="11206">
              <a:lnSpc>
                <a:spcPct val="100000"/>
              </a:lnSpc>
              <a:spcBef>
                <a:spcPts val="88"/>
              </a:spcBef>
            </a:pPr>
            <a:r>
              <a:rPr dirty="0"/>
              <a:t>Pseudo</a:t>
            </a:r>
            <a:r>
              <a:rPr lang="en-US" dirty="0"/>
              <a:t>-</a:t>
            </a:r>
            <a:r>
              <a:rPr dirty="0"/>
              <a:t>instruction </a:t>
            </a:r>
            <a:r>
              <a:rPr spc="-9" dirty="0"/>
              <a:t>Examples</a:t>
            </a:r>
          </a:p>
        </p:txBody>
      </p:sp>
      <p:sp>
        <p:nvSpPr>
          <p:cNvPr id="6" name="Slide Number Placeholder 5">
            <a:extLst>
              <a:ext uri="{FF2B5EF4-FFF2-40B4-BE49-F238E27FC236}">
                <a16:creationId xmlns:a16="http://schemas.microsoft.com/office/drawing/2014/main" id="{9C2BF3EC-A354-91D9-43C0-382B113698B8}"/>
              </a:ext>
            </a:extLst>
          </p:cNvPr>
          <p:cNvSpPr>
            <a:spLocks noGrp="1"/>
          </p:cNvSpPr>
          <p:nvPr>
            <p:ph type="sldNum" sz="quarter" idx="7"/>
          </p:nvPr>
        </p:nvSpPr>
        <p:spPr/>
        <p:txBody>
          <a:bodyPr/>
          <a:lstStyle/>
          <a:p>
            <a:fld id="{4FE321F0-2018-4E50-8BB3-A5631EBD98DD}" type="slidenum">
              <a:rPr lang="en-US" smtClean="0"/>
              <a:t>10</a:t>
            </a:fld>
            <a:endParaRPr lang="en-US"/>
          </a:p>
        </p:txBody>
      </p:sp>
      <p:pic>
        <p:nvPicPr>
          <p:cNvPr id="3" name="object 3"/>
          <p:cNvPicPr/>
          <p:nvPr/>
        </p:nvPicPr>
        <p:blipFill>
          <a:blip r:embed="rId2" cstate="print"/>
          <a:stretch>
            <a:fillRect/>
          </a:stretch>
        </p:blipFill>
        <p:spPr>
          <a:xfrm>
            <a:off x="1072901" y="1322138"/>
            <a:ext cx="6399717" cy="4562857"/>
          </a:xfrm>
          <a:prstGeom prst="rect">
            <a:avLst/>
          </a:prstGeom>
        </p:spPr>
      </p:pic>
      <p:sp>
        <p:nvSpPr>
          <p:cNvPr id="4" name="object 4"/>
          <p:cNvSpPr txBox="1"/>
          <p:nvPr/>
        </p:nvSpPr>
        <p:spPr>
          <a:xfrm>
            <a:off x="2232512" y="6028941"/>
            <a:ext cx="4506446" cy="174309"/>
          </a:xfrm>
          <a:prstGeom prst="rect">
            <a:avLst/>
          </a:prstGeom>
        </p:spPr>
        <p:txBody>
          <a:bodyPr vert="horz" wrap="square" lIns="0" tIns="11206" rIns="0" bIns="0" rtlCol="0">
            <a:spAutoFit/>
          </a:bodyPr>
          <a:lstStyle/>
          <a:p>
            <a:pPr marL="11206">
              <a:spcBef>
                <a:spcPts val="88"/>
              </a:spcBef>
            </a:pPr>
            <a:r>
              <a:rPr sz="1059" i="1" spc="-9" dirty="0">
                <a:latin typeface="Arial"/>
                <a:cs typeface="Arial"/>
              </a:rPr>
              <a:t>source:</a:t>
            </a:r>
            <a:r>
              <a:rPr sz="1059" i="1" spc="371" dirty="0">
                <a:latin typeface="Arial"/>
                <a:cs typeface="Arial"/>
              </a:rPr>
              <a:t> </a:t>
            </a:r>
            <a:r>
              <a:rPr sz="1059" i="1" spc="-22" dirty="0">
                <a:latin typeface="Arial"/>
                <a:cs typeface="Arial"/>
                <a:hlinkClick r:id="rId3"/>
              </a:rPr>
              <a:t>http://www.cs.columbia.edu/~martha/courses/3827/au15/mips-</a:t>
            </a:r>
            <a:r>
              <a:rPr sz="1059" i="1" spc="-9" dirty="0">
                <a:latin typeface="Arial"/>
                <a:cs typeface="Arial"/>
                <a:hlinkClick r:id="rId3"/>
              </a:rPr>
              <a:t>isa.pdf</a:t>
            </a:r>
            <a:endParaRPr sz="1059" dirty="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E9A778-B99A-F028-8558-C275914A0F6F}"/>
              </a:ext>
            </a:extLst>
          </p:cNvPr>
          <p:cNvSpPr>
            <a:spLocks noGrp="1"/>
          </p:cNvSpPr>
          <p:nvPr>
            <p:ph type="title"/>
          </p:nvPr>
        </p:nvSpPr>
        <p:spPr>
          <a:xfrm>
            <a:off x="881303" y="645215"/>
            <a:ext cx="5874905" cy="461665"/>
          </a:xfrm>
        </p:spPr>
        <p:txBody>
          <a:bodyPr/>
          <a:lstStyle/>
          <a:p>
            <a:r>
              <a:rPr lang="en-US" dirty="0"/>
              <a:t>Example 1: Conditional if</a:t>
            </a:r>
          </a:p>
        </p:txBody>
      </p:sp>
      <p:sp>
        <p:nvSpPr>
          <p:cNvPr id="5" name="Text Placeholder 4">
            <a:extLst>
              <a:ext uri="{FF2B5EF4-FFF2-40B4-BE49-F238E27FC236}">
                <a16:creationId xmlns:a16="http://schemas.microsoft.com/office/drawing/2014/main" id="{35F29B0C-C483-31A4-AD36-8B24CF0F0BC1}"/>
              </a:ext>
            </a:extLst>
          </p:cNvPr>
          <p:cNvSpPr>
            <a:spLocks noGrp="1"/>
          </p:cNvSpPr>
          <p:nvPr>
            <p:ph type="body" idx="1"/>
          </p:nvPr>
        </p:nvSpPr>
        <p:spPr>
          <a:xfrm>
            <a:off x="881303" y="1347880"/>
            <a:ext cx="7465528" cy="4801314"/>
          </a:xfrm>
        </p:spPr>
        <p:txBody>
          <a:bodyPr/>
          <a:lstStyle/>
          <a:p>
            <a:r>
              <a:rPr lang="en-US" sz="2400" dirty="0">
                <a:latin typeface="Arial MT"/>
                <a:cs typeface="Courier New" panose="02070309020205020404" pitchFamily="49" charset="0"/>
              </a:rPr>
              <a:t>Convert the following C code snippet to MIPS32,</a:t>
            </a:r>
            <a:br>
              <a:rPr lang="en-US" sz="2400" dirty="0">
                <a:latin typeface="Arial MT"/>
                <a:cs typeface="Courier New" panose="02070309020205020404" pitchFamily="49" charset="0"/>
              </a:rPr>
            </a:br>
            <a:r>
              <a:rPr lang="en-US" sz="2400" dirty="0">
                <a:latin typeface="Arial MT"/>
                <a:cs typeface="Courier New" panose="02070309020205020404" pitchFamily="49" charset="0"/>
              </a:rPr>
              <a:t>assuming that </a:t>
            </a:r>
            <a:r>
              <a:rPr lang="en-US" sz="2400" dirty="0" err="1">
                <a:latin typeface="Arial MT"/>
                <a:cs typeface="Courier New" panose="02070309020205020404" pitchFamily="49" charset="0"/>
              </a:rPr>
              <a:t>i</a:t>
            </a:r>
            <a:r>
              <a:rPr lang="en-US" sz="2400" dirty="0">
                <a:latin typeface="Arial MT"/>
                <a:cs typeface="Courier New" panose="02070309020205020404" pitchFamily="49" charset="0"/>
              </a:rPr>
              <a:t> and j are already loaded into $s1 </a:t>
            </a:r>
            <a:br>
              <a:rPr lang="en-US" sz="2400" dirty="0">
                <a:latin typeface="Arial MT"/>
                <a:cs typeface="Courier New" panose="02070309020205020404" pitchFamily="49" charset="0"/>
              </a:rPr>
            </a:br>
            <a:r>
              <a:rPr lang="en-US" sz="2400" dirty="0">
                <a:latin typeface="Arial MT"/>
                <a:cs typeface="Courier New" panose="02070309020205020404" pitchFamily="49" charset="0"/>
              </a:rPr>
              <a:t>and $s2 respectively.</a:t>
            </a:r>
          </a:p>
          <a:p>
            <a:endParaRPr lang="en-US" sz="2400"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if (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j )</a:t>
            </a:r>
          </a:p>
          <a:p>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if-body</a:t>
            </a:r>
          </a:p>
          <a:p>
            <a:r>
              <a:rPr lang="en-US" sz="2400" dirty="0">
                <a:latin typeface="Courier New" panose="02070309020205020404" pitchFamily="49" charset="0"/>
                <a:cs typeface="Courier New" panose="02070309020205020404" pitchFamily="49" charset="0"/>
              </a:rPr>
              <a:t>j--;</a:t>
            </a:r>
          </a:p>
          <a:p>
            <a:endParaRPr lang="en-US" sz="2400" dirty="0">
              <a:latin typeface="Courier New" panose="02070309020205020404" pitchFamily="49" charset="0"/>
              <a:cs typeface="Courier New" panose="02070309020205020404" pitchFamily="49" charset="0"/>
            </a:endParaRPr>
          </a:p>
          <a:p>
            <a:r>
              <a:rPr lang="en-US" sz="2400" dirty="0">
                <a:latin typeface="Arial MT"/>
                <a:cs typeface="Courier New" panose="02070309020205020404" pitchFamily="49" charset="0"/>
              </a:rPr>
              <a:t>MIPS Implementation:</a:t>
            </a:r>
          </a:p>
          <a:p>
            <a:endParaRPr lang="en-US" sz="2400"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bne</a:t>
            </a:r>
            <a:r>
              <a:rPr lang="en-US" sz="2400" dirty="0">
                <a:latin typeface="Courier New" panose="02070309020205020404" pitchFamily="49" charset="0"/>
                <a:cs typeface="Courier New" panose="02070309020205020404" pitchFamily="49" charset="0"/>
              </a:rPr>
              <a:t>  $s1, $s2, L1</a:t>
            </a:r>
          </a:p>
          <a:p>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addi</a:t>
            </a:r>
            <a:r>
              <a:rPr lang="en-US" sz="2400" dirty="0">
                <a:latin typeface="Courier New" panose="02070309020205020404" pitchFamily="49" charset="0"/>
                <a:cs typeface="Courier New" panose="02070309020205020404" pitchFamily="49" charset="0"/>
              </a:rPr>
              <a:t> $s1, $s1, 1</a:t>
            </a:r>
          </a:p>
          <a:p>
            <a:r>
              <a:rPr lang="en-US" sz="2400" dirty="0">
                <a:latin typeface="Courier New" panose="02070309020205020404" pitchFamily="49" charset="0"/>
                <a:cs typeface="Courier New" panose="02070309020205020404" pitchFamily="49" charset="0"/>
              </a:rPr>
              <a:t>L1: </a:t>
            </a:r>
            <a:r>
              <a:rPr lang="en-US" sz="2400" dirty="0" err="1">
                <a:latin typeface="Courier New" panose="02070309020205020404" pitchFamily="49" charset="0"/>
                <a:cs typeface="Courier New" panose="02070309020205020404" pitchFamily="49" charset="0"/>
              </a:rPr>
              <a:t>addi</a:t>
            </a:r>
            <a:r>
              <a:rPr lang="en-US" sz="2400" dirty="0">
                <a:latin typeface="Courier New" panose="02070309020205020404" pitchFamily="49" charset="0"/>
                <a:cs typeface="Courier New" panose="02070309020205020404" pitchFamily="49" charset="0"/>
              </a:rPr>
              <a:t> $s2, $s2, -1</a:t>
            </a:r>
          </a:p>
        </p:txBody>
      </p:sp>
      <p:sp>
        <p:nvSpPr>
          <p:cNvPr id="3" name="Slide Number Placeholder 2">
            <a:extLst>
              <a:ext uri="{FF2B5EF4-FFF2-40B4-BE49-F238E27FC236}">
                <a16:creationId xmlns:a16="http://schemas.microsoft.com/office/drawing/2014/main" id="{FF3FD37E-24B4-21C4-097D-1DD269B6C471}"/>
              </a:ext>
            </a:extLst>
          </p:cNvPr>
          <p:cNvSpPr>
            <a:spLocks noGrp="1"/>
          </p:cNvSpPr>
          <p:nvPr>
            <p:ph type="sldNum" sz="quarter" idx="7"/>
          </p:nvPr>
        </p:nvSpPr>
        <p:spPr>
          <a:xfrm>
            <a:off x="8510954" y="6346231"/>
            <a:ext cx="357029" cy="436017"/>
          </a:xfrm>
        </p:spPr>
        <p:txBody>
          <a:bodyPr/>
          <a:lstStyle/>
          <a:p>
            <a:pPr marL="139521">
              <a:lnSpc>
                <a:spcPts val="1747"/>
              </a:lnSpc>
            </a:pPr>
            <a:fld id="{81D60167-4931-47E6-BA6A-407CBD079E47}" type="slidenum">
              <a:rPr lang="en-US" spc="-44" smtClean="0"/>
              <a:pPr marL="139521">
                <a:lnSpc>
                  <a:spcPts val="1747"/>
                </a:lnSpc>
              </a:pPr>
              <a:t>11</a:t>
            </a:fld>
            <a:endParaRPr lang="en-US" spc="-44" dirty="0"/>
          </a:p>
        </p:txBody>
      </p:sp>
    </p:spTree>
    <p:extLst>
      <p:ext uri="{BB962C8B-B14F-4D97-AF65-F5344CB8AC3E}">
        <p14:creationId xmlns:p14="http://schemas.microsoft.com/office/powerpoint/2010/main" val="360263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81C80-27CC-ECC3-3DA7-CE5230EF9F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9192F0-EBC9-983B-0C94-8DD7E2893746}"/>
              </a:ext>
            </a:extLst>
          </p:cNvPr>
          <p:cNvSpPr>
            <a:spLocks noGrp="1"/>
          </p:cNvSpPr>
          <p:nvPr>
            <p:ph type="title"/>
          </p:nvPr>
        </p:nvSpPr>
        <p:spPr>
          <a:xfrm>
            <a:off x="881303" y="645215"/>
            <a:ext cx="5874905" cy="461665"/>
          </a:xfrm>
        </p:spPr>
        <p:txBody>
          <a:bodyPr/>
          <a:lstStyle/>
          <a:p>
            <a:r>
              <a:rPr lang="en-US" dirty="0"/>
              <a:t>Example 2: Conditional if-else</a:t>
            </a:r>
          </a:p>
        </p:txBody>
      </p:sp>
      <p:sp>
        <p:nvSpPr>
          <p:cNvPr id="5" name="Text Placeholder 4">
            <a:extLst>
              <a:ext uri="{FF2B5EF4-FFF2-40B4-BE49-F238E27FC236}">
                <a16:creationId xmlns:a16="http://schemas.microsoft.com/office/drawing/2014/main" id="{E99C61D0-306E-0931-0FED-385056B0FE6E}"/>
              </a:ext>
            </a:extLst>
          </p:cNvPr>
          <p:cNvSpPr>
            <a:spLocks noGrp="1"/>
          </p:cNvSpPr>
          <p:nvPr>
            <p:ph type="body" idx="1"/>
          </p:nvPr>
        </p:nvSpPr>
        <p:spPr>
          <a:xfrm>
            <a:off x="881303" y="1347880"/>
            <a:ext cx="7465528" cy="3323987"/>
          </a:xfrm>
        </p:spPr>
        <p:txBody>
          <a:bodyPr/>
          <a:lstStyle/>
          <a:p>
            <a:r>
              <a:rPr lang="en-US" sz="2400" dirty="0">
                <a:latin typeface="Arial MT"/>
                <a:cs typeface="Courier New" panose="02070309020205020404" pitchFamily="49" charset="0"/>
              </a:rPr>
              <a:t>Convert the following C code snippet to MIPS32,</a:t>
            </a:r>
            <a:br>
              <a:rPr lang="en-US" sz="2400" dirty="0">
                <a:latin typeface="Arial MT"/>
                <a:cs typeface="Courier New" panose="02070309020205020404" pitchFamily="49" charset="0"/>
              </a:rPr>
            </a:br>
            <a:r>
              <a:rPr lang="en-US" sz="2400" dirty="0">
                <a:latin typeface="Arial MT"/>
                <a:cs typeface="Courier New" panose="02070309020205020404" pitchFamily="49" charset="0"/>
              </a:rPr>
              <a:t>assuming that </a:t>
            </a:r>
            <a:r>
              <a:rPr lang="en-US" sz="2400" dirty="0" err="1">
                <a:latin typeface="Arial MT"/>
                <a:cs typeface="Courier New" panose="02070309020205020404" pitchFamily="49" charset="0"/>
              </a:rPr>
              <a:t>i</a:t>
            </a:r>
            <a:r>
              <a:rPr lang="en-US" sz="2400" dirty="0">
                <a:latin typeface="Arial MT"/>
                <a:cs typeface="Courier New" panose="02070309020205020404" pitchFamily="49" charset="0"/>
              </a:rPr>
              <a:t> and j are already loaded into $s1 </a:t>
            </a:r>
            <a:br>
              <a:rPr lang="en-US" sz="2400" dirty="0">
                <a:latin typeface="Arial MT"/>
                <a:cs typeface="Courier New" panose="02070309020205020404" pitchFamily="49" charset="0"/>
              </a:rPr>
            </a:br>
            <a:r>
              <a:rPr lang="en-US" sz="2400" dirty="0">
                <a:latin typeface="Arial MT"/>
                <a:cs typeface="Courier New" panose="02070309020205020404" pitchFamily="49" charset="0"/>
              </a:rPr>
              <a:t>and $s2 respectively.</a:t>
            </a:r>
          </a:p>
          <a:p>
            <a:endParaRPr lang="en-US" sz="2400"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if (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j )</a:t>
            </a:r>
          </a:p>
          <a:p>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if-body</a:t>
            </a:r>
          </a:p>
          <a:p>
            <a:r>
              <a:rPr lang="en-US" sz="2400" dirty="0">
                <a:latin typeface="Courier New" panose="02070309020205020404" pitchFamily="49" charset="0"/>
                <a:cs typeface="Courier New" panose="02070309020205020404" pitchFamily="49" charset="0"/>
              </a:rPr>
              <a:t>else</a:t>
            </a:r>
          </a:p>
          <a:p>
            <a:r>
              <a:rPr lang="en-US" sz="2400" dirty="0">
                <a:latin typeface="Courier New" panose="02070309020205020404" pitchFamily="49" charset="0"/>
                <a:cs typeface="Courier New" panose="02070309020205020404" pitchFamily="49" charset="0"/>
              </a:rPr>
              <a:t>    j--;     // else-body</a:t>
            </a:r>
          </a:p>
          <a:p>
            <a:r>
              <a:rPr lang="en-US" sz="2400" dirty="0">
                <a:latin typeface="Courier New" panose="02070309020205020404" pitchFamily="49" charset="0"/>
                <a:cs typeface="Courier New" panose="02070309020205020404" pitchFamily="49" charset="0"/>
              </a:rPr>
              <a:t>j +=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p>
        </p:txBody>
      </p:sp>
      <p:sp>
        <p:nvSpPr>
          <p:cNvPr id="3" name="Slide Number Placeholder 2">
            <a:extLst>
              <a:ext uri="{FF2B5EF4-FFF2-40B4-BE49-F238E27FC236}">
                <a16:creationId xmlns:a16="http://schemas.microsoft.com/office/drawing/2014/main" id="{624E1485-9666-481E-FB05-73B0FA163A15}"/>
              </a:ext>
            </a:extLst>
          </p:cNvPr>
          <p:cNvSpPr>
            <a:spLocks noGrp="1"/>
          </p:cNvSpPr>
          <p:nvPr>
            <p:ph type="sldNum" sz="quarter" idx="7"/>
          </p:nvPr>
        </p:nvSpPr>
        <p:spPr>
          <a:xfrm>
            <a:off x="8510954" y="6346231"/>
            <a:ext cx="357029" cy="436017"/>
          </a:xfrm>
        </p:spPr>
        <p:txBody>
          <a:bodyPr/>
          <a:lstStyle/>
          <a:p>
            <a:pPr marL="139521">
              <a:lnSpc>
                <a:spcPts val="1747"/>
              </a:lnSpc>
            </a:pPr>
            <a:fld id="{81D60167-4931-47E6-BA6A-407CBD079E47}" type="slidenum">
              <a:rPr lang="en-US" spc="-44" smtClean="0"/>
              <a:pPr marL="139521">
                <a:lnSpc>
                  <a:spcPts val="1747"/>
                </a:lnSpc>
              </a:pPr>
              <a:t>12</a:t>
            </a:fld>
            <a:endParaRPr lang="en-US" spc="-44" dirty="0"/>
          </a:p>
        </p:txBody>
      </p:sp>
    </p:spTree>
    <p:extLst>
      <p:ext uri="{BB962C8B-B14F-4D97-AF65-F5344CB8AC3E}">
        <p14:creationId xmlns:p14="http://schemas.microsoft.com/office/powerpoint/2010/main" val="3493841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D8803-A80E-FBD6-6414-848C4C8BC3C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BB7361-4070-952C-0A45-4F80781C20A2}"/>
              </a:ext>
            </a:extLst>
          </p:cNvPr>
          <p:cNvSpPr>
            <a:spLocks noGrp="1"/>
          </p:cNvSpPr>
          <p:nvPr>
            <p:ph type="title"/>
          </p:nvPr>
        </p:nvSpPr>
        <p:spPr>
          <a:xfrm>
            <a:off x="881303" y="645215"/>
            <a:ext cx="7285667" cy="461665"/>
          </a:xfrm>
        </p:spPr>
        <p:txBody>
          <a:bodyPr/>
          <a:lstStyle/>
          <a:p>
            <a:r>
              <a:rPr lang="en-US" dirty="0"/>
              <a:t>Example 2: Conditional if-else (Solution)</a:t>
            </a:r>
          </a:p>
        </p:txBody>
      </p:sp>
      <p:sp>
        <p:nvSpPr>
          <p:cNvPr id="5" name="Text Placeholder 4">
            <a:extLst>
              <a:ext uri="{FF2B5EF4-FFF2-40B4-BE49-F238E27FC236}">
                <a16:creationId xmlns:a16="http://schemas.microsoft.com/office/drawing/2014/main" id="{CA745E8C-3181-F111-2E8B-ABF41173FCFB}"/>
              </a:ext>
            </a:extLst>
          </p:cNvPr>
          <p:cNvSpPr>
            <a:spLocks noGrp="1"/>
          </p:cNvSpPr>
          <p:nvPr>
            <p:ph type="body" idx="1"/>
          </p:nvPr>
        </p:nvSpPr>
        <p:spPr>
          <a:xfrm>
            <a:off x="881303" y="1347880"/>
            <a:ext cx="7465528" cy="4062651"/>
          </a:xfrm>
        </p:spPr>
        <p:txBody>
          <a:bodyPr/>
          <a:lstStyle/>
          <a:p>
            <a:r>
              <a:rPr lang="en-US" sz="2400" dirty="0">
                <a:latin typeface="Arial MT"/>
                <a:cs typeface="Courier New" panose="02070309020205020404" pitchFamily="49" charset="0"/>
              </a:rPr>
              <a:t>MIPS Implementation:</a:t>
            </a:r>
          </a:p>
          <a:p>
            <a:endParaRPr lang="en-US" sz="2400"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bne</a:t>
            </a:r>
            <a:r>
              <a:rPr lang="en-US" sz="2400" dirty="0">
                <a:latin typeface="Courier New" panose="02070309020205020404" pitchFamily="49" charset="0"/>
                <a:cs typeface="Courier New" panose="02070309020205020404" pitchFamily="49" charset="0"/>
              </a:rPr>
              <a:t>  $s1, $s2, ELSE</a:t>
            </a:r>
          </a:p>
          <a:p>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addi</a:t>
            </a:r>
            <a:r>
              <a:rPr lang="en-US" sz="2400" dirty="0">
                <a:latin typeface="Courier New" panose="02070309020205020404" pitchFamily="49" charset="0"/>
                <a:cs typeface="Courier New" panose="02070309020205020404" pitchFamily="49" charset="0"/>
              </a:rPr>
              <a:t> $s1, $s1, 1</a:t>
            </a:r>
          </a:p>
          <a:p>
            <a:r>
              <a:rPr lang="en-US" sz="2400" dirty="0">
                <a:latin typeface="Courier New" panose="02070309020205020404" pitchFamily="49" charset="0"/>
                <a:cs typeface="Courier New" panose="02070309020205020404" pitchFamily="49" charset="0"/>
              </a:rPr>
              <a:t>      </a:t>
            </a:r>
            <a:r>
              <a:rPr lang="en-US" sz="2400" b="1" dirty="0">
                <a:solidFill>
                  <a:srgbClr val="FF0000"/>
                </a:solidFill>
                <a:latin typeface="Courier New" panose="02070309020205020404" pitchFamily="49" charset="0"/>
                <a:cs typeface="Courier New" panose="02070309020205020404" pitchFamily="49" charset="0"/>
              </a:rPr>
              <a:t>j NEXT</a:t>
            </a:r>
          </a:p>
          <a:p>
            <a:r>
              <a:rPr lang="en-US" sz="2400" dirty="0">
                <a:latin typeface="Courier New" panose="02070309020205020404" pitchFamily="49" charset="0"/>
                <a:cs typeface="Courier New" panose="02070309020205020404" pitchFamily="49" charset="0"/>
              </a:rPr>
              <a:t>ELSE: </a:t>
            </a:r>
            <a:r>
              <a:rPr lang="en-US" sz="2400" dirty="0" err="1">
                <a:latin typeface="Courier New" panose="02070309020205020404" pitchFamily="49" charset="0"/>
                <a:cs typeface="Courier New" panose="02070309020205020404" pitchFamily="49" charset="0"/>
              </a:rPr>
              <a:t>addi</a:t>
            </a:r>
            <a:r>
              <a:rPr lang="en-US" sz="2400" dirty="0">
                <a:latin typeface="Courier New" panose="02070309020205020404" pitchFamily="49" charset="0"/>
                <a:cs typeface="Courier New" panose="02070309020205020404" pitchFamily="49" charset="0"/>
              </a:rPr>
              <a:t> $s2, $s2, -1</a:t>
            </a:r>
          </a:p>
          <a:p>
            <a:r>
              <a:rPr lang="en-US" sz="2400" dirty="0">
                <a:latin typeface="Courier New" panose="02070309020205020404" pitchFamily="49" charset="0"/>
                <a:cs typeface="Courier New" panose="02070309020205020404" pitchFamily="49" charset="0"/>
              </a:rPr>
              <a:t>      add  $s2, $s2, $s1</a:t>
            </a:r>
          </a:p>
          <a:p>
            <a:endParaRPr lang="en-US" sz="2400" dirty="0">
              <a:latin typeface="Courier New" panose="02070309020205020404" pitchFamily="49" charset="0"/>
              <a:cs typeface="Courier New" panose="02070309020205020404" pitchFamily="49" charset="0"/>
            </a:endParaRPr>
          </a:p>
          <a:p>
            <a:endParaRPr lang="en-US" sz="2400" dirty="0">
              <a:latin typeface="Courier New" panose="02070309020205020404" pitchFamily="49" charset="0"/>
              <a:cs typeface="Courier New" panose="02070309020205020404" pitchFamily="49" charset="0"/>
            </a:endParaRPr>
          </a:p>
          <a:p>
            <a:r>
              <a:rPr lang="en-US" sz="2400" dirty="0">
                <a:solidFill>
                  <a:srgbClr val="FF0000"/>
                </a:solidFill>
                <a:latin typeface="Arial MT"/>
                <a:cs typeface="Courier New" panose="02070309020205020404" pitchFamily="49" charset="0"/>
              </a:rPr>
              <a:t>A common mistake is not including a jump instruction in the if-body.</a:t>
            </a:r>
          </a:p>
        </p:txBody>
      </p:sp>
      <p:sp>
        <p:nvSpPr>
          <p:cNvPr id="3" name="Slide Number Placeholder 2">
            <a:extLst>
              <a:ext uri="{FF2B5EF4-FFF2-40B4-BE49-F238E27FC236}">
                <a16:creationId xmlns:a16="http://schemas.microsoft.com/office/drawing/2014/main" id="{ED638500-9348-46D6-FBC6-3B6303E5A9E1}"/>
              </a:ext>
            </a:extLst>
          </p:cNvPr>
          <p:cNvSpPr>
            <a:spLocks noGrp="1"/>
          </p:cNvSpPr>
          <p:nvPr>
            <p:ph type="sldNum" sz="quarter" idx="7"/>
          </p:nvPr>
        </p:nvSpPr>
        <p:spPr>
          <a:xfrm>
            <a:off x="8522677" y="6346231"/>
            <a:ext cx="345306" cy="436017"/>
          </a:xfrm>
        </p:spPr>
        <p:txBody>
          <a:bodyPr/>
          <a:lstStyle/>
          <a:p>
            <a:pPr marL="139521">
              <a:lnSpc>
                <a:spcPts val="1747"/>
              </a:lnSpc>
            </a:pPr>
            <a:fld id="{81D60167-4931-47E6-BA6A-407CBD079E47}" type="slidenum">
              <a:rPr lang="en-US" spc="-44" smtClean="0"/>
              <a:pPr marL="139521">
                <a:lnSpc>
                  <a:spcPts val="1747"/>
                </a:lnSpc>
              </a:pPr>
              <a:t>13</a:t>
            </a:fld>
            <a:endParaRPr lang="en-US" spc="-44" dirty="0"/>
          </a:p>
        </p:txBody>
      </p:sp>
      <p:sp>
        <p:nvSpPr>
          <p:cNvPr id="6" name="TextBox 5">
            <a:extLst>
              <a:ext uri="{FF2B5EF4-FFF2-40B4-BE49-F238E27FC236}">
                <a16:creationId xmlns:a16="http://schemas.microsoft.com/office/drawing/2014/main" id="{BB9A9813-E4C9-1D58-4495-E4E74E40BF9F}"/>
              </a:ext>
            </a:extLst>
          </p:cNvPr>
          <p:cNvSpPr txBox="1"/>
          <p:nvPr/>
        </p:nvSpPr>
        <p:spPr>
          <a:xfrm>
            <a:off x="810965" y="3498731"/>
            <a:ext cx="1500554" cy="461665"/>
          </a:xfrm>
          <a:prstGeom prst="rect">
            <a:avLst/>
          </a:prstGeom>
          <a:noFill/>
        </p:spPr>
        <p:txBody>
          <a:bodyPr wrap="square">
            <a:spAutoFit/>
          </a:bodyPr>
          <a:lstStyle/>
          <a:p>
            <a:r>
              <a:rPr lang="en-US" sz="2400" b="1" dirty="0">
                <a:solidFill>
                  <a:srgbClr val="FF0000"/>
                </a:solidFill>
                <a:latin typeface="Courier New" panose="02070309020205020404" pitchFamily="49" charset="0"/>
                <a:cs typeface="Courier New" panose="02070309020205020404" pitchFamily="49" charset="0"/>
              </a:rPr>
              <a:t>NEXT: </a:t>
            </a:r>
            <a:endParaRPr lang="en-US" sz="2400" dirty="0"/>
          </a:p>
        </p:txBody>
      </p:sp>
    </p:spTree>
    <p:extLst>
      <p:ext uri="{BB962C8B-B14F-4D97-AF65-F5344CB8AC3E}">
        <p14:creationId xmlns:p14="http://schemas.microsoft.com/office/powerpoint/2010/main" val="279231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500"/>
                                        <p:tgtEl>
                                          <p:spTgt spid="5">
                                            <p:txEl>
                                              <p:pRg st="4" end="4"/>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animEffect transition="in" filter="fade">
                                      <p:cBhvr>
                                        <p:cTn id="13"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651D7-3865-E7EE-0304-12CB739C2BF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681B45-8793-0E37-AA5C-9DD56EC166BE}"/>
              </a:ext>
            </a:extLst>
          </p:cNvPr>
          <p:cNvSpPr>
            <a:spLocks noGrp="1"/>
          </p:cNvSpPr>
          <p:nvPr>
            <p:ph type="title"/>
          </p:nvPr>
        </p:nvSpPr>
        <p:spPr>
          <a:xfrm>
            <a:off x="881303" y="645215"/>
            <a:ext cx="7285667" cy="461665"/>
          </a:xfrm>
        </p:spPr>
        <p:txBody>
          <a:bodyPr/>
          <a:lstStyle/>
          <a:p>
            <a:r>
              <a:rPr lang="en-US" dirty="0"/>
              <a:t>Example 3: Conditional compound condition</a:t>
            </a:r>
          </a:p>
        </p:txBody>
      </p:sp>
      <p:sp>
        <p:nvSpPr>
          <p:cNvPr id="5" name="Text Placeholder 4">
            <a:extLst>
              <a:ext uri="{FF2B5EF4-FFF2-40B4-BE49-F238E27FC236}">
                <a16:creationId xmlns:a16="http://schemas.microsoft.com/office/drawing/2014/main" id="{E72F504B-6D1A-A492-6123-27DB8DFE3C04}"/>
              </a:ext>
            </a:extLst>
          </p:cNvPr>
          <p:cNvSpPr>
            <a:spLocks noGrp="1"/>
          </p:cNvSpPr>
          <p:nvPr>
            <p:ph type="body" idx="1"/>
          </p:nvPr>
        </p:nvSpPr>
        <p:spPr>
          <a:xfrm>
            <a:off x="881303" y="1219223"/>
            <a:ext cx="7465528" cy="5386090"/>
          </a:xfrm>
        </p:spPr>
        <p:txBody>
          <a:bodyPr/>
          <a:lstStyle/>
          <a:p>
            <a:pPr>
              <a:spcAft>
                <a:spcPts val="1200"/>
              </a:spcAft>
            </a:pPr>
            <a:r>
              <a:rPr lang="en-US" sz="2200" dirty="0">
                <a:latin typeface="Arial MT"/>
                <a:cs typeface="Courier New" panose="02070309020205020404" pitchFamily="49" charset="0"/>
              </a:rPr>
              <a:t>C code snippet:</a:t>
            </a:r>
          </a:p>
          <a:p>
            <a:r>
              <a:rPr lang="en-US" sz="2200" dirty="0">
                <a:latin typeface="Courier New" panose="02070309020205020404" pitchFamily="49" charset="0"/>
                <a:cs typeface="Courier New" panose="02070309020205020404" pitchFamily="49" charset="0"/>
              </a:rPr>
              <a:t>if (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j &amp;&amp;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k )</a:t>
            </a: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if-body</a:t>
            </a:r>
          </a:p>
          <a:p>
            <a:r>
              <a:rPr lang="en-US" sz="2200" dirty="0">
                <a:latin typeface="Courier New" panose="02070309020205020404" pitchFamily="49" charset="0"/>
                <a:cs typeface="Courier New" panose="02070309020205020404" pitchFamily="49" charset="0"/>
              </a:rPr>
              <a:t>else</a:t>
            </a:r>
          </a:p>
          <a:p>
            <a:r>
              <a:rPr lang="en-US" sz="2200" dirty="0">
                <a:latin typeface="Courier New" panose="02070309020205020404" pitchFamily="49" charset="0"/>
                <a:cs typeface="Courier New" panose="02070309020205020404" pitchFamily="49" charset="0"/>
              </a:rPr>
              <a:t>    j--;     // else-body</a:t>
            </a:r>
          </a:p>
          <a:p>
            <a:r>
              <a:rPr lang="en-US" sz="2200" dirty="0">
                <a:latin typeface="Courier New" panose="02070309020205020404" pitchFamily="49" charset="0"/>
                <a:cs typeface="Courier New" panose="02070309020205020404" pitchFamily="49" charset="0"/>
              </a:rPr>
              <a:t>j +=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k;</a:t>
            </a:r>
          </a:p>
          <a:p>
            <a:endParaRPr lang="en-US" sz="2200" dirty="0">
              <a:latin typeface="Arial MT"/>
              <a:cs typeface="Courier New" panose="02070309020205020404" pitchFamily="49" charset="0"/>
            </a:endParaRPr>
          </a:p>
          <a:p>
            <a:pPr>
              <a:spcAft>
                <a:spcPts val="1200"/>
              </a:spcAft>
            </a:pPr>
            <a:r>
              <a:rPr lang="en-US" sz="2200" dirty="0">
                <a:latin typeface="Arial MT"/>
                <a:cs typeface="Courier New" panose="02070309020205020404" pitchFamily="49" charset="0"/>
              </a:rPr>
              <a:t>MIPS Implementation: (assume $s1=</a:t>
            </a:r>
            <a:r>
              <a:rPr lang="en-US" sz="2200" dirty="0" err="1">
                <a:latin typeface="Arial MT"/>
                <a:cs typeface="Courier New" panose="02070309020205020404" pitchFamily="49" charset="0"/>
              </a:rPr>
              <a:t>i</a:t>
            </a:r>
            <a:r>
              <a:rPr lang="en-US" sz="2200" dirty="0">
                <a:latin typeface="Arial MT"/>
                <a:cs typeface="Courier New" panose="02070309020205020404" pitchFamily="49" charset="0"/>
              </a:rPr>
              <a:t>, $s2=j, $s3=k)</a:t>
            </a:r>
            <a:endParaRPr lang="en-US" sz="2200" dirty="0">
              <a:latin typeface="Courier New" panose="02070309020205020404" pitchFamily="49" charset="0"/>
              <a:cs typeface="Courier New" panose="02070309020205020404" pitchFamily="49" charset="0"/>
            </a:endParaRP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bne</a:t>
            </a:r>
            <a:r>
              <a:rPr lang="en-US" sz="2200" dirty="0">
                <a:latin typeface="Courier New" panose="02070309020205020404" pitchFamily="49" charset="0"/>
                <a:cs typeface="Courier New" panose="02070309020205020404" pitchFamily="49" charset="0"/>
              </a:rPr>
              <a:t>  $s1, $s2, ELSE</a:t>
            </a: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bne</a:t>
            </a:r>
            <a:r>
              <a:rPr lang="en-US" sz="2200" dirty="0">
                <a:latin typeface="Courier New" panose="02070309020205020404" pitchFamily="49" charset="0"/>
                <a:cs typeface="Courier New" panose="02070309020205020404" pitchFamily="49" charset="0"/>
              </a:rPr>
              <a:t>  $s1, $s3, ELSE</a:t>
            </a: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addi</a:t>
            </a:r>
            <a:r>
              <a:rPr lang="en-US" sz="2200" dirty="0">
                <a:latin typeface="Courier New" panose="02070309020205020404" pitchFamily="49" charset="0"/>
                <a:cs typeface="Courier New" panose="02070309020205020404" pitchFamily="49" charset="0"/>
              </a:rPr>
              <a:t> $s1, $s1, 1</a:t>
            </a:r>
          </a:p>
          <a:p>
            <a:r>
              <a:rPr lang="en-US" sz="2200" dirty="0">
                <a:latin typeface="Courier New" panose="02070309020205020404" pitchFamily="49" charset="0"/>
                <a:cs typeface="Courier New" panose="02070309020205020404" pitchFamily="49" charset="0"/>
              </a:rPr>
              <a:t>      j NEXT</a:t>
            </a:r>
          </a:p>
          <a:p>
            <a:r>
              <a:rPr lang="en-US" sz="2200" dirty="0">
                <a:latin typeface="Courier New" panose="02070309020205020404" pitchFamily="49" charset="0"/>
                <a:cs typeface="Courier New" panose="02070309020205020404" pitchFamily="49" charset="0"/>
              </a:rPr>
              <a:t>ELSE: </a:t>
            </a:r>
            <a:r>
              <a:rPr lang="en-US" sz="2200" dirty="0" err="1">
                <a:latin typeface="Courier New" panose="02070309020205020404" pitchFamily="49" charset="0"/>
                <a:cs typeface="Courier New" panose="02070309020205020404" pitchFamily="49" charset="0"/>
              </a:rPr>
              <a:t>addi</a:t>
            </a:r>
            <a:r>
              <a:rPr lang="en-US" sz="2200" dirty="0">
                <a:latin typeface="Courier New" panose="02070309020205020404" pitchFamily="49" charset="0"/>
                <a:cs typeface="Courier New" panose="02070309020205020404" pitchFamily="49" charset="0"/>
              </a:rPr>
              <a:t> $s2, $s2, -1</a:t>
            </a:r>
          </a:p>
          <a:p>
            <a:r>
              <a:rPr lang="en-US" sz="2200" dirty="0">
                <a:latin typeface="Courier New" panose="02070309020205020404" pitchFamily="49" charset="0"/>
                <a:cs typeface="Courier New" panose="02070309020205020404" pitchFamily="49" charset="0"/>
              </a:rPr>
              <a:t>NEXT: add  $s2, $s1, $s2</a:t>
            </a:r>
          </a:p>
          <a:p>
            <a:r>
              <a:rPr lang="en-US" sz="2200" dirty="0">
                <a:latin typeface="Courier New" panose="02070309020205020404" pitchFamily="49" charset="0"/>
                <a:cs typeface="Courier New" panose="02070309020205020404" pitchFamily="49" charset="0"/>
              </a:rPr>
              <a:t>      add  $s2, $s3, $s2</a:t>
            </a:r>
          </a:p>
        </p:txBody>
      </p:sp>
      <p:sp>
        <p:nvSpPr>
          <p:cNvPr id="3" name="Slide Number Placeholder 2">
            <a:extLst>
              <a:ext uri="{FF2B5EF4-FFF2-40B4-BE49-F238E27FC236}">
                <a16:creationId xmlns:a16="http://schemas.microsoft.com/office/drawing/2014/main" id="{8BEBDF4A-884A-82C5-210F-C2E240DF391A}"/>
              </a:ext>
            </a:extLst>
          </p:cNvPr>
          <p:cNvSpPr>
            <a:spLocks noGrp="1"/>
          </p:cNvSpPr>
          <p:nvPr>
            <p:ph type="sldNum" sz="quarter" idx="7"/>
          </p:nvPr>
        </p:nvSpPr>
        <p:spPr>
          <a:xfrm>
            <a:off x="8475785" y="6346231"/>
            <a:ext cx="392198" cy="436017"/>
          </a:xfrm>
        </p:spPr>
        <p:txBody>
          <a:bodyPr/>
          <a:lstStyle/>
          <a:p>
            <a:pPr marL="139521">
              <a:lnSpc>
                <a:spcPts val="1747"/>
              </a:lnSpc>
            </a:pPr>
            <a:fld id="{81D60167-4931-47E6-BA6A-407CBD079E47}" type="slidenum">
              <a:rPr lang="en-US" spc="-44" smtClean="0"/>
              <a:pPr marL="139521">
                <a:lnSpc>
                  <a:spcPts val="1747"/>
                </a:lnSpc>
              </a:pPr>
              <a:t>14</a:t>
            </a:fld>
            <a:endParaRPr lang="en-US" spc="-44" dirty="0"/>
          </a:p>
        </p:txBody>
      </p:sp>
      <p:sp>
        <p:nvSpPr>
          <p:cNvPr id="8" name="TextBox 7">
            <a:extLst>
              <a:ext uri="{FF2B5EF4-FFF2-40B4-BE49-F238E27FC236}">
                <a16:creationId xmlns:a16="http://schemas.microsoft.com/office/drawing/2014/main" id="{4D08698F-0298-A465-DC99-4B12F0043FFD}"/>
              </a:ext>
            </a:extLst>
          </p:cNvPr>
          <p:cNvSpPr txBox="1"/>
          <p:nvPr/>
        </p:nvSpPr>
        <p:spPr>
          <a:xfrm>
            <a:off x="5697415" y="4322150"/>
            <a:ext cx="2565282" cy="1446550"/>
          </a:xfrm>
          <a:prstGeom prst="rect">
            <a:avLst/>
          </a:prstGeom>
          <a:noFill/>
        </p:spPr>
        <p:txBody>
          <a:bodyPr wrap="square">
            <a:spAutoFit/>
          </a:bodyPr>
          <a:lstStyle/>
          <a:p>
            <a:r>
              <a:rPr lang="en-US" sz="2200" b="1" dirty="0">
                <a:solidFill>
                  <a:srgbClr val="FF0000"/>
                </a:solidFill>
                <a:latin typeface="Arial MT"/>
                <a:cs typeface="Courier New" panose="02070309020205020404" pitchFamily="49" charset="0"/>
              </a:rPr>
              <a:t>Short circuiting </a:t>
            </a:r>
            <a:r>
              <a:rPr lang="en-US" sz="2200" dirty="0">
                <a:solidFill>
                  <a:srgbClr val="FF0000"/>
                </a:solidFill>
                <a:latin typeface="Arial MT"/>
                <a:cs typeface="Courier New" panose="02070309020205020404" pitchFamily="49" charset="0"/>
              </a:rPr>
              <a:t>occurs when the first condition is </a:t>
            </a:r>
            <a:r>
              <a:rPr lang="en-US" sz="2200" b="1" u="sng" dirty="0">
                <a:solidFill>
                  <a:srgbClr val="FF0000"/>
                </a:solidFill>
                <a:latin typeface="Arial MT"/>
                <a:cs typeface="Courier New" panose="02070309020205020404" pitchFamily="49" charset="0"/>
              </a:rPr>
              <a:t>false</a:t>
            </a:r>
            <a:r>
              <a:rPr lang="en-US" sz="2200" dirty="0">
                <a:solidFill>
                  <a:srgbClr val="FF0000"/>
                </a:solidFill>
                <a:latin typeface="Arial MT"/>
                <a:cs typeface="Courier New" panose="02070309020205020404" pitchFamily="49" charset="0"/>
              </a:rPr>
              <a:t>.</a:t>
            </a:r>
          </a:p>
        </p:txBody>
      </p:sp>
      <p:sp>
        <p:nvSpPr>
          <p:cNvPr id="9" name="TextBox 8">
            <a:extLst>
              <a:ext uri="{FF2B5EF4-FFF2-40B4-BE49-F238E27FC236}">
                <a16:creationId xmlns:a16="http://schemas.microsoft.com/office/drawing/2014/main" id="{B495C08F-87E8-DD96-A5F8-46765ED7C26D}"/>
              </a:ext>
            </a:extLst>
          </p:cNvPr>
          <p:cNvSpPr txBox="1"/>
          <p:nvPr/>
        </p:nvSpPr>
        <p:spPr>
          <a:xfrm>
            <a:off x="5758103" y="1651488"/>
            <a:ext cx="2565282" cy="430887"/>
          </a:xfrm>
          <a:prstGeom prst="rect">
            <a:avLst/>
          </a:prstGeom>
          <a:noFill/>
        </p:spPr>
        <p:txBody>
          <a:bodyPr wrap="square">
            <a:spAutoFit/>
          </a:bodyPr>
          <a:lstStyle/>
          <a:p>
            <a:r>
              <a:rPr lang="en-US" sz="2200" b="1" dirty="0">
                <a:solidFill>
                  <a:srgbClr val="FF0000"/>
                </a:solidFill>
                <a:latin typeface="Arial MT"/>
                <a:cs typeface="Courier New" panose="02070309020205020404" pitchFamily="49" charset="0"/>
              </a:rPr>
              <a:t>AND condition</a:t>
            </a:r>
            <a:endParaRPr lang="en-US" sz="2200" dirty="0">
              <a:solidFill>
                <a:srgbClr val="FF0000"/>
              </a:solidFill>
              <a:latin typeface="Arial MT"/>
              <a:cs typeface="Courier New" panose="02070309020205020404" pitchFamily="49" charset="0"/>
            </a:endParaRPr>
          </a:p>
        </p:txBody>
      </p:sp>
    </p:spTree>
    <p:extLst>
      <p:ext uri="{BB962C8B-B14F-4D97-AF65-F5344CB8AC3E}">
        <p14:creationId xmlns:p14="http://schemas.microsoft.com/office/powerpoint/2010/main" val="3370594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animEffect transition="in" filter="fade">
                                      <p:cBhvr>
                                        <p:cTn id="7" dur="500"/>
                                        <p:tgtEl>
                                          <p:spTgt spid="5">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8" end="8"/>
                                            </p:txEl>
                                          </p:spTgt>
                                        </p:tgtEl>
                                        <p:attrNameLst>
                                          <p:attrName>style.visibility</p:attrName>
                                        </p:attrNameLst>
                                      </p:cBhvr>
                                      <p:to>
                                        <p:strVal val="visible"/>
                                      </p:to>
                                    </p:set>
                                    <p:animEffect transition="in" filter="fade">
                                      <p:cBhvr>
                                        <p:cTn id="10" dur="500"/>
                                        <p:tgtEl>
                                          <p:spTgt spid="5">
                                            <p:txEl>
                                              <p:pRg st="8" end="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animEffect transition="in" filter="fade">
                                      <p:cBhvr>
                                        <p:cTn id="13" dur="500"/>
                                        <p:tgtEl>
                                          <p:spTgt spid="5">
                                            <p:txEl>
                                              <p:pRg st="9" end="9"/>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10" end="10"/>
                                            </p:txEl>
                                          </p:spTgt>
                                        </p:tgtEl>
                                        <p:attrNameLst>
                                          <p:attrName>style.visibility</p:attrName>
                                        </p:attrNameLst>
                                      </p:cBhvr>
                                      <p:to>
                                        <p:strVal val="visible"/>
                                      </p:to>
                                    </p:set>
                                    <p:animEffect transition="in" filter="fade">
                                      <p:cBhvr>
                                        <p:cTn id="16" dur="500"/>
                                        <p:tgtEl>
                                          <p:spTgt spid="5">
                                            <p:txEl>
                                              <p:pRg st="10" end="1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animEffect transition="in" filter="fade">
                                      <p:cBhvr>
                                        <p:cTn id="19" dur="500"/>
                                        <p:tgtEl>
                                          <p:spTgt spid="5">
                                            <p:txEl>
                                              <p:pRg st="11" end="1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12" end="12"/>
                                            </p:txEl>
                                          </p:spTgt>
                                        </p:tgtEl>
                                        <p:attrNameLst>
                                          <p:attrName>style.visibility</p:attrName>
                                        </p:attrNameLst>
                                      </p:cBhvr>
                                      <p:to>
                                        <p:strVal val="visible"/>
                                      </p:to>
                                    </p:set>
                                    <p:animEffect transition="in" filter="fade">
                                      <p:cBhvr>
                                        <p:cTn id="22" dur="500"/>
                                        <p:tgtEl>
                                          <p:spTgt spid="5">
                                            <p:txEl>
                                              <p:pRg st="12" end="1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13" end="13"/>
                                            </p:txEl>
                                          </p:spTgt>
                                        </p:tgtEl>
                                        <p:attrNameLst>
                                          <p:attrName>style.visibility</p:attrName>
                                        </p:attrNameLst>
                                      </p:cBhvr>
                                      <p:to>
                                        <p:strVal val="visible"/>
                                      </p:to>
                                    </p:set>
                                    <p:animEffect transition="in" filter="fade">
                                      <p:cBhvr>
                                        <p:cTn id="25" dur="500"/>
                                        <p:tgtEl>
                                          <p:spTgt spid="5">
                                            <p:txEl>
                                              <p:pRg st="13" end="1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
                                            <p:txEl>
                                              <p:pRg st="14" end="14"/>
                                            </p:txEl>
                                          </p:spTgt>
                                        </p:tgtEl>
                                        <p:attrNameLst>
                                          <p:attrName>style.visibility</p:attrName>
                                        </p:attrNameLst>
                                      </p:cBhvr>
                                      <p:to>
                                        <p:strVal val="visible"/>
                                      </p:to>
                                    </p:set>
                                    <p:animEffect transition="in" filter="fade">
                                      <p:cBhvr>
                                        <p:cTn id="28" dur="500"/>
                                        <p:tgtEl>
                                          <p:spTgt spid="5">
                                            <p:txEl>
                                              <p:pRg st="14" end="1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58F17-85E1-071F-B947-0BD5000BB8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BA4719-83A8-D3CE-3DA4-46CB219B0FD5}"/>
              </a:ext>
            </a:extLst>
          </p:cNvPr>
          <p:cNvSpPr>
            <a:spLocks noGrp="1"/>
          </p:cNvSpPr>
          <p:nvPr>
            <p:ph type="title"/>
          </p:nvPr>
        </p:nvSpPr>
        <p:spPr>
          <a:xfrm>
            <a:off x="881303" y="645215"/>
            <a:ext cx="7285667" cy="461665"/>
          </a:xfrm>
        </p:spPr>
        <p:txBody>
          <a:bodyPr/>
          <a:lstStyle/>
          <a:p>
            <a:r>
              <a:rPr lang="en-US" dirty="0"/>
              <a:t>Example 4: Conditional compound condition</a:t>
            </a:r>
          </a:p>
        </p:txBody>
      </p:sp>
      <p:sp>
        <p:nvSpPr>
          <p:cNvPr id="5" name="Text Placeholder 4">
            <a:extLst>
              <a:ext uri="{FF2B5EF4-FFF2-40B4-BE49-F238E27FC236}">
                <a16:creationId xmlns:a16="http://schemas.microsoft.com/office/drawing/2014/main" id="{76C19B01-0915-0807-12E9-163E63B73A5A}"/>
              </a:ext>
            </a:extLst>
          </p:cNvPr>
          <p:cNvSpPr>
            <a:spLocks noGrp="1"/>
          </p:cNvSpPr>
          <p:nvPr>
            <p:ph type="body" idx="1"/>
          </p:nvPr>
        </p:nvSpPr>
        <p:spPr>
          <a:xfrm>
            <a:off x="881303" y="1219223"/>
            <a:ext cx="7465528" cy="5386090"/>
          </a:xfrm>
        </p:spPr>
        <p:txBody>
          <a:bodyPr/>
          <a:lstStyle/>
          <a:p>
            <a:pPr>
              <a:spcAft>
                <a:spcPts val="1200"/>
              </a:spcAft>
            </a:pPr>
            <a:r>
              <a:rPr lang="en-US" sz="2200" dirty="0">
                <a:latin typeface="Arial MT"/>
                <a:cs typeface="Courier New" panose="02070309020205020404" pitchFamily="49" charset="0"/>
              </a:rPr>
              <a:t>C code snippet:</a:t>
            </a:r>
          </a:p>
          <a:p>
            <a:r>
              <a:rPr lang="en-US" sz="2200" dirty="0">
                <a:latin typeface="Courier New" panose="02070309020205020404" pitchFamily="49" charset="0"/>
                <a:cs typeface="Courier New" panose="02070309020205020404" pitchFamily="49" charset="0"/>
              </a:rPr>
              <a:t>if (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j ||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k )</a:t>
            </a: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if-body</a:t>
            </a:r>
          </a:p>
          <a:p>
            <a:r>
              <a:rPr lang="en-US" sz="2200" dirty="0">
                <a:latin typeface="Courier New" panose="02070309020205020404" pitchFamily="49" charset="0"/>
                <a:cs typeface="Courier New" panose="02070309020205020404" pitchFamily="49" charset="0"/>
              </a:rPr>
              <a:t>else</a:t>
            </a:r>
          </a:p>
          <a:p>
            <a:r>
              <a:rPr lang="en-US" sz="2200" dirty="0">
                <a:latin typeface="Courier New" panose="02070309020205020404" pitchFamily="49" charset="0"/>
                <a:cs typeface="Courier New" panose="02070309020205020404" pitchFamily="49" charset="0"/>
              </a:rPr>
              <a:t>    j--;     // else-body</a:t>
            </a:r>
          </a:p>
          <a:p>
            <a:r>
              <a:rPr lang="en-US" sz="2200" dirty="0">
                <a:latin typeface="Courier New" panose="02070309020205020404" pitchFamily="49" charset="0"/>
                <a:cs typeface="Courier New" panose="02070309020205020404" pitchFamily="49" charset="0"/>
              </a:rPr>
              <a:t>j +=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k;</a:t>
            </a:r>
          </a:p>
          <a:p>
            <a:endParaRPr lang="en-US" sz="2200" dirty="0">
              <a:latin typeface="Arial MT"/>
              <a:cs typeface="Courier New" panose="02070309020205020404" pitchFamily="49" charset="0"/>
            </a:endParaRPr>
          </a:p>
          <a:p>
            <a:pPr>
              <a:spcAft>
                <a:spcPts val="1200"/>
              </a:spcAft>
            </a:pPr>
            <a:r>
              <a:rPr lang="en-US" sz="2200" dirty="0">
                <a:latin typeface="Arial MT"/>
                <a:cs typeface="Courier New" panose="02070309020205020404" pitchFamily="49" charset="0"/>
              </a:rPr>
              <a:t>MIPS Implementation: (assume $s1=</a:t>
            </a:r>
            <a:r>
              <a:rPr lang="en-US" sz="2200" dirty="0" err="1">
                <a:latin typeface="Arial MT"/>
                <a:cs typeface="Courier New" panose="02070309020205020404" pitchFamily="49" charset="0"/>
              </a:rPr>
              <a:t>i</a:t>
            </a:r>
            <a:r>
              <a:rPr lang="en-US" sz="2200" dirty="0">
                <a:latin typeface="Arial MT"/>
                <a:cs typeface="Courier New" panose="02070309020205020404" pitchFamily="49" charset="0"/>
              </a:rPr>
              <a:t>, $s2=j, $s3=k)</a:t>
            </a:r>
            <a:endParaRPr lang="en-US" sz="2200" dirty="0">
              <a:latin typeface="Courier New" panose="02070309020205020404" pitchFamily="49" charset="0"/>
              <a:cs typeface="Courier New" panose="02070309020205020404" pitchFamily="49" charset="0"/>
            </a:endParaRPr>
          </a:p>
          <a:p>
            <a:r>
              <a:rPr lang="en-US" sz="2200" dirty="0">
                <a:latin typeface="Courier New" panose="02070309020205020404" pitchFamily="49" charset="0"/>
                <a:cs typeface="Courier New" panose="02070309020205020404" pitchFamily="49" charset="0"/>
              </a:rPr>
              <a:t>      </a:t>
            </a:r>
            <a:r>
              <a:rPr lang="en-US" sz="2200" b="1" dirty="0" err="1">
                <a:latin typeface="Courier New" panose="02070309020205020404" pitchFamily="49" charset="0"/>
                <a:cs typeface="Courier New" panose="02070309020205020404" pitchFamily="49" charset="0"/>
              </a:rPr>
              <a:t>beq</a:t>
            </a:r>
            <a:r>
              <a:rPr lang="en-US" sz="2200" dirty="0">
                <a:latin typeface="Courier New" panose="02070309020205020404" pitchFamily="49" charset="0"/>
                <a:cs typeface="Courier New" panose="02070309020205020404" pitchFamily="49" charset="0"/>
              </a:rPr>
              <a:t>  $s1, $s2, IF</a:t>
            </a: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bne</a:t>
            </a:r>
            <a:r>
              <a:rPr lang="en-US" sz="2200" dirty="0">
                <a:latin typeface="Courier New" panose="02070309020205020404" pitchFamily="49" charset="0"/>
                <a:cs typeface="Courier New" panose="02070309020205020404" pitchFamily="49" charset="0"/>
              </a:rPr>
              <a:t>  $s1, $s3, ELSE</a:t>
            </a:r>
          </a:p>
          <a:p>
            <a:r>
              <a:rPr lang="en-US" sz="2200" b="1" dirty="0">
                <a:latin typeface="Courier New" panose="02070309020205020404" pitchFamily="49" charset="0"/>
                <a:cs typeface="Courier New" panose="02070309020205020404" pitchFamily="49" charset="0"/>
              </a:rPr>
              <a:t>IF:   </a:t>
            </a:r>
            <a:r>
              <a:rPr lang="en-US" sz="2200" dirty="0" err="1">
                <a:latin typeface="Courier New" panose="02070309020205020404" pitchFamily="49" charset="0"/>
                <a:cs typeface="Courier New" panose="02070309020205020404" pitchFamily="49" charset="0"/>
              </a:rPr>
              <a:t>addi</a:t>
            </a:r>
            <a:r>
              <a:rPr lang="en-US" sz="2200" dirty="0">
                <a:latin typeface="Courier New" panose="02070309020205020404" pitchFamily="49" charset="0"/>
                <a:cs typeface="Courier New" panose="02070309020205020404" pitchFamily="49" charset="0"/>
              </a:rPr>
              <a:t> $s1, $s1, 1</a:t>
            </a:r>
          </a:p>
          <a:p>
            <a:r>
              <a:rPr lang="en-US" sz="2200" dirty="0">
                <a:latin typeface="Courier New" panose="02070309020205020404" pitchFamily="49" charset="0"/>
                <a:cs typeface="Courier New" panose="02070309020205020404" pitchFamily="49" charset="0"/>
              </a:rPr>
              <a:t>      j NEXT</a:t>
            </a:r>
          </a:p>
          <a:p>
            <a:r>
              <a:rPr lang="en-US" sz="2200" dirty="0">
                <a:latin typeface="Courier New" panose="02070309020205020404" pitchFamily="49" charset="0"/>
                <a:cs typeface="Courier New" panose="02070309020205020404" pitchFamily="49" charset="0"/>
              </a:rPr>
              <a:t>ELSE: </a:t>
            </a:r>
            <a:r>
              <a:rPr lang="en-US" sz="2200" dirty="0" err="1">
                <a:latin typeface="Courier New" panose="02070309020205020404" pitchFamily="49" charset="0"/>
                <a:cs typeface="Courier New" panose="02070309020205020404" pitchFamily="49" charset="0"/>
              </a:rPr>
              <a:t>addi</a:t>
            </a:r>
            <a:r>
              <a:rPr lang="en-US" sz="2200" dirty="0">
                <a:latin typeface="Courier New" panose="02070309020205020404" pitchFamily="49" charset="0"/>
                <a:cs typeface="Courier New" panose="02070309020205020404" pitchFamily="49" charset="0"/>
              </a:rPr>
              <a:t> $s2, $s2, -1</a:t>
            </a:r>
          </a:p>
          <a:p>
            <a:r>
              <a:rPr lang="en-US" sz="2200" dirty="0">
                <a:latin typeface="Courier New" panose="02070309020205020404" pitchFamily="49" charset="0"/>
                <a:cs typeface="Courier New" panose="02070309020205020404" pitchFamily="49" charset="0"/>
              </a:rPr>
              <a:t>NEXT: add  $s2, $s1, $s2</a:t>
            </a:r>
          </a:p>
          <a:p>
            <a:r>
              <a:rPr lang="en-US" sz="2200" dirty="0">
                <a:latin typeface="Courier New" panose="02070309020205020404" pitchFamily="49" charset="0"/>
                <a:cs typeface="Courier New" panose="02070309020205020404" pitchFamily="49" charset="0"/>
              </a:rPr>
              <a:t>      add  $s2, $s3, $s2</a:t>
            </a:r>
          </a:p>
        </p:txBody>
      </p:sp>
      <p:sp>
        <p:nvSpPr>
          <p:cNvPr id="3" name="Slide Number Placeholder 2">
            <a:extLst>
              <a:ext uri="{FF2B5EF4-FFF2-40B4-BE49-F238E27FC236}">
                <a16:creationId xmlns:a16="http://schemas.microsoft.com/office/drawing/2014/main" id="{CCB0DD7D-45B2-81E4-83B4-4891973C8F71}"/>
              </a:ext>
            </a:extLst>
          </p:cNvPr>
          <p:cNvSpPr>
            <a:spLocks noGrp="1"/>
          </p:cNvSpPr>
          <p:nvPr>
            <p:ph type="sldNum" sz="quarter" idx="7"/>
          </p:nvPr>
        </p:nvSpPr>
        <p:spPr>
          <a:xfrm>
            <a:off x="8475785" y="6346231"/>
            <a:ext cx="392198" cy="436017"/>
          </a:xfrm>
        </p:spPr>
        <p:txBody>
          <a:bodyPr/>
          <a:lstStyle/>
          <a:p>
            <a:pPr marL="139521">
              <a:lnSpc>
                <a:spcPts val="1747"/>
              </a:lnSpc>
            </a:pPr>
            <a:fld id="{81D60167-4931-47E6-BA6A-407CBD079E47}" type="slidenum">
              <a:rPr lang="en-US" spc="-44" smtClean="0"/>
              <a:pPr marL="139521">
                <a:lnSpc>
                  <a:spcPts val="1747"/>
                </a:lnSpc>
              </a:pPr>
              <a:t>15</a:t>
            </a:fld>
            <a:endParaRPr lang="en-US" spc="-44" dirty="0"/>
          </a:p>
        </p:txBody>
      </p:sp>
      <p:sp>
        <p:nvSpPr>
          <p:cNvPr id="8" name="TextBox 7">
            <a:extLst>
              <a:ext uri="{FF2B5EF4-FFF2-40B4-BE49-F238E27FC236}">
                <a16:creationId xmlns:a16="http://schemas.microsoft.com/office/drawing/2014/main" id="{7F41DC77-090F-D8F3-EB25-8493975656C2}"/>
              </a:ext>
            </a:extLst>
          </p:cNvPr>
          <p:cNvSpPr txBox="1"/>
          <p:nvPr/>
        </p:nvSpPr>
        <p:spPr>
          <a:xfrm>
            <a:off x="5697415" y="4322150"/>
            <a:ext cx="2565282" cy="1446550"/>
          </a:xfrm>
          <a:prstGeom prst="rect">
            <a:avLst/>
          </a:prstGeom>
          <a:noFill/>
        </p:spPr>
        <p:txBody>
          <a:bodyPr wrap="square">
            <a:spAutoFit/>
          </a:bodyPr>
          <a:lstStyle/>
          <a:p>
            <a:r>
              <a:rPr lang="en-US" sz="2200" b="1" dirty="0">
                <a:solidFill>
                  <a:srgbClr val="FF0000"/>
                </a:solidFill>
                <a:latin typeface="Arial MT"/>
                <a:cs typeface="Courier New" panose="02070309020205020404" pitchFamily="49" charset="0"/>
              </a:rPr>
              <a:t>Short circuiting </a:t>
            </a:r>
            <a:r>
              <a:rPr lang="en-US" sz="2200" dirty="0">
                <a:solidFill>
                  <a:srgbClr val="FF0000"/>
                </a:solidFill>
                <a:latin typeface="Arial MT"/>
                <a:cs typeface="Courier New" panose="02070309020205020404" pitchFamily="49" charset="0"/>
              </a:rPr>
              <a:t>occurs when the first condition is </a:t>
            </a:r>
            <a:r>
              <a:rPr lang="en-US" sz="2200" b="1" u="sng" dirty="0">
                <a:solidFill>
                  <a:srgbClr val="FF0000"/>
                </a:solidFill>
                <a:latin typeface="Arial MT"/>
                <a:cs typeface="Courier New" panose="02070309020205020404" pitchFamily="49" charset="0"/>
              </a:rPr>
              <a:t>true</a:t>
            </a:r>
            <a:r>
              <a:rPr lang="en-US" sz="2200" dirty="0">
                <a:solidFill>
                  <a:srgbClr val="FF0000"/>
                </a:solidFill>
                <a:latin typeface="Arial MT"/>
                <a:cs typeface="Courier New" panose="02070309020205020404" pitchFamily="49" charset="0"/>
              </a:rPr>
              <a:t>.</a:t>
            </a:r>
          </a:p>
        </p:txBody>
      </p:sp>
      <p:sp>
        <p:nvSpPr>
          <p:cNvPr id="2" name="TextBox 1">
            <a:extLst>
              <a:ext uri="{FF2B5EF4-FFF2-40B4-BE49-F238E27FC236}">
                <a16:creationId xmlns:a16="http://schemas.microsoft.com/office/drawing/2014/main" id="{69101215-855D-57A6-2D4B-C3A2E5B0F82E}"/>
              </a:ext>
            </a:extLst>
          </p:cNvPr>
          <p:cNvSpPr txBox="1"/>
          <p:nvPr/>
        </p:nvSpPr>
        <p:spPr>
          <a:xfrm>
            <a:off x="5758103" y="1651488"/>
            <a:ext cx="2565282" cy="430887"/>
          </a:xfrm>
          <a:prstGeom prst="rect">
            <a:avLst/>
          </a:prstGeom>
          <a:noFill/>
        </p:spPr>
        <p:txBody>
          <a:bodyPr wrap="square">
            <a:spAutoFit/>
          </a:bodyPr>
          <a:lstStyle/>
          <a:p>
            <a:r>
              <a:rPr lang="en-US" sz="2200" b="1" dirty="0">
                <a:solidFill>
                  <a:srgbClr val="FF0000"/>
                </a:solidFill>
                <a:latin typeface="Arial MT"/>
                <a:cs typeface="Courier New" panose="02070309020205020404" pitchFamily="49" charset="0"/>
              </a:rPr>
              <a:t>OR condition</a:t>
            </a:r>
            <a:endParaRPr lang="en-US" sz="2200" dirty="0">
              <a:solidFill>
                <a:srgbClr val="FF0000"/>
              </a:solidFill>
              <a:latin typeface="Arial MT"/>
              <a:cs typeface="Courier New" panose="02070309020205020404" pitchFamily="49" charset="0"/>
            </a:endParaRPr>
          </a:p>
        </p:txBody>
      </p:sp>
    </p:spTree>
    <p:extLst>
      <p:ext uri="{BB962C8B-B14F-4D97-AF65-F5344CB8AC3E}">
        <p14:creationId xmlns:p14="http://schemas.microsoft.com/office/powerpoint/2010/main" val="203409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animEffect transition="in" filter="fade">
                                      <p:cBhvr>
                                        <p:cTn id="7" dur="500"/>
                                        <p:tgtEl>
                                          <p:spTgt spid="5">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8" end="8"/>
                                            </p:txEl>
                                          </p:spTgt>
                                        </p:tgtEl>
                                        <p:attrNameLst>
                                          <p:attrName>style.visibility</p:attrName>
                                        </p:attrNameLst>
                                      </p:cBhvr>
                                      <p:to>
                                        <p:strVal val="visible"/>
                                      </p:to>
                                    </p:set>
                                    <p:animEffect transition="in" filter="fade">
                                      <p:cBhvr>
                                        <p:cTn id="10" dur="500"/>
                                        <p:tgtEl>
                                          <p:spTgt spid="5">
                                            <p:txEl>
                                              <p:pRg st="8" end="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animEffect transition="in" filter="fade">
                                      <p:cBhvr>
                                        <p:cTn id="13" dur="500"/>
                                        <p:tgtEl>
                                          <p:spTgt spid="5">
                                            <p:txEl>
                                              <p:pRg st="9" end="9"/>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10" end="10"/>
                                            </p:txEl>
                                          </p:spTgt>
                                        </p:tgtEl>
                                        <p:attrNameLst>
                                          <p:attrName>style.visibility</p:attrName>
                                        </p:attrNameLst>
                                      </p:cBhvr>
                                      <p:to>
                                        <p:strVal val="visible"/>
                                      </p:to>
                                    </p:set>
                                    <p:animEffect transition="in" filter="fade">
                                      <p:cBhvr>
                                        <p:cTn id="16" dur="500"/>
                                        <p:tgtEl>
                                          <p:spTgt spid="5">
                                            <p:txEl>
                                              <p:pRg st="10" end="1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animEffect transition="in" filter="fade">
                                      <p:cBhvr>
                                        <p:cTn id="19" dur="500"/>
                                        <p:tgtEl>
                                          <p:spTgt spid="5">
                                            <p:txEl>
                                              <p:pRg st="11" end="1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12" end="12"/>
                                            </p:txEl>
                                          </p:spTgt>
                                        </p:tgtEl>
                                        <p:attrNameLst>
                                          <p:attrName>style.visibility</p:attrName>
                                        </p:attrNameLst>
                                      </p:cBhvr>
                                      <p:to>
                                        <p:strVal val="visible"/>
                                      </p:to>
                                    </p:set>
                                    <p:animEffect transition="in" filter="fade">
                                      <p:cBhvr>
                                        <p:cTn id="22" dur="500"/>
                                        <p:tgtEl>
                                          <p:spTgt spid="5">
                                            <p:txEl>
                                              <p:pRg st="12" end="1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13" end="13"/>
                                            </p:txEl>
                                          </p:spTgt>
                                        </p:tgtEl>
                                        <p:attrNameLst>
                                          <p:attrName>style.visibility</p:attrName>
                                        </p:attrNameLst>
                                      </p:cBhvr>
                                      <p:to>
                                        <p:strVal val="visible"/>
                                      </p:to>
                                    </p:set>
                                    <p:animEffect transition="in" filter="fade">
                                      <p:cBhvr>
                                        <p:cTn id="25" dur="500"/>
                                        <p:tgtEl>
                                          <p:spTgt spid="5">
                                            <p:txEl>
                                              <p:pRg st="13" end="1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
                                            <p:txEl>
                                              <p:pRg st="14" end="14"/>
                                            </p:txEl>
                                          </p:spTgt>
                                        </p:tgtEl>
                                        <p:attrNameLst>
                                          <p:attrName>style.visibility</p:attrName>
                                        </p:attrNameLst>
                                      </p:cBhvr>
                                      <p:to>
                                        <p:strVal val="visible"/>
                                      </p:to>
                                    </p:set>
                                    <p:animEffect transition="in" filter="fade">
                                      <p:cBhvr>
                                        <p:cTn id="28" dur="500"/>
                                        <p:tgtEl>
                                          <p:spTgt spid="5">
                                            <p:txEl>
                                              <p:pRg st="14" end="1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29A76-C087-1AE4-B6D4-9A5AC75079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E5293F-B395-5A3E-0B26-6673BA167962}"/>
              </a:ext>
            </a:extLst>
          </p:cNvPr>
          <p:cNvSpPr>
            <a:spLocks noGrp="1"/>
          </p:cNvSpPr>
          <p:nvPr>
            <p:ph type="title"/>
          </p:nvPr>
        </p:nvSpPr>
        <p:spPr>
          <a:xfrm>
            <a:off x="881303" y="645215"/>
            <a:ext cx="7285667" cy="461665"/>
          </a:xfrm>
        </p:spPr>
        <p:txBody>
          <a:bodyPr/>
          <a:lstStyle/>
          <a:p>
            <a:r>
              <a:rPr lang="en-US" dirty="0"/>
              <a:t>Example 5: Conditional switch</a:t>
            </a:r>
          </a:p>
        </p:txBody>
      </p:sp>
      <p:sp>
        <p:nvSpPr>
          <p:cNvPr id="5" name="Text Placeholder 4">
            <a:extLst>
              <a:ext uri="{FF2B5EF4-FFF2-40B4-BE49-F238E27FC236}">
                <a16:creationId xmlns:a16="http://schemas.microsoft.com/office/drawing/2014/main" id="{98B14CFE-B6DC-F839-704D-565E806B42A1}"/>
              </a:ext>
            </a:extLst>
          </p:cNvPr>
          <p:cNvSpPr>
            <a:spLocks noGrp="1"/>
          </p:cNvSpPr>
          <p:nvPr>
            <p:ph type="body" idx="1"/>
          </p:nvPr>
        </p:nvSpPr>
        <p:spPr>
          <a:xfrm>
            <a:off x="881303" y="1242373"/>
            <a:ext cx="7465528" cy="2369880"/>
          </a:xfrm>
        </p:spPr>
        <p:txBody>
          <a:bodyPr/>
          <a:lstStyle/>
          <a:p>
            <a:r>
              <a:rPr lang="en-US" sz="2200" dirty="0">
                <a:latin typeface="Arial MT"/>
                <a:cs typeface="Courier New" panose="02070309020205020404" pitchFamily="49" charset="0"/>
              </a:rPr>
              <a:t>C code snippet:</a:t>
            </a:r>
          </a:p>
          <a:p>
            <a:endParaRPr lang="en-US" sz="2200" dirty="0">
              <a:latin typeface="Arial MT"/>
              <a:cs typeface="Courier New" panose="02070309020205020404" pitchFamily="49" charset="0"/>
            </a:endParaRPr>
          </a:p>
          <a:p>
            <a:r>
              <a:rPr lang="en-US" sz="2200" dirty="0">
                <a:latin typeface="Courier New" panose="02070309020205020404" pitchFamily="49" charset="0"/>
                <a:cs typeface="Courier New" panose="02070309020205020404" pitchFamily="49" charset="0"/>
              </a:rPr>
              <a:t>switch (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a:t>
            </a:r>
          </a:p>
          <a:p>
            <a:r>
              <a:rPr lang="en-US" sz="2200" dirty="0">
                <a:latin typeface="Courier New" panose="02070309020205020404" pitchFamily="49" charset="0"/>
                <a:cs typeface="Courier New" panose="02070309020205020404" pitchFamily="49" charset="0"/>
              </a:rPr>
              <a:t>case 1: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falls through</a:t>
            </a:r>
          </a:p>
          <a:p>
            <a:r>
              <a:rPr lang="en-US" sz="2200" dirty="0">
                <a:latin typeface="Courier New" panose="02070309020205020404" pitchFamily="49" charset="0"/>
                <a:cs typeface="Courier New" panose="02070309020205020404" pitchFamily="49" charset="0"/>
              </a:rPr>
              <a:t>case 2: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2;</a:t>
            </a:r>
          </a:p>
          <a:p>
            <a:r>
              <a:rPr lang="en-US" sz="2200" dirty="0">
                <a:latin typeface="Courier New" panose="02070309020205020404" pitchFamily="49" charset="0"/>
                <a:cs typeface="Courier New" panose="02070309020205020404" pitchFamily="49" charset="0"/>
              </a:rPr>
              <a:t>        break;</a:t>
            </a:r>
          </a:p>
          <a:p>
            <a:r>
              <a:rPr lang="en-US" sz="2200" dirty="0">
                <a:latin typeface="Courier New" panose="02070309020205020404" pitchFamily="49" charset="0"/>
                <a:cs typeface="Courier New" panose="02070309020205020404" pitchFamily="49" charset="0"/>
              </a:rPr>
              <a:t>case 3: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3</a:t>
            </a:r>
          </a:p>
        </p:txBody>
      </p:sp>
      <p:sp>
        <p:nvSpPr>
          <p:cNvPr id="3" name="Slide Number Placeholder 2">
            <a:extLst>
              <a:ext uri="{FF2B5EF4-FFF2-40B4-BE49-F238E27FC236}">
                <a16:creationId xmlns:a16="http://schemas.microsoft.com/office/drawing/2014/main" id="{151DC0AC-DEA9-A2C6-285A-16862F4D76FC}"/>
              </a:ext>
            </a:extLst>
          </p:cNvPr>
          <p:cNvSpPr>
            <a:spLocks noGrp="1"/>
          </p:cNvSpPr>
          <p:nvPr>
            <p:ph type="sldNum" sz="quarter" idx="7"/>
          </p:nvPr>
        </p:nvSpPr>
        <p:spPr>
          <a:xfrm>
            <a:off x="8475785" y="6346231"/>
            <a:ext cx="392198" cy="436017"/>
          </a:xfrm>
        </p:spPr>
        <p:txBody>
          <a:bodyPr/>
          <a:lstStyle/>
          <a:p>
            <a:pPr marL="139521">
              <a:lnSpc>
                <a:spcPts val="1747"/>
              </a:lnSpc>
            </a:pPr>
            <a:fld id="{81D60167-4931-47E6-BA6A-407CBD079E47}" type="slidenum">
              <a:rPr lang="en-US" spc="-44" smtClean="0"/>
              <a:pPr marL="139521">
                <a:lnSpc>
                  <a:spcPts val="1747"/>
                </a:lnSpc>
              </a:pPr>
              <a:t>16</a:t>
            </a:fld>
            <a:endParaRPr lang="en-US" spc="-44" dirty="0"/>
          </a:p>
        </p:txBody>
      </p:sp>
    </p:spTree>
    <p:extLst>
      <p:ext uri="{BB962C8B-B14F-4D97-AF65-F5344CB8AC3E}">
        <p14:creationId xmlns:p14="http://schemas.microsoft.com/office/powerpoint/2010/main" val="3595731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9DB7E-5571-15EC-36D9-706D756E33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38C65E-512E-101A-11B9-6145F647B781}"/>
              </a:ext>
            </a:extLst>
          </p:cNvPr>
          <p:cNvSpPr>
            <a:spLocks noGrp="1"/>
          </p:cNvSpPr>
          <p:nvPr>
            <p:ph type="title"/>
          </p:nvPr>
        </p:nvSpPr>
        <p:spPr>
          <a:xfrm>
            <a:off x="881303" y="645215"/>
            <a:ext cx="7285667" cy="461665"/>
          </a:xfrm>
        </p:spPr>
        <p:txBody>
          <a:bodyPr/>
          <a:lstStyle/>
          <a:p>
            <a:r>
              <a:rPr lang="en-US" dirty="0"/>
              <a:t>Example 5: Conditional switch (Solution)</a:t>
            </a:r>
          </a:p>
        </p:txBody>
      </p:sp>
      <p:sp>
        <p:nvSpPr>
          <p:cNvPr id="5" name="Text Placeholder 4">
            <a:extLst>
              <a:ext uri="{FF2B5EF4-FFF2-40B4-BE49-F238E27FC236}">
                <a16:creationId xmlns:a16="http://schemas.microsoft.com/office/drawing/2014/main" id="{4DBCDF5D-5BE7-3121-3F71-1B8B94A95EC3}"/>
              </a:ext>
            </a:extLst>
          </p:cNvPr>
          <p:cNvSpPr>
            <a:spLocks noGrp="1"/>
          </p:cNvSpPr>
          <p:nvPr>
            <p:ph type="body" idx="1"/>
          </p:nvPr>
        </p:nvSpPr>
        <p:spPr>
          <a:xfrm>
            <a:off x="881302" y="1218927"/>
            <a:ext cx="8262697" cy="5416868"/>
          </a:xfrm>
        </p:spPr>
        <p:txBody>
          <a:bodyPr/>
          <a:lstStyle/>
          <a:p>
            <a:r>
              <a:rPr lang="en-US" sz="2200" dirty="0">
                <a:latin typeface="Arial MT"/>
                <a:cs typeface="Courier New" panose="02070309020205020404" pitchFamily="49" charset="0"/>
              </a:rPr>
              <a:t>MIPS Implementation: </a:t>
            </a:r>
          </a:p>
          <a:p>
            <a:endParaRPr lang="en-US" sz="2200" dirty="0">
              <a:latin typeface="Arial MT"/>
              <a:cs typeface="Courier New" panose="02070309020205020404" pitchFamily="49" charset="0"/>
            </a:endParaRP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addi</a:t>
            </a:r>
            <a:r>
              <a:rPr lang="en-US" sz="2200" dirty="0">
                <a:latin typeface="Courier New" panose="02070309020205020404" pitchFamily="49" charset="0"/>
                <a:cs typeface="Courier New" panose="02070309020205020404" pitchFamily="49" charset="0"/>
              </a:rPr>
              <a:t> $s4, $zero, 1    # c1: temp=1</a:t>
            </a: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bne</a:t>
            </a:r>
            <a:r>
              <a:rPr lang="en-US" sz="2200" dirty="0">
                <a:latin typeface="Courier New" panose="02070309020205020404" pitchFamily="49" charset="0"/>
                <a:cs typeface="Courier New" panose="02070309020205020404" pitchFamily="49" charset="0"/>
              </a:rPr>
              <a:t> $s1, $s4, C2_COND</a:t>
            </a:r>
          </a:p>
          <a:p>
            <a:r>
              <a:rPr lang="en-US" sz="2200" dirty="0">
                <a:latin typeface="Courier New" panose="02070309020205020404" pitchFamily="49" charset="0"/>
                <a:cs typeface="Courier New" panose="02070309020205020404" pitchFamily="49" charset="0"/>
              </a:rPr>
              <a:t>         j C1_BODY</a:t>
            </a:r>
          </a:p>
          <a:p>
            <a:r>
              <a:rPr lang="en-US" sz="2200" dirty="0">
                <a:latin typeface="Courier New" panose="02070309020205020404" pitchFamily="49" charset="0"/>
                <a:cs typeface="Courier New" panose="02070309020205020404" pitchFamily="49" charset="0"/>
              </a:rPr>
              <a:t>C2_COND: </a:t>
            </a:r>
            <a:r>
              <a:rPr lang="en-US" sz="2200" dirty="0" err="1">
                <a:latin typeface="Courier New" panose="02070309020205020404" pitchFamily="49" charset="0"/>
                <a:cs typeface="Courier New" panose="02070309020205020404" pitchFamily="49" charset="0"/>
              </a:rPr>
              <a:t>addi</a:t>
            </a:r>
            <a:r>
              <a:rPr lang="en-US" sz="2200" dirty="0">
                <a:latin typeface="Courier New" panose="02070309020205020404" pitchFamily="49" charset="0"/>
                <a:cs typeface="Courier New" panose="02070309020205020404" pitchFamily="49" charset="0"/>
              </a:rPr>
              <a:t> $s4, $zero, 2    # c2: temp=2</a:t>
            </a: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bne</a:t>
            </a:r>
            <a:r>
              <a:rPr lang="en-US" sz="2200" dirty="0">
                <a:latin typeface="Courier New" panose="02070309020205020404" pitchFamily="49" charset="0"/>
                <a:cs typeface="Courier New" panose="02070309020205020404" pitchFamily="49" charset="0"/>
              </a:rPr>
              <a:t> $s1, $s4, C3_COND</a:t>
            </a:r>
          </a:p>
          <a:p>
            <a:r>
              <a:rPr lang="en-US" sz="2200" dirty="0">
                <a:latin typeface="Courier New" panose="02070309020205020404" pitchFamily="49" charset="0"/>
                <a:cs typeface="Courier New" panose="02070309020205020404" pitchFamily="49" charset="0"/>
              </a:rPr>
              <a:t>         j C2_BODY</a:t>
            </a:r>
          </a:p>
          <a:p>
            <a:r>
              <a:rPr lang="en-US" sz="2200" dirty="0">
                <a:latin typeface="Courier New" panose="02070309020205020404" pitchFamily="49" charset="0"/>
                <a:cs typeface="Courier New" panose="02070309020205020404" pitchFamily="49" charset="0"/>
              </a:rPr>
              <a:t>C3_COND: </a:t>
            </a:r>
            <a:r>
              <a:rPr lang="en-US" sz="2200" dirty="0" err="1">
                <a:latin typeface="Courier New" panose="02070309020205020404" pitchFamily="49" charset="0"/>
                <a:cs typeface="Courier New" panose="02070309020205020404" pitchFamily="49" charset="0"/>
              </a:rPr>
              <a:t>addi</a:t>
            </a:r>
            <a:r>
              <a:rPr lang="en-US" sz="2200" dirty="0">
                <a:latin typeface="Courier New" panose="02070309020205020404" pitchFamily="49" charset="0"/>
                <a:cs typeface="Courier New" panose="02070309020205020404" pitchFamily="49" charset="0"/>
              </a:rPr>
              <a:t> $s4, $zero, 3    # c3: temp=3</a:t>
            </a: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bne</a:t>
            </a:r>
            <a:r>
              <a:rPr lang="en-US" sz="2200" dirty="0">
                <a:latin typeface="Courier New" panose="02070309020205020404" pitchFamily="49" charset="0"/>
                <a:cs typeface="Courier New" panose="02070309020205020404" pitchFamily="49" charset="0"/>
              </a:rPr>
              <a:t> $s1, $s4, EXIT</a:t>
            </a:r>
          </a:p>
          <a:p>
            <a:r>
              <a:rPr lang="en-US" sz="2200" dirty="0">
                <a:latin typeface="Courier New" panose="02070309020205020404" pitchFamily="49" charset="0"/>
                <a:cs typeface="Courier New" panose="02070309020205020404" pitchFamily="49" charset="0"/>
              </a:rPr>
              <a:t>         j C3_BODY</a:t>
            </a:r>
          </a:p>
          <a:p>
            <a:r>
              <a:rPr lang="en-US" sz="2200" dirty="0">
                <a:latin typeface="Courier New" panose="02070309020205020404" pitchFamily="49" charset="0"/>
                <a:cs typeface="Courier New" panose="02070309020205020404" pitchFamily="49" charset="0"/>
              </a:rPr>
              <a:t>C1_BODY: </a:t>
            </a:r>
            <a:r>
              <a:rPr lang="en-US" sz="2200" dirty="0" err="1">
                <a:latin typeface="Courier New" panose="02070309020205020404" pitchFamily="49" charset="0"/>
                <a:cs typeface="Courier New" panose="02070309020205020404" pitchFamily="49" charset="0"/>
              </a:rPr>
              <a:t>addi</a:t>
            </a:r>
            <a:r>
              <a:rPr lang="en-US" sz="2200" dirty="0">
                <a:latin typeface="Courier New" panose="02070309020205020404" pitchFamily="49" charset="0"/>
                <a:cs typeface="Courier New" panose="02070309020205020404" pitchFamily="49" charset="0"/>
              </a:rPr>
              <a:t> $s1, $s1, 1      # case 1: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a:t>
            </a:r>
          </a:p>
          <a:p>
            <a:r>
              <a:rPr lang="en-US" sz="2200" dirty="0">
                <a:latin typeface="Courier New" panose="02070309020205020404" pitchFamily="49" charset="0"/>
                <a:cs typeface="Courier New" panose="02070309020205020404" pitchFamily="49" charset="0"/>
              </a:rPr>
              <a:t>C2_BODY: </a:t>
            </a:r>
            <a:r>
              <a:rPr lang="en-US" sz="2200" dirty="0" err="1">
                <a:latin typeface="Courier New" panose="02070309020205020404" pitchFamily="49" charset="0"/>
                <a:cs typeface="Courier New" panose="02070309020205020404" pitchFamily="49" charset="0"/>
              </a:rPr>
              <a:t>addi</a:t>
            </a:r>
            <a:r>
              <a:rPr lang="en-US" sz="2200" dirty="0">
                <a:latin typeface="Courier New" panose="02070309020205020404" pitchFamily="49" charset="0"/>
                <a:cs typeface="Courier New" panose="02070309020205020404" pitchFamily="49" charset="0"/>
              </a:rPr>
              <a:t> $s1, $s1, 2      # case 2: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2;</a:t>
            </a:r>
          </a:p>
          <a:p>
            <a:r>
              <a:rPr lang="en-US" sz="2200" dirty="0">
                <a:latin typeface="Courier New" panose="02070309020205020404" pitchFamily="49" charset="0"/>
                <a:cs typeface="Courier New" panose="02070309020205020404" pitchFamily="49" charset="0"/>
              </a:rPr>
              <a:t>         j EXIT                #         break;</a:t>
            </a:r>
          </a:p>
          <a:p>
            <a:r>
              <a:rPr lang="en-US" sz="2200" dirty="0">
                <a:latin typeface="Courier New" panose="02070309020205020404" pitchFamily="49" charset="0"/>
                <a:cs typeface="Courier New" panose="02070309020205020404" pitchFamily="49" charset="0"/>
              </a:rPr>
              <a:t>C3_BODY: </a:t>
            </a:r>
            <a:r>
              <a:rPr lang="en-US" sz="2200" dirty="0" err="1">
                <a:latin typeface="Courier New" panose="02070309020205020404" pitchFamily="49" charset="0"/>
                <a:cs typeface="Courier New" panose="02070309020205020404" pitchFamily="49" charset="0"/>
              </a:rPr>
              <a:t>addi</a:t>
            </a:r>
            <a:r>
              <a:rPr lang="en-US" sz="2200" dirty="0">
                <a:latin typeface="Courier New" panose="02070309020205020404" pitchFamily="49" charset="0"/>
                <a:cs typeface="Courier New" panose="02070309020205020404" pitchFamily="49" charset="0"/>
              </a:rPr>
              <a:t> $s1, $s1, 3      # case 3: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3;</a:t>
            </a:r>
          </a:p>
          <a:p>
            <a:r>
              <a:rPr lang="en-US" sz="2200" dirty="0">
                <a:latin typeface="Courier New" panose="02070309020205020404" pitchFamily="49" charset="0"/>
                <a:cs typeface="Courier New" panose="02070309020205020404" pitchFamily="49" charset="0"/>
              </a:rPr>
              <a:t>EXIT:</a:t>
            </a:r>
          </a:p>
        </p:txBody>
      </p:sp>
      <p:sp>
        <p:nvSpPr>
          <p:cNvPr id="3" name="Slide Number Placeholder 2">
            <a:extLst>
              <a:ext uri="{FF2B5EF4-FFF2-40B4-BE49-F238E27FC236}">
                <a16:creationId xmlns:a16="http://schemas.microsoft.com/office/drawing/2014/main" id="{0E292939-A56B-5EE2-0A66-87EBBA721445}"/>
              </a:ext>
            </a:extLst>
          </p:cNvPr>
          <p:cNvSpPr>
            <a:spLocks noGrp="1"/>
          </p:cNvSpPr>
          <p:nvPr>
            <p:ph type="sldNum" sz="quarter" idx="7"/>
          </p:nvPr>
        </p:nvSpPr>
        <p:spPr>
          <a:xfrm>
            <a:off x="8475785" y="6498630"/>
            <a:ext cx="392198" cy="436017"/>
          </a:xfrm>
        </p:spPr>
        <p:txBody>
          <a:bodyPr/>
          <a:lstStyle/>
          <a:p>
            <a:pPr marL="139521">
              <a:lnSpc>
                <a:spcPts val="1747"/>
              </a:lnSpc>
            </a:pPr>
            <a:fld id="{81D60167-4931-47E6-BA6A-407CBD079E47}" type="slidenum">
              <a:rPr lang="en-US" spc="-44" smtClean="0"/>
              <a:pPr marL="139521">
                <a:lnSpc>
                  <a:spcPts val="1747"/>
                </a:lnSpc>
              </a:pPr>
              <a:t>17</a:t>
            </a:fld>
            <a:endParaRPr lang="en-US" spc="-44" dirty="0"/>
          </a:p>
        </p:txBody>
      </p:sp>
    </p:spTree>
    <p:extLst>
      <p:ext uri="{BB962C8B-B14F-4D97-AF65-F5344CB8AC3E}">
        <p14:creationId xmlns:p14="http://schemas.microsoft.com/office/powerpoint/2010/main" val="1991005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4CA15-DDC8-5B98-DF25-3CD6B783C6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82294E-A244-8556-ED6C-BC06BB700CCE}"/>
              </a:ext>
            </a:extLst>
          </p:cNvPr>
          <p:cNvSpPr>
            <a:spLocks noGrp="1"/>
          </p:cNvSpPr>
          <p:nvPr>
            <p:ph type="title"/>
          </p:nvPr>
        </p:nvSpPr>
        <p:spPr>
          <a:xfrm>
            <a:off x="881303" y="645215"/>
            <a:ext cx="7285667" cy="461665"/>
          </a:xfrm>
        </p:spPr>
        <p:txBody>
          <a:bodyPr/>
          <a:lstStyle/>
          <a:p>
            <a:r>
              <a:rPr lang="en-US" dirty="0"/>
              <a:t>Example 6: While loop</a:t>
            </a:r>
          </a:p>
        </p:txBody>
      </p:sp>
      <p:sp>
        <p:nvSpPr>
          <p:cNvPr id="5" name="Text Placeholder 4">
            <a:extLst>
              <a:ext uri="{FF2B5EF4-FFF2-40B4-BE49-F238E27FC236}">
                <a16:creationId xmlns:a16="http://schemas.microsoft.com/office/drawing/2014/main" id="{608F3C31-3069-A326-2763-71E2E1702346}"/>
              </a:ext>
            </a:extLst>
          </p:cNvPr>
          <p:cNvSpPr>
            <a:spLocks noGrp="1"/>
          </p:cNvSpPr>
          <p:nvPr>
            <p:ph type="body" idx="1"/>
          </p:nvPr>
        </p:nvSpPr>
        <p:spPr>
          <a:xfrm>
            <a:off x="881303" y="1242373"/>
            <a:ext cx="7986680" cy="5078313"/>
          </a:xfrm>
        </p:spPr>
        <p:txBody>
          <a:bodyPr/>
          <a:lstStyle/>
          <a:p>
            <a:r>
              <a:rPr lang="en-US" sz="2200" dirty="0">
                <a:latin typeface="Arial MT"/>
                <a:cs typeface="Courier New" panose="02070309020205020404" pitchFamily="49" charset="0"/>
              </a:rPr>
              <a:t>C code snippet:</a:t>
            </a:r>
          </a:p>
          <a:p>
            <a:endParaRPr lang="en-US" sz="2200" dirty="0">
              <a:latin typeface="Arial MT"/>
              <a:cs typeface="Courier New" panose="02070309020205020404" pitchFamily="49" charset="0"/>
            </a:endParaRPr>
          </a:p>
          <a:p>
            <a:r>
              <a:rPr lang="en-US" sz="2200" dirty="0">
                <a:latin typeface="Courier New" panose="02070309020205020404" pitchFamily="49" charset="0"/>
                <a:cs typeface="Courier New" panose="02070309020205020404" pitchFamily="49" charset="0"/>
              </a:rPr>
              <a:t>while (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&lt; j ) {</a:t>
            </a:r>
          </a:p>
          <a:p>
            <a:r>
              <a:rPr lang="en-US" sz="2200" dirty="0">
                <a:latin typeface="Courier New" panose="02070309020205020404" pitchFamily="49" charset="0"/>
                <a:cs typeface="Courier New" panose="02070309020205020404" pitchFamily="49" charset="0"/>
              </a:rPr>
              <a:t>    k++;</a:t>
            </a: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+ 2;</a:t>
            </a:r>
          </a:p>
          <a:p>
            <a:r>
              <a:rPr lang="en-US" sz="2200" dirty="0">
                <a:latin typeface="Courier New" panose="02070309020205020404" pitchFamily="49" charset="0"/>
                <a:cs typeface="Courier New" panose="02070309020205020404" pitchFamily="49" charset="0"/>
              </a:rPr>
              <a:t>}</a:t>
            </a:r>
          </a:p>
          <a:p>
            <a:endParaRPr lang="en-US" sz="2200" dirty="0">
              <a:latin typeface="Courier New" panose="02070309020205020404" pitchFamily="49" charset="0"/>
              <a:cs typeface="Courier New" panose="02070309020205020404" pitchFamily="49" charset="0"/>
            </a:endParaRPr>
          </a:p>
          <a:p>
            <a:endParaRPr lang="en-US" sz="2200" dirty="0">
              <a:latin typeface="Arial MT"/>
              <a:cs typeface="Courier New" panose="02070309020205020404" pitchFamily="49" charset="0"/>
            </a:endParaRPr>
          </a:p>
          <a:p>
            <a:r>
              <a:rPr lang="en-US" sz="2200" dirty="0">
                <a:latin typeface="Arial MT"/>
                <a:cs typeface="Courier New" panose="02070309020205020404" pitchFamily="49" charset="0"/>
              </a:rPr>
              <a:t>MIPS Implementation: (assume $s1=I, $s2=j)</a:t>
            </a:r>
          </a:p>
          <a:p>
            <a:endParaRPr lang="en-US" sz="2200" dirty="0">
              <a:latin typeface="Arial MT"/>
              <a:cs typeface="Courier New" panose="02070309020205020404" pitchFamily="49" charset="0"/>
            </a:endParaRPr>
          </a:p>
          <a:p>
            <a:r>
              <a:rPr lang="en-US" sz="2200" dirty="0">
                <a:latin typeface="Courier New" panose="02070309020205020404" pitchFamily="49" charset="0"/>
                <a:cs typeface="Courier New" panose="02070309020205020404" pitchFamily="49" charset="0"/>
              </a:rPr>
              <a:t>L1: </a:t>
            </a:r>
            <a:r>
              <a:rPr lang="en-US" sz="2200" dirty="0" err="1">
                <a:latin typeface="Courier New" panose="02070309020205020404" pitchFamily="49" charset="0"/>
                <a:cs typeface="Courier New" panose="02070309020205020404" pitchFamily="49" charset="0"/>
              </a:rPr>
              <a:t>bge</a:t>
            </a:r>
            <a:r>
              <a:rPr lang="en-US" sz="2200" dirty="0">
                <a:latin typeface="Courier New" panose="02070309020205020404" pitchFamily="49" charset="0"/>
                <a:cs typeface="Courier New" panose="02070309020205020404" pitchFamily="49" charset="0"/>
              </a:rPr>
              <a:t>  $s1, $s2, DONE  # branch if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&lt; j)</a:t>
            </a: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addi</a:t>
            </a:r>
            <a:r>
              <a:rPr lang="en-US" sz="2200" dirty="0">
                <a:latin typeface="Courier New" panose="02070309020205020404" pitchFamily="49" charset="0"/>
                <a:cs typeface="Courier New" panose="02070309020205020404" pitchFamily="49" charset="0"/>
              </a:rPr>
              <a:t> $s3, $s3, 1     # k++</a:t>
            </a:r>
          </a:p>
          <a:p>
            <a:r>
              <a:rPr lang="en-US" sz="2200" dirty="0">
                <a:latin typeface="Courier New" panose="02070309020205020404" pitchFamily="49" charset="0"/>
                <a:cs typeface="Courier New" panose="02070309020205020404" pitchFamily="49" charset="0"/>
              </a:rPr>
              <a:t>    add  $s1, $s1, $s1   #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a:t>
            </a:r>
            <a:r>
              <a:rPr lang="en-US" sz="2200" dirty="0" err="1">
                <a:latin typeface="Courier New" panose="02070309020205020404" pitchFamily="49" charset="0"/>
                <a:cs typeface="Courier New" panose="02070309020205020404" pitchFamily="49" charset="0"/>
              </a:rPr>
              <a:t>i</a:t>
            </a:r>
            <a:r>
              <a:rPr lang="en-US" sz="2200" dirty="0">
                <a:latin typeface="Courier New" panose="02070309020205020404" pitchFamily="49" charset="0"/>
                <a:cs typeface="Courier New" panose="02070309020205020404" pitchFamily="49" charset="0"/>
              </a:rPr>
              <a:t> * 2</a:t>
            </a:r>
          </a:p>
          <a:p>
            <a:r>
              <a:rPr lang="en-US" sz="2200" dirty="0">
                <a:latin typeface="Courier New" panose="02070309020205020404" pitchFamily="49" charset="0"/>
                <a:cs typeface="Courier New" panose="02070309020205020404" pitchFamily="49" charset="0"/>
              </a:rPr>
              <a:t>    j L1</a:t>
            </a:r>
          </a:p>
          <a:p>
            <a:r>
              <a:rPr lang="en-US" sz="2200" dirty="0">
                <a:latin typeface="Courier New" panose="02070309020205020404" pitchFamily="49" charset="0"/>
                <a:cs typeface="Courier New" panose="02070309020205020404" pitchFamily="49" charset="0"/>
              </a:rPr>
              <a:t>DONE:</a:t>
            </a:r>
          </a:p>
        </p:txBody>
      </p:sp>
      <p:sp>
        <p:nvSpPr>
          <p:cNvPr id="3" name="Slide Number Placeholder 2">
            <a:extLst>
              <a:ext uri="{FF2B5EF4-FFF2-40B4-BE49-F238E27FC236}">
                <a16:creationId xmlns:a16="http://schemas.microsoft.com/office/drawing/2014/main" id="{F682F8B5-B36A-A9A1-E817-C86D8A5A149C}"/>
              </a:ext>
            </a:extLst>
          </p:cNvPr>
          <p:cNvSpPr>
            <a:spLocks noGrp="1"/>
          </p:cNvSpPr>
          <p:nvPr>
            <p:ph type="sldNum" sz="quarter" idx="7"/>
          </p:nvPr>
        </p:nvSpPr>
        <p:spPr>
          <a:xfrm>
            <a:off x="8475785" y="6346231"/>
            <a:ext cx="392198" cy="436017"/>
          </a:xfrm>
        </p:spPr>
        <p:txBody>
          <a:bodyPr/>
          <a:lstStyle/>
          <a:p>
            <a:pPr marL="139521">
              <a:lnSpc>
                <a:spcPts val="1747"/>
              </a:lnSpc>
            </a:pPr>
            <a:fld id="{81D60167-4931-47E6-BA6A-407CBD079E47}" type="slidenum">
              <a:rPr lang="en-US" spc="-44" smtClean="0"/>
              <a:pPr marL="139521">
                <a:lnSpc>
                  <a:spcPts val="1747"/>
                </a:lnSpc>
              </a:pPr>
              <a:t>18</a:t>
            </a:fld>
            <a:endParaRPr lang="en-US" spc="-44" dirty="0"/>
          </a:p>
        </p:txBody>
      </p:sp>
      <p:sp>
        <p:nvSpPr>
          <p:cNvPr id="6" name="TextBox 5">
            <a:extLst>
              <a:ext uri="{FF2B5EF4-FFF2-40B4-BE49-F238E27FC236}">
                <a16:creationId xmlns:a16="http://schemas.microsoft.com/office/drawing/2014/main" id="{9466D426-16DB-0F77-B249-AF6B28BD1C92}"/>
              </a:ext>
            </a:extLst>
          </p:cNvPr>
          <p:cNvSpPr txBox="1"/>
          <p:nvPr/>
        </p:nvSpPr>
        <p:spPr>
          <a:xfrm>
            <a:off x="4654062" y="1867463"/>
            <a:ext cx="3821723" cy="1785104"/>
          </a:xfrm>
          <a:prstGeom prst="rect">
            <a:avLst/>
          </a:prstGeom>
          <a:noFill/>
        </p:spPr>
        <p:txBody>
          <a:bodyPr wrap="square">
            <a:spAutoFit/>
          </a:bodyPr>
          <a:lstStyle/>
          <a:p>
            <a:r>
              <a:rPr lang="en-US" sz="2200" dirty="0">
                <a:solidFill>
                  <a:srgbClr val="FF0000"/>
                </a:solidFill>
                <a:latin typeface="Courier New" panose="02070309020205020404" pitchFamily="49" charset="0"/>
                <a:cs typeface="Courier New" panose="02070309020205020404" pitchFamily="49" charset="0"/>
              </a:rPr>
              <a:t>L1: if ( </a:t>
            </a:r>
            <a:r>
              <a:rPr lang="en-US" sz="2200" dirty="0" err="1">
                <a:solidFill>
                  <a:srgbClr val="FF0000"/>
                </a:solidFill>
                <a:latin typeface="Courier New" panose="02070309020205020404" pitchFamily="49" charset="0"/>
                <a:cs typeface="Courier New" panose="02070309020205020404" pitchFamily="49" charset="0"/>
              </a:rPr>
              <a:t>i</a:t>
            </a:r>
            <a:r>
              <a:rPr lang="en-US" sz="2200" dirty="0">
                <a:solidFill>
                  <a:srgbClr val="FF0000"/>
                </a:solidFill>
                <a:latin typeface="Courier New" panose="02070309020205020404" pitchFamily="49" charset="0"/>
                <a:cs typeface="Courier New" panose="02070309020205020404" pitchFamily="49" charset="0"/>
              </a:rPr>
              <a:t> &lt; j ) {</a:t>
            </a:r>
          </a:p>
          <a:p>
            <a:r>
              <a:rPr lang="en-US" sz="2200" dirty="0">
                <a:solidFill>
                  <a:srgbClr val="FF0000"/>
                </a:solidFill>
                <a:latin typeface="Courier New" panose="02070309020205020404" pitchFamily="49" charset="0"/>
                <a:cs typeface="Courier New" panose="02070309020205020404" pitchFamily="49" charset="0"/>
              </a:rPr>
              <a:t>        k++;</a:t>
            </a:r>
          </a:p>
          <a:p>
            <a:r>
              <a:rPr lang="en-US" sz="2200" dirty="0">
                <a:solidFill>
                  <a:srgbClr val="FF0000"/>
                </a:solidFill>
                <a:latin typeface="Courier New" panose="02070309020205020404" pitchFamily="49" charset="0"/>
                <a:cs typeface="Courier New" panose="02070309020205020404" pitchFamily="49" charset="0"/>
              </a:rPr>
              <a:t>        </a:t>
            </a:r>
            <a:r>
              <a:rPr lang="en-US" sz="2200" dirty="0" err="1">
                <a:solidFill>
                  <a:srgbClr val="FF0000"/>
                </a:solidFill>
                <a:latin typeface="Courier New" panose="02070309020205020404" pitchFamily="49" charset="0"/>
                <a:cs typeface="Courier New" panose="02070309020205020404" pitchFamily="49" charset="0"/>
              </a:rPr>
              <a:t>i</a:t>
            </a:r>
            <a:r>
              <a:rPr lang="en-US" sz="2200" dirty="0">
                <a:solidFill>
                  <a:srgbClr val="FF0000"/>
                </a:solidFill>
                <a:latin typeface="Courier New" panose="02070309020205020404" pitchFamily="49" charset="0"/>
                <a:cs typeface="Courier New" panose="02070309020205020404" pitchFamily="49" charset="0"/>
              </a:rPr>
              <a:t> = </a:t>
            </a:r>
            <a:r>
              <a:rPr lang="en-US" sz="2200" dirty="0" err="1">
                <a:solidFill>
                  <a:srgbClr val="FF0000"/>
                </a:solidFill>
                <a:latin typeface="Courier New" panose="02070309020205020404" pitchFamily="49" charset="0"/>
                <a:cs typeface="Courier New" panose="02070309020205020404" pitchFamily="49" charset="0"/>
              </a:rPr>
              <a:t>i</a:t>
            </a:r>
            <a:r>
              <a:rPr lang="en-US" sz="2200" dirty="0">
                <a:solidFill>
                  <a:srgbClr val="FF0000"/>
                </a:solidFill>
                <a:latin typeface="Courier New" panose="02070309020205020404" pitchFamily="49" charset="0"/>
                <a:cs typeface="Courier New" panose="02070309020205020404" pitchFamily="49" charset="0"/>
              </a:rPr>
              <a:t> + 2;</a:t>
            </a:r>
          </a:p>
          <a:p>
            <a:r>
              <a:rPr lang="en-US" sz="2200" dirty="0">
                <a:solidFill>
                  <a:srgbClr val="FF0000"/>
                </a:solidFill>
                <a:latin typeface="Courier New" panose="02070309020205020404" pitchFamily="49" charset="0"/>
                <a:cs typeface="Courier New" panose="02070309020205020404" pitchFamily="49" charset="0"/>
              </a:rPr>
              <a:t>        </a:t>
            </a:r>
            <a:r>
              <a:rPr lang="en-US" sz="2200" dirty="0" err="1">
                <a:solidFill>
                  <a:srgbClr val="FF0000"/>
                </a:solidFill>
                <a:latin typeface="Courier New" panose="02070309020205020404" pitchFamily="49" charset="0"/>
                <a:cs typeface="Courier New" panose="02070309020205020404" pitchFamily="49" charset="0"/>
              </a:rPr>
              <a:t>goto</a:t>
            </a:r>
            <a:r>
              <a:rPr lang="en-US" sz="2200" dirty="0">
                <a:solidFill>
                  <a:srgbClr val="FF0000"/>
                </a:solidFill>
                <a:latin typeface="Courier New" panose="02070309020205020404" pitchFamily="49" charset="0"/>
                <a:cs typeface="Courier New" panose="02070309020205020404" pitchFamily="49" charset="0"/>
              </a:rPr>
              <a:t> L1;</a:t>
            </a:r>
          </a:p>
          <a:p>
            <a:r>
              <a:rPr lang="en-US" sz="2200" dirty="0">
                <a:solidFill>
                  <a:srgbClr val="FF0000"/>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503946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8" end="8"/>
                                            </p:txEl>
                                          </p:spTgt>
                                        </p:tgtEl>
                                        <p:attrNameLst>
                                          <p:attrName>style.visibility</p:attrName>
                                        </p:attrNameLst>
                                      </p:cBhvr>
                                      <p:to>
                                        <p:strVal val="visible"/>
                                      </p:to>
                                    </p:set>
                                    <p:animEffect transition="in" filter="fade">
                                      <p:cBhvr>
                                        <p:cTn id="12" dur="500"/>
                                        <p:tgtEl>
                                          <p:spTgt spid="5">
                                            <p:txEl>
                                              <p:pRg st="8" end="8"/>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0" end="10"/>
                                            </p:txEl>
                                          </p:spTgt>
                                        </p:tgtEl>
                                        <p:attrNameLst>
                                          <p:attrName>style.visibility</p:attrName>
                                        </p:attrNameLst>
                                      </p:cBhvr>
                                      <p:to>
                                        <p:strVal val="visible"/>
                                      </p:to>
                                    </p:set>
                                    <p:animEffect transition="in" filter="fade">
                                      <p:cBhvr>
                                        <p:cTn id="15" dur="500"/>
                                        <p:tgtEl>
                                          <p:spTgt spid="5">
                                            <p:txEl>
                                              <p:pRg st="10" end="1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11" end="11"/>
                                            </p:txEl>
                                          </p:spTgt>
                                        </p:tgtEl>
                                        <p:attrNameLst>
                                          <p:attrName>style.visibility</p:attrName>
                                        </p:attrNameLst>
                                      </p:cBhvr>
                                      <p:to>
                                        <p:strVal val="visible"/>
                                      </p:to>
                                    </p:set>
                                    <p:animEffect transition="in" filter="fade">
                                      <p:cBhvr>
                                        <p:cTn id="18" dur="500"/>
                                        <p:tgtEl>
                                          <p:spTgt spid="5">
                                            <p:txEl>
                                              <p:pRg st="11" end="1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12" end="12"/>
                                            </p:txEl>
                                          </p:spTgt>
                                        </p:tgtEl>
                                        <p:attrNameLst>
                                          <p:attrName>style.visibility</p:attrName>
                                        </p:attrNameLst>
                                      </p:cBhvr>
                                      <p:to>
                                        <p:strVal val="visible"/>
                                      </p:to>
                                    </p:set>
                                    <p:animEffect transition="in" filter="fade">
                                      <p:cBhvr>
                                        <p:cTn id="21" dur="500"/>
                                        <p:tgtEl>
                                          <p:spTgt spid="5">
                                            <p:txEl>
                                              <p:pRg st="12" end="1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13" end="13"/>
                                            </p:txEl>
                                          </p:spTgt>
                                        </p:tgtEl>
                                        <p:attrNameLst>
                                          <p:attrName>style.visibility</p:attrName>
                                        </p:attrNameLst>
                                      </p:cBhvr>
                                      <p:to>
                                        <p:strVal val="visible"/>
                                      </p:to>
                                    </p:set>
                                    <p:animEffect transition="in" filter="fade">
                                      <p:cBhvr>
                                        <p:cTn id="24" dur="500"/>
                                        <p:tgtEl>
                                          <p:spTgt spid="5">
                                            <p:txEl>
                                              <p:pRg st="13" end="1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14" end="14"/>
                                            </p:txEl>
                                          </p:spTgt>
                                        </p:tgtEl>
                                        <p:attrNameLst>
                                          <p:attrName>style.visibility</p:attrName>
                                        </p:attrNameLst>
                                      </p:cBhvr>
                                      <p:to>
                                        <p:strVal val="visible"/>
                                      </p:to>
                                    </p:set>
                                    <p:animEffect transition="in" filter="fade">
                                      <p:cBhvr>
                                        <p:cTn id="27"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76718-2718-BD20-525D-99A277D88C4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F26877-1622-C1A0-BBD6-A7BA115DA076}"/>
              </a:ext>
            </a:extLst>
          </p:cNvPr>
          <p:cNvSpPr>
            <a:spLocks noGrp="1"/>
          </p:cNvSpPr>
          <p:nvPr>
            <p:ph type="title"/>
          </p:nvPr>
        </p:nvSpPr>
        <p:spPr>
          <a:xfrm>
            <a:off x="881303" y="645215"/>
            <a:ext cx="7285667" cy="461665"/>
          </a:xfrm>
        </p:spPr>
        <p:txBody>
          <a:bodyPr/>
          <a:lstStyle/>
          <a:p>
            <a:r>
              <a:rPr lang="en-US" dirty="0"/>
              <a:t>Example 7: For loop</a:t>
            </a:r>
          </a:p>
        </p:txBody>
      </p:sp>
      <p:sp>
        <p:nvSpPr>
          <p:cNvPr id="5" name="Text Placeholder 4">
            <a:extLst>
              <a:ext uri="{FF2B5EF4-FFF2-40B4-BE49-F238E27FC236}">
                <a16:creationId xmlns:a16="http://schemas.microsoft.com/office/drawing/2014/main" id="{DBFB0475-C7A5-8A1E-F1E2-0FF812810735}"/>
              </a:ext>
            </a:extLst>
          </p:cNvPr>
          <p:cNvSpPr>
            <a:spLocks noGrp="1"/>
          </p:cNvSpPr>
          <p:nvPr>
            <p:ph type="body" idx="1"/>
          </p:nvPr>
        </p:nvSpPr>
        <p:spPr>
          <a:xfrm>
            <a:off x="881303" y="1690419"/>
            <a:ext cx="7986680" cy="3724096"/>
          </a:xfrm>
        </p:spPr>
        <p:txBody>
          <a:bodyPr/>
          <a:lstStyle/>
          <a:p>
            <a:r>
              <a:rPr lang="en-US" sz="2200" dirty="0">
                <a:latin typeface="Courier New" panose="02070309020205020404" pitchFamily="49" charset="0"/>
                <a:cs typeface="Courier New" panose="02070309020205020404" pitchFamily="49" charset="0"/>
              </a:rPr>
              <a:t>for ( </a:t>
            </a:r>
            <a:r>
              <a:rPr lang="en-US" sz="2200" b="1" dirty="0">
                <a:solidFill>
                  <a:srgbClr val="FF0000"/>
                </a:solidFill>
                <a:latin typeface="Courier New" panose="02070309020205020404" pitchFamily="49" charset="0"/>
                <a:cs typeface="Courier New" panose="02070309020205020404" pitchFamily="49" charset="0"/>
              </a:rPr>
              <a:t>&lt;</a:t>
            </a:r>
            <a:r>
              <a:rPr lang="en-US" sz="2200" b="1" dirty="0" err="1">
                <a:solidFill>
                  <a:srgbClr val="FF0000"/>
                </a:solidFill>
                <a:latin typeface="Courier New" panose="02070309020205020404" pitchFamily="49" charset="0"/>
                <a:cs typeface="Courier New" panose="02070309020205020404" pitchFamily="49" charset="0"/>
              </a:rPr>
              <a:t>init</a:t>
            </a:r>
            <a:r>
              <a:rPr lang="en-US" sz="2200" b="1" dirty="0">
                <a:solidFill>
                  <a:srgbClr val="FF0000"/>
                </a:solidFill>
                <a:latin typeface="Courier New" panose="02070309020205020404" pitchFamily="49" charset="0"/>
                <a:cs typeface="Courier New" panose="02070309020205020404" pitchFamily="49" charset="0"/>
              </a:rPr>
              <a:t>&gt;</a:t>
            </a:r>
            <a:r>
              <a:rPr lang="en-US" sz="2200" dirty="0">
                <a:latin typeface="Courier New" panose="02070309020205020404" pitchFamily="49" charset="0"/>
                <a:cs typeface="Courier New" panose="02070309020205020404" pitchFamily="49" charset="0"/>
              </a:rPr>
              <a:t> ; </a:t>
            </a:r>
            <a:r>
              <a:rPr lang="en-US" sz="2200" b="1" dirty="0">
                <a:solidFill>
                  <a:srgbClr val="FF0000"/>
                </a:solidFill>
                <a:latin typeface="Courier New" panose="02070309020205020404" pitchFamily="49" charset="0"/>
                <a:cs typeface="Courier New" panose="02070309020205020404" pitchFamily="49" charset="0"/>
              </a:rPr>
              <a:t>&lt;</a:t>
            </a:r>
            <a:r>
              <a:rPr lang="en-US" sz="2200" b="1" dirty="0" err="1">
                <a:solidFill>
                  <a:srgbClr val="FF0000"/>
                </a:solidFill>
                <a:latin typeface="Courier New" panose="02070309020205020404" pitchFamily="49" charset="0"/>
                <a:cs typeface="Courier New" panose="02070309020205020404" pitchFamily="49" charset="0"/>
              </a:rPr>
              <a:t>cond</a:t>
            </a:r>
            <a:r>
              <a:rPr lang="en-US" sz="2200" b="1" dirty="0">
                <a:solidFill>
                  <a:srgbClr val="FF0000"/>
                </a:solidFill>
                <a:latin typeface="Courier New" panose="02070309020205020404" pitchFamily="49" charset="0"/>
                <a:cs typeface="Courier New" panose="02070309020205020404" pitchFamily="49" charset="0"/>
              </a:rPr>
              <a:t>&gt;</a:t>
            </a:r>
            <a:r>
              <a:rPr lang="en-US" sz="2200" dirty="0">
                <a:latin typeface="Courier New" panose="02070309020205020404" pitchFamily="49" charset="0"/>
                <a:cs typeface="Courier New" panose="02070309020205020404" pitchFamily="49" charset="0"/>
              </a:rPr>
              <a:t> ; </a:t>
            </a:r>
            <a:r>
              <a:rPr lang="en-US" sz="2200" b="1" dirty="0">
                <a:solidFill>
                  <a:srgbClr val="FF0000"/>
                </a:solidFill>
                <a:latin typeface="Courier New" panose="02070309020205020404" pitchFamily="49" charset="0"/>
                <a:cs typeface="Courier New" panose="02070309020205020404" pitchFamily="49" charset="0"/>
              </a:rPr>
              <a:t>&lt;update&gt;</a:t>
            </a:r>
            <a:r>
              <a:rPr lang="en-US" sz="2200" dirty="0">
                <a:latin typeface="Courier New" panose="02070309020205020404" pitchFamily="49" charset="0"/>
                <a:cs typeface="Courier New" panose="02070309020205020404" pitchFamily="49" charset="0"/>
              </a:rPr>
              <a:t> ) {</a:t>
            </a:r>
          </a:p>
          <a:p>
            <a:r>
              <a:rPr lang="en-US" sz="2200" dirty="0">
                <a:latin typeface="Courier New" panose="02070309020205020404" pitchFamily="49" charset="0"/>
                <a:cs typeface="Courier New" panose="02070309020205020404" pitchFamily="49" charset="0"/>
              </a:rPr>
              <a:t>    </a:t>
            </a:r>
            <a:r>
              <a:rPr lang="en-US" sz="2200" b="1" dirty="0">
                <a:solidFill>
                  <a:srgbClr val="FF0000"/>
                </a:solidFill>
                <a:latin typeface="Courier New" panose="02070309020205020404" pitchFamily="49" charset="0"/>
                <a:cs typeface="Courier New" panose="02070309020205020404" pitchFamily="49" charset="0"/>
              </a:rPr>
              <a:t>&lt;for-body&gt;</a:t>
            </a:r>
          </a:p>
          <a:p>
            <a:r>
              <a:rPr lang="en-US" sz="2200" dirty="0">
                <a:latin typeface="Courier New" panose="02070309020205020404" pitchFamily="49" charset="0"/>
                <a:cs typeface="Courier New" panose="02070309020205020404" pitchFamily="49" charset="0"/>
              </a:rPr>
              <a:t>}</a:t>
            </a:r>
          </a:p>
          <a:p>
            <a:endParaRPr lang="en-US" sz="2200" dirty="0">
              <a:latin typeface="Courier New" panose="02070309020205020404" pitchFamily="49" charset="0"/>
              <a:cs typeface="Courier New" panose="02070309020205020404" pitchFamily="49" charset="0"/>
            </a:endParaRPr>
          </a:p>
          <a:p>
            <a:r>
              <a:rPr lang="en-US" sz="2200" dirty="0">
                <a:latin typeface="Arial MT"/>
                <a:cs typeface="Courier New" panose="02070309020205020404" pitchFamily="49" charset="0"/>
              </a:rPr>
              <a:t>Equivalent while loop:</a:t>
            </a:r>
          </a:p>
          <a:p>
            <a:endParaRPr lang="en-US" sz="2200" dirty="0">
              <a:latin typeface="Courier New" panose="02070309020205020404" pitchFamily="49" charset="0"/>
              <a:cs typeface="Courier New" panose="02070309020205020404" pitchFamily="49" charset="0"/>
            </a:endParaRPr>
          </a:p>
          <a:p>
            <a:r>
              <a:rPr lang="en-US" sz="2200" b="1" dirty="0">
                <a:solidFill>
                  <a:srgbClr val="FF0000"/>
                </a:solidFill>
                <a:latin typeface="Courier New" panose="02070309020205020404" pitchFamily="49" charset="0"/>
                <a:cs typeface="Courier New" panose="02070309020205020404" pitchFamily="49" charset="0"/>
              </a:rPr>
              <a:t>&lt;</a:t>
            </a:r>
            <a:r>
              <a:rPr lang="en-US" sz="2200" b="1" dirty="0" err="1">
                <a:solidFill>
                  <a:srgbClr val="FF0000"/>
                </a:solidFill>
                <a:latin typeface="Courier New" panose="02070309020205020404" pitchFamily="49" charset="0"/>
                <a:cs typeface="Courier New" panose="02070309020205020404" pitchFamily="49" charset="0"/>
              </a:rPr>
              <a:t>init</a:t>
            </a:r>
            <a:r>
              <a:rPr lang="en-US" sz="2200" b="1" dirty="0">
                <a:solidFill>
                  <a:srgbClr val="FF0000"/>
                </a:solidFill>
                <a:latin typeface="Courier New" panose="02070309020205020404" pitchFamily="49" charset="0"/>
                <a:cs typeface="Courier New" panose="02070309020205020404" pitchFamily="49" charset="0"/>
              </a:rPr>
              <a:t>&gt;</a:t>
            </a:r>
            <a:r>
              <a:rPr lang="en-US" sz="2200" dirty="0">
                <a:latin typeface="Courier New" panose="02070309020205020404" pitchFamily="49" charset="0"/>
                <a:cs typeface="Courier New" panose="02070309020205020404" pitchFamily="49" charset="0"/>
              </a:rPr>
              <a:t>;</a:t>
            </a:r>
          </a:p>
          <a:p>
            <a:r>
              <a:rPr lang="en-US" sz="2200" dirty="0">
                <a:latin typeface="Courier New" panose="02070309020205020404" pitchFamily="49" charset="0"/>
                <a:cs typeface="Courier New" panose="02070309020205020404" pitchFamily="49" charset="0"/>
              </a:rPr>
              <a:t>while ( </a:t>
            </a:r>
            <a:r>
              <a:rPr lang="en-US" sz="2200" b="1" dirty="0">
                <a:solidFill>
                  <a:srgbClr val="FF0000"/>
                </a:solidFill>
                <a:latin typeface="Courier New" panose="02070309020205020404" pitchFamily="49" charset="0"/>
                <a:cs typeface="Courier New" panose="02070309020205020404" pitchFamily="49" charset="0"/>
              </a:rPr>
              <a:t>&lt;</a:t>
            </a:r>
            <a:r>
              <a:rPr lang="en-US" sz="2200" b="1" dirty="0" err="1">
                <a:solidFill>
                  <a:srgbClr val="FF0000"/>
                </a:solidFill>
                <a:latin typeface="Courier New" panose="02070309020205020404" pitchFamily="49" charset="0"/>
                <a:cs typeface="Courier New" panose="02070309020205020404" pitchFamily="49" charset="0"/>
              </a:rPr>
              <a:t>cond</a:t>
            </a:r>
            <a:r>
              <a:rPr lang="en-US" sz="2200" b="1" dirty="0">
                <a:solidFill>
                  <a:srgbClr val="FF0000"/>
                </a:solidFill>
                <a:latin typeface="Courier New" panose="02070309020205020404" pitchFamily="49" charset="0"/>
                <a:cs typeface="Courier New" panose="02070309020205020404" pitchFamily="49" charset="0"/>
              </a:rPr>
              <a:t>&gt;</a:t>
            </a:r>
            <a:r>
              <a:rPr lang="en-US" sz="2200" dirty="0">
                <a:latin typeface="Courier New" panose="02070309020205020404" pitchFamily="49" charset="0"/>
                <a:cs typeface="Courier New" panose="02070309020205020404" pitchFamily="49" charset="0"/>
              </a:rPr>
              <a:t> ) {</a:t>
            </a:r>
          </a:p>
          <a:p>
            <a:r>
              <a:rPr lang="en-US" sz="2200" dirty="0">
                <a:latin typeface="Courier New" panose="02070309020205020404" pitchFamily="49" charset="0"/>
                <a:cs typeface="Courier New" panose="02070309020205020404" pitchFamily="49" charset="0"/>
              </a:rPr>
              <a:t>    </a:t>
            </a:r>
            <a:r>
              <a:rPr lang="en-US" sz="2200" b="1" dirty="0">
                <a:solidFill>
                  <a:srgbClr val="FF0000"/>
                </a:solidFill>
                <a:latin typeface="Courier New" panose="02070309020205020404" pitchFamily="49" charset="0"/>
                <a:cs typeface="Courier New" panose="02070309020205020404" pitchFamily="49" charset="0"/>
              </a:rPr>
              <a:t>&lt;for-body&gt;</a:t>
            </a:r>
          </a:p>
          <a:p>
            <a:r>
              <a:rPr lang="en-US" sz="2200" dirty="0">
                <a:latin typeface="Courier New" panose="02070309020205020404" pitchFamily="49" charset="0"/>
                <a:cs typeface="Courier New" panose="02070309020205020404" pitchFamily="49" charset="0"/>
              </a:rPr>
              <a:t>    </a:t>
            </a:r>
            <a:r>
              <a:rPr lang="en-US" sz="2200" b="1" dirty="0">
                <a:solidFill>
                  <a:srgbClr val="FF0000"/>
                </a:solidFill>
                <a:latin typeface="Courier New" panose="02070309020205020404" pitchFamily="49" charset="0"/>
                <a:cs typeface="Courier New" panose="02070309020205020404" pitchFamily="49" charset="0"/>
              </a:rPr>
              <a:t>&lt;update&gt;</a:t>
            </a:r>
          </a:p>
          <a:p>
            <a:r>
              <a:rPr lang="en-US" sz="2200" dirty="0">
                <a:latin typeface="Courier New" panose="02070309020205020404" pitchFamily="49" charset="0"/>
                <a:cs typeface="Courier New" panose="02070309020205020404" pitchFamily="49" charset="0"/>
              </a:rPr>
              <a:t>}</a:t>
            </a:r>
          </a:p>
        </p:txBody>
      </p:sp>
      <p:sp>
        <p:nvSpPr>
          <p:cNvPr id="3" name="Slide Number Placeholder 2">
            <a:extLst>
              <a:ext uri="{FF2B5EF4-FFF2-40B4-BE49-F238E27FC236}">
                <a16:creationId xmlns:a16="http://schemas.microsoft.com/office/drawing/2014/main" id="{F4F810F7-AE13-2EB8-487E-41BC6F6D7BD7}"/>
              </a:ext>
            </a:extLst>
          </p:cNvPr>
          <p:cNvSpPr>
            <a:spLocks noGrp="1"/>
          </p:cNvSpPr>
          <p:nvPr>
            <p:ph type="sldNum" sz="quarter" idx="7"/>
          </p:nvPr>
        </p:nvSpPr>
        <p:spPr>
          <a:xfrm>
            <a:off x="8475785" y="6346231"/>
            <a:ext cx="392198" cy="436017"/>
          </a:xfrm>
        </p:spPr>
        <p:txBody>
          <a:bodyPr/>
          <a:lstStyle/>
          <a:p>
            <a:pPr marL="139521">
              <a:lnSpc>
                <a:spcPts val="1747"/>
              </a:lnSpc>
            </a:pPr>
            <a:fld id="{81D60167-4931-47E6-BA6A-407CBD079E47}" type="slidenum">
              <a:rPr lang="en-US" spc="-44" smtClean="0"/>
              <a:pPr marL="139521">
                <a:lnSpc>
                  <a:spcPts val="1747"/>
                </a:lnSpc>
              </a:pPr>
              <a:t>19</a:t>
            </a:fld>
            <a:endParaRPr lang="en-US" spc="-44" dirty="0"/>
          </a:p>
        </p:txBody>
      </p:sp>
      <p:sp>
        <p:nvSpPr>
          <p:cNvPr id="2" name="TextBox 1">
            <a:extLst>
              <a:ext uri="{FF2B5EF4-FFF2-40B4-BE49-F238E27FC236}">
                <a16:creationId xmlns:a16="http://schemas.microsoft.com/office/drawing/2014/main" id="{6471BA3C-94BD-4E21-8AAF-FE74AE14CA23}"/>
              </a:ext>
            </a:extLst>
          </p:cNvPr>
          <p:cNvSpPr txBox="1"/>
          <p:nvPr/>
        </p:nvSpPr>
        <p:spPr>
          <a:xfrm>
            <a:off x="4524136" y="3629411"/>
            <a:ext cx="3821723" cy="2123658"/>
          </a:xfrm>
          <a:prstGeom prst="rect">
            <a:avLst/>
          </a:prstGeom>
          <a:noFill/>
        </p:spPr>
        <p:txBody>
          <a:bodyPr wrap="square">
            <a:spAutoFit/>
          </a:bodyPr>
          <a:lstStyle/>
          <a:p>
            <a:r>
              <a:rPr lang="en-US" sz="2200" dirty="0">
                <a:latin typeface="Courier New" panose="02070309020205020404" pitchFamily="49" charset="0"/>
                <a:cs typeface="Courier New" panose="02070309020205020404" pitchFamily="49" charset="0"/>
              </a:rPr>
              <a:t>     </a:t>
            </a:r>
            <a:r>
              <a:rPr lang="en-US" sz="2200" b="1" dirty="0">
                <a:solidFill>
                  <a:srgbClr val="FF0000"/>
                </a:solidFill>
                <a:latin typeface="Courier New" panose="02070309020205020404" pitchFamily="49" charset="0"/>
                <a:cs typeface="Courier New" panose="02070309020205020404" pitchFamily="49" charset="0"/>
              </a:rPr>
              <a:t>&lt;</a:t>
            </a:r>
            <a:r>
              <a:rPr lang="en-US" sz="2200" b="1" dirty="0" err="1">
                <a:solidFill>
                  <a:srgbClr val="FF0000"/>
                </a:solidFill>
                <a:latin typeface="Courier New" panose="02070309020205020404" pitchFamily="49" charset="0"/>
                <a:cs typeface="Courier New" panose="02070309020205020404" pitchFamily="49" charset="0"/>
              </a:rPr>
              <a:t>init</a:t>
            </a:r>
            <a:r>
              <a:rPr lang="en-US" sz="2200" b="1" dirty="0">
                <a:solidFill>
                  <a:srgbClr val="FF0000"/>
                </a:solidFill>
                <a:latin typeface="Courier New" panose="02070309020205020404" pitchFamily="49" charset="0"/>
                <a:cs typeface="Courier New" panose="02070309020205020404" pitchFamily="49" charset="0"/>
              </a:rPr>
              <a:t>&gt;</a:t>
            </a:r>
            <a:r>
              <a:rPr lang="en-US" sz="2200" dirty="0">
                <a:latin typeface="Courier New" panose="02070309020205020404" pitchFamily="49" charset="0"/>
                <a:cs typeface="Courier New" panose="02070309020205020404" pitchFamily="49" charset="0"/>
              </a:rPr>
              <a:t>;</a:t>
            </a:r>
          </a:p>
          <a:p>
            <a:r>
              <a:rPr lang="en-US" sz="2200" dirty="0">
                <a:latin typeface="Courier New" panose="02070309020205020404" pitchFamily="49" charset="0"/>
                <a:cs typeface="Courier New" panose="02070309020205020404" pitchFamily="49" charset="0"/>
              </a:rPr>
              <a:t>L1:  if ( </a:t>
            </a:r>
            <a:r>
              <a:rPr lang="en-US" sz="2200" b="1" dirty="0">
                <a:solidFill>
                  <a:srgbClr val="FF0000"/>
                </a:solidFill>
                <a:latin typeface="Courier New" panose="02070309020205020404" pitchFamily="49" charset="0"/>
                <a:cs typeface="Courier New" panose="02070309020205020404" pitchFamily="49" charset="0"/>
              </a:rPr>
              <a:t>&lt;</a:t>
            </a:r>
            <a:r>
              <a:rPr lang="en-US" sz="2200" b="1" dirty="0" err="1">
                <a:solidFill>
                  <a:srgbClr val="FF0000"/>
                </a:solidFill>
                <a:latin typeface="Courier New" panose="02070309020205020404" pitchFamily="49" charset="0"/>
                <a:cs typeface="Courier New" panose="02070309020205020404" pitchFamily="49" charset="0"/>
              </a:rPr>
              <a:t>cond</a:t>
            </a:r>
            <a:r>
              <a:rPr lang="en-US" sz="2200" b="1" dirty="0">
                <a:solidFill>
                  <a:srgbClr val="FF0000"/>
                </a:solidFill>
                <a:latin typeface="Courier New" panose="02070309020205020404" pitchFamily="49" charset="0"/>
                <a:cs typeface="Courier New" panose="02070309020205020404" pitchFamily="49" charset="0"/>
              </a:rPr>
              <a:t>&gt;</a:t>
            </a:r>
            <a:r>
              <a:rPr lang="en-US" sz="2200" dirty="0">
                <a:latin typeface="Courier New" panose="02070309020205020404" pitchFamily="49" charset="0"/>
                <a:cs typeface="Courier New" panose="02070309020205020404" pitchFamily="49" charset="0"/>
              </a:rPr>
              <a:t> ) {</a:t>
            </a:r>
          </a:p>
          <a:p>
            <a:r>
              <a:rPr lang="en-US" sz="2200" dirty="0">
                <a:latin typeface="Courier New" panose="02070309020205020404" pitchFamily="49" charset="0"/>
                <a:cs typeface="Courier New" panose="02070309020205020404" pitchFamily="49" charset="0"/>
              </a:rPr>
              <a:t>         </a:t>
            </a:r>
            <a:r>
              <a:rPr lang="en-US" sz="2200" b="1" dirty="0">
                <a:solidFill>
                  <a:srgbClr val="FF0000"/>
                </a:solidFill>
                <a:latin typeface="Courier New" panose="02070309020205020404" pitchFamily="49" charset="0"/>
                <a:cs typeface="Courier New" panose="02070309020205020404" pitchFamily="49" charset="0"/>
              </a:rPr>
              <a:t>&lt;for-body&gt;</a:t>
            </a:r>
          </a:p>
          <a:p>
            <a:r>
              <a:rPr lang="en-US" sz="2200" dirty="0">
                <a:latin typeface="Courier New" panose="02070309020205020404" pitchFamily="49" charset="0"/>
                <a:cs typeface="Courier New" panose="02070309020205020404" pitchFamily="49" charset="0"/>
              </a:rPr>
              <a:t>         </a:t>
            </a:r>
            <a:r>
              <a:rPr lang="en-US" sz="2200" b="1" dirty="0">
                <a:solidFill>
                  <a:srgbClr val="FF0000"/>
                </a:solidFill>
                <a:latin typeface="Courier New" panose="02070309020205020404" pitchFamily="49" charset="0"/>
                <a:cs typeface="Courier New" panose="02070309020205020404" pitchFamily="49" charset="0"/>
              </a:rPr>
              <a:t>&lt;update&gt;</a:t>
            </a:r>
          </a:p>
          <a:p>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goto</a:t>
            </a:r>
            <a:r>
              <a:rPr lang="en-US" sz="2200" dirty="0">
                <a:latin typeface="Courier New" panose="02070309020205020404" pitchFamily="49" charset="0"/>
                <a:cs typeface="Courier New" panose="02070309020205020404" pitchFamily="49" charset="0"/>
              </a:rPr>
              <a:t> L1;</a:t>
            </a:r>
          </a:p>
          <a:p>
            <a:r>
              <a:rPr lang="en-US" sz="22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240268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500"/>
                                        <p:tgtEl>
                                          <p:spTgt spid="5">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6" end="6"/>
                                            </p:txEl>
                                          </p:spTgt>
                                        </p:tgtEl>
                                        <p:attrNameLst>
                                          <p:attrName>style.visibility</p:attrName>
                                        </p:attrNameLst>
                                      </p:cBhvr>
                                      <p:to>
                                        <p:strVal val="visible"/>
                                      </p:to>
                                    </p:set>
                                    <p:animEffect transition="in" filter="fade">
                                      <p:cBhvr>
                                        <p:cTn id="10" dur="500"/>
                                        <p:tgtEl>
                                          <p:spTgt spid="5">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animEffect transition="in" filter="fade">
                                      <p:cBhvr>
                                        <p:cTn id="13" dur="500"/>
                                        <p:tgtEl>
                                          <p:spTgt spid="5">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8" end="8"/>
                                            </p:txEl>
                                          </p:spTgt>
                                        </p:tgtEl>
                                        <p:attrNameLst>
                                          <p:attrName>style.visibility</p:attrName>
                                        </p:attrNameLst>
                                      </p:cBhvr>
                                      <p:to>
                                        <p:strVal val="visible"/>
                                      </p:to>
                                    </p:set>
                                    <p:animEffect transition="in" filter="fade">
                                      <p:cBhvr>
                                        <p:cTn id="16" dur="500"/>
                                        <p:tgtEl>
                                          <p:spTgt spid="5">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animEffect transition="in" filter="fade">
                                      <p:cBhvr>
                                        <p:cTn id="19" dur="500"/>
                                        <p:tgtEl>
                                          <p:spTgt spid="5">
                                            <p:txEl>
                                              <p:pRg st="9" end="9"/>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10" end="10"/>
                                            </p:txEl>
                                          </p:spTgt>
                                        </p:tgtEl>
                                        <p:attrNameLst>
                                          <p:attrName>style.visibility</p:attrName>
                                        </p:attrNameLst>
                                      </p:cBhvr>
                                      <p:to>
                                        <p:strVal val="visible"/>
                                      </p:to>
                                    </p:set>
                                    <p:animEffect transition="in" filter="fade">
                                      <p:cBhvr>
                                        <p:cTn id="22" dur="500"/>
                                        <p:tgtEl>
                                          <p:spTgt spid="5">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13C73-B7A7-6D08-F5C0-A180BD6B19A1}"/>
              </a:ext>
            </a:extLst>
          </p:cNvPr>
          <p:cNvSpPr>
            <a:spLocks noGrp="1"/>
          </p:cNvSpPr>
          <p:nvPr>
            <p:ph type="title"/>
          </p:nvPr>
        </p:nvSpPr>
        <p:spPr>
          <a:xfrm>
            <a:off x="881303" y="595433"/>
            <a:ext cx="5874905" cy="461665"/>
          </a:xfrm>
        </p:spPr>
        <p:txBody>
          <a:bodyPr/>
          <a:lstStyle/>
          <a:p>
            <a:r>
              <a:rPr lang="en-US" dirty="0"/>
              <a:t>Practice: Load and Store</a:t>
            </a:r>
          </a:p>
        </p:txBody>
      </p:sp>
      <p:sp>
        <p:nvSpPr>
          <p:cNvPr id="3" name="Text Placeholder 2">
            <a:extLst>
              <a:ext uri="{FF2B5EF4-FFF2-40B4-BE49-F238E27FC236}">
                <a16:creationId xmlns:a16="http://schemas.microsoft.com/office/drawing/2014/main" id="{D6E6E85C-249C-E522-9215-534F8715A5E6}"/>
              </a:ext>
            </a:extLst>
          </p:cNvPr>
          <p:cNvSpPr>
            <a:spLocks noGrp="1"/>
          </p:cNvSpPr>
          <p:nvPr>
            <p:ph type="body" idx="1"/>
          </p:nvPr>
        </p:nvSpPr>
        <p:spPr>
          <a:xfrm>
            <a:off x="881303" y="1525123"/>
            <a:ext cx="7582759" cy="738664"/>
          </a:xfrm>
        </p:spPr>
        <p:txBody>
          <a:bodyPr/>
          <a:lstStyle/>
          <a:p>
            <a:endParaRPr lang="en-US" sz="2400" dirty="0">
              <a:latin typeface="Arial MT"/>
            </a:endParaRPr>
          </a:p>
          <a:p>
            <a:r>
              <a:rPr lang="en-US" sz="2400" dirty="0">
                <a:latin typeface="Arial MT"/>
              </a:rPr>
              <a:t> See Q3. on practice set 1.</a:t>
            </a:r>
          </a:p>
        </p:txBody>
      </p:sp>
      <p:sp>
        <p:nvSpPr>
          <p:cNvPr id="4" name="Slide Number Placeholder 3">
            <a:extLst>
              <a:ext uri="{FF2B5EF4-FFF2-40B4-BE49-F238E27FC236}">
                <a16:creationId xmlns:a16="http://schemas.microsoft.com/office/drawing/2014/main" id="{928FBB24-6DAE-F306-5757-74C22826F599}"/>
              </a:ext>
            </a:extLst>
          </p:cNvPr>
          <p:cNvSpPr>
            <a:spLocks noGrp="1"/>
          </p:cNvSpPr>
          <p:nvPr>
            <p:ph type="sldNum" sz="quarter" idx="7"/>
          </p:nvPr>
        </p:nvSpPr>
        <p:spPr>
          <a:xfrm>
            <a:off x="8464062" y="6346231"/>
            <a:ext cx="403921" cy="436017"/>
          </a:xfrm>
        </p:spPr>
        <p:txBody>
          <a:bodyPr/>
          <a:lstStyle/>
          <a:p>
            <a:pPr marL="139521">
              <a:lnSpc>
                <a:spcPts val="1747"/>
              </a:lnSpc>
            </a:pPr>
            <a:fld id="{81D60167-4931-47E6-BA6A-407CBD079E47}" type="slidenum">
              <a:rPr lang="en-US" spc="-44" smtClean="0"/>
              <a:pPr marL="139521">
                <a:lnSpc>
                  <a:spcPts val="1747"/>
                </a:lnSpc>
              </a:pPr>
              <a:t>20</a:t>
            </a:fld>
            <a:endParaRPr lang="en-US" spc="-44" dirty="0"/>
          </a:p>
        </p:txBody>
      </p:sp>
    </p:spTree>
    <p:extLst>
      <p:ext uri="{BB962C8B-B14F-4D97-AF65-F5344CB8AC3E}">
        <p14:creationId xmlns:p14="http://schemas.microsoft.com/office/powerpoint/2010/main" val="1891948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BC7-93E6-C2E4-65CA-1BB31F1583F6}"/>
              </a:ext>
            </a:extLst>
          </p:cNvPr>
          <p:cNvSpPr>
            <a:spLocks noGrp="1"/>
          </p:cNvSpPr>
          <p:nvPr>
            <p:ph type="title"/>
          </p:nvPr>
        </p:nvSpPr>
        <p:spPr>
          <a:xfrm>
            <a:off x="881303" y="633492"/>
            <a:ext cx="5874905" cy="461665"/>
          </a:xfrm>
        </p:spPr>
        <p:txBody>
          <a:bodyPr/>
          <a:lstStyle/>
          <a:p>
            <a:r>
              <a:rPr lang="en-US" dirty="0"/>
              <a:t>SPIM MIPS Simulator</a:t>
            </a:r>
          </a:p>
        </p:txBody>
      </p:sp>
      <p:sp>
        <p:nvSpPr>
          <p:cNvPr id="3" name="Slide Number Placeholder 2">
            <a:extLst>
              <a:ext uri="{FF2B5EF4-FFF2-40B4-BE49-F238E27FC236}">
                <a16:creationId xmlns:a16="http://schemas.microsoft.com/office/drawing/2014/main" id="{B86E3052-A8BD-E163-BF37-6F781C7FA52F}"/>
              </a:ext>
            </a:extLst>
          </p:cNvPr>
          <p:cNvSpPr>
            <a:spLocks noGrp="1"/>
          </p:cNvSpPr>
          <p:nvPr>
            <p:ph type="sldNum" sz="quarter" idx="7"/>
          </p:nvPr>
        </p:nvSpPr>
        <p:spPr>
          <a:xfrm>
            <a:off x="8392438" y="6346231"/>
            <a:ext cx="475545" cy="436017"/>
          </a:xfrm>
        </p:spPr>
        <p:txBody>
          <a:bodyPr/>
          <a:lstStyle/>
          <a:p>
            <a:pPr marL="139521">
              <a:lnSpc>
                <a:spcPts val="1747"/>
              </a:lnSpc>
            </a:pPr>
            <a:fld id="{81D60167-4931-47E6-BA6A-407CBD079E47}" type="slidenum">
              <a:rPr lang="en-US" spc="-44" smtClean="0"/>
              <a:pPr marL="139521">
                <a:lnSpc>
                  <a:spcPts val="1747"/>
                </a:lnSpc>
              </a:pPr>
              <a:t>21</a:t>
            </a:fld>
            <a:endParaRPr lang="en-US" spc="-44" dirty="0"/>
          </a:p>
        </p:txBody>
      </p:sp>
      <p:sp>
        <p:nvSpPr>
          <p:cNvPr id="4" name="TextBox 3">
            <a:extLst>
              <a:ext uri="{FF2B5EF4-FFF2-40B4-BE49-F238E27FC236}">
                <a16:creationId xmlns:a16="http://schemas.microsoft.com/office/drawing/2014/main" id="{16D89331-F33D-DAE7-98B0-B4EA6E6A0E47}"/>
              </a:ext>
            </a:extLst>
          </p:cNvPr>
          <p:cNvSpPr txBox="1"/>
          <p:nvPr/>
        </p:nvSpPr>
        <p:spPr>
          <a:xfrm>
            <a:off x="775796" y="1793632"/>
            <a:ext cx="7887558" cy="3816429"/>
          </a:xfrm>
          <a:prstGeom prst="rect">
            <a:avLst/>
          </a:prstGeom>
          <a:noFill/>
        </p:spPr>
        <p:txBody>
          <a:bodyPr wrap="square" rtlCol="0">
            <a:spAutoFit/>
          </a:bodyPr>
          <a:lstStyle/>
          <a:p>
            <a:r>
              <a:rPr lang="en-US" sz="2200" dirty="0" err="1">
                <a:latin typeface="Arial MT"/>
              </a:rPr>
              <a:t>QtSpim</a:t>
            </a:r>
            <a:r>
              <a:rPr lang="en-US" sz="2200" dirty="0">
                <a:latin typeface="Arial MT"/>
              </a:rPr>
              <a:t>: a simulator for MIPS32</a:t>
            </a:r>
          </a:p>
          <a:p>
            <a:endParaRPr lang="en-US" sz="2200" dirty="0">
              <a:latin typeface="Arial MT"/>
            </a:endParaRPr>
          </a:p>
          <a:p>
            <a:endParaRPr lang="en-US" sz="2200" dirty="0">
              <a:latin typeface="Arial MT"/>
            </a:endParaRPr>
          </a:p>
          <a:p>
            <a:r>
              <a:rPr lang="en-US" sz="2200" dirty="0">
                <a:latin typeface="Arial MT"/>
              </a:rPr>
              <a:t>URL</a:t>
            </a:r>
          </a:p>
          <a:p>
            <a:r>
              <a:rPr lang="en-US" sz="2200" dirty="0">
                <a:latin typeface="Arial MT"/>
                <a:hlinkClick r:id="rId2"/>
              </a:rPr>
              <a:t>https://spimsimulator.sourceforge.net/</a:t>
            </a:r>
            <a:endParaRPr lang="en-US" sz="2200" dirty="0">
              <a:latin typeface="Arial MT"/>
            </a:endParaRPr>
          </a:p>
          <a:p>
            <a:endParaRPr lang="en-US" sz="2200" dirty="0">
              <a:latin typeface="Arial MT"/>
            </a:endParaRPr>
          </a:p>
          <a:p>
            <a:r>
              <a:rPr lang="en-US" sz="2200" dirty="0" err="1">
                <a:latin typeface="Arial MT"/>
              </a:rPr>
              <a:t>QtSpim</a:t>
            </a:r>
            <a:endParaRPr lang="en-US" sz="2200" dirty="0">
              <a:latin typeface="Arial MT"/>
            </a:endParaRPr>
          </a:p>
          <a:p>
            <a:r>
              <a:rPr lang="en-US" sz="2200" dirty="0">
                <a:latin typeface="Arial MT"/>
                <a:hlinkClick r:id="rId3"/>
              </a:rPr>
              <a:t>https://sourceforge.net/projects/spimsimulator/files/</a:t>
            </a:r>
            <a:endParaRPr lang="en-US" sz="2200" dirty="0">
              <a:latin typeface="Arial MT"/>
            </a:endParaRPr>
          </a:p>
          <a:p>
            <a:endParaRPr lang="en-US" sz="2200" dirty="0">
              <a:latin typeface="Arial MT"/>
            </a:endParaRPr>
          </a:p>
          <a:p>
            <a:r>
              <a:rPr lang="en-US" sz="2200" dirty="0">
                <a:latin typeface="Arial MT"/>
              </a:rPr>
              <a:t>Source Code</a:t>
            </a:r>
          </a:p>
          <a:p>
            <a:r>
              <a:rPr lang="en-US" sz="2200" dirty="0">
                <a:latin typeface="Arial MT"/>
                <a:hlinkClick r:id="rId4"/>
              </a:rPr>
              <a:t>https://sourceforge.net/p/spimsimulator/code/HEAD/tree/</a:t>
            </a:r>
            <a:endParaRPr lang="en-US" sz="2200" dirty="0">
              <a:latin typeface="Arial MT"/>
            </a:endParaRPr>
          </a:p>
        </p:txBody>
      </p:sp>
    </p:spTree>
    <p:extLst>
      <p:ext uri="{BB962C8B-B14F-4D97-AF65-F5344CB8AC3E}">
        <p14:creationId xmlns:p14="http://schemas.microsoft.com/office/powerpoint/2010/main" val="3426909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720C8-4FE3-1320-3E30-4F503C7F046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DC56866-79C4-03BB-C218-2592A4EABB68}"/>
              </a:ext>
            </a:extLst>
          </p:cNvPr>
          <p:cNvSpPr txBox="1">
            <a:spLocks noGrp="1"/>
          </p:cNvSpPr>
          <p:nvPr>
            <p:ph type="ctrTitle"/>
          </p:nvPr>
        </p:nvSpPr>
        <p:spPr>
          <a:xfrm>
            <a:off x="944419" y="2377029"/>
            <a:ext cx="4947397" cy="1447606"/>
          </a:xfrm>
          <a:prstGeom prst="rect">
            <a:avLst/>
          </a:prstGeom>
        </p:spPr>
        <p:txBody>
          <a:bodyPr vert="horz" wrap="square" lIns="0" tIns="11206" rIns="0" bIns="0" rtlCol="0" anchor="ctr">
            <a:spAutoFit/>
          </a:bodyPr>
          <a:lstStyle/>
          <a:p>
            <a:pPr marL="11206">
              <a:lnSpc>
                <a:spcPts val="4487"/>
              </a:lnSpc>
              <a:spcBef>
                <a:spcPts val="88"/>
              </a:spcBef>
            </a:pPr>
            <a:r>
              <a:rPr lang="en-US" sz="3794" b="1" dirty="0">
                <a:latin typeface="Arial"/>
                <a:cs typeface="Arial"/>
              </a:rPr>
              <a:t>Data Path &amp; </a:t>
            </a:r>
            <a:br>
              <a:rPr lang="en-US" sz="3794" b="1" dirty="0">
                <a:latin typeface="Arial"/>
                <a:cs typeface="Arial"/>
              </a:rPr>
            </a:br>
            <a:r>
              <a:rPr lang="en-US" sz="3794" b="1" dirty="0">
                <a:latin typeface="Arial"/>
                <a:cs typeface="Arial"/>
              </a:rPr>
              <a:t>Control Flow</a:t>
            </a:r>
            <a:endParaRPr sz="3794" dirty="0">
              <a:latin typeface="Arial"/>
              <a:cs typeface="Arial"/>
            </a:endParaRPr>
          </a:p>
          <a:p>
            <a:pPr marL="11206">
              <a:lnSpc>
                <a:spcPts val="2157"/>
              </a:lnSpc>
            </a:pPr>
            <a:r>
              <a:rPr sz="1853" b="1" dirty="0">
                <a:latin typeface="Arial"/>
                <a:cs typeface="Arial"/>
              </a:rPr>
              <a:t>-</a:t>
            </a:r>
            <a:r>
              <a:rPr sz="1853" b="1" spc="75" dirty="0">
                <a:latin typeface="Arial"/>
                <a:cs typeface="Arial"/>
              </a:rPr>
              <a:t> </a:t>
            </a:r>
            <a:r>
              <a:rPr sz="1853" b="1" dirty="0">
                <a:latin typeface="Arial"/>
                <a:cs typeface="Arial"/>
              </a:rPr>
              <a:t>APPENDIX</a:t>
            </a:r>
            <a:r>
              <a:rPr sz="1853" b="1" spc="93" dirty="0">
                <a:latin typeface="Arial"/>
                <a:cs typeface="Arial"/>
              </a:rPr>
              <a:t> </a:t>
            </a:r>
            <a:r>
              <a:rPr lang="en-US" sz="1853" b="1" spc="-44" dirty="0">
                <a:latin typeface="Arial"/>
                <a:cs typeface="Arial"/>
              </a:rPr>
              <a:t>A / C</a:t>
            </a:r>
            <a:endParaRPr sz="1853" dirty="0">
              <a:latin typeface="Arial"/>
              <a:cs typeface="Arial"/>
            </a:endParaRPr>
          </a:p>
        </p:txBody>
      </p:sp>
      <p:sp>
        <p:nvSpPr>
          <p:cNvPr id="4" name="Slide Number Placeholder 3">
            <a:extLst>
              <a:ext uri="{FF2B5EF4-FFF2-40B4-BE49-F238E27FC236}">
                <a16:creationId xmlns:a16="http://schemas.microsoft.com/office/drawing/2014/main" id="{B97FBF2D-E509-E566-8528-E57EA446E62F}"/>
              </a:ext>
            </a:extLst>
          </p:cNvPr>
          <p:cNvSpPr>
            <a:spLocks noGrp="1"/>
          </p:cNvSpPr>
          <p:nvPr>
            <p:ph type="sldNum" sz="quarter" idx="7"/>
          </p:nvPr>
        </p:nvSpPr>
        <p:spPr/>
        <p:txBody>
          <a:bodyPr/>
          <a:lstStyle/>
          <a:p>
            <a:pPr marL="11206">
              <a:lnSpc>
                <a:spcPts val="1747"/>
              </a:lnSpc>
            </a:pPr>
            <a:fld id="{81D60167-4931-47E6-BA6A-407CBD079E47}" type="slidenum">
              <a:rPr lang="en-US" spc="-22" smtClean="0"/>
              <a:pPr marL="11206">
                <a:lnSpc>
                  <a:spcPts val="1747"/>
                </a:lnSpc>
              </a:pPr>
              <a:t>22</a:t>
            </a:fld>
            <a:endParaRPr lang="en-US" spc="-22" dirty="0"/>
          </a:p>
        </p:txBody>
      </p:sp>
    </p:spTree>
    <p:extLst>
      <p:ext uri="{BB962C8B-B14F-4D97-AF65-F5344CB8AC3E}">
        <p14:creationId xmlns:p14="http://schemas.microsoft.com/office/powerpoint/2010/main" val="4153736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5504" y="600524"/>
            <a:ext cx="6872511" cy="589755"/>
          </a:xfrm>
          <a:prstGeom prst="rect">
            <a:avLst/>
          </a:prstGeom>
        </p:spPr>
        <p:txBody>
          <a:bodyPr vert="horz" wrap="square" lIns="0" tIns="126851" rIns="0" bIns="0" rtlCol="0" anchor="ctr">
            <a:spAutoFit/>
          </a:bodyPr>
          <a:lstStyle/>
          <a:p>
            <a:pPr marL="11206">
              <a:lnSpc>
                <a:spcPct val="100000"/>
              </a:lnSpc>
              <a:spcBef>
                <a:spcPts val="88"/>
              </a:spcBef>
            </a:pPr>
            <a:r>
              <a:rPr dirty="0"/>
              <a:t>Data</a:t>
            </a:r>
            <a:r>
              <a:rPr spc="13" dirty="0"/>
              <a:t> </a:t>
            </a:r>
            <a:r>
              <a:rPr dirty="0"/>
              <a:t>path</a:t>
            </a:r>
            <a:r>
              <a:rPr spc="13" dirty="0"/>
              <a:t> </a:t>
            </a:r>
            <a:r>
              <a:rPr dirty="0"/>
              <a:t>vs.</a:t>
            </a:r>
            <a:r>
              <a:rPr spc="9" dirty="0"/>
              <a:t> </a:t>
            </a:r>
            <a:r>
              <a:rPr spc="-9" dirty="0"/>
              <a:t>Contro</a:t>
            </a:r>
            <a:r>
              <a:rPr lang="en-US" spc="-9" dirty="0"/>
              <a:t>ller</a:t>
            </a:r>
            <a:endParaRPr spc="-9" dirty="0"/>
          </a:p>
        </p:txBody>
      </p:sp>
      <p:sp>
        <p:nvSpPr>
          <p:cNvPr id="39" name="Slide Number Placeholder 38">
            <a:extLst>
              <a:ext uri="{FF2B5EF4-FFF2-40B4-BE49-F238E27FC236}">
                <a16:creationId xmlns:a16="http://schemas.microsoft.com/office/drawing/2014/main" id="{8DFC9ED6-F862-99F6-E495-6111007FEBDC}"/>
              </a:ext>
            </a:extLst>
          </p:cNvPr>
          <p:cNvSpPr>
            <a:spLocks noGrp="1"/>
          </p:cNvSpPr>
          <p:nvPr>
            <p:ph type="sldNum" sz="quarter" idx="7"/>
          </p:nvPr>
        </p:nvSpPr>
        <p:spPr/>
        <p:txBody>
          <a:bodyPr/>
          <a:lstStyle/>
          <a:p>
            <a:fld id="{4FE321F0-2018-4E50-8BB3-A5631EBD98DD}" type="slidenum">
              <a:rPr lang="en-US" smtClean="0"/>
              <a:t>23</a:t>
            </a:fld>
            <a:endParaRPr lang="en-US"/>
          </a:p>
        </p:txBody>
      </p:sp>
      <p:grpSp>
        <p:nvGrpSpPr>
          <p:cNvPr id="3" name="object 3"/>
          <p:cNvGrpSpPr/>
          <p:nvPr/>
        </p:nvGrpSpPr>
        <p:grpSpPr>
          <a:xfrm>
            <a:off x="2055719" y="1548605"/>
            <a:ext cx="1699372" cy="2549899"/>
            <a:chOff x="2177414" y="1781322"/>
            <a:chExt cx="1925955" cy="2889885"/>
          </a:xfrm>
        </p:grpSpPr>
        <p:sp>
          <p:nvSpPr>
            <p:cNvPr id="4" name="object 4"/>
            <p:cNvSpPr/>
            <p:nvPr/>
          </p:nvSpPr>
          <p:spPr>
            <a:xfrm>
              <a:off x="2184399" y="1788307"/>
              <a:ext cx="1911985" cy="2875915"/>
            </a:xfrm>
            <a:custGeom>
              <a:avLst/>
              <a:gdLst/>
              <a:ahLst/>
              <a:cxnLst/>
              <a:rect l="l" t="t" r="r" b="b"/>
              <a:pathLst>
                <a:path w="1911985" h="2875915">
                  <a:moveTo>
                    <a:pt x="1911408" y="0"/>
                  </a:moveTo>
                  <a:lnTo>
                    <a:pt x="0" y="0"/>
                  </a:lnTo>
                  <a:lnTo>
                    <a:pt x="0" y="2875890"/>
                  </a:lnTo>
                  <a:lnTo>
                    <a:pt x="1911408" y="2875890"/>
                  </a:lnTo>
                  <a:lnTo>
                    <a:pt x="1911408" y="0"/>
                  </a:lnTo>
                  <a:close/>
                </a:path>
              </a:pathLst>
            </a:custGeom>
            <a:solidFill>
              <a:srgbClr val="D9D9D9"/>
            </a:solidFill>
          </p:spPr>
          <p:txBody>
            <a:bodyPr wrap="square" lIns="0" tIns="0" rIns="0" bIns="0" rtlCol="0"/>
            <a:lstStyle/>
            <a:p>
              <a:endParaRPr sz="1588"/>
            </a:p>
          </p:txBody>
        </p:sp>
        <p:sp>
          <p:nvSpPr>
            <p:cNvPr id="5" name="object 5"/>
            <p:cNvSpPr/>
            <p:nvPr/>
          </p:nvSpPr>
          <p:spPr>
            <a:xfrm>
              <a:off x="2184399" y="1788307"/>
              <a:ext cx="1911985" cy="2875915"/>
            </a:xfrm>
            <a:custGeom>
              <a:avLst/>
              <a:gdLst/>
              <a:ahLst/>
              <a:cxnLst/>
              <a:rect l="l" t="t" r="r" b="b"/>
              <a:pathLst>
                <a:path w="1911985" h="2875915">
                  <a:moveTo>
                    <a:pt x="0" y="0"/>
                  </a:moveTo>
                  <a:lnTo>
                    <a:pt x="1911409" y="0"/>
                  </a:lnTo>
                  <a:lnTo>
                    <a:pt x="1911409" y="2875891"/>
                  </a:lnTo>
                  <a:lnTo>
                    <a:pt x="0" y="2875891"/>
                  </a:lnTo>
                  <a:lnTo>
                    <a:pt x="0" y="0"/>
                  </a:lnTo>
                  <a:close/>
                </a:path>
              </a:pathLst>
            </a:custGeom>
            <a:ln w="13546">
              <a:solidFill>
                <a:srgbClr val="000000"/>
              </a:solidFill>
            </a:ln>
          </p:spPr>
          <p:txBody>
            <a:bodyPr wrap="square" lIns="0" tIns="0" rIns="0" bIns="0" rtlCol="0"/>
            <a:lstStyle/>
            <a:p>
              <a:endParaRPr sz="1588"/>
            </a:p>
          </p:txBody>
        </p:sp>
      </p:grpSp>
      <p:sp>
        <p:nvSpPr>
          <p:cNvPr id="6" name="object 6"/>
          <p:cNvSpPr txBox="1"/>
          <p:nvPr/>
        </p:nvSpPr>
        <p:spPr>
          <a:xfrm>
            <a:off x="2460333" y="1300040"/>
            <a:ext cx="839881" cy="242148"/>
          </a:xfrm>
          <a:prstGeom prst="rect">
            <a:avLst/>
          </a:prstGeom>
        </p:spPr>
        <p:txBody>
          <a:bodyPr vert="horz" wrap="square" lIns="0" tIns="11206" rIns="0" bIns="0" rtlCol="0">
            <a:spAutoFit/>
          </a:bodyPr>
          <a:lstStyle/>
          <a:p>
            <a:pPr marL="11206">
              <a:spcBef>
                <a:spcPts val="88"/>
              </a:spcBef>
            </a:pPr>
            <a:r>
              <a:rPr sz="1500" b="1" spc="-9" dirty="0">
                <a:solidFill>
                  <a:srgbClr val="FF0000"/>
                </a:solidFill>
                <a:latin typeface="Arial"/>
                <a:cs typeface="Arial"/>
              </a:rPr>
              <a:t>Datapath</a:t>
            </a:r>
            <a:endParaRPr sz="1500" dirty="0">
              <a:latin typeface="Arial"/>
              <a:cs typeface="Arial"/>
            </a:endParaRPr>
          </a:p>
        </p:txBody>
      </p:sp>
      <p:grpSp>
        <p:nvGrpSpPr>
          <p:cNvPr id="7" name="object 7"/>
          <p:cNvGrpSpPr/>
          <p:nvPr/>
        </p:nvGrpSpPr>
        <p:grpSpPr>
          <a:xfrm>
            <a:off x="2324468" y="1551166"/>
            <a:ext cx="4775947" cy="2650191"/>
            <a:chOff x="2481997" y="1784225"/>
            <a:chExt cx="5412740" cy="3003550"/>
          </a:xfrm>
        </p:grpSpPr>
        <p:sp>
          <p:nvSpPr>
            <p:cNvPr id="8" name="object 8"/>
            <p:cNvSpPr/>
            <p:nvPr/>
          </p:nvSpPr>
          <p:spPr>
            <a:xfrm>
              <a:off x="2518509" y="2127843"/>
              <a:ext cx="1062990" cy="978535"/>
            </a:xfrm>
            <a:custGeom>
              <a:avLst/>
              <a:gdLst/>
              <a:ahLst/>
              <a:cxnLst/>
              <a:rect l="l" t="t" r="r" b="b"/>
              <a:pathLst>
                <a:path w="1062989" h="978535">
                  <a:moveTo>
                    <a:pt x="1062930" y="0"/>
                  </a:moveTo>
                  <a:lnTo>
                    <a:pt x="0" y="0"/>
                  </a:lnTo>
                  <a:lnTo>
                    <a:pt x="0" y="977977"/>
                  </a:lnTo>
                  <a:lnTo>
                    <a:pt x="1062930" y="977977"/>
                  </a:lnTo>
                  <a:lnTo>
                    <a:pt x="1062930" y="0"/>
                  </a:lnTo>
                  <a:close/>
                </a:path>
              </a:pathLst>
            </a:custGeom>
            <a:solidFill>
              <a:srgbClr val="FFFFFF"/>
            </a:solidFill>
          </p:spPr>
          <p:txBody>
            <a:bodyPr wrap="square" lIns="0" tIns="0" rIns="0" bIns="0" rtlCol="0"/>
            <a:lstStyle/>
            <a:p>
              <a:endParaRPr sz="1588"/>
            </a:p>
          </p:txBody>
        </p:sp>
        <p:sp>
          <p:nvSpPr>
            <p:cNvPr id="9" name="object 9"/>
            <p:cNvSpPr/>
            <p:nvPr/>
          </p:nvSpPr>
          <p:spPr>
            <a:xfrm>
              <a:off x="2518509" y="2127843"/>
              <a:ext cx="1062990" cy="978535"/>
            </a:xfrm>
            <a:custGeom>
              <a:avLst/>
              <a:gdLst/>
              <a:ahLst/>
              <a:cxnLst/>
              <a:rect l="l" t="t" r="r" b="b"/>
              <a:pathLst>
                <a:path w="1062989" h="978535">
                  <a:moveTo>
                    <a:pt x="0" y="0"/>
                  </a:moveTo>
                  <a:lnTo>
                    <a:pt x="1062930" y="0"/>
                  </a:lnTo>
                  <a:lnTo>
                    <a:pt x="1062930" y="977977"/>
                  </a:lnTo>
                  <a:lnTo>
                    <a:pt x="0" y="977977"/>
                  </a:lnTo>
                  <a:lnTo>
                    <a:pt x="0" y="0"/>
                  </a:lnTo>
                  <a:close/>
                </a:path>
              </a:pathLst>
            </a:custGeom>
            <a:ln w="13546">
              <a:solidFill>
                <a:srgbClr val="000000"/>
              </a:solidFill>
            </a:ln>
          </p:spPr>
          <p:txBody>
            <a:bodyPr wrap="square" lIns="0" tIns="0" rIns="0" bIns="0" rtlCol="0"/>
            <a:lstStyle/>
            <a:p>
              <a:endParaRPr sz="1588"/>
            </a:p>
          </p:txBody>
        </p:sp>
        <p:sp>
          <p:nvSpPr>
            <p:cNvPr id="10" name="object 10"/>
            <p:cNvSpPr/>
            <p:nvPr/>
          </p:nvSpPr>
          <p:spPr>
            <a:xfrm>
              <a:off x="2488982" y="3355393"/>
              <a:ext cx="561340" cy="240029"/>
            </a:xfrm>
            <a:custGeom>
              <a:avLst/>
              <a:gdLst/>
              <a:ahLst/>
              <a:cxnLst/>
              <a:rect l="l" t="t" r="r" b="b"/>
              <a:pathLst>
                <a:path w="561339" h="240029">
                  <a:moveTo>
                    <a:pt x="560990" y="0"/>
                  </a:moveTo>
                  <a:lnTo>
                    <a:pt x="0" y="0"/>
                  </a:lnTo>
                  <a:lnTo>
                    <a:pt x="0" y="239415"/>
                  </a:lnTo>
                  <a:lnTo>
                    <a:pt x="560990" y="239415"/>
                  </a:lnTo>
                  <a:lnTo>
                    <a:pt x="560990" y="0"/>
                  </a:lnTo>
                  <a:close/>
                </a:path>
              </a:pathLst>
            </a:custGeom>
            <a:solidFill>
              <a:srgbClr val="FFFFFF"/>
            </a:solidFill>
          </p:spPr>
          <p:txBody>
            <a:bodyPr wrap="square" lIns="0" tIns="0" rIns="0" bIns="0" rtlCol="0"/>
            <a:lstStyle/>
            <a:p>
              <a:endParaRPr sz="1588"/>
            </a:p>
          </p:txBody>
        </p:sp>
        <p:sp>
          <p:nvSpPr>
            <p:cNvPr id="11" name="object 11"/>
            <p:cNvSpPr/>
            <p:nvPr/>
          </p:nvSpPr>
          <p:spPr>
            <a:xfrm>
              <a:off x="2488982" y="3355393"/>
              <a:ext cx="561340" cy="240029"/>
            </a:xfrm>
            <a:custGeom>
              <a:avLst/>
              <a:gdLst/>
              <a:ahLst/>
              <a:cxnLst/>
              <a:rect l="l" t="t" r="r" b="b"/>
              <a:pathLst>
                <a:path w="561339" h="240029">
                  <a:moveTo>
                    <a:pt x="0" y="0"/>
                  </a:moveTo>
                  <a:lnTo>
                    <a:pt x="560990" y="0"/>
                  </a:lnTo>
                  <a:lnTo>
                    <a:pt x="560990" y="239415"/>
                  </a:lnTo>
                  <a:lnTo>
                    <a:pt x="0" y="239415"/>
                  </a:lnTo>
                  <a:lnTo>
                    <a:pt x="0" y="0"/>
                  </a:lnTo>
                  <a:close/>
                </a:path>
              </a:pathLst>
            </a:custGeom>
            <a:ln w="13546">
              <a:solidFill>
                <a:srgbClr val="000000"/>
              </a:solidFill>
            </a:ln>
          </p:spPr>
          <p:txBody>
            <a:bodyPr wrap="square" lIns="0" tIns="0" rIns="0" bIns="0" rtlCol="0"/>
            <a:lstStyle/>
            <a:p>
              <a:endParaRPr sz="1588"/>
            </a:p>
          </p:txBody>
        </p:sp>
        <p:sp>
          <p:nvSpPr>
            <p:cNvPr id="12" name="object 12"/>
            <p:cNvSpPr/>
            <p:nvPr/>
          </p:nvSpPr>
          <p:spPr>
            <a:xfrm>
              <a:off x="3088822" y="3355393"/>
              <a:ext cx="561340" cy="240029"/>
            </a:xfrm>
            <a:custGeom>
              <a:avLst/>
              <a:gdLst/>
              <a:ahLst/>
              <a:cxnLst/>
              <a:rect l="l" t="t" r="r" b="b"/>
              <a:pathLst>
                <a:path w="561339" h="240029">
                  <a:moveTo>
                    <a:pt x="560990" y="0"/>
                  </a:moveTo>
                  <a:lnTo>
                    <a:pt x="0" y="0"/>
                  </a:lnTo>
                  <a:lnTo>
                    <a:pt x="0" y="239415"/>
                  </a:lnTo>
                  <a:lnTo>
                    <a:pt x="560990" y="239415"/>
                  </a:lnTo>
                  <a:lnTo>
                    <a:pt x="560990" y="0"/>
                  </a:lnTo>
                  <a:close/>
                </a:path>
              </a:pathLst>
            </a:custGeom>
            <a:solidFill>
              <a:srgbClr val="FFFFFF"/>
            </a:solidFill>
          </p:spPr>
          <p:txBody>
            <a:bodyPr wrap="square" lIns="0" tIns="0" rIns="0" bIns="0" rtlCol="0"/>
            <a:lstStyle/>
            <a:p>
              <a:endParaRPr sz="1588"/>
            </a:p>
          </p:txBody>
        </p:sp>
        <p:sp>
          <p:nvSpPr>
            <p:cNvPr id="13" name="object 13"/>
            <p:cNvSpPr/>
            <p:nvPr/>
          </p:nvSpPr>
          <p:spPr>
            <a:xfrm>
              <a:off x="3088822" y="3355393"/>
              <a:ext cx="561340" cy="240029"/>
            </a:xfrm>
            <a:custGeom>
              <a:avLst/>
              <a:gdLst/>
              <a:ahLst/>
              <a:cxnLst/>
              <a:rect l="l" t="t" r="r" b="b"/>
              <a:pathLst>
                <a:path w="561339" h="240029">
                  <a:moveTo>
                    <a:pt x="0" y="0"/>
                  </a:moveTo>
                  <a:lnTo>
                    <a:pt x="560990" y="0"/>
                  </a:lnTo>
                  <a:lnTo>
                    <a:pt x="560990" y="239415"/>
                  </a:lnTo>
                  <a:lnTo>
                    <a:pt x="0" y="239415"/>
                  </a:lnTo>
                  <a:lnTo>
                    <a:pt x="0" y="0"/>
                  </a:lnTo>
                  <a:close/>
                </a:path>
              </a:pathLst>
            </a:custGeom>
            <a:ln w="13546">
              <a:solidFill>
                <a:srgbClr val="000000"/>
              </a:solidFill>
            </a:ln>
          </p:spPr>
          <p:txBody>
            <a:bodyPr wrap="square" lIns="0" tIns="0" rIns="0" bIns="0" rtlCol="0"/>
            <a:lstStyle/>
            <a:p>
              <a:endParaRPr sz="1588"/>
            </a:p>
          </p:txBody>
        </p:sp>
        <p:sp>
          <p:nvSpPr>
            <p:cNvPr id="14" name="object 14"/>
            <p:cNvSpPr/>
            <p:nvPr/>
          </p:nvSpPr>
          <p:spPr>
            <a:xfrm>
              <a:off x="2520062" y="3883558"/>
              <a:ext cx="956310" cy="454659"/>
            </a:xfrm>
            <a:custGeom>
              <a:avLst/>
              <a:gdLst/>
              <a:ahLst/>
              <a:cxnLst/>
              <a:rect l="l" t="t" r="r" b="b"/>
              <a:pathLst>
                <a:path w="956310" h="454660">
                  <a:moveTo>
                    <a:pt x="955704" y="0"/>
                  </a:moveTo>
                  <a:lnTo>
                    <a:pt x="0" y="0"/>
                  </a:lnTo>
                  <a:lnTo>
                    <a:pt x="238925" y="454164"/>
                  </a:lnTo>
                  <a:lnTo>
                    <a:pt x="716777" y="454164"/>
                  </a:lnTo>
                  <a:lnTo>
                    <a:pt x="955704" y="0"/>
                  </a:lnTo>
                  <a:close/>
                </a:path>
              </a:pathLst>
            </a:custGeom>
            <a:solidFill>
              <a:srgbClr val="FFFFFF"/>
            </a:solidFill>
          </p:spPr>
          <p:txBody>
            <a:bodyPr wrap="square" lIns="0" tIns="0" rIns="0" bIns="0" rtlCol="0"/>
            <a:lstStyle/>
            <a:p>
              <a:endParaRPr sz="1588"/>
            </a:p>
          </p:txBody>
        </p:sp>
        <p:sp>
          <p:nvSpPr>
            <p:cNvPr id="15" name="object 15"/>
            <p:cNvSpPr/>
            <p:nvPr/>
          </p:nvSpPr>
          <p:spPr>
            <a:xfrm>
              <a:off x="2520062" y="3883558"/>
              <a:ext cx="956310" cy="454659"/>
            </a:xfrm>
            <a:custGeom>
              <a:avLst/>
              <a:gdLst/>
              <a:ahLst/>
              <a:cxnLst/>
              <a:rect l="l" t="t" r="r" b="b"/>
              <a:pathLst>
                <a:path w="956310" h="454660">
                  <a:moveTo>
                    <a:pt x="0" y="0"/>
                  </a:moveTo>
                  <a:lnTo>
                    <a:pt x="238926" y="454164"/>
                  </a:lnTo>
                  <a:lnTo>
                    <a:pt x="716778" y="454164"/>
                  </a:lnTo>
                  <a:lnTo>
                    <a:pt x="955704" y="0"/>
                  </a:lnTo>
                  <a:lnTo>
                    <a:pt x="0" y="0"/>
                  </a:lnTo>
                  <a:close/>
                </a:path>
              </a:pathLst>
            </a:custGeom>
            <a:ln w="13546">
              <a:solidFill>
                <a:srgbClr val="000000"/>
              </a:solidFill>
            </a:ln>
          </p:spPr>
          <p:txBody>
            <a:bodyPr wrap="square" lIns="0" tIns="0" rIns="0" bIns="0" rtlCol="0"/>
            <a:lstStyle/>
            <a:p>
              <a:endParaRPr sz="1588"/>
            </a:p>
          </p:txBody>
        </p:sp>
        <p:sp>
          <p:nvSpPr>
            <p:cNvPr id="16" name="object 16"/>
            <p:cNvSpPr/>
            <p:nvPr/>
          </p:nvSpPr>
          <p:spPr>
            <a:xfrm>
              <a:off x="2776472" y="3076799"/>
              <a:ext cx="0" cy="297815"/>
            </a:xfrm>
            <a:custGeom>
              <a:avLst/>
              <a:gdLst/>
              <a:ahLst/>
              <a:cxnLst/>
              <a:rect l="l" t="t" r="r" b="b"/>
              <a:pathLst>
                <a:path h="297814">
                  <a:moveTo>
                    <a:pt x="0" y="0"/>
                  </a:moveTo>
                  <a:lnTo>
                    <a:pt x="1" y="297455"/>
                  </a:lnTo>
                </a:path>
              </a:pathLst>
            </a:custGeom>
            <a:ln w="30479">
              <a:solidFill>
                <a:srgbClr val="FF0000"/>
              </a:solidFill>
            </a:ln>
          </p:spPr>
          <p:txBody>
            <a:bodyPr wrap="square" lIns="0" tIns="0" rIns="0" bIns="0" rtlCol="0"/>
            <a:lstStyle/>
            <a:p>
              <a:endParaRPr sz="1588"/>
            </a:p>
          </p:txBody>
        </p:sp>
        <p:sp>
          <p:nvSpPr>
            <p:cNvPr id="17" name="object 17"/>
            <p:cNvSpPr/>
            <p:nvPr/>
          </p:nvSpPr>
          <p:spPr>
            <a:xfrm>
              <a:off x="3329693" y="3085506"/>
              <a:ext cx="0" cy="297815"/>
            </a:xfrm>
            <a:custGeom>
              <a:avLst/>
              <a:gdLst/>
              <a:ahLst/>
              <a:cxnLst/>
              <a:rect l="l" t="t" r="r" b="b"/>
              <a:pathLst>
                <a:path h="297814">
                  <a:moveTo>
                    <a:pt x="0" y="0"/>
                  </a:moveTo>
                  <a:lnTo>
                    <a:pt x="1" y="297455"/>
                  </a:lnTo>
                </a:path>
              </a:pathLst>
            </a:custGeom>
            <a:ln w="30479">
              <a:solidFill>
                <a:srgbClr val="FF0000"/>
              </a:solidFill>
            </a:ln>
          </p:spPr>
          <p:txBody>
            <a:bodyPr wrap="square" lIns="0" tIns="0" rIns="0" bIns="0" rtlCol="0"/>
            <a:lstStyle/>
            <a:p>
              <a:endParaRPr sz="1588"/>
            </a:p>
          </p:txBody>
        </p:sp>
        <p:sp>
          <p:nvSpPr>
            <p:cNvPr id="18" name="object 18"/>
            <p:cNvSpPr/>
            <p:nvPr/>
          </p:nvSpPr>
          <p:spPr>
            <a:xfrm>
              <a:off x="2770257" y="3564338"/>
              <a:ext cx="0" cy="297815"/>
            </a:xfrm>
            <a:custGeom>
              <a:avLst/>
              <a:gdLst/>
              <a:ahLst/>
              <a:cxnLst/>
              <a:rect l="l" t="t" r="r" b="b"/>
              <a:pathLst>
                <a:path h="297814">
                  <a:moveTo>
                    <a:pt x="0" y="0"/>
                  </a:moveTo>
                  <a:lnTo>
                    <a:pt x="1" y="297455"/>
                  </a:lnTo>
                </a:path>
              </a:pathLst>
            </a:custGeom>
            <a:ln w="30479">
              <a:solidFill>
                <a:srgbClr val="FC0128"/>
              </a:solidFill>
            </a:ln>
          </p:spPr>
          <p:txBody>
            <a:bodyPr wrap="square" lIns="0" tIns="0" rIns="0" bIns="0" rtlCol="0"/>
            <a:lstStyle/>
            <a:p>
              <a:endParaRPr sz="1588"/>
            </a:p>
          </p:txBody>
        </p:sp>
        <p:sp>
          <p:nvSpPr>
            <p:cNvPr id="19" name="object 19"/>
            <p:cNvSpPr/>
            <p:nvPr/>
          </p:nvSpPr>
          <p:spPr>
            <a:xfrm>
              <a:off x="3323478" y="3573044"/>
              <a:ext cx="0" cy="297815"/>
            </a:xfrm>
            <a:custGeom>
              <a:avLst/>
              <a:gdLst/>
              <a:ahLst/>
              <a:cxnLst/>
              <a:rect l="l" t="t" r="r" b="b"/>
              <a:pathLst>
                <a:path h="297814">
                  <a:moveTo>
                    <a:pt x="0" y="0"/>
                  </a:moveTo>
                  <a:lnTo>
                    <a:pt x="1" y="297455"/>
                  </a:lnTo>
                </a:path>
              </a:pathLst>
            </a:custGeom>
            <a:ln w="30479">
              <a:solidFill>
                <a:srgbClr val="FC0128"/>
              </a:solidFill>
            </a:ln>
          </p:spPr>
          <p:txBody>
            <a:bodyPr wrap="square" lIns="0" tIns="0" rIns="0" bIns="0" rtlCol="0"/>
            <a:lstStyle/>
            <a:p>
              <a:endParaRPr sz="1588"/>
            </a:p>
          </p:txBody>
        </p:sp>
        <p:sp>
          <p:nvSpPr>
            <p:cNvPr id="20" name="object 20"/>
            <p:cNvSpPr/>
            <p:nvPr/>
          </p:nvSpPr>
          <p:spPr>
            <a:xfrm>
              <a:off x="2942750" y="1985645"/>
              <a:ext cx="895350" cy="2507615"/>
            </a:xfrm>
            <a:custGeom>
              <a:avLst/>
              <a:gdLst/>
              <a:ahLst/>
              <a:cxnLst/>
              <a:rect l="l" t="t" r="r" b="b"/>
              <a:pathLst>
                <a:path w="895350" h="2507615">
                  <a:moveTo>
                    <a:pt x="46619" y="2352078"/>
                  </a:moveTo>
                  <a:lnTo>
                    <a:pt x="60605" y="2507336"/>
                  </a:lnTo>
                  <a:lnTo>
                    <a:pt x="895099" y="2507336"/>
                  </a:lnTo>
                  <a:lnTo>
                    <a:pt x="895099" y="0"/>
                  </a:lnTo>
                  <a:lnTo>
                    <a:pt x="0" y="0"/>
                  </a:lnTo>
                  <a:lnTo>
                    <a:pt x="31079" y="105923"/>
                  </a:lnTo>
                </a:path>
              </a:pathLst>
            </a:custGeom>
            <a:ln w="13546">
              <a:solidFill>
                <a:srgbClr val="FF0000"/>
              </a:solidFill>
            </a:ln>
          </p:spPr>
          <p:txBody>
            <a:bodyPr wrap="square" lIns="0" tIns="0" rIns="0" bIns="0" rtlCol="0"/>
            <a:lstStyle/>
            <a:p>
              <a:endParaRPr sz="1588"/>
            </a:p>
          </p:txBody>
        </p:sp>
        <p:sp>
          <p:nvSpPr>
            <p:cNvPr id="21" name="object 21"/>
            <p:cNvSpPr/>
            <p:nvPr/>
          </p:nvSpPr>
          <p:spPr>
            <a:xfrm>
              <a:off x="6036743" y="1791210"/>
              <a:ext cx="1851025" cy="2989580"/>
            </a:xfrm>
            <a:custGeom>
              <a:avLst/>
              <a:gdLst/>
              <a:ahLst/>
              <a:cxnLst/>
              <a:rect l="l" t="t" r="r" b="b"/>
              <a:pathLst>
                <a:path w="1851025" h="2989579">
                  <a:moveTo>
                    <a:pt x="1850802" y="0"/>
                  </a:moveTo>
                  <a:lnTo>
                    <a:pt x="0" y="0"/>
                  </a:lnTo>
                  <a:lnTo>
                    <a:pt x="0" y="2989069"/>
                  </a:lnTo>
                  <a:lnTo>
                    <a:pt x="1850802" y="2989069"/>
                  </a:lnTo>
                  <a:lnTo>
                    <a:pt x="1850802" y="0"/>
                  </a:lnTo>
                  <a:close/>
                </a:path>
              </a:pathLst>
            </a:custGeom>
            <a:solidFill>
              <a:srgbClr val="D9D9D9"/>
            </a:solidFill>
          </p:spPr>
          <p:txBody>
            <a:bodyPr wrap="square" lIns="0" tIns="0" rIns="0" bIns="0" rtlCol="0"/>
            <a:lstStyle/>
            <a:p>
              <a:endParaRPr sz="1588"/>
            </a:p>
          </p:txBody>
        </p:sp>
        <p:sp>
          <p:nvSpPr>
            <p:cNvPr id="22" name="object 22"/>
            <p:cNvSpPr/>
            <p:nvPr/>
          </p:nvSpPr>
          <p:spPr>
            <a:xfrm>
              <a:off x="6036743" y="1791210"/>
              <a:ext cx="1851025" cy="2989580"/>
            </a:xfrm>
            <a:custGeom>
              <a:avLst/>
              <a:gdLst/>
              <a:ahLst/>
              <a:cxnLst/>
              <a:rect l="l" t="t" r="r" b="b"/>
              <a:pathLst>
                <a:path w="1851025" h="2989579">
                  <a:moveTo>
                    <a:pt x="0" y="0"/>
                  </a:moveTo>
                  <a:lnTo>
                    <a:pt x="1850803" y="0"/>
                  </a:lnTo>
                  <a:lnTo>
                    <a:pt x="1850803" y="2989069"/>
                  </a:lnTo>
                  <a:lnTo>
                    <a:pt x="0" y="2989069"/>
                  </a:lnTo>
                  <a:lnTo>
                    <a:pt x="0" y="0"/>
                  </a:lnTo>
                  <a:close/>
                </a:path>
              </a:pathLst>
            </a:custGeom>
            <a:ln w="13546">
              <a:solidFill>
                <a:srgbClr val="000000"/>
              </a:solidFill>
            </a:ln>
          </p:spPr>
          <p:txBody>
            <a:bodyPr wrap="square" lIns="0" tIns="0" rIns="0" bIns="0" rtlCol="0"/>
            <a:lstStyle/>
            <a:p>
              <a:endParaRPr sz="1588"/>
            </a:p>
          </p:txBody>
        </p:sp>
      </p:grpSp>
      <p:sp>
        <p:nvSpPr>
          <p:cNvPr id="23" name="object 23"/>
          <p:cNvSpPr txBox="1"/>
          <p:nvPr/>
        </p:nvSpPr>
        <p:spPr>
          <a:xfrm>
            <a:off x="5738797" y="1302730"/>
            <a:ext cx="936812" cy="242148"/>
          </a:xfrm>
          <a:prstGeom prst="rect">
            <a:avLst/>
          </a:prstGeom>
        </p:spPr>
        <p:txBody>
          <a:bodyPr vert="horz" wrap="square" lIns="0" tIns="11206" rIns="0" bIns="0" rtlCol="0">
            <a:spAutoFit/>
          </a:bodyPr>
          <a:lstStyle/>
          <a:p>
            <a:pPr marL="11206">
              <a:spcBef>
                <a:spcPts val="88"/>
              </a:spcBef>
            </a:pPr>
            <a:r>
              <a:rPr sz="1500" b="1" spc="-9" dirty="0">
                <a:solidFill>
                  <a:srgbClr val="FF0000"/>
                </a:solidFill>
                <a:latin typeface="Arial"/>
                <a:cs typeface="Arial"/>
              </a:rPr>
              <a:t>Controller</a:t>
            </a:r>
            <a:endParaRPr sz="1500" dirty="0">
              <a:latin typeface="Arial"/>
              <a:cs typeface="Arial"/>
            </a:endParaRPr>
          </a:p>
        </p:txBody>
      </p:sp>
      <p:grpSp>
        <p:nvGrpSpPr>
          <p:cNvPr id="24" name="object 24"/>
          <p:cNvGrpSpPr/>
          <p:nvPr/>
        </p:nvGrpSpPr>
        <p:grpSpPr>
          <a:xfrm>
            <a:off x="2999762" y="1731687"/>
            <a:ext cx="3767418" cy="2186268"/>
            <a:chOff x="3247330" y="1988816"/>
            <a:chExt cx="4269740" cy="2477770"/>
          </a:xfrm>
        </p:grpSpPr>
        <p:sp>
          <p:nvSpPr>
            <p:cNvPr id="25" name="object 25"/>
            <p:cNvSpPr/>
            <p:nvPr/>
          </p:nvSpPr>
          <p:spPr>
            <a:xfrm>
              <a:off x="3247326" y="2803219"/>
              <a:ext cx="3248660" cy="1414145"/>
            </a:xfrm>
            <a:custGeom>
              <a:avLst/>
              <a:gdLst/>
              <a:ahLst/>
              <a:cxnLst/>
              <a:rect l="l" t="t" r="r" b="b"/>
              <a:pathLst>
                <a:path w="3248660" h="1414145">
                  <a:moveTo>
                    <a:pt x="3230740" y="1332814"/>
                  </a:moveTo>
                  <a:lnTo>
                    <a:pt x="121920" y="1332814"/>
                  </a:lnTo>
                  <a:lnTo>
                    <a:pt x="121920" y="1292174"/>
                  </a:lnTo>
                  <a:lnTo>
                    <a:pt x="0" y="1353134"/>
                  </a:lnTo>
                  <a:lnTo>
                    <a:pt x="121920" y="1414094"/>
                  </a:lnTo>
                  <a:lnTo>
                    <a:pt x="121920" y="1373454"/>
                  </a:lnTo>
                  <a:lnTo>
                    <a:pt x="3230740" y="1373454"/>
                  </a:lnTo>
                  <a:lnTo>
                    <a:pt x="3230740" y="1332814"/>
                  </a:lnTo>
                  <a:close/>
                </a:path>
                <a:path w="3248660" h="1414145">
                  <a:moveTo>
                    <a:pt x="3230740" y="653745"/>
                  </a:moveTo>
                  <a:lnTo>
                    <a:pt x="501091" y="653745"/>
                  </a:lnTo>
                  <a:lnTo>
                    <a:pt x="501091" y="613105"/>
                  </a:lnTo>
                  <a:lnTo>
                    <a:pt x="379171" y="674065"/>
                  </a:lnTo>
                  <a:lnTo>
                    <a:pt x="501091" y="735025"/>
                  </a:lnTo>
                  <a:lnTo>
                    <a:pt x="501091" y="694385"/>
                  </a:lnTo>
                  <a:lnTo>
                    <a:pt x="3230740" y="694385"/>
                  </a:lnTo>
                  <a:lnTo>
                    <a:pt x="3230740" y="653745"/>
                  </a:lnTo>
                  <a:close/>
                </a:path>
                <a:path w="3248660" h="1414145">
                  <a:moveTo>
                    <a:pt x="3248050" y="285267"/>
                  </a:moveTo>
                  <a:lnTo>
                    <a:pt x="441794" y="40487"/>
                  </a:lnTo>
                  <a:lnTo>
                    <a:pt x="441947" y="38722"/>
                  </a:lnTo>
                  <a:lnTo>
                    <a:pt x="445325" y="0"/>
                  </a:lnTo>
                  <a:lnTo>
                    <a:pt x="318566" y="50126"/>
                  </a:lnTo>
                  <a:lnTo>
                    <a:pt x="434733" y="121450"/>
                  </a:lnTo>
                  <a:lnTo>
                    <a:pt x="438264" y="80975"/>
                  </a:lnTo>
                  <a:lnTo>
                    <a:pt x="3244519" y="325755"/>
                  </a:lnTo>
                  <a:lnTo>
                    <a:pt x="3248050" y="285267"/>
                  </a:lnTo>
                  <a:close/>
                </a:path>
              </a:pathLst>
            </a:custGeom>
            <a:solidFill>
              <a:srgbClr val="000000"/>
            </a:solidFill>
          </p:spPr>
          <p:txBody>
            <a:bodyPr wrap="square" lIns="0" tIns="0" rIns="0" bIns="0" rtlCol="0"/>
            <a:lstStyle/>
            <a:p>
              <a:endParaRPr sz="1588"/>
            </a:p>
          </p:txBody>
        </p:sp>
        <p:sp>
          <p:nvSpPr>
            <p:cNvPr id="26" name="object 26"/>
            <p:cNvSpPr/>
            <p:nvPr/>
          </p:nvSpPr>
          <p:spPr>
            <a:xfrm>
              <a:off x="6433011" y="2634242"/>
              <a:ext cx="895350" cy="170180"/>
            </a:xfrm>
            <a:custGeom>
              <a:avLst/>
              <a:gdLst/>
              <a:ahLst/>
              <a:cxnLst/>
              <a:rect l="l" t="t" r="r" b="b"/>
              <a:pathLst>
                <a:path w="895350" h="170180">
                  <a:moveTo>
                    <a:pt x="895099" y="0"/>
                  </a:moveTo>
                  <a:lnTo>
                    <a:pt x="0" y="0"/>
                  </a:lnTo>
                  <a:lnTo>
                    <a:pt x="0" y="169767"/>
                  </a:lnTo>
                  <a:lnTo>
                    <a:pt x="895099" y="169767"/>
                  </a:lnTo>
                  <a:lnTo>
                    <a:pt x="895099" y="0"/>
                  </a:lnTo>
                  <a:close/>
                </a:path>
              </a:pathLst>
            </a:custGeom>
            <a:solidFill>
              <a:srgbClr val="FFFFFF"/>
            </a:solidFill>
          </p:spPr>
          <p:txBody>
            <a:bodyPr wrap="square" lIns="0" tIns="0" rIns="0" bIns="0" rtlCol="0"/>
            <a:lstStyle/>
            <a:p>
              <a:endParaRPr sz="1588"/>
            </a:p>
          </p:txBody>
        </p:sp>
        <p:sp>
          <p:nvSpPr>
            <p:cNvPr id="27" name="object 27"/>
            <p:cNvSpPr/>
            <p:nvPr/>
          </p:nvSpPr>
          <p:spPr>
            <a:xfrm>
              <a:off x="6433011" y="2634242"/>
              <a:ext cx="895350" cy="170180"/>
            </a:xfrm>
            <a:custGeom>
              <a:avLst/>
              <a:gdLst/>
              <a:ahLst/>
              <a:cxnLst/>
              <a:rect l="l" t="t" r="r" b="b"/>
              <a:pathLst>
                <a:path w="895350" h="170180">
                  <a:moveTo>
                    <a:pt x="0" y="0"/>
                  </a:moveTo>
                  <a:lnTo>
                    <a:pt x="895099" y="0"/>
                  </a:lnTo>
                  <a:lnTo>
                    <a:pt x="895099" y="169767"/>
                  </a:lnTo>
                  <a:lnTo>
                    <a:pt x="0" y="169767"/>
                  </a:lnTo>
                  <a:lnTo>
                    <a:pt x="0" y="0"/>
                  </a:lnTo>
                  <a:close/>
                </a:path>
              </a:pathLst>
            </a:custGeom>
            <a:ln w="13546">
              <a:solidFill>
                <a:srgbClr val="000000"/>
              </a:solidFill>
            </a:ln>
          </p:spPr>
          <p:txBody>
            <a:bodyPr wrap="square" lIns="0" tIns="0" rIns="0" bIns="0" rtlCol="0"/>
            <a:lstStyle/>
            <a:p>
              <a:endParaRPr sz="1588"/>
            </a:p>
          </p:txBody>
        </p:sp>
        <p:sp>
          <p:nvSpPr>
            <p:cNvPr id="28" name="object 28"/>
            <p:cNvSpPr/>
            <p:nvPr/>
          </p:nvSpPr>
          <p:spPr>
            <a:xfrm>
              <a:off x="6462537" y="1995801"/>
              <a:ext cx="819150" cy="454659"/>
            </a:xfrm>
            <a:custGeom>
              <a:avLst/>
              <a:gdLst/>
              <a:ahLst/>
              <a:cxnLst/>
              <a:rect l="l" t="t" r="r" b="b"/>
              <a:pathLst>
                <a:path w="819150" h="454660">
                  <a:moveTo>
                    <a:pt x="743257" y="0"/>
                  </a:moveTo>
                  <a:lnTo>
                    <a:pt x="75695" y="0"/>
                  </a:lnTo>
                  <a:lnTo>
                    <a:pt x="46231" y="5948"/>
                  </a:lnTo>
                  <a:lnTo>
                    <a:pt x="22170" y="22170"/>
                  </a:lnTo>
                  <a:lnTo>
                    <a:pt x="5948" y="46231"/>
                  </a:lnTo>
                  <a:lnTo>
                    <a:pt x="0" y="75695"/>
                  </a:lnTo>
                  <a:lnTo>
                    <a:pt x="0" y="378467"/>
                  </a:lnTo>
                  <a:lnTo>
                    <a:pt x="5948" y="407932"/>
                  </a:lnTo>
                  <a:lnTo>
                    <a:pt x="22170" y="431993"/>
                  </a:lnTo>
                  <a:lnTo>
                    <a:pt x="46231" y="448215"/>
                  </a:lnTo>
                  <a:lnTo>
                    <a:pt x="75695" y="454164"/>
                  </a:lnTo>
                  <a:lnTo>
                    <a:pt x="743257" y="454164"/>
                  </a:lnTo>
                  <a:lnTo>
                    <a:pt x="772721" y="448215"/>
                  </a:lnTo>
                  <a:lnTo>
                    <a:pt x="796782" y="431993"/>
                  </a:lnTo>
                  <a:lnTo>
                    <a:pt x="813004" y="407932"/>
                  </a:lnTo>
                  <a:lnTo>
                    <a:pt x="818953" y="378467"/>
                  </a:lnTo>
                  <a:lnTo>
                    <a:pt x="818953" y="75695"/>
                  </a:lnTo>
                  <a:lnTo>
                    <a:pt x="813004" y="46231"/>
                  </a:lnTo>
                  <a:lnTo>
                    <a:pt x="796782" y="22170"/>
                  </a:lnTo>
                  <a:lnTo>
                    <a:pt x="772721" y="5948"/>
                  </a:lnTo>
                  <a:lnTo>
                    <a:pt x="743257" y="0"/>
                  </a:lnTo>
                  <a:close/>
                </a:path>
              </a:pathLst>
            </a:custGeom>
            <a:solidFill>
              <a:srgbClr val="FFFFFF"/>
            </a:solidFill>
          </p:spPr>
          <p:txBody>
            <a:bodyPr wrap="square" lIns="0" tIns="0" rIns="0" bIns="0" rtlCol="0"/>
            <a:lstStyle/>
            <a:p>
              <a:endParaRPr sz="1588"/>
            </a:p>
          </p:txBody>
        </p:sp>
        <p:sp>
          <p:nvSpPr>
            <p:cNvPr id="29" name="object 29"/>
            <p:cNvSpPr/>
            <p:nvPr/>
          </p:nvSpPr>
          <p:spPr>
            <a:xfrm>
              <a:off x="6462537" y="1995801"/>
              <a:ext cx="819150" cy="454659"/>
            </a:xfrm>
            <a:custGeom>
              <a:avLst/>
              <a:gdLst/>
              <a:ahLst/>
              <a:cxnLst/>
              <a:rect l="l" t="t" r="r" b="b"/>
              <a:pathLst>
                <a:path w="819150" h="454660">
                  <a:moveTo>
                    <a:pt x="0" y="75695"/>
                  </a:moveTo>
                  <a:lnTo>
                    <a:pt x="5948" y="46231"/>
                  </a:lnTo>
                  <a:lnTo>
                    <a:pt x="22170" y="22170"/>
                  </a:lnTo>
                  <a:lnTo>
                    <a:pt x="46231" y="5948"/>
                  </a:lnTo>
                  <a:lnTo>
                    <a:pt x="75695" y="0"/>
                  </a:lnTo>
                  <a:lnTo>
                    <a:pt x="743257" y="0"/>
                  </a:lnTo>
                  <a:lnTo>
                    <a:pt x="772721" y="5948"/>
                  </a:lnTo>
                  <a:lnTo>
                    <a:pt x="796782" y="22170"/>
                  </a:lnTo>
                  <a:lnTo>
                    <a:pt x="813005" y="46231"/>
                  </a:lnTo>
                  <a:lnTo>
                    <a:pt x="818953" y="75695"/>
                  </a:lnTo>
                  <a:lnTo>
                    <a:pt x="818953" y="378468"/>
                  </a:lnTo>
                  <a:lnTo>
                    <a:pt x="813005" y="407932"/>
                  </a:lnTo>
                  <a:lnTo>
                    <a:pt x="796782" y="431993"/>
                  </a:lnTo>
                  <a:lnTo>
                    <a:pt x="772721" y="448215"/>
                  </a:lnTo>
                  <a:lnTo>
                    <a:pt x="743257" y="454164"/>
                  </a:lnTo>
                  <a:lnTo>
                    <a:pt x="75695" y="454164"/>
                  </a:lnTo>
                  <a:lnTo>
                    <a:pt x="46231" y="448215"/>
                  </a:lnTo>
                  <a:lnTo>
                    <a:pt x="22170" y="431993"/>
                  </a:lnTo>
                  <a:lnTo>
                    <a:pt x="5948" y="407932"/>
                  </a:lnTo>
                  <a:lnTo>
                    <a:pt x="0" y="378468"/>
                  </a:lnTo>
                  <a:lnTo>
                    <a:pt x="0" y="75695"/>
                  </a:lnTo>
                  <a:close/>
                </a:path>
              </a:pathLst>
            </a:custGeom>
            <a:ln w="13546">
              <a:solidFill>
                <a:srgbClr val="000000"/>
              </a:solidFill>
            </a:ln>
          </p:spPr>
          <p:txBody>
            <a:bodyPr wrap="square" lIns="0" tIns="0" rIns="0" bIns="0" rtlCol="0"/>
            <a:lstStyle/>
            <a:p>
              <a:endParaRPr sz="1588"/>
            </a:p>
          </p:txBody>
        </p:sp>
        <p:sp>
          <p:nvSpPr>
            <p:cNvPr id="30" name="object 30"/>
            <p:cNvSpPr/>
            <p:nvPr/>
          </p:nvSpPr>
          <p:spPr>
            <a:xfrm>
              <a:off x="6474967" y="2956365"/>
              <a:ext cx="819150" cy="1503680"/>
            </a:xfrm>
            <a:custGeom>
              <a:avLst/>
              <a:gdLst/>
              <a:ahLst/>
              <a:cxnLst/>
              <a:rect l="l" t="t" r="r" b="b"/>
              <a:pathLst>
                <a:path w="819150" h="1503679">
                  <a:moveTo>
                    <a:pt x="682458" y="0"/>
                  </a:moveTo>
                  <a:lnTo>
                    <a:pt x="136495" y="0"/>
                  </a:lnTo>
                  <a:lnTo>
                    <a:pt x="93352" y="6958"/>
                  </a:lnTo>
                  <a:lnTo>
                    <a:pt x="55883" y="26335"/>
                  </a:lnTo>
                  <a:lnTo>
                    <a:pt x="26335" y="55883"/>
                  </a:lnTo>
                  <a:lnTo>
                    <a:pt x="6958" y="93352"/>
                  </a:lnTo>
                  <a:lnTo>
                    <a:pt x="0" y="136495"/>
                  </a:lnTo>
                  <a:lnTo>
                    <a:pt x="0" y="1366746"/>
                  </a:lnTo>
                  <a:lnTo>
                    <a:pt x="6958" y="1409889"/>
                  </a:lnTo>
                  <a:lnTo>
                    <a:pt x="26335" y="1447358"/>
                  </a:lnTo>
                  <a:lnTo>
                    <a:pt x="55883" y="1476905"/>
                  </a:lnTo>
                  <a:lnTo>
                    <a:pt x="93352" y="1496282"/>
                  </a:lnTo>
                  <a:lnTo>
                    <a:pt x="136495" y="1503240"/>
                  </a:lnTo>
                  <a:lnTo>
                    <a:pt x="682458" y="1503240"/>
                  </a:lnTo>
                  <a:lnTo>
                    <a:pt x="725601" y="1496282"/>
                  </a:lnTo>
                  <a:lnTo>
                    <a:pt x="763071" y="1476905"/>
                  </a:lnTo>
                  <a:lnTo>
                    <a:pt x="792618" y="1447358"/>
                  </a:lnTo>
                  <a:lnTo>
                    <a:pt x="811995" y="1409889"/>
                  </a:lnTo>
                  <a:lnTo>
                    <a:pt x="818954" y="1366746"/>
                  </a:lnTo>
                  <a:lnTo>
                    <a:pt x="818954" y="136495"/>
                  </a:lnTo>
                  <a:lnTo>
                    <a:pt x="811995" y="93352"/>
                  </a:lnTo>
                  <a:lnTo>
                    <a:pt x="792618" y="55883"/>
                  </a:lnTo>
                  <a:lnTo>
                    <a:pt x="763071" y="26335"/>
                  </a:lnTo>
                  <a:lnTo>
                    <a:pt x="725601" y="6958"/>
                  </a:lnTo>
                  <a:lnTo>
                    <a:pt x="682458" y="0"/>
                  </a:lnTo>
                  <a:close/>
                </a:path>
              </a:pathLst>
            </a:custGeom>
            <a:solidFill>
              <a:srgbClr val="FFFFFF"/>
            </a:solidFill>
          </p:spPr>
          <p:txBody>
            <a:bodyPr wrap="square" lIns="0" tIns="0" rIns="0" bIns="0" rtlCol="0"/>
            <a:lstStyle/>
            <a:p>
              <a:endParaRPr sz="1588"/>
            </a:p>
          </p:txBody>
        </p:sp>
        <p:sp>
          <p:nvSpPr>
            <p:cNvPr id="31" name="object 31"/>
            <p:cNvSpPr/>
            <p:nvPr/>
          </p:nvSpPr>
          <p:spPr>
            <a:xfrm>
              <a:off x="6474967" y="2956365"/>
              <a:ext cx="819150" cy="1503680"/>
            </a:xfrm>
            <a:custGeom>
              <a:avLst/>
              <a:gdLst/>
              <a:ahLst/>
              <a:cxnLst/>
              <a:rect l="l" t="t" r="r" b="b"/>
              <a:pathLst>
                <a:path w="819150" h="1503679">
                  <a:moveTo>
                    <a:pt x="0" y="136495"/>
                  </a:moveTo>
                  <a:lnTo>
                    <a:pt x="6958" y="93352"/>
                  </a:lnTo>
                  <a:lnTo>
                    <a:pt x="26335" y="55882"/>
                  </a:lnTo>
                  <a:lnTo>
                    <a:pt x="55882" y="26335"/>
                  </a:lnTo>
                  <a:lnTo>
                    <a:pt x="93352" y="6958"/>
                  </a:lnTo>
                  <a:lnTo>
                    <a:pt x="136495" y="0"/>
                  </a:lnTo>
                  <a:lnTo>
                    <a:pt x="682458" y="0"/>
                  </a:lnTo>
                  <a:lnTo>
                    <a:pt x="725601" y="6958"/>
                  </a:lnTo>
                  <a:lnTo>
                    <a:pt x="763070" y="26335"/>
                  </a:lnTo>
                  <a:lnTo>
                    <a:pt x="792617" y="55882"/>
                  </a:lnTo>
                  <a:lnTo>
                    <a:pt x="811994" y="93352"/>
                  </a:lnTo>
                  <a:lnTo>
                    <a:pt x="818953" y="136495"/>
                  </a:lnTo>
                  <a:lnTo>
                    <a:pt x="818953" y="1366745"/>
                  </a:lnTo>
                  <a:lnTo>
                    <a:pt x="811994" y="1409888"/>
                  </a:lnTo>
                  <a:lnTo>
                    <a:pt x="792617" y="1447357"/>
                  </a:lnTo>
                  <a:lnTo>
                    <a:pt x="763070" y="1476905"/>
                  </a:lnTo>
                  <a:lnTo>
                    <a:pt x="725601" y="1496281"/>
                  </a:lnTo>
                  <a:lnTo>
                    <a:pt x="682458" y="1503240"/>
                  </a:lnTo>
                  <a:lnTo>
                    <a:pt x="136495" y="1503240"/>
                  </a:lnTo>
                  <a:lnTo>
                    <a:pt x="93352" y="1496281"/>
                  </a:lnTo>
                  <a:lnTo>
                    <a:pt x="55882" y="1476905"/>
                  </a:lnTo>
                  <a:lnTo>
                    <a:pt x="26335" y="1447357"/>
                  </a:lnTo>
                  <a:lnTo>
                    <a:pt x="6958" y="1409888"/>
                  </a:lnTo>
                  <a:lnTo>
                    <a:pt x="0" y="1366745"/>
                  </a:lnTo>
                  <a:lnTo>
                    <a:pt x="0" y="136495"/>
                  </a:lnTo>
                  <a:close/>
                </a:path>
              </a:pathLst>
            </a:custGeom>
            <a:ln w="13546">
              <a:solidFill>
                <a:srgbClr val="000000"/>
              </a:solidFill>
            </a:ln>
          </p:spPr>
          <p:txBody>
            <a:bodyPr wrap="square" lIns="0" tIns="0" rIns="0" bIns="0" rtlCol="0"/>
            <a:lstStyle/>
            <a:p>
              <a:endParaRPr sz="1588"/>
            </a:p>
          </p:txBody>
        </p:sp>
        <p:pic>
          <p:nvPicPr>
            <p:cNvPr id="32" name="object 32"/>
            <p:cNvPicPr/>
            <p:nvPr/>
          </p:nvPicPr>
          <p:blipFill>
            <a:blip r:embed="rId3" cstate="print"/>
            <a:stretch>
              <a:fillRect/>
            </a:stretch>
          </p:blipFill>
          <p:spPr>
            <a:xfrm>
              <a:off x="6807084" y="2427707"/>
              <a:ext cx="81065" cy="213790"/>
            </a:xfrm>
            <a:prstGeom prst="rect">
              <a:avLst/>
            </a:prstGeom>
          </p:spPr>
        </p:pic>
        <p:pic>
          <p:nvPicPr>
            <p:cNvPr id="33" name="object 33"/>
            <p:cNvPicPr/>
            <p:nvPr/>
          </p:nvPicPr>
          <p:blipFill>
            <a:blip r:embed="rId4" cstate="print"/>
            <a:stretch>
              <a:fillRect/>
            </a:stretch>
          </p:blipFill>
          <p:spPr>
            <a:xfrm>
              <a:off x="6816612" y="2782246"/>
              <a:ext cx="81280" cy="169767"/>
            </a:xfrm>
            <a:prstGeom prst="rect">
              <a:avLst/>
            </a:prstGeom>
          </p:spPr>
        </p:pic>
        <p:sp>
          <p:nvSpPr>
            <p:cNvPr id="34" name="object 34"/>
            <p:cNvSpPr/>
            <p:nvPr/>
          </p:nvSpPr>
          <p:spPr>
            <a:xfrm>
              <a:off x="6841710" y="2161203"/>
              <a:ext cx="675005" cy="684530"/>
            </a:xfrm>
            <a:custGeom>
              <a:avLst/>
              <a:gdLst/>
              <a:ahLst/>
              <a:cxnLst/>
              <a:rect l="l" t="t" r="r" b="b"/>
              <a:pathLst>
                <a:path w="675004" h="684530">
                  <a:moveTo>
                    <a:pt x="661442" y="670857"/>
                  </a:moveTo>
                  <a:lnTo>
                    <a:pt x="0" y="670857"/>
                  </a:lnTo>
                  <a:lnTo>
                    <a:pt x="0" y="684404"/>
                  </a:lnTo>
                  <a:lnTo>
                    <a:pt x="671956" y="684404"/>
                  </a:lnTo>
                  <a:lnTo>
                    <a:pt x="674989" y="681371"/>
                  </a:lnTo>
                  <a:lnTo>
                    <a:pt x="674989" y="677631"/>
                  </a:lnTo>
                  <a:lnTo>
                    <a:pt x="661442" y="677631"/>
                  </a:lnTo>
                  <a:lnTo>
                    <a:pt x="661442" y="670857"/>
                  </a:lnTo>
                  <a:close/>
                </a:path>
                <a:path w="675004" h="684530">
                  <a:moveTo>
                    <a:pt x="661442" y="40639"/>
                  </a:moveTo>
                  <a:lnTo>
                    <a:pt x="661442" y="677631"/>
                  </a:lnTo>
                  <a:lnTo>
                    <a:pt x="668215" y="670857"/>
                  </a:lnTo>
                  <a:lnTo>
                    <a:pt x="674989" y="670857"/>
                  </a:lnTo>
                  <a:lnTo>
                    <a:pt x="674989" y="47412"/>
                  </a:lnTo>
                  <a:lnTo>
                    <a:pt x="668215" y="47412"/>
                  </a:lnTo>
                  <a:lnTo>
                    <a:pt x="661442" y="40639"/>
                  </a:lnTo>
                  <a:close/>
                </a:path>
                <a:path w="675004" h="684530">
                  <a:moveTo>
                    <a:pt x="674989" y="670857"/>
                  </a:moveTo>
                  <a:lnTo>
                    <a:pt x="668215" y="670857"/>
                  </a:lnTo>
                  <a:lnTo>
                    <a:pt x="661442" y="677631"/>
                  </a:lnTo>
                  <a:lnTo>
                    <a:pt x="674989" y="677631"/>
                  </a:lnTo>
                  <a:lnTo>
                    <a:pt x="674989" y="670857"/>
                  </a:lnTo>
                  <a:close/>
                </a:path>
                <a:path w="675004" h="684530">
                  <a:moveTo>
                    <a:pt x="507072" y="0"/>
                  </a:moveTo>
                  <a:lnTo>
                    <a:pt x="425792" y="40639"/>
                  </a:lnTo>
                  <a:lnTo>
                    <a:pt x="507072" y="81280"/>
                  </a:lnTo>
                  <a:lnTo>
                    <a:pt x="507072" y="47412"/>
                  </a:lnTo>
                  <a:lnTo>
                    <a:pt x="493527" y="47412"/>
                  </a:lnTo>
                  <a:lnTo>
                    <a:pt x="493527" y="33867"/>
                  </a:lnTo>
                  <a:lnTo>
                    <a:pt x="507072" y="33867"/>
                  </a:lnTo>
                  <a:lnTo>
                    <a:pt x="507072" y="0"/>
                  </a:lnTo>
                  <a:close/>
                </a:path>
                <a:path w="675004" h="684530">
                  <a:moveTo>
                    <a:pt x="507072" y="33867"/>
                  </a:moveTo>
                  <a:lnTo>
                    <a:pt x="493527" y="33867"/>
                  </a:lnTo>
                  <a:lnTo>
                    <a:pt x="493527" y="47412"/>
                  </a:lnTo>
                  <a:lnTo>
                    <a:pt x="507072" y="47412"/>
                  </a:lnTo>
                  <a:lnTo>
                    <a:pt x="507072" y="33867"/>
                  </a:lnTo>
                  <a:close/>
                </a:path>
                <a:path w="675004" h="684530">
                  <a:moveTo>
                    <a:pt x="671956" y="33867"/>
                  </a:moveTo>
                  <a:lnTo>
                    <a:pt x="507072" y="33867"/>
                  </a:lnTo>
                  <a:lnTo>
                    <a:pt x="507072" y="47412"/>
                  </a:lnTo>
                  <a:lnTo>
                    <a:pt x="661442" y="47412"/>
                  </a:lnTo>
                  <a:lnTo>
                    <a:pt x="661442" y="40639"/>
                  </a:lnTo>
                  <a:lnTo>
                    <a:pt x="674989" y="40639"/>
                  </a:lnTo>
                  <a:lnTo>
                    <a:pt x="674989" y="36899"/>
                  </a:lnTo>
                  <a:lnTo>
                    <a:pt x="671956" y="33867"/>
                  </a:lnTo>
                  <a:close/>
                </a:path>
                <a:path w="675004" h="684530">
                  <a:moveTo>
                    <a:pt x="674989" y="40639"/>
                  </a:moveTo>
                  <a:lnTo>
                    <a:pt x="661442" y="40639"/>
                  </a:lnTo>
                  <a:lnTo>
                    <a:pt x="668215" y="47412"/>
                  </a:lnTo>
                  <a:lnTo>
                    <a:pt x="674989" y="47412"/>
                  </a:lnTo>
                  <a:lnTo>
                    <a:pt x="674989" y="40639"/>
                  </a:lnTo>
                  <a:close/>
                </a:path>
              </a:pathLst>
            </a:custGeom>
            <a:solidFill>
              <a:srgbClr val="000000"/>
            </a:solidFill>
          </p:spPr>
          <p:txBody>
            <a:bodyPr wrap="square" lIns="0" tIns="0" rIns="0" bIns="0" rtlCol="0"/>
            <a:lstStyle/>
            <a:p>
              <a:endParaRPr sz="1588"/>
            </a:p>
          </p:txBody>
        </p:sp>
      </p:grpSp>
      <p:sp>
        <p:nvSpPr>
          <p:cNvPr id="35" name="object 35"/>
          <p:cNvSpPr txBox="1"/>
          <p:nvPr/>
        </p:nvSpPr>
        <p:spPr>
          <a:xfrm>
            <a:off x="775504" y="4269232"/>
            <a:ext cx="7639291" cy="2322204"/>
          </a:xfrm>
          <a:prstGeom prst="rect">
            <a:avLst/>
          </a:prstGeom>
        </p:spPr>
        <p:txBody>
          <a:bodyPr vert="horz" wrap="square" lIns="0" tIns="11206" rIns="0" bIns="0" rtlCol="0">
            <a:spAutoFit/>
          </a:bodyPr>
          <a:lstStyle/>
          <a:p>
            <a:pPr marL="280162" marR="421924" indent="-268956">
              <a:buChar char="•"/>
              <a:tabLst>
                <a:tab pos="280162" algn="l"/>
              </a:tabLst>
            </a:pPr>
            <a:r>
              <a:rPr sz="2400" spc="-9" dirty="0">
                <a:latin typeface="Calibri"/>
                <a:cs typeface="Calibri"/>
              </a:rPr>
              <a:t>Data</a:t>
            </a:r>
            <a:r>
              <a:rPr sz="2400" spc="-106" dirty="0">
                <a:latin typeface="Calibri"/>
                <a:cs typeface="Calibri"/>
              </a:rPr>
              <a:t> </a:t>
            </a:r>
            <a:r>
              <a:rPr sz="2400" dirty="0">
                <a:latin typeface="Calibri"/>
                <a:cs typeface="Calibri"/>
              </a:rPr>
              <a:t>path:</a:t>
            </a:r>
            <a:r>
              <a:rPr sz="2400" spc="-101" dirty="0">
                <a:latin typeface="Calibri"/>
                <a:cs typeface="Calibri"/>
              </a:rPr>
              <a:t> </a:t>
            </a:r>
            <a:r>
              <a:rPr sz="2400" spc="-18" dirty="0">
                <a:latin typeface="Calibri"/>
                <a:cs typeface="Calibri"/>
              </a:rPr>
              <a:t>Storage,</a:t>
            </a:r>
            <a:r>
              <a:rPr sz="2400" spc="-97" dirty="0">
                <a:latin typeface="Calibri"/>
                <a:cs typeface="Calibri"/>
              </a:rPr>
              <a:t> </a:t>
            </a:r>
            <a:r>
              <a:rPr sz="2400" spc="-18" dirty="0">
                <a:latin typeface="Calibri"/>
                <a:cs typeface="Calibri"/>
              </a:rPr>
              <a:t>Functional</a:t>
            </a:r>
            <a:r>
              <a:rPr sz="2400" spc="-93" dirty="0">
                <a:latin typeface="Calibri"/>
                <a:cs typeface="Calibri"/>
              </a:rPr>
              <a:t> </a:t>
            </a:r>
            <a:r>
              <a:rPr sz="2400" dirty="0">
                <a:latin typeface="Calibri"/>
                <a:cs typeface="Calibri"/>
              </a:rPr>
              <a:t>Units,</a:t>
            </a:r>
            <a:r>
              <a:rPr sz="2400" spc="-97" dirty="0">
                <a:latin typeface="Calibri"/>
                <a:cs typeface="Calibri"/>
              </a:rPr>
              <a:t> </a:t>
            </a:r>
            <a:r>
              <a:rPr sz="2400" spc="-9" dirty="0">
                <a:latin typeface="Calibri"/>
                <a:cs typeface="Calibri"/>
              </a:rPr>
              <a:t>Interconnections sufficient</a:t>
            </a:r>
            <a:r>
              <a:rPr sz="2400" spc="-88" dirty="0">
                <a:latin typeface="Calibri"/>
                <a:cs typeface="Calibri"/>
              </a:rPr>
              <a:t> </a:t>
            </a:r>
            <a:r>
              <a:rPr sz="2400" dirty="0">
                <a:latin typeface="Calibri"/>
                <a:cs typeface="Calibri"/>
              </a:rPr>
              <a:t>to</a:t>
            </a:r>
            <a:r>
              <a:rPr sz="2400" spc="-93" dirty="0">
                <a:latin typeface="Calibri"/>
                <a:cs typeface="Calibri"/>
              </a:rPr>
              <a:t> </a:t>
            </a:r>
            <a:r>
              <a:rPr sz="2400" spc="-9" dirty="0">
                <a:latin typeface="Calibri"/>
                <a:cs typeface="Calibri"/>
              </a:rPr>
              <a:t>perform</a:t>
            </a:r>
            <a:r>
              <a:rPr sz="2400" spc="-101" dirty="0">
                <a:latin typeface="Calibri"/>
                <a:cs typeface="Calibri"/>
              </a:rPr>
              <a:t> </a:t>
            </a:r>
            <a:r>
              <a:rPr sz="2400" dirty="0">
                <a:latin typeface="Calibri"/>
                <a:cs typeface="Calibri"/>
              </a:rPr>
              <a:t>the</a:t>
            </a:r>
            <a:r>
              <a:rPr sz="2400" spc="-79" dirty="0">
                <a:latin typeface="Calibri"/>
                <a:cs typeface="Calibri"/>
              </a:rPr>
              <a:t> </a:t>
            </a:r>
            <a:r>
              <a:rPr sz="2400" spc="-9" dirty="0">
                <a:latin typeface="Calibri"/>
                <a:cs typeface="Calibri"/>
              </a:rPr>
              <a:t>desired</a:t>
            </a:r>
            <a:r>
              <a:rPr sz="2400" spc="-88" dirty="0">
                <a:latin typeface="Calibri"/>
                <a:cs typeface="Calibri"/>
              </a:rPr>
              <a:t> </a:t>
            </a:r>
            <a:r>
              <a:rPr sz="2400" spc="-9" dirty="0">
                <a:latin typeface="Calibri"/>
                <a:cs typeface="Calibri"/>
              </a:rPr>
              <a:t>functions</a:t>
            </a:r>
            <a:endParaRPr sz="2400" dirty="0">
              <a:latin typeface="Calibri"/>
              <a:cs typeface="Calibri"/>
            </a:endParaRPr>
          </a:p>
          <a:p>
            <a:pPr marL="654458" lvl="1" indent="-213483">
              <a:spcBef>
                <a:spcPts val="494"/>
              </a:spcBef>
              <a:buChar char="–"/>
              <a:tabLst>
                <a:tab pos="654458" algn="l"/>
              </a:tabLst>
            </a:pPr>
            <a:r>
              <a:rPr sz="2000" dirty="0">
                <a:latin typeface="Calibri"/>
                <a:cs typeface="Calibri"/>
              </a:rPr>
              <a:t>Inputs</a:t>
            </a:r>
            <a:r>
              <a:rPr sz="2000" spc="13" dirty="0">
                <a:latin typeface="Calibri"/>
                <a:cs typeface="Calibri"/>
              </a:rPr>
              <a:t> </a:t>
            </a:r>
            <a:r>
              <a:rPr sz="2000" dirty="0">
                <a:latin typeface="Calibri"/>
                <a:cs typeface="Calibri"/>
              </a:rPr>
              <a:t>are</a:t>
            </a:r>
            <a:r>
              <a:rPr sz="2000" spc="26" dirty="0">
                <a:latin typeface="Calibri"/>
                <a:cs typeface="Calibri"/>
              </a:rPr>
              <a:t> </a:t>
            </a:r>
            <a:r>
              <a:rPr sz="2000" dirty="0">
                <a:latin typeface="Calibri"/>
                <a:cs typeface="Calibri"/>
              </a:rPr>
              <a:t>Control</a:t>
            </a:r>
            <a:r>
              <a:rPr sz="2000" spc="18" dirty="0">
                <a:latin typeface="Calibri"/>
                <a:cs typeface="Calibri"/>
              </a:rPr>
              <a:t> </a:t>
            </a:r>
            <a:r>
              <a:rPr sz="2000" spc="-9" dirty="0">
                <a:latin typeface="Calibri"/>
                <a:cs typeface="Calibri"/>
              </a:rPr>
              <a:t>Points</a:t>
            </a:r>
            <a:endParaRPr sz="2000" dirty="0">
              <a:latin typeface="Calibri"/>
              <a:cs typeface="Calibri"/>
            </a:endParaRPr>
          </a:p>
          <a:p>
            <a:pPr marL="654458" lvl="1" indent="-213483">
              <a:spcBef>
                <a:spcPts val="446"/>
              </a:spcBef>
              <a:buChar char="–"/>
              <a:tabLst>
                <a:tab pos="654458" algn="l"/>
              </a:tabLst>
            </a:pPr>
            <a:r>
              <a:rPr sz="2000" dirty="0">
                <a:latin typeface="Calibri"/>
                <a:cs typeface="Calibri"/>
              </a:rPr>
              <a:t>Outputs</a:t>
            </a:r>
            <a:r>
              <a:rPr sz="2000" spc="-4" dirty="0">
                <a:latin typeface="Calibri"/>
                <a:cs typeface="Calibri"/>
              </a:rPr>
              <a:t> </a:t>
            </a:r>
            <a:r>
              <a:rPr sz="2000" dirty="0">
                <a:latin typeface="Calibri"/>
                <a:cs typeface="Calibri"/>
              </a:rPr>
              <a:t>are</a:t>
            </a:r>
            <a:r>
              <a:rPr sz="2000" spc="13" dirty="0">
                <a:latin typeface="Calibri"/>
                <a:cs typeface="Calibri"/>
              </a:rPr>
              <a:t> </a:t>
            </a:r>
            <a:r>
              <a:rPr sz="2000" spc="-9" dirty="0">
                <a:latin typeface="Calibri"/>
                <a:cs typeface="Calibri"/>
              </a:rPr>
              <a:t>signals</a:t>
            </a:r>
            <a:endParaRPr sz="2000" dirty="0">
              <a:latin typeface="Calibri"/>
              <a:cs typeface="Calibri"/>
            </a:endParaRPr>
          </a:p>
          <a:p>
            <a:pPr marL="280162" marR="4483" indent="-268956">
              <a:spcBef>
                <a:spcPts val="772"/>
              </a:spcBef>
              <a:buChar char="•"/>
              <a:tabLst>
                <a:tab pos="280162" algn="l"/>
              </a:tabLst>
            </a:pPr>
            <a:r>
              <a:rPr sz="2400" spc="-18" dirty="0">
                <a:latin typeface="Calibri"/>
                <a:cs typeface="Calibri"/>
              </a:rPr>
              <a:t>Controller:</a:t>
            </a:r>
            <a:r>
              <a:rPr sz="2400" spc="-84" dirty="0">
                <a:latin typeface="Calibri"/>
                <a:cs typeface="Calibri"/>
              </a:rPr>
              <a:t> </a:t>
            </a:r>
            <a:r>
              <a:rPr sz="2400" spc="-9" dirty="0">
                <a:latin typeface="Calibri"/>
                <a:cs typeface="Calibri"/>
              </a:rPr>
              <a:t>State</a:t>
            </a:r>
            <a:r>
              <a:rPr sz="2400" spc="-75" dirty="0">
                <a:latin typeface="Calibri"/>
                <a:cs typeface="Calibri"/>
              </a:rPr>
              <a:t> </a:t>
            </a:r>
            <a:r>
              <a:rPr sz="2400" spc="-9" dirty="0">
                <a:latin typeface="Calibri"/>
                <a:cs typeface="Calibri"/>
              </a:rPr>
              <a:t>machine</a:t>
            </a:r>
            <a:r>
              <a:rPr sz="2400" spc="-75" dirty="0">
                <a:latin typeface="Calibri"/>
                <a:cs typeface="Calibri"/>
              </a:rPr>
              <a:t> </a:t>
            </a:r>
            <a:r>
              <a:rPr sz="2400" dirty="0">
                <a:latin typeface="Calibri"/>
                <a:cs typeface="Calibri"/>
              </a:rPr>
              <a:t>to</a:t>
            </a:r>
            <a:r>
              <a:rPr sz="2400" spc="-84" dirty="0">
                <a:latin typeface="Calibri"/>
                <a:cs typeface="Calibri"/>
              </a:rPr>
              <a:t> </a:t>
            </a:r>
            <a:r>
              <a:rPr sz="2400" spc="-18" dirty="0">
                <a:latin typeface="Calibri"/>
                <a:cs typeface="Calibri"/>
              </a:rPr>
              <a:t>orchestrate</a:t>
            </a:r>
            <a:r>
              <a:rPr sz="2400" spc="-75" dirty="0">
                <a:latin typeface="Calibri"/>
                <a:cs typeface="Calibri"/>
              </a:rPr>
              <a:t> </a:t>
            </a:r>
            <a:r>
              <a:rPr sz="2400" spc="-18" dirty="0">
                <a:latin typeface="Calibri"/>
                <a:cs typeface="Calibri"/>
              </a:rPr>
              <a:t>operation</a:t>
            </a:r>
            <a:r>
              <a:rPr sz="2400" spc="-79" dirty="0">
                <a:latin typeface="Calibri"/>
                <a:cs typeface="Calibri"/>
              </a:rPr>
              <a:t> </a:t>
            </a:r>
            <a:r>
              <a:rPr sz="2400" dirty="0">
                <a:latin typeface="Calibri"/>
                <a:cs typeface="Calibri"/>
              </a:rPr>
              <a:t>on</a:t>
            </a:r>
            <a:r>
              <a:rPr sz="2400" spc="-79" dirty="0">
                <a:latin typeface="Calibri"/>
                <a:cs typeface="Calibri"/>
              </a:rPr>
              <a:t> </a:t>
            </a:r>
            <a:r>
              <a:rPr sz="2400" spc="-22" dirty="0">
                <a:latin typeface="Calibri"/>
                <a:cs typeface="Calibri"/>
              </a:rPr>
              <a:t>the </a:t>
            </a:r>
            <a:r>
              <a:rPr sz="2400" dirty="0">
                <a:latin typeface="Calibri"/>
                <a:cs typeface="Calibri"/>
              </a:rPr>
              <a:t>data</a:t>
            </a:r>
            <a:r>
              <a:rPr sz="2400" spc="-101" dirty="0">
                <a:latin typeface="Calibri"/>
                <a:cs typeface="Calibri"/>
              </a:rPr>
              <a:t> </a:t>
            </a:r>
            <a:r>
              <a:rPr sz="2400" dirty="0">
                <a:latin typeface="Calibri"/>
                <a:cs typeface="Calibri"/>
              </a:rPr>
              <a:t>path</a:t>
            </a:r>
            <a:r>
              <a:rPr sz="2400" spc="-101" dirty="0">
                <a:latin typeface="Calibri"/>
                <a:cs typeface="Calibri"/>
              </a:rPr>
              <a:t> </a:t>
            </a:r>
            <a:r>
              <a:rPr sz="2400" dirty="0">
                <a:latin typeface="Calibri"/>
                <a:cs typeface="Calibri"/>
              </a:rPr>
              <a:t>based</a:t>
            </a:r>
            <a:r>
              <a:rPr sz="2400" spc="-101" dirty="0">
                <a:latin typeface="Calibri"/>
                <a:cs typeface="Calibri"/>
              </a:rPr>
              <a:t> </a:t>
            </a:r>
            <a:r>
              <a:rPr sz="2400" dirty="0">
                <a:latin typeface="Calibri"/>
                <a:cs typeface="Calibri"/>
              </a:rPr>
              <a:t>on</a:t>
            </a:r>
            <a:r>
              <a:rPr sz="2400" spc="-101" dirty="0">
                <a:latin typeface="Calibri"/>
                <a:cs typeface="Calibri"/>
              </a:rPr>
              <a:t> </a:t>
            </a:r>
            <a:r>
              <a:rPr sz="2400" dirty="0">
                <a:latin typeface="Calibri"/>
                <a:cs typeface="Calibri"/>
              </a:rPr>
              <a:t>desired</a:t>
            </a:r>
            <a:r>
              <a:rPr sz="2400" spc="-101" dirty="0">
                <a:latin typeface="Calibri"/>
                <a:cs typeface="Calibri"/>
              </a:rPr>
              <a:t> </a:t>
            </a:r>
            <a:r>
              <a:rPr sz="2400" spc="-9" dirty="0">
                <a:latin typeface="Calibri"/>
                <a:cs typeface="Calibri"/>
              </a:rPr>
              <a:t>function</a:t>
            </a:r>
            <a:r>
              <a:rPr sz="2400" spc="-101" dirty="0">
                <a:latin typeface="Calibri"/>
                <a:cs typeface="Calibri"/>
              </a:rPr>
              <a:t> </a:t>
            </a:r>
            <a:r>
              <a:rPr sz="2400" dirty="0">
                <a:latin typeface="Calibri"/>
                <a:cs typeface="Calibri"/>
              </a:rPr>
              <a:t>and</a:t>
            </a:r>
            <a:r>
              <a:rPr sz="2400" spc="-101" dirty="0">
                <a:latin typeface="Calibri"/>
                <a:cs typeface="Calibri"/>
              </a:rPr>
              <a:t> </a:t>
            </a:r>
            <a:r>
              <a:rPr sz="2400" spc="-9" dirty="0">
                <a:latin typeface="Calibri"/>
                <a:cs typeface="Calibri"/>
              </a:rPr>
              <a:t>signals</a:t>
            </a:r>
            <a:endParaRPr sz="2400" dirty="0">
              <a:latin typeface="Calibri"/>
              <a:cs typeface="Calibri"/>
            </a:endParaRPr>
          </a:p>
        </p:txBody>
      </p:sp>
      <p:sp>
        <p:nvSpPr>
          <p:cNvPr id="36" name="object 36"/>
          <p:cNvSpPr/>
          <p:nvPr/>
        </p:nvSpPr>
        <p:spPr>
          <a:xfrm>
            <a:off x="3151545" y="2006714"/>
            <a:ext cx="2712944" cy="1503829"/>
          </a:xfrm>
          <a:custGeom>
            <a:avLst/>
            <a:gdLst/>
            <a:ahLst/>
            <a:cxnLst/>
            <a:rect l="l" t="t" r="r" b="b"/>
            <a:pathLst>
              <a:path w="3074670" h="1704339">
                <a:moveTo>
                  <a:pt x="142426" y="1589901"/>
                </a:moveTo>
                <a:lnTo>
                  <a:pt x="0" y="1668264"/>
                </a:lnTo>
                <a:lnTo>
                  <a:pt x="19591" y="1703870"/>
                </a:lnTo>
                <a:lnTo>
                  <a:pt x="162016" y="1625508"/>
                </a:lnTo>
                <a:lnTo>
                  <a:pt x="142426" y="1589901"/>
                </a:lnTo>
                <a:close/>
              </a:path>
              <a:path w="3074670" h="1704339">
                <a:moveTo>
                  <a:pt x="391671" y="1452766"/>
                </a:moveTo>
                <a:lnTo>
                  <a:pt x="249245" y="1531129"/>
                </a:lnTo>
                <a:lnTo>
                  <a:pt x="268836" y="1566736"/>
                </a:lnTo>
                <a:lnTo>
                  <a:pt x="411261" y="1488373"/>
                </a:lnTo>
                <a:lnTo>
                  <a:pt x="391671" y="1452766"/>
                </a:lnTo>
                <a:close/>
              </a:path>
              <a:path w="3074670" h="1704339">
                <a:moveTo>
                  <a:pt x="640915" y="1315633"/>
                </a:moveTo>
                <a:lnTo>
                  <a:pt x="498490" y="1393995"/>
                </a:lnTo>
                <a:lnTo>
                  <a:pt x="518081" y="1429602"/>
                </a:lnTo>
                <a:lnTo>
                  <a:pt x="660506" y="1351239"/>
                </a:lnTo>
                <a:lnTo>
                  <a:pt x="640915" y="1315633"/>
                </a:lnTo>
                <a:close/>
              </a:path>
              <a:path w="3074670" h="1704339">
                <a:moveTo>
                  <a:pt x="890160" y="1178499"/>
                </a:moveTo>
                <a:lnTo>
                  <a:pt x="747735" y="1256861"/>
                </a:lnTo>
                <a:lnTo>
                  <a:pt x="767326" y="1292467"/>
                </a:lnTo>
                <a:lnTo>
                  <a:pt x="909751" y="1214106"/>
                </a:lnTo>
                <a:lnTo>
                  <a:pt x="890160" y="1178499"/>
                </a:lnTo>
                <a:close/>
              </a:path>
              <a:path w="3074670" h="1704339">
                <a:moveTo>
                  <a:pt x="1139405" y="1041364"/>
                </a:moveTo>
                <a:lnTo>
                  <a:pt x="996980" y="1119727"/>
                </a:lnTo>
                <a:lnTo>
                  <a:pt x="1016571" y="1155334"/>
                </a:lnTo>
                <a:lnTo>
                  <a:pt x="1158996" y="1076971"/>
                </a:lnTo>
                <a:lnTo>
                  <a:pt x="1139405" y="1041364"/>
                </a:lnTo>
                <a:close/>
              </a:path>
              <a:path w="3074670" h="1704339">
                <a:moveTo>
                  <a:pt x="1388651" y="904231"/>
                </a:moveTo>
                <a:lnTo>
                  <a:pt x="1246225" y="982592"/>
                </a:lnTo>
                <a:lnTo>
                  <a:pt x="1265816" y="1018199"/>
                </a:lnTo>
                <a:lnTo>
                  <a:pt x="1408242" y="939836"/>
                </a:lnTo>
                <a:lnTo>
                  <a:pt x="1388651" y="904231"/>
                </a:lnTo>
                <a:close/>
              </a:path>
              <a:path w="3074670" h="1704339">
                <a:moveTo>
                  <a:pt x="1637896" y="767096"/>
                </a:moveTo>
                <a:lnTo>
                  <a:pt x="1495470" y="845459"/>
                </a:lnTo>
                <a:lnTo>
                  <a:pt x="1515061" y="881065"/>
                </a:lnTo>
                <a:lnTo>
                  <a:pt x="1657487" y="802703"/>
                </a:lnTo>
                <a:lnTo>
                  <a:pt x="1637896" y="767096"/>
                </a:lnTo>
                <a:close/>
              </a:path>
              <a:path w="3074670" h="1704339">
                <a:moveTo>
                  <a:pt x="1887141" y="629961"/>
                </a:moveTo>
                <a:lnTo>
                  <a:pt x="1744715" y="708324"/>
                </a:lnTo>
                <a:lnTo>
                  <a:pt x="1764306" y="743931"/>
                </a:lnTo>
                <a:lnTo>
                  <a:pt x="1906732" y="665568"/>
                </a:lnTo>
                <a:lnTo>
                  <a:pt x="1887141" y="629961"/>
                </a:lnTo>
                <a:close/>
              </a:path>
              <a:path w="3074670" h="1704339">
                <a:moveTo>
                  <a:pt x="2136386" y="492828"/>
                </a:moveTo>
                <a:lnTo>
                  <a:pt x="1993960" y="571190"/>
                </a:lnTo>
                <a:lnTo>
                  <a:pt x="2013550" y="606797"/>
                </a:lnTo>
                <a:lnTo>
                  <a:pt x="2155977" y="528434"/>
                </a:lnTo>
                <a:lnTo>
                  <a:pt x="2136386" y="492828"/>
                </a:lnTo>
                <a:close/>
              </a:path>
              <a:path w="3074670" h="1704339">
                <a:moveTo>
                  <a:pt x="2385631" y="355693"/>
                </a:moveTo>
                <a:lnTo>
                  <a:pt x="2243206" y="434055"/>
                </a:lnTo>
                <a:lnTo>
                  <a:pt x="2262795" y="469662"/>
                </a:lnTo>
                <a:lnTo>
                  <a:pt x="2405221" y="391299"/>
                </a:lnTo>
                <a:lnTo>
                  <a:pt x="2385631" y="355693"/>
                </a:lnTo>
                <a:close/>
              </a:path>
              <a:path w="3074670" h="1704339">
                <a:moveTo>
                  <a:pt x="2634876" y="218559"/>
                </a:moveTo>
                <a:lnTo>
                  <a:pt x="2492451" y="296922"/>
                </a:lnTo>
                <a:lnTo>
                  <a:pt x="2512040" y="332527"/>
                </a:lnTo>
                <a:lnTo>
                  <a:pt x="2654466" y="254166"/>
                </a:lnTo>
                <a:lnTo>
                  <a:pt x="2634876" y="218559"/>
                </a:lnTo>
                <a:close/>
              </a:path>
              <a:path w="3074670" h="1704339">
                <a:moveTo>
                  <a:pt x="2884121" y="81424"/>
                </a:moveTo>
                <a:lnTo>
                  <a:pt x="2741695" y="159787"/>
                </a:lnTo>
                <a:lnTo>
                  <a:pt x="2761286" y="195394"/>
                </a:lnTo>
                <a:lnTo>
                  <a:pt x="2903711" y="117031"/>
                </a:lnTo>
                <a:lnTo>
                  <a:pt x="2884121" y="81424"/>
                </a:lnTo>
                <a:close/>
              </a:path>
              <a:path w="3074670" h="1704339">
                <a:moveTo>
                  <a:pt x="3074266" y="0"/>
                </a:moveTo>
                <a:lnTo>
                  <a:pt x="2938061" y="5361"/>
                </a:lnTo>
                <a:lnTo>
                  <a:pt x="2996832" y="112181"/>
                </a:lnTo>
                <a:lnTo>
                  <a:pt x="3074266" y="0"/>
                </a:lnTo>
                <a:close/>
              </a:path>
            </a:pathLst>
          </a:custGeom>
          <a:solidFill>
            <a:srgbClr val="618FFD"/>
          </a:solidFill>
        </p:spPr>
        <p:txBody>
          <a:bodyPr wrap="square" lIns="0" tIns="0" rIns="0" bIns="0" rtlCol="0"/>
          <a:lstStyle/>
          <a:p>
            <a:endParaRPr sz="1588"/>
          </a:p>
        </p:txBody>
      </p:sp>
      <p:sp>
        <p:nvSpPr>
          <p:cNvPr id="37" name="object 37"/>
          <p:cNvSpPr txBox="1"/>
          <p:nvPr/>
        </p:nvSpPr>
        <p:spPr>
          <a:xfrm>
            <a:off x="4466353" y="2128379"/>
            <a:ext cx="681878" cy="242148"/>
          </a:xfrm>
          <a:prstGeom prst="rect">
            <a:avLst/>
          </a:prstGeom>
        </p:spPr>
        <p:txBody>
          <a:bodyPr vert="horz" wrap="square" lIns="0" tIns="11206" rIns="0" bIns="0" rtlCol="0">
            <a:spAutoFit/>
          </a:bodyPr>
          <a:lstStyle/>
          <a:p>
            <a:pPr marL="11206">
              <a:spcBef>
                <a:spcPts val="88"/>
              </a:spcBef>
            </a:pPr>
            <a:r>
              <a:rPr sz="1500" b="1" spc="-9" dirty="0">
                <a:solidFill>
                  <a:srgbClr val="FF0000"/>
                </a:solidFill>
                <a:latin typeface="Arial"/>
                <a:cs typeface="Arial"/>
              </a:rPr>
              <a:t>signals</a:t>
            </a:r>
            <a:endParaRPr sz="1500" dirty="0">
              <a:latin typeface="Arial"/>
              <a:cs typeface="Arial"/>
            </a:endParaRPr>
          </a:p>
        </p:txBody>
      </p:sp>
      <p:sp>
        <p:nvSpPr>
          <p:cNvPr id="41" name="TextBox 40">
            <a:extLst>
              <a:ext uri="{FF2B5EF4-FFF2-40B4-BE49-F238E27FC236}">
                <a16:creationId xmlns:a16="http://schemas.microsoft.com/office/drawing/2014/main" id="{54C55388-5105-E575-7350-6103EEEAA020}"/>
              </a:ext>
            </a:extLst>
          </p:cNvPr>
          <p:cNvSpPr txBox="1"/>
          <p:nvPr/>
        </p:nvSpPr>
        <p:spPr>
          <a:xfrm>
            <a:off x="3602242" y="3702997"/>
            <a:ext cx="1833984" cy="323165"/>
          </a:xfrm>
          <a:prstGeom prst="rect">
            <a:avLst/>
          </a:prstGeom>
          <a:noFill/>
        </p:spPr>
        <p:txBody>
          <a:bodyPr wrap="square">
            <a:spAutoFit/>
          </a:bodyPr>
          <a:lstStyle/>
          <a:p>
            <a:pPr marL="329471" algn="ctr">
              <a:spcBef>
                <a:spcPts val="88"/>
              </a:spcBef>
            </a:pPr>
            <a:r>
              <a:rPr lang="en-US" sz="1500" b="1" dirty="0">
                <a:solidFill>
                  <a:srgbClr val="FF0000"/>
                </a:solidFill>
                <a:latin typeface="Arial"/>
                <a:cs typeface="Arial"/>
              </a:rPr>
              <a:t>Control</a:t>
            </a:r>
            <a:r>
              <a:rPr lang="en-US" sz="1500" b="1" spc="4" dirty="0">
                <a:solidFill>
                  <a:srgbClr val="FF0000"/>
                </a:solidFill>
                <a:latin typeface="Arial"/>
                <a:cs typeface="Arial"/>
              </a:rPr>
              <a:t> </a:t>
            </a:r>
            <a:r>
              <a:rPr lang="en-US" sz="1500" b="1" spc="-9" dirty="0">
                <a:solidFill>
                  <a:srgbClr val="FF0000"/>
                </a:solidFill>
                <a:latin typeface="Arial"/>
                <a:cs typeface="Arial"/>
              </a:rPr>
              <a:t>Points</a:t>
            </a:r>
            <a:endParaRPr lang="en-US" sz="1500" dirty="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078" y="595095"/>
            <a:ext cx="7511970" cy="600617"/>
          </a:xfrm>
          <a:prstGeom prst="rect">
            <a:avLst/>
          </a:prstGeom>
        </p:spPr>
        <p:txBody>
          <a:bodyPr vert="horz" wrap="square" lIns="0" tIns="137608" rIns="0" bIns="0" rtlCol="0" anchor="ctr">
            <a:spAutoFit/>
          </a:bodyPr>
          <a:lstStyle/>
          <a:p>
            <a:pPr marL="11206">
              <a:lnSpc>
                <a:spcPct val="100000"/>
              </a:lnSpc>
              <a:spcBef>
                <a:spcPts val="88"/>
              </a:spcBef>
            </a:pPr>
            <a:r>
              <a:rPr spc="-9" dirty="0">
                <a:latin typeface="Arial MT"/>
                <a:cs typeface="Arial MT"/>
              </a:rPr>
              <a:t>Un-</a:t>
            </a:r>
            <a:r>
              <a:rPr dirty="0">
                <a:latin typeface="Arial MT"/>
                <a:cs typeface="Arial MT"/>
              </a:rPr>
              <a:t>pipelined</a:t>
            </a:r>
            <a:r>
              <a:rPr spc="35" dirty="0">
                <a:latin typeface="Arial MT"/>
                <a:cs typeface="Arial MT"/>
              </a:rPr>
              <a:t> </a:t>
            </a:r>
            <a:r>
              <a:rPr spc="-9" dirty="0">
                <a:latin typeface="Arial MT"/>
                <a:cs typeface="Arial MT"/>
              </a:rPr>
              <a:t>Implementation</a:t>
            </a:r>
          </a:p>
        </p:txBody>
      </p:sp>
      <p:sp>
        <p:nvSpPr>
          <p:cNvPr id="3" name="object 3"/>
          <p:cNvSpPr txBox="1">
            <a:spLocks noGrp="1"/>
          </p:cNvSpPr>
          <p:nvPr>
            <p:ph type="body" idx="1"/>
          </p:nvPr>
        </p:nvSpPr>
        <p:spPr>
          <a:xfrm>
            <a:off x="787077" y="1307762"/>
            <a:ext cx="7781109" cy="4345043"/>
          </a:xfrm>
          <a:prstGeom prst="rect">
            <a:avLst/>
          </a:prstGeom>
        </p:spPr>
        <p:txBody>
          <a:bodyPr vert="horz" wrap="square" lIns="0" tIns="79001" rIns="0" bIns="0" rtlCol="0">
            <a:spAutoFit/>
          </a:bodyPr>
          <a:lstStyle/>
          <a:p>
            <a:pPr marL="354107" indent="-342900">
              <a:lnSpc>
                <a:spcPct val="100000"/>
              </a:lnSpc>
              <a:spcBef>
                <a:spcPts val="622"/>
              </a:spcBef>
              <a:buFont typeface="Arial" panose="020B0604020202020204" pitchFamily="34" charset="0"/>
              <a:buChar char="•"/>
              <a:tabLst>
                <a:tab pos="279602" algn="l"/>
              </a:tabLst>
            </a:pPr>
            <a:r>
              <a:rPr sz="2400" spc="-31" dirty="0">
                <a:latin typeface="Arial MT"/>
                <a:cs typeface="Arial MT"/>
              </a:rPr>
              <a:t>Single-</a:t>
            </a:r>
            <a:r>
              <a:rPr sz="2400" dirty="0">
                <a:latin typeface="Arial MT"/>
                <a:cs typeface="Arial MT"/>
              </a:rPr>
              <a:t>cycle</a:t>
            </a:r>
            <a:r>
              <a:rPr sz="2400" spc="-71" dirty="0">
                <a:latin typeface="Arial MT"/>
                <a:cs typeface="Arial MT"/>
              </a:rPr>
              <a:t> </a:t>
            </a:r>
            <a:r>
              <a:rPr sz="2400" spc="-9" dirty="0">
                <a:latin typeface="Arial MT"/>
                <a:cs typeface="Arial MT"/>
              </a:rPr>
              <a:t>implementation</a:t>
            </a:r>
          </a:p>
          <a:p>
            <a:pPr marL="656700" lvl="1" indent="-215164">
              <a:lnSpc>
                <a:spcPct val="100000"/>
              </a:lnSpc>
              <a:spcBef>
                <a:spcPts val="349"/>
              </a:spcBef>
              <a:buChar char="–"/>
              <a:tabLst>
                <a:tab pos="656700" algn="l"/>
              </a:tabLst>
            </a:pPr>
            <a:r>
              <a:rPr sz="2000" dirty="0">
                <a:latin typeface="Arial MT"/>
                <a:cs typeface="Arial MT"/>
              </a:rPr>
              <a:t>Sequential,</a:t>
            </a:r>
            <a:r>
              <a:rPr sz="2000" spc="-35" dirty="0">
                <a:latin typeface="Arial MT"/>
                <a:cs typeface="Arial MT"/>
              </a:rPr>
              <a:t> </a:t>
            </a:r>
            <a:r>
              <a:rPr sz="2000" dirty="0">
                <a:latin typeface="Arial MT"/>
                <a:cs typeface="Arial MT"/>
              </a:rPr>
              <a:t>no</a:t>
            </a:r>
            <a:r>
              <a:rPr sz="2000" spc="-44" dirty="0">
                <a:latin typeface="Arial MT"/>
                <a:cs typeface="Arial MT"/>
              </a:rPr>
              <a:t> </a:t>
            </a:r>
            <a:r>
              <a:rPr sz="2000" spc="-9" dirty="0">
                <a:latin typeface="Arial MT"/>
                <a:cs typeface="Arial MT"/>
              </a:rPr>
              <a:t>parallelism</a:t>
            </a:r>
            <a:endParaRPr sz="2000" dirty="0">
              <a:latin typeface="Arial MT"/>
              <a:cs typeface="Arial MT"/>
            </a:endParaRPr>
          </a:p>
          <a:p>
            <a:pPr marL="656700" lvl="1" indent="-215164">
              <a:lnSpc>
                <a:spcPct val="100000"/>
              </a:lnSpc>
              <a:spcBef>
                <a:spcPts val="401"/>
              </a:spcBef>
              <a:buChar char="–"/>
              <a:tabLst>
                <a:tab pos="656700" algn="l"/>
              </a:tabLst>
            </a:pPr>
            <a:r>
              <a:rPr sz="2000" dirty="0">
                <a:latin typeface="Arial MT"/>
                <a:cs typeface="Arial MT"/>
              </a:rPr>
              <a:t>One</a:t>
            </a:r>
            <a:r>
              <a:rPr sz="2000" spc="-18" dirty="0">
                <a:latin typeface="Arial MT"/>
                <a:cs typeface="Arial MT"/>
              </a:rPr>
              <a:t> </a:t>
            </a:r>
            <a:r>
              <a:rPr sz="2000" dirty="0">
                <a:latin typeface="Arial MT"/>
                <a:cs typeface="Arial MT"/>
              </a:rPr>
              <a:t>(long)</a:t>
            </a:r>
            <a:r>
              <a:rPr sz="2000" spc="-18" dirty="0">
                <a:latin typeface="Arial MT"/>
                <a:cs typeface="Arial MT"/>
              </a:rPr>
              <a:t> </a:t>
            </a:r>
            <a:r>
              <a:rPr sz="2000" dirty="0">
                <a:latin typeface="Arial MT"/>
                <a:cs typeface="Arial MT"/>
              </a:rPr>
              <a:t>cycle</a:t>
            </a:r>
            <a:r>
              <a:rPr sz="2000" spc="-18" dirty="0">
                <a:latin typeface="Arial MT"/>
                <a:cs typeface="Arial MT"/>
              </a:rPr>
              <a:t> </a:t>
            </a:r>
            <a:r>
              <a:rPr sz="2000" dirty="0">
                <a:latin typeface="Arial MT"/>
                <a:cs typeface="Arial MT"/>
              </a:rPr>
              <a:t>for</a:t>
            </a:r>
            <a:r>
              <a:rPr sz="2000" spc="-13" dirty="0">
                <a:latin typeface="Arial MT"/>
                <a:cs typeface="Arial MT"/>
              </a:rPr>
              <a:t> </a:t>
            </a:r>
            <a:r>
              <a:rPr sz="2000" dirty="0">
                <a:latin typeface="Arial MT"/>
                <a:cs typeface="Arial MT"/>
              </a:rPr>
              <a:t>processing</a:t>
            </a:r>
            <a:r>
              <a:rPr sz="2000" spc="-18" dirty="0">
                <a:latin typeface="Arial MT"/>
                <a:cs typeface="Arial MT"/>
              </a:rPr>
              <a:t> </a:t>
            </a:r>
            <a:r>
              <a:rPr sz="2000" dirty="0">
                <a:latin typeface="Arial MT"/>
                <a:cs typeface="Arial MT"/>
              </a:rPr>
              <a:t>each</a:t>
            </a:r>
            <a:r>
              <a:rPr sz="2000" spc="-18" dirty="0">
                <a:latin typeface="Arial MT"/>
                <a:cs typeface="Arial MT"/>
              </a:rPr>
              <a:t> </a:t>
            </a:r>
            <a:r>
              <a:rPr sz="2000" spc="-9" dirty="0">
                <a:latin typeface="Arial MT"/>
                <a:cs typeface="Arial MT"/>
              </a:rPr>
              <a:t>instruction</a:t>
            </a:r>
            <a:endParaRPr sz="2000" dirty="0">
              <a:latin typeface="Arial MT"/>
              <a:cs typeface="Arial MT"/>
            </a:endParaRPr>
          </a:p>
          <a:p>
            <a:pPr marL="656700" marR="4483" lvl="1" indent="-215164">
              <a:spcBef>
                <a:spcPts val="631"/>
              </a:spcBef>
              <a:buChar char="–"/>
              <a:tabLst>
                <a:tab pos="656700" algn="l"/>
              </a:tabLst>
            </a:pPr>
            <a:r>
              <a:rPr sz="2000" dirty="0">
                <a:latin typeface="Arial MT"/>
                <a:cs typeface="Arial MT"/>
              </a:rPr>
              <a:t>Clock</a:t>
            </a:r>
            <a:r>
              <a:rPr sz="2000" spc="-4" dirty="0">
                <a:latin typeface="Arial MT"/>
                <a:cs typeface="Arial MT"/>
              </a:rPr>
              <a:t> </a:t>
            </a:r>
            <a:r>
              <a:rPr sz="2000" dirty="0">
                <a:latin typeface="Arial MT"/>
                <a:cs typeface="Arial MT"/>
              </a:rPr>
              <a:t>Cycle</a:t>
            </a:r>
            <a:r>
              <a:rPr sz="2000" spc="-9" dirty="0">
                <a:latin typeface="Arial MT"/>
                <a:cs typeface="Arial MT"/>
              </a:rPr>
              <a:t> </a:t>
            </a:r>
            <a:r>
              <a:rPr sz="2000" dirty="0">
                <a:latin typeface="Arial MT"/>
                <a:cs typeface="Arial MT"/>
              </a:rPr>
              <a:t>Time</a:t>
            </a:r>
            <a:r>
              <a:rPr sz="2000" spc="-9" dirty="0">
                <a:latin typeface="Arial MT"/>
                <a:cs typeface="Arial MT"/>
              </a:rPr>
              <a:t> </a:t>
            </a:r>
            <a:r>
              <a:rPr sz="2000" dirty="0">
                <a:latin typeface="Arial MT"/>
                <a:cs typeface="Arial MT"/>
              </a:rPr>
              <a:t>must be</a:t>
            </a:r>
            <a:r>
              <a:rPr sz="2000" spc="-9" dirty="0">
                <a:latin typeface="Arial MT"/>
                <a:cs typeface="Arial MT"/>
              </a:rPr>
              <a:t> </a:t>
            </a:r>
            <a:r>
              <a:rPr sz="2000" dirty="0">
                <a:latin typeface="Arial MT"/>
                <a:cs typeface="Arial MT"/>
              </a:rPr>
              <a:t>set long</a:t>
            </a:r>
            <a:r>
              <a:rPr sz="2000" spc="-9" dirty="0">
                <a:latin typeface="Arial MT"/>
                <a:cs typeface="Arial MT"/>
              </a:rPr>
              <a:t> </a:t>
            </a:r>
            <a:r>
              <a:rPr sz="2000" dirty="0">
                <a:latin typeface="Arial MT"/>
                <a:cs typeface="Arial MT"/>
              </a:rPr>
              <a:t>enough, so</a:t>
            </a:r>
            <a:r>
              <a:rPr sz="2000" spc="-9" dirty="0">
                <a:latin typeface="Arial MT"/>
                <a:cs typeface="Arial MT"/>
              </a:rPr>
              <a:t> </a:t>
            </a:r>
            <a:r>
              <a:rPr sz="2000" dirty="0">
                <a:latin typeface="Arial MT"/>
                <a:cs typeface="Arial MT"/>
              </a:rPr>
              <a:t>the</a:t>
            </a:r>
            <a:r>
              <a:rPr sz="2000" spc="-9" dirty="0">
                <a:latin typeface="Arial MT"/>
                <a:cs typeface="Arial MT"/>
              </a:rPr>
              <a:t> longest-</a:t>
            </a:r>
            <a:r>
              <a:rPr sz="2000" dirty="0">
                <a:latin typeface="Arial MT"/>
                <a:cs typeface="Arial MT"/>
              </a:rPr>
              <a:t>time-</a:t>
            </a:r>
            <a:r>
              <a:rPr sz="2000" spc="-9" dirty="0">
                <a:latin typeface="Arial MT"/>
                <a:cs typeface="Arial MT"/>
              </a:rPr>
              <a:t>taking </a:t>
            </a:r>
            <a:r>
              <a:rPr sz="2000" dirty="0">
                <a:latin typeface="Arial MT"/>
                <a:cs typeface="Arial MT"/>
              </a:rPr>
              <a:t>instruction</a:t>
            </a:r>
            <a:r>
              <a:rPr sz="2000" spc="-22" dirty="0">
                <a:latin typeface="Arial MT"/>
                <a:cs typeface="Arial MT"/>
              </a:rPr>
              <a:t> </a:t>
            </a:r>
            <a:r>
              <a:rPr sz="2000" dirty="0">
                <a:latin typeface="Arial MT"/>
                <a:cs typeface="Arial MT"/>
              </a:rPr>
              <a:t>can</a:t>
            </a:r>
            <a:r>
              <a:rPr sz="2000" spc="-22" dirty="0">
                <a:latin typeface="Arial MT"/>
                <a:cs typeface="Arial MT"/>
              </a:rPr>
              <a:t> </a:t>
            </a:r>
            <a:r>
              <a:rPr sz="2000" dirty="0">
                <a:latin typeface="Arial MT"/>
                <a:cs typeface="Arial MT"/>
              </a:rPr>
              <a:t>be</a:t>
            </a:r>
            <a:r>
              <a:rPr sz="2000" spc="-22" dirty="0">
                <a:latin typeface="Arial MT"/>
                <a:cs typeface="Arial MT"/>
              </a:rPr>
              <a:t> </a:t>
            </a:r>
            <a:r>
              <a:rPr sz="2000" dirty="0">
                <a:latin typeface="Arial MT"/>
                <a:cs typeface="Arial MT"/>
              </a:rPr>
              <a:t>processed</a:t>
            </a:r>
            <a:r>
              <a:rPr sz="2000" spc="-18" dirty="0">
                <a:latin typeface="Arial MT"/>
                <a:cs typeface="Arial MT"/>
              </a:rPr>
              <a:t> </a:t>
            </a:r>
            <a:r>
              <a:rPr sz="2000" dirty="0">
                <a:latin typeface="Arial MT"/>
                <a:cs typeface="Arial MT"/>
              </a:rPr>
              <a:t>within</a:t>
            </a:r>
            <a:r>
              <a:rPr sz="2000" spc="-22" dirty="0">
                <a:latin typeface="Arial MT"/>
                <a:cs typeface="Arial MT"/>
              </a:rPr>
              <a:t> </a:t>
            </a:r>
            <a:r>
              <a:rPr sz="2000" dirty="0">
                <a:latin typeface="Arial MT"/>
                <a:cs typeface="Arial MT"/>
              </a:rPr>
              <a:t>the</a:t>
            </a:r>
            <a:r>
              <a:rPr sz="2000" spc="-22" dirty="0">
                <a:latin typeface="Arial MT"/>
                <a:cs typeface="Arial MT"/>
              </a:rPr>
              <a:t> </a:t>
            </a:r>
            <a:r>
              <a:rPr sz="2000" dirty="0">
                <a:latin typeface="Arial MT"/>
                <a:cs typeface="Arial MT"/>
              </a:rPr>
              <a:t>cycle</a:t>
            </a:r>
            <a:r>
              <a:rPr sz="2000" spc="-22" dirty="0">
                <a:latin typeface="Arial MT"/>
                <a:cs typeface="Arial MT"/>
              </a:rPr>
              <a:t> </a:t>
            </a:r>
            <a:r>
              <a:rPr sz="2000" spc="-18" dirty="0">
                <a:latin typeface="Arial MT"/>
                <a:cs typeface="Arial MT"/>
              </a:rPr>
              <a:t>time</a:t>
            </a:r>
            <a:endParaRPr sz="2000" dirty="0">
              <a:latin typeface="Arial MT"/>
              <a:cs typeface="Arial MT"/>
            </a:endParaRPr>
          </a:p>
          <a:p>
            <a:pPr lvl="1">
              <a:lnSpc>
                <a:spcPct val="100000"/>
              </a:lnSpc>
              <a:spcBef>
                <a:spcPts val="957"/>
              </a:spcBef>
              <a:buFont typeface="Arial MT"/>
              <a:buChar char="–"/>
            </a:pPr>
            <a:endParaRPr sz="1500" dirty="0">
              <a:latin typeface="Arial MT"/>
              <a:cs typeface="Arial MT"/>
            </a:endParaRPr>
          </a:p>
          <a:p>
            <a:pPr marL="354107" indent="-342900">
              <a:lnSpc>
                <a:spcPct val="100000"/>
              </a:lnSpc>
              <a:buFont typeface="Arial" panose="020B0604020202020204" pitchFamily="34" charset="0"/>
              <a:buChar char="•"/>
              <a:tabLst>
                <a:tab pos="279602" algn="l"/>
              </a:tabLst>
            </a:pPr>
            <a:r>
              <a:rPr sz="2400" spc="-26" dirty="0">
                <a:latin typeface="Arial MT"/>
                <a:cs typeface="Arial MT"/>
              </a:rPr>
              <a:t>Multi-</a:t>
            </a:r>
            <a:r>
              <a:rPr sz="2400" dirty="0">
                <a:latin typeface="Arial MT"/>
                <a:cs typeface="Arial MT"/>
              </a:rPr>
              <a:t>cycle</a:t>
            </a:r>
            <a:r>
              <a:rPr sz="2400" spc="-84" dirty="0">
                <a:latin typeface="Arial MT"/>
                <a:cs typeface="Arial MT"/>
              </a:rPr>
              <a:t> </a:t>
            </a:r>
            <a:r>
              <a:rPr sz="2400" spc="-9" dirty="0">
                <a:latin typeface="Arial MT"/>
                <a:cs typeface="Arial MT"/>
              </a:rPr>
              <a:t>implementation</a:t>
            </a:r>
          </a:p>
          <a:p>
            <a:pPr marL="656700" lvl="1" indent="-215164">
              <a:lnSpc>
                <a:spcPct val="100000"/>
              </a:lnSpc>
              <a:spcBef>
                <a:spcPts val="331"/>
              </a:spcBef>
              <a:buChar char="–"/>
              <a:tabLst>
                <a:tab pos="656700" algn="l"/>
              </a:tabLst>
            </a:pPr>
            <a:r>
              <a:rPr sz="2000" dirty="0">
                <a:latin typeface="Arial MT"/>
                <a:cs typeface="Arial MT"/>
              </a:rPr>
              <a:t>Sequential,</a:t>
            </a:r>
            <a:r>
              <a:rPr sz="2000" spc="-35" dirty="0">
                <a:latin typeface="Arial MT"/>
                <a:cs typeface="Arial MT"/>
              </a:rPr>
              <a:t> </a:t>
            </a:r>
            <a:r>
              <a:rPr sz="2000" dirty="0">
                <a:latin typeface="Arial MT"/>
                <a:cs typeface="Arial MT"/>
              </a:rPr>
              <a:t>no</a:t>
            </a:r>
            <a:r>
              <a:rPr sz="2000" spc="-44" dirty="0">
                <a:latin typeface="Arial MT"/>
                <a:cs typeface="Arial MT"/>
              </a:rPr>
              <a:t> </a:t>
            </a:r>
            <a:r>
              <a:rPr sz="2000" spc="-9" dirty="0">
                <a:latin typeface="Arial MT"/>
                <a:cs typeface="Arial MT"/>
              </a:rPr>
              <a:t>parallelism</a:t>
            </a:r>
            <a:endParaRPr sz="2000" dirty="0">
              <a:latin typeface="Arial MT"/>
              <a:cs typeface="Arial MT"/>
            </a:endParaRPr>
          </a:p>
          <a:p>
            <a:pPr marL="656700" lvl="1" indent="-215164">
              <a:lnSpc>
                <a:spcPct val="100000"/>
              </a:lnSpc>
              <a:spcBef>
                <a:spcPts val="401"/>
              </a:spcBef>
              <a:buChar char="–"/>
              <a:tabLst>
                <a:tab pos="656700" algn="l"/>
              </a:tabLst>
            </a:pPr>
            <a:r>
              <a:rPr sz="2000" dirty="0">
                <a:latin typeface="Arial MT"/>
                <a:cs typeface="Arial MT"/>
              </a:rPr>
              <a:t>Processing</a:t>
            </a:r>
            <a:r>
              <a:rPr sz="2000" spc="-26" dirty="0">
                <a:latin typeface="Arial MT"/>
                <a:cs typeface="Arial MT"/>
              </a:rPr>
              <a:t> </a:t>
            </a:r>
            <a:r>
              <a:rPr sz="2000" dirty="0">
                <a:latin typeface="Arial MT"/>
                <a:cs typeface="Arial MT"/>
              </a:rPr>
              <a:t>instructions</a:t>
            </a:r>
            <a:r>
              <a:rPr sz="2000" spc="-26" dirty="0">
                <a:latin typeface="Arial MT"/>
                <a:cs typeface="Arial MT"/>
              </a:rPr>
              <a:t> </a:t>
            </a:r>
            <a:r>
              <a:rPr sz="2000" dirty="0">
                <a:latin typeface="Arial MT"/>
                <a:cs typeface="Arial MT"/>
              </a:rPr>
              <a:t>in</a:t>
            </a:r>
            <a:r>
              <a:rPr sz="2000" spc="-26" dirty="0">
                <a:latin typeface="Arial MT"/>
                <a:cs typeface="Arial MT"/>
              </a:rPr>
              <a:t> </a:t>
            </a:r>
            <a:r>
              <a:rPr sz="2000" dirty="0">
                <a:latin typeface="Arial MT"/>
                <a:cs typeface="Arial MT"/>
              </a:rPr>
              <a:t>multiple</a:t>
            </a:r>
            <a:r>
              <a:rPr sz="2000" spc="-26" dirty="0">
                <a:latin typeface="Arial MT"/>
                <a:cs typeface="Arial MT"/>
              </a:rPr>
              <a:t> </a:t>
            </a:r>
            <a:r>
              <a:rPr sz="2000" dirty="0">
                <a:latin typeface="Arial MT"/>
                <a:cs typeface="Arial MT"/>
              </a:rPr>
              <a:t>separate</a:t>
            </a:r>
            <a:r>
              <a:rPr sz="2000" spc="-26" dirty="0">
                <a:latin typeface="Arial MT"/>
                <a:cs typeface="Arial MT"/>
              </a:rPr>
              <a:t> </a:t>
            </a:r>
            <a:r>
              <a:rPr sz="2000" spc="-9" dirty="0">
                <a:latin typeface="Arial MT"/>
                <a:cs typeface="Arial MT"/>
              </a:rPr>
              <a:t>stages</a:t>
            </a:r>
            <a:endParaRPr sz="2000" dirty="0">
              <a:latin typeface="Arial MT"/>
              <a:cs typeface="Arial MT"/>
            </a:endParaRPr>
          </a:p>
          <a:p>
            <a:pPr marL="656700" lvl="1" indent="-215164">
              <a:lnSpc>
                <a:spcPct val="100000"/>
              </a:lnSpc>
              <a:spcBef>
                <a:spcPts val="424"/>
              </a:spcBef>
              <a:buChar char="–"/>
              <a:tabLst>
                <a:tab pos="656700" algn="l"/>
              </a:tabLst>
            </a:pPr>
            <a:r>
              <a:rPr sz="2000" dirty="0">
                <a:latin typeface="Arial MT"/>
                <a:cs typeface="Arial MT"/>
              </a:rPr>
              <a:t>1</a:t>
            </a:r>
            <a:r>
              <a:rPr sz="2000" spc="-13" dirty="0">
                <a:latin typeface="Arial MT"/>
                <a:cs typeface="Arial MT"/>
              </a:rPr>
              <a:t> </a:t>
            </a:r>
            <a:r>
              <a:rPr sz="2000" dirty="0">
                <a:latin typeface="Arial MT"/>
                <a:cs typeface="Arial MT"/>
              </a:rPr>
              <a:t>cycle</a:t>
            </a:r>
            <a:r>
              <a:rPr sz="2000" spc="-13" dirty="0">
                <a:latin typeface="Arial MT"/>
                <a:cs typeface="Arial MT"/>
              </a:rPr>
              <a:t> </a:t>
            </a:r>
            <a:r>
              <a:rPr sz="2000" dirty="0">
                <a:latin typeface="Arial MT"/>
                <a:cs typeface="Arial MT"/>
              </a:rPr>
              <a:t>for</a:t>
            </a:r>
            <a:r>
              <a:rPr sz="2000" spc="-4" dirty="0">
                <a:latin typeface="Arial MT"/>
                <a:cs typeface="Arial MT"/>
              </a:rPr>
              <a:t> </a:t>
            </a:r>
            <a:r>
              <a:rPr sz="2000" dirty="0">
                <a:latin typeface="Arial MT"/>
                <a:cs typeface="Arial MT"/>
              </a:rPr>
              <a:t>each</a:t>
            </a:r>
            <a:r>
              <a:rPr sz="2000" spc="-18" dirty="0">
                <a:latin typeface="Arial MT"/>
                <a:cs typeface="Arial MT"/>
              </a:rPr>
              <a:t> </a:t>
            </a:r>
            <a:r>
              <a:rPr sz="2000" b="1" spc="-9" dirty="0">
                <a:latin typeface="Arial"/>
                <a:cs typeface="Arial"/>
              </a:rPr>
              <a:t>stage</a:t>
            </a:r>
            <a:endParaRPr sz="2000" dirty="0">
              <a:latin typeface="Arial"/>
              <a:cs typeface="Arial"/>
            </a:endParaRPr>
          </a:p>
          <a:p>
            <a:pPr marL="656700" lvl="1" indent="-215164">
              <a:lnSpc>
                <a:spcPct val="100000"/>
              </a:lnSpc>
              <a:spcBef>
                <a:spcPts val="318"/>
              </a:spcBef>
              <a:buChar char="–"/>
              <a:tabLst>
                <a:tab pos="656700" algn="l"/>
              </a:tabLst>
            </a:pPr>
            <a:r>
              <a:rPr sz="2000" dirty="0">
                <a:latin typeface="Arial MT"/>
                <a:cs typeface="Arial MT"/>
              </a:rPr>
              <a:t>The</a:t>
            </a:r>
            <a:r>
              <a:rPr sz="2000" spc="-26" dirty="0">
                <a:latin typeface="Arial MT"/>
                <a:cs typeface="Arial MT"/>
              </a:rPr>
              <a:t> </a:t>
            </a:r>
            <a:r>
              <a:rPr sz="2000" dirty="0">
                <a:latin typeface="Arial MT"/>
                <a:cs typeface="Arial MT"/>
              </a:rPr>
              <a:t>number</a:t>
            </a:r>
            <a:r>
              <a:rPr sz="2000" spc="-18" dirty="0">
                <a:latin typeface="Arial MT"/>
                <a:cs typeface="Arial MT"/>
              </a:rPr>
              <a:t> </a:t>
            </a:r>
            <a:r>
              <a:rPr sz="2000" dirty="0">
                <a:latin typeface="Arial MT"/>
                <a:cs typeface="Arial MT"/>
              </a:rPr>
              <a:t>of</a:t>
            </a:r>
            <a:r>
              <a:rPr sz="2000" spc="-18" dirty="0">
                <a:latin typeface="Arial MT"/>
                <a:cs typeface="Arial MT"/>
              </a:rPr>
              <a:t> </a:t>
            </a:r>
            <a:r>
              <a:rPr sz="2000" dirty="0">
                <a:latin typeface="Arial MT"/>
                <a:cs typeface="Arial MT"/>
              </a:rPr>
              <a:t>cycles</a:t>
            </a:r>
            <a:r>
              <a:rPr sz="2000" spc="-22" dirty="0">
                <a:latin typeface="Arial MT"/>
                <a:cs typeface="Arial MT"/>
              </a:rPr>
              <a:t> </a:t>
            </a:r>
            <a:r>
              <a:rPr sz="2000" dirty="0">
                <a:latin typeface="Arial MT"/>
                <a:cs typeface="Arial MT"/>
              </a:rPr>
              <a:t>needed</a:t>
            </a:r>
            <a:r>
              <a:rPr sz="2000" spc="-22" dirty="0">
                <a:latin typeface="Arial MT"/>
                <a:cs typeface="Arial MT"/>
              </a:rPr>
              <a:t> </a:t>
            </a:r>
            <a:r>
              <a:rPr sz="2000" dirty="0">
                <a:latin typeface="Arial MT"/>
                <a:cs typeface="Arial MT"/>
              </a:rPr>
              <a:t>for</a:t>
            </a:r>
            <a:r>
              <a:rPr sz="2000" spc="-18" dirty="0">
                <a:latin typeface="Arial MT"/>
                <a:cs typeface="Arial MT"/>
              </a:rPr>
              <a:t> </a:t>
            </a:r>
            <a:r>
              <a:rPr sz="2000" dirty="0">
                <a:latin typeface="Arial MT"/>
                <a:cs typeface="Arial MT"/>
              </a:rPr>
              <a:t>an</a:t>
            </a:r>
            <a:r>
              <a:rPr sz="2000" spc="-26" dirty="0">
                <a:latin typeface="Arial MT"/>
                <a:cs typeface="Arial MT"/>
              </a:rPr>
              <a:t> </a:t>
            </a:r>
            <a:r>
              <a:rPr sz="2000" dirty="0">
                <a:latin typeface="Arial MT"/>
                <a:cs typeface="Arial MT"/>
              </a:rPr>
              <a:t>instruction</a:t>
            </a:r>
            <a:r>
              <a:rPr sz="2000" spc="-22" dirty="0">
                <a:latin typeface="Arial MT"/>
                <a:cs typeface="Arial MT"/>
              </a:rPr>
              <a:t> </a:t>
            </a:r>
            <a:r>
              <a:rPr sz="2000" spc="-9" dirty="0">
                <a:latin typeface="Arial MT"/>
                <a:cs typeface="Arial MT"/>
              </a:rPr>
              <a:t>varies.</a:t>
            </a:r>
            <a:endParaRPr sz="2000" dirty="0">
              <a:latin typeface="Arial MT"/>
              <a:cs typeface="Arial MT"/>
            </a:endParaRPr>
          </a:p>
          <a:p>
            <a:pPr marL="656700" lvl="1" indent="-215164">
              <a:lnSpc>
                <a:spcPct val="100000"/>
              </a:lnSpc>
              <a:spcBef>
                <a:spcPts val="401"/>
              </a:spcBef>
              <a:buChar char="–"/>
              <a:tabLst>
                <a:tab pos="656700" algn="l"/>
              </a:tabLst>
            </a:pPr>
            <a:r>
              <a:rPr sz="2000" dirty="0">
                <a:latin typeface="Arial MT"/>
                <a:cs typeface="Arial MT"/>
              </a:rPr>
              <a:t>Clock</a:t>
            </a:r>
            <a:r>
              <a:rPr sz="2000" spc="-9" dirty="0">
                <a:latin typeface="Arial MT"/>
                <a:cs typeface="Arial MT"/>
              </a:rPr>
              <a:t> </a:t>
            </a:r>
            <a:r>
              <a:rPr sz="2000" dirty="0">
                <a:latin typeface="Arial MT"/>
                <a:cs typeface="Arial MT"/>
              </a:rPr>
              <a:t>Cycle</a:t>
            </a:r>
            <a:r>
              <a:rPr sz="2000" spc="-9" dirty="0">
                <a:latin typeface="Arial MT"/>
                <a:cs typeface="Arial MT"/>
              </a:rPr>
              <a:t> </a:t>
            </a:r>
            <a:r>
              <a:rPr sz="2000" dirty="0">
                <a:latin typeface="Arial MT"/>
                <a:cs typeface="Arial MT"/>
              </a:rPr>
              <a:t>Time</a:t>
            </a:r>
            <a:r>
              <a:rPr sz="2000" spc="-9" dirty="0">
                <a:latin typeface="Arial MT"/>
                <a:cs typeface="Arial MT"/>
              </a:rPr>
              <a:t> </a:t>
            </a:r>
            <a:r>
              <a:rPr sz="2000" dirty="0">
                <a:latin typeface="Arial MT"/>
                <a:cs typeface="Arial MT"/>
              </a:rPr>
              <a:t>must be</a:t>
            </a:r>
            <a:r>
              <a:rPr sz="2000" spc="-9" dirty="0">
                <a:latin typeface="Arial MT"/>
                <a:cs typeface="Arial MT"/>
              </a:rPr>
              <a:t> </a:t>
            </a:r>
            <a:r>
              <a:rPr sz="2000" dirty="0">
                <a:latin typeface="Arial MT"/>
                <a:cs typeface="Arial MT"/>
              </a:rPr>
              <a:t>set to</a:t>
            </a:r>
            <a:r>
              <a:rPr sz="2000" spc="-13" dirty="0">
                <a:latin typeface="Arial MT"/>
                <a:cs typeface="Arial MT"/>
              </a:rPr>
              <a:t> </a:t>
            </a:r>
            <a:r>
              <a:rPr sz="2000" dirty="0">
                <a:latin typeface="Arial MT"/>
                <a:cs typeface="Arial MT"/>
              </a:rPr>
              <a:t>the</a:t>
            </a:r>
            <a:r>
              <a:rPr sz="2000" spc="-9" dirty="0">
                <a:latin typeface="Arial MT"/>
                <a:cs typeface="Arial MT"/>
              </a:rPr>
              <a:t> </a:t>
            </a:r>
            <a:r>
              <a:rPr sz="2000" dirty="0">
                <a:latin typeface="Arial MT"/>
                <a:cs typeface="Arial MT"/>
              </a:rPr>
              <a:t>time</a:t>
            </a:r>
            <a:r>
              <a:rPr sz="2000" spc="-9" dirty="0">
                <a:latin typeface="Arial MT"/>
                <a:cs typeface="Arial MT"/>
              </a:rPr>
              <a:t> </a:t>
            </a:r>
            <a:r>
              <a:rPr sz="2000" dirty="0">
                <a:latin typeface="Arial MT"/>
                <a:cs typeface="Arial MT"/>
              </a:rPr>
              <a:t>for the</a:t>
            </a:r>
            <a:r>
              <a:rPr sz="2000" spc="-9" dirty="0">
                <a:latin typeface="Arial MT"/>
                <a:cs typeface="Arial MT"/>
              </a:rPr>
              <a:t> </a:t>
            </a:r>
            <a:r>
              <a:rPr sz="2000" dirty="0">
                <a:latin typeface="Arial MT"/>
                <a:cs typeface="Arial MT"/>
              </a:rPr>
              <a:t>longest </a:t>
            </a:r>
            <a:r>
              <a:rPr sz="2000" spc="-9" dirty="0">
                <a:latin typeface="Arial MT"/>
                <a:cs typeface="Arial MT"/>
              </a:rPr>
              <a:t>stage</a:t>
            </a:r>
            <a:endParaRPr lang="en-US" sz="2000" spc="-9" dirty="0">
              <a:latin typeface="Arial MT"/>
              <a:cs typeface="Arial MT"/>
            </a:endParaRPr>
          </a:p>
        </p:txBody>
      </p:sp>
      <p:sp>
        <p:nvSpPr>
          <p:cNvPr id="6" name="Slide Number Placeholder 5">
            <a:extLst>
              <a:ext uri="{FF2B5EF4-FFF2-40B4-BE49-F238E27FC236}">
                <a16:creationId xmlns:a16="http://schemas.microsoft.com/office/drawing/2014/main" id="{C37039C9-26D8-772D-9358-B8F9BB452576}"/>
              </a:ext>
            </a:extLst>
          </p:cNvPr>
          <p:cNvSpPr>
            <a:spLocks noGrp="1"/>
          </p:cNvSpPr>
          <p:nvPr>
            <p:ph type="sldNum" sz="quarter" idx="7"/>
          </p:nvPr>
        </p:nvSpPr>
        <p:spPr/>
        <p:txBody>
          <a:bodyPr/>
          <a:lstStyle/>
          <a:p>
            <a:fld id="{4FE321F0-2018-4E50-8BB3-A5631EBD98DD}" type="slidenum">
              <a:rPr lang="en-US" smtClean="0"/>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fade">
                                      <p:cBhvr>
                                        <p:cTn id="16" dur="500"/>
                                        <p:tgtEl>
                                          <p:spTgt spid="3">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fade">
                                      <p:cBhvr>
                                        <p:cTn id="19" dur="500"/>
                                        <p:tgtEl>
                                          <p:spTgt spid="3">
                                            <p:txEl>
                                              <p:pRg st="9" end="9"/>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fade">
                                      <p:cBhvr>
                                        <p:cTn id="2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06157" y="479522"/>
            <a:ext cx="2016499" cy="470647"/>
          </a:xfrm>
          <a:custGeom>
            <a:avLst/>
            <a:gdLst/>
            <a:ahLst/>
            <a:cxnLst/>
            <a:rect l="l" t="t" r="r" b="b"/>
            <a:pathLst>
              <a:path w="2285365" h="533400">
                <a:moveTo>
                  <a:pt x="2285314" y="0"/>
                </a:moveTo>
                <a:lnTo>
                  <a:pt x="2285314" y="0"/>
                </a:lnTo>
                <a:lnTo>
                  <a:pt x="0" y="0"/>
                </a:lnTo>
                <a:lnTo>
                  <a:pt x="0" y="533400"/>
                </a:lnTo>
                <a:lnTo>
                  <a:pt x="2285314" y="533400"/>
                </a:lnTo>
                <a:lnTo>
                  <a:pt x="2285314" y="0"/>
                </a:lnTo>
                <a:close/>
              </a:path>
            </a:pathLst>
          </a:custGeom>
          <a:solidFill>
            <a:srgbClr val="FFFF00"/>
          </a:solidFill>
        </p:spPr>
        <p:txBody>
          <a:bodyPr wrap="square" lIns="0" tIns="0" rIns="0" bIns="0" rtlCol="0"/>
          <a:lstStyle/>
          <a:p>
            <a:endParaRPr sz="1588"/>
          </a:p>
        </p:txBody>
      </p:sp>
      <p:sp>
        <p:nvSpPr>
          <p:cNvPr id="3" name="object 3"/>
          <p:cNvSpPr txBox="1">
            <a:spLocks noGrp="1"/>
          </p:cNvSpPr>
          <p:nvPr>
            <p:ph type="title"/>
          </p:nvPr>
        </p:nvSpPr>
        <p:spPr>
          <a:xfrm>
            <a:off x="989853" y="460964"/>
            <a:ext cx="7656436" cy="472980"/>
          </a:xfrm>
          <a:prstGeom prst="rect">
            <a:avLst/>
          </a:prstGeom>
        </p:spPr>
        <p:txBody>
          <a:bodyPr vert="horz" wrap="square" lIns="0" tIns="11206" rIns="0" bIns="0" rtlCol="0" anchor="ctr">
            <a:spAutoFit/>
          </a:bodyPr>
          <a:lstStyle/>
          <a:p>
            <a:pPr marL="11206">
              <a:lnSpc>
                <a:spcPct val="100000"/>
              </a:lnSpc>
              <a:spcBef>
                <a:spcPts val="88"/>
              </a:spcBef>
            </a:pPr>
            <a:r>
              <a:rPr sz="3000" dirty="0"/>
              <a:t>5</a:t>
            </a:r>
            <a:r>
              <a:rPr sz="3000" spc="-9" dirty="0"/>
              <a:t> </a:t>
            </a:r>
            <a:r>
              <a:rPr sz="3000" dirty="0"/>
              <a:t>Steps</a:t>
            </a:r>
            <a:r>
              <a:rPr sz="3000" spc="-13" dirty="0"/>
              <a:t> </a:t>
            </a:r>
            <a:r>
              <a:rPr sz="3000" dirty="0"/>
              <a:t>of</a:t>
            </a:r>
            <a:r>
              <a:rPr sz="3000" spc="-13" dirty="0"/>
              <a:t> </a:t>
            </a:r>
            <a:r>
              <a:rPr sz="3000" dirty="0"/>
              <a:t>a</a:t>
            </a:r>
            <a:r>
              <a:rPr sz="3000" spc="-4" dirty="0"/>
              <a:t> </a:t>
            </a:r>
            <a:r>
              <a:rPr sz="3000" spc="-9" dirty="0"/>
              <a:t>(</a:t>
            </a:r>
            <a:r>
              <a:rPr sz="3000" b="1" spc="-9" dirty="0">
                <a:latin typeface="Calibri"/>
                <a:cs typeface="Calibri"/>
              </a:rPr>
              <a:t>un-</a:t>
            </a:r>
            <a:r>
              <a:rPr sz="3000" b="1" dirty="0">
                <a:latin typeface="Calibri"/>
                <a:cs typeface="Calibri"/>
              </a:rPr>
              <a:t>pipelined</a:t>
            </a:r>
            <a:r>
              <a:rPr sz="3000" dirty="0"/>
              <a:t>)</a:t>
            </a:r>
            <a:r>
              <a:rPr sz="3000" spc="-4" dirty="0"/>
              <a:t> </a:t>
            </a:r>
            <a:r>
              <a:rPr sz="3000" dirty="0"/>
              <a:t>MIPS</a:t>
            </a:r>
            <a:r>
              <a:rPr sz="3000" spc="-4" dirty="0"/>
              <a:t> </a:t>
            </a:r>
            <a:r>
              <a:rPr sz="3000" dirty="0"/>
              <a:t>Data</a:t>
            </a:r>
            <a:r>
              <a:rPr sz="3000" spc="-4" dirty="0"/>
              <a:t> </a:t>
            </a:r>
            <a:r>
              <a:rPr sz="3000" spc="-18" dirty="0"/>
              <a:t>Path</a:t>
            </a:r>
          </a:p>
        </p:txBody>
      </p:sp>
      <p:sp>
        <p:nvSpPr>
          <p:cNvPr id="101" name="Slide Number Placeholder 100">
            <a:extLst>
              <a:ext uri="{FF2B5EF4-FFF2-40B4-BE49-F238E27FC236}">
                <a16:creationId xmlns:a16="http://schemas.microsoft.com/office/drawing/2014/main" id="{21089341-DFE7-ED28-184E-EAA061AE8505}"/>
              </a:ext>
            </a:extLst>
          </p:cNvPr>
          <p:cNvSpPr>
            <a:spLocks noGrp="1"/>
          </p:cNvSpPr>
          <p:nvPr>
            <p:ph type="sldNum" sz="quarter" idx="7"/>
          </p:nvPr>
        </p:nvSpPr>
        <p:spPr/>
        <p:txBody>
          <a:bodyPr/>
          <a:lstStyle/>
          <a:p>
            <a:fld id="{4FE321F0-2018-4E50-8BB3-A5631EBD98DD}" type="slidenum">
              <a:rPr lang="en-US" smtClean="0"/>
              <a:t>25</a:t>
            </a:fld>
            <a:endParaRPr lang="en-US"/>
          </a:p>
        </p:txBody>
      </p:sp>
      <p:sp>
        <p:nvSpPr>
          <p:cNvPr id="4" name="object 4"/>
          <p:cNvSpPr txBox="1"/>
          <p:nvPr/>
        </p:nvSpPr>
        <p:spPr>
          <a:xfrm>
            <a:off x="989853" y="905435"/>
            <a:ext cx="1002926" cy="269399"/>
          </a:xfrm>
          <a:prstGeom prst="rect">
            <a:avLst/>
          </a:prstGeom>
        </p:spPr>
        <p:txBody>
          <a:bodyPr vert="horz" wrap="square" lIns="0" tIns="11206" rIns="0" bIns="0" rtlCol="0">
            <a:spAutoFit/>
          </a:bodyPr>
          <a:lstStyle/>
          <a:p>
            <a:pPr marL="11206">
              <a:spcBef>
                <a:spcPts val="88"/>
              </a:spcBef>
            </a:pPr>
            <a:r>
              <a:rPr lang="en-US" sz="1677" dirty="0">
                <a:solidFill>
                  <a:srgbClr val="0332B7"/>
                </a:solidFill>
                <a:latin typeface="Calibri"/>
                <a:cs typeface="Calibri"/>
              </a:rPr>
              <a:t>Figure</a:t>
            </a:r>
            <a:r>
              <a:rPr lang="en-US" sz="1677" spc="-4" dirty="0">
                <a:solidFill>
                  <a:srgbClr val="0332B7"/>
                </a:solidFill>
                <a:latin typeface="Calibri"/>
                <a:cs typeface="Calibri"/>
              </a:rPr>
              <a:t> </a:t>
            </a:r>
            <a:r>
              <a:rPr lang="en-US" sz="1677" spc="-18" dirty="0">
                <a:solidFill>
                  <a:srgbClr val="0332B7"/>
                </a:solidFill>
                <a:latin typeface="Calibri"/>
                <a:cs typeface="Calibri"/>
              </a:rPr>
              <a:t>C.21</a:t>
            </a:r>
            <a:endParaRPr lang="en-US" sz="1677" dirty="0">
              <a:latin typeface="Calibri"/>
              <a:cs typeface="Calibri"/>
            </a:endParaRPr>
          </a:p>
        </p:txBody>
      </p:sp>
      <p:grpSp>
        <p:nvGrpSpPr>
          <p:cNvPr id="5" name="object 5"/>
          <p:cNvGrpSpPr/>
          <p:nvPr/>
        </p:nvGrpSpPr>
        <p:grpSpPr>
          <a:xfrm>
            <a:off x="7440706" y="3987799"/>
            <a:ext cx="645459" cy="897031"/>
            <a:chOff x="8280400" y="4519505"/>
            <a:chExt cx="731520" cy="1016635"/>
          </a:xfrm>
        </p:grpSpPr>
        <p:sp>
          <p:nvSpPr>
            <p:cNvPr id="6" name="object 6"/>
            <p:cNvSpPr/>
            <p:nvPr/>
          </p:nvSpPr>
          <p:spPr>
            <a:xfrm>
              <a:off x="8280400" y="4976812"/>
              <a:ext cx="731520" cy="91440"/>
            </a:xfrm>
            <a:custGeom>
              <a:avLst/>
              <a:gdLst/>
              <a:ahLst/>
              <a:cxnLst/>
              <a:rect l="l" t="t" r="r" b="b"/>
              <a:pathLst>
                <a:path w="731520" h="91439">
                  <a:moveTo>
                    <a:pt x="640079" y="0"/>
                  </a:moveTo>
                  <a:lnTo>
                    <a:pt x="640079" y="91439"/>
                  </a:lnTo>
                  <a:lnTo>
                    <a:pt x="701039" y="60960"/>
                  </a:lnTo>
                  <a:lnTo>
                    <a:pt x="655320" y="60960"/>
                  </a:lnTo>
                  <a:lnTo>
                    <a:pt x="655320" y="30480"/>
                  </a:lnTo>
                  <a:lnTo>
                    <a:pt x="701040" y="30480"/>
                  </a:lnTo>
                  <a:lnTo>
                    <a:pt x="640079" y="0"/>
                  </a:lnTo>
                  <a:close/>
                </a:path>
                <a:path w="731520" h="91439">
                  <a:moveTo>
                    <a:pt x="640079" y="30480"/>
                  </a:moveTo>
                  <a:lnTo>
                    <a:pt x="0" y="30480"/>
                  </a:lnTo>
                  <a:lnTo>
                    <a:pt x="0" y="60960"/>
                  </a:lnTo>
                  <a:lnTo>
                    <a:pt x="640079" y="60960"/>
                  </a:lnTo>
                  <a:lnTo>
                    <a:pt x="640079" y="30480"/>
                  </a:lnTo>
                  <a:close/>
                </a:path>
                <a:path w="731520" h="91439">
                  <a:moveTo>
                    <a:pt x="701040" y="30480"/>
                  </a:moveTo>
                  <a:lnTo>
                    <a:pt x="655320" y="30480"/>
                  </a:lnTo>
                  <a:lnTo>
                    <a:pt x="655320" y="60960"/>
                  </a:lnTo>
                  <a:lnTo>
                    <a:pt x="701039" y="60960"/>
                  </a:lnTo>
                  <a:lnTo>
                    <a:pt x="731520" y="45719"/>
                  </a:lnTo>
                  <a:lnTo>
                    <a:pt x="701040" y="30480"/>
                  </a:lnTo>
                  <a:close/>
                </a:path>
              </a:pathLst>
            </a:custGeom>
            <a:solidFill>
              <a:srgbClr val="000000"/>
            </a:solidFill>
          </p:spPr>
          <p:txBody>
            <a:bodyPr wrap="square" lIns="0" tIns="0" rIns="0" bIns="0" rtlCol="0"/>
            <a:lstStyle/>
            <a:p>
              <a:endParaRPr sz="1588"/>
            </a:p>
          </p:txBody>
        </p:sp>
        <p:sp>
          <p:nvSpPr>
            <p:cNvPr id="7" name="object 7"/>
            <p:cNvSpPr/>
            <p:nvPr/>
          </p:nvSpPr>
          <p:spPr>
            <a:xfrm>
              <a:off x="8414172" y="4533158"/>
              <a:ext cx="217170" cy="989330"/>
            </a:xfrm>
            <a:custGeom>
              <a:avLst/>
              <a:gdLst/>
              <a:ahLst/>
              <a:cxnLst/>
              <a:rect l="l" t="t" r="r" b="b"/>
              <a:pathLst>
                <a:path w="217170" h="989329">
                  <a:moveTo>
                    <a:pt x="216747" y="0"/>
                  </a:moveTo>
                  <a:lnTo>
                    <a:pt x="0" y="0"/>
                  </a:lnTo>
                  <a:lnTo>
                    <a:pt x="0" y="988907"/>
                  </a:lnTo>
                  <a:lnTo>
                    <a:pt x="216747" y="988907"/>
                  </a:lnTo>
                  <a:lnTo>
                    <a:pt x="216747" y="0"/>
                  </a:lnTo>
                  <a:close/>
                </a:path>
              </a:pathLst>
            </a:custGeom>
            <a:solidFill>
              <a:srgbClr val="FFFFFF"/>
            </a:solidFill>
          </p:spPr>
          <p:txBody>
            <a:bodyPr wrap="square" lIns="0" tIns="0" rIns="0" bIns="0" rtlCol="0"/>
            <a:lstStyle/>
            <a:p>
              <a:endParaRPr sz="1588"/>
            </a:p>
          </p:txBody>
        </p:sp>
        <p:sp>
          <p:nvSpPr>
            <p:cNvPr id="8" name="object 8"/>
            <p:cNvSpPr/>
            <p:nvPr/>
          </p:nvSpPr>
          <p:spPr>
            <a:xfrm>
              <a:off x="8414172" y="4533158"/>
              <a:ext cx="217170" cy="989330"/>
            </a:xfrm>
            <a:custGeom>
              <a:avLst/>
              <a:gdLst/>
              <a:ahLst/>
              <a:cxnLst/>
              <a:rect l="l" t="t" r="r" b="b"/>
              <a:pathLst>
                <a:path w="217170" h="989329">
                  <a:moveTo>
                    <a:pt x="0" y="0"/>
                  </a:moveTo>
                  <a:lnTo>
                    <a:pt x="216746" y="0"/>
                  </a:lnTo>
                  <a:lnTo>
                    <a:pt x="216746" y="988906"/>
                  </a:lnTo>
                  <a:lnTo>
                    <a:pt x="0" y="988906"/>
                  </a:lnTo>
                  <a:lnTo>
                    <a:pt x="0" y="0"/>
                  </a:lnTo>
                  <a:close/>
                </a:path>
              </a:pathLst>
            </a:custGeom>
            <a:ln w="27093">
              <a:solidFill>
                <a:srgbClr val="000000"/>
              </a:solidFill>
            </a:ln>
          </p:spPr>
          <p:txBody>
            <a:bodyPr wrap="square" lIns="0" tIns="0" rIns="0" bIns="0" rtlCol="0"/>
            <a:lstStyle/>
            <a:p>
              <a:endParaRPr sz="1588"/>
            </a:p>
          </p:txBody>
        </p:sp>
      </p:grpSp>
      <p:sp>
        <p:nvSpPr>
          <p:cNvPr id="9" name="object 9"/>
          <p:cNvSpPr txBox="1"/>
          <p:nvPr/>
        </p:nvSpPr>
        <p:spPr>
          <a:xfrm>
            <a:off x="6709336" y="1233544"/>
            <a:ext cx="810745" cy="952279"/>
          </a:xfrm>
          <a:prstGeom prst="rect">
            <a:avLst/>
          </a:prstGeom>
        </p:spPr>
        <p:txBody>
          <a:bodyPr vert="horz" wrap="square" lIns="0" tIns="96931" rIns="0" bIns="0" rtlCol="0">
            <a:spAutoFit/>
          </a:bodyPr>
          <a:lstStyle/>
          <a:p>
            <a:pPr marR="20732" algn="ctr">
              <a:spcBef>
                <a:spcPts val="763"/>
              </a:spcBef>
            </a:pPr>
            <a:r>
              <a:rPr sz="1677" b="1" spc="-44" dirty="0">
                <a:latin typeface="Times New Roman"/>
                <a:cs typeface="Times New Roman"/>
              </a:rPr>
              <a:t>4</a:t>
            </a:r>
            <a:endParaRPr sz="1677">
              <a:latin typeface="Times New Roman"/>
              <a:cs typeface="Times New Roman"/>
            </a:endParaRPr>
          </a:p>
          <a:p>
            <a:pPr marL="11206" marR="4483" algn="ctr">
              <a:lnSpc>
                <a:spcPct val="101099"/>
              </a:lnSpc>
              <a:spcBef>
                <a:spcPts val="657"/>
              </a:spcBef>
            </a:pPr>
            <a:r>
              <a:rPr sz="1677" b="1" spc="-9" dirty="0">
                <a:latin typeface="Times New Roman"/>
                <a:cs typeface="Times New Roman"/>
              </a:rPr>
              <a:t>Memory Access</a:t>
            </a:r>
            <a:endParaRPr sz="1677">
              <a:latin typeface="Times New Roman"/>
              <a:cs typeface="Times New Roman"/>
            </a:endParaRPr>
          </a:p>
        </p:txBody>
      </p:sp>
      <p:sp>
        <p:nvSpPr>
          <p:cNvPr id="10" name="object 10"/>
          <p:cNvSpPr txBox="1"/>
          <p:nvPr/>
        </p:nvSpPr>
        <p:spPr>
          <a:xfrm>
            <a:off x="7890136" y="1203961"/>
            <a:ext cx="555812" cy="1007912"/>
          </a:xfrm>
          <a:prstGeom prst="rect">
            <a:avLst/>
          </a:prstGeom>
        </p:spPr>
        <p:txBody>
          <a:bodyPr vert="horz" wrap="square" lIns="0" tIns="126626" rIns="0" bIns="0" rtlCol="0">
            <a:spAutoFit/>
          </a:bodyPr>
          <a:lstStyle/>
          <a:p>
            <a:pPr marL="291368">
              <a:spcBef>
                <a:spcPts val="997"/>
              </a:spcBef>
            </a:pPr>
            <a:r>
              <a:rPr sz="1677" b="1" spc="-44" dirty="0">
                <a:latin typeface="Times New Roman"/>
                <a:cs typeface="Times New Roman"/>
              </a:rPr>
              <a:t>5</a:t>
            </a:r>
            <a:endParaRPr sz="1677">
              <a:latin typeface="Times New Roman"/>
              <a:cs typeface="Times New Roman"/>
            </a:endParaRPr>
          </a:p>
          <a:p>
            <a:pPr marL="44826" marR="4483" indent="-34180">
              <a:lnSpc>
                <a:spcPct val="101099"/>
              </a:lnSpc>
              <a:spcBef>
                <a:spcPts val="887"/>
              </a:spcBef>
            </a:pPr>
            <a:r>
              <a:rPr sz="1677" b="1" spc="-9" dirty="0">
                <a:latin typeface="Times New Roman"/>
                <a:cs typeface="Times New Roman"/>
              </a:rPr>
              <a:t>Write </a:t>
            </a:r>
            <a:r>
              <a:rPr sz="1677" b="1" spc="-18" dirty="0">
                <a:latin typeface="Times New Roman"/>
                <a:cs typeface="Times New Roman"/>
              </a:rPr>
              <a:t>Back</a:t>
            </a:r>
            <a:endParaRPr sz="1677">
              <a:latin typeface="Times New Roman"/>
              <a:cs typeface="Times New Roman"/>
            </a:endParaRPr>
          </a:p>
        </p:txBody>
      </p:sp>
      <p:sp>
        <p:nvSpPr>
          <p:cNvPr id="11" name="object 11"/>
          <p:cNvSpPr txBox="1"/>
          <p:nvPr/>
        </p:nvSpPr>
        <p:spPr>
          <a:xfrm>
            <a:off x="3337262" y="1233544"/>
            <a:ext cx="1233207" cy="952279"/>
          </a:xfrm>
          <a:prstGeom prst="rect">
            <a:avLst/>
          </a:prstGeom>
        </p:spPr>
        <p:txBody>
          <a:bodyPr vert="horz" wrap="square" lIns="0" tIns="96931" rIns="0" bIns="0" rtlCol="0">
            <a:spAutoFit/>
          </a:bodyPr>
          <a:lstStyle/>
          <a:p>
            <a:pPr marL="59955" algn="ctr">
              <a:spcBef>
                <a:spcPts val="763"/>
              </a:spcBef>
            </a:pPr>
            <a:r>
              <a:rPr sz="1677" b="1" spc="-44" dirty="0">
                <a:latin typeface="Times New Roman"/>
                <a:cs typeface="Times New Roman"/>
              </a:rPr>
              <a:t>2</a:t>
            </a:r>
            <a:endParaRPr sz="1677">
              <a:latin typeface="Times New Roman"/>
              <a:cs typeface="Times New Roman"/>
            </a:endParaRPr>
          </a:p>
          <a:p>
            <a:pPr marL="11206" marR="4483" algn="ctr">
              <a:lnSpc>
                <a:spcPct val="101099"/>
              </a:lnSpc>
              <a:spcBef>
                <a:spcPts val="657"/>
              </a:spcBef>
            </a:pPr>
            <a:r>
              <a:rPr sz="1677" b="1" spc="-18" dirty="0">
                <a:latin typeface="Times New Roman"/>
                <a:cs typeface="Times New Roman"/>
              </a:rPr>
              <a:t>Instr.</a:t>
            </a:r>
            <a:r>
              <a:rPr sz="1677" b="1" spc="-49" dirty="0">
                <a:latin typeface="Times New Roman"/>
                <a:cs typeface="Times New Roman"/>
              </a:rPr>
              <a:t> </a:t>
            </a:r>
            <a:r>
              <a:rPr sz="1677" b="1" spc="-9" dirty="0">
                <a:latin typeface="Times New Roman"/>
                <a:cs typeface="Times New Roman"/>
              </a:rPr>
              <a:t>Decode </a:t>
            </a:r>
            <a:r>
              <a:rPr sz="1677" b="1" dirty="0">
                <a:latin typeface="Times New Roman"/>
                <a:cs typeface="Times New Roman"/>
              </a:rPr>
              <a:t>Reg.</a:t>
            </a:r>
            <a:r>
              <a:rPr sz="1677" b="1" spc="31" dirty="0">
                <a:latin typeface="Times New Roman"/>
                <a:cs typeface="Times New Roman"/>
              </a:rPr>
              <a:t> </a:t>
            </a:r>
            <a:r>
              <a:rPr sz="1677" b="1" spc="-18" dirty="0">
                <a:latin typeface="Times New Roman"/>
                <a:cs typeface="Times New Roman"/>
              </a:rPr>
              <a:t>Fetch</a:t>
            </a:r>
            <a:endParaRPr sz="1677">
              <a:latin typeface="Times New Roman"/>
              <a:cs typeface="Times New Roman"/>
            </a:endParaRPr>
          </a:p>
        </p:txBody>
      </p:sp>
      <p:sp>
        <p:nvSpPr>
          <p:cNvPr id="12" name="object 12"/>
          <p:cNvSpPr txBox="1"/>
          <p:nvPr/>
        </p:nvSpPr>
        <p:spPr>
          <a:xfrm>
            <a:off x="5109284" y="1233544"/>
            <a:ext cx="1018054" cy="952279"/>
          </a:xfrm>
          <a:prstGeom prst="rect">
            <a:avLst/>
          </a:prstGeom>
        </p:spPr>
        <p:txBody>
          <a:bodyPr vert="horz" wrap="square" lIns="0" tIns="96931" rIns="0" bIns="0" rtlCol="0">
            <a:spAutoFit/>
          </a:bodyPr>
          <a:lstStyle/>
          <a:p>
            <a:pPr marL="62756" algn="ctr">
              <a:spcBef>
                <a:spcPts val="763"/>
              </a:spcBef>
            </a:pPr>
            <a:r>
              <a:rPr sz="1677" b="1" spc="-44" dirty="0">
                <a:latin typeface="Times New Roman"/>
                <a:cs typeface="Times New Roman"/>
              </a:rPr>
              <a:t>3</a:t>
            </a:r>
            <a:endParaRPr sz="1677">
              <a:latin typeface="Times New Roman"/>
              <a:cs typeface="Times New Roman"/>
            </a:endParaRPr>
          </a:p>
          <a:p>
            <a:pPr marL="11206" marR="4483" indent="-560" algn="ctr">
              <a:lnSpc>
                <a:spcPct val="101099"/>
              </a:lnSpc>
              <a:spcBef>
                <a:spcPts val="657"/>
              </a:spcBef>
            </a:pPr>
            <a:r>
              <a:rPr sz="1677" b="1" spc="-9" dirty="0">
                <a:latin typeface="Times New Roman"/>
                <a:cs typeface="Times New Roman"/>
              </a:rPr>
              <a:t>Execute </a:t>
            </a:r>
            <a:r>
              <a:rPr sz="1677" b="1" spc="-18" dirty="0">
                <a:latin typeface="Times New Roman"/>
                <a:cs typeface="Times New Roman"/>
              </a:rPr>
              <a:t>Addr.</a:t>
            </a:r>
            <a:r>
              <a:rPr sz="1677" b="1" spc="-66" dirty="0">
                <a:latin typeface="Times New Roman"/>
                <a:cs typeface="Times New Roman"/>
              </a:rPr>
              <a:t> </a:t>
            </a:r>
            <a:r>
              <a:rPr sz="1677" b="1" spc="-18" dirty="0">
                <a:latin typeface="Times New Roman"/>
                <a:cs typeface="Times New Roman"/>
              </a:rPr>
              <a:t>Calc</a:t>
            </a:r>
            <a:endParaRPr sz="1677">
              <a:latin typeface="Times New Roman"/>
              <a:cs typeface="Times New Roman"/>
            </a:endParaRPr>
          </a:p>
        </p:txBody>
      </p:sp>
      <p:sp>
        <p:nvSpPr>
          <p:cNvPr id="13" name="object 13"/>
          <p:cNvSpPr txBox="1"/>
          <p:nvPr/>
        </p:nvSpPr>
        <p:spPr>
          <a:xfrm>
            <a:off x="7568454" y="4113007"/>
            <a:ext cx="172010" cy="622637"/>
          </a:xfrm>
          <a:prstGeom prst="rect">
            <a:avLst/>
          </a:prstGeom>
        </p:spPr>
        <p:txBody>
          <a:bodyPr vert="horz" wrap="square" lIns="0" tIns="11206" rIns="0" bIns="0" rtlCol="0">
            <a:spAutoFit/>
          </a:bodyPr>
          <a:lstStyle/>
          <a:p>
            <a:pPr marL="11206" marR="4483" indent="23534" algn="just">
              <a:spcBef>
                <a:spcPts val="88"/>
              </a:spcBef>
            </a:pPr>
            <a:r>
              <a:rPr sz="1324" spc="-44" dirty="0">
                <a:latin typeface="Times New Roman"/>
                <a:cs typeface="Times New Roman"/>
              </a:rPr>
              <a:t>L M D</a:t>
            </a:r>
            <a:endParaRPr sz="1324">
              <a:latin typeface="Times New Roman"/>
              <a:cs typeface="Times New Roman"/>
            </a:endParaRPr>
          </a:p>
        </p:txBody>
      </p:sp>
      <p:grpSp>
        <p:nvGrpSpPr>
          <p:cNvPr id="14" name="object 14"/>
          <p:cNvGrpSpPr/>
          <p:nvPr/>
        </p:nvGrpSpPr>
        <p:grpSpPr>
          <a:xfrm>
            <a:off x="5647779" y="3557587"/>
            <a:ext cx="436469" cy="1057835"/>
            <a:chOff x="6248416" y="4031932"/>
            <a:chExt cx="494665" cy="1198880"/>
          </a:xfrm>
        </p:grpSpPr>
        <p:sp>
          <p:nvSpPr>
            <p:cNvPr id="15" name="object 15"/>
            <p:cNvSpPr/>
            <p:nvPr/>
          </p:nvSpPr>
          <p:spPr>
            <a:xfrm>
              <a:off x="6273816" y="4047172"/>
              <a:ext cx="454025" cy="1168400"/>
            </a:xfrm>
            <a:custGeom>
              <a:avLst/>
              <a:gdLst/>
              <a:ahLst/>
              <a:cxnLst/>
              <a:rect l="l" t="t" r="r" b="b"/>
              <a:pathLst>
                <a:path w="454025" h="1168400">
                  <a:moveTo>
                    <a:pt x="0" y="0"/>
                  </a:moveTo>
                  <a:lnTo>
                    <a:pt x="0" y="1168400"/>
                  </a:lnTo>
                  <a:lnTo>
                    <a:pt x="453815" y="876300"/>
                  </a:lnTo>
                  <a:lnTo>
                    <a:pt x="453815" y="292100"/>
                  </a:lnTo>
                  <a:lnTo>
                    <a:pt x="0" y="0"/>
                  </a:lnTo>
                  <a:close/>
                </a:path>
              </a:pathLst>
            </a:custGeom>
            <a:solidFill>
              <a:srgbClr val="618FFD"/>
            </a:solidFill>
          </p:spPr>
          <p:txBody>
            <a:bodyPr wrap="square" lIns="0" tIns="0" rIns="0" bIns="0" rtlCol="0"/>
            <a:lstStyle/>
            <a:p>
              <a:endParaRPr sz="1588"/>
            </a:p>
          </p:txBody>
        </p:sp>
        <p:sp>
          <p:nvSpPr>
            <p:cNvPr id="16" name="object 16"/>
            <p:cNvSpPr/>
            <p:nvPr/>
          </p:nvSpPr>
          <p:spPr>
            <a:xfrm>
              <a:off x="6273816" y="4047172"/>
              <a:ext cx="454025" cy="1168400"/>
            </a:xfrm>
            <a:custGeom>
              <a:avLst/>
              <a:gdLst/>
              <a:ahLst/>
              <a:cxnLst/>
              <a:rect l="l" t="t" r="r" b="b"/>
              <a:pathLst>
                <a:path w="454025" h="1168400">
                  <a:moveTo>
                    <a:pt x="0" y="1168399"/>
                  </a:moveTo>
                  <a:lnTo>
                    <a:pt x="453815" y="876299"/>
                  </a:lnTo>
                  <a:lnTo>
                    <a:pt x="453815" y="292100"/>
                  </a:lnTo>
                  <a:lnTo>
                    <a:pt x="0" y="0"/>
                  </a:lnTo>
                  <a:lnTo>
                    <a:pt x="0" y="1168399"/>
                  </a:lnTo>
                  <a:close/>
                </a:path>
              </a:pathLst>
            </a:custGeom>
            <a:ln w="30479">
              <a:solidFill>
                <a:srgbClr val="000000"/>
              </a:solidFill>
            </a:ln>
          </p:spPr>
          <p:txBody>
            <a:bodyPr wrap="square" lIns="0" tIns="0" rIns="0" bIns="0" rtlCol="0"/>
            <a:lstStyle/>
            <a:p>
              <a:endParaRPr sz="1588"/>
            </a:p>
          </p:txBody>
        </p:sp>
        <p:sp>
          <p:nvSpPr>
            <p:cNvPr id="17" name="object 17"/>
            <p:cNvSpPr/>
            <p:nvPr/>
          </p:nvSpPr>
          <p:spPr>
            <a:xfrm>
              <a:off x="6248416" y="4402273"/>
              <a:ext cx="218440" cy="353695"/>
            </a:xfrm>
            <a:custGeom>
              <a:avLst/>
              <a:gdLst/>
              <a:ahLst/>
              <a:cxnLst/>
              <a:rect l="l" t="t" r="r" b="b"/>
              <a:pathLst>
                <a:path w="218439" h="353695">
                  <a:moveTo>
                    <a:pt x="0" y="0"/>
                  </a:moveTo>
                  <a:lnTo>
                    <a:pt x="0" y="353670"/>
                  </a:lnTo>
                  <a:lnTo>
                    <a:pt x="218441" y="176834"/>
                  </a:lnTo>
                  <a:lnTo>
                    <a:pt x="0" y="0"/>
                  </a:lnTo>
                  <a:close/>
                </a:path>
              </a:pathLst>
            </a:custGeom>
            <a:solidFill>
              <a:srgbClr val="FFFFFF"/>
            </a:solidFill>
          </p:spPr>
          <p:txBody>
            <a:bodyPr wrap="square" lIns="0" tIns="0" rIns="0" bIns="0" rtlCol="0"/>
            <a:lstStyle/>
            <a:p>
              <a:endParaRPr sz="1588"/>
            </a:p>
          </p:txBody>
        </p:sp>
      </p:grpSp>
      <p:sp>
        <p:nvSpPr>
          <p:cNvPr id="18" name="object 18"/>
          <p:cNvSpPr txBox="1"/>
          <p:nvPr/>
        </p:nvSpPr>
        <p:spPr>
          <a:xfrm>
            <a:off x="5843548" y="3888441"/>
            <a:ext cx="218008" cy="424703"/>
          </a:xfrm>
          <a:prstGeom prst="rect">
            <a:avLst/>
          </a:prstGeom>
        </p:spPr>
        <p:txBody>
          <a:bodyPr vert="vert" wrap="square" lIns="0" tIns="0" rIns="0" bIns="0" rtlCol="0">
            <a:spAutoFit/>
          </a:bodyPr>
          <a:lstStyle/>
          <a:p>
            <a:pPr marL="11206">
              <a:lnSpc>
                <a:spcPts val="1725"/>
              </a:lnSpc>
            </a:pPr>
            <a:r>
              <a:rPr sz="1500" b="1" spc="-22" dirty="0">
                <a:latin typeface="Times New Roman"/>
                <a:cs typeface="Times New Roman"/>
              </a:rPr>
              <a:t>ALU</a:t>
            </a:r>
            <a:endParaRPr sz="1500">
              <a:latin typeface="Times New Roman"/>
              <a:cs typeface="Times New Roman"/>
            </a:endParaRPr>
          </a:p>
        </p:txBody>
      </p:sp>
      <p:grpSp>
        <p:nvGrpSpPr>
          <p:cNvPr id="19" name="object 19"/>
          <p:cNvGrpSpPr/>
          <p:nvPr/>
        </p:nvGrpSpPr>
        <p:grpSpPr>
          <a:xfrm>
            <a:off x="5652261" y="2360799"/>
            <a:ext cx="1425388" cy="1846729"/>
            <a:chOff x="6253496" y="2675572"/>
            <a:chExt cx="1615440" cy="2092960"/>
          </a:xfrm>
        </p:grpSpPr>
        <p:sp>
          <p:nvSpPr>
            <p:cNvPr id="20" name="object 20"/>
            <p:cNvSpPr/>
            <p:nvPr/>
          </p:nvSpPr>
          <p:spPr>
            <a:xfrm>
              <a:off x="6268736" y="4402273"/>
              <a:ext cx="194945" cy="351155"/>
            </a:xfrm>
            <a:custGeom>
              <a:avLst/>
              <a:gdLst/>
              <a:ahLst/>
              <a:cxnLst/>
              <a:rect l="l" t="t" r="r" b="b"/>
              <a:pathLst>
                <a:path w="194945" h="351154">
                  <a:moveTo>
                    <a:pt x="0" y="0"/>
                  </a:moveTo>
                  <a:lnTo>
                    <a:pt x="0" y="350805"/>
                  </a:lnTo>
                  <a:lnTo>
                    <a:pt x="194734" y="175403"/>
                  </a:lnTo>
                  <a:lnTo>
                    <a:pt x="0" y="0"/>
                  </a:lnTo>
                  <a:close/>
                </a:path>
              </a:pathLst>
            </a:custGeom>
            <a:solidFill>
              <a:srgbClr val="FFFFFF"/>
            </a:solidFill>
          </p:spPr>
          <p:txBody>
            <a:bodyPr wrap="square" lIns="0" tIns="0" rIns="0" bIns="0" rtlCol="0"/>
            <a:lstStyle/>
            <a:p>
              <a:endParaRPr sz="1588"/>
            </a:p>
          </p:txBody>
        </p:sp>
        <p:sp>
          <p:nvSpPr>
            <p:cNvPr id="21" name="object 21"/>
            <p:cNvSpPr/>
            <p:nvPr/>
          </p:nvSpPr>
          <p:spPr>
            <a:xfrm>
              <a:off x="6268736" y="4402273"/>
              <a:ext cx="194945" cy="351155"/>
            </a:xfrm>
            <a:custGeom>
              <a:avLst/>
              <a:gdLst/>
              <a:ahLst/>
              <a:cxnLst/>
              <a:rect l="l" t="t" r="r" b="b"/>
              <a:pathLst>
                <a:path w="194945" h="351154">
                  <a:moveTo>
                    <a:pt x="0" y="0"/>
                  </a:moveTo>
                  <a:lnTo>
                    <a:pt x="194733" y="175403"/>
                  </a:lnTo>
                  <a:lnTo>
                    <a:pt x="0" y="350806"/>
                  </a:lnTo>
                </a:path>
              </a:pathLst>
            </a:custGeom>
            <a:ln w="30479">
              <a:solidFill>
                <a:srgbClr val="000000"/>
              </a:solidFill>
            </a:ln>
          </p:spPr>
          <p:txBody>
            <a:bodyPr wrap="square" lIns="0" tIns="0" rIns="0" bIns="0" rtlCol="0"/>
            <a:lstStyle/>
            <a:p>
              <a:endParaRPr sz="1588"/>
            </a:p>
          </p:txBody>
        </p:sp>
        <p:sp>
          <p:nvSpPr>
            <p:cNvPr id="22" name="object 22"/>
            <p:cNvSpPr/>
            <p:nvPr/>
          </p:nvSpPr>
          <p:spPr>
            <a:xfrm>
              <a:off x="7630160" y="2690812"/>
              <a:ext cx="223520" cy="589280"/>
            </a:xfrm>
            <a:custGeom>
              <a:avLst/>
              <a:gdLst/>
              <a:ahLst/>
              <a:cxnLst/>
              <a:rect l="l" t="t" r="r" b="b"/>
              <a:pathLst>
                <a:path w="223520" h="589279">
                  <a:moveTo>
                    <a:pt x="111760" y="0"/>
                  </a:moveTo>
                  <a:lnTo>
                    <a:pt x="62610" y="29947"/>
                  </a:lnTo>
                  <a:lnTo>
                    <a:pt x="41859" y="64729"/>
                  </a:lnTo>
                  <a:lnTo>
                    <a:pt x="24552" y="110357"/>
                  </a:lnTo>
                  <a:lnTo>
                    <a:pt x="11359" y="165064"/>
                  </a:lnTo>
                  <a:lnTo>
                    <a:pt x="2951" y="227081"/>
                  </a:lnTo>
                  <a:lnTo>
                    <a:pt x="0" y="294639"/>
                  </a:lnTo>
                  <a:lnTo>
                    <a:pt x="2951" y="362198"/>
                  </a:lnTo>
                  <a:lnTo>
                    <a:pt x="11359" y="424215"/>
                  </a:lnTo>
                  <a:lnTo>
                    <a:pt x="24552" y="478922"/>
                  </a:lnTo>
                  <a:lnTo>
                    <a:pt x="41859" y="524550"/>
                  </a:lnTo>
                  <a:lnTo>
                    <a:pt x="62610" y="559332"/>
                  </a:lnTo>
                  <a:lnTo>
                    <a:pt x="111760" y="589279"/>
                  </a:lnTo>
                  <a:lnTo>
                    <a:pt x="137385" y="581498"/>
                  </a:lnTo>
                  <a:lnTo>
                    <a:pt x="181660" y="524550"/>
                  </a:lnTo>
                  <a:lnTo>
                    <a:pt x="198967" y="478922"/>
                  </a:lnTo>
                  <a:lnTo>
                    <a:pt x="212160" y="424215"/>
                  </a:lnTo>
                  <a:lnTo>
                    <a:pt x="220568" y="362198"/>
                  </a:lnTo>
                  <a:lnTo>
                    <a:pt x="223520" y="294639"/>
                  </a:lnTo>
                  <a:lnTo>
                    <a:pt x="220568" y="227081"/>
                  </a:lnTo>
                  <a:lnTo>
                    <a:pt x="212160" y="165064"/>
                  </a:lnTo>
                  <a:lnTo>
                    <a:pt x="198967" y="110357"/>
                  </a:lnTo>
                  <a:lnTo>
                    <a:pt x="181660" y="64729"/>
                  </a:lnTo>
                  <a:lnTo>
                    <a:pt x="160909" y="29947"/>
                  </a:lnTo>
                  <a:lnTo>
                    <a:pt x="111760" y="0"/>
                  </a:lnTo>
                  <a:close/>
                </a:path>
              </a:pathLst>
            </a:custGeom>
            <a:solidFill>
              <a:srgbClr val="07F707"/>
            </a:solidFill>
          </p:spPr>
          <p:txBody>
            <a:bodyPr wrap="square" lIns="0" tIns="0" rIns="0" bIns="0" rtlCol="0"/>
            <a:lstStyle/>
            <a:p>
              <a:endParaRPr sz="1588"/>
            </a:p>
          </p:txBody>
        </p:sp>
        <p:sp>
          <p:nvSpPr>
            <p:cNvPr id="23" name="object 23"/>
            <p:cNvSpPr/>
            <p:nvPr/>
          </p:nvSpPr>
          <p:spPr>
            <a:xfrm>
              <a:off x="7630160" y="2690812"/>
              <a:ext cx="223520" cy="589280"/>
            </a:xfrm>
            <a:custGeom>
              <a:avLst/>
              <a:gdLst/>
              <a:ahLst/>
              <a:cxnLst/>
              <a:rect l="l" t="t" r="r" b="b"/>
              <a:pathLst>
                <a:path w="223520" h="589279">
                  <a:moveTo>
                    <a:pt x="0" y="294639"/>
                  </a:moveTo>
                  <a:lnTo>
                    <a:pt x="2951" y="227081"/>
                  </a:lnTo>
                  <a:lnTo>
                    <a:pt x="11359" y="165064"/>
                  </a:lnTo>
                  <a:lnTo>
                    <a:pt x="24552" y="110357"/>
                  </a:lnTo>
                  <a:lnTo>
                    <a:pt x="41859" y="64729"/>
                  </a:lnTo>
                  <a:lnTo>
                    <a:pt x="62610" y="29947"/>
                  </a:lnTo>
                  <a:lnTo>
                    <a:pt x="111759" y="0"/>
                  </a:lnTo>
                  <a:lnTo>
                    <a:pt x="137385" y="7781"/>
                  </a:lnTo>
                  <a:lnTo>
                    <a:pt x="181660" y="64729"/>
                  </a:lnTo>
                  <a:lnTo>
                    <a:pt x="198967" y="110357"/>
                  </a:lnTo>
                  <a:lnTo>
                    <a:pt x="212160" y="165064"/>
                  </a:lnTo>
                  <a:lnTo>
                    <a:pt x="220568" y="227081"/>
                  </a:lnTo>
                  <a:lnTo>
                    <a:pt x="223519" y="294639"/>
                  </a:lnTo>
                  <a:lnTo>
                    <a:pt x="220568" y="362198"/>
                  </a:lnTo>
                  <a:lnTo>
                    <a:pt x="212160" y="424215"/>
                  </a:lnTo>
                  <a:lnTo>
                    <a:pt x="198967" y="478922"/>
                  </a:lnTo>
                  <a:lnTo>
                    <a:pt x="181660" y="524550"/>
                  </a:lnTo>
                  <a:lnTo>
                    <a:pt x="160909" y="559332"/>
                  </a:lnTo>
                  <a:lnTo>
                    <a:pt x="111759" y="589279"/>
                  </a:lnTo>
                  <a:lnTo>
                    <a:pt x="86134" y="581498"/>
                  </a:lnTo>
                  <a:lnTo>
                    <a:pt x="41859" y="524550"/>
                  </a:lnTo>
                  <a:lnTo>
                    <a:pt x="24552" y="478922"/>
                  </a:lnTo>
                  <a:lnTo>
                    <a:pt x="11359" y="424215"/>
                  </a:lnTo>
                  <a:lnTo>
                    <a:pt x="2951" y="362198"/>
                  </a:lnTo>
                  <a:lnTo>
                    <a:pt x="0" y="294639"/>
                  </a:lnTo>
                  <a:close/>
                </a:path>
              </a:pathLst>
            </a:custGeom>
            <a:ln w="30479">
              <a:solidFill>
                <a:srgbClr val="000000"/>
              </a:solidFill>
            </a:ln>
          </p:spPr>
          <p:txBody>
            <a:bodyPr wrap="square" lIns="0" tIns="0" rIns="0" bIns="0" rtlCol="0"/>
            <a:lstStyle/>
            <a:p>
              <a:endParaRPr sz="1588"/>
            </a:p>
          </p:txBody>
        </p:sp>
      </p:grpSp>
      <p:sp>
        <p:nvSpPr>
          <p:cNvPr id="24" name="object 24"/>
          <p:cNvSpPr txBox="1"/>
          <p:nvPr/>
        </p:nvSpPr>
        <p:spPr>
          <a:xfrm>
            <a:off x="6891873" y="2457675"/>
            <a:ext cx="166712" cy="358028"/>
          </a:xfrm>
          <a:prstGeom prst="rect">
            <a:avLst/>
          </a:prstGeom>
        </p:spPr>
        <p:txBody>
          <a:bodyPr vert="vert" wrap="square" lIns="0" tIns="0" rIns="0" bIns="0" rtlCol="0">
            <a:spAutoFit/>
          </a:bodyPr>
          <a:lstStyle/>
          <a:p>
            <a:pPr marL="11206">
              <a:lnSpc>
                <a:spcPts val="1341"/>
              </a:lnSpc>
            </a:pPr>
            <a:r>
              <a:rPr sz="1147" spc="-22" dirty="0">
                <a:latin typeface="Times New Roman"/>
                <a:cs typeface="Times New Roman"/>
              </a:rPr>
              <a:t>MUX</a:t>
            </a:r>
            <a:endParaRPr sz="1147">
              <a:latin typeface="Times New Roman"/>
              <a:cs typeface="Times New Roman"/>
            </a:endParaRPr>
          </a:p>
        </p:txBody>
      </p:sp>
      <p:grpSp>
        <p:nvGrpSpPr>
          <p:cNvPr id="25" name="object 25"/>
          <p:cNvGrpSpPr/>
          <p:nvPr/>
        </p:nvGrpSpPr>
        <p:grpSpPr>
          <a:xfrm>
            <a:off x="1849718" y="3579999"/>
            <a:ext cx="744071" cy="887506"/>
            <a:chOff x="1943947" y="4057332"/>
            <a:chExt cx="843280" cy="1005840"/>
          </a:xfrm>
        </p:grpSpPr>
        <p:sp>
          <p:nvSpPr>
            <p:cNvPr id="26" name="object 26"/>
            <p:cNvSpPr/>
            <p:nvPr/>
          </p:nvSpPr>
          <p:spPr>
            <a:xfrm>
              <a:off x="1959187" y="4072572"/>
              <a:ext cx="812800" cy="975360"/>
            </a:xfrm>
            <a:custGeom>
              <a:avLst/>
              <a:gdLst/>
              <a:ahLst/>
              <a:cxnLst/>
              <a:rect l="l" t="t" r="r" b="b"/>
              <a:pathLst>
                <a:path w="812800" h="975360">
                  <a:moveTo>
                    <a:pt x="812800" y="0"/>
                  </a:moveTo>
                  <a:lnTo>
                    <a:pt x="0" y="0"/>
                  </a:lnTo>
                  <a:lnTo>
                    <a:pt x="0" y="975359"/>
                  </a:lnTo>
                  <a:lnTo>
                    <a:pt x="812800" y="975359"/>
                  </a:lnTo>
                  <a:lnTo>
                    <a:pt x="812800" y="0"/>
                  </a:lnTo>
                  <a:close/>
                </a:path>
              </a:pathLst>
            </a:custGeom>
            <a:solidFill>
              <a:srgbClr val="618FFD"/>
            </a:solidFill>
          </p:spPr>
          <p:txBody>
            <a:bodyPr wrap="square" lIns="0" tIns="0" rIns="0" bIns="0" rtlCol="0"/>
            <a:lstStyle/>
            <a:p>
              <a:endParaRPr sz="1588"/>
            </a:p>
          </p:txBody>
        </p:sp>
        <p:sp>
          <p:nvSpPr>
            <p:cNvPr id="27" name="object 27"/>
            <p:cNvSpPr/>
            <p:nvPr/>
          </p:nvSpPr>
          <p:spPr>
            <a:xfrm>
              <a:off x="1959187" y="4072572"/>
              <a:ext cx="812800" cy="975360"/>
            </a:xfrm>
            <a:custGeom>
              <a:avLst/>
              <a:gdLst/>
              <a:ahLst/>
              <a:cxnLst/>
              <a:rect l="l" t="t" r="r" b="b"/>
              <a:pathLst>
                <a:path w="812800" h="975360">
                  <a:moveTo>
                    <a:pt x="0" y="0"/>
                  </a:moveTo>
                  <a:lnTo>
                    <a:pt x="812799" y="0"/>
                  </a:lnTo>
                  <a:lnTo>
                    <a:pt x="812799" y="975359"/>
                  </a:lnTo>
                  <a:lnTo>
                    <a:pt x="0" y="975359"/>
                  </a:lnTo>
                  <a:lnTo>
                    <a:pt x="0" y="0"/>
                  </a:lnTo>
                  <a:close/>
                </a:path>
              </a:pathLst>
            </a:custGeom>
            <a:ln w="30479">
              <a:solidFill>
                <a:srgbClr val="000000"/>
              </a:solidFill>
            </a:ln>
          </p:spPr>
          <p:txBody>
            <a:bodyPr wrap="square" lIns="0" tIns="0" rIns="0" bIns="0" rtlCol="0"/>
            <a:lstStyle/>
            <a:p>
              <a:endParaRPr sz="1588"/>
            </a:p>
          </p:txBody>
        </p:sp>
      </p:grpSp>
      <p:sp>
        <p:nvSpPr>
          <p:cNvPr id="28" name="object 28"/>
          <p:cNvSpPr txBox="1"/>
          <p:nvPr/>
        </p:nvSpPr>
        <p:spPr>
          <a:xfrm>
            <a:off x="2095880" y="3641016"/>
            <a:ext cx="243656" cy="762560"/>
          </a:xfrm>
          <a:prstGeom prst="rect">
            <a:avLst/>
          </a:prstGeom>
        </p:spPr>
        <p:txBody>
          <a:bodyPr vert="vert" wrap="square" lIns="0" tIns="0" rIns="0" bIns="0" rtlCol="0">
            <a:spAutoFit/>
          </a:bodyPr>
          <a:lstStyle/>
          <a:p>
            <a:pPr marL="11206">
              <a:lnSpc>
                <a:spcPts val="1919"/>
              </a:lnSpc>
            </a:pPr>
            <a:r>
              <a:rPr sz="1677" spc="-9" dirty="0">
                <a:latin typeface="Times New Roman"/>
                <a:cs typeface="Times New Roman"/>
              </a:rPr>
              <a:t>Memory</a:t>
            </a:r>
            <a:endParaRPr sz="1677">
              <a:latin typeface="Times New Roman"/>
              <a:cs typeface="Times New Roman"/>
            </a:endParaRPr>
          </a:p>
        </p:txBody>
      </p:sp>
      <p:grpSp>
        <p:nvGrpSpPr>
          <p:cNvPr id="29" name="object 29"/>
          <p:cNvGrpSpPr/>
          <p:nvPr/>
        </p:nvGrpSpPr>
        <p:grpSpPr>
          <a:xfrm>
            <a:off x="3947460" y="2891211"/>
            <a:ext cx="3069290" cy="1845608"/>
            <a:chOff x="4321387" y="3276705"/>
            <a:chExt cx="3478529" cy="2091689"/>
          </a:xfrm>
        </p:grpSpPr>
        <p:sp>
          <p:nvSpPr>
            <p:cNvPr id="30" name="object 30"/>
            <p:cNvSpPr/>
            <p:nvPr/>
          </p:nvSpPr>
          <p:spPr>
            <a:xfrm>
              <a:off x="6754707" y="3276705"/>
              <a:ext cx="1045210" cy="410209"/>
            </a:xfrm>
            <a:custGeom>
              <a:avLst/>
              <a:gdLst/>
              <a:ahLst/>
              <a:cxnLst/>
              <a:rect l="l" t="t" r="r" b="b"/>
              <a:pathLst>
                <a:path w="1045209" h="410210">
                  <a:moveTo>
                    <a:pt x="963505" y="369147"/>
                  </a:moveTo>
                  <a:lnTo>
                    <a:pt x="0" y="369147"/>
                  </a:lnTo>
                  <a:lnTo>
                    <a:pt x="0" y="409787"/>
                  </a:lnTo>
                  <a:lnTo>
                    <a:pt x="983825" y="409787"/>
                  </a:lnTo>
                  <a:lnTo>
                    <a:pt x="991735" y="408190"/>
                  </a:lnTo>
                  <a:lnTo>
                    <a:pt x="998194" y="403835"/>
                  </a:lnTo>
                  <a:lnTo>
                    <a:pt x="1002549" y="397376"/>
                  </a:lnTo>
                  <a:lnTo>
                    <a:pt x="1004145" y="389467"/>
                  </a:lnTo>
                  <a:lnTo>
                    <a:pt x="963505" y="389467"/>
                  </a:lnTo>
                  <a:lnTo>
                    <a:pt x="963505" y="369147"/>
                  </a:lnTo>
                  <a:close/>
                </a:path>
                <a:path w="1045209" h="410210">
                  <a:moveTo>
                    <a:pt x="1004145" y="101600"/>
                  </a:moveTo>
                  <a:lnTo>
                    <a:pt x="963505" y="101600"/>
                  </a:lnTo>
                  <a:lnTo>
                    <a:pt x="963505" y="389467"/>
                  </a:lnTo>
                  <a:lnTo>
                    <a:pt x="983825" y="369147"/>
                  </a:lnTo>
                  <a:lnTo>
                    <a:pt x="1004145" y="369147"/>
                  </a:lnTo>
                  <a:lnTo>
                    <a:pt x="1004145" y="101600"/>
                  </a:lnTo>
                  <a:close/>
                </a:path>
                <a:path w="1045209" h="410210">
                  <a:moveTo>
                    <a:pt x="1004145" y="369147"/>
                  </a:moveTo>
                  <a:lnTo>
                    <a:pt x="983825" y="369147"/>
                  </a:lnTo>
                  <a:lnTo>
                    <a:pt x="963505" y="389467"/>
                  </a:lnTo>
                  <a:lnTo>
                    <a:pt x="1004145" y="389467"/>
                  </a:lnTo>
                  <a:lnTo>
                    <a:pt x="1004145" y="369147"/>
                  </a:lnTo>
                  <a:close/>
                </a:path>
                <a:path w="1045209" h="410210">
                  <a:moveTo>
                    <a:pt x="983825" y="0"/>
                  </a:moveTo>
                  <a:lnTo>
                    <a:pt x="922865" y="121919"/>
                  </a:lnTo>
                  <a:lnTo>
                    <a:pt x="963505" y="121919"/>
                  </a:lnTo>
                  <a:lnTo>
                    <a:pt x="963505" y="101600"/>
                  </a:lnTo>
                  <a:lnTo>
                    <a:pt x="1034625" y="101600"/>
                  </a:lnTo>
                  <a:lnTo>
                    <a:pt x="983825" y="0"/>
                  </a:lnTo>
                  <a:close/>
                </a:path>
                <a:path w="1045209" h="410210">
                  <a:moveTo>
                    <a:pt x="1034625" y="101600"/>
                  </a:moveTo>
                  <a:lnTo>
                    <a:pt x="1004145" y="101600"/>
                  </a:lnTo>
                  <a:lnTo>
                    <a:pt x="1004145" y="121919"/>
                  </a:lnTo>
                  <a:lnTo>
                    <a:pt x="1044785" y="121919"/>
                  </a:lnTo>
                  <a:lnTo>
                    <a:pt x="1034625" y="101600"/>
                  </a:lnTo>
                  <a:close/>
                </a:path>
              </a:pathLst>
            </a:custGeom>
            <a:solidFill>
              <a:srgbClr val="000000"/>
            </a:solidFill>
          </p:spPr>
          <p:txBody>
            <a:bodyPr wrap="square" lIns="0" tIns="0" rIns="0" bIns="0" rtlCol="0"/>
            <a:lstStyle/>
            <a:p>
              <a:endParaRPr sz="1588"/>
            </a:p>
          </p:txBody>
        </p:sp>
        <p:sp>
          <p:nvSpPr>
            <p:cNvPr id="31" name="object 31"/>
            <p:cNvSpPr/>
            <p:nvPr/>
          </p:nvSpPr>
          <p:spPr>
            <a:xfrm>
              <a:off x="4336627" y="3777932"/>
              <a:ext cx="629920" cy="1574800"/>
            </a:xfrm>
            <a:custGeom>
              <a:avLst/>
              <a:gdLst/>
              <a:ahLst/>
              <a:cxnLst/>
              <a:rect l="l" t="t" r="r" b="b"/>
              <a:pathLst>
                <a:path w="629920" h="1574800">
                  <a:moveTo>
                    <a:pt x="629920" y="0"/>
                  </a:moveTo>
                  <a:lnTo>
                    <a:pt x="0" y="0"/>
                  </a:lnTo>
                  <a:lnTo>
                    <a:pt x="0" y="1574799"/>
                  </a:lnTo>
                  <a:lnTo>
                    <a:pt x="629920" y="1574799"/>
                  </a:lnTo>
                  <a:lnTo>
                    <a:pt x="629920" y="0"/>
                  </a:lnTo>
                  <a:close/>
                </a:path>
              </a:pathLst>
            </a:custGeom>
            <a:solidFill>
              <a:srgbClr val="618FFD"/>
            </a:solidFill>
          </p:spPr>
          <p:txBody>
            <a:bodyPr wrap="square" lIns="0" tIns="0" rIns="0" bIns="0" rtlCol="0"/>
            <a:lstStyle/>
            <a:p>
              <a:endParaRPr sz="1588"/>
            </a:p>
          </p:txBody>
        </p:sp>
        <p:sp>
          <p:nvSpPr>
            <p:cNvPr id="32" name="object 32"/>
            <p:cNvSpPr/>
            <p:nvPr/>
          </p:nvSpPr>
          <p:spPr>
            <a:xfrm>
              <a:off x="4336627" y="3777932"/>
              <a:ext cx="629920" cy="1574800"/>
            </a:xfrm>
            <a:custGeom>
              <a:avLst/>
              <a:gdLst/>
              <a:ahLst/>
              <a:cxnLst/>
              <a:rect l="l" t="t" r="r" b="b"/>
              <a:pathLst>
                <a:path w="629920" h="1574800">
                  <a:moveTo>
                    <a:pt x="0" y="0"/>
                  </a:moveTo>
                  <a:lnTo>
                    <a:pt x="629919" y="0"/>
                  </a:lnTo>
                  <a:lnTo>
                    <a:pt x="629919" y="1574799"/>
                  </a:lnTo>
                  <a:lnTo>
                    <a:pt x="0" y="1574799"/>
                  </a:lnTo>
                  <a:lnTo>
                    <a:pt x="0" y="0"/>
                  </a:lnTo>
                  <a:close/>
                </a:path>
              </a:pathLst>
            </a:custGeom>
            <a:ln w="30479">
              <a:solidFill>
                <a:srgbClr val="000000"/>
              </a:solidFill>
            </a:ln>
          </p:spPr>
          <p:txBody>
            <a:bodyPr wrap="square" lIns="0" tIns="0" rIns="0" bIns="0" rtlCol="0"/>
            <a:lstStyle/>
            <a:p>
              <a:endParaRPr sz="1588"/>
            </a:p>
          </p:txBody>
        </p:sp>
      </p:grpSp>
      <p:sp>
        <p:nvSpPr>
          <p:cNvPr id="33" name="object 33"/>
          <p:cNvSpPr txBox="1"/>
          <p:nvPr/>
        </p:nvSpPr>
        <p:spPr>
          <a:xfrm>
            <a:off x="4112939" y="3649084"/>
            <a:ext cx="243656" cy="756957"/>
          </a:xfrm>
          <a:prstGeom prst="rect">
            <a:avLst/>
          </a:prstGeom>
        </p:spPr>
        <p:txBody>
          <a:bodyPr vert="vert" wrap="square" lIns="0" tIns="0" rIns="0" bIns="0" rtlCol="0">
            <a:spAutoFit/>
          </a:bodyPr>
          <a:lstStyle/>
          <a:p>
            <a:pPr marL="11206">
              <a:lnSpc>
                <a:spcPts val="1919"/>
              </a:lnSpc>
            </a:pPr>
            <a:r>
              <a:rPr sz="1677" dirty="0">
                <a:latin typeface="Times New Roman"/>
                <a:cs typeface="Times New Roman"/>
              </a:rPr>
              <a:t>Reg</a:t>
            </a:r>
            <a:r>
              <a:rPr sz="1677" spc="26" dirty="0">
                <a:latin typeface="Times New Roman"/>
                <a:cs typeface="Times New Roman"/>
              </a:rPr>
              <a:t> </a:t>
            </a:r>
            <a:r>
              <a:rPr sz="1677" spc="-18" dirty="0">
                <a:latin typeface="Times New Roman"/>
                <a:cs typeface="Times New Roman"/>
              </a:rPr>
              <a:t>File</a:t>
            </a:r>
            <a:endParaRPr sz="1677">
              <a:latin typeface="Times New Roman"/>
              <a:cs typeface="Times New Roman"/>
            </a:endParaRPr>
          </a:p>
        </p:txBody>
      </p:sp>
      <p:grpSp>
        <p:nvGrpSpPr>
          <p:cNvPr id="34" name="object 34"/>
          <p:cNvGrpSpPr/>
          <p:nvPr/>
        </p:nvGrpSpPr>
        <p:grpSpPr>
          <a:xfrm>
            <a:off x="5220447" y="3508281"/>
            <a:ext cx="224118" cy="546847"/>
            <a:chOff x="5764107" y="3976052"/>
            <a:chExt cx="254000" cy="619760"/>
          </a:xfrm>
        </p:grpSpPr>
        <p:sp>
          <p:nvSpPr>
            <p:cNvPr id="35" name="object 35"/>
            <p:cNvSpPr/>
            <p:nvPr/>
          </p:nvSpPr>
          <p:spPr>
            <a:xfrm>
              <a:off x="5779347" y="3991292"/>
              <a:ext cx="223520" cy="589280"/>
            </a:xfrm>
            <a:custGeom>
              <a:avLst/>
              <a:gdLst/>
              <a:ahLst/>
              <a:cxnLst/>
              <a:rect l="l" t="t" r="r" b="b"/>
              <a:pathLst>
                <a:path w="223520" h="589279">
                  <a:moveTo>
                    <a:pt x="111759" y="0"/>
                  </a:moveTo>
                  <a:lnTo>
                    <a:pt x="62610" y="29947"/>
                  </a:lnTo>
                  <a:lnTo>
                    <a:pt x="41859" y="64729"/>
                  </a:lnTo>
                  <a:lnTo>
                    <a:pt x="24552" y="110357"/>
                  </a:lnTo>
                  <a:lnTo>
                    <a:pt x="11359" y="165064"/>
                  </a:lnTo>
                  <a:lnTo>
                    <a:pt x="2951" y="227081"/>
                  </a:lnTo>
                  <a:lnTo>
                    <a:pt x="0" y="294640"/>
                  </a:lnTo>
                  <a:lnTo>
                    <a:pt x="2951" y="362198"/>
                  </a:lnTo>
                  <a:lnTo>
                    <a:pt x="11359" y="424215"/>
                  </a:lnTo>
                  <a:lnTo>
                    <a:pt x="24552" y="478922"/>
                  </a:lnTo>
                  <a:lnTo>
                    <a:pt x="41859" y="524550"/>
                  </a:lnTo>
                  <a:lnTo>
                    <a:pt x="62610" y="559332"/>
                  </a:lnTo>
                  <a:lnTo>
                    <a:pt x="111759" y="589280"/>
                  </a:lnTo>
                  <a:lnTo>
                    <a:pt x="137385" y="581498"/>
                  </a:lnTo>
                  <a:lnTo>
                    <a:pt x="181660" y="524550"/>
                  </a:lnTo>
                  <a:lnTo>
                    <a:pt x="198967" y="478922"/>
                  </a:lnTo>
                  <a:lnTo>
                    <a:pt x="212160" y="424215"/>
                  </a:lnTo>
                  <a:lnTo>
                    <a:pt x="220568" y="362198"/>
                  </a:lnTo>
                  <a:lnTo>
                    <a:pt x="223519" y="294640"/>
                  </a:lnTo>
                  <a:lnTo>
                    <a:pt x="220568" y="227081"/>
                  </a:lnTo>
                  <a:lnTo>
                    <a:pt x="212160" y="165064"/>
                  </a:lnTo>
                  <a:lnTo>
                    <a:pt x="198967" y="110357"/>
                  </a:lnTo>
                  <a:lnTo>
                    <a:pt x="181660" y="64729"/>
                  </a:lnTo>
                  <a:lnTo>
                    <a:pt x="160909" y="29947"/>
                  </a:lnTo>
                  <a:lnTo>
                    <a:pt x="111759" y="0"/>
                  </a:lnTo>
                  <a:close/>
                </a:path>
              </a:pathLst>
            </a:custGeom>
            <a:solidFill>
              <a:srgbClr val="618FFD"/>
            </a:solidFill>
          </p:spPr>
          <p:txBody>
            <a:bodyPr wrap="square" lIns="0" tIns="0" rIns="0" bIns="0" rtlCol="0"/>
            <a:lstStyle/>
            <a:p>
              <a:endParaRPr sz="1588"/>
            </a:p>
          </p:txBody>
        </p:sp>
        <p:sp>
          <p:nvSpPr>
            <p:cNvPr id="36" name="object 36"/>
            <p:cNvSpPr/>
            <p:nvPr/>
          </p:nvSpPr>
          <p:spPr>
            <a:xfrm>
              <a:off x="5779347" y="3991292"/>
              <a:ext cx="223520" cy="589280"/>
            </a:xfrm>
            <a:custGeom>
              <a:avLst/>
              <a:gdLst/>
              <a:ahLst/>
              <a:cxnLst/>
              <a:rect l="l" t="t" r="r" b="b"/>
              <a:pathLst>
                <a:path w="223520" h="589279">
                  <a:moveTo>
                    <a:pt x="0" y="294639"/>
                  </a:moveTo>
                  <a:lnTo>
                    <a:pt x="2951" y="227081"/>
                  </a:lnTo>
                  <a:lnTo>
                    <a:pt x="11359" y="165064"/>
                  </a:lnTo>
                  <a:lnTo>
                    <a:pt x="24552" y="110357"/>
                  </a:lnTo>
                  <a:lnTo>
                    <a:pt x="41859" y="64729"/>
                  </a:lnTo>
                  <a:lnTo>
                    <a:pt x="62610" y="29947"/>
                  </a:lnTo>
                  <a:lnTo>
                    <a:pt x="111759" y="0"/>
                  </a:lnTo>
                  <a:lnTo>
                    <a:pt x="137385" y="7781"/>
                  </a:lnTo>
                  <a:lnTo>
                    <a:pt x="181660" y="64729"/>
                  </a:lnTo>
                  <a:lnTo>
                    <a:pt x="198967" y="110357"/>
                  </a:lnTo>
                  <a:lnTo>
                    <a:pt x="212160" y="165064"/>
                  </a:lnTo>
                  <a:lnTo>
                    <a:pt x="220568" y="227081"/>
                  </a:lnTo>
                  <a:lnTo>
                    <a:pt x="223519" y="294639"/>
                  </a:lnTo>
                  <a:lnTo>
                    <a:pt x="220568" y="362198"/>
                  </a:lnTo>
                  <a:lnTo>
                    <a:pt x="212160" y="424215"/>
                  </a:lnTo>
                  <a:lnTo>
                    <a:pt x="198967" y="478922"/>
                  </a:lnTo>
                  <a:lnTo>
                    <a:pt x="181660" y="524550"/>
                  </a:lnTo>
                  <a:lnTo>
                    <a:pt x="160909" y="559332"/>
                  </a:lnTo>
                  <a:lnTo>
                    <a:pt x="111759" y="589279"/>
                  </a:lnTo>
                  <a:lnTo>
                    <a:pt x="86134" y="581498"/>
                  </a:lnTo>
                  <a:lnTo>
                    <a:pt x="41859" y="524550"/>
                  </a:lnTo>
                  <a:lnTo>
                    <a:pt x="24552" y="478922"/>
                  </a:lnTo>
                  <a:lnTo>
                    <a:pt x="11359" y="424215"/>
                  </a:lnTo>
                  <a:lnTo>
                    <a:pt x="2951" y="362198"/>
                  </a:lnTo>
                  <a:lnTo>
                    <a:pt x="0" y="294639"/>
                  </a:lnTo>
                  <a:close/>
                </a:path>
              </a:pathLst>
            </a:custGeom>
            <a:ln w="30479">
              <a:solidFill>
                <a:srgbClr val="000000"/>
              </a:solidFill>
            </a:ln>
          </p:spPr>
          <p:txBody>
            <a:bodyPr wrap="square" lIns="0" tIns="0" rIns="0" bIns="0" rtlCol="0"/>
            <a:lstStyle/>
            <a:p>
              <a:endParaRPr sz="1588"/>
            </a:p>
          </p:txBody>
        </p:sp>
      </p:grpSp>
      <p:sp>
        <p:nvSpPr>
          <p:cNvPr id="37" name="object 37"/>
          <p:cNvSpPr txBox="1"/>
          <p:nvPr/>
        </p:nvSpPr>
        <p:spPr>
          <a:xfrm>
            <a:off x="5258802" y="3603363"/>
            <a:ext cx="166712" cy="358028"/>
          </a:xfrm>
          <a:prstGeom prst="rect">
            <a:avLst/>
          </a:prstGeom>
        </p:spPr>
        <p:txBody>
          <a:bodyPr vert="vert" wrap="square" lIns="0" tIns="0" rIns="0" bIns="0" rtlCol="0">
            <a:spAutoFit/>
          </a:bodyPr>
          <a:lstStyle/>
          <a:p>
            <a:pPr marL="11206">
              <a:lnSpc>
                <a:spcPts val="1341"/>
              </a:lnSpc>
            </a:pPr>
            <a:r>
              <a:rPr sz="1147" spc="-22" dirty="0">
                <a:latin typeface="Times New Roman"/>
                <a:cs typeface="Times New Roman"/>
              </a:rPr>
              <a:t>MUX</a:t>
            </a:r>
            <a:endParaRPr sz="1147">
              <a:latin typeface="Times New Roman"/>
              <a:cs typeface="Times New Roman"/>
            </a:endParaRPr>
          </a:p>
        </p:txBody>
      </p:sp>
      <p:grpSp>
        <p:nvGrpSpPr>
          <p:cNvPr id="38" name="object 38"/>
          <p:cNvGrpSpPr/>
          <p:nvPr/>
        </p:nvGrpSpPr>
        <p:grpSpPr>
          <a:xfrm>
            <a:off x="5220447" y="4082022"/>
            <a:ext cx="224118" cy="546847"/>
            <a:chOff x="5764107" y="4626292"/>
            <a:chExt cx="254000" cy="619760"/>
          </a:xfrm>
        </p:grpSpPr>
        <p:sp>
          <p:nvSpPr>
            <p:cNvPr id="39" name="object 39"/>
            <p:cNvSpPr/>
            <p:nvPr/>
          </p:nvSpPr>
          <p:spPr>
            <a:xfrm>
              <a:off x="5779347" y="4641532"/>
              <a:ext cx="223520" cy="589280"/>
            </a:xfrm>
            <a:custGeom>
              <a:avLst/>
              <a:gdLst/>
              <a:ahLst/>
              <a:cxnLst/>
              <a:rect l="l" t="t" r="r" b="b"/>
              <a:pathLst>
                <a:path w="223520" h="589279">
                  <a:moveTo>
                    <a:pt x="111759" y="0"/>
                  </a:moveTo>
                  <a:lnTo>
                    <a:pt x="62610" y="29947"/>
                  </a:lnTo>
                  <a:lnTo>
                    <a:pt x="41859" y="64729"/>
                  </a:lnTo>
                  <a:lnTo>
                    <a:pt x="24552" y="110357"/>
                  </a:lnTo>
                  <a:lnTo>
                    <a:pt x="11359" y="165064"/>
                  </a:lnTo>
                  <a:lnTo>
                    <a:pt x="2951" y="227081"/>
                  </a:lnTo>
                  <a:lnTo>
                    <a:pt x="0" y="294639"/>
                  </a:lnTo>
                  <a:lnTo>
                    <a:pt x="2951" y="362198"/>
                  </a:lnTo>
                  <a:lnTo>
                    <a:pt x="11359" y="424215"/>
                  </a:lnTo>
                  <a:lnTo>
                    <a:pt x="24552" y="478922"/>
                  </a:lnTo>
                  <a:lnTo>
                    <a:pt x="41859" y="524550"/>
                  </a:lnTo>
                  <a:lnTo>
                    <a:pt x="62610" y="559332"/>
                  </a:lnTo>
                  <a:lnTo>
                    <a:pt x="111759" y="589279"/>
                  </a:lnTo>
                  <a:lnTo>
                    <a:pt x="137385" y="581498"/>
                  </a:lnTo>
                  <a:lnTo>
                    <a:pt x="181660" y="524550"/>
                  </a:lnTo>
                  <a:lnTo>
                    <a:pt x="198967" y="478922"/>
                  </a:lnTo>
                  <a:lnTo>
                    <a:pt x="212160" y="424215"/>
                  </a:lnTo>
                  <a:lnTo>
                    <a:pt x="220568" y="362198"/>
                  </a:lnTo>
                  <a:lnTo>
                    <a:pt x="223519" y="294639"/>
                  </a:lnTo>
                  <a:lnTo>
                    <a:pt x="220568" y="227081"/>
                  </a:lnTo>
                  <a:lnTo>
                    <a:pt x="212160" y="165064"/>
                  </a:lnTo>
                  <a:lnTo>
                    <a:pt x="198967" y="110357"/>
                  </a:lnTo>
                  <a:lnTo>
                    <a:pt x="181660" y="64729"/>
                  </a:lnTo>
                  <a:lnTo>
                    <a:pt x="160909" y="29947"/>
                  </a:lnTo>
                  <a:lnTo>
                    <a:pt x="111759" y="0"/>
                  </a:lnTo>
                  <a:close/>
                </a:path>
              </a:pathLst>
            </a:custGeom>
            <a:solidFill>
              <a:srgbClr val="618FFD"/>
            </a:solidFill>
          </p:spPr>
          <p:txBody>
            <a:bodyPr wrap="square" lIns="0" tIns="0" rIns="0" bIns="0" rtlCol="0"/>
            <a:lstStyle/>
            <a:p>
              <a:endParaRPr sz="1588"/>
            </a:p>
          </p:txBody>
        </p:sp>
        <p:sp>
          <p:nvSpPr>
            <p:cNvPr id="40" name="object 40"/>
            <p:cNvSpPr/>
            <p:nvPr/>
          </p:nvSpPr>
          <p:spPr>
            <a:xfrm>
              <a:off x="5779347" y="4641532"/>
              <a:ext cx="223520" cy="589280"/>
            </a:xfrm>
            <a:custGeom>
              <a:avLst/>
              <a:gdLst/>
              <a:ahLst/>
              <a:cxnLst/>
              <a:rect l="l" t="t" r="r" b="b"/>
              <a:pathLst>
                <a:path w="223520" h="589279">
                  <a:moveTo>
                    <a:pt x="0" y="294639"/>
                  </a:moveTo>
                  <a:lnTo>
                    <a:pt x="2951" y="227081"/>
                  </a:lnTo>
                  <a:lnTo>
                    <a:pt x="11359" y="165064"/>
                  </a:lnTo>
                  <a:lnTo>
                    <a:pt x="24552" y="110357"/>
                  </a:lnTo>
                  <a:lnTo>
                    <a:pt x="41859" y="64729"/>
                  </a:lnTo>
                  <a:lnTo>
                    <a:pt x="62610" y="29947"/>
                  </a:lnTo>
                  <a:lnTo>
                    <a:pt x="111759" y="0"/>
                  </a:lnTo>
                  <a:lnTo>
                    <a:pt x="137385" y="7781"/>
                  </a:lnTo>
                  <a:lnTo>
                    <a:pt x="181660" y="64729"/>
                  </a:lnTo>
                  <a:lnTo>
                    <a:pt x="198967" y="110357"/>
                  </a:lnTo>
                  <a:lnTo>
                    <a:pt x="212160" y="165064"/>
                  </a:lnTo>
                  <a:lnTo>
                    <a:pt x="220568" y="227081"/>
                  </a:lnTo>
                  <a:lnTo>
                    <a:pt x="223519" y="294639"/>
                  </a:lnTo>
                  <a:lnTo>
                    <a:pt x="220568" y="362198"/>
                  </a:lnTo>
                  <a:lnTo>
                    <a:pt x="212160" y="424215"/>
                  </a:lnTo>
                  <a:lnTo>
                    <a:pt x="198967" y="478922"/>
                  </a:lnTo>
                  <a:lnTo>
                    <a:pt x="181660" y="524550"/>
                  </a:lnTo>
                  <a:lnTo>
                    <a:pt x="160909" y="559332"/>
                  </a:lnTo>
                  <a:lnTo>
                    <a:pt x="111759" y="589279"/>
                  </a:lnTo>
                  <a:lnTo>
                    <a:pt x="86134" y="581498"/>
                  </a:lnTo>
                  <a:lnTo>
                    <a:pt x="41859" y="524550"/>
                  </a:lnTo>
                  <a:lnTo>
                    <a:pt x="24552" y="478922"/>
                  </a:lnTo>
                  <a:lnTo>
                    <a:pt x="11359" y="424215"/>
                  </a:lnTo>
                  <a:lnTo>
                    <a:pt x="2951" y="362198"/>
                  </a:lnTo>
                  <a:lnTo>
                    <a:pt x="0" y="294639"/>
                  </a:lnTo>
                  <a:close/>
                </a:path>
              </a:pathLst>
            </a:custGeom>
            <a:ln w="30479">
              <a:solidFill>
                <a:srgbClr val="000000"/>
              </a:solidFill>
            </a:ln>
          </p:spPr>
          <p:txBody>
            <a:bodyPr wrap="square" lIns="0" tIns="0" rIns="0" bIns="0" rtlCol="0"/>
            <a:lstStyle/>
            <a:p>
              <a:endParaRPr sz="1588"/>
            </a:p>
          </p:txBody>
        </p:sp>
      </p:grpSp>
      <p:sp>
        <p:nvSpPr>
          <p:cNvPr id="41" name="object 41"/>
          <p:cNvSpPr txBox="1"/>
          <p:nvPr/>
        </p:nvSpPr>
        <p:spPr>
          <a:xfrm>
            <a:off x="5258802" y="4178898"/>
            <a:ext cx="166712" cy="358028"/>
          </a:xfrm>
          <a:prstGeom prst="rect">
            <a:avLst/>
          </a:prstGeom>
        </p:spPr>
        <p:txBody>
          <a:bodyPr vert="vert" wrap="square" lIns="0" tIns="0" rIns="0" bIns="0" rtlCol="0">
            <a:spAutoFit/>
          </a:bodyPr>
          <a:lstStyle/>
          <a:p>
            <a:pPr marL="11206">
              <a:lnSpc>
                <a:spcPts val="1341"/>
              </a:lnSpc>
            </a:pPr>
            <a:r>
              <a:rPr sz="1147" spc="-22" dirty="0">
                <a:latin typeface="Times New Roman"/>
                <a:cs typeface="Times New Roman"/>
              </a:rPr>
              <a:t>MUX</a:t>
            </a:r>
            <a:endParaRPr sz="1147">
              <a:latin typeface="Times New Roman"/>
              <a:cs typeface="Times New Roman"/>
            </a:endParaRPr>
          </a:p>
        </p:txBody>
      </p:sp>
      <p:grpSp>
        <p:nvGrpSpPr>
          <p:cNvPr id="42" name="object 42"/>
          <p:cNvGrpSpPr/>
          <p:nvPr/>
        </p:nvGrpSpPr>
        <p:grpSpPr>
          <a:xfrm>
            <a:off x="4984376" y="3158657"/>
            <a:ext cx="2486585" cy="1810871"/>
            <a:chOff x="5496559" y="3579811"/>
            <a:chExt cx="2818130" cy="2052320"/>
          </a:xfrm>
        </p:grpSpPr>
        <p:sp>
          <p:nvSpPr>
            <p:cNvPr id="43" name="object 43"/>
            <p:cNvSpPr/>
            <p:nvPr/>
          </p:nvSpPr>
          <p:spPr>
            <a:xfrm>
              <a:off x="5496559" y="3579811"/>
              <a:ext cx="740410" cy="792480"/>
            </a:xfrm>
            <a:custGeom>
              <a:avLst/>
              <a:gdLst/>
              <a:ahLst/>
              <a:cxnLst/>
              <a:rect l="l" t="t" r="r" b="b"/>
              <a:pathLst>
                <a:path w="740410" h="792479">
                  <a:moveTo>
                    <a:pt x="618067" y="40639"/>
                  </a:moveTo>
                  <a:lnTo>
                    <a:pt x="20319" y="40639"/>
                  </a:lnTo>
                  <a:lnTo>
                    <a:pt x="12410" y="42236"/>
                  </a:lnTo>
                  <a:lnTo>
                    <a:pt x="5951" y="46591"/>
                  </a:lnTo>
                  <a:lnTo>
                    <a:pt x="1596" y="53050"/>
                  </a:lnTo>
                  <a:lnTo>
                    <a:pt x="0" y="60959"/>
                  </a:lnTo>
                  <a:lnTo>
                    <a:pt x="0" y="792479"/>
                  </a:lnTo>
                  <a:lnTo>
                    <a:pt x="40639" y="792479"/>
                  </a:lnTo>
                  <a:lnTo>
                    <a:pt x="40639" y="81279"/>
                  </a:lnTo>
                  <a:lnTo>
                    <a:pt x="20319" y="81279"/>
                  </a:lnTo>
                  <a:lnTo>
                    <a:pt x="40639" y="60959"/>
                  </a:lnTo>
                  <a:lnTo>
                    <a:pt x="618067" y="60959"/>
                  </a:lnTo>
                  <a:lnTo>
                    <a:pt x="618067" y="40639"/>
                  </a:lnTo>
                  <a:close/>
                </a:path>
                <a:path w="740410" h="792479">
                  <a:moveTo>
                    <a:pt x="618067" y="0"/>
                  </a:moveTo>
                  <a:lnTo>
                    <a:pt x="618067" y="121919"/>
                  </a:lnTo>
                  <a:lnTo>
                    <a:pt x="699347" y="81279"/>
                  </a:lnTo>
                  <a:lnTo>
                    <a:pt x="638387" y="81279"/>
                  </a:lnTo>
                  <a:lnTo>
                    <a:pt x="638387" y="40639"/>
                  </a:lnTo>
                  <a:lnTo>
                    <a:pt x="699347" y="40639"/>
                  </a:lnTo>
                  <a:lnTo>
                    <a:pt x="618067" y="0"/>
                  </a:lnTo>
                  <a:close/>
                </a:path>
                <a:path w="740410" h="792479">
                  <a:moveTo>
                    <a:pt x="40639" y="60959"/>
                  </a:moveTo>
                  <a:lnTo>
                    <a:pt x="20319" y="81279"/>
                  </a:lnTo>
                  <a:lnTo>
                    <a:pt x="40639" y="81279"/>
                  </a:lnTo>
                  <a:lnTo>
                    <a:pt x="40639" y="60959"/>
                  </a:lnTo>
                  <a:close/>
                </a:path>
                <a:path w="740410" h="792479">
                  <a:moveTo>
                    <a:pt x="618067" y="60959"/>
                  </a:moveTo>
                  <a:lnTo>
                    <a:pt x="40639" y="60959"/>
                  </a:lnTo>
                  <a:lnTo>
                    <a:pt x="40639" y="81279"/>
                  </a:lnTo>
                  <a:lnTo>
                    <a:pt x="618067" y="81279"/>
                  </a:lnTo>
                  <a:lnTo>
                    <a:pt x="618067" y="60959"/>
                  </a:lnTo>
                  <a:close/>
                </a:path>
                <a:path w="740410" h="792479">
                  <a:moveTo>
                    <a:pt x="699347" y="40639"/>
                  </a:moveTo>
                  <a:lnTo>
                    <a:pt x="638387" y="40639"/>
                  </a:lnTo>
                  <a:lnTo>
                    <a:pt x="638387" y="81279"/>
                  </a:lnTo>
                  <a:lnTo>
                    <a:pt x="699347" y="81279"/>
                  </a:lnTo>
                  <a:lnTo>
                    <a:pt x="739987" y="60959"/>
                  </a:lnTo>
                  <a:lnTo>
                    <a:pt x="699347" y="40639"/>
                  </a:lnTo>
                  <a:close/>
                </a:path>
              </a:pathLst>
            </a:custGeom>
            <a:solidFill>
              <a:srgbClr val="000000"/>
            </a:solidFill>
          </p:spPr>
          <p:txBody>
            <a:bodyPr wrap="square" lIns="0" tIns="0" rIns="0" bIns="0" rtlCol="0"/>
            <a:lstStyle/>
            <a:p>
              <a:endParaRPr sz="1588"/>
            </a:p>
          </p:txBody>
        </p:sp>
        <p:sp>
          <p:nvSpPr>
            <p:cNvPr id="44" name="object 44"/>
            <p:cNvSpPr/>
            <p:nvPr/>
          </p:nvSpPr>
          <p:spPr>
            <a:xfrm>
              <a:off x="7730066" y="4397692"/>
              <a:ext cx="568960" cy="1219200"/>
            </a:xfrm>
            <a:custGeom>
              <a:avLst/>
              <a:gdLst/>
              <a:ahLst/>
              <a:cxnLst/>
              <a:rect l="l" t="t" r="r" b="b"/>
              <a:pathLst>
                <a:path w="568959" h="1219200">
                  <a:moveTo>
                    <a:pt x="568959" y="0"/>
                  </a:moveTo>
                  <a:lnTo>
                    <a:pt x="0" y="0"/>
                  </a:lnTo>
                  <a:lnTo>
                    <a:pt x="0" y="1219200"/>
                  </a:lnTo>
                  <a:lnTo>
                    <a:pt x="568959" y="1219200"/>
                  </a:lnTo>
                  <a:lnTo>
                    <a:pt x="568959" y="0"/>
                  </a:lnTo>
                  <a:close/>
                </a:path>
              </a:pathLst>
            </a:custGeom>
            <a:solidFill>
              <a:srgbClr val="618FFD"/>
            </a:solidFill>
          </p:spPr>
          <p:txBody>
            <a:bodyPr wrap="square" lIns="0" tIns="0" rIns="0" bIns="0" rtlCol="0"/>
            <a:lstStyle/>
            <a:p>
              <a:endParaRPr sz="1588"/>
            </a:p>
          </p:txBody>
        </p:sp>
        <p:sp>
          <p:nvSpPr>
            <p:cNvPr id="45" name="object 45"/>
            <p:cNvSpPr/>
            <p:nvPr/>
          </p:nvSpPr>
          <p:spPr>
            <a:xfrm>
              <a:off x="7730066" y="4397692"/>
              <a:ext cx="568960" cy="1219200"/>
            </a:xfrm>
            <a:custGeom>
              <a:avLst/>
              <a:gdLst/>
              <a:ahLst/>
              <a:cxnLst/>
              <a:rect l="l" t="t" r="r" b="b"/>
              <a:pathLst>
                <a:path w="568959" h="1219200">
                  <a:moveTo>
                    <a:pt x="0" y="0"/>
                  </a:moveTo>
                  <a:lnTo>
                    <a:pt x="568959" y="0"/>
                  </a:lnTo>
                  <a:lnTo>
                    <a:pt x="568959" y="1219199"/>
                  </a:lnTo>
                  <a:lnTo>
                    <a:pt x="0" y="1219199"/>
                  </a:lnTo>
                  <a:lnTo>
                    <a:pt x="0" y="0"/>
                  </a:lnTo>
                  <a:close/>
                </a:path>
              </a:pathLst>
            </a:custGeom>
            <a:ln w="30479">
              <a:solidFill>
                <a:srgbClr val="000000"/>
              </a:solidFill>
            </a:ln>
          </p:spPr>
          <p:txBody>
            <a:bodyPr wrap="square" lIns="0" tIns="0" rIns="0" bIns="0" rtlCol="0"/>
            <a:lstStyle/>
            <a:p>
              <a:endParaRPr sz="1588"/>
            </a:p>
          </p:txBody>
        </p:sp>
      </p:grpSp>
      <p:sp>
        <p:nvSpPr>
          <p:cNvPr id="46" name="object 46"/>
          <p:cNvSpPr txBox="1"/>
          <p:nvPr/>
        </p:nvSpPr>
        <p:spPr>
          <a:xfrm>
            <a:off x="7019793" y="4036359"/>
            <a:ext cx="407804" cy="917538"/>
          </a:xfrm>
          <a:prstGeom prst="rect">
            <a:avLst/>
          </a:prstGeom>
        </p:spPr>
        <p:txBody>
          <a:bodyPr vert="vert" wrap="square" lIns="0" tIns="41462" rIns="0" bIns="0" rtlCol="0">
            <a:spAutoFit/>
          </a:bodyPr>
          <a:lstStyle/>
          <a:p>
            <a:pPr marL="11206" marR="4483" indent="166416">
              <a:lnSpc>
                <a:spcPct val="79000"/>
              </a:lnSpc>
              <a:spcBef>
                <a:spcPts val="326"/>
              </a:spcBef>
            </a:pPr>
            <a:r>
              <a:rPr sz="1677" spc="-18" dirty="0">
                <a:latin typeface="Times New Roman"/>
                <a:cs typeface="Times New Roman"/>
              </a:rPr>
              <a:t>Data </a:t>
            </a:r>
            <a:r>
              <a:rPr sz="1677" spc="-9" dirty="0">
                <a:latin typeface="Times New Roman"/>
                <a:cs typeface="Times New Roman"/>
              </a:rPr>
              <a:t>Memory</a:t>
            </a:r>
            <a:endParaRPr sz="1677" dirty="0">
              <a:latin typeface="Times New Roman"/>
              <a:cs typeface="Times New Roman"/>
            </a:endParaRPr>
          </a:p>
        </p:txBody>
      </p:sp>
      <p:grpSp>
        <p:nvGrpSpPr>
          <p:cNvPr id="47" name="object 47"/>
          <p:cNvGrpSpPr/>
          <p:nvPr/>
        </p:nvGrpSpPr>
        <p:grpSpPr>
          <a:xfrm>
            <a:off x="8072717" y="4346480"/>
            <a:ext cx="224118" cy="546847"/>
            <a:chOff x="8996680" y="4926011"/>
            <a:chExt cx="254000" cy="619760"/>
          </a:xfrm>
        </p:grpSpPr>
        <p:sp>
          <p:nvSpPr>
            <p:cNvPr id="48" name="object 48"/>
            <p:cNvSpPr/>
            <p:nvPr/>
          </p:nvSpPr>
          <p:spPr>
            <a:xfrm>
              <a:off x="9011920" y="4941251"/>
              <a:ext cx="223520" cy="589280"/>
            </a:xfrm>
            <a:custGeom>
              <a:avLst/>
              <a:gdLst/>
              <a:ahLst/>
              <a:cxnLst/>
              <a:rect l="l" t="t" r="r" b="b"/>
              <a:pathLst>
                <a:path w="223520" h="589279">
                  <a:moveTo>
                    <a:pt x="111759" y="0"/>
                  </a:moveTo>
                  <a:lnTo>
                    <a:pt x="62610" y="29947"/>
                  </a:lnTo>
                  <a:lnTo>
                    <a:pt x="41859" y="64729"/>
                  </a:lnTo>
                  <a:lnTo>
                    <a:pt x="24552" y="110357"/>
                  </a:lnTo>
                  <a:lnTo>
                    <a:pt x="11359" y="165064"/>
                  </a:lnTo>
                  <a:lnTo>
                    <a:pt x="2951" y="227081"/>
                  </a:lnTo>
                  <a:lnTo>
                    <a:pt x="0" y="294639"/>
                  </a:lnTo>
                  <a:lnTo>
                    <a:pt x="2951" y="362198"/>
                  </a:lnTo>
                  <a:lnTo>
                    <a:pt x="11359" y="424215"/>
                  </a:lnTo>
                  <a:lnTo>
                    <a:pt x="24552" y="478922"/>
                  </a:lnTo>
                  <a:lnTo>
                    <a:pt x="41859" y="524550"/>
                  </a:lnTo>
                  <a:lnTo>
                    <a:pt x="62610" y="559332"/>
                  </a:lnTo>
                  <a:lnTo>
                    <a:pt x="111759" y="589279"/>
                  </a:lnTo>
                  <a:lnTo>
                    <a:pt x="137385" y="581498"/>
                  </a:lnTo>
                  <a:lnTo>
                    <a:pt x="181660" y="524550"/>
                  </a:lnTo>
                  <a:lnTo>
                    <a:pt x="198967" y="478922"/>
                  </a:lnTo>
                  <a:lnTo>
                    <a:pt x="212160" y="424215"/>
                  </a:lnTo>
                  <a:lnTo>
                    <a:pt x="220568" y="362198"/>
                  </a:lnTo>
                  <a:lnTo>
                    <a:pt x="223520" y="294639"/>
                  </a:lnTo>
                  <a:lnTo>
                    <a:pt x="220568" y="227081"/>
                  </a:lnTo>
                  <a:lnTo>
                    <a:pt x="212160" y="165064"/>
                  </a:lnTo>
                  <a:lnTo>
                    <a:pt x="198967" y="110357"/>
                  </a:lnTo>
                  <a:lnTo>
                    <a:pt x="181660" y="64729"/>
                  </a:lnTo>
                  <a:lnTo>
                    <a:pt x="160909" y="29947"/>
                  </a:lnTo>
                  <a:lnTo>
                    <a:pt x="111759" y="0"/>
                  </a:lnTo>
                  <a:close/>
                </a:path>
              </a:pathLst>
            </a:custGeom>
            <a:solidFill>
              <a:srgbClr val="618FFD"/>
            </a:solidFill>
          </p:spPr>
          <p:txBody>
            <a:bodyPr wrap="square" lIns="0" tIns="0" rIns="0" bIns="0" rtlCol="0"/>
            <a:lstStyle/>
            <a:p>
              <a:endParaRPr sz="1588"/>
            </a:p>
          </p:txBody>
        </p:sp>
        <p:sp>
          <p:nvSpPr>
            <p:cNvPr id="49" name="object 49"/>
            <p:cNvSpPr/>
            <p:nvPr/>
          </p:nvSpPr>
          <p:spPr>
            <a:xfrm>
              <a:off x="9011920" y="4941251"/>
              <a:ext cx="223520" cy="589280"/>
            </a:xfrm>
            <a:custGeom>
              <a:avLst/>
              <a:gdLst/>
              <a:ahLst/>
              <a:cxnLst/>
              <a:rect l="l" t="t" r="r" b="b"/>
              <a:pathLst>
                <a:path w="223520" h="589279">
                  <a:moveTo>
                    <a:pt x="0" y="294639"/>
                  </a:moveTo>
                  <a:lnTo>
                    <a:pt x="2951" y="227081"/>
                  </a:lnTo>
                  <a:lnTo>
                    <a:pt x="11359" y="165064"/>
                  </a:lnTo>
                  <a:lnTo>
                    <a:pt x="24552" y="110357"/>
                  </a:lnTo>
                  <a:lnTo>
                    <a:pt x="41859" y="64729"/>
                  </a:lnTo>
                  <a:lnTo>
                    <a:pt x="62610" y="29947"/>
                  </a:lnTo>
                  <a:lnTo>
                    <a:pt x="111759" y="0"/>
                  </a:lnTo>
                  <a:lnTo>
                    <a:pt x="137385" y="7781"/>
                  </a:lnTo>
                  <a:lnTo>
                    <a:pt x="181660" y="64729"/>
                  </a:lnTo>
                  <a:lnTo>
                    <a:pt x="198967" y="110357"/>
                  </a:lnTo>
                  <a:lnTo>
                    <a:pt x="212160" y="165064"/>
                  </a:lnTo>
                  <a:lnTo>
                    <a:pt x="220568" y="227081"/>
                  </a:lnTo>
                  <a:lnTo>
                    <a:pt x="223519" y="294639"/>
                  </a:lnTo>
                  <a:lnTo>
                    <a:pt x="220568" y="362198"/>
                  </a:lnTo>
                  <a:lnTo>
                    <a:pt x="212160" y="424215"/>
                  </a:lnTo>
                  <a:lnTo>
                    <a:pt x="198967" y="478922"/>
                  </a:lnTo>
                  <a:lnTo>
                    <a:pt x="181660" y="524550"/>
                  </a:lnTo>
                  <a:lnTo>
                    <a:pt x="160909" y="559332"/>
                  </a:lnTo>
                  <a:lnTo>
                    <a:pt x="111759" y="589279"/>
                  </a:lnTo>
                  <a:lnTo>
                    <a:pt x="86134" y="581498"/>
                  </a:lnTo>
                  <a:lnTo>
                    <a:pt x="41859" y="524550"/>
                  </a:lnTo>
                  <a:lnTo>
                    <a:pt x="24552" y="478922"/>
                  </a:lnTo>
                  <a:lnTo>
                    <a:pt x="11359" y="424215"/>
                  </a:lnTo>
                  <a:lnTo>
                    <a:pt x="2951" y="362198"/>
                  </a:lnTo>
                  <a:lnTo>
                    <a:pt x="0" y="294639"/>
                  </a:lnTo>
                  <a:close/>
                </a:path>
              </a:pathLst>
            </a:custGeom>
            <a:ln w="30479">
              <a:solidFill>
                <a:srgbClr val="000000"/>
              </a:solidFill>
            </a:ln>
          </p:spPr>
          <p:txBody>
            <a:bodyPr wrap="square" lIns="0" tIns="0" rIns="0" bIns="0" rtlCol="0"/>
            <a:lstStyle/>
            <a:p>
              <a:endParaRPr sz="1588"/>
            </a:p>
          </p:txBody>
        </p:sp>
      </p:grpSp>
      <p:sp>
        <p:nvSpPr>
          <p:cNvPr id="50" name="object 50"/>
          <p:cNvSpPr txBox="1"/>
          <p:nvPr/>
        </p:nvSpPr>
        <p:spPr>
          <a:xfrm>
            <a:off x="8111072" y="4442460"/>
            <a:ext cx="166712" cy="358028"/>
          </a:xfrm>
          <a:prstGeom prst="rect">
            <a:avLst/>
          </a:prstGeom>
        </p:spPr>
        <p:txBody>
          <a:bodyPr vert="vert" wrap="square" lIns="0" tIns="0" rIns="0" bIns="0" rtlCol="0">
            <a:spAutoFit/>
          </a:bodyPr>
          <a:lstStyle/>
          <a:p>
            <a:pPr marL="11206">
              <a:lnSpc>
                <a:spcPts val="1341"/>
              </a:lnSpc>
            </a:pPr>
            <a:r>
              <a:rPr sz="1147" spc="-22" dirty="0">
                <a:latin typeface="Times New Roman"/>
                <a:cs typeface="Times New Roman"/>
              </a:rPr>
              <a:t>MUX</a:t>
            </a:r>
            <a:endParaRPr sz="1147">
              <a:latin typeface="Times New Roman"/>
              <a:cs typeface="Times New Roman"/>
            </a:endParaRPr>
          </a:p>
        </p:txBody>
      </p:sp>
      <p:grpSp>
        <p:nvGrpSpPr>
          <p:cNvPr id="51" name="object 51"/>
          <p:cNvGrpSpPr/>
          <p:nvPr/>
        </p:nvGrpSpPr>
        <p:grpSpPr>
          <a:xfrm>
            <a:off x="3972858" y="4788740"/>
            <a:ext cx="448235" cy="663388"/>
            <a:chOff x="4350172" y="5427238"/>
            <a:chExt cx="508000" cy="751840"/>
          </a:xfrm>
        </p:grpSpPr>
        <p:sp>
          <p:nvSpPr>
            <p:cNvPr id="52" name="object 52"/>
            <p:cNvSpPr/>
            <p:nvPr/>
          </p:nvSpPr>
          <p:spPr>
            <a:xfrm>
              <a:off x="4365412" y="5442478"/>
              <a:ext cx="477520" cy="721360"/>
            </a:xfrm>
            <a:custGeom>
              <a:avLst/>
              <a:gdLst/>
              <a:ahLst/>
              <a:cxnLst/>
              <a:rect l="l" t="t" r="r" b="b"/>
              <a:pathLst>
                <a:path w="477520" h="721360">
                  <a:moveTo>
                    <a:pt x="238760" y="0"/>
                  </a:moveTo>
                  <a:lnTo>
                    <a:pt x="200032" y="4720"/>
                  </a:lnTo>
                  <a:lnTo>
                    <a:pt x="163293" y="18387"/>
                  </a:lnTo>
                  <a:lnTo>
                    <a:pt x="129036" y="40258"/>
                  </a:lnTo>
                  <a:lnTo>
                    <a:pt x="97751" y="69590"/>
                  </a:lnTo>
                  <a:lnTo>
                    <a:pt x="69931" y="105640"/>
                  </a:lnTo>
                  <a:lnTo>
                    <a:pt x="46067" y="147667"/>
                  </a:lnTo>
                  <a:lnTo>
                    <a:pt x="26650" y="194926"/>
                  </a:lnTo>
                  <a:lnTo>
                    <a:pt x="12172" y="246677"/>
                  </a:lnTo>
                  <a:lnTo>
                    <a:pt x="3124" y="302175"/>
                  </a:lnTo>
                  <a:lnTo>
                    <a:pt x="0" y="360679"/>
                  </a:lnTo>
                  <a:lnTo>
                    <a:pt x="3124" y="419184"/>
                  </a:lnTo>
                  <a:lnTo>
                    <a:pt x="12172" y="474682"/>
                  </a:lnTo>
                  <a:lnTo>
                    <a:pt x="26650" y="526433"/>
                  </a:lnTo>
                  <a:lnTo>
                    <a:pt x="46067" y="573692"/>
                  </a:lnTo>
                  <a:lnTo>
                    <a:pt x="69931" y="615719"/>
                  </a:lnTo>
                  <a:lnTo>
                    <a:pt x="97751" y="651769"/>
                  </a:lnTo>
                  <a:lnTo>
                    <a:pt x="129036" y="681101"/>
                  </a:lnTo>
                  <a:lnTo>
                    <a:pt x="163293" y="702972"/>
                  </a:lnTo>
                  <a:lnTo>
                    <a:pt x="200032" y="716639"/>
                  </a:lnTo>
                  <a:lnTo>
                    <a:pt x="238760" y="721359"/>
                  </a:lnTo>
                  <a:lnTo>
                    <a:pt x="277488" y="716639"/>
                  </a:lnTo>
                  <a:lnTo>
                    <a:pt x="314226" y="702972"/>
                  </a:lnTo>
                  <a:lnTo>
                    <a:pt x="348484" y="681101"/>
                  </a:lnTo>
                  <a:lnTo>
                    <a:pt x="379768" y="651769"/>
                  </a:lnTo>
                  <a:lnTo>
                    <a:pt x="407589" y="615719"/>
                  </a:lnTo>
                  <a:lnTo>
                    <a:pt x="431453" y="573692"/>
                  </a:lnTo>
                  <a:lnTo>
                    <a:pt x="450870" y="526433"/>
                  </a:lnTo>
                  <a:lnTo>
                    <a:pt x="465347" y="474682"/>
                  </a:lnTo>
                  <a:lnTo>
                    <a:pt x="474395" y="419184"/>
                  </a:lnTo>
                  <a:lnTo>
                    <a:pt x="477520" y="360679"/>
                  </a:lnTo>
                  <a:lnTo>
                    <a:pt x="474395" y="302175"/>
                  </a:lnTo>
                  <a:lnTo>
                    <a:pt x="465347" y="246677"/>
                  </a:lnTo>
                  <a:lnTo>
                    <a:pt x="450870" y="194926"/>
                  </a:lnTo>
                  <a:lnTo>
                    <a:pt x="431453" y="147667"/>
                  </a:lnTo>
                  <a:lnTo>
                    <a:pt x="407589" y="105640"/>
                  </a:lnTo>
                  <a:lnTo>
                    <a:pt x="379768" y="69590"/>
                  </a:lnTo>
                  <a:lnTo>
                    <a:pt x="348484" y="40258"/>
                  </a:lnTo>
                  <a:lnTo>
                    <a:pt x="314226" y="18387"/>
                  </a:lnTo>
                  <a:lnTo>
                    <a:pt x="277488" y="4720"/>
                  </a:lnTo>
                  <a:lnTo>
                    <a:pt x="238760" y="0"/>
                  </a:lnTo>
                  <a:close/>
                </a:path>
              </a:pathLst>
            </a:custGeom>
            <a:solidFill>
              <a:srgbClr val="618FFD"/>
            </a:solidFill>
          </p:spPr>
          <p:txBody>
            <a:bodyPr wrap="square" lIns="0" tIns="0" rIns="0" bIns="0" rtlCol="0"/>
            <a:lstStyle/>
            <a:p>
              <a:endParaRPr sz="1588"/>
            </a:p>
          </p:txBody>
        </p:sp>
        <p:sp>
          <p:nvSpPr>
            <p:cNvPr id="53" name="object 53"/>
            <p:cNvSpPr/>
            <p:nvPr/>
          </p:nvSpPr>
          <p:spPr>
            <a:xfrm>
              <a:off x="4365412" y="5442478"/>
              <a:ext cx="477520" cy="721360"/>
            </a:xfrm>
            <a:custGeom>
              <a:avLst/>
              <a:gdLst/>
              <a:ahLst/>
              <a:cxnLst/>
              <a:rect l="l" t="t" r="r" b="b"/>
              <a:pathLst>
                <a:path w="477520" h="721360">
                  <a:moveTo>
                    <a:pt x="0" y="360679"/>
                  </a:moveTo>
                  <a:lnTo>
                    <a:pt x="3124" y="302175"/>
                  </a:lnTo>
                  <a:lnTo>
                    <a:pt x="12172" y="246677"/>
                  </a:lnTo>
                  <a:lnTo>
                    <a:pt x="26649" y="194926"/>
                  </a:lnTo>
                  <a:lnTo>
                    <a:pt x="46066" y="147667"/>
                  </a:lnTo>
                  <a:lnTo>
                    <a:pt x="69931" y="105640"/>
                  </a:lnTo>
                  <a:lnTo>
                    <a:pt x="97751" y="69590"/>
                  </a:lnTo>
                  <a:lnTo>
                    <a:pt x="129036" y="40258"/>
                  </a:lnTo>
                  <a:lnTo>
                    <a:pt x="163293" y="18387"/>
                  </a:lnTo>
                  <a:lnTo>
                    <a:pt x="200031" y="4720"/>
                  </a:lnTo>
                  <a:lnTo>
                    <a:pt x="238759" y="0"/>
                  </a:lnTo>
                  <a:lnTo>
                    <a:pt x="277488" y="4720"/>
                  </a:lnTo>
                  <a:lnTo>
                    <a:pt x="314226" y="18387"/>
                  </a:lnTo>
                  <a:lnTo>
                    <a:pt x="348483" y="40258"/>
                  </a:lnTo>
                  <a:lnTo>
                    <a:pt x="379768" y="69590"/>
                  </a:lnTo>
                  <a:lnTo>
                    <a:pt x="407588" y="105640"/>
                  </a:lnTo>
                  <a:lnTo>
                    <a:pt x="431453" y="147667"/>
                  </a:lnTo>
                  <a:lnTo>
                    <a:pt x="450870" y="194926"/>
                  </a:lnTo>
                  <a:lnTo>
                    <a:pt x="465347" y="246677"/>
                  </a:lnTo>
                  <a:lnTo>
                    <a:pt x="474395" y="302175"/>
                  </a:lnTo>
                  <a:lnTo>
                    <a:pt x="477519" y="360679"/>
                  </a:lnTo>
                  <a:lnTo>
                    <a:pt x="474395" y="419184"/>
                  </a:lnTo>
                  <a:lnTo>
                    <a:pt x="465347" y="474682"/>
                  </a:lnTo>
                  <a:lnTo>
                    <a:pt x="450870" y="526433"/>
                  </a:lnTo>
                  <a:lnTo>
                    <a:pt x="431453" y="573692"/>
                  </a:lnTo>
                  <a:lnTo>
                    <a:pt x="407588" y="615719"/>
                  </a:lnTo>
                  <a:lnTo>
                    <a:pt x="379768" y="651769"/>
                  </a:lnTo>
                  <a:lnTo>
                    <a:pt x="348483" y="681101"/>
                  </a:lnTo>
                  <a:lnTo>
                    <a:pt x="314226" y="702972"/>
                  </a:lnTo>
                  <a:lnTo>
                    <a:pt x="277488" y="716639"/>
                  </a:lnTo>
                  <a:lnTo>
                    <a:pt x="238759" y="721359"/>
                  </a:lnTo>
                  <a:lnTo>
                    <a:pt x="200031" y="716639"/>
                  </a:lnTo>
                  <a:lnTo>
                    <a:pt x="163293" y="702972"/>
                  </a:lnTo>
                  <a:lnTo>
                    <a:pt x="129036" y="681101"/>
                  </a:lnTo>
                  <a:lnTo>
                    <a:pt x="97751" y="651769"/>
                  </a:lnTo>
                  <a:lnTo>
                    <a:pt x="69931" y="615719"/>
                  </a:lnTo>
                  <a:lnTo>
                    <a:pt x="46066" y="573692"/>
                  </a:lnTo>
                  <a:lnTo>
                    <a:pt x="26649" y="526433"/>
                  </a:lnTo>
                  <a:lnTo>
                    <a:pt x="12172" y="474682"/>
                  </a:lnTo>
                  <a:lnTo>
                    <a:pt x="3124" y="419184"/>
                  </a:lnTo>
                  <a:lnTo>
                    <a:pt x="0" y="360679"/>
                  </a:lnTo>
                  <a:close/>
                </a:path>
              </a:pathLst>
            </a:custGeom>
            <a:ln w="30479">
              <a:solidFill>
                <a:srgbClr val="000000"/>
              </a:solidFill>
            </a:ln>
          </p:spPr>
          <p:txBody>
            <a:bodyPr wrap="square" lIns="0" tIns="0" rIns="0" bIns="0" rtlCol="0"/>
            <a:lstStyle/>
            <a:p>
              <a:endParaRPr sz="1588"/>
            </a:p>
          </p:txBody>
        </p:sp>
      </p:grpSp>
      <p:sp>
        <p:nvSpPr>
          <p:cNvPr id="54" name="object 54"/>
          <p:cNvSpPr txBox="1"/>
          <p:nvPr/>
        </p:nvSpPr>
        <p:spPr>
          <a:xfrm>
            <a:off x="4003489" y="4953897"/>
            <a:ext cx="389964" cy="300233"/>
          </a:xfrm>
          <a:prstGeom prst="rect">
            <a:avLst/>
          </a:prstGeom>
        </p:spPr>
        <p:txBody>
          <a:bodyPr vert="horz" wrap="square" lIns="0" tIns="17929" rIns="0" bIns="0" rtlCol="0">
            <a:spAutoFit/>
          </a:bodyPr>
          <a:lstStyle/>
          <a:p>
            <a:pPr marL="11206" marR="4483" indent="70041">
              <a:lnSpc>
                <a:spcPts val="1147"/>
              </a:lnSpc>
              <a:spcBef>
                <a:spcPts val="141"/>
              </a:spcBef>
            </a:pPr>
            <a:r>
              <a:rPr sz="971" b="1" spc="-18" dirty="0">
                <a:latin typeface="Times New Roman"/>
                <a:cs typeface="Times New Roman"/>
              </a:rPr>
              <a:t>Sign </a:t>
            </a:r>
            <a:r>
              <a:rPr sz="971" b="1" spc="-26" dirty="0">
                <a:latin typeface="Times New Roman"/>
                <a:cs typeface="Times New Roman"/>
              </a:rPr>
              <a:t>Extend</a:t>
            </a:r>
            <a:endParaRPr sz="971">
              <a:latin typeface="Times New Roman"/>
              <a:cs typeface="Times New Roman"/>
            </a:endParaRPr>
          </a:p>
        </p:txBody>
      </p:sp>
      <p:sp>
        <p:nvSpPr>
          <p:cNvPr id="55" name="object 55"/>
          <p:cNvSpPr txBox="1"/>
          <p:nvPr/>
        </p:nvSpPr>
        <p:spPr>
          <a:xfrm>
            <a:off x="1565089" y="3110304"/>
            <a:ext cx="168088" cy="364361"/>
          </a:xfrm>
          <a:prstGeom prst="rect">
            <a:avLst/>
          </a:prstGeom>
        </p:spPr>
        <p:txBody>
          <a:bodyPr vert="horz" wrap="square" lIns="0" tIns="11206" rIns="0" bIns="0" rtlCol="0">
            <a:spAutoFit/>
          </a:bodyPr>
          <a:lstStyle/>
          <a:p>
            <a:pPr marL="11206">
              <a:spcBef>
                <a:spcPts val="88"/>
              </a:spcBef>
            </a:pPr>
            <a:r>
              <a:rPr sz="2294" b="1" spc="-44" dirty="0">
                <a:latin typeface="Times New Roman"/>
                <a:cs typeface="Times New Roman"/>
              </a:rPr>
              <a:t>4</a:t>
            </a:r>
            <a:endParaRPr sz="2294">
              <a:latin typeface="Times New Roman"/>
              <a:cs typeface="Times New Roman"/>
            </a:endParaRPr>
          </a:p>
        </p:txBody>
      </p:sp>
      <p:grpSp>
        <p:nvGrpSpPr>
          <p:cNvPr id="56" name="object 56"/>
          <p:cNvGrpSpPr/>
          <p:nvPr/>
        </p:nvGrpSpPr>
        <p:grpSpPr>
          <a:xfrm>
            <a:off x="1890807" y="2575205"/>
            <a:ext cx="488576" cy="887506"/>
            <a:chOff x="1990514" y="2918566"/>
            <a:chExt cx="553720" cy="1005840"/>
          </a:xfrm>
        </p:grpSpPr>
        <p:sp>
          <p:nvSpPr>
            <p:cNvPr id="57" name="object 57"/>
            <p:cNvSpPr/>
            <p:nvPr/>
          </p:nvSpPr>
          <p:spPr>
            <a:xfrm>
              <a:off x="2019299" y="2933806"/>
              <a:ext cx="509905" cy="975360"/>
            </a:xfrm>
            <a:custGeom>
              <a:avLst/>
              <a:gdLst/>
              <a:ahLst/>
              <a:cxnLst/>
              <a:rect l="l" t="t" r="r" b="b"/>
              <a:pathLst>
                <a:path w="509905" h="975360">
                  <a:moveTo>
                    <a:pt x="0" y="0"/>
                  </a:moveTo>
                  <a:lnTo>
                    <a:pt x="0" y="975360"/>
                  </a:lnTo>
                  <a:lnTo>
                    <a:pt x="509694" y="731520"/>
                  </a:lnTo>
                  <a:lnTo>
                    <a:pt x="509694" y="243839"/>
                  </a:lnTo>
                  <a:lnTo>
                    <a:pt x="0" y="0"/>
                  </a:lnTo>
                  <a:close/>
                </a:path>
              </a:pathLst>
            </a:custGeom>
            <a:solidFill>
              <a:srgbClr val="07F707"/>
            </a:solidFill>
          </p:spPr>
          <p:txBody>
            <a:bodyPr wrap="square" lIns="0" tIns="0" rIns="0" bIns="0" rtlCol="0"/>
            <a:lstStyle/>
            <a:p>
              <a:endParaRPr sz="1588"/>
            </a:p>
          </p:txBody>
        </p:sp>
        <p:sp>
          <p:nvSpPr>
            <p:cNvPr id="58" name="object 58"/>
            <p:cNvSpPr/>
            <p:nvPr/>
          </p:nvSpPr>
          <p:spPr>
            <a:xfrm>
              <a:off x="2019299" y="2933806"/>
              <a:ext cx="509905" cy="975360"/>
            </a:xfrm>
            <a:custGeom>
              <a:avLst/>
              <a:gdLst/>
              <a:ahLst/>
              <a:cxnLst/>
              <a:rect l="l" t="t" r="r" b="b"/>
              <a:pathLst>
                <a:path w="509905" h="975360">
                  <a:moveTo>
                    <a:pt x="0" y="975359"/>
                  </a:moveTo>
                  <a:lnTo>
                    <a:pt x="509693" y="731519"/>
                  </a:lnTo>
                  <a:lnTo>
                    <a:pt x="509693" y="243839"/>
                  </a:lnTo>
                  <a:lnTo>
                    <a:pt x="0" y="0"/>
                  </a:lnTo>
                  <a:lnTo>
                    <a:pt x="0" y="975359"/>
                  </a:lnTo>
                  <a:close/>
                </a:path>
              </a:pathLst>
            </a:custGeom>
            <a:ln w="30479">
              <a:solidFill>
                <a:srgbClr val="000000"/>
              </a:solidFill>
            </a:ln>
          </p:spPr>
          <p:txBody>
            <a:bodyPr wrap="square" lIns="0" tIns="0" rIns="0" bIns="0" rtlCol="0"/>
            <a:lstStyle/>
            <a:p>
              <a:endParaRPr sz="1588"/>
            </a:p>
          </p:txBody>
        </p:sp>
        <p:sp>
          <p:nvSpPr>
            <p:cNvPr id="59" name="object 59"/>
            <p:cNvSpPr/>
            <p:nvPr/>
          </p:nvSpPr>
          <p:spPr>
            <a:xfrm>
              <a:off x="1990514" y="3230139"/>
              <a:ext cx="245745" cy="294640"/>
            </a:xfrm>
            <a:custGeom>
              <a:avLst/>
              <a:gdLst/>
              <a:ahLst/>
              <a:cxnLst/>
              <a:rect l="l" t="t" r="r" b="b"/>
              <a:pathLst>
                <a:path w="245744" h="294639">
                  <a:moveTo>
                    <a:pt x="0" y="0"/>
                  </a:moveTo>
                  <a:lnTo>
                    <a:pt x="0" y="294639"/>
                  </a:lnTo>
                  <a:lnTo>
                    <a:pt x="245532" y="147320"/>
                  </a:lnTo>
                  <a:lnTo>
                    <a:pt x="0" y="0"/>
                  </a:lnTo>
                  <a:close/>
                </a:path>
              </a:pathLst>
            </a:custGeom>
            <a:solidFill>
              <a:srgbClr val="FFFFFF"/>
            </a:solidFill>
          </p:spPr>
          <p:txBody>
            <a:bodyPr wrap="square" lIns="0" tIns="0" rIns="0" bIns="0" rtlCol="0"/>
            <a:lstStyle/>
            <a:p>
              <a:endParaRPr sz="1588"/>
            </a:p>
          </p:txBody>
        </p:sp>
      </p:grpSp>
      <p:sp>
        <p:nvSpPr>
          <p:cNvPr id="60" name="object 60"/>
          <p:cNvSpPr txBox="1"/>
          <p:nvPr/>
        </p:nvSpPr>
        <p:spPr>
          <a:xfrm>
            <a:off x="2077608" y="2756199"/>
            <a:ext cx="218008" cy="541804"/>
          </a:xfrm>
          <a:prstGeom prst="rect">
            <a:avLst/>
          </a:prstGeom>
        </p:spPr>
        <p:txBody>
          <a:bodyPr vert="vert" wrap="square" lIns="0" tIns="0" rIns="0" bIns="0" rtlCol="0">
            <a:spAutoFit/>
          </a:bodyPr>
          <a:lstStyle/>
          <a:p>
            <a:pPr marL="11206">
              <a:lnSpc>
                <a:spcPts val="1725"/>
              </a:lnSpc>
            </a:pPr>
            <a:r>
              <a:rPr sz="1500" b="1" spc="-9" dirty="0">
                <a:latin typeface="Times New Roman"/>
                <a:cs typeface="Times New Roman"/>
              </a:rPr>
              <a:t>Adder</a:t>
            </a:r>
            <a:endParaRPr sz="1500">
              <a:latin typeface="Times New Roman"/>
              <a:cs typeface="Times New Roman"/>
            </a:endParaRPr>
          </a:p>
        </p:txBody>
      </p:sp>
      <p:sp>
        <p:nvSpPr>
          <p:cNvPr id="61" name="object 61"/>
          <p:cNvSpPr/>
          <p:nvPr/>
        </p:nvSpPr>
        <p:spPr>
          <a:xfrm>
            <a:off x="3065929" y="1636059"/>
            <a:ext cx="0" cy="4735046"/>
          </a:xfrm>
          <a:custGeom>
            <a:avLst/>
            <a:gdLst/>
            <a:ahLst/>
            <a:cxnLst/>
            <a:rect l="l" t="t" r="r" b="b"/>
            <a:pathLst>
              <a:path h="5366384">
                <a:moveTo>
                  <a:pt x="0" y="0"/>
                </a:moveTo>
                <a:lnTo>
                  <a:pt x="0" y="5366174"/>
                </a:lnTo>
              </a:path>
            </a:pathLst>
          </a:custGeom>
          <a:ln w="30481">
            <a:solidFill>
              <a:srgbClr val="000000"/>
            </a:solidFill>
          </a:ln>
        </p:spPr>
        <p:txBody>
          <a:bodyPr wrap="square" lIns="0" tIns="0" rIns="0" bIns="0" rtlCol="0"/>
          <a:lstStyle/>
          <a:p>
            <a:endParaRPr sz="1588"/>
          </a:p>
        </p:txBody>
      </p:sp>
      <p:sp>
        <p:nvSpPr>
          <p:cNvPr id="62" name="object 62"/>
          <p:cNvSpPr/>
          <p:nvPr/>
        </p:nvSpPr>
        <p:spPr>
          <a:xfrm>
            <a:off x="4858871" y="1636059"/>
            <a:ext cx="0" cy="4733365"/>
          </a:xfrm>
          <a:custGeom>
            <a:avLst/>
            <a:gdLst/>
            <a:ahLst/>
            <a:cxnLst/>
            <a:rect l="l" t="t" r="r" b="b"/>
            <a:pathLst>
              <a:path h="5364480">
                <a:moveTo>
                  <a:pt x="0" y="0"/>
                </a:moveTo>
                <a:lnTo>
                  <a:pt x="0" y="5364479"/>
                </a:lnTo>
              </a:path>
            </a:pathLst>
          </a:custGeom>
          <a:ln w="30481">
            <a:solidFill>
              <a:srgbClr val="000000"/>
            </a:solidFill>
          </a:ln>
        </p:spPr>
        <p:txBody>
          <a:bodyPr wrap="square" lIns="0" tIns="0" rIns="0" bIns="0" rtlCol="0"/>
          <a:lstStyle/>
          <a:p>
            <a:endParaRPr sz="1588"/>
          </a:p>
        </p:txBody>
      </p:sp>
      <p:sp>
        <p:nvSpPr>
          <p:cNvPr id="63" name="object 63"/>
          <p:cNvSpPr/>
          <p:nvPr/>
        </p:nvSpPr>
        <p:spPr>
          <a:xfrm>
            <a:off x="6323105" y="1636059"/>
            <a:ext cx="0" cy="4750174"/>
          </a:xfrm>
          <a:custGeom>
            <a:avLst/>
            <a:gdLst/>
            <a:ahLst/>
            <a:cxnLst/>
            <a:rect l="l" t="t" r="r" b="b"/>
            <a:pathLst>
              <a:path h="5383530">
                <a:moveTo>
                  <a:pt x="0" y="0"/>
                </a:moveTo>
                <a:lnTo>
                  <a:pt x="0" y="5383107"/>
                </a:lnTo>
              </a:path>
            </a:pathLst>
          </a:custGeom>
          <a:ln w="30481">
            <a:solidFill>
              <a:srgbClr val="000000"/>
            </a:solidFill>
          </a:ln>
        </p:spPr>
        <p:txBody>
          <a:bodyPr wrap="square" lIns="0" tIns="0" rIns="0" bIns="0" rtlCol="0"/>
          <a:lstStyle/>
          <a:p>
            <a:endParaRPr sz="1588"/>
          </a:p>
        </p:txBody>
      </p:sp>
      <p:sp>
        <p:nvSpPr>
          <p:cNvPr id="64" name="object 64"/>
          <p:cNvSpPr/>
          <p:nvPr/>
        </p:nvSpPr>
        <p:spPr>
          <a:xfrm>
            <a:off x="7805270" y="1636059"/>
            <a:ext cx="0" cy="4735046"/>
          </a:xfrm>
          <a:custGeom>
            <a:avLst/>
            <a:gdLst/>
            <a:ahLst/>
            <a:cxnLst/>
            <a:rect l="l" t="t" r="r" b="b"/>
            <a:pathLst>
              <a:path h="5366384">
                <a:moveTo>
                  <a:pt x="0" y="0"/>
                </a:moveTo>
                <a:lnTo>
                  <a:pt x="0" y="5366174"/>
                </a:lnTo>
              </a:path>
            </a:pathLst>
          </a:custGeom>
          <a:ln w="30481">
            <a:solidFill>
              <a:srgbClr val="000000"/>
            </a:solidFill>
          </a:ln>
        </p:spPr>
        <p:txBody>
          <a:bodyPr wrap="square" lIns="0" tIns="0" rIns="0" bIns="0" rtlCol="0"/>
          <a:lstStyle/>
          <a:p>
            <a:endParaRPr sz="1588"/>
          </a:p>
        </p:txBody>
      </p:sp>
      <p:grpSp>
        <p:nvGrpSpPr>
          <p:cNvPr id="65" name="object 65"/>
          <p:cNvGrpSpPr/>
          <p:nvPr/>
        </p:nvGrpSpPr>
        <p:grpSpPr>
          <a:xfrm>
            <a:off x="1895290" y="2838170"/>
            <a:ext cx="4196603" cy="2271993"/>
            <a:chOff x="1995595" y="3216592"/>
            <a:chExt cx="4756150" cy="2574925"/>
          </a:xfrm>
        </p:grpSpPr>
        <p:sp>
          <p:nvSpPr>
            <p:cNvPr id="66" name="object 66"/>
            <p:cNvSpPr/>
            <p:nvPr/>
          </p:nvSpPr>
          <p:spPr>
            <a:xfrm>
              <a:off x="2010834" y="3231832"/>
              <a:ext cx="220345" cy="293370"/>
            </a:xfrm>
            <a:custGeom>
              <a:avLst/>
              <a:gdLst/>
              <a:ahLst/>
              <a:cxnLst/>
              <a:rect l="l" t="t" r="r" b="b"/>
              <a:pathLst>
                <a:path w="220344" h="293370">
                  <a:moveTo>
                    <a:pt x="0" y="0"/>
                  </a:moveTo>
                  <a:lnTo>
                    <a:pt x="0" y="292947"/>
                  </a:lnTo>
                  <a:lnTo>
                    <a:pt x="220134" y="146472"/>
                  </a:lnTo>
                  <a:lnTo>
                    <a:pt x="0" y="0"/>
                  </a:lnTo>
                  <a:close/>
                </a:path>
              </a:pathLst>
            </a:custGeom>
            <a:solidFill>
              <a:srgbClr val="FFFFFF"/>
            </a:solidFill>
          </p:spPr>
          <p:txBody>
            <a:bodyPr wrap="square" lIns="0" tIns="0" rIns="0" bIns="0" rtlCol="0"/>
            <a:lstStyle/>
            <a:p>
              <a:endParaRPr sz="1588"/>
            </a:p>
          </p:txBody>
        </p:sp>
        <p:sp>
          <p:nvSpPr>
            <p:cNvPr id="67" name="object 67"/>
            <p:cNvSpPr/>
            <p:nvPr/>
          </p:nvSpPr>
          <p:spPr>
            <a:xfrm>
              <a:off x="2010835" y="3231832"/>
              <a:ext cx="220345" cy="293370"/>
            </a:xfrm>
            <a:custGeom>
              <a:avLst/>
              <a:gdLst/>
              <a:ahLst/>
              <a:cxnLst/>
              <a:rect l="l" t="t" r="r" b="b"/>
              <a:pathLst>
                <a:path w="220344" h="293370">
                  <a:moveTo>
                    <a:pt x="0" y="0"/>
                  </a:moveTo>
                  <a:lnTo>
                    <a:pt x="220133" y="146473"/>
                  </a:lnTo>
                  <a:lnTo>
                    <a:pt x="0" y="292947"/>
                  </a:lnTo>
                </a:path>
              </a:pathLst>
            </a:custGeom>
            <a:ln w="30479">
              <a:solidFill>
                <a:srgbClr val="000000"/>
              </a:solidFill>
            </a:ln>
          </p:spPr>
          <p:txBody>
            <a:bodyPr wrap="square" lIns="0" tIns="0" rIns="0" bIns="0" rtlCol="0"/>
            <a:lstStyle/>
            <a:p>
              <a:endParaRPr sz="1588"/>
            </a:p>
          </p:txBody>
        </p:sp>
        <p:sp>
          <p:nvSpPr>
            <p:cNvPr id="68" name="object 68"/>
            <p:cNvSpPr/>
            <p:nvPr/>
          </p:nvSpPr>
          <p:spPr>
            <a:xfrm>
              <a:off x="2509520" y="3381691"/>
              <a:ext cx="3251200" cy="792480"/>
            </a:xfrm>
            <a:custGeom>
              <a:avLst/>
              <a:gdLst/>
              <a:ahLst/>
              <a:cxnLst/>
              <a:rect l="l" t="t" r="r" b="b"/>
              <a:pathLst>
                <a:path w="3251200" h="792479">
                  <a:moveTo>
                    <a:pt x="3159760" y="701039"/>
                  </a:moveTo>
                  <a:lnTo>
                    <a:pt x="3159760" y="792479"/>
                  </a:lnTo>
                  <a:lnTo>
                    <a:pt x="3220720" y="762000"/>
                  </a:lnTo>
                  <a:lnTo>
                    <a:pt x="3175000" y="762000"/>
                  </a:lnTo>
                  <a:lnTo>
                    <a:pt x="3175000" y="731520"/>
                  </a:lnTo>
                  <a:lnTo>
                    <a:pt x="3220720" y="731520"/>
                  </a:lnTo>
                  <a:lnTo>
                    <a:pt x="3159760" y="701039"/>
                  </a:lnTo>
                  <a:close/>
                </a:path>
                <a:path w="3251200" h="792479">
                  <a:moveTo>
                    <a:pt x="2667000" y="15239"/>
                  </a:moveTo>
                  <a:lnTo>
                    <a:pt x="2667000" y="755177"/>
                  </a:lnTo>
                  <a:lnTo>
                    <a:pt x="2673822" y="762000"/>
                  </a:lnTo>
                  <a:lnTo>
                    <a:pt x="3159760" y="762000"/>
                  </a:lnTo>
                  <a:lnTo>
                    <a:pt x="3159760" y="746760"/>
                  </a:lnTo>
                  <a:lnTo>
                    <a:pt x="2697480" y="746760"/>
                  </a:lnTo>
                  <a:lnTo>
                    <a:pt x="2682240" y="731520"/>
                  </a:lnTo>
                  <a:lnTo>
                    <a:pt x="2697480" y="731520"/>
                  </a:lnTo>
                  <a:lnTo>
                    <a:pt x="2697480" y="30479"/>
                  </a:lnTo>
                  <a:lnTo>
                    <a:pt x="2682240" y="30479"/>
                  </a:lnTo>
                  <a:lnTo>
                    <a:pt x="2667000" y="15239"/>
                  </a:lnTo>
                  <a:close/>
                </a:path>
                <a:path w="3251200" h="792479">
                  <a:moveTo>
                    <a:pt x="3220720" y="731520"/>
                  </a:moveTo>
                  <a:lnTo>
                    <a:pt x="3175000" y="731520"/>
                  </a:lnTo>
                  <a:lnTo>
                    <a:pt x="3175000" y="762000"/>
                  </a:lnTo>
                  <a:lnTo>
                    <a:pt x="3220720" y="762000"/>
                  </a:lnTo>
                  <a:lnTo>
                    <a:pt x="3251200" y="746760"/>
                  </a:lnTo>
                  <a:lnTo>
                    <a:pt x="3220720" y="731520"/>
                  </a:lnTo>
                  <a:close/>
                </a:path>
                <a:path w="3251200" h="792479">
                  <a:moveTo>
                    <a:pt x="2697480" y="731520"/>
                  </a:moveTo>
                  <a:lnTo>
                    <a:pt x="2682240" y="731520"/>
                  </a:lnTo>
                  <a:lnTo>
                    <a:pt x="2697480" y="746760"/>
                  </a:lnTo>
                  <a:lnTo>
                    <a:pt x="2697480" y="731520"/>
                  </a:lnTo>
                  <a:close/>
                </a:path>
                <a:path w="3251200" h="792479">
                  <a:moveTo>
                    <a:pt x="3159760" y="731520"/>
                  </a:moveTo>
                  <a:lnTo>
                    <a:pt x="2697480" y="731520"/>
                  </a:lnTo>
                  <a:lnTo>
                    <a:pt x="2697480" y="746760"/>
                  </a:lnTo>
                  <a:lnTo>
                    <a:pt x="3159760" y="746760"/>
                  </a:lnTo>
                  <a:lnTo>
                    <a:pt x="3159760" y="731520"/>
                  </a:lnTo>
                  <a:close/>
                </a:path>
                <a:path w="3251200" h="792479">
                  <a:moveTo>
                    <a:pt x="2690656" y="0"/>
                  </a:moveTo>
                  <a:lnTo>
                    <a:pt x="0" y="0"/>
                  </a:lnTo>
                  <a:lnTo>
                    <a:pt x="0" y="30479"/>
                  </a:lnTo>
                  <a:lnTo>
                    <a:pt x="2667000" y="30479"/>
                  </a:lnTo>
                  <a:lnTo>
                    <a:pt x="2667000" y="15239"/>
                  </a:lnTo>
                  <a:lnTo>
                    <a:pt x="2697480" y="15239"/>
                  </a:lnTo>
                  <a:lnTo>
                    <a:pt x="2697480" y="6823"/>
                  </a:lnTo>
                  <a:lnTo>
                    <a:pt x="2690656" y="0"/>
                  </a:lnTo>
                  <a:close/>
                </a:path>
                <a:path w="3251200" h="792479">
                  <a:moveTo>
                    <a:pt x="2697480" y="15239"/>
                  </a:moveTo>
                  <a:lnTo>
                    <a:pt x="2667000" y="15239"/>
                  </a:lnTo>
                  <a:lnTo>
                    <a:pt x="2682240" y="30479"/>
                  </a:lnTo>
                  <a:lnTo>
                    <a:pt x="2697480" y="30479"/>
                  </a:lnTo>
                  <a:lnTo>
                    <a:pt x="2697480" y="15239"/>
                  </a:lnTo>
                  <a:close/>
                </a:path>
              </a:pathLst>
            </a:custGeom>
            <a:solidFill>
              <a:srgbClr val="000000"/>
            </a:solidFill>
          </p:spPr>
          <p:txBody>
            <a:bodyPr wrap="square" lIns="0" tIns="0" rIns="0" bIns="0" rtlCol="0"/>
            <a:lstStyle/>
            <a:p>
              <a:endParaRPr sz="1588"/>
            </a:p>
          </p:txBody>
        </p:sp>
        <p:pic>
          <p:nvPicPr>
            <p:cNvPr id="69" name="object 69"/>
            <p:cNvPicPr/>
            <p:nvPr/>
          </p:nvPicPr>
          <p:blipFill>
            <a:blip r:embed="rId3" cstate="print"/>
            <a:stretch>
              <a:fillRect/>
            </a:stretch>
          </p:blipFill>
          <p:spPr>
            <a:xfrm>
              <a:off x="2780452" y="4480666"/>
              <a:ext cx="247227" cy="91439"/>
            </a:xfrm>
            <a:prstGeom prst="rect">
              <a:avLst/>
            </a:prstGeom>
          </p:spPr>
        </p:pic>
        <p:sp>
          <p:nvSpPr>
            <p:cNvPr id="70" name="object 70"/>
            <p:cNvSpPr/>
            <p:nvPr/>
          </p:nvSpPr>
          <p:spPr>
            <a:xfrm>
              <a:off x="3241040" y="3920172"/>
              <a:ext cx="2519680" cy="1871345"/>
            </a:xfrm>
            <a:custGeom>
              <a:avLst/>
              <a:gdLst/>
              <a:ahLst/>
              <a:cxnLst/>
              <a:rect l="l" t="t" r="r" b="b"/>
              <a:pathLst>
                <a:path w="2519679" h="1871345">
                  <a:moveTo>
                    <a:pt x="1076960" y="927950"/>
                  </a:moveTo>
                  <a:lnTo>
                    <a:pt x="1047737" y="913917"/>
                  </a:lnTo>
                  <a:lnTo>
                    <a:pt x="984808" y="883678"/>
                  </a:lnTo>
                  <a:lnTo>
                    <a:pt x="985278" y="913917"/>
                  </a:lnTo>
                  <a:lnTo>
                    <a:pt x="985278" y="914158"/>
                  </a:lnTo>
                  <a:lnTo>
                    <a:pt x="985761" y="944397"/>
                  </a:lnTo>
                  <a:lnTo>
                    <a:pt x="985761" y="944638"/>
                  </a:lnTo>
                  <a:lnTo>
                    <a:pt x="986243" y="975106"/>
                  </a:lnTo>
                  <a:lnTo>
                    <a:pt x="1076960" y="927950"/>
                  </a:lnTo>
                  <a:close/>
                </a:path>
                <a:path w="2519679" h="1871345">
                  <a:moveTo>
                    <a:pt x="1132840" y="1825421"/>
                  </a:moveTo>
                  <a:lnTo>
                    <a:pt x="1102360" y="1810181"/>
                  </a:lnTo>
                  <a:lnTo>
                    <a:pt x="1041400" y="1779701"/>
                  </a:lnTo>
                  <a:lnTo>
                    <a:pt x="1041400" y="1810181"/>
                  </a:lnTo>
                  <a:lnTo>
                    <a:pt x="338658" y="1810181"/>
                  </a:lnTo>
                  <a:lnTo>
                    <a:pt x="338658" y="954836"/>
                  </a:lnTo>
                  <a:lnTo>
                    <a:pt x="985761" y="944638"/>
                  </a:lnTo>
                  <a:lnTo>
                    <a:pt x="985278" y="914158"/>
                  </a:lnTo>
                  <a:lnTo>
                    <a:pt x="338658" y="924356"/>
                  </a:lnTo>
                  <a:lnTo>
                    <a:pt x="338658" y="386080"/>
                  </a:lnTo>
                  <a:lnTo>
                    <a:pt x="965200" y="386080"/>
                  </a:lnTo>
                  <a:lnTo>
                    <a:pt x="965200" y="416560"/>
                  </a:lnTo>
                  <a:lnTo>
                    <a:pt x="1026160" y="386080"/>
                  </a:lnTo>
                  <a:lnTo>
                    <a:pt x="1056640" y="370840"/>
                  </a:lnTo>
                  <a:lnTo>
                    <a:pt x="1026160" y="355600"/>
                  </a:lnTo>
                  <a:lnTo>
                    <a:pt x="965200" y="325120"/>
                  </a:lnTo>
                  <a:lnTo>
                    <a:pt x="965200" y="355600"/>
                  </a:lnTo>
                  <a:lnTo>
                    <a:pt x="338658" y="355600"/>
                  </a:lnTo>
                  <a:lnTo>
                    <a:pt x="338658" y="60960"/>
                  </a:lnTo>
                  <a:lnTo>
                    <a:pt x="965200" y="60960"/>
                  </a:lnTo>
                  <a:lnTo>
                    <a:pt x="965200" y="91440"/>
                  </a:lnTo>
                  <a:lnTo>
                    <a:pt x="1026147" y="60960"/>
                  </a:lnTo>
                  <a:lnTo>
                    <a:pt x="1056640" y="45720"/>
                  </a:lnTo>
                  <a:lnTo>
                    <a:pt x="1026160" y="30480"/>
                  </a:lnTo>
                  <a:lnTo>
                    <a:pt x="965200" y="0"/>
                  </a:lnTo>
                  <a:lnTo>
                    <a:pt x="965200" y="30480"/>
                  </a:lnTo>
                  <a:lnTo>
                    <a:pt x="325120" y="30480"/>
                  </a:lnTo>
                  <a:lnTo>
                    <a:pt x="325120" y="40640"/>
                  </a:lnTo>
                  <a:lnTo>
                    <a:pt x="308178" y="40640"/>
                  </a:lnTo>
                  <a:lnTo>
                    <a:pt x="308178" y="606209"/>
                  </a:lnTo>
                  <a:lnTo>
                    <a:pt x="294640" y="599440"/>
                  </a:lnTo>
                  <a:lnTo>
                    <a:pt x="233680" y="568972"/>
                  </a:lnTo>
                  <a:lnTo>
                    <a:pt x="233680" y="599440"/>
                  </a:lnTo>
                  <a:lnTo>
                    <a:pt x="0" y="599440"/>
                  </a:lnTo>
                  <a:lnTo>
                    <a:pt x="0" y="629920"/>
                  </a:lnTo>
                  <a:lnTo>
                    <a:pt x="233680" y="629920"/>
                  </a:lnTo>
                  <a:lnTo>
                    <a:pt x="233680" y="660400"/>
                  </a:lnTo>
                  <a:lnTo>
                    <a:pt x="294640" y="629920"/>
                  </a:lnTo>
                  <a:lnTo>
                    <a:pt x="308178" y="623150"/>
                  </a:lnTo>
                  <a:lnTo>
                    <a:pt x="308178" y="1833829"/>
                  </a:lnTo>
                  <a:lnTo>
                    <a:pt x="315010" y="1840661"/>
                  </a:lnTo>
                  <a:lnTo>
                    <a:pt x="1041400" y="1840661"/>
                  </a:lnTo>
                  <a:lnTo>
                    <a:pt x="1041400" y="1871141"/>
                  </a:lnTo>
                  <a:lnTo>
                    <a:pt x="1102347" y="1840661"/>
                  </a:lnTo>
                  <a:lnTo>
                    <a:pt x="1132840" y="1825421"/>
                  </a:lnTo>
                  <a:close/>
                </a:path>
                <a:path w="2519679" h="1871345">
                  <a:moveTo>
                    <a:pt x="2519680" y="452120"/>
                  </a:moveTo>
                  <a:lnTo>
                    <a:pt x="2489200" y="436880"/>
                  </a:lnTo>
                  <a:lnTo>
                    <a:pt x="2428240" y="406400"/>
                  </a:lnTo>
                  <a:lnTo>
                    <a:pt x="2428240" y="436880"/>
                  </a:lnTo>
                  <a:lnTo>
                    <a:pt x="1706880" y="436880"/>
                  </a:lnTo>
                  <a:lnTo>
                    <a:pt x="1706880" y="467360"/>
                  </a:lnTo>
                  <a:lnTo>
                    <a:pt x="2428240" y="467360"/>
                  </a:lnTo>
                  <a:lnTo>
                    <a:pt x="2428240" y="497840"/>
                  </a:lnTo>
                  <a:lnTo>
                    <a:pt x="2489187" y="467360"/>
                  </a:lnTo>
                  <a:lnTo>
                    <a:pt x="2519680" y="452120"/>
                  </a:lnTo>
                  <a:close/>
                </a:path>
              </a:pathLst>
            </a:custGeom>
            <a:solidFill>
              <a:srgbClr val="000000"/>
            </a:solidFill>
          </p:spPr>
          <p:txBody>
            <a:bodyPr wrap="square" lIns="0" tIns="0" rIns="0" bIns="0" rtlCol="0"/>
            <a:lstStyle/>
            <a:p>
              <a:endParaRPr sz="1588"/>
            </a:p>
          </p:txBody>
        </p:sp>
        <p:sp>
          <p:nvSpPr>
            <p:cNvPr id="71" name="object 71"/>
            <p:cNvSpPr/>
            <p:nvPr/>
          </p:nvSpPr>
          <p:spPr>
            <a:xfrm>
              <a:off x="6248400" y="3478211"/>
              <a:ext cx="487680" cy="406400"/>
            </a:xfrm>
            <a:custGeom>
              <a:avLst/>
              <a:gdLst/>
              <a:ahLst/>
              <a:cxnLst/>
              <a:rect l="l" t="t" r="r" b="b"/>
              <a:pathLst>
                <a:path w="487679" h="406400">
                  <a:moveTo>
                    <a:pt x="0" y="0"/>
                  </a:moveTo>
                  <a:lnTo>
                    <a:pt x="487679" y="0"/>
                  </a:lnTo>
                  <a:lnTo>
                    <a:pt x="487679" y="406399"/>
                  </a:lnTo>
                  <a:lnTo>
                    <a:pt x="0" y="406399"/>
                  </a:lnTo>
                  <a:lnTo>
                    <a:pt x="0" y="0"/>
                  </a:lnTo>
                  <a:close/>
                </a:path>
              </a:pathLst>
            </a:custGeom>
            <a:ln w="30479">
              <a:solidFill>
                <a:srgbClr val="000000"/>
              </a:solidFill>
            </a:ln>
          </p:spPr>
          <p:txBody>
            <a:bodyPr wrap="square" lIns="0" tIns="0" rIns="0" bIns="0" rtlCol="0"/>
            <a:lstStyle/>
            <a:p>
              <a:endParaRPr sz="1588"/>
            </a:p>
          </p:txBody>
        </p:sp>
      </p:grpSp>
      <p:sp>
        <p:nvSpPr>
          <p:cNvPr id="72" name="object 72"/>
          <p:cNvSpPr txBox="1"/>
          <p:nvPr/>
        </p:nvSpPr>
        <p:spPr>
          <a:xfrm>
            <a:off x="5683623" y="3140336"/>
            <a:ext cx="359148" cy="187839"/>
          </a:xfrm>
          <a:prstGeom prst="rect">
            <a:avLst/>
          </a:prstGeom>
        </p:spPr>
        <p:txBody>
          <a:bodyPr vert="horz" wrap="square" lIns="0" tIns="11206" rIns="0" bIns="0" rtlCol="0">
            <a:spAutoFit/>
          </a:bodyPr>
          <a:lstStyle/>
          <a:p>
            <a:pPr marL="11206">
              <a:spcBef>
                <a:spcPts val="88"/>
              </a:spcBef>
            </a:pPr>
            <a:r>
              <a:rPr sz="1147" spc="-9" dirty="0">
                <a:latin typeface="Times New Roman"/>
                <a:cs typeface="Times New Roman"/>
              </a:rPr>
              <a:t>Zero?</a:t>
            </a:r>
            <a:endParaRPr sz="1147">
              <a:latin typeface="Times New Roman"/>
              <a:cs typeface="Times New Roman"/>
            </a:endParaRPr>
          </a:p>
        </p:txBody>
      </p:sp>
      <p:grpSp>
        <p:nvGrpSpPr>
          <p:cNvPr id="73" name="object 73"/>
          <p:cNvGrpSpPr/>
          <p:nvPr/>
        </p:nvGrpSpPr>
        <p:grpSpPr>
          <a:xfrm>
            <a:off x="685793" y="2266668"/>
            <a:ext cx="7844678" cy="3397624"/>
            <a:chOff x="624832" y="2568891"/>
            <a:chExt cx="8890635" cy="3850640"/>
          </a:xfrm>
        </p:grpSpPr>
        <p:pic>
          <p:nvPicPr>
            <p:cNvPr id="74" name="object 74"/>
            <p:cNvPicPr/>
            <p:nvPr/>
          </p:nvPicPr>
          <p:blipFill>
            <a:blip r:embed="rId4" cstate="print"/>
            <a:stretch>
              <a:fillRect/>
            </a:stretch>
          </p:blipFill>
          <p:spPr>
            <a:xfrm>
              <a:off x="6004559" y="4245292"/>
              <a:ext cx="243839" cy="91440"/>
            </a:xfrm>
            <a:prstGeom prst="rect">
              <a:avLst/>
            </a:prstGeom>
          </p:spPr>
        </p:pic>
        <p:pic>
          <p:nvPicPr>
            <p:cNvPr id="75" name="object 75"/>
            <p:cNvPicPr/>
            <p:nvPr/>
          </p:nvPicPr>
          <p:blipFill>
            <a:blip r:embed="rId5" cstate="print"/>
            <a:stretch>
              <a:fillRect/>
            </a:stretch>
          </p:blipFill>
          <p:spPr>
            <a:xfrm>
              <a:off x="6004559" y="4895532"/>
              <a:ext cx="243839" cy="91440"/>
            </a:xfrm>
            <a:prstGeom prst="rect">
              <a:avLst/>
            </a:prstGeom>
          </p:spPr>
        </p:pic>
        <p:sp>
          <p:nvSpPr>
            <p:cNvPr id="76" name="object 76"/>
            <p:cNvSpPr/>
            <p:nvPr/>
          </p:nvSpPr>
          <p:spPr>
            <a:xfrm>
              <a:off x="624827" y="2568892"/>
              <a:ext cx="7590155" cy="3200400"/>
            </a:xfrm>
            <a:custGeom>
              <a:avLst/>
              <a:gdLst/>
              <a:ahLst/>
              <a:cxnLst/>
              <a:rect l="l" t="t" r="r" b="b"/>
              <a:pathLst>
                <a:path w="7590155" h="3200400">
                  <a:moveTo>
                    <a:pt x="1315732" y="1965960"/>
                  </a:moveTo>
                  <a:lnTo>
                    <a:pt x="1285252" y="1950720"/>
                  </a:lnTo>
                  <a:lnTo>
                    <a:pt x="1224292" y="1920252"/>
                  </a:lnTo>
                  <a:lnTo>
                    <a:pt x="1224292" y="1950720"/>
                  </a:lnTo>
                  <a:lnTo>
                    <a:pt x="665492" y="1950720"/>
                  </a:lnTo>
                  <a:lnTo>
                    <a:pt x="665492" y="1981200"/>
                  </a:lnTo>
                  <a:lnTo>
                    <a:pt x="1224292" y="1981200"/>
                  </a:lnTo>
                  <a:lnTo>
                    <a:pt x="1224292" y="2011680"/>
                  </a:lnTo>
                  <a:lnTo>
                    <a:pt x="1285240" y="1981200"/>
                  </a:lnTo>
                  <a:lnTo>
                    <a:pt x="1315732" y="1965960"/>
                  </a:lnTo>
                  <a:close/>
                </a:path>
                <a:path w="7590155" h="3200400">
                  <a:moveTo>
                    <a:pt x="5135892" y="2490901"/>
                  </a:moveTo>
                  <a:lnTo>
                    <a:pt x="5105412" y="2475661"/>
                  </a:lnTo>
                  <a:lnTo>
                    <a:pt x="5044452" y="2445181"/>
                  </a:lnTo>
                  <a:lnTo>
                    <a:pt x="5044452" y="2475661"/>
                  </a:lnTo>
                  <a:lnTo>
                    <a:pt x="4883632" y="2475661"/>
                  </a:lnTo>
                  <a:lnTo>
                    <a:pt x="4876812" y="2482481"/>
                  </a:lnTo>
                  <a:lnTo>
                    <a:pt x="4876812" y="3169920"/>
                  </a:lnTo>
                  <a:lnTo>
                    <a:pt x="4241812" y="3169920"/>
                  </a:lnTo>
                  <a:lnTo>
                    <a:pt x="4241812" y="3200400"/>
                  </a:lnTo>
                  <a:lnTo>
                    <a:pt x="4900460" y="3200400"/>
                  </a:lnTo>
                  <a:lnTo>
                    <a:pt x="4907292" y="3193580"/>
                  </a:lnTo>
                  <a:lnTo>
                    <a:pt x="4907292" y="3185160"/>
                  </a:lnTo>
                  <a:lnTo>
                    <a:pt x="4907292" y="3169920"/>
                  </a:lnTo>
                  <a:lnTo>
                    <a:pt x="4907292" y="2506141"/>
                  </a:lnTo>
                  <a:lnTo>
                    <a:pt x="5044452" y="2506141"/>
                  </a:lnTo>
                  <a:lnTo>
                    <a:pt x="5044452" y="2536621"/>
                  </a:lnTo>
                  <a:lnTo>
                    <a:pt x="5105412" y="2506141"/>
                  </a:lnTo>
                  <a:lnTo>
                    <a:pt x="5135892" y="2490901"/>
                  </a:lnTo>
                  <a:close/>
                </a:path>
                <a:path w="7590155" h="3200400">
                  <a:moveTo>
                    <a:pt x="5135892" y="2291080"/>
                  </a:moveTo>
                  <a:lnTo>
                    <a:pt x="5105412" y="2275840"/>
                  </a:lnTo>
                  <a:lnTo>
                    <a:pt x="5044452" y="2245360"/>
                  </a:lnTo>
                  <a:lnTo>
                    <a:pt x="5044452" y="2275840"/>
                  </a:lnTo>
                  <a:lnTo>
                    <a:pt x="4323092" y="2275840"/>
                  </a:lnTo>
                  <a:lnTo>
                    <a:pt x="4323092" y="2306320"/>
                  </a:lnTo>
                  <a:lnTo>
                    <a:pt x="5044452" y="2306320"/>
                  </a:lnTo>
                  <a:lnTo>
                    <a:pt x="5044452" y="2336800"/>
                  </a:lnTo>
                  <a:lnTo>
                    <a:pt x="5105412" y="2306320"/>
                  </a:lnTo>
                  <a:lnTo>
                    <a:pt x="5135892" y="2291080"/>
                  </a:lnTo>
                  <a:close/>
                </a:path>
                <a:path w="7590155" h="3200400">
                  <a:moveTo>
                    <a:pt x="6995173" y="247230"/>
                  </a:moveTo>
                  <a:lnTo>
                    <a:pt x="6964693" y="231990"/>
                  </a:lnTo>
                  <a:lnTo>
                    <a:pt x="6903733" y="201510"/>
                  </a:lnTo>
                  <a:lnTo>
                    <a:pt x="6903733" y="231990"/>
                  </a:lnTo>
                  <a:lnTo>
                    <a:pt x="4558512" y="231990"/>
                  </a:lnTo>
                  <a:lnTo>
                    <a:pt x="4551692" y="238810"/>
                  </a:lnTo>
                  <a:lnTo>
                    <a:pt x="4551692" y="828040"/>
                  </a:lnTo>
                  <a:lnTo>
                    <a:pt x="4582172" y="828040"/>
                  </a:lnTo>
                  <a:lnTo>
                    <a:pt x="4582172" y="262470"/>
                  </a:lnTo>
                  <a:lnTo>
                    <a:pt x="6903733" y="262470"/>
                  </a:lnTo>
                  <a:lnTo>
                    <a:pt x="6903733" y="292950"/>
                  </a:lnTo>
                  <a:lnTo>
                    <a:pt x="6964693" y="262470"/>
                  </a:lnTo>
                  <a:lnTo>
                    <a:pt x="6995173" y="247230"/>
                  </a:lnTo>
                  <a:close/>
                </a:path>
                <a:path w="7590155" h="3200400">
                  <a:moveTo>
                    <a:pt x="6996862" y="567270"/>
                  </a:moveTo>
                  <a:lnTo>
                    <a:pt x="6966382" y="552030"/>
                  </a:lnTo>
                  <a:lnTo>
                    <a:pt x="6905422" y="521550"/>
                  </a:lnTo>
                  <a:lnTo>
                    <a:pt x="6905422" y="552030"/>
                  </a:lnTo>
                  <a:lnTo>
                    <a:pt x="6663322" y="552030"/>
                  </a:lnTo>
                  <a:lnTo>
                    <a:pt x="6656502" y="558850"/>
                  </a:lnTo>
                  <a:lnTo>
                    <a:pt x="6656502" y="2030310"/>
                  </a:lnTo>
                  <a:lnTo>
                    <a:pt x="6686982" y="2030310"/>
                  </a:lnTo>
                  <a:lnTo>
                    <a:pt x="6686982" y="582510"/>
                  </a:lnTo>
                  <a:lnTo>
                    <a:pt x="6905422" y="582510"/>
                  </a:lnTo>
                  <a:lnTo>
                    <a:pt x="6905422" y="612990"/>
                  </a:lnTo>
                  <a:lnTo>
                    <a:pt x="6966382" y="582510"/>
                  </a:lnTo>
                  <a:lnTo>
                    <a:pt x="6996862" y="567270"/>
                  </a:lnTo>
                  <a:close/>
                </a:path>
                <a:path w="7590155" h="3200400">
                  <a:moveTo>
                    <a:pt x="7086613" y="2047240"/>
                  </a:moveTo>
                  <a:lnTo>
                    <a:pt x="7056133" y="2032000"/>
                  </a:lnTo>
                  <a:lnTo>
                    <a:pt x="6995173" y="2001520"/>
                  </a:lnTo>
                  <a:lnTo>
                    <a:pt x="6995173" y="2032000"/>
                  </a:lnTo>
                  <a:lnTo>
                    <a:pt x="6111252" y="2032000"/>
                  </a:lnTo>
                  <a:lnTo>
                    <a:pt x="6111252" y="2062480"/>
                  </a:lnTo>
                  <a:lnTo>
                    <a:pt x="6995173" y="2062480"/>
                  </a:lnTo>
                  <a:lnTo>
                    <a:pt x="6995173" y="2092960"/>
                  </a:lnTo>
                  <a:lnTo>
                    <a:pt x="7056133" y="2062480"/>
                  </a:lnTo>
                  <a:lnTo>
                    <a:pt x="7086613" y="2047240"/>
                  </a:lnTo>
                  <a:close/>
                </a:path>
                <a:path w="7590155" h="3200400">
                  <a:moveTo>
                    <a:pt x="7589533" y="6832"/>
                  </a:moveTo>
                  <a:lnTo>
                    <a:pt x="7582700" y="0"/>
                  </a:lnTo>
                  <a:lnTo>
                    <a:pt x="30492" y="0"/>
                  </a:lnTo>
                  <a:lnTo>
                    <a:pt x="30492" y="15265"/>
                  </a:lnTo>
                  <a:lnTo>
                    <a:pt x="15252" y="30480"/>
                  </a:lnTo>
                  <a:lnTo>
                    <a:pt x="30429" y="15265"/>
                  </a:lnTo>
                  <a:lnTo>
                    <a:pt x="30492" y="0"/>
                  </a:lnTo>
                  <a:lnTo>
                    <a:pt x="11201" y="0"/>
                  </a:lnTo>
                  <a:lnTo>
                    <a:pt x="7315" y="1612"/>
                  </a:lnTo>
                  <a:lnTo>
                    <a:pt x="1600" y="7340"/>
                  </a:lnTo>
                  <a:lnTo>
                    <a:pt x="0" y="11226"/>
                  </a:lnTo>
                  <a:lnTo>
                    <a:pt x="3314" y="1903310"/>
                  </a:lnTo>
                  <a:lnTo>
                    <a:pt x="3403" y="1957463"/>
                  </a:lnTo>
                  <a:lnTo>
                    <a:pt x="10223" y="1964270"/>
                  </a:lnTo>
                  <a:lnTo>
                    <a:pt x="215061" y="1964270"/>
                  </a:lnTo>
                  <a:lnTo>
                    <a:pt x="215061" y="1994750"/>
                  </a:lnTo>
                  <a:lnTo>
                    <a:pt x="276021" y="1964270"/>
                  </a:lnTo>
                  <a:lnTo>
                    <a:pt x="306501" y="1949030"/>
                  </a:lnTo>
                  <a:lnTo>
                    <a:pt x="276021" y="1933790"/>
                  </a:lnTo>
                  <a:lnTo>
                    <a:pt x="215061" y="1903310"/>
                  </a:lnTo>
                  <a:lnTo>
                    <a:pt x="215061" y="1933790"/>
                  </a:lnTo>
                  <a:lnTo>
                    <a:pt x="33845" y="1933790"/>
                  </a:lnTo>
                  <a:lnTo>
                    <a:pt x="30518" y="30480"/>
                  </a:lnTo>
                  <a:lnTo>
                    <a:pt x="7559053" y="30480"/>
                  </a:lnTo>
                  <a:lnTo>
                    <a:pt x="7559053" y="15265"/>
                  </a:lnTo>
                  <a:lnTo>
                    <a:pt x="7559053" y="428421"/>
                  </a:lnTo>
                  <a:lnTo>
                    <a:pt x="7167893" y="428421"/>
                  </a:lnTo>
                  <a:lnTo>
                    <a:pt x="7167893" y="458901"/>
                  </a:lnTo>
                  <a:lnTo>
                    <a:pt x="7582700" y="458901"/>
                  </a:lnTo>
                  <a:lnTo>
                    <a:pt x="7589533" y="452069"/>
                  </a:lnTo>
                  <a:lnTo>
                    <a:pt x="7589533" y="443661"/>
                  </a:lnTo>
                  <a:lnTo>
                    <a:pt x="7589533" y="428421"/>
                  </a:lnTo>
                  <a:lnTo>
                    <a:pt x="7589533" y="30480"/>
                  </a:lnTo>
                  <a:lnTo>
                    <a:pt x="7589533" y="15265"/>
                  </a:lnTo>
                  <a:lnTo>
                    <a:pt x="7589533" y="6832"/>
                  </a:lnTo>
                  <a:close/>
                </a:path>
              </a:pathLst>
            </a:custGeom>
            <a:solidFill>
              <a:srgbClr val="000000"/>
            </a:solidFill>
          </p:spPr>
          <p:txBody>
            <a:bodyPr wrap="square" lIns="0" tIns="0" rIns="0" bIns="0" rtlCol="0"/>
            <a:lstStyle/>
            <a:p>
              <a:endParaRPr sz="1588"/>
            </a:p>
          </p:txBody>
        </p:sp>
        <p:pic>
          <p:nvPicPr>
            <p:cNvPr id="77" name="object 77"/>
            <p:cNvPicPr/>
            <p:nvPr/>
          </p:nvPicPr>
          <p:blipFill>
            <a:blip r:embed="rId6" cstate="print"/>
            <a:stretch>
              <a:fillRect/>
            </a:stretch>
          </p:blipFill>
          <p:spPr>
            <a:xfrm>
              <a:off x="1778000" y="3676332"/>
              <a:ext cx="243839" cy="91439"/>
            </a:xfrm>
            <a:prstGeom prst="rect">
              <a:avLst/>
            </a:prstGeom>
          </p:spPr>
        </p:pic>
        <p:sp>
          <p:nvSpPr>
            <p:cNvPr id="78" name="object 78"/>
            <p:cNvSpPr/>
            <p:nvPr/>
          </p:nvSpPr>
          <p:spPr>
            <a:xfrm>
              <a:off x="1437640" y="3026092"/>
              <a:ext cx="8077200" cy="3393440"/>
            </a:xfrm>
            <a:custGeom>
              <a:avLst/>
              <a:gdLst/>
              <a:ahLst/>
              <a:cxnLst/>
              <a:rect l="l" t="t" r="r" b="b"/>
              <a:pathLst>
                <a:path w="8077200" h="3393440">
                  <a:moveTo>
                    <a:pt x="584200" y="45720"/>
                  </a:moveTo>
                  <a:lnTo>
                    <a:pt x="553707" y="30480"/>
                  </a:lnTo>
                  <a:lnTo>
                    <a:pt x="492760" y="0"/>
                  </a:lnTo>
                  <a:lnTo>
                    <a:pt x="492760" y="30480"/>
                  </a:lnTo>
                  <a:lnTo>
                    <a:pt x="6819" y="30480"/>
                  </a:lnTo>
                  <a:lnTo>
                    <a:pt x="0" y="37312"/>
                  </a:lnTo>
                  <a:lnTo>
                    <a:pt x="0" y="1508760"/>
                  </a:lnTo>
                  <a:lnTo>
                    <a:pt x="30480" y="1508760"/>
                  </a:lnTo>
                  <a:lnTo>
                    <a:pt x="30480" y="60960"/>
                  </a:lnTo>
                  <a:lnTo>
                    <a:pt x="492760" y="60960"/>
                  </a:lnTo>
                  <a:lnTo>
                    <a:pt x="492760" y="91440"/>
                  </a:lnTo>
                  <a:lnTo>
                    <a:pt x="553707" y="60960"/>
                  </a:lnTo>
                  <a:lnTo>
                    <a:pt x="584200" y="45720"/>
                  </a:lnTo>
                  <a:close/>
                </a:path>
                <a:path w="8077200" h="3393440">
                  <a:moveTo>
                    <a:pt x="7574280" y="2402840"/>
                  </a:moveTo>
                  <a:lnTo>
                    <a:pt x="7543800" y="2387600"/>
                  </a:lnTo>
                  <a:lnTo>
                    <a:pt x="7482840" y="2357120"/>
                  </a:lnTo>
                  <a:lnTo>
                    <a:pt x="7482840" y="2387600"/>
                  </a:lnTo>
                  <a:lnTo>
                    <a:pt x="7322020" y="2387600"/>
                  </a:lnTo>
                  <a:lnTo>
                    <a:pt x="7315200" y="2394432"/>
                  </a:lnTo>
                  <a:lnTo>
                    <a:pt x="7315200" y="2794000"/>
                  </a:lnTo>
                  <a:lnTo>
                    <a:pt x="5882640" y="2794000"/>
                  </a:lnTo>
                  <a:lnTo>
                    <a:pt x="5882640" y="2336800"/>
                  </a:lnTo>
                  <a:lnTo>
                    <a:pt x="6182360" y="2336800"/>
                  </a:lnTo>
                  <a:lnTo>
                    <a:pt x="6182360" y="2367280"/>
                  </a:lnTo>
                  <a:lnTo>
                    <a:pt x="6243320" y="2336800"/>
                  </a:lnTo>
                  <a:lnTo>
                    <a:pt x="6273800" y="2321560"/>
                  </a:lnTo>
                  <a:lnTo>
                    <a:pt x="6243320" y="2306320"/>
                  </a:lnTo>
                  <a:lnTo>
                    <a:pt x="6182360" y="2275840"/>
                  </a:lnTo>
                  <a:lnTo>
                    <a:pt x="6182360" y="2306320"/>
                  </a:lnTo>
                  <a:lnTo>
                    <a:pt x="5882640" y="2306320"/>
                  </a:lnTo>
                  <a:lnTo>
                    <a:pt x="5882640" y="1590040"/>
                  </a:lnTo>
                  <a:lnTo>
                    <a:pt x="5852160" y="1590040"/>
                  </a:lnTo>
                  <a:lnTo>
                    <a:pt x="5852160" y="2306320"/>
                  </a:lnTo>
                  <a:lnTo>
                    <a:pt x="4013200" y="2306320"/>
                  </a:lnTo>
                  <a:lnTo>
                    <a:pt x="4013200" y="1833880"/>
                  </a:lnTo>
                  <a:lnTo>
                    <a:pt x="3982720" y="1833880"/>
                  </a:lnTo>
                  <a:lnTo>
                    <a:pt x="3982720" y="2329980"/>
                  </a:lnTo>
                  <a:lnTo>
                    <a:pt x="3989540" y="2336800"/>
                  </a:lnTo>
                  <a:lnTo>
                    <a:pt x="5852160" y="2336800"/>
                  </a:lnTo>
                  <a:lnTo>
                    <a:pt x="5852160" y="2817660"/>
                  </a:lnTo>
                  <a:lnTo>
                    <a:pt x="5858980" y="2824480"/>
                  </a:lnTo>
                  <a:lnTo>
                    <a:pt x="7338847" y="2824480"/>
                  </a:lnTo>
                  <a:lnTo>
                    <a:pt x="7345680" y="2817660"/>
                  </a:lnTo>
                  <a:lnTo>
                    <a:pt x="7345680" y="2809240"/>
                  </a:lnTo>
                  <a:lnTo>
                    <a:pt x="7345680" y="2794000"/>
                  </a:lnTo>
                  <a:lnTo>
                    <a:pt x="7345680" y="2418080"/>
                  </a:lnTo>
                  <a:lnTo>
                    <a:pt x="7482840" y="2418080"/>
                  </a:lnTo>
                  <a:lnTo>
                    <a:pt x="7482840" y="2448560"/>
                  </a:lnTo>
                  <a:lnTo>
                    <a:pt x="7543800" y="2418080"/>
                  </a:lnTo>
                  <a:lnTo>
                    <a:pt x="7574280" y="2402840"/>
                  </a:lnTo>
                  <a:close/>
                </a:path>
                <a:path w="8077200" h="3393440">
                  <a:moveTo>
                    <a:pt x="8077200" y="2231872"/>
                  </a:moveTo>
                  <a:lnTo>
                    <a:pt x="8070367" y="2225040"/>
                  </a:lnTo>
                  <a:lnTo>
                    <a:pt x="7807960" y="2225040"/>
                  </a:lnTo>
                  <a:lnTo>
                    <a:pt x="7807960" y="2255520"/>
                  </a:lnTo>
                  <a:lnTo>
                    <a:pt x="8046720" y="2255520"/>
                  </a:lnTo>
                  <a:lnTo>
                    <a:pt x="8046720" y="3362960"/>
                  </a:lnTo>
                  <a:lnTo>
                    <a:pt x="2225040" y="3362960"/>
                  </a:lnTo>
                  <a:lnTo>
                    <a:pt x="2225040" y="2092960"/>
                  </a:lnTo>
                  <a:lnTo>
                    <a:pt x="2209838" y="2092960"/>
                  </a:lnTo>
                  <a:lnTo>
                    <a:pt x="2225040" y="2092921"/>
                  </a:lnTo>
                  <a:lnTo>
                    <a:pt x="2788945" y="2091512"/>
                  </a:lnTo>
                  <a:lnTo>
                    <a:pt x="2789034" y="2121979"/>
                  </a:lnTo>
                  <a:lnTo>
                    <a:pt x="2849600" y="2091499"/>
                  </a:lnTo>
                  <a:lnTo>
                    <a:pt x="2880360" y="2076030"/>
                  </a:lnTo>
                  <a:lnTo>
                    <a:pt x="2850146" y="2061019"/>
                  </a:lnTo>
                  <a:lnTo>
                    <a:pt x="2788793" y="2030539"/>
                  </a:lnTo>
                  <a:lnTo>
                    <a:pt x="2788869" y="2061019"/>
                  </a:lnTo>
                  <a:lnTo>
                    <a:pt x="2201354" y="2062505"/>
                  </a:lnTo>
                  <a:lnTo>
                    <a:pt x="2194560" y="2069325"/>
                  </a:lnTo>
                  <a:lnTo>
                    <a:pt x="2194560" y="3386620"/>
                  </a:lnTo>
                  <a:lnTo>
                    <a:pt x="2201380" y="3393440"/>
                  </a:lnTo>
                  <a:lnTo>
                    <a:pt x="8070367" y="3393440"/>
                  </a:lnTo>
                  <a:lnTo>
                    <a:pt x="8077200" y="3386620"/>
                  </a:lnTo>
                  <a:lnTo>
                    <a:pt x="8077200" y="3378200"/>
                  </a:lnTo>
                  <a:lnTo>
                    <a:pt x="8077200" y="3362960"/>
                  </a:lnTo>
                  <a:lnTo>
                    <a:pt x="8077200" y="2255520"/>
                  </a:lnTo>
                  <a:lnTo>
                    <a:pt x="8077200" y="2240280"/>
                  </a:lnTo>
                  <a:lnTo>
                    <a:pt x="8077200" y="2231872"/>
                  </a:lnTo>
                  <a:close/>
                </a:path>
              </a:pathLst>
            </a:custGeom>
            <a:solidFill>
              <a:srgbClr val="000000"/>
            </a:solidFill>
          </p:spPr>
          <p:txBody>
            <a:bodyPr wrap="square" lIns="0" tIns="0" rIns="0" bIns="0" rtlCol="0"/>
            <a:lstStyle/>
            <a:p>
              <a:endParaRPr sz="1588"/>
            </a:p>
          </p:txBody>
        </p:sp>
      </p:grpSp>
      <p:sp>
        <p:nvSpPr>
          <p:cNvPr id="79" name="object 79"/>
          <p:cNvSpPr txBox="1"/>
          <p:nvPr/>
        </p:nvSpPr>
        <p:spPr>
          <a:xfrm>
            <a:off x="3275853" y="2730648"/>
            <a:ext cx="951940" cy="215089"/>
          </a:xfrm>
          <a:prstGeom prst="rect">
            <a:avLst/>
          </a:prstGeom>
        </p:spPr>
        <p:txBody>
          <a:bodyPr vert="horz" wrap="square" lIns="0" tIns="11206" rIns="0" bIns="0" rtlCol="0">
            <a:spAutoFit/>
          </a:bodyPr>
          <a:lstStyle/>
          <a:p>
            <a:pPr marL="11206">
              <a:spcBef>
                <a:spcPts val="88"/>
              </a:spcBef>
            </a:pPr>
            <a:r>
              <a:rPr sz="1324" dirty="0">
                <a:latin typeface="Times New Roman"/>
                <a:cs typeface="Times New Roman"/>
              </a:rPr>
              <a:t>Next</a:t>
            </a:r>
            <a:r>
              <a:rPr sz="1324" spc="-40" dirty="0">
                <a:latin typeface="Times New Roman"/>
                <a:cs typeface="Times New Roman"/>
              </a:rPr>
              <a:t> </a:t>
            </a:r>
            <a:r>
              <a:rPr sz="1324" dirty="0">
                <a:latin typeface="Times New Roman"/>
                <a:cs typeface="Times New Roman"/>
              </a:rPr>
              <a:t>SEQ</a:t>
            </a:r>
            <a:r>
              <a:rPr sz="1324" spc="-35"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80" name="object 80"/>
          <p:cNvSpPr/>
          <p:nvPr/>
        </p:nvSpPr>
        <p:spPr>
          <a:xfrm>
            <a:off x="968188" y="3454492"/>
            <a:ext cx="286871" cy="1147482"/>
          </a:xfrm>
          <a:custGeom>
            <a:avLst/>
            <a:gdLst/>
            <a:ahLst/>
            <a:cxnLst/>
            <a:rect l="l" t="t" r="r" b="b"/>
            <a:pathLst>
              <a:path w="325119" h="1300479">
                <a:moveTo>
                  <a:pt x="325119" y="0"/>
                </a:moveTo>
                <a:lnTo>
                  <a:pt x="0" y="0"/>
                </a:lnTo>
                <a:lnTo>
                  <a:pt x="0" y="1300480"/>
                </a:lnTo>
                <a:lnTo>
                  <a:pt x="325119" y="1300480"/>
                </a:lnTo>
                <a:lnTo>
                  <a:pt x="325119" y="0"/>
                </a:lnTo>
                <a:close/>
              </a:path>
            </a:pathLst>
          </a:custGeom>
          <a:solidFill>
            <a:srgbClr val="07F707"/>
          </a:solidFill>
        </p:spPr>
        <p:txBody>
          <a:bodyPr wrap="square" lIns="0" tIns="0" rIns="0" bIns="0" rtlCol="0"/>
          <a:lstStyle/>
          <a:p>
            <a:endParaRPr sz="1588"/>
          </a:p>
        </p:txBody>
      </p:sp>
      <p:sp>
        <p:nvSpPr>
          <p:cNvPr id="81" name="object 81"/>
          <p:cNvSpPr txBox="1"/>
          <p:nvPr/>
        </p:nvSpPr>
        <p:spPr>
          <a:xfrm>
            <a:off x="996975" y="3454492"/>
            <a:ext cx="258084" cy="1147482"/>
          </a:xfrm>
          <a:prstGeom prst="rect">
            <a:avLst/>
          </a:prstGeom>
          <a:ln w="30479">
            <a:solidFill>
              <a:srgbClr val="000000"/>
            </a:solidFill>
          </a:ln>
        </p:spPr>
        <p:txBody>
          <a:bodyPr vert="vert" wrap="square" lIns="0" tIns="13447" rIns="0" bIns="0" rtlCol="0">
            <a:spAutoFit/>
          </a:bodyPr>
          <a:lstStyle/>
          <a:p>
            <a:pPr marL="221888">
              <a:spcBef>
                <a:spcPts val="106"/>
              </a:spcBef>
            </a:pPr>
            <a:r>
              <a:rPr sz="1677" spc="-9" dirty="0">
                <a:latin typeface="Times New Roman"/>
                <a:cs typeface="Times New Roman"/>
              </a:rPr>
              <a:t>Address</a:t>
            </a:r>
            <a:endParaRPr sz="1677">
              <a:latin typeface="Times New Roman"/>
              <a:cs typeface="Times New Roman"/>
            </a:endParaRPr>
          </a:p>
        </p:txBody>
      </p:sp>
      <p:grpSp>
        <p:nvGrpSpPr>
          <p:cNvPr id="82" name="object 82"/>
          <p:cNvGrpSpPr/>
          <p:nvPr/>
        </p:nvGrpSpPr>
        <p:grpSpPr>
          <a:xfrm>
            <a:off x="966694" y="2952470"/>
            <a:ext cx="5662893" cy="1671917"/>
            <a:chOff x="943186" y="3346132"/>
            <a:chExt cx="6417945" cy="1894839"/>
          </a:xfrm>
        </p:grpSpPr>
        <p:sp>
          <p:nvSpPr>
            <p:cNvPr id="83" name="object 83"/>
            <p:cNvSpPr/>
            <p:nvPr/>
          </p:nvSpPr>
          <p:spPr>
            <a:xfrm>
              <a:off x="958426" y="4981891"/>
              <a:ext cx="296545" cy="243840"/>
            </a:xfrm>
            <a:custGeom>
              <a:avLst/>
              <a:gdLst/>
              <a:ahLst/>
              <a:cxnLst/>
              <a:rect l="l" t="t" r="r" b="b"/>
              <a:pathLst>
                <a:path w="296544" h="243839">
                  <a:moveTo>
                    <a:pt x="0" y="243839"/>
                  </a:moveTo>
                  <a:lnTo>
                    <a:pt x="148166" y="0"/>
                  </a:lnTo>
                  <a:lnTo>
                    <a:pt x="296333" y="243839"/>
                  </a:lnTo>
                  <a:lnTo>
                    <a:pt x="0" y="243839"/>
                  </a:lnTo>
                  <a:close/>
                </a:path>
              </a:pathLst>
            </a:custGeom>
            <a:ln w="30479">
              <a:solidFill>
                <a:srgbClr val="000000"/>
              </a:solidFill>
            </a:ln>
          </p:spPr>
          <p:txBody>
            <a:bodyPr wrap="square" lIns="0" tIns="0" rIns="0" bIns="0" rtlCol="0"/>
            <a:lstStyle/>
            <a:p>
              <a:endParaRPr sz="1588"/>
            </a:p>
          </p:txBody>
        </p:sp>
        <p:pic>
          <p:nvPicPr>
            <p:cNvPr id="84" name="object 84"/>
            <p:cNvPicPr/>
            <p:nvPr/>
          </p:nvPicPr>
          <p:blipFill>
            <a:blip r:embed="rId7" cstate="print"/>
            <a:stretch>
              <a:fillRect/>
            </a:stretch>
          </p:blipFill>
          <p:spPr>
            <a:xfrm>
              <a:off x="5125720" y="3346132"/>
              <a:ext cx="110067" cy="110066"/>
            </a:xfrm>
            <a:prstGeom prst="rect">
              <a:avLst/>
            </a:prstGeom>
          </p:spPr>
        </p:pic>
        <p:pic>
          <p:nvPicPr>
            <p:cNvPr id="85" name="object 85"/>
            <p:cNvPicPr/>
            <p:nvPr/>
          </p:nvPicPr>
          <p:blipFill>
            <a:blip r:embed="rId7" cstate="print"/>
            <a:stretch>
              <a:fillRect/>
            </a:stretch>
          </p:blipFill>
          <p:spPr>
            <a:xfrm>
              <a:off x="5379720" y="4805785"/>
              <a:ext cx="110067" cy="110066"/>
            </a:xfrm>
            <a:prstGeom prst="rect">
              <a:avLst/>
            </a:prstGeom>
          </p:spPr>
        </p:pic>
        <p:pic>
          <p:nvPicPr>
            <p:cNvPr id="86" name="object 86"/>
            <p:cNvPicPr/>
            <p:nvPr/>
          </p:nvPicPr>
          <p:blipFill>
            <a:blip r:embed="rId8" cstate="print"/>
            <a:stretch>
              <a:fillRect/>
            </a:stretch>
          </p:blipFill>
          <p:spPr>
            <a:xfrm>
              <a:off x="7250854" y="4556865"/>
              <a:ext cx="110066" cy="110067"/>
            </a:xfrm>
            <a:prstGeom prst="rect">
              <a:avLst/>
            </a:prstGeom>
          </p:spPr>
        </p:pic>
        <p:pic>
          <p:nvPicPr>
            <p:cNvPr id="87" name="object 87"/>
            <p:cNvPicPr/>
            <p:nvPr/>
          </p:nvPicPr>
          <p:blipFill>
            <a:blip r:embed="rId7" cstate="print"/>
            <a:stretch>
              <a:fillRect/>
            </a:stretch>
          </p:blipFill>
          <p:spPr>
            <a:xfrm>
              <a:off x="3508587" y="4218198"/>
              <a:ext cx="110066" cy="110067"/>
            </a:xfrm>
            <a:prstGeom prst="rect">
              <a:avLst/>
            </a:prstGeom>
          </p:spPr>
        </p:pic>
        <p:pic>
          <p:nvPicPr>
            <p:cNvPr id="88" name="object 88"/>
            <p:cNvPicPr/>
            <p:nvPr/>
          </p:nvPicPr>
          <p:blipFill>
            <a:blip r:embed="rId8" cstate="print"/>
            <a:stretch>
              <a:fillRect/>
            </a:stretch>
          </p:blipFill>
          <p:spPr>
            <a:xfrm>
              <a:off x="3517052" y="4800705"/>
              <a:ext cx="110067" cy="110067"/>
            </a:xfrm>
            <a:prstGeom prst="rect">
              <a:avLst/>
            </a:prstGeom>
          </p:spPr>
        </p:pic>
        <p:sp>
          <p:nvSpPr>
            <p:cNvPr id="89" name="object 89"/>
            <p:cNvSpPr/>
            <p:nvPr/>
          </p:nvSpPr>
          <p:spPr>
            <a:xfrm>
              <a:off x="3010752" y="4162318"/>
              <a:ext cx="217170" cy="731520"/>
            </a:xfrm>
            <a:custGeom>
              <a:avLst/>
              <a:gdLst/>
              <a:ahLst/>
              <a:cxnLst/>
              <a:rect l="l" t="t" r="r" b="b"/>
              <a:pathLst>
                <a:path w="217169" h="731520">
                  <a:moveTo>
                    <a:pt x="216747" y="0"/>
                  </a:moveTo>
                  <a:lnTo>
                    <a:pt x="0" y="0"/>
                  </a:lnTo>
                  <a:lnTo>
                    <a:pt x="0" y="731519"/>
                  </a:lnTo>
                  <a:lnTo>
                    <a:pt x="216747" y="731519"/>
                  </a:lnTo>
                  <a:lnTo>
                    <a:pt x="216747" y="0"/>
                  </a:lnTo>
                  <a:close/>
                </a:path>
              </a:pathLst>
            </a:custGeom>
            <a:solidFill>
              <a:srgbClr val="FFFFFF"/>
            </a:solidFill>
          </p:spPr>
          <p:txBody>
            <a:bodyPr wrap="square" lIns="0" tIns="0" rIns="0" bIns="0" rtlCol="0"/>
            <a:lstStyle/>
            <a:p>
              <a:endParaRPr sz="1588"/>
            </a:p>
          </p:txBody>
        </p:sp>
        <p:sp>
          <p:nvSpPr>
            <p:cNvPr id="90" name="object 90"/>
            <p:cNvSpPr/>
            <p:nvPr/>
          </p:nvSpPr>
          <p:spPr>
            <a:xfrm>
              <a:off x="3035382" y="4731278"/>
              <a:ext cx="177800" cy="162560"/>
            </a:xfrm>
            <a:custGeom>
              <a:avLst/>
              <a:gdLst/>
              <a:ahLst/>
              <a:cxnLst/>
              <a:rect l="l" t="t" r="r" b="b"/>
              <a:pathLst>
                <a:path w="177800" h="162560">
                  <a:moveTo>
                    <a:pt x="0" y="162559"/>
                  </a:moveTo>
                  <a:lnTo>
                    <a:pt x="88669" y="0"/>
                  </a:lnTo>
                  <a:lnTo>
                    <a:pt x="177338" y="162559"/>
                  </a:lnTo>
                  <a:lnTo>
                    <a:pt x="0" y="162559"/>
                  </a:lnTo>
                  <a:close/>
                </a:path>
              </a:pathLst>
            </a:custGeom>
            <a:ln w="30479">
              <a:solidFill>
                <a:srgbClr val="000000"/>
              </a:solidFill>
            </a:ln>
          </p:spPr>
          <p:txBody>
            <a:bodyPr wrap="square" lIns="0" tIns="0" rIns="0" bIns="0" rtlCol="0"/>
            <a:lstStyle/>
            <a:p>
              <a:endParaRPr sz="1588"/>
            </a:p>
          </p:txBody>
        </p:sp>
      </p:grpSp>
      <p:sp>
        <p:nvSpPr>
          <p:cNvPr id="91" name="object 91"/>
          <p:cNvSpPr txBox="1"/>
          <p:nvPr/>
        </p:nvSpPr>
        <p:spPr>
          <a:xfrm>
            <a:off x="5295900" y="5670176"/>
            <a:ext cx="651622" cy="215089"/>
          </a:xfrm>
          <a:prstGeom prst="rect">
            <a:avLst/>
          </a:prstGeom>
        </p:spPr>
        <p:txBody>
          <a:bodyPr vert="horz" wrap="square" lIns="0" tIns="11206" rIns="0" bIns="0" rtlCol="0">
            <a:spAutoFit/>
          </a:bodyPr>
          <a:lstStyle/>
          <a:p>
            <a:pPr marL="11206">
              <a:spcBef>
                <a:spcPts val="88"/>
              </a:spcBef>
            </a:pPr>
            <a:r>
              <a:rPr sz="1324" dirty="0">
                <a:latin typeface="Times New Roman"/>
                <a:cs typeface="Times New Roman"/>
              </a:rPr>
              <a:t>WB</a:t>
            </a:r>
            <a:r>
              <a:rPr sz="1324" spc="-18" dirty="0">
                <a:latin typeface="Times New Roman"/>
                <a:cs typeface="Times New Roman"/>
              </a:rPr>
              <a:t> Data</a:t>
            </a:r>
            <a:endParaRPr sz="1324">
              <a:latin typeface="Times New Roman"/>
              <a:cs typeface="Times New Roman"/>
            </a:endParaRPr>
          </a:p>
        </p:txBody>
      </p:sp>
      <p:sp>
        <p:nvSpPr>
          <p:cNvPr id="92" name="object 92"/>
          <p:cNvSpPr txBox="1"/>
          <p:nvPr/>
        </p:nvSpPr>
        <p:spPr>
          <a:xfrm>
            <a:off x="2802908" y="3672633"/>
            <a:ext cx="179729" cy="645459"/>
          </a:xfrm>
          <a:prstGeom prst="rect">
            <a:avLst/>
          </a:prstGeom>
          <a:ln w="27093">
            <a:solidFill>
              <a:srgbClr val="000000"/>
            </a:solidFill>
          </a:ln>
        </p:spPr>
        <p:txBody>
          <a:bodyPr vert="vert" wrap="square" lIns="0" tIns="0" rIns="0" bIns="0" rtlCol="0">
            <a:spAutoFit/>
          </a:bodyPr>
          <a:lstStyle/>
          <a:p>
            <a:pPr marL="154089">
              <a:lnSpc>
                <a:spcPts val="1412"/>
              </a:lnSpc>
            </a:pPr>
            <a:r>
              <a:rPr sz="1500" spc="-18" dirty="0">
                <a:latin typeface="Times New Roman"/>
                <a:cs typeface="Times New Roman"/>
              </a:rPr>
              <a:t>Inst</a:t>
            </a:r>
            <a:endParaRPr sz="1500">
              <a:latin typeface="Times New Roman"/>
              <a:cs typeface="Times New Roman"/>
            </a:endParaRPr>
          </a:p>
        </p:txBody>
      </p:sp>
      <p:sp>
        <p:nvSpPr>
          <p:cNvPr id="93" name="object 93"/>
          <p:cNvSpPr txBox="1"/>
          <p:nvPr/>
        </p:nvSpPr>
        <p:spPr>
          <a:xfrm>
            <a:off x="3533588" y="4093284"/>
            <a:ext cx="187699"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RD</a:t>
            </a:r>
            <a:endParaRPr sz="971">
              <a:latin typeface="Times New Roman"/>
              <a:cs typeface="Times New Roman"/>
            </a:endParaRPr>
          </a:p>
        </p:txBody>
      </p:sp>
      <p:sp>
        <p:nvSpPr>
          <p:cNvPr id="94" name="object 94"/>
          <p:cNvSpPr txBox="1"/>
          <p:nvPr/>
        </p:nvSpPr>
        <p:spPr>
          <a:xfrm>
            <a:off x="3514165" y="3305286"/>
            <a:ext cx="229160"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RS1</a:t>
            </a:r>
            <a:endParaRPr sz="971">
              <a:latin typeface="Times New Roman"/>
              <a:cs typeface="Times New Roman"/>
            </a:endParaRPr>
          </a:p>
        </p:txBody>
      </p:sp>
      <p:sp>
        <p:nvSpPr>
          <p:cNvPr id="95" name="object 95"/>
          <p:cNvSpPr txBox="1"/>
          <p:nvPr/>
        </p:nvSpPr>
        <p:spPr>
          <a:xfrm>
            <a:off x="3514912" y="3595743"/>
            <a:ext cx="229160"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RS2</a:t>
            </a:r>
            <a:endParaRPr sz="971">
              <a:latin typeface="Times New Roman"/>
              <a:cs typeface="Times New Roman"/>
            </a:endParaRPr>
          </a:p>
        </p:txBody>
      </p:sp>
      <p:sp>
        <p:nvSpPr>
          <p:cNvPr id="96" name="object 96"/>
          <p:cNvSpPr txBox="1"/>
          <p:nvPr/>
        </p:nvSpPr>
        <p:spPr>
          <a:xfrm>
            <a:off x="3445436" y="5069540"/>
            <a:ext cx="251572"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Imm</a:t>
            </a:r>
            <a:endParaRPr sz="971">
              <a:latin typeface="Times New Roman"/>
              <a:cs typeface="Times New Roman"/>
            </a:endParaRPr>
          </a:p>
        </p:txBody>
      </p:sp>
      <p:sp>
        <p:nvSpPr>
          <p:cNvPr id="97" name="object 97"/>
          <p:cNvSpPr txBox="1"/>
          <p:nvPr/>
        </p:nvSpPr>
        <p:spPr>
          <a:xfrm>
            <a:off x="971923" y="3181574"/>
            <a:ext cx="276785" cy="242148"/>
          </a:xfrm>
          <a:prstGeom prst="rect">
            <a:avLst/>
          </a:prstGeom>
        </p:spPr>
        <p:txBody>
          <a:bodyPr vert="horz" wrap="square" lIns="0" tIns="11206" rIns="0" bIns="0" rtlCol="0">
            <a:spAutoFit/>
          </a:bodyPr>
          <a:lstStyle/>
          <a:p>
            <a:pPr marL="11206">
              <a:spcBef>
                <a:spcPts val="88"/>
              </a:spcBef>
            </a:pPr>
            <a:r>
              <a:rPr sz="1500" b="1" spc="-22" dirty="0">
                <a:latin typeface="Times New Roman"/>
                <a:cs typeface="Times New Roman"/>
              </a:rPr>
              <a:t>PC</a:t>
            </a:r>
            <a:endParaRPr sz="1500">
              <a:latin typeface="Times New Roman"/>
              <a:cs typeface="Times New Roman"/>
            </a:endParaRPr>
          </a:p>
        </p:txBody>
      </p:sp>
      <p:sp>
        <p:nvSpPr>
          <p:cNvPr id="98" name="object 98"/>
          <p:cNvSpPr txBox="1"/>
          <p:nvPr/>
        </p:nvSpPr>
        <p:spPr>
          <a:xfrm>
            <a:off x="2779806" y="3391348"/>
            <a:ext cx="235324" cy="242148"/>
          </a:xfrm>
          <a:prstGeom prst="rect">
            <a:avLst/>
          </a:prstGeom>
        </p:spPr>
        <p:txBody>
          <a:bodyPr vert="horz" wrap="square" lIns="0" tIns="11206" rIns="0" bIns="0" rtlCol="0">
            <a:spAutoFit/>
          </a:bodyPr>
          <a:lstStyle/>
          <a:p>
            <a:pPr marL="11206">
              <a:spcBef>
                <a:spcPts val="88"/>
              </a:spcBef>
            </a:pPr>
            <a:r>
              <a:rPr sz="1500" b="1" spc="-22" dirty="0">
                <a:latin typeface="Times New Roman"/>
                <a:cs typeface="Times New Roman"/>
              </a:rPr>
              <a:t>IR</a:t>
            </a:r>
            <a:endParaRPr sz="1500">
              <a:latin typeface="Times New Roman"/>
              <a:cs typeface="Times New Roman"/>
            </a:endParaRPr>
          </a:p>
        </p:txBody>
      </p:sp>
      <p:sp>
        <p:nvSpPr>
          <p:cNvPr id="99" name="object 99"/>
          <p:cNvSpPr txBox="1"/>
          <p:nvPr/>
        </p:nvSpPr>
        <p:spPr>
          <a:xfrm>
            <a:off x="897218" y="1233544"/>
            <a:ext cx="1614768" cy="1299040"/>
          </a:xfrm>
          <a:prstGeom prst="rect">
            <a:avLst/>
          </a:prstGeom>
        </p:spPr>
        <p:txBody>
          <a:bodyPr vert="horz" wrap="square" lIns="0" tIns="96931" rIns="0" bIns="0" rtlCol="0">
            <a:spAutoFit/>
          </a:bodyPr>
          <a:lstStyle/>
          <a:p>
            <a:pPr marL="11206">
              <a:spcBef>
                <a:spcPts val="763"/>
              </a:spcBef>
            </a:pPr>
            <a:r>
              <a:rPr sz="1677" b="1" dirty="0">
                <a:latin typeface="Times New Roman"/>
                <a:cs typeface="Times New Roman"/>
              </a:rPr>
              <a:t>Stages:</a:t>
            </a:r>
            <a:r>
              <a:rPr sz="1677" b="1" spc="31" dirty="0">
                <a:latin typeface="Times New Roman"/>
                <a:cs typeface="Times New Roman"/>
              </a:rPr>
              <a:t> </a:t>
            </a:r>
            <a:r>
              <a:rPr sz="1677" b="1" spc="-44" dirty="0">
                <a:latin typeface="Times New Roman"/>
                <a:cs typeface="Times New Roman"/>
              </a:rPr>
              <a:t>1</a:t>
            </a:r>
            <a:endParaRPr sz="1677">
              <a:latin typeface="Times New Roman"/>
              <a:cs typeface="Times New Roman"/>
            </a:endParaRPr>
          </a:p>
          <a:p>
            <a:pPr marL="833201" marR="4483" indent="-257189">
              <a:lnSpc>
                <a:spcPct val="101099"/>
              </a:lnSpc>
              <a:spcBef>
                <a:spcPts val="657"/>
              </a:spcBef>
            </a:pPr>
            <a:r>
              <a:rPr sz="1677" b="1" spc="-9" dirty="0">
                <a:latin typeface="Times New Roman"/>
                <a:cs typeface="Times New Roman"/>
              </a:rPr>
              <a:t>Instruction Fetch</a:t>
            </a:r>
            <a:endParaRPr sz="1677">
              <a:latin typeface="Times New Roman"/>
              <a:cs typeface="Times New Roman"/>
            </a:endParaRPr>
          </a:p>
          <a:p>
            <a:pPr marL="207880">
              <a:spcBef>
                <a:spcPts val="988"/>
              </a:spcBef>
            </a:pPr>
            <a:r>
              <a:rPr sz="1324" dirty="0">
                <a:latin typeface="Times New Roman"/>
                <a:cs typeface="Times New Roman"/>
              </a:rPr>
              <a:t>Next</a:t>
            </a:r>
            <a:r>
              <a:rPr sz="1324" spc="-31"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8639" y="612100"/>
            <a:ext cx="6859376" cy="589755"/>
          </a:xfrm>
          <a:prstGeom prst="rect">
            <a:avLst/>
          </a:prstGeom>
        </p:spPr>
        <p:txBody>
          <a:bodyPr vert="horz" wrap="square" lIns="0" tIns="126851" rIns="0" bIns="0" rtlCol="0" anchor="ctr">
            <a:spAutoFit/>
          </a:bodyPr>
          <a:lstStyle/>
          <a:p>
            <a:pPr marL="11206">
              <a:lnSpc>
                <a:spcPct val="100000"/>
              </a:lnSpc>
              <a:spcBef>
                <a:spcPts val="88"/>
              </a:spcBef>
            </a:pPr>
            <a:r>
              <a:rPr dirty="0"/>
              <a:t>Instruction</a:t>
            </a:r>
            <a:r>
              <a:rPr spc="-9" dirty="0"/>
              <a:t> </a:t>
            </a:r>
            <a:r>
              <a:rPr dirty="0"/>
              <a:t>Set</a:t>
            </a:r>
            <a:r>
              <a:rPr spc="-9" dirty="0"/>
              <a:t> </a:t>
            </a:r>
            <a:r>
              <a:rPr dirty="0"/>
              <a:t>Processor</a:t>
            </a:r>
            <a:r>
              <a:rPr spc="-13" dirty="0"/>
              <a:t> </a:t>
            </a:r>
            <a:r>
              <a:rPr spc="-9" dirty="0"/>
              <a:t>Controller</a:t>
            </a:r>
          </a:p>
        </p:txBody>
      </p:sp>
      <p:sp>
        <p:nvSpPr>
          <p:cNvPr id="37" name="Slide Number Placeholder 36">
            <a:extLst>
              <a:ext uri="{FF2B5EF4-FFF2-40B4-BE49-F238E27FC236}">
                <a16:creationId xmlns:a16="http://schemas.microsoft.com/office/drawing/2014/main" id="{CC5B1FBC-A01E-D24F-8B85-157960C6480A}"/>
              </a:ext>
            </a:extLst>
          </p:cNvPr>
          <p:cNvSpPr>
            <a:spLocks noGrp="1"/>
          </p:cNvSpPr>
          <p:nvPr>
            <p:ph type="sldNum" sz="quarter" idx="7"/>
          </p:nvPr>
        </p:nvSpPr>
        <p:spPr/>
        <p:txBody>
          <a:bodyPr/>
          <a:lstStyle/>
          <a:p>
            <a:fld id="{4FE321F0-2018-4E50-8BB3-A5631EBD98DD}" type="slidenum">
              <a:rPr lang="en-US" smtClean="0"/>
              <a:t>26</a:t>
            </a:fld>
            <a:endParaRPr lang="en-US"/>
          </a:p>
        </p:txBody>
      </p:sp>
      <p:sp>
        <p:nvSpPr>
          <p:cNvPr id="3" name="object 3"/>
          <p:cNvSpPr txBox="1"/>
          <p:nvPr/>
        </p:nvSpPr>
        <p:spPr>
          <a:xfrm>
            <a:off x="3758584" y="1359070"/>
            <a:ext cx="1453402" cy="628114"/>
          </a:xfrm>
          <a:prstGeom prst="rect">
            <a:avLst/>
          </a:prstGeom>
          <a:ln w="13546">
            <a:solidFill>
              <a:srgbClr val="000000"/>
            </a:solidFill>
          </a:ln>
        </p:spPr>
        <p:txBody>
          <a:bodyPr vert="horz" wrap="square" lIns="0" tIns="35299" rIns="0" bIns="0" rtlCol="0">
            <a:spAutoFit/>
          </a:bodyPr>
          <a:lstStyle/>
          <a:p>
            <a:pPr marL="85730">
              <a:spcBef>
                <a:spcPts val="278"/>
              </a:spcBef>
            </a:pPr>
            <a:r>
              <a:rPr sz="1500" b="1" dirty="0">
                <a:solidFill>
                  <a:srgbClr val="FF0000"/>
                </a:solidFill>
                <a:latin typeface="Calibri"/>
                <a:cs typeface="Calibri"/>
              </a:rPr>
              <a:t>IR</a:t>
            </a:r>
            <a:r>
              <a:rPr sz="1500" b="1" spc="-13" dirty="0">
                <a:solidFill>
                  <a:srgbClr val="FF0000"/>
                </a:solidFill>
                <a:latin typeface="Calibri"/>
                <a:cs typeface="Calibri"/>
              </a:rPr>
              <a:t> </a:t>
            </a:r>
            <a:r>
              <a:rPr lang="en-US" sz="1400" b="1" dirty="0">
                <a:solidFill>
                  <a:srgbClr val="FF0000"/>
                </a:solidFill>
              </a:rPr>
              <a:t>←</a:t>
            </a:r>
            <a:r>
              <a:rPr sz="1500" b="1" spc="-9" dirty="0">
                <a:solidFill>
                  <a:srgbClr val="FF0000"/>
                </a:solidFill>
                <a:latin typeface="Calibri"/>
                <a:cs typeface="Calibri"/>
              </a:rPr>
              <a:t> mem[PC];</a:t>
            </a:r>
            <a:endParaRPr sz="1500" dirty="0">
              <a:latin typeface="Calibri"/>
              <a:cs typeface="Calibri"/>
            </a:endParaRPr>
          </a:p>
          <a:p>
            <a:pPr marL="85730">
              <a:spcBef>
                <a:spcPts val="931"/>
              </a:spcBef>
            </a:pPr>
            <a:r>
              <a:rPr sz="1500" b="1" dirty="0">
                <a:solidFill>
                  <a:srgbClr val="FF0000"/>
                </a:solidFill>
                <a:latin typeface="Calibri"/>
                <a:cs typeface="Calibri"/>
              </a:rPr>
              <a:t>PC</a:t>
            </a:r>
            <a:r>
              <a:rPr sz="1500" b="1" spc="-4" dirty="0">
                <a:solidFill>
                  <a:srgbClr val="FF0000"/>
                </a:solidFill>
                <a:latin typeface="Calibri"/>
                <a:cs typeface="Calibri"/>
              </a:rPr>
              <a:t> </a:t>
            </a:r>
            <a:r>
              <a:rPr lang="en-US" sz="1400" b="1" dirty="0">
                <a:solidFill>
                  <a:srgbClr val="FF0000"/>
                </a:solidFill>
              </a:rPr>
              <a:t>←</a:t>
            </a:r>
            <a:r>
              <a:rPr sz="1500" b="1" dirty="0">
                <a:solidFill>
                  <a:srgbClr val="FF0000"/>
                </a:solidFill>
                <a:latin typeface="Calibri"/>
                <a:cs typeface="Calibri"/>
              </a:rPr>
              <a:t> PC + </a:t>
            </a:r>
            <a:r>
              <a:rPr sz="1500" b="1" spc="-44" dirty="0">
                <a:solidFill>
                  <a:srgbClr val="FF0000"/>
                </a:solidFill>
                <a:latin typeface="Calibri"/>
                <a:cs typeface="Calibri"/>
              </a:rPr>
              <a:t>4</a:t>
            </a:r>
            <a:endParaRPr sz="1500" dirty="0">
              <a:latin typeface="Calibri"/>
              <a:cs typeface="Calibri"/>
            </a:endParaRPr>
          </a:p>
        </p:txBody>
      </p:sp>
      <p:sp>
        <p:nvSpPr>
          <p:cNvPr id="4" name="object 4"/>
          <p:cNvSpPr txBox="1"/>
          <p:nvPr/>
        </p:nvSpPr>
        <p:spPr>
          <a:xfrm>
            <a:off x="5423927" y="1604735"/>
            <a:ext cx="395567" cy="215089"/>
          </a:xfrm>
          <a:prstGeom prst="rect">
            <a:avLst/>
          </a:prstGeom>
        </p:spPr>
        <p:txBody>
          <a:bodyPr vert="horz" wrap="square" lIns="0" tIns="11206" rIns="0" bIns="0" rtlCol="0">
            <a:spAutoFit/>
          </a:bodyPr>
          <a:lstStyle/>
          <a:p>
            <a:pPr marL="11206">
              <a:spcBef>
                <a:spcPts val="88"/>
              </a:spcBef>
            </a:pPr>
            <a:r>
              <a:rPr sz="1324" b="1" spc="-9" dirty="0">
                <a:latin typeface="Calibri"/>
                <a:cs typeface="Calibri"/>
              </a:rPr>
              <a:t>Fetch</a:t>
            </a:r>
            <a:endParaRPr sz="1324">
              <a:latin typeface="Calibri"/>
              <a:cs typeface="Calibri"/>
            </a:endParaRPr>
          </a:p>
        </p:txBody>
      </p:sp>
      <p:grpSp>
        <p:nvGrpSpPr>
          <p:cNvPr id="40" name="Group 39">
            <a:extLst>
              <a:ext uri="{FF2B5EF4-FFF2-40B4-BE49-F238E27FC236}">
                <a16:creationId xmlns:a16="http://schemas.microsoft.com/office/drawing/2014/main" id="{497353D7-AFB3-181D-BEC7-8B0ECA904E77}"/>
              </a:ext>
            </a:extLst>
          </p:cNvPr>
          <p:cNvGrpSpPr/>
          <p:nvPr/>
        </p:nvGrpSpPr>
        <p:grpSpPr>
          <a:xfrm>
            <a:off x="4079875" y="4110514"/>
            <a:ext cx="807943" cy="819476"/>
            <a:chOff x="4079875" y="4110514"/>
            <a:chExt cx="807943" cy="819476"/>
          </a:xfrm>
        </p:grpSpPr>
        <p:sp>
          <p:nvSpPr>
            <p:cNvPr id="16" name="object 16"/>
            <p:cNvSpPr txBox="1"/>
            <p:nvPr/>
          </p:nvSpPr>
          <p:spPr>
            <a:xfrm>
              <a:off x="4079875" y="4666909"/>
              <a:ext cx="807943" cy="263081"/>
            </a:xfrm>
            <a:prstGeom prst="rect">
              <a:avLst/>
            </a:prstGeom>
            <a:ln w="13546">
              <a:solidFill>
                <a:srgbClr val="000000"/>
              </a:solidFill>
            </a:ln>
          </p:spPr>
          <p:txBody>
            <a:bodyPr vert="horz" wrap="square" lIns="0" tIns="31937" rIns="0" bIns="0" rtlCol="0">
              <a:spAutoFit/>
            </a:bodyPr>
            <a:lstStyle/>
            <a:p>
              <a:pPr marL="85730">
                <a:spcBef>
                  <a:spcPts val="251"/>
                </a:spcBef>
              </a:pPr>
              <a:r>
                <a:rPr sz="1500" b="1" dirty="0">
                  <a:solidFill>
                    <a:srgbClr val="FF0000"/>
                  </a:solidFill>
                  <a:latin typeface="Calibri"/>
                  <a:cs typeface="Calibri"/>
                </a:rPr>
                <a:t>WB</a:t>
              </a:r>
              <a:r>
                <a:rPr sz="1500" b="1" spc="4" dirty="0">
                  <a:solidFill>
                    <a:srgbClr val="FF0000"/>
                  </a:solidFill>
                  <a:latin typeface="Calibri"/>
                  <a:cs typeface="Calibri"/>
                </a:rPr>
                <a:t> </a:t>
              </a:r>
              <a:r>
                <a:rPr lang="en-US" sz="1400" b="1" dirty="0">
                  <a:solidFill>
                    <a:srgbClr val="FF0000"/>
                  </a:solidFill>
                </a:rPr>
                <a:t>←</a:t>
              </a:r>
              <a:r>
                <a:rPr sz="1500" b="1" dirty="0">
                  <a:solidFill>
                    <a:srgbClr val="FF0000"/>
                  </a:solidFill>
                  <a:latin typeface="Calibri"/>
                  <a:cs typeface="Calibri"/>
                </a:rPr>
                <a:t> </a:t>
              </a:r>
              <a:r>
                <a:rPr sz="1500" b="1" spc="-44" dirty="0">
                  <a:solidFill>
                    <a:srgbClr val="FF0000"/>
                  </a:solidFill>
                  <a:latin typeface="Calibri"/>
                  <a:cs typeface="Calibri"/>
                </a:rPr>
                <a:t>r</a:t>
              </a:r>
              <a:endParaRPr sz="1500" dirty="0">
                <a:latin typeface="Calibri"/>
                <a:cs typeface="Calibri"/>
              </a:endParaRPr>
            </a:p>
          </p:txBody>
        </p:sp>
        <p:sp>
          <p:nvSpPr>
            <p:cNvPr id="30" name="object 30"/>
            <p:cNvSpPr/>
            <p:nvPr/>
          </p:nvSpPr>
          <p:spPr>
            <a:xfrm>
              <a:off x="4432323" y="4110514"/>
              <a:ext cx="104215" cy="556932"/>
            </a:xfrm>
            <a:custGeom>
              <a:avLst/>
              <a:gdLst/>
              <a:ahLst/>
              <a:cxnLst/>
              <a:rect l="l" t="t" r="r" b="b"/>
              <a:pathLst>
                <a:path w="118110" h="631189">
                  <a:moveTo>
                    <a:pt x="11435" y="517164"/>
                  </a:moveTo>
                  <a:lnTo>
                    <a:pt x="1691" y="522733"/>
                  </a:lnTo>
                  <a:lnTo>
                    <a:pt x="0" y="528938"/>
                  </a:lnTo>
                  <a:lnTo>
                    <a:pt x="58117" y="630628"/>
                  </a:lnTo>
                  <a:lnTo>
                    <a:pt x="70066" y="610555"/>
                  </a:lnTo>
                  <a:lnTo>
                    <a:pt x="68456" y="610555"/>
                  </a:lnTo>
                  <a:lnTo>
                    <a:pt x="48136" y="610375"/>
                  </a:lnTo>
                  <a:lnTo>
                    <a:pt x="48468" y="572975"/>
                  </a:lnTo>
                  <a:lnTo>
                    <a:pt x="48469" y="572795"/>
                  </a:lnTo>
                  <a:lnTo>
                    <a:pt x="17641" y="518855"/>
                  </a:lnTo>
                  <a:lnTo>
                    <a:pt x="11435" y="517164"/>
                  </a:lnTo>
                  <a:close/>
                </a:path>
                <a:path w="118110" h="631189">
                  <a:moveTo>
                    <a:pt x="48572" y="572975"/>
                  </a:moveTo>
                  <a:lnTo>
                    <a:pt x="48314" y="590302"/>
                  </a:lnTo>
                  <a:lnTo>
                    <a:pt x="48182" y="605269"/>
                  </a:lnTo>
                  <a:lnTo>
                    <a:pt x="48136" y="610375"/>
                  </a:lnTo>
                  <a:lnTo>
                    <a:pt x="68456" y="610555"/>
                  </a:lnTo>
                  <a:lnTo>
                    <a:pt x="68502" y="605424"/>
                  </a:lnTo>
                  <a:lnTo>
                    <a:pt x="49566" y="605269"/>
                  </a:lnTo>
                  <a:lnTo>
                    <a:pt x="58475" y="590302"/>
                  </a:lnTo>
                  <a:lnTo>
                    <a:pt x="48572" y="572975"/>
                  </a:lnTo>
                  <a:close/>
                </a:path>
                <a:path w="118110" h="631189">
                  <a:moveTo>
                    <a:pt x="106803" y="518008"/>
                  </a:moveTo>
                  <a:lnTo>
                    <a:pt x="68897" y="572795"/>
                  </a:lnTo>
                  <a:lnTo>
                    <a:pt x="68456" y="610555"/>
                  </a:lnTo>
                  <a:lnTo>
                    <a:pt x="70066" y="610555"/>
                  </a:lnTo>
                  <a:lnTo>
                    <a:pt x="118028" y="529983"/>
                  </a:lnTo>
                  <a:lnTo>
                    <a:pt x="116446" y="523749"/>
                  </a:lnTo>
                  <a:lnTo>
                    <a:pt x="106803" y="518008"/>
                  </a:lnTo>
                  <a:close/>
                </a:path>
                <a:path w="118110" h="631189">
                  <a:moveTo>
                    <a:pt x="58475" y="590302"/>
                  </a:moveTo>
                  <a:lnTo>
                    <a:pt x="49566" y="605269"/>
                  </a:lnTo>
                  <a:lnTo>
                    <a:pt x="67118" y="605424"/>
                  </a:lnTo>
                  <a:lnTo>
                    <a:pt x="58475" y="590302"/>
                  </a:lnTo>
                  <a:close/>
                </a:path>
                <a:path w="118110" h="631189">
                  <a:moveTo>
                    <a:pt x="68789" y="572975"/>
                  </a:moveTo>
                  <a:lnTo>
                    <a:pt x="58475" y="590302"/>
                  </a:lnTo>
                  <a:lnTo>
                    <a:pt x="67029" y="605269"/>
                  </a:lnTo>
                  <a:lnTo>
                    <a:pt x="67118" y="605424"/>
                  </a:lnTo>
                  <a:lnTo>
                    <a:pt x="68502" y="605424"/>
                  </a:lnTo>
                  <a:lnTo>
                    <a:pt x="68789" y="572975"/>
                  </a:lnTo>
                  <a:close/>
                </a:path>
                <a:path w="118110" h="631189">
                  <a:moveTo>
                    <a:pt x="53541" y="0"/>
                  </a:moveTo>
                  <a:lnTo>
                    <a:pt x="48469" y="572795"/>
                  </a:lnTo>
                  <a:lnTo>
                    <a:pt x="58475" y="590302"/>
                  </a:lnTo>
                  <a:lnTo>
                    <a:pt x="68789" y="572975"/>
                  </a:lnTo>
                  <a:lnTo>
                    <a:pt x="73860" y="180"/>
                  </a:lnTo>
                  <a:lnTo>
                    <a:pt x="53541" y="0"/>
                  </a:lnTo>
                  <a:close/>
                </a:path>
              </a:pathLst>
            </a:custGeom>
            <a:solidFill>
              <a:srgbClr val="000000"/>
            </a:solidFill>
          </p:spPr>
          <p:txBody>
            <a:bodyPr wrap="square" lIns="0" tIns="0" rIns="0" bIns="0" rtlCol="0"/>
            <a:lstStyle/>
            <a:p>
              <a:endParaRPr sz="1588"/>
            </a:p>
          </p:txBody>
        </p:sp>
      </p:grpSp>
      <p:grpSp>
        <p:nvGrpSpPr>
          <p:cNvPr id="41" name="Group 40">
            <a:extLst>
              <a:ext uri="{FF2B5EF4-FFF2-40B4-BE49-F238E27FC236}">
                <a16:creationId xmlns:a16="http://schemas.microsoft.com/office/drawing/2014/main" id="{6D0E5D90-EED0-374F-B6A4-1084B3ED88CB}"/>
              </a:ext>
            </a:extLst>
          </p:cNvPr>
          <p:cNvGrpSpPr/>
          <p:nvPr/>
        </p:nvGrpSpPr>
        <p:grpSpPr>
          <a:xfrm>
            <a:off x="3744074" y="4985171"/>
            <a:ext cx="1432672" cy="821472"/>
            <a:chOff x="3744074" y="4985171"/>
            <a:chExt cx="1432672" cy="821472"/>
          </a:xfrm>
        </p:grpSpPr>
        <p:sp>
          <p:nvSpPr>
            <p:cNvPr id="17" name="object 17"/>
            <p:cNvSpPr txBox="1"/>
            <p:nvPr/>
          </p:nvSpPr>
          <p:spPr>
            <a:xfrm>
              <a:off x="3744074" y="5541864"/>
              <a:ext cx="1432672" cy="264779"/>
            </a:xfrm>
            <a:prstGeom prst="rect">
              <a:avLst/>
            </a:prstGeom>
            <a:ln w="13546">
              <a:solidFill>
                <a:srgbClr val="000000"/>
              </a:solidFill>
            </a:ln>
          </p:spPr>
          <p:txBody>
            <a:bodyPr vert="horz" wrap="square" lIns="0" tIns="33618" rIns="0" bIns="0" rtlCol="0">
              <a:spAutoFit/>
            </a:bodyPr>
            <a:lstStyle/>
            <a:p>
              <a:pPr marL="85730">
                <a:spcBef>
                  <a:spcPts val="265"/>
                </a:spcBef>
              </a:pPr>
              <a:r>
                <a:rPr sz="1500" b="1" dirty="0">
                  <a:solidFill>
                    <a:srgbClr val="FF0000"/>
                  </a:solidFill>
                  <a:latin typeface="Calibri"/>
                  <a:cs typeface="Calibri"/>
                </a:rPr>
                <a:t>Reg[IR</a:t>
              </a:r>
              <a:r>
                <a:rPr sz="1456" b="1" baseline="-15151" dirty="0">
                  <a:solidFill>
                    <a:srgbClr val="FF0000"/>
                  </a:solidFill>
                  <a:latin typeface="Calibri"/>
                  <a:cs typeface="Calibri"/>
                </a:rPr>
                <a:t>rd</a:t>
              </a:r>
              <a:r>
                <a:rPr sz="1500" b="1" dirty="0">
                  <a:solidFill>
                    <a:srgbClr val="FF0000"/>
                  </a:solidFill>
                  <a:latin typeface="Calibri"/>
                  <a:cs typeface="Calibri"/>
                </a:rPr>
                <a:t>]</a:t>
              </a:r>
              <a:r>
                <a:rPr sz="1500" b="1" spc="-9" dirty="0">
                  <a:solidFill>
                    <a:srgbClr val="FF0000"/>
                  </a:solidFill>
                  <a:latin typeface="Calibri"/>
                  <a:cs typeface="Calibri"/>
                </a:rPr>
                <a:t> </a:t>
              </a:r>
              <a:r>
                <a:rPr lang="en-US" sz="1400" b="1" dirty="0">
                  <a:solidFill>
                    <a:srgbClr val="FF0000"/>
                  </a:solidFill>
                </a:rPr>
                <a:t>←</a:t>
              </a:r>
              <a:r>
                <a:rPr sz="1500" b="1" spc="-13" dirty="0">
                  <a:solidFill>
                    <a:srgbClr val="FF0000"/>
                  </a:solidFill>
                  <a:latin typeface="Calibri"/>
                  <a:cs typeface="Calibri"/>
                </a:rPr>
                <a:t> </a:t>
              </a:r>
              <a:r>
                <a:rPr sz="1500" b="1" spc="-22" dirty="0">
                  <a:solidFill>
                    <a:srgbClr val="FF0000"/>
                  </a:solidFill>
                  <a:latin typeface="Calibri"/>
                  <a:cs typeface="Calibri"/>
                </a:rPr>
                <a:t>WB</a:t>
              </a:r>
              <a:endParaRPr sz="1500" dirty="0">
                <a:latin typeface="Calibri"/>
                <a:cs typeface="Calibri"/>
              </a:endParaRPr>
            </a:p>
          </p:txBody>
        </p:sp>
        <p:sp>
          <p:nvSpPr>
            <p:cNvPr id="31" name="object 31"/>
            <p:cNvSpPr/>
            <p:nvPr/>
          </p:nvSpPr>
          <p:spPr>
            <a:xfrm rot="21427184">
              <a:off x="4411895" y="4985171"/>
              <a:ext cx="104215" cy="556932"/>
            </a:xfrm>
            <a:custGeom>
              <a:avLst/>
              <a:gdLst/>
              <a:ahLst/>
              <a:cxnLst/>
              <a:rect l="l" t="t" r="r" b="b"/>
              <a:pathLst>
                <a:path w="118110" h="631189">
                  <a:moveTo>
                    <a:pt x="11821" y="516012"/>
                  </a:moveTo>
                  <a:lnTo>
                    <a:pt x="1897" y="521253"/>
                  </a:lnTo>
                  <a:lnTo>
                    <a:pt x="0" y="527400"/>
                  </a:lnTo>
                  <a:lnTo>
                    <a:pt x="54705" y="630966"/>
                  </a:lnTo>
                  <a:lnTo>
                    <a:pt x="67348" y="611248"/>
                  </a:lnTo>
                  <a:lnTo>
                    <a:pt x="65705" y="611248"/>
                  </a:lnTo>
                  <a:lnTo>
                    <a:pt x="45403" y="610392"/>
                  </a:lnTo>
                  <a:lnTo>
                    <a:pt x="46949" y="573699"/>
                  </a:lnTo>
                  <a:lnTo>
                    <a:pt x="46985" y="572846"/>
                  </a:lnTo>
                  <a:lnTo>
                    <a:pt x="17967" y="517909"/>
                  </a:lnTo>
                  <a:lnTo>
                    <a:pt x="11821" y="516012"/>
                  </a:lnTo>
                  <a:close/>
                </a:path>
                <a:path w="118110" h="631189">
                  <a:moveTo>
                    <a:pt x="46985" y="572846"/>
                  </a:moveTo>
                  <a:lnTo>
                    <a:pt x="45403" y="610392"/>
                  </a:lnTo>
                  <a:lnTo>
                    <a:pt x="65705" y="611248"/>
                  </a:lnTo>
                  <a:lnTo>
                    <a:pt x="65923" y="606075"/>
                  </a:lnTo>
                  <a:lnTo>
                    <a:pt x="64537" y="606075"/>
                  </a:lnTo>
                  <a:lnTo>
                    <a:pt x="47001" y="605336"/>
                  </a:lnTo>
                  <a:lnTo>
                    <a:pt x="56402" y="590674"/>
                  </a:lnTo>
                  <a:lnTo>
                    <a:pt x="46985" y="572846"/>
                  </a:lnTo>
                  <a:close/>
                </a:path>
                <a:path w="118110" h="631189">
                  <a:moveTo>
                    <a:pt x="107107" y="520026"/>
                  </a:moveTo>
                  <a:lnTo>
                    <a:pt x="100822" y="521401"/>
                  </a:lnTo>
                  <a:lnTo>
                    <a:pt x="67287" y="573699"/>
                  </a:lnTo>
                  <a:lnTo>
                    <a:pt x="65742" y="610392"/>
                  </a:lnTo>
                  <a:lnTo>
                    <a:pt x="65705" y="611248"/>
                  </a:lnTo>
                  <a:lnTo>
                    <a:pt x="67348" y="611248"/>
                  </a:lnTo>
                  <a:lnTo>
                    <a:pt x="117928" y="532368"/>
                  </a:lnTo>
                  <a:lnTo>
                    <a:pt x="116554" y="526084"/>
                  </a:lnTo>
                  <a:lnTo>
                    <a:pt x="107107" y="520026"/>
                  </a:lnTo>
                  <a:close/>
                </a:path>
                <a:path w="118110" h="631189">
                  <a:moveTo>
                    <a:pt x="56402" y="590674"/>
                  </a:moveTo>
                  <a:lnTo>
                    <a:pt x="47001" y="605336"/>
                  </a:lnTo>
                  <a:lnTo>
                    <a:pt x="64537" y="606075"/>
                  </a:lnTo>
                  <a:lnTo>
                    <a:pt x="56402" y="590674"/>
                  </a:lnTo>
                  <a:close/>
                </a:path>
                <a:path w="118110" h="631189">
                  <a:moveTo>
                    <a:pt x="67287" y="573699"/>
                  </a:moveTo>
                  <a:lnTo>
                    <a:pt x="56402" y="590674"/>
                  </a:lnTo>
                  <a:lnTo>
                    <a:pt x="64537" y="606075"/>
                  </a:lnTo>
                  <a:lnTo>
                    <a:pt x="65923" y="606075"/>
                  </a:lnTo>
                  <a:lnTo>
                    <a:pt x="67287" y="573699"/>
                  </a:lnTo>
                  <a:close/>
                </a:path>
                <a:path w="118110" h="631189">
                  <a:moveTo>
                    <a:pt x="71120" y="0"/>
                  </a:moveTo>
                  <a:lnTo>
                    <a:pt x="46985" y="572846"/>
                  </a:lnTo>
                  <a:lnTo>
                    <a:pt x="56402" y="590674"/>
                  </a:lnTo>
                  <a:lnTo>
                    <a:pt x="67287" y="573699"/>
                  </a:lnTo>
                  <a:lnTo>
                    <a:pt x="91422" y="855"/>
                  </a:lnTo>
                  <a:lnTo>
                    <a:pt x="71120" y="0"/>
                  </a:lnTo>
                  <a:close/>
                </a:path>
              </a:pathLst>
            </a:custGeom>
            <a:solidFill>
              <a:srgbClr val="000000"/>
            </a:solidFill>
          </p:spPr>
          <p:txBody>
            <a:bodyPr wrap="square" lIns="0" tIns="0" rIns="0" bIns="0" rtlCol="0"/>
            <a:lstStyle/>
            <a:p>
              <a:endParaRPr sz="1588"/>
            </a:p>
          </p:txBody>
        </p:sp>
      </p:grpSp>
      <p:grpSp>
        <p:nvGrpSpPr>
          <p:cNvPr id="43" name="Group 42">
            <a:extLst>
              <a:ext uri="{FF2B5EF4-FFF2-40B4-BE49-F238E27FC236}">
                <a16:creationId xmlns:a16="http://schemas.microsoft.com/office/drawing/2014/main" id="{A04FF425-ADB8-7B38-F812-96A8E06F9213}"/>
              </a:ext>
            </a:extLst>
          </p:cNvPr>
          <p:cNvGrpSpPr/>
          <p:nvPr/>
        </p:nvGrpSpPr>
        <p:grpSpPr>
          <a:xfrm>
            <a:off x="5842569" y="4110498"/>
            <a:ext cx="807943" cy="819492"/>
            <a:chOff x="5842569" y="4110498"/>
            <a:chExt cx="807943" cy="819492"/>
          </a:xfrm>
        </p:grpSpPr>
        <p:sp>
          <p:nvSpPr>
            <p:cNvPr id="18" name="object 18"/>
            <p:cNvSpPr txBox="1"/>
            <p:nvPr/>
          </p:nvSpPr>
          <p:spPr>
            <a:xfrm>
              <a:off x="5842569" y="4666909"/>
              <a:ext cx="807943" cy="263081"/>
            </a:xfrm>
            <a:prstGeom prst="rect">
              <a:avLst/>
            </a:prstGeom>
            <a:ln w="13546">
              <a:solidFill>
                <a:srgbClr val="000000"/>
              </a:solidFill>
            </a:ln>
          </p:spPr>
          <p:txBody>
            <a:bodyPr vert="horz" wrap="square" lIns="0" tIns="31937" rIns="0" bIns="0" rtlCol="0">
              <a:spAutoFit/>
            </a:bodyPr>
            <a:lstStyle/>
            <a:p>
              <a:pPr marL="85730">
                <a:spcBef>
                  <a:spcPts val="251"/>
                </a:spcBef>
              </a:pPr>
              <a:r>
                <a:rPr sz="1500" b="1" dirty="0">
                  <a:solidFill>
                    <a:srgbClr val="FF0000"/>
                  </a:solidFill>
                  <a:latin typeface="Calibri"/>
                  <a:cs typeface="Calibri"/>
                </a:rPr>
                <a:t>WB</a:t>
              </a:r>
              <a:r>
                <a:rPr sz="1500" b="1" spc="4" dirty="0">
                  <a:solidFill>
                    <a:srgbClr val="FF0000"/>
                  </a:solidFill>
                  <a:latin typeface="Calibri"/>
                  <a:cs typeface="Calibri"/>
                </a:rPr>
                <a:t> </a:t>
              </a:r>
              <a:r>
                <a:rPr lang="en-US" sz="1400" b="1" dirty="0">
                  <a:solidFill>
                    <a:srgbClr val="FF0000"/>
                  </a:solidFill>
                </a:rPr>
                <a:t>←</a:t>
              </a:r>
              <a:r>
                <a:rPr sz="1500" b="1" dirty="0">
                  <a:solidFill>
                    <a:srgbClr val="FF0000"/>
                  </a:solidFill>
                  <a:latin typeface="Calibri"/>
                  <a:cs typeface="Calibri"/>
                </a:rPr>
                <a:t> </a:t>
              </a:r>
              <a:r>
                <a:rPr sz="1500" b="1" spc="-44" dirty="0">
                  <a:solidFill>
                    <a:srgbClr val="FF0000"/>
                  </a:solidFill>
                  <a:latin typeface="Calibri"/>
                  <a:cs typeface="Calibri"/>
                </a:rPr>
                <a:t>r</a:t>
              </a:r>
              <a:endParaRPr sz="1500" dirty="0">
                <a:latin typeface="Calibri"/>
                <a:cs typeface="Calibri"/>
              </a:endParaRPr>
            </a:p>
          </p:txBody>
        </p:sp>
        <p:sp>
          <p:nvSpPr>
            <p:cNvPr id="32" name="object 32"/>
            <p:cNvSpPr/>
            <p:nvPr/>
          </p:nvSpPr>
          <p:spPr>
            <a:xfrm>
              <a:off x="6193278" y="4110498"/>
              <a:ext cx="104215" cy="556932"/>
            </a:xfrm>
            <a:custGeom>
              <a:avLst/>
              <a:gdLst/>
              <a:ahLst/>
              <a:cxnLst/>
              <a:rect l="l" t="t" r="r" b="b"/>
              <a:pathLst>
                <a:path w="118109" h="631189">
                  <a:moveTo>
                    <a:pt x="11203" y="518114"/>
                  </a:moveTo>
                  <a:lnTo>
                    <a:pt x="1570" y="523871"/>
                  </a:lnTo>
                  <a:lnTo>
                    <a:pt x="0" y="530109"/>
                  </a:lnTo>
                  <a:lnTo>
                    <a:pt x="60090" y="630646"/>
                  </a:lnTo>
                  <a:lnTo>
                    <a:pt x="71503" y="610593"/>
                  </a:lnTo>
                  <a:lnTo>
                    <a:pt x="49716" y="610593"/>
                  </a:lnTo>
                  <a:lnTo>
                    <a:pt x="49316" y="573014"/>
                  </a:lnTo>
                  <a:lnTo>
                    <a:pt x="17442" y="519683"/>
                  </a:lnTo>
                  <a:lnTo>
                    <a:pt x="11203" y="518114"/>
                  </a:lnTo>
                  <a:close/>
                </a:path>
                <a:path w="118109" h="631189">
                  <a:moveTo>
                    <a:pt x="49316" y="573014"/>
                  </a:moveTo>
                  <a:lnTo>
                    <a:pt x="49660" y="605271"/>
                  </a:lnTo>
                  <a:lnTo>
                    <a:pt x="49716" y="610593"/>
                  </a:lnTo>
                  <a:lnTo>
                    <a:pt x="70035" y="610375"/>
                  </a:lnTo>
                  <a:lnTo>
                    <a:pt x="69983" y="605458"/>
                  </a:lnTo>
                  <a:lnTo>
                    <a:pt x="51046" y="605458"/>
                  </a:lnTo>
                  <a:lnTo>
                    <a:pt x="59661" y="590321"/>
                  </a:lnTo>
                  <a:lnTo>
                    <a:pt x="49316" y="573014"/>
                  </a:lnTo>
                  <a:close/>
                </a:path>
                <a:path w="118109" h="631189">
                  <a:moveTo>
                    <a:pt x="106570" y="517098"/>
                  </a:moveTo>
                  <a:lnTo>
                    <a:pt x="100366" y="518801"/>
                  </a:lnTo>
                  <a:lnTo>
                    <a:pt x="69635" y="572797"/>
                  </a:lnTo>
                  <a:lnTo>
                    <a:pt x="69981" y="605271"/>
                  </a:lnTo>
                  <a:lnTo>
                    <a:pt x="70035" y="610375"/>
                  </a:lnTo>
                  <a:lnTo>
                    <a:pt x="49716" y="610593"/>
                  </a:lnTo>
                  <a:lnTo>
                    <a:pt x="71503" y="610593"/>
                  </a:lnTo>
                  <a:lnTo>
                    <a:pt x="118026" y="528853"/>
                  </a:lnTo>
                  <a:lnTo>
                    <a:pt x="116323" y="522649"/>
                  </a:lnTo>
                  <a:lnTo>
                    <a:pt x="106570" y="517098"/>
                  </a:lnTo>
                  <a:close/>
                </a:path>
                <a:path w="118109" h="631189">
                  <a:moveTo>
                    <a:pt x="59661" y="590321"/>
                  </a:moveTo>
                  <a:lnTo>
                    <a:pt x="51152" y="605271"/>
                  </a:lnTo>
                  <a:lnTo>
                    <a:pt x="51046" y="605458"/>
                  </a:lnTo>
                  <a:lnTo>
                    <a:pt x="68596" y="605271"/>
                  </a:lnTo>
                  <a:lnTo>
                    <a:pt x="59661" y="590321"/>
                  </a:lnTo>
                  <a:close/>
                </a:path>
                <a:path w="118109" h="631189">
                  <a:moveTo>
                    <a:pt x="69637" y="573014"/>
                  </a:moveTo>
                  <a:lnTo>
                    <a:pt x="59661" y="590321"/>
                  </a:lnTo>
                  <a:lnTo>
                    <a:pt x="68596" y="605271"/>
                  </a:lnTo>
                  <a:lnTo>
                    <a:pt x="51046" y="605458"/>
                  </a:lnTo>
                  <a:lnTo>
                    <a:pt x="69983" y="605458"/>
                  </a:lnTo>
                  <a:lnTo>
                    <a:pt x="69637" y="573014"/>
                  </a:lnTo>
                  <a:close/>
                </a:path>
                <a:path w="118109" h="631189">
                  <a:moveTo>
                    <a:pt x="63536" y="0"/>
                  </a:moveTo>
                  <a:lnTo>
                    <a:pt x="43218" y="215"/>
                  </a:lnTo>
                  <a:lnTo>
                    <a:pt x="49314" y="572797"/>
                  </a:lnTo>
                  <a:lnTo>
                    <a:pt x="49316" y="573014"/>
                  </a:lnTo>
                  <a:lnTo>
                    <a:pt x="59661" y="590321"/>
                  </a:lnTo>
                  <a:lnTo>
                    <a:pt x="69511" y="573014"/>
                  </a:lnTo>
                  <a:lnTo>
                    <a:pt x="69635" y="572797"/>
                  </a:lnTo>
                  <a:lnTo>
                    <a:pt x="63539" y="215"/>
                  </a:lnTo>
                  <a:lnTo>
                    <a:pt x="63536" y="0"/>
                  </a:lnTo>
                  <a:close/>
                </a:path>
              </a:pathLst>
            </a:custGeom>
            <a:solidFill>
              <a:srgbClr val="000000"/>
            </a:solidFill>
          </p:spPr>
          <p:txBody>
            <a:bodyPr wrap="square" lIns="0" tIns="0" rIns="0" bIns="0" rtlCol="0"/>
            <a:lstStyle/>
            <a:p>
              <a:endParaRPr sz="1588"/>
            </a:p>
          </p:txBody>
        </p:sp>
      </p:grpSp>
      <p:grpSp>
        <p:nvGrpSpPr>
          <p:cNvPr id="44" name="Group 43">
            <a:extLst>
              <a:ext uri="{FF2B5EF4-FFF2-40B4-BE49-F238E27FC236}">
                <a16:creationId xmlns:a16="http://schemas.microsoft.com/office/drawing/2014/main" id="{DC14246F-8BB9-5BF4-B901-3CB1E02D7526}"/>
              </a:ext>
            </a:extLst>
          </p:cNvPr>
          <p:cNvGrpSpPr/>
          <p:nvPr/>
        </p:nvGrpSpPr>
        <p:grpSpPr>
          <a:xfrm>
            <a:off x="5503813" y="4985124"/>
            <a:ext cx="1432672" cy="821519"/>
            <a:chOff x="5503813" y="4985124"/>
            <a:chExt cx="1432672" cy="821519"/>
          </a:xfrm>
        </p:grpSpPr>
        <p:sp>
          <p:nvSpPr>
            <p:cNvPr id="19" name="object 19"/>
            <p:cNvSpPr txBox="1"/>
            <p:nvPr/>
          </p:nvSpPr>
          <p:spPr>
            <a:xfrm>
              <a:off x="5503813" y="5541864"/>
              <a:ext cx="1432672" cy="264779"/>
            </a:xfrm>
            <a:prstGeom prst="rect">
              <a:avLst/>
            </a:prstGeom>
            <a:ln w="13546">
              <a:solidFill>
                <a:srgbClr val="000000"/>
              </a:solidFill>
            </a:ln>
          </p:spPr>
          <p:txBody>
            <a:bodyPr vert="horz" wrap="square" lIns="0" tIns="33618" rIns="0" bIns="0" rtlCol="0">
              <a:spAutoFit/>
            </a:bodyPr>
            <a:lstStyle/>
            <a:p>
              <a:pPr marL="85730">
                <a:spcBef>
                  <a:spcPts val="265"/>
                </a:spcBef>
              </a:pPr>
              <a:r>
                <a:rPr sz="1500" b="1" dirty="0">
                  <a:solidFill>
                    <a:srgbClr val="FF0000"/>
                  </a:solidFill>
                  <a:latin typeface="Calibri"/>
                  <a:cs typeface="Calibri"/>
                </a:rPr>
                <a:t>Reg[IR</a:t>
              </a:r>
              <a:r>
                <a:rPr sz="1456" b="1" baseline="-15151" dirty="0">
                  <a:solidFill>
                    <a:srgbClr val="FF0000"/>
                  </a:solidFill>
                  <a:latin typeface="Calibri"/>
                  <a:cs typeface="Calibri"/>
                </a:rPr>
                <a:t>rd</a:t>
              </a:r>
              <a:r>
                <a:rPr sz="1500" b="1" dirty="0">
                  <a:solidFill>
                    <a:srgbClr val="FF0000"/>
                  </a:solidFill>
                  <a:latin typeface="Calibri"/>
                  <a:cs typeface="Calibri"/>
                </a:rPr>
                <a:t>]</a:t>
              </a:r>
              <a:r>
                <a:rPr sz="1500" b="1" spc="-9" dirty="0">
                  <a:solidFill>
                    <a:srgbClr val="FF0000"/>
                  </a:solidFill>
                  <a:latin typeface="Calibri"/>
                  <a:cs typeface="Calibri"/>
                </a:rPr>
                <a:t> </a:t>
              </a:r>
              <a:r>
                <a:rPr lang="en-US" sz="1400" b="1" dirty="0">
                  <a:solidFill>
                    <a:srgbClr val="FF0000"/>
                  </a:solidFill>
                </a:rPr>
                <a:t>←</a:t>
              </a:r>
              <a:r>
                <a:rPr sz="1500" b="1" spc="-13" dirty="0">
                  <a:solidFill>
                    <a:srgbClr val="FF0000"/>
                  </a:solidFill>
                  <a:latin typeface="Calibri"/>
                  <a:cs typeface="Calibri"/>
                </a:rPr>
                <a:t> </a:t>
              </a:r>
              <a:r>
                <a:rPr sz="1500" b="1" spc="-22" dirty="0">
                  <a:solidFill>
                    <a:srgbClr val="FF0000"/>
                  </a:solidFill>
                  <a:latin typeface="Calibri"/>
                  <a:cs typeface="Calibri"/>
                </a:rPr>
                <a:t>WB</a:t>
              </a:r>
              <a:endParaRPr sz="1500" dirty="0">
                <a:latin typeface="Calibri"/>
                <a:cs typeface="Calibri"/>
              </a:endParaRPr>
            </a:p>
          </p:txBody>
        </p:sp>
        <p:sp>
          <p:nvSpPr>
            <p:cNvPr id="33" name="object 33"/>
            <p:cNvSpPr/>
            <p:nvPr/>
          </p:nvSpPr>
          <p:spPr>
            <a:xfrm rot="21420798">
              <a:off x="6172120" y="4985124"/>
              <a:ext cx="104215" cy="556932"/>
            </a:xfrm>
            <a:custGeom>
              <a:avLst/>
              <a:gdLst/>
              <a:ahLst/>
              <a:cxnLst/>
              <a:rect l="l" t="t" r="r" b="b"/>
              <a:pathLst>
                <a:path w="118109" h="631189">
                  <a:moveTo>
                    <a:pt x="11880" y="515839"/>
                  </a:moveTo>
                  <a:lnTo>
                    <a:pt x="1929" y="521028"/>
                  </a:lnTo>
                  <a:lnTo>
                    <a:pt x="0" y="527165"/>
                  </a:lnTo>
                  <a:lnTo>
                    <a:pt x="54155" y="631019"/>
                  </a:lnTo>
                  <a:lnTo>
                    <a:pt x="66909" y="611360"/>
                  </a:lnTo>
                  <a:lnTo>
                    <a:pt x="65260" y="611360"/>
                  </a:lnTo>
                  <a:lnTo>
                    <a:pt x="44963" y="610396"/>
                  </a:lnTo>
                  <a:lnTo>
                    <a:pt x="46698" y="573820"/>
                  </a:lnTo>
                  <a:lnTo>
                    <a:pt x="46743" y="572859"/>
                  </a:lnTo>
                  <a:lnTo>
                    <a:pt x="18017" y="517770"/>
                  </a:lnTo>
                  <a:lnTo>
                    <a:pt x="11880" y="515839"/>
                  </a:lnTo>
                  <a:close/>
                </a:path>
                <a:path w="118109" h="631189">
                  <a:moveTo>
                    <a:pt x="46743" y="572859"/>
                  </a:moveTo>
                  <a:lnTo>
                    <a:pt x="44963" y="610396"/>
                  </a:lnTo>
                  <a:lnTo>
                    <a:pt x="65260" y="611360"/>
                  </a:lnTo>
                  <a:lnTo>
                    <a:pt x="65505" y="606181"/>
                  </a:lnTo>
                  <a:lnTo>
                    <a:pt x="64119" y="606181"/>
                  </a:lnTo>
                  <a:lnTo>
                    <a:pt x="46587" y="605349"/>
                  </a:lnTo>
                  <a:lnTo>
                    <a:pt x="56066" y="590737"/>
                  </a:lnTo>
                  <a:lnTo>
                    <a:pt x="46743" y="572859"/>
                  </a:lnTo>
                  <a:close/>
                </a:path>
                <a:path w="118109" h="631189">
                  <a:moveTo>
                    <a:pt x="107144" y="520359"/>
                  </a:moveTo>
                  <a:lnTo>
                    <a:pt x="100853" y="521699"/>
                  </a:lnTo>
                  <a:lnTo>
                    <a:pt x="67041" y="573820"/>
                  </a:lnTo>
                  <a:lnTo>
                    <a:pt x="65305" y="610396"/>
                  </a:lnTo>
                  <a:lnTo>
                    <a:pt x="65260" y="611360"/>
                  </a:lnTo>
                  <a:lnTo>
                    <a:pt x="66909" y="611360"/>
                  </a:lnTo>
                  <a:lnTo>
                    <a:pt x="117900" y="532758"/>
                  </a:lnTo>
                  <a:lnTo>
                    <a:pt x="116559" y="526467"/>
                  </a:lnTo>
                  <a:lnTo>
                    <a:pt x="107144" y="520359"/>
                  </a:lnTo>
                  <a:close/>
                </a:path>
                <a:path w="118109" h="631189">
                  <a:moveTo>
                    <a:pt x="56066" y="590737"/>
                  </a:moveTo>
                  <a:lnTo>
                    <a:pt x="46587" y="605349"/>
                  </a:lnTo>
                  <a:lnTo>
                    <a:pt x="64119" y="606181"/>
                  </a:lnTo>
                  <a:lnTo>
                    <a:pt x="56066" y="590737"/>
                  </a:lnTo>
                  <a:close/>
                </a:path>
                <a:path w="118109" h="631189">
                  <a:moveTo>
                    <a:pt x="67041" y="573820"/>
                  </a:moveTo>
                  <a:lnTo>
                    <a:pt x="56066" y="590737"/>
                  </a:lnTo>
                  <a:lnTo>
                    <a:pt x="64119" y="606181"/>
                  </a:lnTo>
                  <a:lnTo>
                    <a:pt x="65505" y="606181"/>
                  </a:lnTo>
                  <a:lnTo>
                    <a:pt x="67041" y="573820"/>
                  </a:lnTo>
                  <a:close/>
                </a:path>
                <a:path w="118109" h="631189">
                  <a:moveTo>
                    <a:pt x="73920" y="0"/>
                  </a:moveTo>
                  <a:lnTo>
                    <a:pt x="46743" y="572859"/>
                  </a:lnTo>
                  <a:lnTo>
                    <a:pt x="56066" y="590737"/>
                  </a:lnTo>
                  <a:lnTo>
                    <a:pt x="67041" y="573820"/>
                  </a:lnTo>
                  <a:lnTo>
                    <a:pt x="94217" y="962"/>
                  </a:lnTo>
                  <a:lnTo>
                    <a:pt x="73920" y="0"/>
                  </a:lnTo>
                  <a:close/>
                </a:path>
              </a:pathLst>
            </a:custGeom>
            <a:solidFill>
              <a:srgbClr val="000000"/>
            </a:solidFill>
          </p:spPr>
          <p:txBody>
            <a:bodyPr wrap="square" lIns="0" tIns="0" rIns="0" bIns="0" rtlCol="0"/>
            <a:lstStyle/>
            <a:p>
              <a:endParaRPr sz="1588"/>
            </a:p>
          </p:txBody>
        </p:sp>
      </p:grpSp>
      <p:grpSp>
        <p:nvGrpSpPr>
          <p:cNvPr id="46" name="Group 45">
            <a:extLst>
              <a:ext uri="{FF2B5EF4-FFF2-40B4-BE49-F238E27FC236}">
                <a16:creationId xmlns:a16="http://schemas.microsoft.com/office/drawing/2014/main" id="{60986F56-8C0C-7404-6A4A-9475C7DBEC43}"/>
              </a:ext>
            </a:extLst>
          </p:cNvPr>
          <p:cNvGrpSpPr/>
          <p:nvPr/>
        </p:nvGrpSpPr>
        <p:grpSpPr>
          <a:xfrm>
            <a:off x="7250806" y="4110189"/>
            <a:ext cx="1357032" cy="819801"/>
            <a:chOff x="7250806" y="4110189"/>
            <a:chExt cx="1357032" cy="819801"/>
          </a:xfrm>
        </p:grpSpPr>
        <p:sp>
          <p:nvSpPr>
            <p:cNvPr id="21" name="object 21"/>
            <p:cNvSpPr txBox="1"/>
            <p:nvPr/>
          </p:nvSpPr>
          <p:spPr>
            <a:xfrm>
              <a:off x="7250806" y="4666909"/>
              <a:ext cx="1357032" cy="263081"/>
            </a:xfrm>
            <a:prstGeom prst="rect">
              <a:avLst/>
            </a:prstGeom>
            <a:ln w="13546">
              <a:solidFill>
                <a:srgbClr val="000000"/>
              </a:solidFill>
            </a:ln>
          </p:spPr>
          <p:txBody>
            <a:bodyPr vert="horz" wrap="square" lIns="0" tIns="31937" rIns="0" bIns="0" rtlCol="0">
              <a:spAutoFit/>
            </a:bodyPr>
            <a:lstStyle/>
            <a:p>
              <a:pPr marL="85730">
                <a:spcBef>
                  <a:spcPts val="251"/>
                </a:spcBef>
              </a:pPr>
              <a:r>
                <a:rPr sz="1500" b="1" dirty="0">
                  <a:solidFill>
                    <a:srgbClr val="FF0000"/>
                  </a:solidFill>
                  <a:latin typeface="Calibri"/>
                  <a:cs typeface="Calibri"/>
                </a:rPr>
                <a:t>WB</a:t>
              </a:r>
              <a:r>
                <a:rPr sz="1500" b="1" spc="4" dirty="0">
                  <a:solidFill>
                    <a:srgbClr val="FF0000"/>
                  </a:solidFill>
                  <a:latin typeface="Calibri"/>
                  <a:cs typeface="Calibri"/>
                </a:rPr>
                <a:t> </a:t>
              </a:r>
              <a:r>
                <a:rPr lang="en-US" sz="1400" b="1" dirty="0">
                  <a:solidFill>
                    <a:srgbClr val="FF0000"/>
                  </a:solidFill>
                </a:rPr>
                <a:t>←</a:t>
              </a:r>
              <a:r>
                <a:rPr sz="1500" b="1" dirty="0">
                  <a:solidFill>
                    <a:srgbClr val="FF0000"/>
                  </a:solidFill>
                  <a:latin typeface="Calibri"/>
                  <a:cs typeface="Calibri"/>
                </a:rPr>
                <a:t> </a:t>
              </a:r>
              <a:r>
                <a:rPr sz="1500" b="1" spc="-9" dirty="0">
                  <a:solidFill>
                    <a:srgbClr val="FF0000"/>
                  </a:solidFill>
                  <a:latin typeface="Calibri"/>
                  <a:cs typeface="Calibri"/>
                </a:rPr>
                <a:t>Mem[r]</a:t>
              </a:r>
              <a:endParaRPr sz="1500" dirty="0">
                <a:latin typeface="Calibri"/>
                <a:cs typeface="Calibri"/>
              </a:endParaRPr>
            </a:p>
          </p:txBody>
        </p:sp>
        <p:sp>
          <p:nvSpPr>
            <p:cNvPr id="34" name="object 34"/>
            <p:cNvSpPr/>
            <p:nvPr/>
          </p:nvSpPr>
          <p:spPr>
            <a:xfrm>
              <a:off x="7873069" y="4110189"/>
              <a:ext cx="104215" cy="556932"/>
            </a:xfrm>
            <a:custGeom>
              <a:avLst/>
              <a:gdLst/>
              <a:ahLst/>
              <a:cxnLst/>
              <a:rect l="l" t="t" r="r" b="b"/>
              <a:pathLst>
                <a:path w="118109" h="631189">
                  <a:moveTo>
                    <a:pt x="10782" y="520219"/>
                  </a:moveTo>
                  <a:lnTo>
                    <a:pt x="1353" y="526307"/>
                  </a:lnTo>
                  <a:lnTo>
                    <a:pt x="78" y="532232"/>
                  </a:lnTo>
                  <a:lnTo>
                    <a:pt x="0" y="532596"/>
                  </a:lnTo>
                  <a:lnTo>
                    <a:pt x="63526" y="630996"/>
                  </a:lnTo>
                  <a:lnTo>
                    <a:pt x="73847" y="611311"/>
                  </a:lnTo>
                  <a:lnTo>
                    <a:pt x="52466" y="611311"/>
                  </a:lnTo>
                  <a:lnTo>
                    <a:pt x="50768" y="573770"/>
                  </a:lnTo>
                  <a:lnTo>
                    <a:pt x="17071" y="521575"/>
                  </a:lnTo>
                  <a:lnTo>
                    <a:pt x="10782" y="520219"/>
                  </a:lnTo>
                  <a:close/>
                </a:path>
                <a:path w="118109" h="631189">
                  <a:moveTo>
                    <a:pt x="50768" y="573770"/>
                  </a:moveTo>
                  <a:lnTo>
                    <a:pt x="52424" y="610393"/>
                  </a:lnTo>
                  <a:lnTo>
                    <a:pt x="52466" y="611311"/>
                  </a:lnTo>
                  <a:lnTo>
                    <a:pt x="72765" y="610393"/>
                  </a:lnTo>
                  <a:lnTo>
                    <a:pt x="72573" y="606136"/>
                  </a:lnTo>
                  <a:lnTo>
                    <a:pt x="53618" y="606136"/>
                  </a:lnTo>
                  <a:lnTo>
                    <a:pt x="61705" y="590710"/>
                  </a:lnTo>
                  <a:lnTo>
                    <a:pt x="50768" y="573770"/>
                  </a:lnTo>
                  <a:close/>
                </a:path>
                <a:path w="118109" h="631189">
                  <a:moveTo>
                    <a:pt x="106056" y="515910"/>
                  </a:moveTo>
                  <a:lnTo>
                    <a:pt x="99915" y="517827"/>
                  </a:lnTo>
                  <a:lnTo>
                    <a:pt x="71067" y="572852"/>
                  </a:lnTo>
                  <a:lnTo>
                    <a:pt x="72765" y="610393"/>
                  </a:lnTo>
                  <a:lnTo>
                    <a:pt x="52466" y="611311"/>
                  </a:lnTo>
                  <a:lnTo>
                    <a:pt x="73847" y="611311"/>
                  </a:lnTo>
                  <a:lnTo>
                    <a:pt x="117911" y="527263"/>
                  </a:lnTo>
                  <a:lnTo>
                    <a:pt x="115995" y="521121"/>
                  </a:lnTo>
                  <a:lnTo>
                    <a:pt x="106056" y="515910"/>
                  </a:lnTo>
                  <a:close/>
                </a:path>
                <a:path w="118109" h="631189">
                  <a:moveTo>
                    <a:pt x="61705" y="590710"/>
                  </a:moveTo>
                  <a:lnTo>
                    <a:pt x="53618" y="606136"/>
                  </a:lnTo>
                  <a:lnTo>
                    <a:pt x="71151" y="605342"/>
                  </a:lnTo>
                  <a:lnTo>
                    <a:pt x="61705" y="590710"/>
                  </a:lnTo>
                  <a:close/>
                </a:path>
                <a:path w="118109" h="631189">
                  <a:moveTo>
                    <a:pt x="71067" y="572852"/>
                  </a:moveTo>
                  <a:lnTo>
                    <a:pt x="61705" y="590710"/>
                  </a:lnTo>
                  <a:lnTo>
                    <a:pt x="71151" y="605342"/>
                  </a:lnTo>
                  <a:lnTo>
                    <a:pt x="53618" y="606136"/>
                  </a:lnTo>
                  <a:lnTo>
                    <a:pt x="72573" y="606136"/>
                  </a:lnTo>
                  <a:lnTo>
                    <a:pt x="71109" y="573770"/>
                  </a:lnTo>
                  <a:lnTo>
                    <a:pt x="71067" y="572852"/>
                  </a:lnTo>
                  <a:close/>
                </a:path>
                <a:path w="118109" h="631189">
                  <a:moveTo>
                    <a:pt x="45158" y="0"/>
                  </a:moveTo>
                  <a:lnTo>
                    <a:pt x="24860" y="918"/>
                  </a:lnTo>
                  <a:lnTo>
                    <a:pt x="50726" y="572852"/>
                  </a:lnTo>
                  <a:lnTo>
                    <a:pt x="50768" y="573770"/>
                  </a:lnTo>
                  <a:lnTo>
                    <a:pt x="61705" y="590710"/>
                  </a:lnTo>
                  <a:lnTo>
                    <a:pt x="71067" y="572852"/>
                  </a:lnTo>
                  <a:lnTo>
                    <a:pt x="45200" y="918"/>
                  </a:lnTo>
                  <a:lnTo>
                    <a:pt x="45158" y="0"/>
                  </a:lnTo>
                  <a:close/>
                </a:path>
              </a:pathLst>
            </a:custGeom>
            <a:solidFill>
              <a:srgbClr val="000000"/>
            </a:solidFill>
          </p:spPr>
          <p:txBody>
            <a:bodyPr wrap="square" lIns="0" tIns="0" rIns="0" bIns="0" rtlCol="0"/>
            <a:lstStyle/>
            <a:p>
              <a:endParaRPr sz="1588"/>
            </a:p>
          </p:txBody>
        </p:sp>
      </p:grpSp>
      <p:grpSp>
        <p:nvGrpSpPr>
          <p:cNvPr id="47" name="Group 46">
            <a:extLst>
              <a:ext uri="{FF2B5EF4-FFF2-40B4-BE49-F238E27FC236}">
                <a16:creationId xmlns:a16="http://schemas.microsoft.com/office/drawing/2014/main" id="{C4092209-5766-F33D-EA59-B2AC2EA987C2}"/>
              </a:ext>
            </a:extLst>
          </p:cNvPr>
          <p:cNvGrpSpPr/>
          <p:nvPr/>
        </p:nvGrpSpPr>
        <p:grpSpPr>
          <a:xfrm>
            <a:off x="7175453" y="4984944"/>
            <a:ext cx="1432672" cy="821699"/>
            <a:chOff x="7175453" y="4984944"/>
            <a:chExt cx="1432672" cy="821699"/>
          </a:xfrm>
        </p:grpSpPr>
        <p:sp>
          <p:nvSpPr>
            <p:cNvPr id="20" name="object 20"/>
            <p:cNvSpPr txBox="1"/>
            <p:nvPr/>
          </p:nvSpPr>
          <p:spPr>
            <a:xfrm>
              <a:off x="7175453" y="5541864"/>
              <a:ext cx="1432672" cy="264779"/>
            </a:xfrm>
            <a:prstGeom prst="rect">
              <a:avLst/>
            </a:prstGeom>
            <a:ln w="13546">
              <a:solidFill>
                <a:srgbClr val="000000"/>
              </a:solidFill>
            </a:ln>
          </p:spPr>
          <p:txBody>
            <a:bodyPr vert="horz" wrap="square" lIns="0" tIns="33618" rIns="0" bIns="0" rtlCol="0">
              <a:spAutoFit/>
            </a:bodyPr>
            <a:lstStyle/>
            <a:p>
              <a:pPr marL="85730">
                <a:spcBef>
                  <a:spcPts val="265"/>
                </a:spcBef>
              </a:pPr>
              <a:r>
                <a:rPr sz="1500" b="1" dirty="0">
                  <a:solidFill>
                    <a:srgbClr val="FF0000"/>
                  </a:solidFill>
                  <a:latin typeface="Calibri"/>
                  <a:cs typeface="Calibri"/>
                </a:rPr>
                <a:t>Reg[IR</a:t>
              </a:r>
              <a:r>
                <a:rPr sz="1456" b="1" baseline="-15151" dirty="0">
                  <a:solidFill>
                    <a:srgbClr val="FF0000"/>
                  </a:solidFill>
                  <a:latin typeface="Calibri"/>
                  <a:cs typeface="Calibri"/>
                </a:rPr>
                <a:t>rd</a:t>
              </a:r>
              <a:r>
                <a:rPr sz="1500" b="1" dirty="0">
                  <a:solidFill>
                    <a:srgbClr val="FF0000"/>
                  </a:solidFill>
                  <a:latin typeface="Calibri"/>
                  <a:cs typeface="Calibri"/>
                </a:rPr>
                <a:t>]</a:t>
              </a:r>
              <a:r>
                <a:rPr sz="1500" b="1" spc="-9" dirty="0">
                  <a:solidFill>
                    <a:srgbClr val="FF0000"/>
                  </a:solidFill>
                  <a:latin typeface="Calibri"/>
                  <a:cs typeface="Calibri"/>
                </a:rPr>
                <a:t> </a:t>
              </a:r>
              <a:r>
                <a:rPr lang="en-US" sz="1400" b="1" dirty="0">
                  <a:solidFill>
                    <a:srgbClr val="FF0000"/>
                  </a:solidFill>
                </a:rPr>
                <a:t>←</a:t>
              </a:r>
              <a:r>
                <a:rPr sz="1500" b="1" spc="-13" dirty="0">
                  <a:solidFill>
                    <a:srgbClr val="FF0000"/>
                  </a:solidFill>
                  <a:latin typeface="Calibri"/>
                  <a:cs typeface="Calibri"/>
                </a:rPr>
                <a:t> </a:t>
              </a:r>
              <a:r>
                <a:rPr sz="1500" b="1" spc="-22" dirty="0">
                  <a:solidFill>
                    <a:srgbClr val="FF0000"/>
                  </a:solidFill>
                  <a:latin typeface="Calibri"/>
                  <a:cs typeface="Calibri"/>
                </a:rPr>
                <a:t>WB</a:t>
              </a:r>
              <a:endParaRPr sz="1500" dirty="0">
                <a:latin typeface="Calibri"/>
                <a:cs typeface="Calibri"/>
              </a:endParaRPr>
            </a:p>
          </p:txBody>
        </p:sp>
        <p:sp>
          <p:nvSpPr>
            <p:cNvPr id="35" name="object 35"/>
            <p:cNvSpPr/>
            <p:nvPr/>
          </p:nvSpPr>
          <p:spPr>
            <a:xfrm rot="21406438">
              <a:off x="7845604" y="4984944"/>
              <a:ext cx="104215" cy="557493"/>
            </a:xfrm>
            <a:custGeom>
              <a:avLst/>
              <a:gdLst/>
              <a:ahLst/>
              <a:cxnLst/>
              <a:rect l="l" t="t" r="r" b="b"/>
              <a:pathLst>
                <a:path w="118109" h="631825">
                  <a:moveTo>
                    <a:pt x="12105" y="515219"/>
                  </a:moveTo>
                  <a:lnTo>
                    <a:pt x="2052" y="520208"/>
                  </a:lnTo>
                  <a:lnTo>
                    <a:pt x="0" y="526304"/>
                  </a:lnTo>
                  <a:lnTo>
                    <a:pt x="52064" y="631223"/>
                  </a:lnTo>
                  <a:lnTo>
                    <a:pt x="65230" y="611792"/>
                  </a:lnTo>
                  <a:lnTo>
                    <a:pt x="63560" y="611792"/>
                  </a:lnTo>
                  <a:lnTo>
                    <a:pt x="43286" y="610422"/>
                  </a:lnTo>
                  <a:lnTo>
                    <a:pt x="45726" y="574293"/>
                  </a:lnTo>
                  <a:lnTo>
                    <a:pt x="45819" y="572924"/>
                  </a:lnTo>
                  <a:lnTo>
                    <a:pt x="18202" y="517272"/>
                  </a:lnTo>
                  <a:lnTo>
                    <a:pt x="12105" y="515219"/>
                  </a:lnTo>
                  <a:close/>
                </a:path>
                <a:path w="118109" h="631825">
                  <a:moveTo>
                    <a:pt x="45819" y="572924"/>
                  </a:moveTo>
                  <a:lnTo>
                    <a:pt x="43286" y="610422"/>
                  </a:lnTo>
                  <a:lnTo>
                    <a:pt x="63560" y="611792"/>
                  </a:lnTo>
                  <a:lnTo>
                    <a:pt x="63912" y="606588"/>
                  </a:lnTo>
                  <a:lnTo>
                    <a:pt x="62524" y="606588"/>
                  </a:lnTo>
                  <a:lnTo>
                    <a:pt x="45012" y="605406"/>
                  </a:lnTo>
                  <a:lnTo>
                    <a:pt x="54782" y="590987"/>
                  </a:lnTo>
                  <a:lnTo>
                    <a:pt x="45819" y="572924"/>
                  </a:lnTo>
                  <a:close/>
                </a:path>
                <a:path w="118109" h="631825">
                  <a:moveTo>
                    <a:pt x="107260" y="521646"/>
                  </a:moveTo>
                  <a:lnTo>
                    <a:pt x="100943" y="522860"/>
                  </a:lnTo>
                  <a:lnTo>
                    <a:pt x="66093" y="574293"/>
                  </a:lnTo>
                  <a:lnTo>
                    <a:pt x="63653" y="610422"/>
                  </a:lnTo>
                  <a:lnTo>
                    <a:pt x="63560" y="611792"/>
                  </a:lnTo>
                  <a:lnTo>
                    <a:pt x="65230" y="611792"/>
                  </a:lnTo>
                  <a:lnTo>
                    <a:pt x="117765" y="534258"/>
                  </a:lnTo>
                  <a:lnTo>
                    <a:pt x="116550" y="527941"/>
                  </a:lnTo>
                  <a:lnTo>
                    <a:pt x="107260" y="521646"/>
                  </a:lnTo>
                  <a:close/>
                </a:path>
                <a:path w="118109" h="631825">
                  <a:moveTo>
                    <a:pt x="54782" y="590987"/>
                  </a:moveTo>
                  <a:lnTo>
                    <a:pt x="45012" y="605406"/>
                  </a:lnTo>
                  <a:lnTo>
                    <a:pt x="62524" y="606588"/>
                  </a:lnTo>
                  <a:lnTo>
                    <a:pt x="54782" y="590987"/>
                  </a:lnTo>
                  <a:close/>
                </a:path>
                <a:path w="118109" h="631825">
                  <a:moveTo>
                    <a:pt x="66093" y="574293"/>
                  </a:moveTo>
                  <a:lnTo>
                    <a:pt x="54782" y="590987"/>
                  </a:lnTo>
                  <a:lnTo>
                    <a:pt x="62524" y="606588"/>
                  </a:lnTo>
                  <a:lnTo>
                    <a:pt x="63912" y="606588"/>
                  </a:lnTo>
                  <a:lnTo>
                    <a:pt x="66093" y="574293"/>
                  </a:lnTo>
                  <a:close/>
                </a:path>
                <a:path w="118109" h="631825">
                  <a:moveTo>
                    <a:pt x="84515" y="0"/>
                  </a:moveTo>
                  <a:lnTo>
                    <a:pt x="45819" y="572924"/>
                  </a:lnTo>
                  <a:lnTo>
                    <a:pt x="54782" y="590987"/>
                  </a:lnTo>
                  <a:lnTo>
                    <a:pt x="66093" y="574293"/>
                  </a:lnTo>
                  <a:lnTo>
                    <a:pt x="104788" y="1369"/>
                  </a:lnTo>
                  <a:lnTo>
                    <a:pt x="84515" y="0"/>
                  </a:lnTo>
                  <a:close/>
                </a:path>
              </a:pathLst>
            </a:custGeom>
            <a:solidFill>
              <a:srgbClr val="000000"/>
            </a:solidFill>
          </p:spPr>
          <p:txBody>
            <a:bodyPr wrap="square" lIns="0" tIns="0" rIns="0" bIns="0" rtlCol="0"/>
            <a:lstStyle/>
            <a:p>
              <a:endParaRPr sz="1588"/>
            </a:p>
          </p:txBody>
        </p:sp>
      </p:grpSp>
      <p:grpSp>
        <p:nvGrpSpPr>
          <p:cNvPr id="52" name="Group 51">
            <a:extLst>
              <a:ext uri="{FF2B5EF4-FFF2-40B4-BE49-F238E27FC236}">
                <a16:creationId xmlns:a16="http://schemas.microsoft.com/office/drawing/2014/main" id="{C2825CAD-B605-F35E-B21F-BAFC47289814}"/>
              </a:ext>
            </a:extLst>
          </p:cNvPr>
          <p:cNvGrpSpPr/>
          <p:nvPr/>
        </p:nvGrpSpPr>
        <p:grpSpPr>
          <a:xfrm>
            <a:off x="549667" y="2821193"/>
            <a:ext cx="3934439" cy="1463708"/>
            <a:chOff x="549667" y="2821193"/>
            <a:chExt cx="3934439" cy="1463708"/>
          </a:xfrm>
        </p:grpSpPr>
        <p:grpSp>
          <p:nvGrpSpPr>
            <p:cNvPr id="36" name="Group 35">
              <a:extLst>
                <a:ext uri="{FF2B5EF4-FFF2-40B4-BE49-F238E27FC236}">
                  <a16:creationId xmlns:a16="http://schemas.microsoft.com/office/drawing/2014/main" id="{13C2C906-0942-D303-0C4F-F0EDA091E952}"/>
                </a:ext>
              </a:extLst>
            </p:cNvPr>
            <p:cNvGrpSpPr/>
            <p:nvPr/>
          </p:nvGrpSpPr>
          <p:grpSpPr>
            <a:xfrm>
              <a:off x="549667" y="2821193"/>
              <a:ext cx="1325880" cy="1463708"/>
              <a:chOff x="549667" y="2821193"/>
              <a:chExt cx="1325880" cy="1463708"/>
            </a:xfrm>
          </p:grpSpPr>
          <p:sp>
            <p:nvSpPr>
              <p:cNvPr id="7" name="object 7"/>
              <p:cNvSpPr txBox="1"/>
              <p:nvPr/>
            </p:nvSpPr>
            <p:spPr>
              <a:xfrm>
                <a:off x="549667" y="3283772"/>
                <a:ext cx="570379" cy="242148"/>
              </a:xfrm>
              <a:prstGeom prst="rect">
                <a:avLst/>
              </a:prstGeom>
            </p:spPr>
            <p:txBody>
              <a:bodyPr vert="horz" wrap="square" lIns="0" tIns="11206" rIns="0" bIns="0" rtlCol="0">
                <a:spAutoFit/>
              </a:bodyPr>
              <a:lstStyle/>
              <a:p>
                <a:pPr marL="11206">
                  <a:spcBef>
                    <a:spcPts val="88"/>
                  </a:spcBef>
                </a:pPr>
                <a:r>
                  <a:rPr sz="1500" b="1" spc="-9" dirty="0">
                    <a:latin typeface="Calibri"/>
                    <a:cs typeface="Calibri"/>
                  </a:rPr>
                  <a:t>branch</a:t>
                </a:r>
                <a:endParaRPr sz="1500">
                  <a:latin typeface="Calibri"/>
                  <a:cs typeface="Calibri"/>
                </a:endParaRPr>
              </a:p>
            </p:txBody>
          </p:sp>
          <p:sp>
            <p:nvSpPr>
              <p:cNvPr id="13" name="object 13"/>
              <p:cNvSpPr txBox="1"/>
              <p:nvPr/>
            </p:nvSpPr>
            <p:spPr>
              <a:xfrm>
                <a:off x="875386" y="2821193"/>
                <a:ext cx="278466" cy="242148"/>
              </a:xfrm>
              <a:prstGeom prst="rect">
                <a:avLst/>
              </a:prstGeom>
            </p:spPr>
            <p:txBody>
              <a:bodyPr vert="horz" wrap="square" lIns="0" tIns="11206" rIns="0" bIns="0" rtlCol="0">
                <a:spAutoFit/>
              </a:bodyPr>
              <a:lstStyle/>
              <a:p>
                <a:pPr marL="11206">
                  <a:spcBef>
                    <a:spcPts val="88"/>
                  </a:spcBef>
                </a:pPr>
                <a:r>
                  <a:rPr sz="1500" b="1" spc="-22" dirty="0">
                    <a:latin typeface="Calibri"/>
                    <a:cs typeface="Calibri"/>
                  </a:rPr>
                  <a:t>JAL</a:t>
                </a:r>
                <a:endParaRPr sz="1500">
                  <a:latin typeface="Calibri"/>
                  <a:cs typeface="Calibri"/>
                </a:endParaRPr>
              </a:p>
            </p:txBody>
          </p:sp>
          <p:sp>
            <p:nvSpPr>
              <p:cNvPr id="14" name="object 14"/>
              <p:cNvSpPr txBox="1"/>
              <p:nvPr/>
            </p:nvSpPr>
            <p:spPr>
              <a:xfrm>
                <a:off x="1625432" y="3039035"/>
                <a:ext cx="192180" cy="242148"/>
              </a:xfrm>
              <a:prstGeom prst="rect">
                <a:avLst/>
              </a:prstGeom>
            </p:spPr>
            <p:txBody>
              <a:bodyPr vert="horz" wrap="square" lIns="0" tIns="11206" rIns="0" bIns="0" rtlCol="0">
                <a:spAutoFit/>
              </a:bodyPr>
              <a:lstStyle/>
              <a:p>
                <a:pPr marL="11206">
                  <a:spcBef>
                    <a:spcPts val="88"/>
                  </a:spcBef>
                </a:pPr>
                <a:r>
                  <a:rPr sz="1500" b="1" spc="-22" dirty="0">
                    <a:latin typeface="Calibri"/>
                    <a:cs typeface="Calibri"/>
                  </a:rPr>
                  <a:t>JR</a:t>
                </a:r>
                <a:endParaRPr sz="1500">
                  <a:latin typeface="Calibri"/>
                  <a:cs typeface="Calibri"/>
                </a:endParaRPr>
              </a:p>
            </p:txBody>
          </p:sp>
          <p:sp>
            <p:nvSpPr>
              <p:cNvPr id="22" name="object 22"/>
              <p:cNvSpPr/>
              <p:nvPr/>
            </p:nvSpPr>
            <p:spPr>
              <a:xfrm>
                <a:off x="618247" y="3618151"/>
                <a:ext cx="1257300" cy="666750"/>
              </a:xfrm>
              <a:custGeom>
                <a:avLst/>
                <a:gdLst/>
                <a:ahLst/>
                <a:cxnLst/>
                <a:rect l="l" t="t" r="r" b="b"/>
                <a:pathLst>
                  <a:path w="1424939" h="755650">
                    <a:moveTo>
                      <a:pt x="0" y="0"/>
                    </a:moveTo>
                    <a:lnTo>
                      <a:pt x="1424663" y="0"/>
                    </a:lnTo>
                    <a:lnTo>
                      <a:pt x="1424663" y="755078"/>
                    </a:lnTo>
                    <a:lnTo>
                      <a:pt x="0" y="755078"/>
                    </a:lnTo>
                    <a:lnTo>
                      <a:pt x="0" y="0"/>
                    </a:lnTo>
                    <a:close/>
                  </a:path>
                </a:pathLst>
              </a:custGeom>
              <a:ln w="13546">
                <a:solidFill>
                  <a:srgbClr val="000000"/>
                </a:solidFill>
              </a:ln>
            </p:spPr>
            <p:txBody>
              <a:bodyPr wrap="square" lIns="0" tIns="0" rIns="0" bIns="0" rtlCol="0"/>
              <a:lstStyle/>
              <a:p>
                <a:endParaRPr sz="1588"/>
              </a:p>
            </p:txBody>
          </p:sp>
          <p:sp>
            <p:nvSpPr>
              <p:cNvPr id="23" name="object 23"/>
              <p:cNvSpPr txBox="1"/>
              <p:nvPr/>
            </p:nvSpPr>
            <p:spPr>
              <a:xfrm>
                <a:off x="670690" y="3523129"/>
                <a:ext cx="1138518" cy="697016"/>
              </a:xfrm>
              <a:prstGeom prst="rect">
                <a:avLst/>
              </a:prstGeom>
            </p:spPr>
            <p:txBody>
              <a:bodyPr vert="horz" wrap="square" lIns="0" tIns="11206" rIns="0" bIns="0" rtlCol="0">
                <a:spAutoFit/>
              </a:bodyPr>
              <a:lstStyle/>
              <a:p>
                <a:pPr marL="33619" marR="26896">
                  <a:lnSpc>
                    <a:spcPct val="151800"/>
                  </a:lnSpc>
                  <a:spcBef>
                    <a:spcPts val="88"/>
                  </a:spcBef>
                </a:pPr>
                <a:r>
                  <a:rPr sz="1500" b="1" dirty="0">
                    <a:solidFill>
                      <a:srgbClr val="FF0000"/>
                    </a:solidFill>
                    <a:latin typeface="Calibri"/>
                    <a:cs typeface="Calibri"/>
                  </a:rPr>
                  <a:t>if </a:t>
                </a:r>
                <a:r>
                  <a:rPr sz="1500" b="1" spc="-9" dirty="0">
                    <a:solidFill>
                      <a:srgbClr val="FF0000"/>
                    </a:solidFill>
                    <a:latin typeface="Calibri"/>
                    <a:cs typeface="Calibri"/>
                  </a:rPr>
                  <a:t>bop(A,B)</a:t>
                </a:r>
                <a:r>
                  <a:rPr sz="1500" b="1" spc="441" dirty="0">
                    <a:solidFill>
                      <a:srgbClr val="FF0000"/>
                    </a:solidFill>
                    <a:latin typeface="Calibri"/>
                    <a:cs typeface="Calibri"/>
                  </a:rPr>
                  <a:t> </a:t>
                </a:r>
                <a:r>
                  <a:rPr sz="1500" b="1" dirty="0">
                    <a:solidFill>
                      <a:srgbClr val="FF0000"/>
                    </a:solidFill>
                    <a:latin typeface="Calibri"/>
                    <a:cs typeface="Calibri"/>
                  </a:rPr>
                  <a:t>PC</a:t>
                </a:r>
                <a:r>
                  <a:rPr sz="1500" b="1" spc="-4" dirty="0">
                    <a:solidFill>
                      <a:srgbClr val="FF0000"/>
                    </a:solidFill>
                    <a:latin typeface="Calibri"/>
                    <a:cs typeface="Calibri"/>
                  </a:rPr>
                  <a:t> </a:t>
                </a:r>
                <a:r>
                  <a:rPr lang="en-US" sz="1600" b="1" dirty="0">
                    <a:solidFill>
                      <a:srgbClr val="FF0000"/>
                    </a:solidFill>
                  </a:rPr>
                  <a:t>←</a:t>
                </a:r>
                <a:r>
                  <a:rPr sz="1500" b="1" dirty="0">
                    <a:solidFill>
                      <a:srgbClr val="FF0000"/>
                    </a:solidFill>
                    <a:latin typeface="Calibri"/>
                    <a:cs typeface="Calibri"/>
                  </a:rPr>
                  <a:t> </a:t>
                </a:r>
                <a:r>
                  <a:rPr sz="1500" b="1" spc="-9" dirty="0">
                    <a:solidFill>
                      <a:srgbClr val="FF0000"/>
                    </a:solidFill>
                    <a:latin typeface="Calibri"/>
                    <a:cs typeface="Calibri"/>
                  </a:rPr>
                  <a:t>PC+IR</a:t>
                </a:r>
                <a:r>
                  <a:rPr sz="1456" b="1" spc="-13" baseline="-15151" dirty="0">
                    <a:solidFill>
                      <a:srgbClr val="FF0000"/>
                    </a:solidFill>
                    <a:latin typeface="Calibri"/>
                    <a:cs typeface="Calibri"/>
                  </a:rPr>
                  <a:t>im</a:t>
                </a:r>
                <a:endParaRPr sz="1456" baseline="-15151" dirty="0">
                  <a:latin typeface="Calibri"/>
                  <a:cs typeface="Calibri"/>
                </a:endParaRPr>
              </a:p>
            </p:txBody>
          </p:sp>
        </p:grpSp>
        <p:cxnSp>
          <p:nvCxnSpPr>
            <p:cNvPr id="49" name="Straight Arrow Connector 48">
              <a:extLst>
                <a:ext uri="{FF2B5EF4-FFF2-40B4-BE49-F238E27FC236}">
                  <a16:creationId xmlns:a16="http://schemas.microsoft.com/office/drawing/2014/main" id="{E3FA4C88-336B-DE68-C139-892F4BA8FE31}"/>
                </a:ext>
              </a:extLst>
            </p:cNvPr>
            <p:cNvCxnSpPr>
              <a:cxnSpLocks/>
              <a:stCxn id="6" idx="2"/>
            </p:cNvCxnSpPr>
            <p:nvPr/>
          </p:nvCxnSpPr>
          <p:spPr>
            <a:xfrm flipH="1">
              <a:off x="1239949" y="2841563"/>
              <a:ext cx="3244157" cy="762591"/>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6C452408-C1AF-CE78-6864-EF387FDE9643}"/>
              </a:ext>
            </a:extLst>
          </p:cNvPr>
          <p:cNvGrpSpPr/>
          <p:nvPr/>
        </p:nvGrpSpPr>
        <p:grpSpPr>
          <a:xfrm>
            <a:off x="2343406" y="2841563"/>
            <a:ext cx="2140700" cy="1214037"/>
            <a:chOff x="2343406" y="2841563"/>
            <a:chExt cx="2140700" cy="1214037"/>
          </a:xfrm>
        </p:grpSpPr>
        <p:grpSp>
          <p:nvGrpSpPr>
            <p:cNvPr id="38" name="Group 37">
              <a:extLst>
                <a:ext uri="{FF2B5EF4-FFF2-40B4-BE49-F238E27FC236}">
                  <a16:creationId xmlns:a16="http://schemas.microsoft.com/office/drawing/2014/main" id="{87B24D04-E0C1-0C9C-91D5-3DFF495FB960}"/>
                </a:ext>
              </a:extLst>
            </p:cNvPr>
            <p:cNvGrpSpPr/>
            <p:nvPr/>
          </p:nvGrpSpPr>
          <p:grpSpPr>
            <a:xfrm>
              <a:off x="2343406" y="3283772"/>
              <a:ext cx="1100418" cy="771828"/>
              <a:chOff x="2343406" y="3283772"/>
              <a:chExt cx="1100418" cy="771828"/>
            </a:xfrm>
          </p:grpSpPr>
          <p:sp>
            <p:nvSpPr>
              <p:cNvPr id="8" name="object 8"/>
              <p:cNvSpPr txBox="1"/>
              <p:nvPr/>
            </p:nvSpPr>
            <p:spPr>
              <a:xfrm>
                <a:off x="2772914" y="3283772"/>
                <a:ext cx="329453" cy="242148"/>
              </a:xfrm>
              <a:prstGeom prst="rect">
                <a:avLst/>
              </a:prstGeom>
            </p:spPr>
            <p:txBody>
              <a:bodyPr vert="horz" wrap="square" lIns="0" tIns="11206" rIns="0" bIns="0" rtlCol="0">
                <a:spAutoFit/>
              </a:bodyPr>
              <a:lstStyle/>
              <a:p>
                <a:pPr marL="11206">
                  <a:spcBef>
                    <a:spcPts val="88"/>
                  </a:spcBef>
                </a:pPr>
                <a:r>
                  <a:rPr sz="1500" b="1" spc="-22" dirty="0">
                    <a:latin typeface="Calibri"/>
                    <a:cs typeface="Calibri"/>
                  </a:rPr>
                  <a:t>jmp</a:t>
                </a:r>
                <a:endParaRPr sz="1500">
                  <a:latin typeface="Calibri"/>
                  <a:cs typeface="Calibri"/>
                </a:endParaRPr>
              </a:p>
            </p:txBody>
          </p:sp>
          <p:sp>
            <p:nvSpPr>
              <p:cNvPr id="24" name="object 24"/>
              <p:cNvSpPr txBox="1"/>
              <p:nvPr/>
            </p:nvSpPr>
            <p:spPr>
              <a:xfrm>
                <a:off x="2343406" y="3791953"/>
                <a:ext cx="1100418" cy="263647"/>
              </a:xfrm>
              <a:prstGeom prst="rect">
                <a:avLst/>
              </a:prstGeom>
              <a:ln w="13546">
                <a:solidFill>
                  <a:srgbClr val="000000"/>
                </a:solidFill>
              </a:ln>
            </p:spPr>
            <p:txBody>
              <a:bodyPr vert="horz" wrap="square" lIns="0" tIns="32497" rIns="0" bIns="0" rtlCol="0">
                <a:spAutoFit/>
              </a:bodyPr>
              <a:lstStyle/>
              <a:p>
                <a:pPr marL="85730">
                  <a:spcBef>
                    <a:spcPts val="256"/>
                  </a:spcBef>
                </a:pPr>
                <a:r>
                  <a:rPr sz="1500" b="1" dirty="0">
                    <a:solidFill>
                      <a:srgbClr val="FF0000"/>
                    </a:solidFill>
                    <a:latin typeface="Calibri"/>
                    <a:cs typeface="Calibri"/>
                  </a:rPr>
                  <a:t>PC</a:t>
                </a:r>
                <a:r>
                  <a:rPr sz="1500" b="1" spc="-4" dirty="0">
                    <a:solidFill>
                      <a:srgbClr val="FF0000"/>
                    </a:solidFill>
                    <a:latin typeface="Calibri"/>
                    <a:cs typeface="Calibri"/>
                  </a:rPr>
                  <a:t> </a:t>
                </a:r>
                <a:r>
                  <a:rPr lang="en-US" sz="1400" b="1" dirty="0">
                    <a:solidFill>
                      <a:srgbClr val="FF0000"/>
                    </a:solidFill>
                  </a:rPr>
                  <a:t>←</a:t>
                </a:r>
                <a:r>
                  <a:rPr sz="1500" b="1" dirty="0">
                    <a:solidFill>
                      <a:srgbClr val="FF0000"/>
                    </a:solidFill>
                    <a:latin typeface="Calibri"/>
                    <a:cs typeface="Calibri"/>
                  </a:rPr>
                  <a:t> </a:t>
                </a:r>
                <a:r>
                  <a:rPr sz="1500" b="1" spc="-9" dirty="0">
                    <a:solidFill>
                      <a:srgbClr val="FF0000"/>
                    </a:solidFill>
                    <a:latin typeface="Calibri"/>
                    <a:cs typeface="Calibri"/>
                  </a:rPr>
                  <a:t>IR</a:t>
                </a:r>
                <a:r>
                  <a:rPr sz="1456" b="1" spc="-13" baseline="-15151" dirty="0">
                    <a:solidFill>
                      <a:srgbClr val="FF0000"/>
                    </a:solidFill>
                    <a:latin typeface="Calibri"/>
                    <a:cs typeface="Calibri"/>
                  </a:rPr>
                  <a:t>jaddr</a:t>
                </a:r>
                <a:endParaRPr sz="1456" baseline="-15151" dirty="0">
                  <a:latin typeface="Calibri"/>
                  <a:cs typeface="Calibri"/>
                </a:endParaRPr>
              </a:p>
            </p:txBody>
          </p:sp>
        </p:grpSp>
        <p:cxnSp>
          <p:nvCxnSpPr>
            <p:cNvPr id="53" name="Straight Arrow Connector 52">
              <a:extLst>
                <a:ext uri="{FF2B5EF4-FFF2-40B4-BE49-F238E27FC236}">
                  <a16:creationId xmlns:a16="http://schemas.microsoft.com/office/drawing/2014/main" id="{5B94B772-8B9C-2259-97CC-1DC183BE074D}"/>
                </a:ext>
              </a:extLst>
            </p:cNvPr>
            <p:cNvCxnSpPr>
              <a:cxnSpLocks/>
              <a:stCxn id="6" idx="2"/>
              <a:endCxn id="24" idx="0"/>
            </p:cNvCxnSpPr>
            <p:nvPr/>
          </p:nvCxnSpPr>
          <p:spPr>
            <a:xfrm flipH="1">
              <a:off x="2893615" y="2841563"/>
              <a:ext cx="1590491" cy="95039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DF37BB9C-9303-FBA1-1250-96F2646C5C7E}"/>
              </a:ext>
            </a:extLst>
          </p:cNvPr>
          <p:cNvGrpSpPr/>
          <p:nvPr/>
        </p:nvGrpSpPr>
        <p:grpSpPr>
          <a:xfrm>
            <a:off x="3851313" y="2841563"/>
            <a:ext cx="1274669" cy="1214037"/>
            <a:chOff x="3851313" y="2841563"/>
            <a:chExt cx="1274669" cy="1214037"/>
          </a:xfrm>
        </p:grpSpPr>
        <p:grpSp>
          <p:nvGrpSpPr>
            <p:cNvPr id="39" name="Group 38">
              <a:extLst>
                <a:ext uri="{FF2B5EF4-FFF2-40B4-BE49-F238E27FC236}">
                  <a16:creationId xmlns:a16="http://schemas.microsoft.com/office/drawing/2014/main" id="{74FDB01B-1345-D707-887D-52D156D8E733}"/>
                </a:ext>
              </a:extLst>
            </p:cNvPr>
            <p:cNvGrpSpPr/>
            <p:nvPr/>
          </p:nvGrpSpPr>
          <p:grpSpPr>
            <a:xfrm>
              <a:off x="3851313" y="3340248"/>
              <a:ext cx="1274669" cy="715352"/>
              <a:chOff x="3851313" y="3340248"/>
              <a:chExt cx="1274669" cy="715352"/>
            </a:xfrm>
          </p:grpSpPr>
          <p:sp>
            <p:nvSpPr>
              <p:cNvPr id="9" name="object 9"/>
              <p:cNvSpPr txBox="1"/>
              <p:nvPr/>
            </p:nvSpPr>
            <p:spPr>
              <a:xfrm>
                <a:off x="4102380" y="3340248"/>
                <a:ext cx="237565" cy="242148"/>
              </a:xfrm>
              <a:prstGeom prst="rect">
                <a:avLst/>
              </a:prstGeom>
            </p:spPr>
            <p:txBody>
              <a:bodyPr vert="horz" wrap="square" lIns="0" tIns="11206" rIns="0" bIns="0" rtlCol="0">
                <a:spAutoFit/>
              </a:bodyPr>
              <a:lstStyle/>
              <a:p>
                <a:pPr marL="11206">
                  <a:spcBef>
                    <a:spcPts val="88"/>
                  </a:spcBef>
                </a:pPr>
                <a:r>
                  <a:rPr sz="1500" b="1" spc="-22" dirty="0">
                    <a:latin typeface="Calibri"/>
                    <a:cs typeface="Calibri"/>
                  </a:rPr>
                  <a:t>RR</a:t>
                </a:r>
                <a:endParaRPr sz="1500">
                  <a:latin typeface="Calibri"/>
                  <a:cs typeface="Calibri"/>
                </a:endParaRPr>
              </a:p>
            </p:txBody>
          </p:sp>
          <p:sp>
            <p:nvSpPr>
              <p:cNvPr id="25" name="object 25"/>
              <p:cNvSpPr txBox="1"/>
              <p:nvPr/>
            </p:nvSpPr>
            <p:spPr>
              <a:xfrm>
                <a:off x="3851313" y="3791953"/>
                <a:ext cx="1274669" cy="263647"/>
              </a:xfrm>
              <a:prstGeom prst="rect">
                <a:avLst/>
              </a:prstGeom>
              <a:ln w="13546">
                <a:solidFill>
                  <a:srgbClr val="000000"/>
                </a:solidFill>
              </a:ln>
            </p:spPr>
            <p:txBody>
              <a:bodyPr vert="horz" wrap="square" lIns="0" tIns="32497" rIns="0" bIns="0" rtlCol="0">
                <a:spAutoFit/>
              </a:bodyPr>
              <a:lstStyle/>
              <a:p>
                <a:pPr marL="85730">
                  <a:spcBef>
                    <a:spcPts val="256"/>
                  </a:spcBef>
                </a:pPr>
                <a:r>
                  <a:rPr sz="1500" b="1" dirty="0">
                    <a:solidFill>
                      <a:srgbClr val="FF0000"/>
                    </a:solidFill>
                    <a:latin typeface="Calibri"/>
                    <a:cs typeface="Calibri"/>
                  </a:rPr>
                  <a:t>r</a:t>
                </a:r>
                <a:r>
                  <a:rPr sz="1500" b="1" spc="13" dirty="0">
                    <a:solidFill>
                      <a:srgbClr val="FF0000"/>
                    </a:solidFill>
                    <a:latin typeface="Calibri"/>
                    <a:cs typeface="Calibri"/>
                  </a:rPr>
                  <a:t> </a:t>
                </a:r>
                <a:r>
                  <a:rPr lang="en-US" sz="1400" b="1" dirty="0">
                    <a:solidFill>
                      <a:srgbClr val="FF0000"/>
                    </a:solidFill>
                  </a:rPr>
                  <a:t>←</a:t>
                </a:r>
                <a:r>
                  <a:rPr sz="1500" b="1" spc="13" dirty="0">
                    <a:solidFill>
                      <a:srgbClr val="FF0000"/>
                    </a:solidFill>
                    <a:latin typeface="Calibri"/>
                    <a:cs typeface="Calibri"/>
                  </a:rPr>
                  <a:t> </a:t>
                </a:r>
                <a:r>
                  <a:rPr sz="1500" b="1" dirty="0">
                    <a:solidFill>
                      <a:srgbClr val="FF0000"/>
                    </a:solidFill>
                    <a:latin typeface="Calibri"/>
                    <a:cs typeface="Calibri"/>
                  </a:rPr>
                  <a:t>A</a:t>
                </a:r>
                <a:r>
                  <a:rPr sz="1500" b="1" spc="13" dirty="0">
                    <a:solidFill>
                      <a:srgbClr val="FF0000"/>
                    </a:solidFill>
                    <a:latin typeface="Calibri"/>
                    <a:cs typeface="Calibri"/>
                  </a:rPr>
                  <a:t> </a:t>
                </a:r>
                <a:r>
                  <a:rPr sz="1500" b="1" dirty="0">
                    <a:solidFill>
                      <a:srgbClr val="FF0000"/>
                    </a:solidFill>
                    <a:latin typeface="Calibri"/>
                    <a:cs typeface="Calibri"/>
                  </a:rPr>
                  <a:t>op</a:t>
                </a:r>
                <a:r>
                  <a:rPr sz="1456" b="1" baseline="-15151" dirty="0">
                    <a:solidFill>
                      <a:srgbClr val="FF0000"/>
                    </a:solidFill>
                    <a:latin typeface="Calibri"/>
                    <a:cs typeface="Calibri"/>
                  </a:rPr>
                  <a:t>IRop</a:t>
                </a:r>
                <a:r>
                  <a:rPr sz="1456" b="1" spc="39" baseline="-15151" dirty="0">
                    <a:solidFill>
                      <a:srgbClr val="FF0000"/>
                    </a:solidFill>
                    <a:latin typeface="Calibri"/>
                    <a:cs typeface="Calibri"/>
                  </a:rPr>
                  <a:t> </a:t>
                </a:r>
                <a:r>
                  <a:rPr sz="1500" b="1" spc="-44" dirty="0">
                    <a:solidFill>
                      <a:srgbClr val="FF0000"/>
                    </a:solidFill>
                    <a:latin typeface="Calibri"/>
                    <a:cs typeface="Calibri"/>
                  </a:rPr>
                  <a:t>B</a:t>
                </a:r>
                <a:endParaRPr sz="1500" dirty="0">
                  <a:latin typeface="Calibri"/>
                  <a:cs typeface="Calibri"/>
                </a:endParaRPr>
              </a:p>
            </p:txBody>
          </p:sp>
        </p:grpSp>
        <p:cxnSp>
          <p:nvCxnSpPr>
            <p:cNvPr id="57" name="Straight Arrow Connector 56">
              <a:extLst>
                <a:ext uri="{FF2B5EF4-FFF2-40B4-BE49-F238E27FC236}">
                  <a16:creationId xmlns:a16="http://schemas.microsoft.com/office/drawing/2014/main" id="{AD807416-9FDD-4598-4396-5059EFB74961}"/>
                </a:ext>
              </a:extLst>
            </p:cNvPr>
            <p:cNvCxnSpPr>
              <a:cxnSpLocks/>
              <a:stCxn id="6" idx="2"/>
              <a:endCxn id="25" idx="0"/>
            </p:cNvCxnSpPr>
            <p:nvPr/>
          </p:nvCxnSpPr>
          <p:spPr>
            <a:xfrm>
              <a:off x="4484106" y="2841563"/>
              <a:ext cx="4542" cy="95039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5DE96EB3-6F6B-F3A3-E03B-F48E7B252F1C}"/>
              </a:ext>
            </a:extLst>
          </p:cNvPr>
          <p:cNvGrpSpPr/>
          <p:nvPr/>
        </p:nvGrpSpPr>
        <p:grpSpPr>
          <a:xfrm>
            <a:off x="4484106" y="2841563"/>
            <a:ext cx="2511525" cy="1269198"/>
            <a:chOff x="4484106" y="2841563"/>
            <a:chExt cx="2511525" cy="1269198"/>
          </a:xfrm>
        </p:grpSpPr>
        <p:grpSp>
          <p:nvGrpSpPr>
            <p:cNvPr id="42" name="Group 41">
              <a:extLst>
                <a:ext uri="{FF2B5EF4-FFF2-40B4-BE49-F238E27FC236}">
                  <a16:creationId xmlns:a16="http://schemas.microsoft.com/office/drawing/2014/main" id="{E76B5730-5AF7-88D3-401D-F6F2305FA794}"/>
                </a:ext>
              </a:extLst>
            </p:cNvPr>
            <p:cNvGrpSpPr/>
            <p:nvPr/>
          </p:nvGrpSpPr>
          <p:grpSpPr>
            <a:xfrm>
              <a:off x="5139597" y="3283772"/>
              <a:ext cx="1856034" cy="826989"/>
              <a:chOff x="5139597" y="3283772"/>
              <a:chExt cx="1856034" cy="826989"/>
            </a:xfrm>
          </p:grpSpPr>
          <p:sp>
            <p:nvSpPr>
              <p:cNvPr id="10" name="object 10"/>
              <p:cNvSpPr txBox="1"/>
              <p:nvPr/>
            </p:nvSpPr>
            <p:spPr>
              <a:xfrm>
                <a:off x="5139597" y="3283772"/>
                <a:ext cx="181535" cy="242148"/>
              </a:xfrm>
              <a:prstGeom prst="rect">
                <a:avLst/>
              </a:prstGeom>
            </p:spPr>
            <p:txBody>
              <a:bodyPr vert="horz" wrap="square" lIns="0" tIns="11206" rIns="0" bIns="0" rtlCol="0">
                <a:spAutoFit/>
              </a:bodyPr>
              <a:lstStyle/>
              <a:p>
                <a:pPr marL="11206">
                  <a:spcBef>
                    <a:spcPts val="88"/>
                  </a:spcBef>
                </a:pPr>
                <a:r>
                  <a:rPr sz="1500" b="1" spc="-22" dirty="0">
                    <a:latin typeface="Calibri"/>
                    <a:cs typeface="Calibri"/>
                  </a:rPr>
                  <a:t>RI</a:t>
                </a:r>
                <a:endParaRPr sz="1500">
                  <a:latin typeface="Calibri"/>
                  <a:cs typeface="Calibri"/>
                </a:endParaRPr>
              </a:p>
            </p:txBody>
          </p:sp>
          <p:sp>
            <p:nvSpPr>
              <p:cNvPr id="26" name="object 26"/>
              <p:cNvSpPr/>
              <p:nvPr/>
            </p:nvSpPr>
            <p:spPr>
              <a:xfrm>
                <a:off x="5502073" y="3791954"/>
                <a:ext cx="1476935" cy="318807"/>
              </a:xfrm>
              <a:custGeom>
                <a:avLst/>
                <a:gdLst/>
                <a:ahLst/>
                <a:cxnLst/>
                <a:rect l="l" t="t" r="r" b="b"/>
                <a:pathLst>
                  <a:path w="1673859" h="361314">
                    <a:moveTo>
                      <a:pt x="0" y="0"/>
                    </a:moveTo>
                    <a:lnTo>
                      <a:pt x="1673483" y="0"/>
                    </a:lnTo>
                    <a:lnTo>
                      <a:pt x="1673483" y="361124"/>
                    </a:lnTo>
                    <a:lnTo>
                      <a:pt x="0" y="361124"/>
                    </a:lnTo>
                    <a:lnTo>
                      <a:pt x="0" y="0"/>
                    </a:lnTo>
                    <a:close/>
                  </a:path>
                </a:pathLst>
              </a:custGeom>
              <a:ln w="13546">
                <a:solidFill>
                  <a:srgbClr val="000000"/>
                </a:solidFill>
              </a:ln>
            </p:spPr>
            <p:txBody>
              <a:bodyPr wrap="square" lIns="0" tIns="0" rIns="0" bIns="0" rtlCol="0"/>
              <a:lstStyle/>
              <a:p>
                <a:endParaRPr sz="1588"/>
              </a:p>
            </p:txBody>
          </p:sp>
          <p:sp>
            <p:nvSpPr>
              <p:cNvPr id="27" name="object 27"/>
              <p:cNvSpPr txBox="1"/>
              <p:nvPr/>
            </p:nvSpPr>
            <p:spPr>
              <a:xfrm>
                <a:off x="5485638" y="3813586"/>
                <a:ext cx="1509993" cy="242148"/>
              </a:xfrm>
              <a:prstGeom prst="rect">
                <a:avLst/>
              </a:prstGeom>
            </p:spPr>
            <p:txBody>
              <a:bodyPr vert="horz" wrap="square" lIns="0" tIns="11206" rIns="0" bIns="0" rtlCol="0">
                <a:spAutoFit/>
              </a:bodyPr>
              <a:lstStyle/>
              <a:p>
                <a:pPr marL="101979">
                  <a:spcBef>
                    <a:spcPts val="88"/>
                  </a:spcBef>
                </a:pPr>
                <a:r>
                  <a:rPr sz="1500" b="1" dirty="0">
                    <a:solidFill>
                      <a:srgbClr val="FF0000"/>
                    </a:solidFill>
                    <a:latin typeface="Calibri"/>
                    <a:cs typeface="Calibri"/>
                  </a:rPr>
                  <a:t>r</a:t>
                </a:r>
                <a:r>
                  <a:rPr sz="1500" b="1" spc="13" dirty="0">
                    <a:solidFill>
                      <a:srgbClr val="FF0000"/>
                    </a:solidFill>
                    <a:latin typeface="Calibri"/>
                    <a:cs typeface="Calibri"/>
                  </a:rPr>
                  <a:t> </a:t>
                </a:r>
                <a:r>
                  <a:rPr lang="en-US" sz="1400" b="1" dirty="0">
                    <a:solidFill>
                      <a:srgbClr val="FF0000"/>
                    </a:solidFill>
                  </a:rPr>
                  <a:t>←</a:t>
                </a:r>
                <a:r>
                  <a:rPr sz="1500" b="1" spc="9" dirty="0">
                    <a:solidFill>
                      <a:srgbClr val="FF0000"/>
                    </a:solidFill>
                    <a:latin typeface="Calibri"/>
                    <a:cs typeface="Calibri"/>
                  </a:rPr>
                  <a:t> </a:t>
                </a:r>
                <a:r>
                  <a:rPr sz="1500" b="1" dirty="0">
                    <a:solidFill>
                      <a:srgbClr val="FF0000"/>
                    </a:solidFill>
                    <a:latin typeface="Calibri"/>
                    <a:cs typeface="Calibri"/>
                  </a:rPr>
                  <a:t>A</a:t>
                </a:r>
                <a:r>
                  <a:rPr sz="1500" b="1" spc="18" dirty="0">
                    <a:solidFill>
                      <a:srgbClr val="FF0000"/>
                    </a:solidFill>
                    <a:latin typeface="Calibri"/>
                    <a:cs typeface="Calibri"/>
                  </a:rPr>
                  <a:t> </a:t>
                </a:r>
                <a:r>
                  <a:rPr sz="1500" b="1" dirty="0">
                    <a:solidFill>
                      <a:srgbClr val="FF0000"/>
                    </a:solidFill>
                    <a:latin typeface="Calibri"/>
                    <a:cs typeface="Calibri"/>
                  </a:rPr>
                  <a:t>op</a:t>
                </a:r>
                <a:r>
                  <a:rPr sz="1456" b="1" baseline="-15151" dirty="0">
                    <a:solidFill>
                      <a:srgbClr val="FF0000"/>
                    </a:solidFill>
                    <a:latin typeface="Calibri"/>
                    <a:cs typeface="Calibri"/>
                  </a:rPr>
                  <a:t>IRop</a:t>
                </a:r>
                <a:r>
                  <a:rPr sz="1456" b="1" spc="218" baseline="-15151" dirty="0">
                    <a:solidFill>
                      <a:srgbClr val="FF0000"/>
                    </a:solidFill>
                    <a:latin typeface="Calibri"/>
                    <a:cs typeface="Calibri"/>
                  </a:rPr>
                  <a:t> </a:t>
                </a:r>
                <a:r>
                  <a:rPr sz="1500" b="1" spc="-18" dirty="0">
                    <a:solidFill>
                      <a:srgbClr val="FF0000"/>
                    </a:solidFill>
                    <a:latin typeface="Calibri"/>
                    <a:cs typeface="Calibri"/>
                  </a:rPr>
                  <a:t>IR</a:t>
                </a:r>
                <a:r>
                  <a:rPr sz="1456" b="1" spc="-26" baseline="-15151" dirty="0">
                    <a:solidFill>
                      <a:srgbClr val="FF0000"/>
                    </a:solidFill>
                    <a:latin typeface="Calibri"/>
                    <a:cs typeface="Calibri"/>
                  </a:rPr>
                  <a:t>im</a:t>
                </a:r>
                <a:endParaRPr sz="1456" baseline="-15151" dirty="0">
                  <a:latin typeface="Calibri"/>
                  <a:cs typeface="Calibri"/>
                </a:endParaRPr>
              </a:p>
            </p:txBody>
          </p:sp>
        </p:grpSp>
        <p:cxnSp>
          <p:nvCxnSpPr>
            <p:cNvPr id="61" name="Straight Arrow Connector 60">
              <a:extLst>
                <a:ext uri="{FF2B5EF4-FFF2-40B4-BE49-F238E27FC236}">
                  <a16:creationId xmlns:a16="http://schemas.microsoft.com/office/drawing/2014/main" id="{5EBBAC2D-AF9C-7665-CDF2-C9D7F50C5EB2}"/>
                </a:ext>
              </a:extLst>
            </p:cNvPr>
            <p:cNvCxnSpPr>
              <a:cxnSpLocks/>
              <a:stCxn id="6" idx="2"/>
              <a:endCxn id="27" idx="0"/>
            </p:cNvCxnSpPr>
            <p:nvPr/>
          </p:nvCxnSpPr>
          <p:spPr>
            <a:xfrm>
              <a:off x="4484106" y="2841563"/>
              <a:ext cx="1756529" cy="972023"/>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C12391C9-C2B3-79DC-59D1-9102E1096D47}"/>
              </a:ext>
            </a:extLst>
          </p:cNvPr>
          <p:cNvGrpSpPr/>
          <p:nvPr/>
        </p:nvGrpSpPr>
        <p:grpSpPr>
          <a:xfrm>
            <a:off x="4484106" y="2841563"/>
            <a:ext cx="3980927" cy="1214037"/>
            <a:chOff x="4484106" y="2841563"/>
            <a:chExt cx="3980927" cy="1214037"/>
          </a:xfrm>
        </p:grpSpPr>
        <p:grpSp>
          <p:nvGrpSpPr>
            <p:cNvPr id="45" name="Group 44">
              <a:extLst>
                <a:ext uri="{FF2B5EF4-FFF2-40B4-BE49-F238E27FC236}">
                  <a16:creationId xmlns:a16="http://schemas.microsoft.com/office/drawing/2014/main" id="{49D38040-2EB8-4D6A-38C7-A08A40665503}"/>
                </a:ext>
              </a:extLst>
            </p:cNvPr>
            <p:cNvGrpSpPr/>
            <p:nvPr/>
          </p:nvGrpSpPr>
          <p:grpSpPr>
            <a:xfrm>
              <a:off x="6932538" y="3195020"/>
              <a:ext cx="1532495" cy="860580"/>
              <a:chOff x="6932538" y="3195020"/>
              <a:chExt cx="1532495" cy="860580"/>
            </a:xfrm>
          </p:grpSpPr>
          <p:sp>
            <p:nvSpPr>
              <p:cNvPr id="11" name="object 11"/>
              <p:cNvSpPr txBox="1"/>
              <p:nvPr/>
            </p:nvSpPr>
            <p:spPr>
              <a:xfrm>
                <a:off x="6932538" y="3195020"/>
                <a:ext cx="223557" cy="242148"/>
              </a:xfrm>
              <a:prstGeom prst="rect">
                <a:avLst/>
              </a:prstGeom>
            </p:spPr>
            <p:txBody>
              <a:bodyPr vert="horz" wrap="square" lIns="0" tIns="11206" rIns="0" bIns="0" rtlCol="0">
                <a:spAutoFit/>
              </a:bodyPr>
              <a:lstStyle/>
              <a:p>
                <a:pPr marL="11206">
                  <a:spcBef>
                    <a:spcPts val="88"/>
                  </a:spcBef>
                </a:pPr>
                <a:r>
                  <a:rPr sz="1500" b="1" spc="-22" dirty="0">
                    <a:latin typeface="Calibri"/>
                    <a:cs typeface="Calibri"/>
                  </a:rPr>
                  <a:t>LD</a:t>
                </a:r>
                <a:endParaRPr sz="1500" dirty="0">
                  <a:latin typeface="Calibri"/>
                  <a:cs typeface="Calibri"/>
                </a:endParaRPr>
              </a:p>
            </p:txBody>
          </p:sp>
          <p:sp>
            <p:nvSpPr>
              <p:cNvPr id="28" name="object 28"/>
              <p:cNvSpPr txBox="1"/>
              <p:nvPr/>
            </p:nvSpPr>
            <p:spPr>
              <a:xfrm>
                <a:off x="7343324" y="3791953"/>
                <a:ext cx="1121709" cy="263647"/>
              </a:xfrm>
              <a:prstGeom prst="rect">
                <a:avLst/>
              </a:prstGeom>
              <a:ln w="13546">
                <a:solidFill>
                  <a:srgbClr val="000000"/>
                </a:solidFill>
              </a:ln>
            </p:spPr>
            <p:txBody>
              <a:bodyPr vert="horz" wrap="square" lIns="0" tIns="32497" rIns="0" bIns="0" rtlCol="0">
                <a:spAutoFit/>
              </a:bodyPr>
              <a:lstStyle/>
              <a:p>
                <a:pPr marL="85730">
                  <a:spcBef>
                    <a:spcPts val="256"/>
                  </a:spcBef>
                </a:pPr>
                <a:r>
                  <a:rPr sz="1500" b="1" dirty="0">
                    <a:solidFill>
                      <a:srgbClr val="FF0000"/>
                    </a:solidFill>
                    <a:latin typeface="Calibri"/>
                    <a:cs typeface="Calibri"/>
                  </a:rPr>
                  <a:t>r </a:t>
                </a:r>
                <a:r>
                  <a:rPr lang="en-US" sz="1400" b="1" dirty="0">
                    <a:solidFill>
                      <a:srgbClr val="FF0000"/>
                    </a:solidFill>
                  </a:rPr>
                  <a:t>←</a:t>
                </a:r>
                <a:r>
                  <a:rPr sz="1500" b="1" dirty="0">
                    <a:solidFill>
                      <a:srgbClr val="FF0000"/>
                    </a:solidFill>
                    <a:latin typeface="Calibri"/>
                    <a:cs typeface="Calibri"/>
                  </a:rPr>
                  <a:t> A</a:t>
                </a:r>
                <a:r>
                  <a:rPr sz="1500" b="1" spc="4" dirty="0">
                    <a:solidFill>
                      <a:srgbClr val="FF0000"/>
                    </a:solidFill>
                    <a:latin typeface="Calibri"/>
                    <a:cs typeface="Calibri"/>
                  </a:rPr>
                  <a:t> </a:t>
                </a:r>
                <a:r>
                  <a:rPr sz="1500" b="1" dirty="0">
                    <a:solidFill>
                      <a:srgbClr val="FF0000"/>
                    </a:solidFill>
                    <a:latin typeface="Calibri"/>
                    <a:cs typeface="Calibri"/>
                  </a:rPr>
                  <a:t>+ </a:t>
                </a:r>
                <a:r>
                  <a:rPr sz="1500" b="1" spc="-18" dirty="0">
                    <a:solidFill>
                      <a:srgbClr val="FF0000"/>
                    </a:solidFill>
                    <a:latin typeface="Calibri"/>
                    <a:cs typeface="Calibri"/>
                  </a:rPr>
                  <a:t>IR</a:t>
                </a:r>
                <a:r>
                  <a:rPr sz="1456" b="1" spc="-26" baseline="-15151" dirty="0">
                    <a:solidFill>
                      <a:srgbClr val="FF0000"/>
                    </a:solidFill>
                    <a:latin typeface="Calibri"/>
                    <a:cs typeface="Calibri"/>
                  </a:rPr>
                  <a:t>im</a:t>
                </a:r>
                <a:endParaRPr sz="1456" baseline="-15151" dirty="0">
                  <a:latin typeface="Calibri"/>
                  <a:cs typeface="Calibri"/>
                </a:endParaRPr>
              </a:p>
            </p:txBody>
          </p:sp>
        </p:grpSp>
        <p:cxnSp>
          <p:nvCxnSpPr>
            <p:cNvPr id="65" name="Straight Arrow Connector 64">
              <a:extLst>
                <a:ext uri="{FF2B5EF4-FFF2-40B4-BE49-F238E27FC236}">
                  <a16:creationId xmlns:a16="http://schemas.microsoft.com/office/drawing/2014/main" id="{EB9CAA10-8843-E97F-9D19-C6FC826517DE}"/>
                </a:ext>
              </a:extLst>
            </p:cNvPr>
            <p:cNvCxnSpPr>
              <a:cxnSpLocks/>
              <a:stCxn id="6" idx="2"/>
              <a:endCxn id="28" idx="0"/>
            </p:cNvCxnSpPr>
            <p:nvPr/>
          </p:nvCxnSpPr>
          <p:spPr>
            <a:xfrm>
              <a:off x="4484106" y="2841563"/>
              <a:ext cx="3420073" cy="95039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73" name="Group 72">
            <a:extLst>
              <a:ext uri="{FF2B5EF4-FFF2-40B4-BE49-F238E27FC236}">
                <a16:creationId xmlns:a16="http://schemas.microsoft.com/office/drawing/2014/main" id="{7053647B-F570-FA5F-C277-3E5D1F441CFB}"/>
              </a:ext>
            </a:extLst>
          </p:cNvPr>
          <p:cNvGrpSpPr/>
          <p:nvPr/>
        </p:nvGrpSpPr>
        <p:grpSpPr>
          <a:xfrm>
            <a:off x="4484106" y="2841563"/>
            <a:ext cx="4001754" cy="509545"/>
            <a:chOff x="4484106" y="2841563"/>
            <a:chExt cx="4001754" cy="509545"/>
          </a:xfrm>
        </p:grpSpPr>
        <p:sp>
          <p:nvSpPr>
            <p:cNvPr id="12" name="object 12"/>
            <p:cNvSpPr txBox="1"/>
            <p:nvPr/>
          </p:nvSpPr>
          <p:spPr>
            <a:xfrm>
              <a:off x="8280232" y="3108960"/>
              <a:ext cx="205628" cy="242148"/>
            </a:xfrm>
            <a:prstGeom prst="rect">
              <a:avLst/>
            </a:prstGeom>
          </p:spPr>
          <p:txBody>
            <a:bodyPr vert="horz" wrap="square" lIns="0" tIns="11206" rIns="0" bIns="0" rtlCol="0">
              <a:spAutoFit/>
            </a:bodyPr>
            <a:lstStyle/>
            <a:p>
              <a:pPr marL="11206">
                <a:spcBef>
                  <a:spcPts val="88"/>
                </a:spcBef>
              </a:pPr>
              <a:r>
                <a:rPr sz="1500" b="1" spc="-22" dirty="0">
                  <a:latin typeface="Calibri"/>
                  <a:cs typeface="Calibri"/>
                </a:rPr>
                <a:t>ST</a:t>
              </a:r>
              <a:endParaRPr sz="1500" dirty="0">
                <a:latin typeface="Calibri"/>
                <a:cs typeface="Calibri"/>
              </a:endParaRPr>
            </a:p>
          </p:txBody>
        </p:sp>
        <p:cxnSp>
          <p:nvCxnSpPr>
            <p:cNvPr id="69" name="Straight Arrow Connector 68">
              <a:extLst>
                <a:ext uri="{FF2B5EF4-FFF2-40B4-BE49-F238E27FC236}">
                  <a16:creationId xmlns:a16="http://schemas.microsoft.com/office/drawing/2014/main" id="{C98CFF7F-2DCD-8EFE-6E14-DC49B6FD1919}"/>
                </a:ext>
              </a:extLst>
            </p:cNvPr>
            <p:cNvCxnSpPr>
              <a:cxnSpLocks/>
              <a:stCxn id="6" idx="2"/>
              <a:endCxn id="12" idx="1"/>
            </p:cNvCxnSpPr>
            <p:nvPr/>
          </p:nvCxnSpPr>
          <p:spPr>
            <a:xfrm>
              <a:off x="4484106" y="2841563"/>
              <a:ext cx="3796126" cy="388471"/>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3B2EBE27-0A4B-68EA-170D-4791677E8234}"/>
              </a:ext>
            </a:extLst>
          </p:cNvPr>
          <p:cNvGrpSpPr/>
          <p:nvPr/>
        </p:nvGrpSpPr>
        <p:grpSpPr>
          <a:xfrm>
            <a:off x="3811753" y="1987184"/>
            <a:ext cx="2798055" cy="854379"/>
            <a:chOff x="3811753" y="1987184"/>
            <a:chExt cx="2798055" cy="854379"/>
          </a:xfrm>
        </p:grpSpPr>
        <p:grpSp>
          <p:nvGrpSpPr>
            <p:cNvPr id="80" name="Group 79">
              <a:extLst>
                <a:ext uri="{FF2B5EF4-FFF2-40B4-BE49-F238E27FC236}">
                  <a16:creationId xmlns:a16="http://schemas.microsoft.com/office/drawing/2014/main" id="{6B4ADA31-67A7-FEBB-FC3B-C43C1724146B}"/>
                </a:ext>
              </a:extLst>
            </p:cNvPr>
            <p:cNvGrpSpPr/>
            <p:nvPr/>
          </p:nvGrpSpPr>
          <p:grpSpPr>
            <a:xfrm>
              <a:off x="3811753" y="2215147"/>
              <a:ext cx="2798055" cy="626416"/>
              <a:chOff x="3811753" y="2215147"/>
              <a:chExt cx="2798055" cy="626416"/>
            </a:xfrm>
          </p:grpSpPr>
          <p:sp>
            <p:nvSpPr>
              <p:cNvPr id="5" name="object 5"/>
              <p:cNvSpPr txBox="1"/>
              <p:nvPr/>
            </p:nvSpPr>
            <p:spPr>
              <a:xfrm>
                <a:off x="5426467" y="2437503"/>
                <a:ext cx="1183341" cy="215089"/>
              </a:xfrm>
              <a:prstGeom prst="rect">
                <a:avLst/>
              </a:prstGeom>
            </p:spPr>
            <p:txBody>
              <a:bodyPr vert="horz" wrap="square" lIns="0" tIns="11206" rIns="0" bIns="0" rtlCol="0">
                <a:spAutoFit/>
              </a:bodyPr>
              <a:lstStyle/>
              <a:p>
                <a:pPr marL="11206">
                  <a:spcBef>
                    <a:spcPts val="88"/>
                  </a:spcBef>
                </a:pPr>
                <a:r>
                  <a:rPr sz="1324" b="1" spc="-22" dirty="0">
                    <a:latin typeface="Calibri"/>
                    <a:cs typeface="Calibri"/>
                  </a:rPr>
                  <a:t>opFetch-</a:t>
                </a:r>
                <a:r>
                  <a:rPr sz="1324" b="1" spc="-9" dirty="0">
                    <a:latin typeface="Calibri"/>
                    <a:cs typeface="Calibri"/>
                  </a:rPr>
                  <a:t>DeCoDe</a:t>
                </a:r>
                <a:endParaRPr sz="1324" dirty="0">
                  <a:latin typeface="Calibri"/>
                  <a:cs typeface="Calibri"/>
                </a:endParaRPr>
              </a:p>
            </p:txBody>
          </p:sp>
          <p:sp>
            <p:nvSpPr>
              <p:cNvPr id="6" name="object 6"/>
              <p:cNvSpPr txBox="1"/>
              <p:nvPr/>
            </p:nvSpPr>
            <p:spPr>
              <a:xfrm>
                <a:off x="3811753" y="2215147"/>
                <a:ext cx="1344706" cy="626416"/>
              </a:xfrm>
              <a:prstGeom prst="rect">
                <a:avLst/>
              </a:prstGeom>
              <a:ln w="13546">
                <a:solidFill>
                  <a:srgbClr val="000000"/>
                </a:solidFill>
              </a:ln>
            </p:spPr>
            <p:txBody>
              <a:bodyPr vert="horz" wrap="square" lIns="0" tIns="33618" rIns="0" bIns="0" rtlCol="0">
                <a:spAutoFit/>
              </a:bodyPr>
              <a:lstStyle/>
              <a:p>
                <a:pPr marL="85730">
                  <a:spcBef>
                    <a:spcPts val="265"/>
                  </a:spcBef>
                </a:pPr>
                <a:r>
                  <a:rPr sz="1500" b="1" dirty="0">
                    <a:solidFill>
                      <a:srgbClr val="FF0000"/>
                    </a:solidFill>
                    <a:latin typeface="Calibri"/>
                    <a:cs typeface="Calibri"/>
                  </a:rPr>
                  <a:t>A </a:t>
                </a:r>
                <a:r>
                  <a:rPr lang="en-US" sz="1400" b="1" dirty="0">
                    <a:solidFill>
                      <a:srgbClr val="FF0000"/>
                    </a:solidFill>
                  </a:rPr>
                  <a:t>←</a:t>
                </a:r>
                <a:r>
                  <a:rPr sz="1500" b="1" dirty="0">
                    <a:solidFill>
                      <a:srgbClr val="FF0000"/>
                    </a:solidFill>
                    <a:latin typeface="Calibri"/>
                    <a:cs typeface="Calibri"/>
                  </a:rPr>
                  <a:t> </a:t>
                </a:r>
                <a:r>
                  <a:rPr sz="1500" b="1" spc="-9" dirty="0">
                    <a:solidFill>
                      <a:srgbClr val="FF0000"/>
                    </a:solidFill>
                    <a:latin typeface="Calibri"/>
                    <a:cs typeface="Calibri"/>
                  </a:rPr>
                  <a:t>Reg[IR</a:t>
                </a:r>
                <a:r>
                  <a:rPr sz="1456" b="1" spc="-13" baseline="-15151" dirty="0">
                    <a:solidFill>
                      <a:srgbClr val="FF0000"/>
                    </a:solidFill>
                    <a:latin typeface="Calibri"/>
                    <a:cs typeface="Calibri"/>
                  </a:rPr>
                  <a:t>rs</a:t>
                </a:r>
                <a:r>
                  <a:rPr sz="1500" b="1" spc="-9" dirty="0">
                    <a:solidFill>
                      <a:srgbClr val="FF0000"/>
                    </a:solidFill>
                    <a:latin typeface="Calibri"/>
                    <a:cs typeface="Calibri"/>
                  </a:rPr>
                  <a:t>];</a:t>
                </a:r>
                <a:endParaRPr sz="1500" dirty="0">
                  <a:latin typeface="Calibri"/>
                  <a:cs typeface="Calibri"/>
                </a:endParaRPr>
              </a:p>
              <a:p>
                <a:pPr marL="85730">
                  <a:spcBef>
                    <a:spcPts val="931"/>
                  </a:spcBef>
                </a:pPr>
                <a:r>
                  <a:rPr sz="1500" b="1" dirty="0">
                    <a:solidFill>
                      <a:srgbClr val="FF0000"/>
                    </a:solidFill>
                    <a:latin typeface="Calibri"/>
                    <a:cs typeface="Calibri"/>
                  </a:rPr>
                  <a:t>B</a:t>
                </a:r>
                <a:r>
                  <a:rPr sz="1500" b="1" spc="-4" dirty="0">
                    <a:solidFill>
                      <a:srgbClr val="FF0000"/>
                    </a:solidFill>
                    <a:latin typeface="Calibri"/>
                    <a:cs typeface="Calibri"/>
                  </a:rPr>
                  <a:t> </a:t>
                </a:r>
                <a:r>
                  <a:rPr lang="en-US" sz="1400" b="1" dirty="0">
                    <a:solidFill>
                      <a:srgbClr val="FF0000"/>
                    </a:solidFill>
                  </a:rPr>
                  <a:t>←</a:t>
                </a:r>
                <a:r>
                  <a:rPr sz="1500" b="1" dirty="0">
                    <a:solidFill>
                      <a:srgbClr val="FF0000"/>
                    </a:solidFill>
                    <a:latin typeface="Calibri"/>
                    <a:cs typeface="Calibri"/>
                  </a:rPr>
                  <a:t> </a:t>
                </a:r>
                <a:r>
                  <a:rPr sz="1500" b="1" spc="-9" dirty="0">
                    <a:solidFill>
                      <a:srgbClr val="FF0000"/>
                    </a:solidFill>
                    <a:latin typeface="Calibri"/>
                    <a:cs typeface="Calibri"/>
                  </a:rPr>
                  <a:t>Reg[IR</a:t>
                </a:r>
                <a:r>
                  <a:rPr sz="1456" b="1" spc="-13" baseline="-15151" dirty="0">
                    <a:solidFill>
                      <a:srgbClr val="FF0000"/>
                    </a:solidFill>
                    <a:latin typeface="Calibri"/>
                    <a:cs typeface="Calibri"/>
                  </a:rPr>
                  <a:t>rt</a:t>
                </a:r>
                <a:r>
                  <a:rPr sz="1500" b="1" spc="-9" dirty="0">
                    <a:solidFill>
                      <a:srgbClr val="FF0000"/>
                    </a:solidFill>
                    <a:latin typeface="Calibri"/>
                    <a:cs typeface="Calibri"/>
                  </a:rPr>
                  <a:t>]</a:t>
                </a:r>
                <a:endParaRPr sz="1500" dirty="0">
                  <a:latin typeface="Calibri"/>
                  <a:cs typeface="Calibri"/>
                </a:endParaRPr>
              </a:p>
            </p:txBody>
          </p:sp>
        </p:grpSp>
        <p:cxnSp>
          <p:nvCxnSpPr>
            <p:cNvPr id="75" name="Straight Arrow Connector 74">
              <a:extLst>
                <a:ext uri="{FF2B5EF4-FFF2-40B4-BE49-F238E27FC236}">
                  <a16:creationId xmlns:a16="http://schemas.microsoft.com/office/drawing/2014/main" id="{22FABDF6-118E-2AE0-6C7D-A3B943CC54D5}"/>
                </a:ext>
              </a:extLst>
            </p:cNvPr>
            <p:cNvCxnSpPr>
              <a:cxnSpLocks/>
              <a:stCxn id="3" idx="2"/>
              <a:endCxn id="6" idx="0"/>
            </p:cNvCxnSpPr>
            <p:nvPr/>
          </p:nvCxnSpPr>
          <p:spPr>
            <a:xfrm flipH="1">
              <a:off x="4484106" y="1987184"/>
              <a:ext cx="1179" cy="227963"/>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fade">
                                      <p:cBhvr>
                                        <p:cTn id="17" dur="500"/>
                                        <p:tgtEl>
                                          <p:spTgt spid="5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fade">
                                      <p:cBhvr>
                                        <p:cTn id="22" dur="500"/>
                                        <p:tgtEl>
                                          <p:spTgt spid="6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fade">
                                      <p:cBhvr>
                                        <p:cTn id="37" dur="500"/>
                                        <p:tgtEl>
                                          <p:spTgt spid="6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5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fade">
                                      <p:cBhvr>
                                        <p:cTn id="47" dur="500"/>
                                        <p:tgtEl>
                                          <p:spTgt spid="4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fade">
                                      <p:cBhvr>
                                        <p:cTn id="52" dur="500"/>
                                        <p:tgtEl>
                                          <p:spTgt spid="6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fade">
                                      <p:cBhvr>
                                        <p:cTn id="57" dur="500"/>
                                        <p:tgtEl>
                                          <p:spTgt spid="4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fade">
                                      <p:cBhvr>
                                        <p:cTn id="62" dur="500"/>
                                        <p:tgtEl>
                                          <p:spTgt spid="4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3"/>
                                        </p:tgtEl>
                                        <p:attrNameLst>
                                          <p:attrName>style.visibility</p:attrName>
                                        </p:attrNameLst>
                                      </p:cBhvr>
                                      <p:to>
                                        <p:strVal val="visible"/>
                                      </p:to>
                                    </p:set>
                                    <p:animEffect transition="in" filter="fade">
                                      <p:cBhvr>
                                        <p:cTn id="6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9853" y="14689"/>
            <a:ext cx="4323790" cy="1365532"/>
          </a:xfrm>
          <a:prstGeom prst="rect">
            <a:avLst/>
          </a:prstGeom>
        </p:spPr>
        <p:txBody>
          <a:bodyPr vert="horz" wrap="square" lIns="0" tIns="11206" rIns="0" bIns="0" rtlCol="0" anchor="ctr">
            <a:spAutoFit/>
          </a:bodyPr>
          <a:lstStyle/>
          <a:p>
            <a:pPr marL="11206">
              <a:lnSpc>
                <a:spcPct val="100000"/>
              </a:lnSpc>
              <a:spcBef>
                <a:spcPts val="88"/>
              </a:spcBef>
            </a:pPr>
            <a:r>
              <a:rPr dirty="0"/>
              <a:t>5 Steps of a</a:t>
            </a:r>
            <a:r>
              <a:rPr spc="9" dirty="0"/>
              <a:t> </a:t>
            </a:r>
            <a:r>
              <a:rPr dirty="0"/>
              <a:t>MIPS</a:t>
            </a:r>
            <a:r>
              <a:rPr spc="9" dirty="0"/>
              <a:t> </a:t>
            </a:r>
            <a:r>
              <a:rPr dirty="0"/>
              <a:t>Data</a:t>
            </a:r>
            <a:r>
              <a:rPr spc="9" dirty="0"/>
              <a:t> </a:t>
            </a:r>
            <a:r>
              <a:rPr spc="-18" dirty="0"/>
              <a:t>Path</a:t>
            </a:r>
          </a:p>
        </p:txBody>
      </p:sp>
      <p:sp>
        <p:nvSpPr>
          <p:cNvPr id="118" name="Slide Number Placeholder 117">
            <a:extLst>
              <a:ext uri="{FF2B5EF4-FFF2-40B4-BE49-F238E27FC236}">
                <a16:creationId xmlns:a16="http://schemas.microsoft.com/office/drawing/2014/main" id="{BEA70357-4F55-0F06-3AA4-A6898B612067}"/>
              </a:ext>
            </a:extLst>
          </p:cNvPr>
          <p:cNvSpPr>
            <a:spLocks noGrp="1"/>
          </p:cNvSpPr>
          <p:nvPr>
            <p:ph type="sldNum" sz="quarter" idx="7"/>
          </p:nvPr>
        </p:nvSpPr>
        <p:spPr/>
        <p:txBody>
          <a:bodyPr/>
          <a:lstStyle/>
          <a:p>
            <a:fld id="{4FE321F0-2018-4E50-8BB3-A5631EBD98DD}" type="slidenum">
              <a:rPr lang="en-US" smtClean="0"/>
              <a:t>27</a:t>
            </a:fld>
            <a:endParaRPr lang="en-US"/>
          </a:p>
        </p:txBody>
      </p:sp>
      <p:sp>
        <p:nvSpPr>
          <p:cNvPr id="3" name="object 3"/>
          <p:cNvSpPr txBox="1"/>
          <p:nvPr/>
        </p:nvSpPr>
        <p:spPr>
          <a:xfrm>
            <a:off x="989853" y="905435"/>
            <a:ext cx="3049680" cy="269399"/>
          </a:xfrm>
          <a:prstGeom prst="rect">
            <a:avLst/>
          </a:prstGeom>
        </p:spPr>
        <p:txBody>
          <a:bodyPr vert="horz" wrap="square" lIns="0" tIns="11206" rIns="0" bIns="0" rtlCol="0">
            <a:spAutoFit/>
          </a:bodyPr>
          <a:lstStyle/>
          <a:p>
            <a:pPr marL="11206">
              <a:spcBef>
                <a:spcPts val="88"/>
              </a:spcBef>
            </a:pPr>
            <a:r>
              <a:rPr sz="1677" dirty="0">
                <a:solidFill>
                  <a:srgbClr val="0332B7"/>
                </a:solidFill>
                <a:latin typeface="Calibri"/>
                <a:cs typeface="Calibri"/>
              </a:rPr>
              <a:t>(with</a:t>
            </a:r>
            <a:r>
              <a:rPr sz="1677" spc="13" dirty="0">
                <a:solidFill>
                  <a:srgbClr val="0332B7"/>
                </a:solidFill>
                <a:latin typeface="Calibri"/>
                <a:cs typeface="Calibri"/>
              </a:rPr>
              <a:t> </a:t>
            </a:r>
            <a:r>
              <a:rPr sz="1677" dirty="0">
                <a:solidFill>
                  <a:srgbClr val="0332B7"/>
                </a:solidFill>
                <a:latin typeface="Calibri"/>
                <a:cs typeface="Calibri"/>
              </a:rPr>
              <a:t>pipeline</a:t>
            </a:r>
            <a:r>
              <a:rPr sz="1677" spc="13" dirty="0">
                <a:solidFill>
                  <a:srgbClr val="0332B7"/>
                </a:solidFill>
                <a:latin typeface="Calibri"/>
                <a:cs typeface="Calibri"/>
              </a:rPr>
              <a:t> </a:t>
            </a:r>
            <a:r>
              <a:rPr sz="1677" dirty="0">
                <a:solidFill>
                  <a:srgbClr val="0332B7"/>
                </a:solidFill>
                <a:latin typeface="Calibri"/>
                <a:cs typeface="Calibri"/>
              </a:rPr>
              <a:t>latches,</a:t>
            </a:r>
            <a:r>
              <a:rPr sz="1677" spc="4" dirty="0">
                <a:solidFill>
                  <a:srgbClr val="0332B7"/>
                </a:solidFill>
                <a:latin typeface="Calibri"/>
                <a:cs typeface="Calibri"/>
              </a:rPr>
              <a:t> </a:t>
            </a:r>
            <a:r>
              <a:rPr sz="1677" dirty="0">
                <a:solidFill>
                  <a:srgbClr val="0332B7"/>
                </a:solidFill>
                <a:latin typeface="Calibri"/>
                <a:cs typeface="Calibri"/>
              </a:rPr>
              <a:t>Figure</a:t>
            </a:r>
            <a:r>
              <a:rPr sz="1677" spc="13" dirty="0">
                <a:solidFill>
                  <a:srgbClr val="0332B7"/>
                </a:solidFill>
                <a:latin typeface="Calibri"/>
                <a:cs typeface="Calibri"/>
              </a:rPr>
              <a:t> </a:t>
            </a:r>
            <a:r>
              <a:rPr sz="1677" spc="-9" dirty="0">
                <a:solidFill>
                  <a:srgbClr val="0332B7"/>
                </a:solidFill>
                <a:latin typeface="Calibri"/>
                <a:cs typeface="Calibri"/>
              </a:rPr>
              <a:t>C.22)</a:t>
            </a:r>
            <a:endParaRPr sz="1677" dirty="0">
              <a:latin typeface="Calibri"/>
              <a:cs typeface="Calibri"/>
            </a:endParaRPr>
          </a:p>
        </p:txBody>
      </p:sp>
      <p:grpSp>
        <p:nvGrpSpPr>
          <p:cNvPr id="4" name="object 4"/>
          <p:cNvGrpSpPr/>
          <p:nvPr/>
        </p:nvGrpSpPr>
        <p:grpSpPr>
          <a:xfrm>
            <a:off x="5715943" y="3415552"/>
            <a:ext cx="2438400" cy="1057835"/>
            <a:chOff x="6325669" y="3870959"/>
            <a:chExt cx="2763520" cy="1198880"/>
          </a:xfrm>
        </p:grpSpPr>
        <p:sp>
          <p:nvSpPr>
            <p:cNvPr id="5" name="object 5"/>
            <p:cNvSpPr/>
            <p:nvPr/>
          </p:nvSpPr>
          <p:spPr>
            <a:xfrm>
              <a:off x="8357665" y="4815841"/>
              <a:ext cx="731520" cy="91440"/>
            </a:xfrm>
            <a:custGeom>
              <a:avLst/>
              <a:gdLst/>
              <a:ahLst/>
              <a:cxnLst/>
              <a:rect l="l" t="t" r="r" b="b"/>
              <a:pathLst>
                <a:path w="731520" h="91439">
                  <a:moveTo>
                    <a:pt x="640079" y="0"/>
                  </a:moveTo>
                  <a:lnTo>
                    <a:pt x="640078" y="91439"/>
                  </a:lnTo>
                  <a:lnTo>
                    <a:pt x="701038" y="60959"/>
                  </a:lnTo>
                  <a:lnTo>
                    <a:pt x="655320" y="60959"/>
                  </a:lnTo>
                  <a:lnTo>
                    <a:pt x="655320" y="30479"/>
                  </a:lnTo>
                  <a:lnTo>
                    <a:pt x="701039" y="30479"/>
                  </a:lnTo>
                  <a:lnTo>
                    <a:pt x="640079" y="0"/>
                  </a:lnTo>
                  <a:close/>
                </a:path>
                <a:path w="731520" h="91439">
                  <a:moveTo>
                    <a:pt x="640079" y="30479"/>
                  </a:moveTo>
                  <a:lnTo>
                    <a:pt x="0" y="30479"/>
                  </a:lnTo>
                  <a:lnTo>
                    <a:pt x="0" y="60959"/>
                  </a:lnTo>
                  <a:lnTo>
                    <a:pt x="640079" y="60959"/>
                  </a:lnTo>
                  <a:lnTo>
                    <a:pt x="640079" y="30479"/>
                  </a:lnTo>
                  <a:close/>
                </a:path>
                <a:path w="731520" h="91439">
                  <a:moveTo>
                    <a:pt x="701039" y="30479"/>
                  </a:moveTo>
                  <a:lnTo>
                    <a:pt x="655320" y="30479"/>
                  </a:lnTo>
                  <a:lnTo>
                    <a:pt x="655320" y="60959"/>
                  </a:lnTo>
                  <a:lnTo>
                    <a:pt x="701038" y="60959"/>
                  </a:lnTo>
                  <a:lnTo>
                    <a:pt x="731518" y="45719"/>
                  </a:lnTo>
                  <a:lnTo>
                    <a:pt x="701039" y="30479"/>
                  </a:lnTo>
                  <a:close/>
                </a:path>
              </a:pathLst>
            </a:custGeom>
            <a:solidFill>
              <a:srgbClr val="000000"/>
            </a:solidFill>
          </p:spPr>
          <p:txBody>
            <a:bodyPr wrap="square" lIns="0" tIns="0" rIns="0" bIns="0" rtlCol="0"/>
            <a:lstStyle/>
            <a:p>
              <a:endParaRPr sz="1588"/>
            </a:p>
          </p:txBody>
        </p:sp>
        <p:sp>
          <p:nvSpPr>
            <p:cNvPr id="6" name="object 6"/>
            <p:cNvSpPr/>
            <p:nvPr/>
          </p:nvSpPr>
          <p:spPr>
            <a:xfrm>
              <a:off x="6351068" y="3886199"/>
              <a:ext cx="454025" cy="1168400"/>
            </a:xfrm>
            <a:custGeom>
              <a:avLst/>
              <a:gdLst/>
              <a:ahLst/>
              <a:cxnLst/>
              <a:rect l="l" t="t" r="r" b="b"/>
              <a:pathLst>
                <a:path w="454025" h="1168400">
                  <a:moveTo>
                    <a:pt x="0" y="0"/>
                  </a:moveTo>
                  <a:lnTo>
                    <a:pt x="0" y="1168400"/>
                  </a:lnTo>
                  <a:lnTo>
                    <a:pt x="453815" y="876300"/>
                  </a:lnTo>
                  <a:lnTo>
                    <a:pt x="453815" y="292100"/>
                  </a:lnTo>
                  <a:lnTo>
                    <a:pt x="0" y="0"/>
                  </a:lnTo>
                  <a:close/>
                </a:path>
              </a:pathLst>
            </a:custGeom>
            <a:solidFill>
              <a:srgbClr val="618FFD"/>
            </a:solidFill>
          </p:spPr>
          <p:txBody>
            <a:bodyPr wrap="square" lIns="0" tIns="0" rIns="0" bIns="0" rtlCol="0"/>
            <a:lstStyle/>
            <a:p>
              <a:endParaRPr sz="1588"/>
            </a:p>
          </p:txBody>
        </p:sp>
        <p:sp>
          <p:nvSpPr>
            <p:cNvPr id="7" name="object 7"/>
            <p:cNvSpPr/>
            <p:nvPr/>
          </p:nvSpPr>
          <p:spPr>
            <a:xfrm>
              <a:off x="6351068" y="3886199"/>
              <a:ext cx="454025" cy="1168400"/>
            </a:xfrm>
            <a:custGeom>
              <a:avLst/>
              <a:gdLst/>
              <a:ahLst/>
              <a:cxnLst/>
              <a:rect l="l" t="t" r="r" b="b"/>
              <a:pathLst>
                <a:path w="454025" h="1168400">
                  <a:moveTo>
                    <a:pt x="0" y="1168399"/>
                  </a:moveTo>
                  <a:lnTo>
                    <a:pt x="453814" y="876299"/>
                  </a:lnTo>
                  <a:lnTo>
                    <a:pt x="453814" y="292100"/>
                  </a:lnTo>
                  <a:lnTo>
                    <a:pt x="0" y="0"/>
                  </a:lnTo>
                  <a:lnTo>
                    <a:pt x="0" y="1168399"/>
                  </a:lnTo>
                  <a:close/>
                </a:path>
              </a:pathLst>
            </a:custGeom>
            <a:ln w="30479">
              <a:solidFill>
                <a:srgbClr val="000000"/>
              </a:solidFill>
            </a:ln>
          </p:spPr>
          <p:txBody>
            <a:bodyPr wrap="square" lIns="0" tIns="0" rIns="0" bIns="0" rtlCol="0"/>
            <a:lstStyle/>
            <a:p>
              <a:endParaRPr sz="1588"/>
            </a:p>
          </p:txBody>
        </p:sp>
        <p:sp>
          <p:nvSpPr>
            <p:cNvPr id="8" name="object 8"/>
            <p:cNvSpPr/>
            <p:nvPr/>
          </p:nvSpPr>
          <p:spPr>
            <a:xfrm>
              <a:off x="6325669" y="4241301"/>
              <a:ext cx="218440" cy="353695"/>
            </a:xfrm>
            <a:custGeom>
              <a:avLst/>
              <a:gdLst/>
              <a:ahLst/>
              <a:cxnLst/>
              <a:rect l="l" t="t" r="r" b="b"/>
              <a:pathLst>
                <a:path w="218440" h="353695">
                  <a:moveTo>
                    <a:pt x="0" y="0"/>
                  </a:moveTo>
                  <a:lnTo>
                    <a:pt x="0" y="353669"/>
                  </a:lnTo>
                  <a:lnTo>
                    <a:pt x="218440" y="176834"/>
                  </a:lnTo>
                  <a:lnTo>
                    <a:pt x="0" y="0"/>
                  </a:lnTo>
                  <a:close/>
                </a:path>
              </a:pathLst>
            </a:custGeom>
            <a:solidFill>
              <a:srgbClr val="FFFFFF"/>
            </a:solidFill>
          </p:spPr>
          <p:txBody>
            <a:bodyPr wrap="square" lIns="0" tIns="0" rIns="0" bIns="0" rtlCol="0"/>
            <a:lstStyle/>
            <a:p>
              <a:endParaRPr sz="1588"/>
            </a:p>
          </p:txBody>
        </p:sp>
      </p:grpSp>
      <p:sp>
        <p:nvSpPr>
          <p:cNvPr id="9" name="object 9"/>
          <p:cNvSpPr txBox="1"/>
          <p:nvPr/>
        </p:nvSpPr>
        <p:spPr>
          <a:xfrm>
            <a:off x="5921019" y="3721697"/>
            <a:ext cx="243656" cy="475129"/>
          </a:xfrm>
          <a:prstGeom prst="rect">
            <a:avLst/>
          </a:prstGeom>
        </p:spPr>
        <p:txBody>
          <a:bodyPr vert="vert" wrap="square" lIns="0" tIns="0" rIns="0" bIns="0" rtlCol="0">
            <a:spAutoFit/>
          </a:bodyPr>
          <a:lstStyle/>
          <a:p>
            <a:pPr marL="11206">
              <a:lnSpc>
                <a:spcPts val="1919"/>
              </a:lnSpc>
            </a:pPr>
            <a:r>
              <a:rPr sz="1677" b="1" spc="-22" dirty="0">
                <a:latin typeface="Times New Roman"/>
                <a:cs typeface="Times New Roman"/>
              </a:rPr>
              <a:t>ALU</a:t>
            </a:r>
            <a:endParaRPr sz="1677">
              <a:latin typeface="Times New Roman"/>
              <a:cs typeface="Times New Roman"/>
            </a:endParaRPr>
          </a:p>
        </p:txBody>
      </p:sp>
      <p:grpSp>
        <p:nvGrpSpPr>
          <p:cNvPr id="10" name="object 10"/>
          <p:cNvGrpSpPr/>
          <p:nvPr/>
        </p:nvGrpSpPr>
        <p:grpSpPr>
          <a:xfrm>
            <a:off x="1758023" y="3415552"/>
            <a:ext cx="4161304" cy="887506"/>
            <a:chOff x="1840025" y="3870959"/>
            <a:chExt cx="4716145" cy="1005840"/>
          </a:xfrm>
        </p:grpSpPr>
        <p:sp>
          <p:nvSpPr>
            <p:cNvPr id="11" name="object 11"/>
            <p:cNvSpPr/>
            <p:nvPr/>
          </p:nvSpPr>
          <p:spPr>
            <a:xfrm>
              <a:off x="6345989" y="4241302"/>
              <a:ext cx="194945" cy="351155"/>
            </a:xfrm>
            <a:custGeom>
              <a:avLst/>
              <a:gdLst/>
              <a:ahLst/>
              <a:cxnLst/>
              <a:rect l="l" t="t" r="r" b="b"/>
              <a:pathLst>
                <a:path w="194945" h="351154">
                  <a:moveTo>
                    <a:pt x="0" y="0"/>
                  </a:moveTo>
                  <a:lnTo>
                    <a:pt x="0" y="350805"/>
                  </a:lnTo>
                  <a:lnTo>
                    <a:pt x="194732" y="175403"/>
                  </a:lnTo>
                  <a:lnTo>
                    <a:pt x="0" y="0"/>
                  </a:lnTo>
                  <a:close/>
                </a:path>
              </a:pathLst>
            </a:custGeom>
            <a:solidFill>
              <a:srgbClr val="FFFFFF"/>
            </a:solidFill>
          </p:spPr>
          <p:txBody>
            <a:bodyPr wrap="square" lIns="0" tIns="0" rIns="0" bIns="0" rtlCol="0"/>
            <a:lstStyle/>
            <a:p>
              <a:endParaRPr sz="1588"/>
            </a:p>
          </p:txBody>
        </p:sp>
        <p:sp>
          <p:nvSpPr>
            <p:cNvPr id="12" name="object 12"/>
            <p:cNvSpPr/>
            <p:nvPr/>
          </p:nvSpPr>
          <p:spPr>
            <a:xfrm>
              <a:off x="6345988" y="4241302"/>
              <a:ext cx="194945" cy="351155"/>
            </a:xfrm>
            <a:custGeom>
              <a:avLst/>
              <a:gdLst/>
              <a:ahLst/>
              <a:cxnLst/>
              <a:rect l="l" t="t" r="r" b="b"/>
              <a:pathLst>
                <a:path w="194945" h="351154">
                  <a:moveTo>
                    <a:pt x="0" y="0"/>
                  </a:moveTo>
                  <a:lnTo>
                    <a:pt x="194733" y="175403"/>
                  </a:lnTo>
                  <a:lnTo>
                    <a:pt x="0" y="350806"/>
                  </a:lnTo>
                </a:path>
              </a:pathLst>
            </a:custGeom>
            <a:ln w="30479">
              <a:solidFill>
                <a:srgbClr val="000000"/>
              </a:solidFill>
            </a:ln>
          </p:spPr>
          <p:txBody>
            <a:bodyPr wrap="square" lIns="0" tIns="0" rIns="0" bIns="0" rtlCol="0"/>
            <a:lstStyle/>
            <a:p>
              <a:endParaRPr sz="1588"/>
            </a:p>
          </p:txBody>
        </p:sp>
        <p:sp>
          <p:nvSpPr>
            <p:cNvPr id="13" name="object 13"/>
            <p:cNvSpPr/>
            <p:nvPr/>
          </p:nvSpPr>
          <p:spPr>
            <a:xfrm>
              <a:off x="1855265" y="3886199"/>
              <a:ext cx="812800" cy="975360"/>
            </a:xfrm>
            <a:custGeom>
              <a:avLst/>
              <a:gdLst/>
              <a:ahLst/>
              <a:cxnLst/>
              <a:rect l="l" t="t" r="r" b="b"/>
              <a:pathLst>
                <a:path w="812800" h="975360">
                  <a:moveTo>
                    <a:pt x="812800" y="0"/>
                  </a:moveTo>
                  <a:lnTo>
                    <a:pt x="0" y="0"/>
                  </a:lnTo>
                  <a:lnTo>
                    <a:pt x="0" y="975360"/>
                  </a:lnTo>
                  <a:lnTo>
                    <a:pt x="812800" y="975360"/>
                  </a:lnTo>
                  <a:lnTo>
                    <a:pt x="812800" y="0"/>
                  </a:lnTo>
                  <a:close/>
                </a:path>
              </a:pathLst>
            </a:custGeom>
            <a:solidFill>
              <a:srgbClr val="618FFD"/>
            </a:solidFill>
          </p:spPr>
          <p:txBody>
            <a:bodyPr wrap="square" lIns="0" tIns="0" rIns="0" bIns="0" rtlCol="0"/>
            <a:lstStyle/>
            <a:p>
              <a:endParaRPr sz="1588"/>
            </a:p>
          </p:txBody>
        </p:sp>
        <p:sp>
          <p:nvSpPr>
            <p:cNvPr id="14" name="object 14"/>
            <p:cNvSpPr/>
            <p:nvPr/>
          </p:nvSpPr>
          <p:spPr>
            <a:xfrm>
              <a:off x="1855265" y="3886199"/>
              <a:ext cx="812800" cy="975360"/>
            </a:xfrm>
            <a:custGeom>
              <a:avLst/>
              <a:gdLst/>
              <a:ahLst/>
              <a:cxnLst/>
              <a:rect l="l" t="t" r="r" b="b"/>
              <a:pathLst>
                <a:path w="812800" h="975360">
                  <a:moveTo>
                    <a:pt x="0" y="0"/>
                  </a:moveTo>
                  <a:lnTo>
                    <a:pt x="812799" y="0"/>
                  </a:lnTo>
                  <a:lnTo>
                    <a:pt x="812799" y="975359"/>
                  </a:lnTo>
                  <a:lnTo>
                    <a:pt x="0" y="975359"/>
                  </a:lnTo>
                  <a:lnTo>
                    <a:pt x="0" y="0"/>
                  </a:lnTo>
                  <a:close/>
                </a:path>
              </a:pathLst>
            </a:custGeom>
            <a:ln w="30479">
              <a:solidFill>
                <a:srgbClr val="000000"/>
              </a:solidFill>
            </a:ln>
          </p:spPr>
          <p:txBody>
            <a:bodyPr wrap="square" lIns="0" tIns="0" rIns="0" bIns="0" rtlCol="0"/>
            <a:lstStyle/>
            <a:p>
              <a:endParaRPr sz="1588"/>
            </a:p>
          </p:txBody>
        </p:sp>
      </p:grpSp>
      <p:sp>
        <p:nvSpPr>
          <p:cNvPr id="15" name="object 15"/>
          <p:cNvSpPr txBox="1"/>
          <p:nvPr/>
        </p:nvSpPr>
        <p:spPr>
          <a:xfrm>
            <a:off x="2004183" y="3476961"/>
            <a:ext cx="243656" cy="762560"/>
          </a:xfrm>
          <a:prstGeom prst="rect">
            <a:avLst/>
          </a:prstGeom>
        </p:spPr>
        <p:txBody>
          <a:bodyPr vert="vert" wrap="square" lIns="0" tIns="0" rIns="0" bIns="0" rtlCol="0">
            <a:spAutoFit/>
          </a:bodyPr>
          <a:lstStyle/>
          <a:p>
            <a:pPr marL="11206">
              <a:lnSpc>
                <a:spcPts val="1919"/>
              </a:lnSpc>
            </a:pPr>
            <a:r>
              <a:rPr sz="1677" spc="-9" dirty="0">
                <a:latin typeface="Times New Roman"/>
                <a:cs typeface="Times New Roman"/>
              </a:rPr>
              <a:t>Memory</a:t>
            </a:r>
            <a:endParaRPr sz="1677">
              <a:latin typeface="Times New Roman"/>
              <a:cs typeface="Times New Roman"/>
            </a:endParaRPr>
          </a:p>
        </p:txBody>
      </p:sp>
      <p:grpSp>
        <p:nvGrpSpPr>
          <p:cNvPr id="16" name="object 16"/>
          <p:cNvGrpSpPr/>
          <p:nvPr/>
        </p:nvGrpSpPr>
        <p:grpSpPr>
          <a:xfrm>
            <a:off x="3909551" y="2749177"/>
            <a:ext cx="3161739" cy="1845608"/>
            <a:chOff x="4278425" y="3115734"/>
            <a:chExt cx="3583304" cy="2091689"/>
          </a:xfrm>
        </p:grpSpPr>
        <p:sp>
          <p:nvSpPr>
            <p:cNvPr id="17" name="object 17"/>
            <p:cNvSpPr/>
            <p:nvPr/>
          </p:nvSpPr>
          <p:spPr>
            <a:xfrm>
              <a:off x="6831972" y="3115734"/>
              <a:ext cx="1029969" cy="405130"/>
            </a:xfrm>
            <a:custGeom>
              <a:avLst/>
              <a:gdLst/>
              <a:ahLst/>
              <a:cxnLst/>
              <a:rect l="l" t="t" r="r" b="b"/>
              <a:pathLst>
                <a:path w="1029970" h="405129">
                  <a:moveTo>
                    <a:pt x="968585" y="374225"/>
                  </a:moveTo>
                  <a:lnTo>
                    <a:pt x="0" y="374225"/>
                  </a:lnTo>
                  <a:lnTo>
                    <a:pt x="0" y="404705"/>
                  </a:lnTo>
                  <a:lnTo>
                    <a:pt x="992242" y="404705"/>
                  </a:lnTo>
                  <a:lnTo>
                    <a:pt x="999065" y="397883"/>
                  </a:lnTo>
                  <a:lnTo>
                    <a:pt x="999065" y="389465"/>
                  </a:lnTo>
                  <a:lnTo>
                    <a:pt x="968585" y="389465"/>
                  </a:lnTo>
                  <a:lnTo>
                    <a:pt x="968585" y="374225"/>
                  </a:lnTo>
                  <a:close/>
                </a:path>
                <a:path w="1029970" h="405129">
                  <a:moveTo>
                    <a:pt x="999065" y="76200"/>
                  </a:moveTo>
                  <a:lnTo>
                    <a:pt x="968585" y="76200"/>
                  </a:lnTo>
                  <a:lnTo>
                    <a:pt x="968585" y="389465"/>
                  </a:lnTo>
                  <a:lnTo>
                    <a:pt x="983825" y="374225"/>
                  </a:lnTo>
                  <a:lnTo>
                    <a:pt x="999065" y="374225"/>
                  </a:lnTo>
                  <a:lnTo>
                    <a:pt x="999065" y="76200"/>
                  </a:lnTo>
                  <a:close/>
                </a:path>
                <a:path w="1029970" h="405129">
                  <a:moveTo>
                    <a:pt x="999065" y="374225"/>
                  </a:moveTo>
                  <a:lnTo>
                    <a:pt x="983825" y="374225"/>
                  </a:lnTo>
                  <a:lnTo>
                    <a:pt x="968585" y="389465"/>
                  </a:lnTo>
                  <a:lnTo>
                    <a:pt x="999065" y="389465"/>
                  </a:lnTo>
                  <a:lnTo>
                    <a:pt x="999065" y="374225"/>
                  </a:lnTo>
                  <a:close/>
                </a:path>
                <a:path w="1029970" h="405129">
                  <a:moveTo>
                    <a:pt x="983825" y="0"/>
                  </a:moveTo>
                  <a:lnTo>
                    <a:pt x="938105" y="91439"/>
                  </a:lnTo>
                  <a:lnTo>
                    <a:pt x="968585" y="91439"/>
                  </a:lnTo>
                  <a:lnTo>
                    <a:pt x="968585" y="76200"/>
                  </a:lnTo>
                  <a:lnTo>
                    <a:pt x="1021925" y="76200"/>
                  </a:lnTo>
                  <a:lnTo>
                    <a:pt x="983825" y="0"/>
                  </a:lnTo>
                  <a:close/>
                </a:path>
                <a:path w="1029970" h="405129">
                  <a:moveTo>
                    <a:pt x="1021925" y="76200"/>
                  </a:moveTo>
                  <a:lnTo>
                    <a:pt x="999065" y="76200"/>
                  </a:lnTo>
                  <a:lnTo>
                    <a:pt x="999065" y="91439"/>
                  </a:lnTo>
                  <a:lnTo>
                    <a:pt x="1029545" y="91439"/>
                  </a:lnTo>
                  <a:lnTo>
                    <a:pt x="1021925" y="76200"/>
                  </a:lnTo>
                  <a:close/>
                </a:path>
              </a:pathLst>
            </a:custGeom>
            <a:solidFill>
              <a:srgbClr val="000000"/>
            </a:solidFill>
          </p:spPr>
          <p:txBody>
            <a:bodyPr wrap="square" lIns="0" tIns="0" rIns="0" bIns="0" rtlCol="0"/>
            <a:lstStyle/>
            <a:p>
              <a:endParaRPr sz="1588"/>
            </a:p>
          </p:txBody>
        </p:sp>
        <p:sp>
          <p:nvSpPr>
            <p:cNvPr id="18" name="object 18"/>
            <p:cNvSpPr/>
            <p:nvPr/>
          </p:nvSpPr>
          <p:spPr>
            <a:xfrm>
              <a:off x="4293665" y="3616960"/>
              <a:ext cx="629920" cy="1574800"/>
            </a:xfrm>
            <a:custGeom>
              <a:avLst/>
              <a:gdLst/>
              <a:ahLst/>
              <a:cxnLst/>
              <a:rect l="l" t="t" r="r" b="b"/>
              <a:pathLst>
                <a:path w="629920" h="1574800">
                  <a:moveTo>
                    <a:pt x="629918" y="0"/>
                  </a:moveTo>
                  <a:lnTo>
                    <a:pt x="0" y="0"/>
                  </a:lnTo>
                  <a:lnTo>
                    <a:pt x="0" y="1574800"/>
                  </a:lnTo>
                  <a:lnTo>
                    <a:pt x="629918" y="1574800"/>
                  </a:lnTo>
                  <a:lnTo>
                    <a:pt x="629918" y="0"/>
                  </a:lnTo>
                  <a:close/>
                </a:path>
              </a:pathLst>
            </a:custGeom>
            <a:solidFill>
              <a:srgbClr val="618FFD"/>
            </a:solidFill>
          </p:spPr>
          <p:txBody>
            <a:bodyPr wrap="square" lIns="0" tIns="0" rIns="0" bIns="0" rtlCol="0"/>
            <a:lstStyle/>
            <a:p>
              <a:endParaRPr sz="1588"/>
            </a:p>
          </p:txBody>
        </p:sp>
        <p:sp>
          <p:nvSpPr>
            <p:cNvPr id="19" name="object 19"/>
            <p:cNvSpPr/>
            <p:nvPr/>
          </p:nvSpPr>
          <p:spPr>
            <a:xfrm>
              <a:off x="4293665" y="3616960"/>
              <a:ext cx="629920" cy="1574800"/>
            </a:xfrm>
            <a:custGeom>
              <a:avLst/>
              <a:gdLst/>
              <a:ahLst/>
              <a:cxnLst/>
              <a:rect l="l" t="t" r="r" b="b"/>
              <a:pathLst>
                <a:path w="629920" h="1574800">
                  <a:moveTo>
                    <a:pt x="0" y="0"/>
                  </a:moveTo>
                  <a:lnTo>
                    <a:pt x="629919" y="0"/>
                  </a:lnTo>
                  <a:lnTo>
                    <a:pt x="629919" y="1574799"/>
                  </a:lnTo>
                  <a:lnTo>
                    <a:pt x="0" y="1574799"/>
                  </a:lnTo>
                  <a:lnTo>
                    <a:pt x="0" y="0"/>
                  </a:lnTo>
                  <a:close/>
                </a:path>
              </a:pathLst>
            </a:custGeom>
            <a:ln w="30479">
              <a:solidFill>
                <a:srgbClr val="000000"/>
              </a:solidFill>
            </a:ln>
          </p:spPr>
          <p:txBody>
            <a:bodyPr wrap="square" lIns="0" tIns="0" rIns="0" bIns="0" rtlCol="0"/>
            <a:lstStyle/>
            <a:p>
              <a:endParaRPr sz="1588"/>
            </a:p>
          </p:txBody>
        </p:sp>
      </p:grpSp>
      <p:sp>
        <p:nvSpPr>
          <p:cNvPr id="20" name="object 20"/>
          <p:cNvSpPr txBox="1"/>
          <p:nvPr/>
        </p:nvSpPr>
        <p:spPr>
          <a:xfrm>
            <a:off x="4075030" y="3506545"/>
            <a:ext cx="243656" cy="756957"/>
          </a:xfrm>
          <a:prstGeom prst="rect">
            <a:avLst/>
          </a:prstGeom>
        </p:spPr>
        <p:txBody>
          <a:bodyPr vert="vert" wrap="square" lIns="0" tIns="0" rIns="0" bIns="0" rtlCol="0">
            <a:spAutoFit/>
          </a:bodyPr>
          <a:lstStyle/>
          <a:p>
            <a:pPr marL="11206">
              <a:lnSpc>
                <a:spcPts val="1919"/>
              </a:lnSpc>
            </a:pPr>
            <a:r>
              <a:rPr sz="1677" dirty="0">
                <a:latin typeface="Times New Roman"/>
                <a:cs typeface="Times New Roman"/>
              </a:rPr>
              <a:t>Reg</a:t>
            </a:r>
            <a:r>
              <a:rPr sz="1677" spc="26" dirty="0">
                <a:latin typeface="Times New Roman"/>
                <a:cs typeface="Times New Roman"/>
              </a:rPr>
              <a:t> </a:t>
            </a:r>
            <a:r>
              <a:rPr sz="1677" spc="-18" dirty="0">
                <a:latin typeface="Times New Roman"/>
                <a:cs typeface="Times New Roman"/>
              </a:rPr>
              <a:t>File</a:t>
            </a:r>
            <a:endParaRPr sz="1677">
              <a:latin typeface="Times New Roman"/>
              <a:cs typeface="Times New Roman"/>
            </a:endParaRPr>
          </a:p>
        </p:txBody>
      </p:sp>
      <p:grpSp>
        <p:nvGrpSpPr>
          <p:cNvPr id="21" name="object 21"/>
          <p:cNvGrpSpPr/>
          <p:nvPr/>
        </p:nvGrpSpPr>
        <p:grpSpPr>
          <a:xfrm>
            <a:off x="5288622" y="3366246"/>
            <a:ext cx="224118" cy="546847"/>
            <a:chOff x="5841372" y="3815079"/>
            <a:chExt cx="254000" cy="619760"/>
          </a:xfrm>
        </p:grpSpPr>
        <p:sp>
          <p:nvSpPr>
            <p:cNvPr id="22" name="object 22"/>
            <p:cNvSpPr/>
            <p:nvPr/>
          </p:nvSpPr>
          <p:spPr>
            <a:xfrm>
              <a:off x="5856612" y="3830319"/>
              <a:ext cx="223520" cy="589280"/>
            </a:xfrm>
            <a:custGeom>
              <a:avLst/>
              <a:gdLst/>
              <a:ahLst/>
              <a:cxnLst/>
              <a:rect l="l" t="t" r="r" b="b"/>
              <a:pathLst>
                <a:path w="223520" h="589279">
                  <a:moveTo>
                    <a:pt x="111760" y="0"/>
                  </a:moveTo>
                  <a:lnTo>
                    <a:pt x="62610" y="29947"/>
                  </a:lnTo>
                  <a:lnTo>
                    <a:pt x="41859" y="64729"/>
                  </a:lnTo>
                  <a:lnTo>
                    <a:pt x="24552" y="110357"/>
                  </a:lnTo>
                  <a:lnTo>
                    <a:pt x="11359" y="165064"/>
                  </a:lnTo>
                  <a:lnTo>
                    <a:pt x="2951" y="227081"/>
                  </a:lnTo>
                  <a:lnTo>
                    <a:pt x="0" y="294639"/>
                  </a:lnTo>
                  <a:lnTo>
                    <a:pt x="2951" y="362198"/>
                  </a:lnTo>
                  <a:lnTo>
                    <a:pt x="11359" y="424215"/>
                  </a:lnTo>
                  <a:lnTo>
                    <a:pt x="24552" y="478922"/>
                  </a:lnTo>
                  <a:lnTo>
                    <a:pt x="41859" y="524550"/>
                  </a:lnTo>
                  <a:lnTo>
                    <a:pt x="62610" y="559332"/>
                  </a:lnTo>
                  <a:lnTo>
                    <a:pt x="111760" y="589279"/>
                  </a:lnTo>
                  <a:lnTo>
                    <a:pt x="137385" y="581498"/>
                  </a:lnTo>
                  <a:lnTo>
                    <a:pt x="181660" y="524550"/>
                  </a:lnTo>
                  <a:lnTo>
                    <a:pt x="198967" y="478922"/>
                  </a:lnTo>
                  <a:lnTo>
                    <a:pt x="212160" y="424215"/>
                  </a:lnTo>
                  <a:lnTo>
                    <a:pt x="220568" y="362198"/>
                  </a:lnTo>
                  <a:lnTo>
                    <a:pt x="223520" y="294639"/>
                  </a:lnTo>
                  <a:lnTo>
                    <a:pt x="220568" y="227081"/>
                  </a:lnTo>
                  <a:lnTo>
                    <a:pt x="212160" y="165064"/>
                  </a:lnTo>
                  <a:lnTo>
                    <a:pt x="198967" y="110357"/>
                  </a:lnTo>
                  <a:lnTo>
                    <a:pt x="181660" y="64729"/>
                  </a:lnTo>
                  <a:lnTo>
                    <a:pt x="160909" y="29947"/>
                  </a:lnTo>
                  <a:lnTo>
                    <a:pt x="111760" y="0"/>
                  </a:lnTo>
                  <a:close/>
                </a:path>
              </a:pathLst>
            </a:custGeom>
            <a:solidFill>
              <a:srgbClr val="618FFD"/>
            </a:solidFill>
          </p:spPr>
          <p:txBody>
            <a:bodyPr wrap="square" lIns="0" tIns="0" rIns="0" bIns="0" rtlCol="0"/>
            <a:lstStyle/>
            <a:p>
              <a:endParaRPr sz="1588"/>
            </a:p>
          </p:txBody>
        </p:sp>
        <p:sp>
          <p:nvSpPr>
            <p:cNvPr id="23" name="object 23"/>
            <p:cNvSpPr/>
            <p:nvPr/>
          </p:nvSpPr>
          <p:spPr>
            <a:xfrm>
              <a:off x="5856612" y="3830319"/>
              <a:ext cx="223520" cy="589280"/>
            </a:xfrm>
            <a:custGeom>
              <a:avLst/>
              <a:gdLst/>
              <a:ahLst/>
              <a:cxnLst/>
              <a:rect l="l" t="t" r="r" b="b"/>
              <a:pathLst>
                <a:path w="223520" h="589279">
                  <a:moveTo>
                    <a:pt x="0" y="294639"/>
                  </a:moveTo>
                  <a:lnTo>
                    <a:pt x="2951" y="227081"/>
                  </a:lnTo>
                  <a:lnTo>
                    <a:pt x="11359" y="165064"/>
                  </a:lnTo>
                  <a:lnTo>
                    <a:pt x="24552" y="110357"/>
                  </a:lnTo>
                  <a:lnTo>
                    <a:pt x="41859" y="64729"/>
                  </a:lnTo>
                  <a:lnTo>
                    <a:pt x="62610" y="29947"/>
                  </a:lnTo>
                  <a:lnTo>
                    <a:pt x="111759" y="0"/>
                  </a:lnTo>
                  <a:lnTo>
                    <a:pt x="137385" y="7781"/>
                  </a:lnTo>
                  <a:lnTo>
                    <a:pt x="181660" y="64729"/>
                  </a:lnTo>
                  <a:lnTo>
                    <a:pt x="198967" y="110357"/>
                  </a:lnTo>
                  <a:lnTo>
                    <a:pt x="212160" y="165064"/>
                  </a:lnTo>
                  <a:lnTo>
                    <a:pt x="220568" y="227081"/>
                  </a:lnTo>
                  <a:lnTo>
                    <a:pt x="223519" y="294639"/>
                  </a:lnTo>
                  <a:lnTo>
                    <a:pt x="220568" y="362198"/>
                  </a:lnTo>
                  <a:lnTo>
                    <a:pt x="212160" y="424215"/>
                  </a:lnTo>
                  <a:lnTo>
                    <a:pt x="198967" y="478922"/>
                  </a:lnTo>
                  <a:lnTo>
                    <a:pt x="181660" y="524550"/>
                  </a:lnTo>
                  <a:lnTo>
                    <a:pt x="160909" y="559332"/>
                  </a:lnTo>
                  <a:lnTo>
                    <a:pt x="111759" y="589279"/>
                  </a:lnTo>
                  <a:lnTo>
                    <a:pt x="86134" y="581498"/>
                  </a:lnTo>
                  <a:lnTo>
                    <a:pt x="41859" y="524550"/>
                  </a:lnTo>
                  <a:lnTo>
                    <a:pt x="24552" y="478922"/>
                  </a:lnTo>
                  <a:lnTo>
                    <a:pt x="11359" y="424215"/>
                  </a:lnTo>
                  <a:lnTo>
                    <a:pt x="2951" y="362198"/>
                  </a:lnTo>
                  <a:lnTo>
                    <a:pt x="0" y="294639"/>
                  </a:lnTo>
                  <a:close/>
                </a:path>
              </a:pathLst>
            </a:custGeom>
            <a:ln w="30479">
              <a:solidFill>
                <a:srgbClr val="000000"/>
              </a:solidFill>
            </a:ln>
          </p:spPr>
          <p:txBody>
            <a:bodyPr wrap="square" lIns="0" tIns="0" rIns="0" bIns="0" rtlCol="0"/>
            <a:lstStyle/>
            <a:p>
              <a:endParaRPr sz="1588"/>
            </a:p>
          </p:txBody>
        </p:sp>
      </p:grpSp>
      <p:sp>
        <p:nvSpPr>
          <p:cNvPr id="24" name="object 24"/>
          <p:cNvSpPr txBox="1"/>
          <p:nvPr/>
        </p:nvSpPr>
        <p:spPr>
          <a:xfrm>
            <a:off x="5326977" y="3460824"/>
            <a:ext cx="166712" cy="358028"/>
          </a:xfrm>
          <a:prstGeom prst="rect">
            <a:avLst/>
          </a:prstGeom>
        </p:spPr>
        <p:txBody>
          <a:bodyPr vert="vert" wrap="square" lIns="0" tIns="0" rIns="0" bIns="0" rtlCol="0">
            <a:spAutoFit/>
          </a:bodyPr>
          <a:lstStyle/>
          <a:p>
            <a:pPr marL="11206">
              <a:lnSpc>
                <a:spcPts val="1341"/>
              </a:lnSpc>
            </a:pPr>
            <a:r>
              <a:rPr sz="1147" spc="-22" dirty="0">
                <a:latin typeface="Times New Roman"/>
                <a:cs typeface="Times New Roman"/>
              </a:rPr>
              <a:t>MUX</a:t>
            </a:r>
            <a:endParaRPr sz="1147">
              <a:latin typeface="Times New Roman"/>
              <a:cs typeface="Times New Roman"/>
            </a:endParaRPr>
          </a:p>
        </p:txBody>
      </p:sp>
      <p:grpSp>
        <p:nvGrpSpPr>
          <p:cNvPr id="25" name="object 25"/>
          <p:cNvGrpSpPr/>
          <p:nvPr/>
        </p:nvGrpSpPr>
        <p:grpSpPr>
          <a:xfrm>
            <a:off x="5288622" y="3939988"/>
            <a:ext cx="224118" cy="546847"/>
            <a:chOff x="5841372" y="4465320"/>
            <a:chExt cx="254000" cy="619760"/>
          </a:xfrm>
        </p:grpSpPr>
        <p:sp>
          <p:nvSpPr>
            <p:cNvPr id="26" name="object 26"/>
            <p:cNvSpPr/>
            <p:nvPr/>
          </p:nvSpPr>
          <p:spPr>
            <a:xfrm>
              <a:off x="5856612" y="4480560"/>
              <a:ext cx="223520" cy="589280"/>
            </a:xfrm>
            <a:custGeom>
              <a:avLst/>
              <a:gdLst/>
              <a:ahLst/>
              <a:cxnLst/>
              <a:rect l="l" t="t" r="r" b="b"/>
              <a:pathLst>
                <a:path w="223520" h="589279">
                  <a:moveTo>
                    <a:pt x="111760" y="0"/>
                  </a:moveTo>
                  <a:lnTo>
                    <a:pt x="62610" y="29947"/>
                  </a:lnTo>
                  <a:lnTo>
                    <a:pt x="41859" y="64729"/>
                  </a:lnTo>
                  <a:lnTo>
                    <a:pt x="24552" y="110357"/>
                  </a:lnTo>
                  <a:lnTo>
                    <a:pt x="11359" y="165064"/>
                  </a:lnTo>
                  <a:lnTo>
                    <a:pt x="2951" y="227081"/>
                  </a:lnTo>
                  <a:lnTo>
                    <a:pt x="0" y="294639"/>
                  </a:lnTo>
                  <a:lnTo>
                    <a:pt x="2951" y="362198"/>
                  </a:lnTo>
                  <a:lnTo>
                    <a:pt x="11359" y="424215"/>
                  </a:lnTo>
                  <a:lnTo>
                    <a:pt x="24552" y="478922"/>
                  </a:lnTo>
                  <a:lnTo>
                    <a:pt x="41859" y="524550"/>
                  </a:lnTo>
                  <a:lnTo>
                    <a:pt x="62610" y="559332"/>
                  </a:lnTo>
                  <a:lnTo>
                    <a:pt x="111760" y="589279"/>
                  </a:lnTo>
                  <a:lnTo>
                    <a:pt x="137385" y="581498"/>
                  </a:lnTo>
                  <a:lnTo>
                    <a:pt x="181660" y="524550"/>
                  </a:lnTo>
                  <a:lnTo>
                    <a:pt x="198967" y="478922"/>
                  </a:lnTo>
                  <a:lnTo>
                    <a:pt x="212160" y="424215"/>
                  </a:lnTo>
                  <a:lnTo>
                    <a:pt x="220568" y="362198"/>
                  </a:lnTo>
                  <a:lnTo>
                    <a:pt x="223520" y="294639"/>
                  </a:lnTo>
                  <a:lnTo>
                    <a:pt x="220568" y="227081"/>
                  </a:lnTo>
                  <a:lnTo>
                    <a:pt x="212160" y="165064"/>
                  </a:lnTo>
                  <a:lnTo>
                    <a:pt x="198967" y="110357"/>
                  </a:lnTo>
                  <a:lnTo>
                    <a:pt x="181660" y="64729"/>
                  </a:lnTo>
                  <a:lnTo>
                    <a:pt x="160909" y="29947"/>
                  </a:lnTo>
                  <a:lnTo>
                    <a:pt x="111760" y="0"/>
                  </a:lnTo>
                  <a:close/>
                </a:path>
              </a:pathLst>
            </a:custGeom>
            <a:solidFill>
              <a:srgbClr val="618FFD"/>
            </a:solidFill>
          </p:spPr>
          <p:txBody>
            <a:bodyPr wrap="square" lIns="0" tIns="0" rIns="0" bIns="0" rtlCol="0"/>
            <a:lstStyle/>
            <a:p>
              <a:endParaRPr sz="1588"/>
            </a:p>
          </p:txBody>
        </p:sp>
        <p:sp>
          <p:nvSpPr>
            <p:cNvPr id="27" name="object 27"/>
            <p:cNvSpPr/>
            <p:nvPr/>
          </p:nvSpPr>
          <p:spPr>
            <a:xfrm>
              <a:off x="5856612" y="4480560"/>
              <a:ext cx="223520" cy="589280"/>
            </a:xfrm>
            <a:custGeom>
              <a:avLst/>
              <a:gdLst/>
              <a:ahLst/>
              <a:cxnLst/>
              <a:rect l="l" t="t" r="r" b="b"/>
              <a:pathLst>
                <a:path w="223520" h="589279">
                  <a:moveTo>
                    <a:pt x="0" y="294639"/>
                  </a:moveTo>
                  <a:lnTo>
                    <a:pt x="2951" y="227081"/>
                  </a:lnTo>
                  <a:lnTo>
                    <a:pt x="11359" y="165064"/>
                  </a:lnTo>
                  <a:lnTo>
                    <a:pt x="24552" y="110357"/>
                  </a:lnTo>
                  <a:lnTo>
                    <a:pt x="41859" y="64729"/>
                  </a:lnTo>
                  <a:lnTo>
                    <a:pt x="62610" y="29947"/>
                  </a:lnTo>
                  <a:lnTo>
                    <a:pt x="111759" y="0"/>
                  </a:lnTo>
                  <a:lnTo>
                    <a:pt x="137385" y="7781"/>
                  </a:lnTo>
                  <a:lnTo>
                    <a:pt x="181660" y="64729"/>
                  </a:lnTo>
                  <a:lnTo>
                    <a:pt x="198967" y="110357"/>
                  </a:lnTo>
                  <a:lnTo>
                    <a:pt x="212160" y="165064"/>
                  </a:lnTo>
                  <a:lnTo>
                    <a:pt x="220568" y="227081"/>
                  </a:lnTo>
                  <a:lnTo>
                    <a:pt x="223519" y="294639"/>
                  </a:lnTo>
                  <a:lnTo>
                    <a:pt x="220568" y="362198"/>
                  </a:lnTo>
                  <a:lnTo>
                    <a:pt x="212160" y="424215"/>
                  </a:lnTo>
                  <a:lnTo>
                    <a:pt x="198967" y="478922"/>
                  </a:lnTo>
                  <a:lnTo>
                    <a:pt x="181660" y="524550"/>
                  </a:lnTo>
                  <a:lnTo>
                    <a:pt x="160909" y="559332"/>
                  </a:lnTo>
                  <a:lnTo>
                    <a:pt x="111759" y="589279"/>
                  </a:lnTo>
                  <a:lnTo>
                    <a:pt x="86134" y="581498"/>
                  </a:lnTo>
                  <a:lnTo>
                    <a:pt x="41859" y="524550"/>
                  </a:lnTo>
                  <a:lnTo>
                    <a:pt x="24552" y="478922"/>
                  </a:lnTo>
                  <a:lnTo>
                    <a:pt x="11359" y="424215"/>
                  </a:lnTo>
                  <a:lnTo>
                    <a:pt x="2951" y="362198"/>
                  </a:lnTo>
                  <a:lnTo>
                    <a:pt x="0" y="294639"/>
                  </a:lnTo>
                  <a:close/>
                </a:path>
              </a:pathLst>
            </a:custGeom>
            <a:ln w="30479">
              <a:solidFill>
                <a:srgbClr val="000000"/>
              </a:solidFill>
            </a:ln>
          </p:spPr>
          <p:txBody>
            <a:bodyPr wrap="square" lIns="0" tIns="0" rIns="0" bIns="0" rtlCol="0"/>
            <a:lstStyle/>
            <a:p>
              <a:endParaRPr sz="1588"/>
            </a:p>
          </p:txBody>
        </p:sp>
      </p:grpSp>
      <p:sp>
        <p:nvSpPr>
          <p:cNvPr id="28" name="object 28"/>
          <p:cNvSpPr txBox="1"/>
          <p:nvPr/>
        </p:nvSpPr>
        <p:spPr>
          <a:xfrm>
            <a:off x="5326977" y="4036359"/>
            <a:ext cx="166712" cy="358028"/>
          </a:xfrm>
          <a:prstGeom prst="rect">
            <a:avLst/>
          </a:prstGeom>
        </p:spPr>
        <p:txBody>
          <a:bodyPr vert="vert" wrap="square" lIns="0" tIns="0" rIns="0" bIns="0" rtlCol="0">
            <a:spAutoFit/>
          </a:bodyPr>
          <a:lstStyle/>
          <a:p>
            <a:pPr marL="11206">
              <a:lnSpc>
                <a:spcPts val="1341"/>
              </a:lnSpc>
            </a:pPr>
            <a:r>
              <a:rPr sz="1147" spc="-22" dirty="0">
                <a:latin typeface="Times New Roman"/>
                <a:cs typeface="Times New Roman"/>
              </a:rPr>
              <a:t>MUX</a:t>
            </a:r>
            <a:endParaRPr sz="1147">
              <a:latin typeface="Times New Roman"/>
              <a:cs typeface="Times New Roman"/>
            </a:endParaRPr>
          </a:p>
        </p:txBody>
      </p:sp>
      <p:grpSp>
        <p:nvGrpSpPr>
          <p:cNvPr id="29" name="object 29"/>
          <p:cNvGrpSpPr/>
          <p:nvPr/>
        </p:nvGrpSpPr>
        <p:grpSpPr>
          <a:xfrm>
            <a:off x="4985315" y="3052481"/>
            <a:ext cx="2553821" cy="1775012"/>
            <a:chOff x="5497624" y="3459479"/>
            <a:chExt cx="2894330" cy="2011680"/>
          </a:xfrm>
        </p:grpSpPr>
        <p:sp>
          <p:nvSpPr>
            <p:cNvPr id="30" name="object 30"/>
            <p:cNvSpPr/>
            <p:nvPr/>
          </p:nvSpPr>
          <p:spPr>
            <a:xfrm>
              <a:off x="5497624" y="3459479"/>
              <a:ext cx="816610" cy="751840"/>
            </a:xfrm>
            <a:custGeom>
              <a:avLst/>
              <a:gdLst/>
              <a:ahLst/>
              <a:cxnLst/>
              <a:rect l="l" t="t" r="r" b="b"/>
              <a:pathLst>
                <a:path w="816610" h="751839">
                  <a:moveTo>
                    <a:pt x="724748" y="30480"/>
                  </a:moveTo>
                  <a:lnTo>
                    <a:pt x="6823" y="30480"/>
                  </a:lnTo>
                  <a:lnTo>
                    <a:pt x="0" y="37303"/>
                  </a:lnTo>
                  <a:lnTo>
                    <a:pt x="0" y="751840"/>
                  </a:lnTo>
                  <a:lnTo>
                    <a:pt x="30479" y="751840"/>
                  </a:lnTo>
                  <a:lnTo>
                    <a:pt x="30479" y="60960"/>
                  </a:lnTo>
                  <a:lnTo>
                    <a:pt x="15239" y="60960"/>
                  </a:lnTo>
                  <a:lnTo>
                    <a:pt x="30479" y="45720"/>
                  </a:lnTo>
                  <a:lnTo>
                    <a:pt x="724748" y="45720"/>
                  </a:lnTo>
                  <a:lnTo>
                    <a:pt x="724748" y="30480"/>
                  </a:lnTo>
                  <a:close/>
                </a:path>
                <a:path w="816610" h="751839">
                  <a:moveTo>
                    <a:pt x="724748" y="0"/>
                  </a:moveTo>
                  <a:lnTo>
                    <a:pt x="724748" y="91440"/>
                  </a:lnTo>
                  <a:lnTo>
                    <a:pt x="785708" y="60960"/>
                  </a:lnTo>
                  <a:lnTo>
                    <a:pt x="739988" y="60960"/>
                  </a:lnTo>
                  <a:lnTo>
                    <a:pt x="739988" y="30480"/>
                  </a:lnTo>
                  <a:lnTo>
                    <a:pt x="785708" y="30480"/>
                  </a:lnTo>
                  <a:lnTo>
                    <a:pt x="724748" y="0"/>
                  </a:lnTo>
                  <a:close/>
                </a:path>
                <a:path w="816610" h="751839">
                  <a:moveTo>
                    <a:pt x="30479" y="45720"/>
                  </a:moveTo>
                  <a:lnTo>
                    <a:pt x="15239" y="60960"/>
                  </a:lnTo>
                  <a:lnTo>
                    <a:pt x="30479" y="60960"/>
                  </a:lnTo>
                  <a:lnTo>
                    <a:pt x="30479" y="45720"/>
                  </a:lnTo>
                  <a:close/>
                </a:path>
                <a:path w="816610" h="751839">
                  <a:moveTo>
                    <a:pt x="724748" y="45720"/>
                  </a:moveTo>
                  <a:lnTo>
                    <a:pt x="30479" y="45720"/>
                  </a:lnTo>
                  <a:lnTo>
                    <a:pt x="30479" y="60960"/>
                  </a:lnTo>
                  <a:lnTo>
                    <a:pt x="724748" y="60960"/>
                  </a:lnTo>
                  <a:lnTo>
                    <a:pt x="724748" y="45720"/>
                  </a:lnTo>
                  <a:close/>
                </a:path>
                <a:path w="816610" h="751839">
                  <a:moveTo>
                    <a:pt x="785708" y="30480"/>
                  </a:moveTo>
                  <a:lnTo>
                    <a:pt x="739988" y="30480"/>
                  </a:lnTo>
                  <a:lnTo>
                    <a:pt x="739988" y="60960"/>
                  </a:lnTo>
                  <a:lnTo>
                    <a:pt x="785708" y="60960"/>
                  </a:lnTo>
                  <a:lnTo>
                    <a:pt x="816188" y="45720"/>
                  </a:lnTo>
                  <a:lnTo>
                    <a:pt x="785708" y="30480"/>
                  </a:lnTo>
                  <a:close/>
                </a:path>
              </a:pathLst>
            </a:custGeom>
            <a:solidFill>
              <a:srgbClr val="000000"/>
            </a:solidFill>
          </p:spPr>
          <p:txBody>
            <a:bodyPr wrap="square" lIns="0" tIns="0" rIns="0" bIns="0" rtlCol="0"/>
            <a:lstStyle/>
            <a:p>
              <a:endParaRPr sz="1588"/>
            </a:p>
          </p:txBody>
        </p:sp>
        <p:sp>
          <p:nvSpPr>
            <p:cNvPr id="31" name="object 31"/>
            <p:cNvSpPr/>
            <p:nvPr/>
          </p:nvSpPr>
          <p:spPr>
            <a:xfrm>
              <a:off x="7807332" y="4236719"/>
              <a:ext cx="568960" cy="1219200"/>
            </a:xfrm>
            <a:custGeom>
              <a:avLst/>
              <a:gdLst/>
              <a:ahLst/>
              <a:cxnLst/>
              <a:rect l="l" t="t" r="r" b="b"/>
              <a:pathLst>
                <a:path w="568959" h="1219200">
                  <a:moveTo>
                    <a:pt x="568960" y="0"/>
                  </a:moveTo>
                  <a:lnTo>
                    <a:pt x="0" y="0"/>
                  </a:lnTo>
                  <a:lnTo>
                    <a:pt x="0" y="1219199"/>
                  </a:lnTo>
                  <a:lnTo>
                    <a:pt x="568960" y="1219199"/>
                  </a:lnTo>
                  <a:lnTo>
                    <a:pt x="568960" y="0"/>
                  </a:lnTo>
                  <a:close/>
                </a:path>
              </a:pathLst>
            </a:custGeom>
            <a:solidFill>
              <a:srgbClr val="618FFD"/>
            </a:solidFill>
          </p:spPr>
          <p:txBody>
            <a:bodyPr wrap="square" lIns="0" tIns="0" rIns="0" bIns="0" rtlCol="0"/>
            <a:lstStyle/>
            <a:p>
              <a:endParaRPr sz="1588"/>
            </a:p>
          </p:txBody>
        </p:sp>
        <p:sp>
          <p:nvSpPr>
            <p:cNvPr id="32" name="object 32"/>
            <p:cNvSpPr/>
            <p:nvPr/>
          </p:nvSpPr>
          <p:spPr>
            <a:xfrm>
              <a:off x="7807332" y="4236719"/>
              <a:ext cx="568960" cy="1219200"/>
            </a:xfrm>
            <a:custGeom>
              <a:avLst/>
              <a:gdLst/>
              <a:ahLst/>
              <a:cxnLst/>
              <a:rect l="l" t="t" r="r" b="b"/>
              <a:pathLst>
                <a:path w="568959" h="1219200">
                  <a:moveTo>
                    <a:pt x="0" y="0"/>
                  </a:moveTo>
                  <a:lnTo>
                    <a:pt x="568959" y="0"/>
                  </a:lnTo>
                  <a:lnTo>
                    <a:pt x="568959" y="1219199"/>
                  </a:lnTo>
                  <a:lnTo>
                    <a:pt x="0" y="1219199"/>
                  </a:lnTo>
                  <a:lnTo>
                    <a:pt x="0" y="0"/>
                  </a:lnTo>
                  <a:close/>
                </a:path>
              </a:pathLst>
            </a:custGeom>
            <a:ln w="30479">
              <a:solidFill>
                <a:srgbClr val="000000"/>
              </a:solidFill>
            </a:ln>
          </p:spPr>
          <p:txBody>
            <a:bodyPr wrap="square" lIns="0" tIns="0" rIns="0" bIns="0" rtlCol="0"/>
            <a:lstStyle/>
            <a:p>
              <a:endParaRPr sz="1588"/>
            </a:p>
          </p:txBody>
        </p:sp>
      </p:grpSp>
      <p:sp>
        <p:nvSpPr>
          <p:cNvPr id="33" name="object 33"/>
          <p:cNvSpPr txBox="1"/>
          <p:nvPr/>
        </p:nvSpPr>
        <p:spPr>
          <a:xfrm>
            <a:off x="7087968" y="3842002"/>
            <a:ext cx="407804" cy="917685"/>
          </a:xfrm>
          <a:prstGeom prst="rect">
            <a:avLst/>
          </a:prstGeom>
        </p:spPr>
        <p:txBody>
          <a:bodyPr vert="vert" wrap="square" lIns="0" tIns="41462" rIns="0" bIns="0" rtlCol="0">
            <a:spAutoFit/>
          </a:bodyPr>
          <a:lstStyle/>
          <a:p>
            <a:pPr marL="11206" marR="4483" indent="166416">
              <a:lnSpc>
                <a:spcPct val="79000"/>
              </a:lnSpc>
              <a:spcBef>
                <a:spcPts val="326"/>
              </a:spcBef>
            </a:pPr>
            <a:r>
              <a:rPr sz="1677" spc="-18" dirty="0">
                <a:latin typeface="Times New Roman"/>
                <a:cs typeface="Times New Roman"/>
              </a:rPr>
              <a:t>Data </a:t>
            </a:r>
            <a:r>
              <a:rPr sz="1677" spc="-9" dirty="0">
                <a:latin typeface="Times New Roman"/>
                <a:cs typeface="Times New Roman"/>
              </a:rPr>
              <a:t>Memory</a:t>
            </a:r>
            <a:endParaRPr sz="1677" dirty="0">
              <a:latin typeface="Times New Roman"/>
              <a:cs typeface="Times New Roman"/>
            </a:endParaRPr>
          </a:p>
        </p:txBody>
      </p:sp>
      <p:grpSp>
        <p:nvGrpSpPr>
          <p:cNvPr id="34" name="object 34"/>
          <p:cNvGrpSpPr/>
          <p:nvPr/>
        </p:nvGrpSpPr>
        <p:grpSpPr>
          <a:xfrm>
            <a:off x="8140892" y="4204447"/>
            <a:ext cx="224118" cy="546847"/>
            <a:chOff x="9073945" y="4765040"/>
            <a:chExt cx="254000" cy="619760"/>
          </a:xfrm>
        </p:grpSpPr>
        <p:sp>
          <p:nvSpPr>
            <p:cNvPr id="35" name="object 35"/>
            <p:cNvSpPr/>
            <p:nvPr/>
          </p:nvSpPr>
          <p:spPr>
            <a:xfrm>
              <a:off x="9089185" y="4780280"/>
              <a:ext cx="223520" cy="589280"/>
            </a:xfrm>
            <a:custGeom>
              <a:avLst/>
              <a:gdLst/>
              <a:ahLst/>
              <a:cxnLst/>
              <a:rect l="l" t="t" r="r" b="b"/>
              <a:pathLst>
                <a:path w="223520" h="589279">
                  <a:moveTo>
                    <a:pt x="111759" y="0"/>
                  </a:moveTo>
                  <a:lnTo>
                    <a:pt x="62610" y="29947"/>
                  </a:lnTo>
                  <a:lnTo>
                    <a:pt x="41859" y="64729"/>
                  </a:lnTo>
                  <a:lnTo>
                    <a:pt x="24552" y="110357"/>
                  </a:lnTo>
                  <a:lnTo>
                    <a:pt x="11359" y="165064"/>
                  </a:lnTo>
                  <a:lnTo>
                    <a:pt x="2951" y="227081"/>
                  </a:lnTo>
                  <a:lnTo>
                    <a:pt x="0" y="294640"/>
                  </a:lnTo>
                  <a:lnTo>
                    <a:pt x="2951" y="362198"/>
                  </a:lnTo>
                  <a:lnTo>
                    <a:pt x="11359" y="424215"/>
                  </a:lnTo>
                  <a:lnTo>
                    <a:pt x="24552" y="478922"/>
                  </a:lnTo>
                  <a:lnTo>
                    <a:pt x="41859" y="524550"/>
                  </a:lnTo>
                  <a:lnTo>
                    <a:pt x="62610" y="559332"/>
                  </a:lnTo>
                  <a:lnTo>
                    <a:pt x="111759" y="589280"/>
                  </a:lnTo>
                  <a:lnTo>
                    <a:pt x="137385" y="581498"/>
                  </a:lnTo>
                  <a:lnTo>
                    <a:pt x="181660" y="524550"/>
                  </a:lnTo>
                  <a:lnTo>
                    <a:pt x="198967" y="478922"/>
                  </a:lnTo>
                  <a:lnTo>
                    <a:pt x="212160" y="424215"/>
                  </a:lnTo>
                  <a:lnTo>
                    <a:pt x="220568" y="362198"/>
                  </a:lnTo>
                  <a:lnTo>
                    <a:pt x="223520" y="294640"/>
                  </a:lnTo>
                  <a:lnTo>
                    <a:pt x="220568" y="227081"/>
                  </a:lnTo>
                  <a:lnTo>
                    <a:pt x="212160" y="165064"/>
                  </a:lnTo>
                  <a:lnTo>
                    <a:pt x="198967" y="110357"/>
                  </a:lnTo>
                  <a:lnTo>
                    <a:pt x="181660" y="64729"/>
                  </a:lnTo>
                  <a:lnTo>
                    <a:pt x="160909" y="29947"/>
                  </a:lnTo>
                  <a:lnTo>
                    <a:pt x="111759" y="0"/>
                  </a:lnTo>
                  <a:close/>
                </a:path>
              </a:pathLst>
            </a:custGeom>
            <a:solidFill>
              <a:srgbClr val="618FFD"/>
            </a:solidFill>
          </p:spPr>
          <p:txBody>
            <a:bodyPr wrap="square" lIns="0" tIns="0" rIns="0" bIns="0" rtlCol="0"/>
            <a:lstStyle/>
            <a:p>
              <a:endParaRPr sz="1588"/>
            </a:p>
          </p:txBody>
        </p:sp>
        <p:sp>
          <p:nvSpPr>
            <p:cNvPr id="36" name="object 36"/>
            <p:cNvSpPr/>
            <p:nvPr/>
          </p:nvSpPr>
          <p:spPr>
            <a:xfrm>
              <a:off x="9089185" y="4780280"/>
              <a:ext cx="223520" cy="589280"/>
            </a:xfrm>
            <a:custGeom>
              <a:avLst/>
              <a:gdLst/>
              <a:ahLst/>
              <a:cxnLst/>
              <a:rect l="l" t="t" r="r" b="b"/>
              <a:pathLst>
                <a:path w="223520" h="589279">
                  <a:moveTo>
                    <a:pt x="0" y="294639"/>
                  </a:moveTo>
                  <a:lnTo>
                    <a:pt x="2951" y="227081"/>
                  </a:lnTo>
                  <a:lnTo>
                    <a:pt x="11359" y="165064"/>
                  </a:lnTo>
                  <a:lnTo>
                    <a:pt x="24552" y="110357"/>
                  </a:lnTo>
                  <a:lnTo>
                    <a:pt x="41859" y="64729"/>
                  </a:lnTo>
                  <a:lnTo>
                    <a:pt x="62610" y="29947"/>
                  </a:lnTo>
                  <a:lnTo>
                    <a:pt x="111759" y="0"/>
                  </a:lnTo>
                  <a:lnTo>
                    <a:pt x="137385" y="7781"/>
                  </a:lnTo>
                  <a:lnTo>
                    <a:pt x="181660" y="64729"/>
                  </a:lnTo>
                  <a:lnTo>
                    <a:pt x="198967" y="110357"/>
                  </a:lnTo>
                  <a:lnTo>
                    <a:pt x="212160" y="165064"/>
                  </a:lnTo>
                  <a:lnTo>
                    <a:pt x="220568" y="227081"/>
                  </a:lnTo>
                  <a:lnTo>
                    <a:pt x="223519" y="294639"/>
                  </a:lnTo>
                  <a:lnTo>
                    <a:pt x="220568" y="362198"/>
                  </a:lnTo>
                  <a:lnTo>
                    <a:pt x="212160" y="424215"/>
                  </a:lnTo>
                  <a:lnTo>
                    <a:pt x="198967" y="478922"/>
                  </a:lnTo>
                  <a:lnTo>
                    <a:pt x="181660" y="524550"/>
                  </a:lnTo>
                  <a:lnTo>
                    <a:pt x="160909" y="559332"/>
                  </a:lnTo>
                  <a:lnTo>
                    <a:pt x="111759" y="589279"/>
                  </a:lnTo>
                  <a:lnTo>
                    <a:pt x="86134" y="581498"/>
                  </a:lnTo>
                  <a:lnTo>
                    <a:pt x="41859" y="524550"/>
                  </a:lnTo>
                  <a:lnTo>
                    <a:pt x="24552" y="478922"/>
                  </a:lnTo>
                  <a:lnTo>
                    <a:pt x="11359" y="424215"/>
                  </a:lnTo>
                  <a:lnTo>
                    <a:pt x="2951" y="362198"/>
                  </a:lnTo>
                  <a:lnTo>
                    <a:pt x="0" y="294639"/>
                  </a:lnTo>
                  <a:close/>
                </a:path>
              </a:pathLst>
            </a:custGeom>
            <a:ln w="30479">
              <a:solidFill>
                <a:srgbClr val="000000"/>
              </a:solidFill>
            </a:ln>
          </p:spPr>
          <p:txBody>
            <a:bodyPr wrap="square" lIns="0" tIns="0" rIns="0" bIns="0" rtlCol="0"/>
            <a:lstStyle/>
            <a:p>
              <a:endParaRPr sz="1588"/>
            </a:p>
          </p:txBody>
        </p:sp>
      </p:grpSp>
      <p:sp>
        <p:nvSpPr>
          <p:cNvPr id="37" name="object 37"/>
          <p:cNvSpPr txBox="1"/>
          <p:nvPr/>
        </p:nvSpPr>
        <p:spPr>
          <a:xfrm>
            <a:off x="8179248" y="4299922"/>
            <a:ext cx="166712" cy="358028"/>
          </a:xfrm>
          <a:prstGeom prst="rect">
            <a:avLst/>
          </a:prstGeom>
        </p:spPr>
        <p:txBody>
          <a:bodyPr vert="vert" wrap="square" lIns="0" tIns="0" rIns="0" bIns="0" rtlCol="0">
            <a:spAutoFit/>
          </a:bodyPr>
          <a:lstStyle/>
          <a:p>
            <a:pPr marL="11206">
              <a:lnSpc>
                <a:spcPts val="1341"/>
              </a:lnSpc>
            </a:pPr>
            <a:r>
              <a:rPr sz="1147" spc="-22" dirty="0">
                <a:latin typeface="Times New Roman"/>
                <a:cs typeface="Times New Roman"/>
              </a:rPr>
              <a:t>MUX</a:t>
            </a:r>
            <a:endParaRPr sz="1147">
              <a:latin typeface="Times New Roman"/>
              <a:cs typeface="Times New Roman"/>
            </a:endParaRPr>
          </a:p>
        </p:txBody>
      </p:sp>
      <p:grpSp>
        <p:nvGrpSpPr>
          <p:cNvPr id="38" name="object 38"/>
          <p:cNvGrpSpPr/>
          <p:nvPr/>
        </p:nvGrpSpPr>
        <p:grpSpPr>
          <a:xfrm>
            <a:off x="3909552" y="4646705"/>
            <a:ext cx="448235" cy="663388"/>
            <a:chOff x="4278425" y="5266266"/>
            <a:chExt cx="508000" cy="751840"/>
          </a:xfrm>
        </p:grpSpPr>
        <p:sp>
          <p:nvSpPr>
            <p:cNvPr id="39" name="object 39"/>
            <p:cNvSpPr/>
            <p:nvPr/>
          </p:nvSpPr>
          <p:spPr>
            <a:xfrm>
              <a:off x="4293665" y="5281506"/>
              <a:ext cx="477520" cy="721360"/>
            </a:xfrm>
            <a:custGeom>
              <a:avLst/>
              <a:gdLst/>
              <a:ahLst/>
              <a:cxnLst/>
              <a:rect l="l" t="t" r="r" b="b"/>
              <a:pathLst>
                <a:path w="477520" h="721360">
                  <a:moveTo>
                    <a:pt x="238758" y="0"/>
                  </a:moveTo>
                  <a:lnTo>
                    <a:pt x="200030" y="4720"/>
                  </a:lnTo>
                  <a:lnTo>
                    <a:pt x="163292" y="18387"/>
                  </a:lnTo>
                  <a:lnTo>
                    <a:pt x="129035" y="40258"/>
                  </a:lnTo>
                  <a:lnTo>
                    <a:pt x="97750" y="69590"/>
                  </a:lnTo>
                  <a:lnTo>
                    <a:pt x="69930" y="105640"/>
                  </a:lnTo>
                  <a:lnTo>
                    <a:pt x="46066" y="147667"/>
                  </a:lnTo>
                  <a:lnTo>
                    <a:pt x="26649" y="194926"/>
                  </a:lnTo>
                  <a:lnTo>
                    <a:pt x="12172" y="246677"/>
                  </a:lnTo>
                  <a:lnTo>
                    <a:pt x="3124" y="302175"/>
                  </a:lnTo>
                  <a:lnTo>
                    <a:pt x="0" y="360679"/>
                  </a:lnTo>
                  <a:lnTo>
                    <a:pt x="3124" y="419184"/>
                  </a:lnTo>
                  <a:lnTo>
                    <a:pt x="12172" y="474682"/>
                  </a:lnTo>
                  <a:lnTo>
                    <a:pt x="26649" y="526433"/>
                  </a:lnTo>
                  <a:lnTo>
                    <a:pt x="46066" y="573692"/>
                  </a:lnTo>
                  <a:lnTo>
                    <a:pt x="69930" y="615719"/>
                  </a:lnTo>
                  <a:lnTo>
                    <a:pt x="97750" y="651769"/>
                  </a:lnTo>
                  <a:lnTo>
                    <a:pt x="129035" y="681101"/>
                  </a:lnTo>
                  <a:lnTo>
                    <a:pt x="163292" y="702972"/>
                  </a:lnTo>
                  <a:lnTo>
                    <a:pt x="200030" y="716639"/>
                  </a:lnTo>
                  <a:lnTo>
                    <a:pt x="238758" y="721359"/>
                  </a:lnTo>
                  <a:lnTo>
                    <a:pt x="277486" y="716639"/>
                  </a:lnTo>
                  <a:lnTo>
                    <a:pt x="314225" y="702972"/>
                  </a:lnTo>
                  <a:lnTo>
                    <a:pt x="348482" y="681101"/>
                  </a:lnTo>
                  <a:lnTo>
                    <a:pt x="379767" y="651769"/>
                  </a:lnTo>
                  <a:lnTo>
                    <a:pt x="407587" y="615719"/>
                  </a:lnTo>
                  <a:lnTo>
                    <a:pt x="431452" y="573692"/>
                  </a:lnTo>
                  <a:lnTo>
                    <a:pt x="450868" y="526433"/>
                  </a:lnTo>
                  <a:lnTo>
                    <a:pt x="465346" y="474682"/>
                  </a:lnTo>
                  <a:lnTo>
                    <a:pt x="474393" y="419184"/>
                  </a:lnTo>
                  <a:lnTo>
                    <a:pt x="477518" y="360679"/>
                  </a:lnTo>
                  <a:lnTo>
                    <a:pt x="474393" y="302175"/>
                  </a:lnTo>
                  <a:lnTo>
                    <a:pt x="465346" y="246677"/>
                  </a:lnTo>
                  <a:lnTo>
                    <a:pt x="450868" y="194926"/>
                  </a:lnTo>
                  <a:lnTo>
                    <a:pt x="431452" y="147667"/>
                  </a:lnTo>
                  <a:lnTo>
                    <a:pt x="407587" y="105640"/>
                  </a:lnTo>
                  <a:lnTo>
                    <a:pt x="379767" y="69590"/>
                  </a:lnTo>
                  <a:lnTo>
                    <a:pt x="348482" y="40258"/>
                  </a:lnTo>
                  <a:lnTo>
                    <a:pt x="314225" y="18387"/>
                  </a:lnTo>
                  <a:lnTo>
                    <a:pt x="277486" y="4720"/>
                  </a:lnTo>
                  <a:lnTo>
                    <a:pt x="238758" y="0"/>
                  </a:lnTo>
                  <a:close/>
                </a:path>
              </a:pathLst>
            </a:custGeom>
            <a:solidFill>
              <a:srgbClr val="618FFD"/>
            </a:solidFill>
          </p:spPr>
          <p:txBody>
            <a:bodyPr wrap="square" lIns="0" tIns="0" rIns="0" bIns="0" rtlCol="0"/>
            <a:lstStyle/>
            <a:p>
              <a:endParaRPr sz="1588"/>
            </a:p>
          </p:txBody>
        </p:sp>
        <p:sp>
          <p:nvSpPr>
            <p:cNvPr id="40" name="object 40"/>
            <p:cNvSpPr/>
            <p:nvPr/>
          </p:nvSpPr>
          <p:spPr>
            <a:xfrm>
              <a:off x="4293665" y="5281506"/>
              <a:ext cx="477520" cy="721360"/>
            </a:xfrm>
            <a:custGeom>
              <a:avLst/>
              <a:gdLst/>
              <a:ahLst/>
              <a:cxnLst/>
              <a:rect l="l" t="t" r="r" b="b"/>
              <a:pathLst>
                <a:path w="477520" h="721360">
                  <a:moveTo>
                    <a:pt x="0" y="360679"/>
                  </a:moveTo>
                  <a:lnTo>
                    <a:pt x="3124" y="302175"/>
                  </a:lnTo>
                  <a:lnTo>
                    <a:pt x="12172" y="246677"/>
                  </a:lnTo>
                  <a:lnTo>
                    <a:pt x="26649" y="194926"/>
                  </a:lnTo>
                  <a:lnTo>
                    <a:pt x="46066" y="147667"/>
                  </a:lnTo>
                  <a:lnTo>
                    <a:pt x="69931" y="105640"/>
                  </a:lnTo>
                  <a:lnTo>
                    <a:pt x="97751" y="69590"/>
                  </a:lnTo>
                  <a:lnTo>
                    <a:pt x="129036" y="40258"/>
                  </a:lnTo>
                  <a:lnTo>
                    <a:pt x="163293" y="18387"/>
                  </a:lnTo>
                  <a:lnTo>
                    <a:pt x="200031" y="4720"/>
                  </a:lnTo>
                  <a:lnTo>
                    <a:pt x="238759" y="0"/>
                  </a:lnTo>
                  <a:lnTo>
                    <a:pt x="277488" y="4720"/>
                  </a:lnTo>
                  <a:lnTo>
                    <a:pt x="314226" y="18387"/>
                  </a:lnTo>
                  <a:lnTo>
                    <a:pt x="348483" y="40258"/>
                  </a:lnTo>
                  <a:lnTo>
                    <a:pt x="379768" y="69590"/>
                  </a:lnTo>
                  <a:lnTo>
                    <a:pt x="407588" y="105640"/>
                  </a:lnTo>
                  <a:lnTo>
                    <a:pt x="431453" y="147667"/>
                  </a:lnTo>
                  <a:lnTo>
                    <a:pt x="450870" y="194926"/>
                  </a:lnTo>
                  <a:lnTo>
                    <a:pt x="465347" y="246677"/>
                  </a:lnTo>
                  <a:lnTo>
                    <a:pt x="474395" y="302175"/>
                  </a:lnTo>
                  <a:lnTo>
                    <a:pt x="477519" y="360679"/>
                  </a:lnTo>
                  <a:lnTo>
                    <a:pt x="474395" y="419184"/>
                  </a:lnTo>
                  <a:lnTo>
                    <a:pt x="465347" y="474682"/>
                  </a:lnTo>
                  <a:lnTo>
                    <a:pt x="450870" y="526433"/>
                  </a:lnTo>
                  <a:lnTo>
                    <a:pt x="431453" y="573692"/>
                  </a:lnTo>
                  <a:lnTo>
                    <a:pt x="407588" y="615719"/>
                  </a:lnTo>
                  <a:lnTo>
                    <a:pt x="379768" y="651769"/>
                  </a:lnTo>
                  <a:lnTo>
                    <a:pt x="348483" y="681101"/>
                  </a:lnTo>
                  <a:lnTo>
                    <a:pt x="314226" y="702972"/>
                  </a:lnTo>
                  <a:lnTo>
                    <a:pt x="277488" y="716639"/>
                  </a:lnTo>
                  <a:lnTo>
                    <a:pt x="238759" y="721359"/>
                  </a:lnTo>
                  <a:lnTo>
                    <a:pt x="200031" y="716639"/>
                  </a:lnTo>
                  <a:lnTo>
                    <a:pt x="163293" y="702972"/>
                  </a:lnTo>
                  <a:lnTo>
                    <a:pt x="129036" y="681101"/>
                  </a:lnTo>
                  <a:lnTo>
                    <a:pt x="97751" y="651769"/>
                  </a:lnTo>
                  <a:lnTo>
                    <a:pt x="69931" y="615719"/>
                  </a:lnTo>
                  <a:lnTo>
                    <a:pt x="46066" y="573692"/>
                  </a:lnTo>
                  <a:lnTo>
                    <a:pt x="26649" y="526433"/>
                  </a:lnTo>
                  <a:lnTo>
                    <a:pt x="12172" y="474682"/>
                  </a:lnTo>
                  <a:lnTo>
                    <a:pt x="3124" y="419184"/>
                  </a:lnTo>
                  <a:lnTo>
                    <a:pt x="0" y="360679"/>
                  </a:lnTo>
                  <a:close/>
                </a:path>
              </a:pathLst>
            </a:custGeom>
            <a:ln w="30479">
              <a:solidFill>
                <a:srgbClr val="000000"/>
              </a:solidFill>
            </a:ln>
          </p:spPr>
          <p:txBody>
            <a:bodyPr wrap="square" lIns="0" tIns="0" rIns="0" bIns="0" rtlCol="0"/>
            <a:lstStyle/>
            <a:p>
              <a:endParaRPr sz="1588"/>
            </a:p>
          </p:txBody>
        </p:sp>
      </p:grpSp>
      <p:sp>
        <p:nvSpPr>
          <p:cNvPr id="41" name="object 41"/>
          <p:cNvSpPr txBox="1"/>
          <p:nvPr/>
        </p:nvSpPr>
        <p:spPr>
          <a:xfrm>
            <a:off x="3940181" y="4811358"/>
            <a:ext cx="389964" cy="310115"/>
          </a:xfrm>
          <a:prstGeom prst="rect">
            <a:avLst/>
          </a:prstGeom>
        </p:spPr>
        <p:txBody>
          <a:bodyPr vert="horz" wrap="square" lIns="0" tIns="11206" rIns="0" bIns="0" rtlCol="0">
            <a:spAutoFit/>
          </a:bodyPr>
          <a:lstStyle/>
          <a:p>
            <a:pPr marL="11206" marR="4483" indent="70041">
              <a:spcBef>
                <a:spcPts val="88"/>
              </a:spcBef>
            </a:pPr>
            <a:r>
              <a:rPr sz="971" b="1" spc="-18" dirty="0">
                <a:latin typeface="Times New Roman"/>
                <a:cs typeface="Times New Roman"/>
              </a:rPr>
              <a:t>Sign </a:t>
            </a:r>
            <a:r>
              <a:rPr sz="971" b="1" spc="-26" dirty="0">
                <a:latin typeface="Times New Roman"/>
                <a:cs typeface="Times New Roman"/>
              </a:rPr>
              <a:t>Extend</a:t>
            </a:r>
            <a:endParaRPr sz="971">
              <a:latin typeface="Times New Roman"/>
              <a:cs typeface="Times New Roman"/>
            </a:endParaRPr>
          </a:p>
        </p:txBody>
      </p:sp>
      <p:grpSp>
        <p:nvGrpSpPr>
          <p:cNvPr id="42" name="object 42"/>
          <p:cNvGrpSpPr/>
          <p:nvPr/>
        </p:nvGrpSpPr>
        <p:grpSpPr>
          <a:xfrm>
            <a:off x="2488646" y="2913529"/>
            <a:ext cx="3671047" cy="2133600"/>
            <a:chOff x="2668065" y="3302000"/>
            <a:chExt cx="4160520" cy="2418080"/>
          </a:xfrm>
        </p:grpSpPr>
        <p:sp>
          <p:nvSpPr>
            <p:cNvPr id="43" name="object 43"/>
            <p:cNvSpPr/>
            <p:nvPr/>
          </p:nvSpPr>
          <p:spPr>
            <a:xfrm>
              <a:off x="2668065" y="4328161"/>
              <a:ext cx="325120" cy="91440"/>
            </a:xfrm>
            <a:custGeom>
              <a:avLst/>
              <a:gdLst/>
              <a:ahLst/>
              <a:cxnLst/>
              <a:rect l="l" t="t" r="r" b="b"/>
              <a:pathLst>
                <a:path w="325119" h="91439">
                  <a:moveTo>
                    <a:pt x="233680" y="0"/>
                  </a:moveTo>
                  <a:lnTo>
                    <a:pt x="233678" y="91439"/>
                  </a:lnTo>
                  <a:lnTo>
                    <a:pt x="294639" y="60960"/>
                  </a:lnTo>
                  <a:lnTo>
                    <a:pt x="248919" y="60960"/>
                  </a:lnTo>
                  <a:lnTo>
                    <a:pt x="248919" y="30480"/>
                  </a:lnTo>
                  <a:lnTo>
                    <a:pt x="294640" y="30480"/>
                  </a:lnTo>
                  <a:lnTo>
                    <a:pt x="233680" y="0"/>
                  </a:lnTo>
                  <a:close/>
                </a:path>
                <a:path w="325119" h="91439">
                  <a:moveTo>
                    <a:pt x="233679" y="30480"/>
                  </a:moveTo>
                  <a:lnTo>
                    <a:pt x="0" y="30480"/>
                  </a:lnTo>
                  <a:lnTo>
                    <a:pt x="0" y="60960"/>
                  </a:lnTo>
                  <a:lnTo>
                    <a:pt x="233679" y="60960"/>
                  </a:lnTo>
                  <a:lnTo>
                    <a:pt x="233679" y="30480"/>
                  </a:lnTo>
                  <a:close/>
                </a:path>
                <a:path w="325119" h="91439">
                  <a:moveTo>
                    <a:pt x="294640" y="30480"/>
                  </a:moveTo>
                  <a:lnTo>
                    <a:pt x="248919" y="30480"/>
                  </a:lnTo>
                  <a:lnTo>
                    <a:pt x="248919" y="60960"/>
                  </a:lnTo>
                  <a:lnTo>
                    <a:pt x="294639" y="60960"/>
                  </a:lnTo>
                  <a:lnTo>
                    <a:pt x="325119" y="45720"/>
                  </a:lnTo>
                  <a:lnTo>
                    <a:pt x="294640" y="30480"/>
                  </a:lnTo>
                  <a:close/>
                </a:path>
              </a:pathLst>
            </a:custGeom>
            <a:solidFill>
              <a:srgbClr val="000000"/>
            </a:solidFill>
          </p:spPr>
          <p:txBody>
            <a:bodyPr wrap="square" lIns="0" tIns="0" rIns="0" bIns="0" rtlCol="0"/>
            <a:lstStyle/>
            <a:p>
              <a:endParaRPr sz="1588"/>
            </a:p>
          </p:txBody>
        </p:sp>
        <p:pic>
          <p:nvPicPr>
            <p:cNvPr id="44" name="object 44"/>
            <p:cNvPicPr/>
            <p:nvPr/>
          </p:nvPicPr>
          <p:blipFill>
            <a:blip r:embed="rId3" cstate="print"/>
            <a:stretch>
              <a:fillRect/>
            </a:stretch>
          </p:blipFill>
          <p:spPr>
            <a:xfrm>
              <a:off x="3318304" y="4328160"/>
              <a:ext cx="243841" cy="91439"/>
            </a:xfrm>
            <a:prstGeom prst="rect">
              <a:avLst/>
            </a:prstGeom>
          </p:spPr>
        </p:pic>
        <p:sp>
          <p:nvSpPr>
            <p:cNvPr id="45" name="object 45"/>
            <p:cNvSpPr/>
            <p:nvPr/>
          </p:nvSpPr>
          <p:spPr>
            <a:xfrm>
              <a:off x="3546894" y="3759212"/>
              <a:ext cx="2291080" cy="1960880"/>
            </a:xfrm>
            <a:custGeom>
              <a:avLst/>
              <a:gdLst/>
              <a:ahLst/>
              <a:cxnLst/>
              <a:rect l="l" t="t" r="r" b="b"/>
              <a:pathLst>
                <a:path w="2291079" h="1960879">
                  <a:moveTo>
                    <a:pt x="746760" y="45720"/>
                  </a:moveTo>
                  <a:lnTo>
                    <a:pt x="716280" y="30480"/>
                  </a:lnTo>
                  <a:lnTo>
                    <a:pt x="655320" y="0"/>
                  </a:lnTo>
                  <a:lnTo>
                    <a:pt x="655320" y="30480"/>
                  </a:lnTo>
                  <a:lnTo>
                    <a:pt x="15240" y="30480"/>
                  </a:lnTo>
                  <a:lnTo>
                    <a:pt x="15240" y="40627"/>
                  </a:lnTo>
                  <a:lnTo>
                    <a:pt x="0" y="40627"/>
                  </a:lnTo>
                  <a:lnTo>
                    <a:pt x="0" y="1923567"/>
                  </a:lnTo>
                  <a:lnTo>
                    <a:pt x="6832" y="1930387"/>
                  </a:lnTo>
                  <a:lnTo>
                    <a:pt x="655320" y="1930387"/>
                  </a:lnTo>
                  <a:lnTo>
                    <a:pt x="655320" y="1960867"/>
                  </a:lnTo>
                  <a:lnTo>
                    <a:pt x="716280" y="1930387"/>
                  </a:lnTo>
                  <a:lnTo>
                    <a:pt x="746760" y="1915147"/>
                  </a:lnTo>
                  <a:lnTo>
                    <a:pt x="716280" y="1899907"/>
                  </a:lnTo>
                  <a:lnTo>
                    <a:pt x="655320" y="1869427"/>
                  </a:lnTo>
                  <a:lnTo>
                    <a:pt x="655320" y="1899907"/>
                  </a:lnTo>
                  <a:lnTo>
                    <a:pt x="30480" y="1899907"/>
                  </a:lnTo>
                  <a:lnTo>
                    <a:pt x="30480" y="386080"/>
                  </a:lnTo>
                  <a:lnTo>
                    <a:pt x="655320" y="386080"/>
                  </a:lnTo>
                  <a:lnTo>
                    <a:pt x="655320" y="416560"/>
                  </a:lnTo>
                  <a:lnTo>
                    <a:pt x="716280" y="386080"/>
                  </a:lnTo>
                  <a:lnTo>
                    <a:pt x="746760" y="370840"/>
                  </a:lnTo>
                  <a:lnTo>
                    <a:pt x="716280" y="355600"/>
                  </a:lnTo>
                  <a:lnTo>
                    <a:pt x="655320" y="325120"/>
                  </a:lnTo>
                  <a:lnTo>
                    <a:pt x="655320" y="355600"/>
                  </a:lnTo>
                  <a:lnTo>
                    <a:pt x="30480" y="355600"/>
                  </a:lnTo>
                  <a:lnTo>
                    <a:pt x="30480" y="60960"/>
                  </a:lnTo>
                  <a:lnTo>
                    <a:pt x="655320" y="60960"/>
                  </a:lnTo>
                  <a:lnTo>
                    <a:pt x="655320" y="91440"/>
                  </a:lnTo>
                  <a:lnTo>
                    <a:pt x="716280" y="60960"/>
                  </a:lnTo>
                  <a:lnTo>
                    <a:pt x="746760" y="45720"/>
                  </a:lnTo>
                  <a:close/>
                </a:path>
                <a:path w="2291079" h="1960879">
                  <a:moveTo>
                    <a:pt x="2291080" y="452120"/>
                  </a:moveTo>
                  <a:lnTo>
                    <a:pt x="2260600" y="436880"/>
                  </a:lnTo>
                  <a:lnTo>
                    <a:pt x="2199640" y="406400"/>
                  </a:lnTo>
                  <a:lnTo>
                    <a:pt x="2199640" y="436880"/>
                  </a:lnTo>
                  <a:lnTo>
                    <a:pt x="1397000" y="436880"/>
                  </a:lnTo>
                  <a:lnTo>
                    <a:pt x="1397000" y="467360"/>
                  </a:lnTo>
                  <a:lnTo>
                    <a:pt x="2199640" y="467360"/>
                  </a:lnTo>
                  <a:lnTo>
                    <a:pt x="2199640" y="497840"/>
                  </a:lnTo>
                  <a:lnTo>
                    <a:pt x="2260600" y="467360"/>
                  </a:lnTo>
                  <a:lnTo>
                    <a:pt x="2291080" y="452120"/>
                  </a:lnTo>
                  <a:close/>
                </a:path>
              </a:pathLst>
            </a:custGeom>
            <a:solidFill>
              <a:srgbClr val="000000"/>
            </a:solidFill>
          </p:spPr>
          <p:txBody>
            <a:bodyPr wrap="square" lIns="0" tIns="0" rIns="0" bIns="0" rtlCol="0"/>
            <a:lstStyle/>
            <a:p>
              <a:endParaRPr sz="1588"/>
            </a:p>
          </p:txBody>
        </p:sp>
        <p:sp>
          <p:nvSpPr>
            <p:cNvPr id="46" name="object 46"/>
            <p:cNvSpPr/>
            <p:nvPr/>
          </p:nvSpPr>
          <p:spPr>
            <a:xfrm>
              <a:off x="6325665" y="3317240"/>
              <a:ext cx="487680" cy="406400"/>
            </a:xfrm>
            <a:custGeom>
              <a:avLst/>
              <a:gdLst/>
              <a:ahLst/>
              <a:cxnLst/>
              <a:rect l="l" t="t" r="r" b="b"/>
              <a:pathLst>
                <a:path w="487679" h="406400">
                  <a:moveTo>
                    <a:pt x="0" y="0"/>
                  </a:moveTo>
                  <a:lnTo>
                    <a:pt x="487679" y="0"/>
                  </a:lnTo>
                  <a:lnTo>
                    <a:pt x="487679" y="406399"/>
                  </a:lnTo>
                  <a:lnTo>
                    <a:pt x="0" y="406399"/>
                  </a:lnTo>
                  <a:lnTo>
                    <a:pt x="0" y="0"/>
                  </a:lnTo>
                  <a:close/>
                </a:path>
              </a:pathLst>
            </a:custGeom>
            <a:ln w="30479">
              <a:solidFill>
                <a:srgbClr val="000000"/>
              </a:solidFill>
            </a:ln>
          </p:spPr>
          <p:txBody>
            <a:bodyPr wrap="square" lIns="0" tIns="0" rIns="0" bIns="0" rtlCol="0"/>
            <a:lstStyle/>
            <a:p>
              <a:endParaRPr sz="1588"/>
            </a:p>
          </p:txBody>
        </p:sp>
      </p:grpSp>
      <p:sp>
        <p:nvSpPr>
          <p:cNvPr id="47" name="object 47"/>
          <p:cNvSpPr txBox="1"/>
          <p:nvPr/>
        </p:nvSpPr>
        <p:spPr>
          <a:xfrm>
            <a:off x="5751797" y="2997797"/>
            <a:ext cx="359148" cy="187839"/>
          </a:xfrm>
          <a:prstGeom prst="rect">
            <a:avLst/>
          </a:prstGeom>
        </p:spPr>
        <p:txBody>
          <a:bodyPr vert="horz" wrap="square" lIns="0" tIns="11206" rIns="0" bIns="0" rtlCol="0">
            <a:spAutoFit/>
          </a:bodyPr>
          <a:lstStyle/>
          <a:p>
            <a:pPr marL="11206">
              <a:spcBef>
                <a:spcPts val="88"/>
              </a:spcBef>
            </a:pPr>
            <a:r>
              <a:rPr sz="1147" spc="-9" dirty="0">
                <a:latin typeface="Times New Roman"/>
                <a:cs typeface="Times New Roman"/>
              </a:rPr>
              <a:t>Zero?</a:t>
            </a:r>
            <a:endParaRPr sz="1147">
              <a:latin typeface="Times New Roman"/>
              <a:cs typeface="Times New Roman"/>
            </a:endParaRPr>
          </a:p>
        </p:txBody>
      </p:sp>
      <p:grpSp>
        <p:nvGrpSpPr>
          <p:cNvPr id="48" name="object 48"/>
          <p:cNvGrpSpPr/>
          <p:nvPr/>
        </p:nvGrpSpPr>
        <p:grpSpPr>
          <a:xfrm>
            <a:off x="753969" y="2124636"/>
            <a:ext cx="7844118" cy="3827929"/>
            <a:chOff x="702098" y="2407920"/>
            <a:chExt cx="8890000" cy="4338320"/>
          </a:xfrm>
        </p:grpSpPr>
        <p:pic>
          <p:nvPicPr>
            <p:cNvPr id="49" name="object 49"/>
            <p:cNvPicPr/>
            <p:nvPr/>
          </p:nvPicPr>
          <p:blipFill>
            <a:blip r:embed="rId3" cstate="print"/>
            <a:stretch>
              <a:fillRect/>
            </a:stretch>
          </p:blipFill>
          <p:spPr>
            <a:xfrm>
              <a:off x="6081825" y="4084320"/>
              <a:ext cx="243840" cy="91439"/>
            </a:xfrm>
            <a:prstGeom prst="rect">
              <a:avLst/>
            </a:prstGeom>
          </p:spPr>
        </p:pic>
        <p:pic>
          <p:nvPicPr>
            <p:cNvPr id="50" name="object 50"/>
            <p:cNvPicPr/>
            <p:nvPr/>
          </p:nvPicPr>
          <p:blipFill>
            <a:blip r:embed="rId3" cstate="print"/>
            <a:stretch>
              <a:fillRect/>
            </a:stretch>
          </p:blipFill>
          <p:spPr>
            <a:xfrm>
              <a:off x="6081825" y="4734561"/>
              <a:ext cx="243840" cy="91440"/>
            </a:xfrm>
            <a:prstGeom prst="rect">
              <a:avLst/>
            </a:prstGeom>
          </p:spPr>
        </p:pic>
        <p:sp>
          <p:nvSpPr>
            <p:cNvPr id="51" name="object 51"/>
            <p:cNvSpPr/>
            <p:nvPr/>
          </p:nvSpPr>
          <p:spPr>
            <a:xfrm>
              <a:off x="702094" y="2407919"/>
              <a:ext cx="7589520" cy="2337435"/>
            </a:xfrm>
            <a:custGeom>
              <a:avLst/>
              <a:gdLst/>
              <a:ahLst/>
              <a:cxnLst/>
              <a:rect l="l" t="t" r="r" b="b"/>
              <a:pathLst>
                <a:path w="7589520" h="2337435">
                  <a:moveTo>
                    <a:pt x="1153160" y="1965972"/>
                  </a:moveTo>
                  <a:lnTo>
                    <a:pt x="1122680" y="1950732"/>
                  </a:lnTo>
                  <a:lnTo>
                    <a:pt x="1061720" y="1920252"/>
                  </a:lnTo>
                  <a:lnTo>
                    <a:pt x="1061720" y="1950732"/>
                  </a:lnTo>
                  <a:lnTo>
                    <a:pt x="665480" y="1950732"/>
                  </a:lnTo>
                  <a:lnTo>
                    <a:pt x="665480" y="1981212"/>
                  </a:lnTo>
                  <a:lnTo>
                    <a:pt x="1061720" y="1981212"/>
                  </a:lnTo>
                  <a:lnTo>
                    <a:pt x="1061720" y="2011692"/>
                  </a:lnTo>
                  <a:lnTo>
                    <a:pt x="1122680" y="1981212"/>
                  </a:lnTo>
                  <a:lnTo>
                    <a:pt x="1153160" y="1965972"/>
                  </a:lnTo>
                  <a:close/>
                </a:path>
                <a:path w="7589520" h="2337435">
                  <a:moveTo>
                    <a:pt x="5135880" y="2291092"/>
                  </a:moveTo>
                  <a:lnTo>
                    <a:pt x="5105400" y="2275852"/>
                  </a:lnTo>
                  <a:lnTo>
                    <a:pt x="5044440" y="2245372"/>
                  </a:lnTo>
                  <a:lnTo>
                    <a:pt x="5044440" y="2275852"/>
                  </a:lnTo>
                  <a:lnTo>
                    <a:pt x="4241800" y="2275852"/>
                  </a:lnTo>
                  <a:lnTo>
                    <a:pt x="4241800" y="2306332"/>
                  </a:lnTo>
                  <a:lnTo>
                    <a:pt x="5044440" y="2306332"/>
                  </a:lnTo>
                  <a:lnTo>
                    <a:pt x="5044440" y="2336812"/>
                  </a:lnTo>
                  <a:lnTo>
                    <a:pt x="5105400" y="2306332"/>
                  </a:lnTo>
                  <a:lnTo>
                    <a:pt x="5135880" y="2291092"/>
                  </a:lnTo>
                  <a:close/>
                </a:path>
                <a:path w="7589520" h="2337435">
                  <a:moveTo>
                    <a:pt x="6996862" y="567270"/>
                  </a:moveTo>
                  <a:lnTo>
                    <a:pt x="6966382" y="552030"/>
                  </a:lnTo>
                  <a:lnTo>
                    <a:pt x="6905422" y="521550"/>
                  </a:lnTo>
                  <a:lnTo>
                    <a:pt x="6905422" y="552030"/>
                  </a:lnTo>
                  <a:lnTo>
                    <a:pt x="6663322" y="552030"/>
                  </a:lnTo>
                  <a:lnTo>
                    <a:pt x="6656502" y="558850"/>
                  </a:lnTo>
                  <a:lnTo>
                    <a:pt x="6656502" y="2030310"/>
                  </a:lnTo>
                  <a:lnTo>
                    <a:pt x="6686982" y="2030310"/>
                  </a:lnTo>
                  <a:lnTo>
                    <a:pt x="6686982" y="582510"/>
                  </a:lnTo>
                  <a:lnTo>
                    <a:pt x="6905422" y="582510"/>
                  </a:lnTo>
                  <a:lnTo>
                    <a:pt x="6905422" y="612990"/>
                  </a:lnTo>
                  <a:lnTo>
                    <a:pt x="6966382" y="582510"/>
                  </a:lnTo>
                  <a:lnTo>
                    <a:pt x="6996862" y="567270"/>
                  </a:lnTo>
                  <a:close/>
                </a:path>
                <a:path w="7589520" h="2337435">
                  <a:moveTo>
                    <a:pt x="7086600" y="2047252"/>
                  </a:moveTo>
                  <a:lnTo>
                    <a:pt x="7056120" y="2032012"/>
                  </a:lnTo>
                  <a:lnTo>
                    <a:pt x="6995160" y="2001532"/>
                  </a:lnTo>
                  <a:lnTo>
                    <a:pt x="6995160" y="2032012"/>
                  </a:lnTo>
                  <a:lnTo>
                    <a:pt x="6111240" y="2032012"/>
                  </a:lnTo>
                  <a:lnTo>
                    <a:pt x="6111240" y="2062492"/>
                  </a:lnTo>
                  <a:lnTo>
                    <a:pt x="6995160" y="2062492"/>
                  </a:lnTo>
                  <a:lnTo>
                    <a:pt x="6995160" y="2092972"/>
                  </a:lnTo>
                  <a:lnTo>
                    <a:pt x="7056120" y="2062492"/>
                  </a:lnTo>
                  <a:lnTo>
                    <a:pt x="7086600" y="2047252"/>
                  </a:lnTo>
                  <a:close/>
                </a:path>
                <a:path w="7589520" h="2337435">
                  <a:moveTo>
                    <a:pt x="7589520" y="6832"/>
                  </a:moveTo>
                  <a:lnTo>
                    <a:pt x="7582700" y="0"/>
                  </a:lnTo>
                  <a:lnTo>
                    <a:pt x="30480" y="0"/>
                  </a:lnTo>
                  <a:lnTo>
                    <a:pt x="30480" y="15278"/>
                  </a:lnTo>
                  <a:lnTo>
                    <a:pt x="15240" y="30480"/>
                  </a:lnTo>
                  <a:lnTo>
                    <a:pt x="30429" y="15278"/>
                  </a:lnTo>
                  <a:lnTo>
                    <a:pt x="30480" y="0"/>
                  </a:lnTo>
                  <a:lnTo>
                    <a:pt x="11201" y="0"/>
                  </a:lnTo>
                  <a:lnTo>
                    <a:pt x="7315" y="1612"/>
                  </a:lnTo>
                  <a:lnTo>
                    <a:pt x="1600" y="7340"/>
                  </a:lnTo>
                  <a:lnTo>
                    <a:pt x="0" y="11226"/>
                  </a:lnTo>
                  <a:lnTo>
                    <a:pt x="3314" y="1903310"/>
                  </a:lnTo>
                  <a:lnTo>
                    <a:pt x="3403" y="1957463"/>
                  </a:lnTo>
                  <a:lnTo>
                    <a:pt x="10223" y="1964270"/>
                  </a:lnTo>
                  <a:lnTo>
                    <a:pt x="215061" y="1964270"/>
                  </a:lnTo>
                  <a:lnTo>
                    <a:pt x="215061" y="1994750"/>
                  </a:lnTo>
                  <a:lnTo>
                    <a:pt x="276021" y="1964270"/>
                  </a:lnTo>
                  <a:lnTo>
                    <a:pt x="306501" y="1949030"/>
                  </a:lnTo>
                  <a:lnTo>
                    <a:pt x="276021" y="1933790"/>
                  </a:lnTo>
                  <a:lnTo>
                    <a:pt x="215061" y="1903310"/>
                  </a:lnTo>
                  <a:lnTo>
                    <a:pt x="215061" y="1933790"/>
                  </a:lnTo>
                  <a:lnTo>
                    <a:pt x="33845" y="1933790"/>
                  </a:lnTo>
                  <a:lnTo>
                    <a:pt x="30505" y="30480"/>
                  </a:lnTo>
                  <a:lnTo>
                    <a:pt x="7559040" y="30480"/>
                  </a:lnTo>
                  <a:lnTo>
                    <a:pt x="7559040" y="15278"/>
                  </a:lnTo>
                  <a:lnTo>
                    <a:pt x="7559040" y="428421"/>
                  </a:lnTo>
                  <a:lnTo>
                    <a:pt x="7167880" y="428421"/>
                  </a:lnTo>
                  <a:lnTo>
                    <a:pt x="7167880" y="458901"/>
                  </a:lnTo>
                  <a:lnTo>
                    <a:pt x="7582700" y="458901"/>
                  </a:lnTo>
                  <a:lnTo>
                    <a:pt x="7589520" y="452081"/>
                  </a:lnTo>
                  <a:lnTo>
                    <a:pt x="7589520" y="443661"/>
                  </a:lnTo>
                  <a:lnTo>
                    <a:pt x="7589520" y="428421"/>
                  </a:lnTo>
                  <a:lnTo>
                    <a:pt x="7589520" y="30480"/>
                  </a:lnTo>
                  <a:lnTo>
                    <a:pt x="7589520" y="15278"/>
                  </a:lnTo>
                  <a:lnTo>
                    <a:pt x="7589520" y="6832"/>
                  </a:lnTo>
                  <a:close/>
                </a:path>
              </a:pathLst>
            </a:custGeom>
            <a:solidFill>
              <a:srgbClr val="000000"/>
            </a:solidFill>
          </p:spPr>
          <p:txBody>
            <a:bodyPr wrap="square" lIns="0" tIns="0" rIns="0" bIns="0" rtlCol="0"/>
            <a:lstStyle/>
            <a:p>
              <a:endParaRPr sz="1588"/>
            </a:p>
          </p:txBody>
        </p:sp>
        <p:pic>
          <p:nvPicPr>
            <p:cNvPr id="52" name="object 52"/>
            <p:cNvPicPr/>
            <p:nvPr/>
          </p:nvPicPr>
          <p:blipFill>
            <a:blip r:embed="rId3" cstate="print"/>
            <a:stretch>
              <a:fillRect/>
            </a:stretch>
          </p:blipFill>
          <p:spPr>
            <a:xfrm>
              <a:off x="1855264" y="3515361"/>
              <a:ext cx="243841" cy="91439"/>
            </a:xfrm>
            <a:prstGeom prst="rect">
              <a:avLst/>
            </a:prstGeom>
          </p:spPr>
        </p:pic>
        <p:sp>
          <p:nvSpPr>
            <p:cNvPr id="53" name="object 53"/>
            <p:cNvSpPr/>
            <p:nvPr/>
          </p:nvSpPr>
          <p:spPr>
            <a:xfrm>
              <a:off x="1514894" y="2865119"/>
              <a:ext cx="8077200" cy="3881120"/>
            </a:xfrm>
            <a:custGeom>
              <a:avLst/>
              <a:gdLst/>
              <a:ahLst/>
              <a:cxnLst/>
              <a:rect l="l" t="t" r="r" b="b"/>
              <a:pathLst>
                <a:path w="8077200" h="3881120">
                  <a:moveTo>
                    <a:pt x="584200" y="45720"/>
                  </a:moveTo>
                  <a:lnTo>
                    <a:pt x="553720" y="30480"/>
                  </a:lnTo>
                  <a:lnTo>
                    <a:pt x="492760" y="0"/>
                  </a:lnTo>
                  <a:lnTo>
                    <a:pt x="492760" y="30480"/>
                  </a:lnTo>
                  <a:lnTo>
                    <a:pt x="6832" y="30480"/>
                  </a:lnTo>
                  <a:lnTo>
                    <a:pt x="0" y="37312"/>
                  </a:lnTo>
                  <a:lnTo>
                    <a:pt x="0" y="1508760"/>
                  </a:lnTo>
                  <a:lnTo>
                    <a:pt x="30480" y="1508760"/>
                  </a:lnTo>
                  <a:lnTo>
                    <a:pt x="30480" y="60960"/>
                  </a:lnTo>
                  <a:lnTo>
                    <a:pt x="492760" y="60960"/>
                  </a:lnTo>
                  <a:lnTo>
                    <a:pt x="492760" y="91440"/>
                  </a:lnTo>
                  <a:lnTo>
                    <a:pt x="553720" y="60960"/>
                  </a:lnTo>
                  <a:lnTo>
                    <a:pt x="584200" y="45720"/>
                  </a:lnTo>
                  <a:close/>
                </a:path>
                <a:path w="8077200" h="3881120">
                  <a:moveTo>
                    <a:pt x="7574280" y="2402840"/>
                  </a:moveTo>
                  <a:lnTo>
                    <a:pt x="7543800" y="2387600"/>
                  </a:lnTo>
                  <a:lnTo>
                    <a:pt x="7482840" y="2357120"/>
                  </a:lnTo>
                  <a:lnTo>
                    <a:pt x="7482840" y="2387600"/>
                  </a:lnTo>
                  <a:lnTo>
                    <a:pt x="7319848" y="2387600"/>
                  </a:lnTo>
                  <a:lnTo>
                    <a:pt x="7313028" y="2394432"/>
                  </a:lnTo>
                  <a:lnTo>
                    <a:pt x="7313028" y="2794000"/>
                  </a:lnTo>
                  <a:lnTo>
                    <a:pt x="5867400" y="2794000"/>
                  </a:lnTo>
                  <a:lnTo>
                    <a:pt x="5867400" y="2418080"/>
                  </a:lnTo>
                  <a:lnTo>
                    <a:pt x="6182360" y="2418080"/>
                  </a:lnTo>
                  <a:lnTo>
                    <a:pt x="6182360" y="2448560"/>
                  </a:lnTo>
                  <a:lnTo>
                    <a:pt x="6243320" y="2418080"/>
                  </a:lnTo>
                  <a:lnTo>
                    <a:pt x="6273800" y="2402840"/>
                  </a:lnTo>
                  <a:lnTo>
                    <a:pt x="6243320" y="2387600"/>
                  </a:lnTo>
                  <a:lnTo>
                    <a:pt x="6182360" y="2357120"/>
                  </a:lnTo>
                  <a:lnTo>
                    <a:pt x="6182360" y="2387600"/>
                  </a:lnTo>
                  <a:lnTo>
                    <a:pt x="5867400" y="2387600"/>
                  </a:lnTo>
                  <a:lnTo>
                    <a:pt x="5867400" y="1590040"/>
                  </a:lnTo>
                  <a:lnTo>
                    <a:pt x="5836920" y="1590040"/>
                  </a:lnTo>
                  <a:lnTo>
                    <a:pt x="5836920" y="2387600"/>
                  </a:lnTo>
                  <a:lnTo>
                    <a:pt x="4013200" y="2387600"/>
                  </a:lnTo>
                  <a:lnTo>
                    <a:pt x="4013200" y="1833880"/>
                  </a:lnTo>
                  <a:lnTo>
                    <a:pt x="3982720" y="1833880"/>
                  </a:lnTo>
                  <a:lnTo>
                    <a:pt x="3982720" y="2411260"/>
                  </a:lnTo>
                  <a:lnTo>
                    <a:pt x="3989552" y="2418080"/>
                  </a:lnTo>
                  <a:lnTo>
                    <a:pt x="5836920" y="2418080"/>
                  </a:lnTo>
                  <a:lnTo>
                    <a:pt x="5836920" y="2817660"/>
                  </a:lnTo>
                  <a:lnTo>
                    <a:pt x="5843752" y="2824480"/>
                  </a:lnTo>
                  <a:lnTo>
                    <a:pt x="7336688" y="2824480"/>
                  </a:lnTo>
                  <a:lnTo>
                    <a:pt x="7343508" y="2817660"/>
                  </a:lnTo>
                  <a:lnTo>
                    <a:pt x="7343508" y="2809240"/>
                  </a:lnTo>
                  <a:lnTo>
                    <a:pt x="7343508" y="2794000"/>
                  </a:lnTo>
                  <a:lnTo>
                    <a:pt x="7343508" y="2418080"/>
                  </a:lnTo>
                  <a:lnTo>
                    <a:pt x="7482840" y="2418080"/>
                  </a:lnTo>
                  <a:lnTo>
                    <a:pt x="7482840" y="2448560"/>
                  </a:lnTo>
                  <a:lnTo>
                    <a:pt x="7543800" y="2418080"/>
                  </a:lnTo>
                  <a:lnTo>
                    <a:pt x="7574280" y="2402840"/>
                  </a:lnTo>
                  <a:close/>
                </a:path>
                <a:path w="8077200" h="3881120">
                  <a:moveTo>
                    <a:pt x="8077200" y="2150592"/>
                  </a:moveTo>
                  <a:lnTo>
                    <a:pt x="8070380" y="2143760"/>
                  </a:lnTo>
                  <a:lnTo>
                    <a:pt x="7814589" y="2143760"/>
                  </a:lnTo>
                  <a:lnTo>
                    <a:pt x="7814589" y="2174252"/>
                  </a:lnTo>
                  <a:lnTo>
                    <a:pt x="8046720" y="2174252"/>
                  </a:lnTo>
                  <a:lnTo>
                    <a:pt x="8046720" y="3850640"/>
                  </a:lnTo>
                  <a:lnTo>
                    <a:pt x="2387600" y="3850640"/>
                  </a:lnTo>
                  <a:lnTo>
                    <a:pt x="2387600" y="3637280"/>
                  </a:lnTo>
                  <a:lnTo>
                    <a:pt x="7826540" y="3637280"/>
                  </a:lnTo>
                  <a:lnTo>
                    <a:pt x="7833360" y="3630460"/>
                  </a:lnTo>
                  <a:lnTo>
                    <a:pt x="7833360" y="3223488"/>
                  </a:lnTo>
                  <a:lnTo>
                    <a:pt x="7826540" y="3216656"/>
                  </a:lnTo>
                  <a:lnTo>
                    <a:pt x="7330440" y="3216656"/>
                  </a:lnTo>
                  <a:lnTo>
                    <a:pt x="7330440" y="3247136"/>
                  </a:lnTo>
                  <a:lnTo>
                    <a:pt x="7802880" y="3247136"/>
                  </a:lnTo>
                  <a:lnTo>
                    <a:pt x="7802880" y="3606800"/>
                  </a:lnTo>
                  <a:lnTo>
                    <a:pt x="2387600" y="3606800"/>
                  </a:lnTo>
                  <a:lnTo>
                    <a:pt x="2387600" y="1930400"/>
                  </a:lnTo>
                  <a:lnTo>
                    <a:pt x="2693212" y="1930400"/>
                  </a:lnTo>
                  <a:lnTo>
                    <a:pt x="2693212" y="1960880"/>
                  </a:lnTo>
                  <a:lnTo>
                    <a:pt x="2754172" y="1930400"/>
                  </a:lnTo>
                  <a:lnTo>
                    <a:pt x="2784652" y="1915160"/>
                  </a:lnTo>
                  <a:lnTo>
                    <a:pt x="2754172" y="1899920"/>
                  </a:lnTo>
                  <a:lnTo>
                    <a:pt x="2693212" y="1869440"/>
                  </a:lnTo>
                  <a:lnTo>
                    <a:pt x="2693212" y="1899920"/>
                  </a:lnTo>
                  <a:lnTo>
                    <a:pt x="2363952" y="1899920"/>
                  </a:lnTo>
                  <a:lnTo>
                    <a:pt x="2357120" y="1906752"/>
                  </a:lnTo>
                  <a:lnTo>
                    <a:pt x="2357120" y="3606800"/>
                  </a:lnTo>
                  <a:lnTo>
                    <a:pt x="2225040" y="3606800"/>
                  </a:lnTo>
                  <a:lnTo>
                    <a:pt x="2225040" y="1686560"/>
                  </a:lnTo>
                  <a:lnTo>
                    <a:pt x="2687320" y="1686560"/>
                  </a:lnTo>
                  <a:lnTo>
                    <a:pt x="2687320" y="1717040"/>
                  </a:lnTo>
                  <a:lnTo>
                    <a:pt x="2748280" y="1686560"/>
                  </a:lnTo>
                  <a:lnTo>
                    <a:pt x="2778760" y="1671320"/>
                  </a:lnTo>
                  <a:lnTo>
                    <a:pt x="2748280" y="1656080"/>
                  </a:lnTo>
                  <a:lnTo>
                    <a:pt x="2687320" y="1625612"/>
                  </a:lnTo>
                  <a:lnTo>
                    <a:pt x="2687320" y="1656080"/>
                  </a:lnTo>
                  <a:lnTo>
                    <a:pt x="2201392" y="1656080"/>
                  </a:lnTo>
                  <a:lnTo>
                    <a:pt x="2194560" y="1662912"/>
                  </a:lnTo>
                  <a:lnTo>
                    <a:pt x="2194560" y="3630460"/>
                  </a:lnTo>
                  <a:lnTo>
                    <a:pt x="2201392" y="3637280"/>
                  </a:lnTo>
                  <a:lnTo>
                    <a:pt x="2357120" y="3637280"/>
                  </a:lnTo>
                  <a:lnTo>
                    <a:pt x="2357120" y="3874300"/>
                  </a:lnTo>
                  <a:lnTo>
                    <a:pt x="2363952" y="3881120"/>
                  </a:lnTo>
                  <a:lnTo>
                    <a:pt x="8070380" y="3881120"/>
                  </a:lnTo>
                  <a:lnTo>
                    <a:pt x="8077200" y="3874300"/>
                  </a:lnTo>
                  <a:lnTo>
                    <a:pt x="8077200" y="3865880"/>
                  </a:lnTo>
                  <a:lnTo>
                    <a:pt x="8077200" y="3850640"/>
                  </a:lnTo>
                  <a:lnTo>
                    <a:pt x="8077200" y="2174252"/>
                  </a:lnTo>
                  <a:lnTo>
                    <a:pt x="8077200" y="2159000"/>
                  </a:lnTo>
                  <a:lnTo>
                    <a:pt x="8077200" y="2150592"/>
                  </a:lnTo>
                  <a:close/>
                </a:path>
              </a:pathLst>
            </a:custGeom>
            <a:solidFill>
              <a:srgbClr val="000000"/>
            </a:solidFill>
          </p:spPr>
          <p:txBody>
            <a:bodyPr wrap="square" lIns="0" tIns="0" rIns="0" bIns="0" rtlCol="0"/>
            <a:lstStyle/>
            <a:p>
              <a:endParaRPr sz="1588"/>
            </a:p>
          </p:txBody>
        </p:sp>
        <p:sp>
          <p:nvSpPr>
            <p:cNvPr id="54" name="object 54"/>
            <p:cNvSpPr/>
            <p:nvPr/>
          </p:nvSpPr>
          <p:spPr>
            <a:xfrm>
              <a:off x="2993185" y="2504440"/>
              <a:ext cx="325120" cy="3886200"/>
            </a:xfrm>
            <a:custGeom>
              <a:avLst/>
              <a:gdLst/>
              <a:ahLst/>
              <a:cxnLst/>
              <a:rect l="l" t="t" r="r" b="b"/>
              <a:pathLst>
                <a:path w="325120" h="3886200">
                  <a:moveTo>
                    <a:pt x="325120" y="0"/>
                  </a:moveTo>
                  <a:lnTo>
                    <a:pt x="0" y="0"/>
                  </a:lnTo>
                  <a:lnTo>
                    <a:pt x="0" y="3886200"/>
                  </a:lnTo>
                  <a:lnTo>
                    <a:pt x="325120" y="3886200"/>
                  </a:lnTo>
                  <a:lnTo>
                    <a:pt x="325120" y="0"/>
                  </a:lnTo>
                  <a:close/>
                </a:path>
              </a:pathLst>
            </a:custGeom>
            <a:solidFill>
              <a:srgbClr val="07F707"/>
            </a:solidFill>
          </p:spPr>
          <p:txBody>
            <a:bodyPr wrap="square" lIns="0" tIns="0" rIns="0" bIns="0" rtlCol="0"/>
            <a:lstStyle/>
            <a:p>
              <a:endParaRPr sz="1588"/>
            </a:p>
          </p:txBody>
        </p:sp>
      </p:grpSp>
      <p:sp>
        <p:nvSpPr>
          <p:cNvPr id="55" name="object 55"/>
          <p:cNvSpPr txBox="1"/>
          <p:nvPr/>
        </p:nvSpPr>
        <p:spPr>
          <a:xfrm>
            <a:off x="2804303" y="2209799"/>
            <a:ext cx="258084" cy="3429000"/>
          </a:xfrm>
          <a:prstGeom prst="rect">
            <a:avLst/>
          </a:prstGeom>
          <a:ln w="30479">
            <a:solidFill>
              <a:srgbClr val="000000"/>
            </a:solidFill>
          </a:ln>
        </p:spPr>
        <p:txBody>
          <a:bodyPr vert="vert" wrap="square" lIns="0" tIns="13447" rIns="0" bIns="0" rtlCol="0">
            <a:spAutoFit/>
          </a:bodyPr>
          <a:lstStyle/>
          <a:p>
            <a:pPr marL="1121" algn="ctr">
              <a:spcBef>
                <a:spcPts val="106"/>
              </a:spcBef>
            </a:pPr>
            <a:r>
              <a:rPr sz="1677" b="1" spc="-9" dirty="0">
                <a:latin typeface="Times New Roman"/>
                <a:cs typeface="Times New Roman"/>
              </a:rPr>
              <a:t>IF/ID</a:t>
            </a:r>
            <a:endParaRPr sz="1677">
              <a:latin typeface="Times New Roman"/>
              <a:cs typeface="Times New Roman"/>
            </a:endParaRPr>
          </a:p>
        </p:txBody>
      </p:sp>
      <p:grpSp>
        <p:nvGrpSpPr>
          <p:cNvPr id="56" name="object 56"/>
          <p:cNvGrpSpPr/>
          <p:nvPr/>
        </p:nvGrpSpPr>
        <p:grpSpPr>
          <a:xfrm>
            <a:off x="2762069" y="2209799"/>
            <a:ext cx="2096621" cy="3442447"/>
            <a:chOff x="2977945" y="2504439"/>
            <a:chExt cx="2376170" cy="3901440"/>
          </a:xfrm>
        </p:grpSpPr>
        <p:sp>
          <p:nvSpPr>
            <p:cNvPr id="57" name="object 57"/>
            <p:cNvSpPr/>
            <p:nvPr/>
          </p:nvSpPr>
          <p:spPr>
            <a:xfrm>
              <a:off x="2993185" y="6065519"/>
              <a:ext cx="325120" cy="325120"/>
            </a:xfrm>
            <a:custGeom>
              <a:avLst/>
              <a:gdLst/>
              <a:ahLst/>
              <a:cxnLst/>
              <a:rect l="l" t="t" r="r" b="b"/>
              <a:pathLst>
                <a:path w="325120" h="325120">
                  <a:moveTo>
                    <a:pt x="0" y="325119"/>
                  </a:moveTo>
                  <a:lnTo>
                    <a:pt x="162559" y="0"/>
                  </a:lnTo>
                  <a:lnTo>
                    <a:pt x="325119" y="325119"/>
                  </a:lnTo>
                  <a:lnTo>
                    <a:pt x="0" y="325119"/>
                  </a:lnTo>
                  <a:close/>
                </a:path>
              </a:pathLst>
            </a:custGeom>
            <a:ln w="30479">
              <a:solidFill>
                <a:srgbClr val="000000"/>
              </a:solidFill>
            </a:ln>
          </p:spPr>
          <p:txBody>
            <a:bodyPr wrap="square" lIns="0" tIns="0" rIns="0" bIns="0" rtlCol="0"/>
            <a:lstStyle/>
            <a:p>
              <a:endParaRPr sz="1588"/>
            </a:p>
          </p:txBody>
        </p:sp>
        <p:sp>
          <p:nvSpPr>
            <p:cNvPr id="58" name="object 58"/>
            <p:cNvSpPr/>
            <p:nvPr/>
          </p:nvSpPr>
          <p:spPr>
            <a:xfrm>
              <a:off x="5028572" y="2504439"/>
              <a:ext cx="325120" cy="3886200"/>
            </a:xfrm>
            <a:custGeom>
              <a:avLst/>
              <a:gdLst/>
              <a:ahLst/>
              <a:cxnLst/>
              <a:rect l="l" t="t" r="r" b="b"/>
              <a:pathLst>
                <a:path w="325120" h="3886200">
                  <a:moveTo>
                    <a:pt x="325119" y="0"/>
                  </a:moveTo>
                  <a:lnTo>
                    <a:pt x="0" y="0"/>
                  </a:lnTo>
                  <a:lnTo>
                    <a:pt x="0" y="3886200"/>
                  </a:lnTo>
                  <a:lnTo>
                    <a:pt x="325119" y="3886200"/>
                  </a:lnTo>
                  <a:lnTo>
                    <a:pt x="325119" y="0"/>
                  </a:lnTo>
                  <a:close/>
                </a:path>
              </a:pathLst>
            </a:custGeom>
            <a:solidFill>
              <a:srgbClr val="07F707"/>
            </a:solidFill>
          </p:spPr>
          <p:txBody>
            <a:bodyPr wrap="square" lIns="0" tIns="0" rIns="0" bIns="0" rtlCol="0"/>
            <a:lstStyle/>
            <a:p>
              <a:endParaRPr sz="1588"/>
            </a:p>
          </p:txBody>
        </p:sp>
      </p:grpSp>
      <p:sp>
        <p:nvSpPr>
          <p:cNvPr id="59" name="object 59"/>
          <p:cNvSpPr txBox="1"/>
          <p:nvPr/>
        </p:nvSpPr>
        <p:spPr>
          <a:xfrm>
            <a:off x="4600232" y="2209799"/>
            <a:ext cx="258084" cy="3429000"/>
          </a:xfrm>
          <a:prstGeom prst="rect">
            <a:avLst/>
          </a:prstGeom>
          <a:ln w="30479">
            <a:solidFill>
              <a:srgbClr val="000000"/>
            </a:solidFill>
          </a:ln>
        </p:spPr>
        <p:txBody>
          <a:bodyPr vert="vert" wrap="square" lIns="0" tIns="13447" rIns="0" bIns="0" rtlCol="0">
            <a:spAutoFit/>
          </a:bodyPr>
          <a:lstStyle/>
          <a:p>
            <a:pPr algn="ctr">
              <a:spcBef>
                <a:spcPts val="106"/>
              </a:spcBef>
            </a:pPr>
            <a:r>
              <a:rPr sz="1677" b="1" spc="-9" dirty="0">
                <a:latin typeface="Times New Roman"/>
                <a:cs typeface="Times New Roman"/>
              </a:rPr>
              <a:t>ID/EX</a:t>
            </a:r>
            <a:endParaRPr sz="1677">
              <a:latin typeface="Times New Roman"/>
              <a:cs typeface="Times New Roman"/>
            </a:endParaRPr>
          </a:p>
        </p:txBody>
      </p:sp>
      <p:grpSp>
        <p:nvGrpSpPr>
          <p:cNvPr id="60" name="object 60"/>
          <p:cNvGrpSpPr/>
          <p:nvPr/>
        </p:nvGrpSpPr>
        <p:grpSpPr>
          <a:xfrm>
            <a:off x="4556504" y="2209800"/>
            <a:ext cx="3384176" cy="3433481"/>
            <a:chOff x="5011638" y="2504439"/>
            <a:chExt cx="3835400" cy="3891279"/>
          </a:xfrm>
        </p:grpSpPr>
        <p:sp>
          <p:nvSpPr>
            <p:cNvPr id="61" name="object 61"/>
            <p:cNvSpPr/>
            <p:nvPr/>
          </p:nvSpPr>
          <p:spPr>
            <a:xfrm>
              <a:off x="5026878" y="6055360"/>
              <a:ext cx="325120" cy="325120"/>
            </a:xfrm>
            <a:custGeom>
              <a:avLst/>
              <a:gdLst/>
              <a:ahLst/>
              <a:cxnLst/>
              <a:rect l="l" t="t" r="r" b="b"/>
              <a:pathLst>
                <a:path w="325120" h="325120">
                  <a:moveTo>
                    <a:pt x="0" y="325119"/>
                  </a:moveTo>
                  <a:lnTo>
                    <a:pt x="162559" y="0"/>
                  </a:lnTo>
                  <a:lnTo>
                    <a:pt x="325119" y="325119"/>
                  </a:lnTo>
                  <a:lnTo>
                    <a:pt x="0" y="325119"/>
                  </a:lnTo>
                  <a:close/>
                </a:path>
              </a:pathLst>
            </a:custGeom>
            <a:ln w="30479">
              <a:solidFill>
                <a:srgbClr val="000000"/>
              </a:solidFill>
            </a:ln>
          </p:spPr>
          <p:txBody>
            <a:bodyPr wrap="square" lIns="0" tIns="0" rIns="0" bIns="0" rtlCol="0"/>
            <a:lstStyle/>
            <a:p>
              <a:endParaRPr sz="1588"/>
            </a:p>
          </p:txBody>
        </p:sp>
        <p:sp>
          <p:nvSpPr>
            <p:cNvPr id="62" name="object 62"/>
            <p:cNvSpPr/>
            <p:nvPr/>
          </p:nvSpPr>
          <p:spPr>
            <a:xfrm>
              <a:off x="8521919" y="2504439"/>
              <a:ext cx="325120" cy="3886200"/>
            </a:xfrm>
            <a:custGeom>
              <a:avLst/>
              <a:gdLst/>
              <a:ahLst/>
              <a:cxnLst/>
              <a:rect l="l" t="t" r="r" b="b"/>
              <a:pathLst>
                <a:path w="325120" h="3886200">
                  <a:moveTo>
                    <a:pt x="325118" y="0"/>
                  </a:moveTo>
                  <a:lnTo>
                    <a:pt x="0" y="0"/>
                  </a:lnTo>
                  <a:lnTo>
                    <a:pt x="0" y="3886200"/>
                  </a:lnTo>
                  <a:lnTo>
                    <a:pt x="325118" y="3886200"/>
                  </a:lnTo>
                  <a:lnTo>
                    <a:pt x="325118" y="0"/>
                  </a:lnTo>
                  <a:close/>
                </a:path>
              </a:pathLst>
            </a:custGeom>
            <a:solidFill>
              <a:srgbClr val="07F707"/>
            </a:solidFill>
          </p:spPr>
          <p:txBody>
            <a:bodyPr wrap="square" lIns="0" tIns="0" rIns="0" bIns="0" rtlCol="0"/>
            <a:lstStyle/>
            <a:p>
              <a:endParaRPr sz="1588"/>
            </a:p>
          </p:txBody>
        </p:sp>
      </p:grpSp>
      <p:sp>
        <p:nvSpPr>
          <p:cNvPr id="63" name="object 63"/>
          <p:cNvSpPr txBox="1"/>
          <p:nvPr/>
        </p:nvSpPr>
        <p:spPr>
          <a:xfrm>
            <a:off x="7682597" y="2209799"/>
            <a:ext cx="258084" cy="3429000"/>
          </a:xfrm>
          <a:prstGeom prst="rect">
            <a:avLst/>
          </a:prstGeom>
          <a:ln w="30479">
            <a:solidFill>
              <a:srgbClr val="000000"/>
            </a:solidFill>
          </a:ln>
        </p:spPr>
        <p:txBody>
          <a:bodyPr vert="vert" wrap="square" lIns="0" tIns="13447" rIns="0" bIns="0" rtlCol="0">
            <a:spAutoFit/>
          </a:bodyPr>
          <a:lstStyle/>
          <a:p>
            <a:pPr algn="ctr">
              <a:spcBef>
                <a:spcPts val="106"/>
              </a:spcBef>
            </a:pPr>
            <a:r>
              <a:rPr sz="1677" b="1" spc="-9" dirty="0">
                <a:latin typeface="Times New Roman"/>
                <a:cs typeface="Times New Roman"/>
              </a:rPr>
              <a:t>MEM/WB</a:t>
            </a:r>
            <a:endParaRPr sz="1677">
              <a:latin typeface="Times New Roman"/>
              <a:cs typeface="Times New Roman"/>
            </a:endParaRPr>
          </a:p>
        </p:txBody>
      </p:sp>
      <p:grpSp>
        <p:nvGrpSpPr>
          <p:cNvPr id="64" name="object 64"/>
          <p:cNvGrpSpPr/>
          <p:nvPr/>
        </p:nvGrpSpPr>
        <p:grpSpPr>
          <a:xfrm>
            <a:off x="6264281" y="2209799"/>
            <a:ext cx="1689847" cy="3442447"/>
            <a:chOff x="6947118" y="2504439"/>
            <a:chExt cx="1915160" cy="3901440"/>
          </a:xfrm>
        </p:grpSpPr>
        <p:sp>
          <p:nvSpPr>
            <p:cNvPr id="65" name="object 65"/>
            <p:cNvSpPr/>
            <p:nvPr/>
          </p:nvSpPr>
          <p:spPr>
            <a:xfrm>
              <a:off x="8521919" y="6065519"/>
              <a:ext cx="325120" cy="325120"/>
            </a:xfrm>
            <a:custGeom>
              <a:avLst/>
              <a:gdLst/>
              <a:ahLst/>
              <a:cxnLst/>
              <a:rect l="l" t="t" r="r" b="b"/>
              <a:pathLst>
                <a:path w="325120" h="325120">
                  <a:moveTo>
                    <a:pt x="0" y="325119"/>
                  </a:moveTo>
                  <a:lnTo>
                    <a:pt x="162559" y="0"/>
                  </a:lnTo>
                  <a:lnTo>
                    <a:pt x="325119" y="325119"/>
                  </a:lnTo>
                  <a:lnTo>
                    <a:pt x="0" y="325119"/>
                  </a:lnTo>
                  <a:close/>
                </a:path>
              </a:pathLst>
            </a:custGeom>
            <a:ln w="30479">
              <a:solidFill>
                <a:srgbClr val="000000"/>
              </a:solidFill>
            </a:ln>
          </p:spPr>
          <p:txBody>
            <a:bodyPr wrap="square" lIns="0" tIns="0" rIns="0" bIns="0" rtlCol="0"/>
            <a:lstStyle/>
            <a:p>
              <a:endParaRPr sz="1588"/>
            </a:p>
          </p:txBody>
        </p:sp>
        <p:sp>
          <p:nvSpPr>
            <p:cNvPr id="66" name="object 66"/>
            <p:cNvSpPr/>
            <p:nvPr/>
          </p:nvSpPr>
          <p:spPr>
            <a:xfrm>
              <a:off x="6947118" y="2504439"/>
              <a:ext cx="325120" cy="3886200"/>
            </a:xfrm>
            <a:custGeom>
              <a:avLst/>
              <a:gdLst/>
              <a:ahLst/>
              <a:cxnLst/>
              <a:rect l="l" t="t" r="r" b="b"/>
              <a:pathLst>
                <a:path w="325120" h="3886200">
                  <a:moveTo>
                    <a:pt x="325120" y="0"/>
                  </a:moveTo>
                  <a:lnTo>
                    <a:pt x="0" y="0"/>
                  </a:lnTo>
                  <a:lnTo>
                    <a:pt x="0" y="3886200"/>
                  </a:lnTo>
                  <a:lnTo>
                    <a:pt x="325120" y="3886200"/>
                  </a:lnTo>
                  <a:lnTo>
                    <a:pt x="325120" y="0"/>
                  </a:lnTo>
                  <a:close/>
                </a:path>
              </a:pathLst>
            </a:custGeom>
            <a:solidFill>
              <a:srgbClr val="07F707"/>
            </a:solidFill>
          </p:spPr>
          <p:txBody>
            <a:bodyPr wrap="square" lIns="0" tIns="0" rIns="0" bIns="0" rtlCol="0"/>
            <a:lstStyle/>
            <a:p>
              <a:endParaRPr sz="1588"/>
            </a:p>
          </p:txBody>
        </p:sp>
      </p:grpSp>
      <p:sp>
        <p:nvSpPr>
          <p:cNvPr id="67" name="object 67"/>
          <p:cNvSpPr txBox="1"/>
          <p:nvPr/>
        </p:nvSpPr>
        <p:spPr>
          <a:xfrm>
            <a:off x="6293067" y="2209799"/>
            <a:ext cx="258084" cy="3429000"/>
          </a:xfrm>
          <a:prstGeom prst="rect">
            <a:avLst/>
          </a:prstGeom>
          <a:ln w="30479">
            <a:solidFill>
              <a:srgbClr val="000000"/>
            </a:solidFill>
          </a:ln>
        </p:spPr>
        <p:txBody>
          <a:bodyPr vert="vert" wrap="square" lIns="0" tIns="13447" rIns="0" bIns="0" rtlCol="0">
            <a:spAutoFit/>
          </a:bodyPr>
          <a:lstStyle/>
          <a:p>
            <a:pPr algn="ctr">
              <a:spcBef>
                <a:spcPts val="106"/>
              </a:spcBef>
            </a:pPr>
            <a:r>
              <a:rPr sz="1677" b="1" spc="-9" dirty="0">
                <a:latin typeface="Times New Roman"/>
                <a:cs typeface="Times New Roman"/>
              </a:rPr>
              <a:t>EX/MEM</a:t>
            </a:r>
            <a:endParaRPr sz="1677">
              <a:latin typeface="Times New Roman"/>
              <a:cs typeface="Times New Roman"/>
            </a:endParaRPr>
          </a:p>
        </p:txBody>
      </p:sp>
      <p:grpSp>
        <p:nvGrpSpPr>
          <p:cNvPr id="68" name="object 68"/>
          <p:cNvGrpSpPr/>
          <p:nvPr/>
        </p:nvGrpSpPr>
        <p:grpSpPr>
          <a:xfrm>
            <a:off x="1958981" y="2312893"/>
            <a:ext cx="5693709" cy="3330388"/>
            <a:chOff x="2067778" y="2621279"/>
            <a:chExt cx="6452870" cy="3774440"/>
          </a:xfrm>
        </p:grpSpPr>
        <p:sp>
          <p:nvSpPr>
            <p:cNvPr id="69" name="object 69"/>
            <p:cNvSpPr/>
            <p:nvPr/>
          </p:nvSpPr>
          <p:spPr>
            <a:xfrm>
              <a:off x="6947118" y="6055359"/>
              <a:ext cx="325120" cy="325120"/>
            </a:xfrm>
            <a:custGeom>
              <a:avLst/>
              <a:gdLst/>
              <a:ahLst/>
              <a:cxnLst/>
              <a:rect l="l" t="t" r="r" b="b"/>
              <a:pathLst>
                <a:path w="325120" h="325120">
                  <a:moveTo>
                    <a:pt x="0" y="325119"/>
                  </a:moveTo>
                  <a:lnTo>
                    <a:pt x="162559" y="0"/>
                  </a:lnTo>
                  <a:lnTo>
                    <a:pt x="325119" y="325119"/>
                  </a:lnTo>
                  <a:lnTo>
                    <a:pt x="0" y="325119"/>
                  </a:lnTo>
                  <a:close/>
                </a:path>
              </a:pathLst>
            </a:custGeom>
            <a:ln w="30479">
              <a:solidFill>
                <a:srgbClr val="000000"/>
              </a:solidFill>
            </a:ln>
          </p:spPr>
          <p:txBody>
            <a:bodyPr wrap="square" lIns="0" tIns="0" rIns="0" bIns="0" rtlCol="0"/>
            <a:lstStyle/>
            <a:p>
              <a:endParaRPr sz="1588"/>
            </a:p>
          </p:txBody>
        </p:sp>
        <p:pic>
          <p:nvPicPr>
            <p:cNvPr id="70" name="object 70"/>
            <p:cNvPicPr/>
            <p:nvPr/>
          </p:nvPicPr>
          <p:blipFill>
            <a:blip r:embed="rId4" cstate="print"/>
            <a:stretch>
              <a:fillRect/>
            </a:stretch>
          </p:blipFill>
          <p:spPr>
            <a:xfrm>
              <a:off x="4781238" y="5629699"/>
              <a:ext cx="243945" cy="91438"/>
            </a:xfrm>
            <a:prstGeom prst="rect">
              <a:avLst/>
            </a:prstGeom>
          </p:spPr>
        </p:pic>
        <p:sp>
          <p:nvSpPr>
            <p:cNvPr id="71" name="object 71"/>
            <p:cNvSpPr/>
            <p:nvPr/>
          </p:nvSpPr>
          <p:spPr>
            <a:xfrm>
              <a:off x="2505494" y="2621279"/>
              <a:ext cx="6014720" cy="3505835"/>
            </a:xfrm>
            <a:custGeom>
              <a:avLst/>
              <a:gdLst/>
              <a:ahLst/>
              <a:cxnLst/>
              <a:rect l="l" t="t" r="r" b="b"/>
              <a:pathLst>
                <a:path w="6014720" h="3505835">
                  <a:moveTo>
                    <a:pt x="487680" y="45720"/>
                  </a:moveTo>
                  <a:lnTo>
                    <a:pt x="457200" y="30480"/>
                  </a:lnTo>
                  <a:lnTo>
                    <a:pt x="396240" y="0"/>
                  </a:lnTo>
                  <a:lnTo>
                    <a:pt x="396240" y="30480"/>
                  </a:lnTo>
                  <a:lnTo>
                    <a:pt x="284200" y="30480"/>
                  </a:lnTo>
                  <a:lnTo>
                    <a:pt x="277368" y="37312"/>
                  </a:lnTo>
                  <a:lnTo>
                    <a:pt x="277368" y="599440"/>
                  </a:lnTo>
                  <a:lnTo>
                    <a:pt x="0" y="599440"/>
                  </a:lnTo>
                  <a:lnTo>
                    <a:pt x="0" y="629920"/>
                  </a:lnTo>
                  <a:lnTo>
                    <a:pt x="301028" y="629920"/>
                  </a:lnTo>
                  <a:lnTo>
                    <a:pt x="307848" y="623100"/>
                  </a:lnTo>
                  <a:lnTo>
                    <a:pt x="307848" y="614680"/>
                  </a:lnTo>
                  <a:lnTo>
                    <a:pt x="307848" y="599440"/>
                  </a:lnTo>
                  <a:lnTo>
                    <a:pt x="307848" y="60960"/>
                  </a:lnTo>
                  <a:lnTo>
                    <a:pt x="396240" y="60960"/>
                  </a:lnTo>
                  <a:lnTo>
                    <a:pt x="396240" y="91440"/>
                  </a:lnTo>
                  <a:lnTo>
                    <a:pt x="457200" y="60960"/>
                  </a:lnTo>
                  <a:lnTo>
                    <a:pt x="487680" y="45720"/>
                  </a:lnTo>
                  <a:close/>
                </a:path>
                <a:path w="6014720" h="3505835">
                  <a:moveTo>
                    <a:pt x="2519680" y="3459480"/>
                  </a:moveTo>
                  <a:lnTo>
                    <a:pt x="2489200" y="3444240"/>
                  </a:lnTo>
                  <a:lnTo>
                    <a:pt x="2428240" y="3413760"/>
                  </a:lnTo>
                  <a:lnTo>
                    <a:pt x="2428240" y="3444240"/>
                  </a:lnTo>
                  <a:lnTo>
                    <a:pt x="1071880" y="3444240"/>
                  </a:lnTo>
                  <a:lnTo>
                    <a:pt x="1071880" y="3053080"/>
                  </a:lnTo>
                  <a:lnTo>
                    <a:pt x="1041400" y="3053080"/>
                  </a:lnTo>
                  <a:lnTo>
                    <a:pt x="1041400" y="3467900"/>
                  </a:lnTo>
                  <a:lnTo>
                    <a:pt x="1048232" y="3474720"/>
                  </a:lnTo>
                  <a:lnTo>
                    <a:pt x="2428240" y="3474720"/>
                  </a:lnTo>
                  <a:lnTo>
                    <a:pt x="2428240" y="3505200"/>
                  </a:lnTo>
                  <a:lnTo>
                    <a:pt x="2489200" y="3474720"/>
                  </a:lnTo>
                  <a:lnTo>
                    <a:pt x="2519680" y="3459480"/>
                  </a:lnTo>
                  <a:close/>
                </a:path>
                <a:path w="6014720" h="3505835">
                  <a:moveTo>
                    <a:pt x="2519680" y="45732"/>
                  </a:moveTo>
                  <a:lnTo>
                    <a:pt x="2489200" y="30492"/>
                  </a:lnTo>
                  <a:lnTo>
                    <a:pt x="2428240" y="12"/>
                  </a:lnTo>
                  <a:lnTo>
                    <a:pt x="2428240" y="30492"/>
                  </a:lnTo>
                  <a:lnTo>
                    <a:pt x="812800" y="30492"/>
                  </a:lnTo>
                  <a:lnTo>
                    <a:pt x="812800" y="60972"/>
                  </a:lnTo>
                  <a:lnTo>
                    <a:pt x="2428240" y="60972"/>
                  </a:lnTo>
                  <a:lnTo>
                    <a:pt x="2428240" y="91452"/>
                  </a:lnTo>
                  <a:lnTo>
                    <a:pt x="2489200" y="60972"/>
                  </a:lnTo>
                  <a:lnTo>
                    <a:pt x="2519680" y="45732"/>
                  </a:lnTo>
                  <a:close/>
                </a:path>
                <a:path w="6014720" h="3505835">
                  <a:moveTo>
                    <a:pt x="3332480" y="2321560"/>
                  </a:moveTo>
                  <a:lnTo>
                    <a:pt x="3302000" y="2306320"/>
                  </a:lnTo>
                  <a:lnTo>
                    <a:pt x="3241040" y="2275840"/>
                  </a:lnTo>
                  <a:lnTo>
                    <a:pt x="3241040" y="2306320"/>
                  </a:lnTo>
                  <a:lnTo>
                    <a:pt x="3115068" y="2306320"/>
                  </a:lnTo>
                  <a:lnTo>
                    <a:pt x="3108236" y="2313152"/>
                  </a:lnTo>
                  <a:lnTo>
                    <a:pt x="3108236" y="3037840"/>
                  </a:lnTo>
                  <a:lnTo>
                    <a:pt x="2844800" y="3037840"/>
                  </a:lnTo>
                  <a:lnTo>
                    <a:pt x="2844800" y="3068320"/>
                  </a:lnTo>
                  <a:lnTo>
                    <a:pt x="3131896" y="3068320"/>
                  </a:lnTo>
                  <a:lnTo>
                    <a:pt x="3138716" y="3061500"/>
                  </a:lnTo>
                  <a:lnTo>
                    <a:pt x="3138716" y="3053080"/>
                  </a:lnTo>
                  <a:lnTo>
                    <a:pt x="3138716" y="3037840"/>
                  </a:lnTo>
                  <a:lnTo>
                    <a:pt x="3138716" y="2336800"/>
                  </a:lnTo>
                  <a:lnTo>
                    <a:pt x="3241040" y="2336800"/>
                  </a:lnTo>
                  <a:lnTo>
                    <a:pt x="3241040" y="2367280"/>
                  </a:lnTo>
                  <a:lnTo>
                    <a:pt x="3302000" y="2336800"/>
                  </a:lnTo>
                  <a:lnTo>
                    <a:pt x="3332480" y="2321560"/>
                  </a:lnTo>
                  <a:close/>
                </a:path>
                <a:path w="6014720" h="3505835">
                  <a:moveTo>
                    <a:pt x="4389120" y="3459492"/>
                  </a:moveTo>
                  <a:lnTo>
                    <a:pt x="4358640" y="3444252"/>
                  </a:lnTo>
                  <a:lnTo>
                    <a:pt x="4297680" y="3413772"/>
                  </a:lnTo>
                  <a:lnTo>
                    <a:pt x="4297680" y="3444252"/>
                  </a:lnTo>
                  <a:lnTo>
                    <a:pt x="2844800" y="3444252"/>
                  </a:lnTo>
                  <a:lnTo>
                    <a:pt x="2844800" y="3474732"/>
                  </a:lnTo>
                  <a:lnTo>
                    <a:pt x="4297680" y="3474732"/>
                  </a:lnTo>
                  <a:lnTo>
                    <a:pt x="4297680" y="3505212"/>
                  </a:lnTo>
                  <a:lnTo>
                    <a:pt x="4358640" y="3474732"/>
                  </a:lnTo>
                  <a:lnTo>
                    <a:pt x="4389120" y="3459492"/>
                  </a:lnTo>
                  <a:close/>
                </a:path>
                <a:path w="6014720" h="3505835">
                  <a:moveTo>
                    <a:pt x="6014720" y="3459492"/>
                  </a:moveTo>
                  <a:lnTo>
                    <a:pt x="5984240" y="3444252"/>
                  </a:lnTo>
                  <a:lnTo>
                    <a:pt x="5923280" y="3413772"/>
                  </a:lnTo>
                  <a:lnTo>
                    <a:pt x="5923280" y="3444252"/>
                  </a:lnTo>
                  <a:lnTo>
                    <a:pt x="4795520" y="3444252"/>
                  </a:lnTo>
                  <a:lnTo>
                    <a:pt x="4795520" y="3474732"/>
                  </a:lnTo>
                  <a:lnTo>
                    <a:pt x="5923280" y="3474732"/>
                  </a:lnTo>
                  <a:lnTo>
                    <a:pt x="5923280" y="3505212"/>
                  </a:lnTo>
                  <a:lnTo>
                    <a:pt x="5984240" y="3474732"/>
                  </a:lnTo>
                  <a:lnTo>
                    <a:pt x="6014720" y="3459492"/>
                  </a:lnTo>
                  <a:close/>
                </a:path>
              </a:pathLst>
            </a:custGeom>
            <a:solidFill>
              <a:srgbClr val="000000"/>
            </a:solidFill>
          </p:spPr>
          <p:txBody>
            <a:bodyPr wrap="square" lIns="0" tIns="0" rIns="0" bIns="0" rtlCol="0"/>
            <a:lstStyle/>
            <a:p>
              <a:endParaRPr sz="1588"/>
            </a:p>
          </p:txBody>
        </p:sp>
        <p:sp>
          <p:nvSpPr>
            <p:cNvPr id="72" name="object 72"/>
            <p:cNvSpPr/>
            <p:nvPr/>
          </p:nvSpPr>
          <p:spPr>
            <a:xfrm>
              <a:off x="2096565" y="2772834"/>
              <a:ext cx="509905" cy="975360"/>
            </a:xfrm>
            <a:custGeom>
              <a:avLst/>
              <a:gdLst/>
              <a:ahLst/>
              <a:cxnLst/>
              <a:rect l="l" t="t" r="r" b="b"/>
              <a:pathLst>
                <a:path w="509905" h="975360">
                  <a:moveTo>
                    <a:pt x="0" y="0"/>
                  </a:moveTo>
                  <a:lnTo>
                    <a:pt x="0" y="975360"/>
                  </a:lnTo>
                  <a:lnTo>
                    <a:pt x="509694" y="731520"/>
                  </a:lnTo>
                  <a:lnTo>
                    <a:pt x="509694" y="243839"/>
                  </a:lnTo>
                  <a:lnTo>
                    <a:pt x="0" y="0"/>
                  </a:lnTo>
                  <a:close/>
                </a:path>
              </a:pathLst>
            </a:custGeom>
            <a:solidFill>
              <a:srgbClr val="07F707"/>
            </a:solidFill>
          </p:spPr>
          <p:txBody>
            <a:bodyPr wrap="square" lIns="0" tIns="0" rIns="0" bIns="0" rtlCol="0"/>
            <a:lstStyle/>
            <a:p>
              <a:endParaRPr sz="1588"/>
            </a:p>
          </p:txBody>
        </p:sp>
        <p:sp>
          <p:nvSpPr>
            <p:cNvPr id="73" name="object 73"/>
            <p:cNvSpPr/>
            <p:nvPr/>
          </p:nvSpPr>
          <p:spPr>
            <a:xfrm>
              <a:off x="2096565" y="2772834"/>
              <a:ext cx="509905" cy="975360"/>
            </a:xfrm>
            <a:custGeom>
              <a:avLst/>
              <a:gdLst/>
              <a:ahLst/>
              <a:cxnLst/>
              <a:rect l="l" t="t" r="r" b="b"/>
              <a:pathLst>
                <a:path w="509905" h="975360">
                  <a:moveTo>
                    <a:pt x="0" y="975359"/>
                  </a:moveTo>
                  <a:lnTo>
                    <a:pt x="509693" y="731519"/>
                  </a:lnTo>
                  <a:lnTo>
                    <a:pt x="509693" y="243839"/>
                  </a:lnTo>
                  <a:lnTo>
                    <a:pt x="0" y="0"/>
                  </a:lnTo>
                  <a:lnTo>
                    <a:pt x="0" y="975359"/>
                  </a:lnTo>
                  <a:close/>
                </a:path>
              </a:pathLst>
            </a:custGeom>
            <a:ln w="30479">
              <a:solidFill>
                <a:srgbClr val="000000"/>
              </a:solidFill>
            </a:ln>
          </p:spPr>
          <p:txBody>
            <a:bodyPr wrap="square" lIns="0" tIns="0" rIns="0" bIns="0" rtlCol="0"/>
            <a:lstStyle/>
            <a:p>
              <a:endParaRPr sz="1588"/>
            </a:p>
          </p:txBody>
        </p:sp>
        <p:sp>
          <p:nvSpPr>
            <p:cNvPr id="74" name="object 74"/>
            <p:cNvSpPr/>
            <p:nvPr/>
          </p:nvSpPr>
          <p:spPr>
            <a:xfrm>
              <a:off x="2067778" y="3069168"/>
              <a:ext cx="245745" cy="294640"/>
            </a:xfrm>
            <a:custGeom>
              <a:avLst/>
              <a:gdLst/>
              <a:ahLst/>
              <a:cxnLst/>
              <a:rect l="l" t="t" r="r" b="b"/>
              <a:pathLst>
                <a:path w="245744" h="294639">
                  <a:moveTo>
                    <a:pt x="0" y="0"/>
                  </a:moveTo>
                  <a:lnTo>
                    <a:pt x="0" y="294639"/>
                  </a:lnTo>
                  <a:lnTo>
                    <a:pt x="245534" y="147319"/>
                  </a:lnTo>
                  <a:lnTo>
                    <a:pt x="0" y="0"/>
                  </a:lnTo>
                  <a:close/>
                </a:path>
              </a:pathLst>
            </a:custGeom>
            <a:solidFill>
              <a:srgbClr val="FFFFFF"/>
            </a:solidFill>
          </p:spPr>
          <p:txBody>
            <a:bodyPr wrap="square" lIns="0" tIns="0" rIns="0" bIns="0" rtlCol="0"/>
            <a:lstStyle/>
            <a:p>
              <a:endParaRPr sz="1588"/>
            </a:p>
          </p:txBody>
        </p:sp>
      </p:grpSp>
      <p:sp>
        <p:nvSpPr>
          <p:cNvPr id="75" name="object 75"/>
          <p:cNvSpPr txBox="1"/>
          <p:nvPr/>
        </p:nvSpPr>
        <p:spPr>
          <a:xfrm>
            <a:off x="1572752" y="2949388"/>
            <a:ext cx="286871" cy="385294"/>
          </a:xfrm>
          <a:prstGeom prst="rect">
            <a:avLst/>
          </a:prstGeom>
          <a:solidFill>
            <a:srgbClr val="FFFFFF"/>
          </a:solidFill>
        </p:spPr>
        <p:txBody>
          <a:bodyPr vert="horz" wrap="square" lIns="0" tIns="31937" rIns="0" bIns="0" rtlCol="0">
            <a:spAutoFit/>
          </a:bodyPr>
          <a:lstStyle/>
          <a:p>
            <a:pPr marL="71721">
              <a:spcBef>
                <a:spcPts val="251"/>
              </a:spcBef>
            </a:pPr>
            <a:r>
              <a:rPr sz="2294" b="1" spc="-44" dirty="0">
                <a:latin typeface="Times New Roman"/>
                <a:cs typeface="Times New Roman"/>
              </a:rPr>
              <a:t>4</a:t>
            </a:r>
            <a:endParaRPr sz="2294">
              <a:latin typeface="Times New Roman"/>
              <a:cs typeface="Times New Roman"/>
            </a:endParaRPr>
          </a:p>
        </p:txBody>
      </p:sp>
      <p:sp>
        <p:nvSpPr>
          <p:cNvPr id="76" name="object 76"/>
          <p:cNvSpPr txBox="1"/>
          <p:nvPr/>
        </p:nvSpPr>
        <p:spPr>
          <a:xfrm>
            <a:off x="2151759" y="2616349"/>
            <a:ext cx="218008" cy="541804"/>
          </a:xfrm>
          <a:prstGeom prst="rect">
            <a:avLst/>
          </a:prstGeom>
        </p:spPr>
        <p:txBody>
          <a:bodyPr vert="vert" wrap="square" lIns="0" tIns="0" rIns="0" bIns="0" rtlCol="0">
            <a:spAutoFit/>
          </a:bodyPr>
          <a:lstStyle/>
          <a:p>
            <a:pPr marL="11206">
              <a:lnSpc>
                <a:spcPts val="1725"/>
              </a:lnSpc>
            </a:pPr>
            <a:r>
              <a:rPr sz="1500" b="1" spc="-9" dirty="0">
                <a:latin typeface="Times New Roman"/>
                <a:cs typeface="Times New Roman"/>
              </a:rPr>
              <a:t>Adder</a:t>
            </a:r>
            <a:endParaRPr sz="1500">
              <a:latin typeface="Times New Roman"/>
              <a:cs typeface="Times New Roman"/>
            </a:endParaRPr>
          </a:p>
        </p:txBody>
      </p:sp>
      <p:grpSp>
        <p:nvGrpSpPr>
          <p:cNvPr id="77" name="object 77"/>
          <p:cNvGrpSpPr/>
          <p:nvPr/>
        </p:nvGrpSpPr>
        <p:grpSpPr>
          <a:xfrm>
            <a:off x="1426328" y="2305425"/>
            <a:ext cx="5508812" cy="2749363"/>
            <a:chOff x="1464105" y="2612814"/>
            <a:chExt cx="6243320" cy="3115945"/>
          </a:xfrm>
        </p:grpSpPr>
        <p:sp>
          <p:nvSpPr>
            <p:cNvPr id="78" name="object 78"/>
            <p:cNvSpPr/>
            <p:nvPr/>
          </p:nvSpPr>
          <p:spPr>
            <a:xfrm>
              <a:off x="2088099" y="3070861"/>
              <a:ext cx="220345" cy="293370"/>
            </a:xfrm>
            <a:custGeom>
              <a:avLst/>
              <a:gdLst/>
              <a:ahLst/>
              <a:cxnLst/>
              <a:rect l="l" t="t" r="r" b="b"/>
              <a:pathLst>
                <a:path w="220344" h="293370">
                  <a:moveTo>
                    <a:pt x="0" y="0"/>
                  </a:moveTo>
                  <a:lnTo>
                    <a:pt x="0" y="292947"/>
                  </a:lnTo>
                  <a:lnTo>
                    <a:pt x="220132" y="146472"/>
                  </a:lnTo>
                  <a:lnTo>
                    <a:pt x="0" y="0"/>
                  </a:lnTo>
                  <a:close/>
                </a:path>
              </a:pathLst>
            </a:custGeom>
            <a:solidFill>
              <a:srgbClr val="FFFFFF"/>
            </a:solidFill>
          </p:spPr>
          <p:txBody>
            <a:bodyPr wrap="square" lIns="0" tIns="0" rIns="0" bIns="0" rtlCol="0"/>
            <a:lstStyle/>
            <a:p>
              <a:endParaRPr sz="1588"/>
            </a:p>
          </p:txBody>
        </p:sp>
        <p:sp>
          <p:nvSpPr>
            <p:cNvPr id="79" name="object 79"/>
            <p:cNvSpPr/>
            <p:nvPr/>
          </p:nvSpPr>
          <p:spPr>
            <a:xfrm>
              <a:off x="2088099" y="3070861"/>
              <a:ext cx="220345" cy="293370"/>
            </a:xfrm>
            <a:custGeom>
              <a:avLst/>
              <a:gdLst/>
              <a:ahLst/>
              <a:cxnLst/>
              <a:rect l="l" t="t" r="r" b="b"/>
              <a:pathLst>
                <a:path w="220344" h="293370">
                  <a:moveTo>
                    <a:pt x="0" y="0"/>
                  </a:moveTo>
                  <a:lnTo>
                    <a:pt x="220133" y="146473"/>
                  </a:lnTo>
                  <a:lnTo>
                    <a:pt x="0" y="292947"/>
                  </a:lnTo>
                </a:path>
              </a:pathLst>
            </a:custGeom>
            <a:ln w="30479">
              <a:solidFill>
                <a:srgbClr val="000000"/>
              </a:solidFill>
            </a:ln>
          </p:spPr>
          <p:txBody>
            <a:bodyPr wrap="square" lIns="0" tIns="0" rIns="0" bIns="0" rtlCol="0"/>
            <a:lstStyle/>
            <a:p>
              <a:endParaRPr sz="1588"/>
            </a:p>
          </p:txBody>
        </p:sp>
        <p:sp>
          <p:nvSpPr>
            <p:cNvPr id="80" name="object 80"/>
            <p:cNvSpPr/>
            <p:nvPr/>
          </p:nvSpPr>
          <p:spPr>
            <a:xfrm>
              <a:off x="5350294" y="2621292"/>
              <a:ext cx="2357120" cy="1391920"/>
            </a:xfrm>
            <a:custGeom>
              <a:avLst/>
              <a:gdLst/>
              <a:ahLst/>
              <a:cxnLst/>
              <a:rect l="l" t="t" r="r" b="b"/>
              <a:pathLst>
                <a:path w="2357120" h="1391920">
                  <a:moveTo>
                    <a:pt x="1544320" y="45720"/>
                  </a:moveTo>
                  <a:lnTo>
                    <a:pt x="1513840" y="30480"/>
                  </a:lnTo>
                  <a:lnTo>
                    <a:pt x="1452880" y="0"/>
                  </a:lnTo>
                  <a:lnTo>
                    <a:pt x="1452880" y="30480"/>
                  </a:lnTo>
                  <a:lnTo>
                    <a:pt x="0" y="30480"/>
                  </a:lnTo>
                  <a:lnTo>
                    <a:pt x="0" y="60960"/>
                  </a:lnTo>
                  <a:lnTo>
                    <a:pt x="228600" y="60960"/>
                  </a:lnTo>
                  <a:lnTo>
                    <a:pt x="228600" y="1354607"/>
                  </a:lnTo>
                  <a:lnTo>
                    <a:pt x="235432" y="1361427"/>
                  </a:lnTo>
                  <a:lnTo>
                    <a:pt x="396240" y="1361427"/>
                  </a:lnTo>
                  <a:lnTo>
                    <a:pt x="396240" y="1391907"/>
                  </a:lnTo>
                  <a:lnTo>
                    <a:pt x="457200" y="1361427"/>
                  </a:lnTo>
                  <a:lnTo>
                    <a:pt x="487680" y="1346187"/>
                  </a:lnTo>
                  <a:lnTo>
                    <a:pt x="457200" y="1330947"/>
                  </a:lnTo>
                  <a:lnTo>
                    <a:pt x="396240" y="1300467"/>
                  </a:lnTo>
                  <a:lnTo>
                    <a:pt x="396240" y="1330947"/>
                  </a:lnTo>
                  <a:lnTo>
                    <a:pt x="259080" y="1330947"/>
                  </a:lnTo>
                  <a:lnTo>
                    <a:pt x="259080" y="60960"/>
                  </a:lnTo>
                  <a:lnTo>
                    <a:pt x="1452880" y="60960"/>
                  </a:lnTo>
                  <a:lnTo>
                    <a:pt x="1452880" y="91440"/>
                  </a:lnTo>
                  <a:lnTo>
                    <a:pt x="1513840" y="60960"/>
                  </a:lnTo>
                  <a:lnTo>
                    <a:pt x="1544320" y="45720"/>
                  </a:lnTo>
                  <a:close/>
                </a:path>
                <a:path w="2357120" h="1391920">
                  <a:moveTo>
                    <a:pt x="2357120" y="45720"/>
                  </a:moveTo>
                  <a:lnTo>
                    <a:pt x="2326640" y="30480"/>
                  </a:lnTo>
                  <a:lnTo>
                    <a:pt x="2265680" y="0"/>
                  </a:lnTo>
                  <a:lnTo>
                    <a:pt x="2265680" y="30480"/>
                  </a:lnTo>
                  <a:lnTo>
                    <a:pt x="1950720" y="30480"/>
                  </a:lnTo>
                  <a:lnTo>
                    <a:pt x="1950720" y="60960"/>
                  </a:lnTo>
                  <a:lnTo>
                    <a:pt x="2265680" y="60960"/>
                  </a:lnTo>
                  <a:lnTo>
                    <a:pt x="2265680" y="91440"/>
                  </a:lnTo>
                  <a:lnTo>
                    <a:pt x="2326640" y="60960"/>
                  </a:lnTo>
                  <a:lnTo>
                    <a:pt x="2357120" y="45720"/>
                  </a:lnTo>
                  <a:close/>
                </a:path>
              </a:pathLst>
            </a:custGeom>
            <a:solidFill>
              <a:srgbClr val="000000"/>
            </a:solidFill>
          </p:spPr>
          <p:txBody>
            <a:bodyPr wrap="square" lIns="0" tIns="0" rIns="0" bIns="0" rtlCol="0"/>
            <a:lstStyle/>
            <a:p>
              <a:endParaRPr sz="1588"/>
            </a:p>
          </p:txBody>
        </p:sp>
        <p:pic>
          <p:nvPicPr>
            <p:cNvPr id="81" name="object 81"/>
            <p:cNvPicPr/>
            <p:nvPr/>
          </p:nvPicPr>
          <p:blipFill>
            <a:blip r:embed="rId5" cstate="print"/>
            <a:stretch>
              <a:fillRect/>
            </a:stretch>
          </p:blipFill>
          <p:spPr>
            <a:xfrm>
              <a:off x="7311185" y="4399279"/>
              <a:ext cx="110066" cy="110067"/>
            </a:xfrm>
            <a:prstGeom prst="rect">
              <a:avLst/>
            </a:prstGeom>
          </p:spPr>
        </p:pic>
        <p:pic>
          <p:nvPicPr>
            <p:cNvPr id="82" name="object 82"/>
            <p:cNvPicPr/>
            <p:nvPr/>
          </p:nvPicPr>
          <p:blipFill>
            <a:blip r:embed="rId5" cstate="print"/>
            <a:stretch>
              <a:fillRect/>
            </a:stretch>
          </p:blipFill>
          <p:spPr>
            <a:xfrm>
              <a:off x="5456985" y="4648200"/>
              <a:ext cx="110067" cy="110066"/>
            </a:xfrm>
            <a:prstGeom prst="rect">
              <a:avLst/>
            </a:prstGeom>
          </p:spPr>
        </p:pic>
        <p:pic>
          <p:nvPicPr>
            <p:cNvPr id="83" name="object 83"/>
            <p:cNvPicPr/>
            <p:nvPr/>
          </p:nvPicPr>
          <p:blipFill>
            <a:blip r:embed="rId6" cstate="print"/>
            <a:stretch>
              <a:fillRect/>
            </a:stretch>
          </p:blipFill>
          <p:spPr>
            <a:xfrm>
              <a:off x="5451905" y="4150359"/>
              <a:ext cx="110066" cy="110066"/>
            </a:xfrm>
            <a:prstGeom prst="rect">
              <a:avLst/>
            </a:prstGeom>
          </p:spPr>
        </p:pic>
        <p:pic>
          <p:nvPicPr>
            <p:cNvPr id="84" name="object 84"/>
            <p:cNvPicPr/>
            <p:nvPr/>
          </p:nvPicPr>
          <p:blipFill>
            <a:blip r:embed="rId6" cstate="print"/>
            <a:stretch>
              <a:fillRect/>
            </a:stretch>
          </p:blipFill>
          <p:spPr>
            <a:xfrm>
              <a:off x="3501185" y="4069080"/>
              <a:ext cx="110066" cy="110066"/>
            </a:xfrm>
            <a:prstGeom prst="rect">
              <a:avLst/>
            </a:prstGeom>
          </p:spPr>
        </p:pic>
        <p:sp>
          <p:nvSpPr>
            <p:cNvPr id="85" name="object 85"/>
            <p:cNvSpPr/>
            <p:nvPr/>
          </p:nvSpPr>
          <p:spPr>
            <a:xfrm>
              <a:off x="3536745" y="5613400"/>
              <a:ext cx="80010" cy="80010"/>
            </a:xfrm>
            <a:custGeom>
              <a:avLst/>
              <a:gdLst/>
              <a:ahLst/>
              <a:cxnLst/>
              <a:rect l="l" t="t" r="r" b="b"/>
              <a:pathLst>
                <a:path w="80010" h="80010">
                  <a:moveTo>
                    <a:pt x="39792" y="0"/>
                  </a:moveTo>
                  <a:lnTo>
                    <a:pt x="24303" y="3127"/>
                  </a:lnTo>
                  <a:lnTo>
                    <a:pt x="11654" y="11654"/>
                  </a:lnTo>
                  <a:lnTo>
                    <a:pt x="3127" y="24303"/>
                  </a:lnTo>
                  <a:lnTo>
                    <a:pt x="0" y="39792"/>
                  </a:lnTo>
                  <a:lnTo>
                    <a:pt x="3127" y="55282"/>
                  </a:lnTo>
                  <a:lnTo>
                    <a:pt x="11654" y="67931"/>
                  </a:lnTo>
                  <a:lnTo>
                    <a:pt x="24303" y="76459"/>
                  </a:lnTo>
                  <a:lnTo>
                    <a:pt x="39792" y="79587"/>
                  </a:lnTo>
                  <a:lnTo>
                    <a:pt x="55282" y="76459"/>
                  </a:lnTo>
                  <a:lnTo>
                    <a:pt x="67930" y="67931"/>
                  </a:lnTo>
                  <a:lnTo>
                    <a:pt x="76458" y="55282"/>
                  </a:lnTo>
                  <a:lnTo>
                    <a:pt x="79585" y="39792"/>
                  </a:lnTo>
                  <a:lnTo>
                    <a:pt x="76458" y="24303"/>
                  </a:lnTo>
                  <a:lnTo>
                    <a:pt x="67930" y="11654"/>
                  </a:lnTo>
                  <a:lnTo>
                    <a:pt x="55282" y="3127"/>
                  </a:lnTo>
                  <a:lnTo>
                    <a:pt x="39792" y="0"/>
                  </a:lnTo>
                  <a:close/>
                </a:path>
              </a:pathLst>
            </a:custGeom>
            <a:solidFill>
              <a:srgbClr val="000000"/>
            </a:solidFill>
          </p:spPr>
          <p:txBody>
            <a:bodyPr wrap="square" lIns="0" tIns="0" rIns="0" bIns="0" rtlCol="0"/>
            <a:lstStyle/>
            <a:p>
              <a:endParaRPr sz="1588"/>
            </a:p>
          </p:txBody>
        </p:sp>
        <p:sp>
          <p:nvSpPr>
            <p:cNvPr id="86" name="object 86"/>
            <p:cNvSpPr/>
            <p:nvPr/>
          </p:nvSpPr>
          <p:spPr>
            <a:xfrm>
              <a:off x="3536745" y="5613400"/>
              <a:ext cx="80010" cy="80010"/>
            </a:xfrm>
            <a:custGeom>
              <a:avLst/>
              <a:gdLst/>
              <a:ahLst/>
              <a:cxnLst/>
              <a:rect l="l" t="t" r="r" b="b"/>
              <a:pathLst>
                <a:path w="80010" h="80010">
                  <a:moveTo>
                    <a:pt x="0" y="39793"/>
                  </a:moveTo>
                  <a:lnTo>
                    <a:pt x="3127" y="24304"/>
                  </a:lnTo>
                  <a:lnTo>
                    <a:pt x="11655" y="11655"/>
                  </a:lnTo>
                  <a:lnTo>
                    <a:pt x="24303" y="3127"/>
                  </a:lnTo>
                  <a:lnTo>
                    <a:pt x="39793" y="0"/>
                  </a:lnTo>
                  <a:lnTo>
                    <a:pt x="55282" y="3127"/>
                  </a:lnTo>
                  <a:lnTo>
                    <a:pt x="67931" y="11655"/>
                  </a:lnTo>
                  <a:lnTo>
                    <a:pt x="76458" y="24304"/>
                  </a:lnTo>
                  <a:lnTo>
                    <a:pt x="79586" y="39793"/>
                  </a:lnTo>
                  <a:lnTo>
                    <a:pt x="76458" y="55283"/>
                  </a:lnTo>
                  <a:lnTo>
                    <a:pt x="67931" y="67931"/>
                  </a:lnTo>
                  <a:lnTo>
                    <a:pt x="55282" y="76460"/>
                  </a:lnTo>
                  <a:lnTo>
                    <a:pt x="39793" y="79587"/>
                  </a:lnTo>
                  <a:lnTo>
                    <a:pt x="24303" y="76460"/>
                  </a:lnTo>
                  <a:lnTo>
                    <a:pt x="11655" y="67931"/>
                  </a:lnTo>
                  <a:lnTo>
                    <a:pt x="3127" y="55283"/>
                  </a:lnTo>
                  <a:lnTo>
                    <a:pt x="0" y="39793"/>
                  </a:lnTo>
                  <a:close/>
                </a:path>
              </a:pathLst>
            </a:custGeom>
            <a:ln w="30479">
              <a:solidFill>
                <a:srgbClr val="000000"/>
              </a:solidFill>
            </a:ln>
          </p:spPr>
          <p:txBody>
            <a:bodyPr wrap="square" lIns="0" tIns="0" rIns="0" bIns="0" rtlCol="0"/>
            <a:lstStyle/>
            <a:p>
              <a:endParaRPr sz="1588"/>
            </a:p>
          </p:txBody>
        </p:sp>
        <p:pic>
          <p:nvPicPr>
            <p:cNvPr id="87" name="object 87"/>
            <p:cNvPicPr/>
            <p:nvPr/>
          </p:nvPicPr>
          <p:blipFill>
            <a:blip r:embed="rId7" cstate="print"/>
            <a:stretch>
              <a:fillRect/>
            </a:stretch>
          </p:blipFill>
          <p:spPr>
            <a:xfrm>
              <a:off x="1464105" y="4312919"/>
              <a:ext cx="110067" cy="110066"/>
            </a:xfrm>
            <a:prstGeom prst="rect">
              <a:avLst/>
            </a:prstGeom>
          </p:spPr>
        </p:pic>
        <p:sp>
          <p:nvSpPr>
            <p:cNvPr id="88" name="object 88"/>
            <p:cNvSpPr/>
            <p:nvPr/>
          </p:nvSpPr>
          <p:spPr>
            <a:xfrm>
              <a:off x="3516425" y="5633719"/>
              <a:ext cx="80010" cy="80010"/>
            </a:xfrm>
            <a:custGeom>
              <a:avLst/>
              <a:gdLst/>
              <a:ahLst/>
              <a:cxnLst/>
              <a:rect l="l" t="t" r="r" b="b"/>
              <a:pathLst>
                <a:path w="80010" h="80010">
                  <a:moveTo>
                    <a:pt x="39792" y="0"/>
                  </a:moveTo>
                  <a:lnTo>
                    <a:pt x="24303" y="3127"/>
                  </a:lnTo>
                  <a:lnTo>
                    <a:pt x="11654" y="11655"/>
                  </a:lnTo>
                  <a:lnTo>
                    <a:pt x="3127" y="24304"/>
                  </a:lnTo>
                  <a:lnTo>
                    <a:pt x="0" y="39794"/>
                  </a:lnTo>
                  <a:lnTo>
                    <a:pt x="3127" y="55283"/>
                  </a:lnTo>
                  <a:lnTo>
                    <a:pt x="11654" y="67932"/>
                  </a:lnTo>
                  <a:lnTo>
                    <a:pt x="24303" y="76460"/>
                  </a:lnTo>
                  <a:lnTo>
                    <a:pt x="39792" y="79587"/>
                  </a:lnTo>
                  <a:lnTo>
                    <a:pt x="55282" y="76460"/>
                  </a:lnTo>
                  <a:lnTo>
                    <a:pt x="67930" y="67932"/>
                  </a:lnTo>
                  <a:lnTo>
                    <a:pt x="76458" y="55283"/>
                  </a:lnTo>
                  <a:lnTo>
                    <a:pt x="79585" y="39794"/>
                  </a:lnTo>
                  <a:lnTo>
                    <a:pt x="76458" y="24304"/>
                  </a:lnTo>
                  <a:lnTo>
                    <a:pt x="67930" y="11655"/>
                  </a:lnTo>
                  <a:lnTo>
                    <a:pt x="55282" y="3127"/>
                  </a:lnTo>
                  <a:lnTo>
                    <a:pt x="39792" y="0"/>
                  </a:lnTo>
                  <a:close/>
                </a:path>
              </a:pathLst>
            </a:custGeom>
            <a:solidFill>
              <a:srgbClr val="000000"/>
            </a:solidFill>
          </p:spPr>
          <p:txBody>
            <a:bodyPr wrap="square" lIns="0" tIns="0" rIns="0" bIns="0" rtlCol="0"/>
            <a:lstStyle/>
            <a:p>
              <a:endParaRPr sz="1588"/>
            </a:p>
          </p:txBody>
        </p:sp>
        <p:sp>
          <p:nvSpPr>
            <p:cNvPr id="89" name="object 89"/>
            <p:cNvSpPr/>
            <p:nvPr/>
          </p:nvSpPr>
          <p:spPr>
            <a:xfrm>
              <a:off x="3516425" y="5633719"/>
              <a:ext cx="80010" cy="80010"/>
            </a:xfrm>
            <a:custGeom>
              <a:avLst/>
              <a:gdLst/>
              <a:ahLst/>
              <a:cxnLst/>
              <a:rect l="l" t="t" r="r" b="b"/>
              <a:pathLst>
                <a:path w="80010" h="80010">
                  <a:moveTo>
                    <a:pt x="0" y="39793"/>
                  </a:moveTo>
                  <a:lnTo>
                    <a:pt x="3127" y="24304"/>
                  </a:lnTo>
                  <a:lnTo>
                    <a:pt x="11655" y="11655"/>
                  </a:lnTo>
                  <a:lnTo>
                    <a:pt x="24303" y="3127"/>
                  </a:lnTo>
                  <a:lnTo>
                    <a:pt x="39793" y="0"/>
                  </a:lnTo>
                  <a:lnTo>
                    <a:pt x="55282" y="3127"/>
                  </a:lnTo>
                  <a:lnTo>
                    <a:pt x="67931" y="11655"/>
                  </a:lnTo>
                  <a:lnTo>
                    <a:pt x="76458" y="24304"/>
                  </a:lnTo>
                  <a:lnTo>
                    <a:pt x="79586" y="39793"/>
                  </a:lnTo>
                  <a:lnTo>
                    <a:pt x="76458" y="55283"/>
                  </a:lnTo>
                  <a:lnTo>
                    <a:pt x="67931" y="67931"/>
                  </a:lnTo>
                  <a:lnTo>
                    <a:pt x="55282" y="76460"/>
                  </a:lnTo>
                  <a:lnTo>
                    <a:pt x="39793" y="79587"/>
                  </a:lnTo>
                  <a:lnTo>
                    <a:pt x="24303" y="76460"/>
                  </a:lnTo>
                  <a:lnTo>
                    <a:pt x="11655" y="67931"/>
                  </a:lnTo>
                  <a:lnTo>
                    <a:pt x="3127" y="55283"/>
                  </a:lnTo>
                  <a:lnTo>
                    <a:pt x="0" y="39793"/>
                  </a:lnTo>
                  <a:close/>
                </a:path>
              </a:pathLst>
            </a:custGeom>
            <a:ln w="30479">
              <a:solidFill>
                <a:srgbClr val="000000"/>
              </a:solidFill>
            </a:ln>
          </p:spPr>
          <p:txBody>
            <a:bodyPr wrap="square" lIns="0" tIns="0" rIns="0" bIns="0" rtlCol="0"/>
            <a:lstStyle/>
            <a:p>
              <a:endParaRPr sz="1588"/>
            </a:p>
          </p:txBody>
        </p:sp>
        <p:pic>
          <p:nvPicPr>
            <p:cNvPr id="90" name="object 90"/>
            <p:cNvPicPr/>
            <p:nvPr/>
          </p:nvPicPr>
          <p:blipFill>
            <a:blip r:embed="rId5" cstate="print"/>
            <a:stretch>
              <a:fillRect/>
            </a:stretch>
          </p:blipFill>
          <p:spPr>
            <a:xfrm>
              <a:off x="5539958" y="2612814"/>
              <a:ext cx="110066" cy="110066"/>
            </a:xfrm>
            <a:prstGeom prst="rect">
              <a:avLst/>
            </a:prstGeom>
          </p:spPr>
        </p:pic>
      </p:grpSp>
      <p:sp>
        <p:nvSpPr>
          <p:cNvPr id="91" name="object 91"/>
          <p:cNvSpPr txBox="1"/>
          <p:nvPr/>
        </p:nvSpPr>
        <p:spPr>
          <a:xfrm>
            <a:off x="3228980" y="2335305"/>
            <a:ext cx="2867585" cy="215089"/>
          </a:xfrm>
          <a:prstGeom prst="rect">
            <a:avLst/>
          </a:prstGeom>
        </p:spPr>
        <p:txBody>
          <a:bodyPr vert="horz" wrap="square" lIns="0" tIns="11206" rIns="0" bIns="0" rtlCol="0">
            <a:spAutoFit/>
          </a:bodyPr>
          <a:lstStyle/>
          <a:p>
            <a:pPr marL="11206">
              <a:spcBef>
                <a:spcPts val="88"/>
              </a:spcBef>
              <a:tabLst>
                <a:tab pos="1926394" algn="l"/>
              </a:tabLst>
            </a:pPr>
            <a:r>
              <a:rPr sz="1985" baseline="1851" dirty="0">
                <a:latin typeface="Times New Roman"/>
                <a:cs typeface="Times New Roman"/>
              </a:rPr>
              <a:t>Next</a:t>
            </a:r>
            <a:r>
              <a:rPr sz="1985" spc="-59" baseline="1851" dirty="0">
                <a:latin typeface="Times New Roman"/>
                <a:cs typeface="Times New Roman"/>
              </a:rPr>
              <a:t> </a:t>
            </a:r>
            <a:r>
              <a:rPr sz="1985" baseline="1851" dirty="0">
                <a:latin typeface="Times New Roman"/>
                <a:cs typeface="Times New Roman"/>
              </a:rPr>
              <a:t>SEQ</a:t>
            </a:r>
            <a:r>
              <a:rPr sz="1985" spc="-53" baseline="1851" dirty="0">
                <a:latin typeface="Times New Roman"/>
                <a:cs typeface="Times New Roman"/>
              </a:rPr>
              <a:t> </a:t>
            </a:r>
            <a:r>
              <a:rPr sz="1985" spc="-33" baseline="1851" dirty="0">
                <a:latin typeface="Times New Roman"/>
                <a:cs typeface="Times New Roman"/>
              </a:rPr>
              <a:t>PC</a:t>
            </a:r>
            <a:r>
              <a:rPr sz="1985" baseline="1851" dirty="0">
                <a:latin typeface="Times New Roman"/>
                <a:cs typeface="Times New Roman"/>
              </a:rPr>
              <a:t>	</a:t>
            </a:r>
            <a:r>
              <a:rPr sz="1324" dirty="0">
                <a:latin typeface="Times New Roman"/>
                <a:cs typeface="Times New Roman"/>
              </a:rPr>
              <a:t>Next</a:t>
            </a:r>
            <a:r>
              <a:rPr sz="1324" spc="-40" dirty="0">
                <a:latin typeface="Times New Roman"/>
                <a:cs typeface="Times New Roman"/>
              </a:rPr>
              <a:t> </a:t>
            </a:r>
            <a:r>
              <a:rPr sz="1324" dirty="0">
                <a:latin typeface="Times New Roman"/>
                <a:cs typeface="Times New Roman"/>
              </a:rPr>
              <a:t>SEQ</a:t>
            </a:r>
            <a:r>
              <a:rPr sz="1324" spc="-35"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92" name="object 92"/>
          <p:cNvSpPr txBox="1"/>
          <p:nvPr/>
        </p:nvSpPr>
        <p:spPr>
          <a:xfrm>
            <a:off x="4005175" y="5399442"/>
            <a:ext cx="221876"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93" name="object 93"/>
          <p:cNvSpPr txBox="1"/>
          <p:nvPr/>
        </p:nvSpPr>
        <p:spPr>
          <a:xfrm>
            <a:off x="5340916" y="5399442"/>
            <a:ext cx="221876"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94" name="object 94"/>
          <p:cNvSpPr txBox="1"/>
          <p:nvPr/>
        </p:nvSpPr>
        <p:spPr>
          <a:xfrm>
            <a:off x="6918704" y="5399442"/>
            <a:ext cx="221876"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95" name="object 95"/>
          <p:cNvSpPr txBox="1"/>
          <p:nvPr/>
        </p:nvSpPr>
        <p:spPr>
          <a:xfrm>
            <a:off x="995274" y="1601992"/>
            <a:ext cx="1585071" cy="784852"/>
          </a:xfrm>
          <a:prstGeom prst="rect">
            <a:avLst/>
          </a:prstGeom>
        </p:spPr>
        <p:txBody>
          <a:bodyPr vert="horz" wrap="square" lIns="0" tIns="8404" rIns="0" bIns="0" rtlCol="0">
            <a:spAutoFit/>
          </a:bodyPr>
          <a:lstStyle/>
          <a:p>
            <a:pPr marL="803505" marR="4483" indent="-257189">
              <a:lnSpc>
                <a:spcPct val="101099"/>
              </a:lnSpc>
              <a:spcBef>
                <a:spcPts val="66"/>
              </a:spcBef>
            </a:pPr>
            <a:r>
              <a:rPr sz="1677" b="1" spc="-9" dirty="0">
                <a:latin typeface="Times New Roman"/>
                <a:cs typeface="Times New Roman"/>
              </a:rPr>
              <a:t>Instruction Fetch</a:t>
            </a:r>
            <a:endParaRPr sz="1677">
              <a:latin typeface="Times New Roman"/>
              <a:cs typeface="Times New Roman"/>
            </a:endParaRPr>
          </a:p>
          <a:p>
            <a:pPr marL="11206">
              <a:spcBef>
                <a:spcPts val="415"/>
              </a:spcBef>
            </a:pPr>
            <a:r>
              <a:rPr sz="1324" dirty="0">
                <a:latin typeface="Times New Roman"/>
                <a:cs typeface="Times New Roman"/>
              </a:rPr>
              <a:t>Next</a:t>
            </a:r>
            <a:r>
              <a:rPr sz="1324" spc="-31"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96" name="object 96"/>
          <p:cNvSpPr txBox="1"/>
          <p:nvPr/>
        </p:nvSpPr>
        <p:spPr>
          <a:xfrm>
            <a:off x="8602233" y="4803140"/>
            <a:ext cx="192360" cy="651622"/>
          </a:xfrm>
          <a:prstGeom prst="rect">
            <a:avLst/>
          </a:prstGeom>
        </p:spPr>
        <p:txBody>
          <a:bodyPr vert="vert270" wrap="square" lIns="0" tIns="0" rIns="0" bIns="0" rtlCol="0">
            <a:spAutoFit/>
          </a:bodyPr>
          <a:lstStyle/>
          <a:p>
            <a:pPr marL="11206">
              <a:lnSpc>
                <a:spcPts val="1531"/>
              </a:lnSpc>
            </a:pPr>
            <a:r>
              <a:rPr sz="1324" dirty="0">
                <a:latin typeface="Times New Roman"/>
                <a:cs typeface="Times New Roman"/>
              </a:rPr>
              <a:t>WB</a:t>
            </a:r>
            <a:r>
              <a:rPr sz="1324" spc="-18" dirty="0">
                <a:latin typeface="Times New Roman"/>
                <a:cs typeface="Times New Roman"/>
              </a:rPr>
              <a:t> Data</a:t>
            </a:r>
            <a:endParaRPr sz="1324">
              <a:latin typeface="Times New Roman"/>
              <a:cs typeface="Times New Roman"/>
            </a:endParaRPr>
          </a:p>
        </p:txBody>
      </p:sp>
      <p:sp>
        <p:nvSpPr>
          <p:cNvPr id="97" name="object 97"/>
          <p:cNvSpPr/>
          <p:nvPr/>
        </p:nvSpPr>
        <p:spPr>
          <a:xfrm>
            <a:off x="1042339" y="3285565"/>
            <a:ext cx="286871" cy="1147482"/>
          </a:xfrm>
          <a:custGeom>
            <a:avLst/>
            <a:gdLst/>
            <a:ahLst/>
            <a:cxnLst/>
            <a:rect l="l" t="t" r="r" b="b"/>
            <a:pathLst>
              <a:path w="325119" h="1300479">
                <a:moveTo>
                  <a:pt x="325119" y="0"/>
                </a:moveTo>
                <a:lnTo>
                  <a:pt x="0" y="0"/>
                </a:lnTo>
                <a:lnTo>
                  <a:pt x="0" y="1300480"/>
                </a:lnTo>
                <a:lnTo>
                  <a:pt x="325119" y="1300480"/>
                </a:lnTo>
                <a:lnTo>
                  <a:pt x="325119" y="0"/>
                </a:lnTo>
                <a:close/>
              </a:path>
            </a:pathLst>
          </a:custGeom>
          <a:solidFill>
            <a:srgbClr val="07F707"/>
          </a:solidFill>
        </p:spPr>
        <p:txBody>
          <a:bodyPr wrap="square" lIns="0" tIns="0" rIns="0" bIns="0" rtlCol="0"/>
          <a:lstStyle/>
          <a:p>
            <a:endParaRPr sz="1588"/>
          </a:p>
        </p:txBody>
      </p:sp>
      <p:sp>
        <p:nvSpPr>
          <p:cNvPr id="98" name="object 98"/>
          <p:cNvSpPr txBox="1"/>
          <p:nvPr/>
        </p:nvSpPr>
        <p:spPr>
          <a:xfrm>
            <a:off x="1071126" y="3285565"/>
            <a:ext cx="258084" cy="1147482"/>
          </a:xfrm>
          <a:prstGeom prst="rect">
            <a:avLst/>
          </a:prstGeom>
          <a:ln w="30479">
            <a:solidFill>
              <a:srgbClr val="000000"/>
            </a:solidFill>
          </a:ln>
        </p:spPr>
        <p:txBody>
          <a:bodyPr vert="vert" wrap="square" lIns="0" tIns="13447" rIns="0" bIns="0" rtlCol="0">
            <a:spAutoFit/>
          </a:bodyPr>
          <a:lstStyle/>
          <a:p>
            <a:pPr marL="221328">
              <a:spcBef>
                <a:spcPts val="106"/>
              </a:spcBef>
            </a:pPr>
            <a:r>
              <a:rPr sz="1677" spc="-9" dirty="0">
                <a:latin typeface="Times New Roman"/>
                <a:cs typeface="Times New Roman"/>
              </a:rPr>
              <a:t>Address</a:t>
            </a:r>
            <a:endParaRPr sz="1677">
              <a:latin typeface="Times New Roman"/>
              <a:cs typeface="Times New Roman"/>
            </a:endParaRPr>
          </a:p>
        </p:txBody>
      </p:sp>
      <p:grpSp>
        <p:nvGrpSpPr>
          <p:cNvPr id="99" name="object 99"/>
          <p:cNvGrpSpPr/>
          <p:nvPr/>
        </p:nvGrpSpPr>
        <p:grpSpPr>
          <a:xfrm>
            <a:off x="1040845" y="2218765"/>
            <a:ext cx="6104964" cy="2236694"/>
            <a:chOff x="1027224" y="2514600"/>
            <a:chExt cx="6918959" cy="2534920"/>
          </a:xfrm>
        </p:grpSpPr>
        <p:sp>
          <p:nvSpPr>
            <p:cNvPr id="100" name="object 100"/>
            <p:cNvSpPr/>
            <p:nvPr/>
          </p:nvSpPr>
          <p:spPr>
            <a:xfrm>
              <a:off x="1042464" y="4790439"/>
              <a:ext cx="296545" cy="243840"/>
            </a:xfrm>
            <a:custGeom>
              <a:avLst/>
              <a:gdLst/>
              <a:ahLst/>
              <a:cxnLst/>
              <a:rect l="l" t="t" r="r" b="b"/>
              <a:pathLst>
                <a:path w="296544" h="243839">
                  <a:moveTo>
                    <a:pt x="0" y="243839"/>
                  </a:moveTo>
                  <a:lnTo>
                    <a:pt x="148166" y="0"/>
                  </a:lnTo>
                  <a:lnTo>
                    <a:pt x="296333" y="243839"/>
                  </a:lnTo>
                  <a:lnTo>
                    <a:pt x="0" y="243839"/>
                  </a:lnTo>
                  <a:close/>
                </a:path>
              </a:pathLst>
            </a:custGeom>
            <a:ln w="30479">
              <a:solidFill>
                <a:srgbClr val="000000"/>
              </a:solidFill>
            </a:ln>
          </p:spPr>
          <p:txBody>
            <a:bodyPr wrap="square" lIns="0" tIns="0" rIns="0" bIns="0" rtlCol="0"/>
            <a:lstStyle/>
            <a:p>
              <a:endParaRPr sz="1588"/>
            </a:p>
          </p:txBody>
        </p:sp>
        <p:sp>
          <p:nvSpPr>
            <p:cNvPr id="101" name="object 101"/>
            <p:cNvSpPr/>
            <p:nvPr/>
          </p:nvSpPr>
          <p:spPr>
            <a:xfrm>
              <a:off x="7707425" y="2529839"/>
              <a:ext cx="223520" cy="589280"/>
            </a:xfrm>
            <a:custGeom>
              <a:avLst/>
              <a:gdLst/>
              <a:ahLst/>
              <a:cxnLst/>
              <a:rect l="l" t="t" r="r" b="b"/>
              <a:pathLst>
                <a:path w="223520" h="589280">
                  <a:moveTo>
                    <a:pt x="111759" y="0"/>
                  </a:moveTo>
                  <a:lnTo>
                    <a:pt x="62610" y="29947"/>
                  </a:lnTo>
                  <a:lnTo>
                    <a:pt x="41859" y="64729"/>
                  </a:lnTo>
                  <a:lnTo>
                    <a:pt x="24552" y="110357"/>
                  </a:lnTo>
                  <a:lnTo>
                    <a:pt x="11359" y="165064"/>
                  </a:lnTo>
                  <a:lnTo>
                    <a:pt x="2951" y="227081"/>
                  </a:lnTo>
                  <a:lnTo>
                    <a:pt x="0" y="294639"/>
                  </a:lnTo>
                  <a:lnTo>
                    <a:pt x="2951" y="362198"/>
                  </a:lnTo>
                  <a:lnTo>
                    <a:pt x="11359" y="424215"/>
                  </a:lnTo>
                  <a:lnTo>
                    <a:pt x="24552" y="478922"/>
                  </a:lnTo>
                  <a:lnTo>
                    <a:pt x="41859" y="524550"/>
                  </a:lnTo>
                  <a:lnTo>
                    <a:pt x="62610" y="559332"/>
                  </a:lnTo>
                  <a:lnTo>
                    <a:pt x="111759" y="589280"/>
                  </a:lnTo>
                  <a:lnTo>
                    <a:pt x="137385" y="581498"/>
                  </a:lnTo>
                  <a:lnTo>
                    <a:pt x="181660" y="524550"/>
                  </a:lnTo>
                  <a:lnTo>
                    <a:pt x="198967" y="478922"/>
                  </a:lnTo>
                  <a:lnTo>
                    <a:pt x="212160" y="424215"/>
                  </a:lnTo>
                  <a:lnTo>
                    <a:pt x="220568" y="362198"/>
                  </a:lnTo>
                  <a:lnTo>
                    <a:pt x="223519" y="294639"/>
                  </a:lnTo>
                  <a:lnTo>
                    <a:pt x="220568" y="227081"/>
                  </a:lnTo>
                  <a:lnTo>
                    <a:pt x="212160" y="165064"/>
                  </a:lnTo>
                  <a:lnTo>
                    <a:pt x="198967" y="110357"/>
                  </a:lnTo>
                  <a:lnTo>
                    <a:pt x="181660" y="64729"/>
                  </a:lnTo>
                  <a:lnTo>
                    <a:pt x="160909" y="29947"/>
                  </a:lnTo>
                  <a:lnTo>
                    <a:pt x="111759" y="0"/>
                  </a:lnTo>
                  <a:close/>
                </a:path>
              </a:pathLst>
            </a:custGeom>
            <a:solidFill>
              <a:srgbClr val="07F707"/>
            </a:solidFill>
          </p:spPr>
          <p:txBody>
            <a:bodyPr wrap="square" lIns="0" tIns="0" rIns="0" bIns="0" rtlCol="0"/>
            <a:lstStyle/>
            <a:p>
              <a:endParaRPr sz="1588"/>
            </a:p>
          </p:txBody>
        </p:sp>
        <p:sp>
          <p:nvSpPr>
            <p:cNvPr id="102" name="object 102"/>
            <p:cNvSpPr/>
            <p:nvPr/>
          </p:nvSpPr>
          <p:spPr>
            <a:xfrm>
              <a:off x="7707425" y="2529839"/>
              <a:ext cx="223520" cy="589280"/>
            </a:xfrm>
            <a:custGeom>
              <a:avLst/>
              <a:gdLst/>
              <a:ahLst/>
              <a:cxnLst/>
              <a:rect l="l" t="t" r="r" b="b"/>
              <a:pathLst>
                <a:path w="223520" h="589280">
                  <a:moveTo>
                    <a:pt x="0" y="294639"/>
                  </a:moveTo>
                  <a:lnTo>
                    <a:pt x="2951" y="227081"/>
                  </a:lnTo>
                  <a:lnTo>
                    <a:pt x="11359" y="165064"/>
                  </a:lnTo>
                  <a:lnTo>
                    <a:pt x="24552" y="110357"/>
                  </a:lnTo>
                  <a:lnTo>
                    <a:pt x="41859" y="64729"/>
                  </a:lnTo>
                  <a:lnTo>
                    <a:pt x="62610" y="29947"/>
                  </a:lnTo>
                  <a:lnTo>
                    <a:pt x="111759" y="0"/>
                  </a:lnTo>
                  <a:lnTo>
                    <a:pt x="137385" y="7781"/>
                  </a:lnTo>
                  <a:lnTo>
                    <a:pt x="181660" y="64729"/>
                  </a:lnTo>
                  <a:lnTo>
                    <a:pt x="198967" y="110357"/>
                  </a:lnTo>
                  <a:lnTo>
                    <a:pt x="212160" y="165064"/>
                  </a:lnTo>
                  <a:lnTo>
                    <a:pt x="220568" y="227081"/>
                  </a:lnTo>
                  <a:lnTo>
                    <a:pt x="223519" y="294639"/>
                  </a:lnTo>
                  <a:lnTo>
                    <a:pt x="220568" y="362198"/>
                  </a:lnTo>
                  <a:lnTo>
                    <a:pt x="212160" y="424215"/>
                  </a:lnTo>
                  <a:lnTo>
                    <a:pt x="198967" y="478922"/>
                  </a:lnTo>
                  <a:lnTo>
                    <a:pt x="181660" y="524550"/>
                  </a:lnTo>
                  <a:lnTo>
                    <a:pt x="160909" y="559332"/>
                  </a:lnTo>
                  <a:lnTo>
                    <a:pt x="111759" y="589279"/>
                  </a:lnTo>
                  <a:lnTo>
                    <a:pt x="86134" y="581498"/>
                  </a:lnTo>
                  <a:lnTo>
                    <a:pt x="41859" y="524550"/>
                  </a:lnTo>
                  <a:lnTo>
                    <a:pt x="24552" y="478922"/>
                  </a:lnTo>
                  <a:lnTo>
                    <a:pt x="11359" y="424215"/>
                  </a:lnTo>
                  <a:lnTo>
                    <a:pt x="2951" y="362198"/>
                  </a:lnTo>
                  <a:lnTo>
                    <a:pt x="0" y="294639"/>
                  </a:lnTo>
                  <a:close/>
                </a:path>
              </a:pathLst>
            </a:custGeom>
            <a:ln w="30479">
              <a:solidFill>
                <a:srgbClr val="000000"/>
              </a:solidFill>
            </a:ln>
          </p:spPr>
          <p:txBody>
            <a:bodyPr wrap="square" lIns="0" tIns="0" rIns="0" bIns="0" rtlCol="0"/>
            <a:lstStyle/>
            <a:p>
              <a:endParaRPr sz="1588"/>
            </a:p>
          </p:txBody>
        </p:sp>
      </p:grpSp>
      <p:sp>
        <p:nvSpPr>
          <p:cNvPr id="103" name="object 103"/>
          <p:cNvSpPr txBox="1"/>
          <p:nvPr/>
        </p:nvSpPr>
        <p:spPr>
          <a:xfrm>
            <a:off x="3476258" y="3170816"/>
            <a:ext cx="229160"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RS1</a:t>
            </a:r>
            <a:endParaRPr sz="971">
              <a:latin typeface="Times New Roman"/>
              <a:cs typeface="Times New Roman"/>
            </a:endParaRPr>
          </a:p>
        </p:txBody>
      </p:sp>
      <p:sp>
        <p:nvSpPr>
          <p:cNvPr id="116" name="object 116"/>
          <p:cNvSpPr txBox="1"/>
          <p:nvPr/>
        </p:nvSpPr>
        <p:spPr>
          <a:xfrm>
            <a:off x="465296" y="6349816"/>
            <a:ext cx="2006092" cy="243656"/>
          </a:xfrm>
          <a:prstGeom prst="rect">
            <a:avLst/>
          </a:prstGeom>
          <a:ln>
            <a:solidFill>
              <a:schemeClr val="bg1">
                <a:lumMod val="65000"/>
              </a:schemeClr>
            </a:solidFill>
          </a:ln>
        </p:spPr>
        <p:txBody>
          <a:bodyPr vert="horz" wrap="square" lIns="0" tIns="0" rIns="0" bIns="0" rtlCol="0">
            <a:spAutoFit/>
          </a:bodyPr>
          <a:lstStyle/>
          <a:p>
            <a:pPr marL="11206">
              <a:lnSpc>
                <a:spcPts val="1924"/>
              </a:lnSpc>
            </a:pPr>
            <a:r>
              <a:rPr sz="1677" b="1" dirty="0">
                <a:solidFill>
                  <a:srgbClr val="FF0000"/>
                </a:solidFill>
                <a:latin typeface="Times New Roman"/>
                <a:cs typeface="Times New Roman"/>
              </a:rPr>
              <a:t>Reg[IR</a:t>
            </a:r>
            <a:r>
              <a:rPr sz="1721" b="1" baseline="-17094" dirty="0">
                <a:solidFill>
                  <a:srgbClr val="FF0000"/>
                </a:solidFill>
                <a:latin typeface="Times New Roman"/>
                <a:cs typeface="Times New Roman"/>
              </a:rPr>
              <a:t>rd</a:t>
            </a:r>
            <a:r>
              <a:rPr sz="1677" b="1" dirty="0">
                <a:solidFill>
                  <a:srgbClr val="FF0000"/>
                </a:solidFill>
                <a:latin typeface="Times New Roman"/>
                <a:cs typeface="Times New Roman"/>
              </a:rPr>
              <a:t>]</a:t>
            </a:r>
            <a:r>
              <a:rPr sz="1677" b="1" spc="22" dirty="0">
                <a:solidFill>
                  <a:srgbClr val="FF0000"/>
                </a:solidFill>
                <a:latin typeface="Times New Roman"/>
                <a:cs typeface="Times New Roman"/>
              </a:rPr>
              <a:t> </a:t>
            </a:r>
            <a:r>
              <a:rPr sz="1632" dirty="0">
                <a:solidFill>
                  <a:srgbClr val="FF0000"/>
                </a:solidFill>
                <a:latin typeface="Wingdings"/>
                <a:cs typeface="Wingdings"/>
              </a:rPr>
              <a:t></a:t>
            </a:r>
            <a:r>
              <a:rPr sz="1632" spc="53" dirty="0">
                <a:solidFill>
                  <a:srgbClr val="FF0000"/>
                </a:solidFill>
                <a:latin typeface="Times New Roman"/>
                <a:cs typeface="Times New Roman"/>
              </a:rPr>
              <a:t> </a:t>
            </a:r>
            <a:r>
              <a:rPr sz="1677" b="1" spc="-22" dirty="0">
                <a:solidFill>
                  <a:srgbClr val="FF0000"/>
                </a:solidFill>
                <a:latin typeface="Times New Roman"/>
                <a:cs typeface="Times New Roman"/>
              </a:rPr>
              <a:t>WB</a:t>
            </a:r>
            <a:r>
              <a:rPr lang="en-US" sz="1677" b="1" spc="-22" dirty="0">
                <a:solidFill>
                  <a:srgbClr val="FF0000"/>
                </a:solidFill>
                <a:latin typeface="Times New Roman"/>
                <a:cs typeface="Times New Roman"/>
              </a:rPr>
              <a:t>    #5</a:t>
            </a:r>
            <a:endParaRPr lang="en-US" sz="1677" dirty="0">
              <a:latin typeface="Times New Roman"/>
              <a:cs typeface="Times New Roman"/>
            </a:endParaRPr>
          </a:p>
        </p:txBody>
      </p:sp>
      <p:sp>
        <p:nvSpPr>
          <p:cNvPr id="104" name="object 104"/>
          <p:cNvSpPr txBox="1"/>
          <p:nvPr/>
        </p:nvSpPr>
        <p:spPr>
          <a:xfrm>
            <a:off x="3485969" y="3458583"/>
            <a:ext cx="229160"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RS2</a:t>
            </a:r>
            <a:endParaRPr sz="971">
              <a:latin typeface="Times New Roman"/>
              <a:cs typeface="Times New Roman"/>
            </a:endParaRPr>
          </a:p>
        </p:txBody>
      </p:sp>
      <p:sp>
        <p:nvSpPr>
          <p:cNvPr id="105" name="object 105"/>
          <p:cNvSpPr txBox="1"/>
          <p:nvPr/>
        </p:nvSpPr>
        <p:spPr>
          <a:xfrm>
            <a:off x="3616704" y="5021132"/>
            <a:ext cx="251572"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Imm</a:t>
            </a:r>
            <a:endParaRPr sz="971">
              <a:latin typeface="Times New Roman"/>
              <a:cs typeface="Times New Roman"/>
            </a:endParaRPr>
          </a:p>
        </p:txBody>
      </p:sp>
      <p:sp>
        <p:nvSpPr>
          <p:cNvPr id="106" name="object 106"/>
          <p:cNvSpPr txBox="1"/>
          <p:nvPr/>
        </p:nvSpPr>
        <p:spPr>
          <a:xfrm>
            <a:off x="6960047" y="2315136"/>
            <a:ext cx="166712" cy="358028"/>
          </a:xfrm>
          <a:prstGeom prst="rect">
            <a:avLst/>
          </a:prstGeom>
        </p:spPr>
        <p:txBody>
          <a:bodyPr vert="vert" wrap="square" lIns="0" tIns="0" rIns="0" bIns="0" rtlCol="0">
            <a:spAutoFit/>
          </a:bodyPr>
          <a:lstStyle/>
          <a:p>
            <a:pPr marL="11206">
              <a:lnSpc>
                <a:spcPts val="1341"/>
              </a:lnSpc>
            </a:pPr>
            <a:r>
              <a:rPr sz="1147" spc="-22" dirty="0">
                <a:latin typeface="Times New Roman"/>
                <a:cs typeface="Times New Roman"/>
              </a:rPr>
              <a:t>MUX</a:t>
            </a:r>
            <a:endParaRPr sz="1147">
              <a:latin typeface="Times New Roman"/>
              <a:cs typeface="Times New Roman"/>
            </a:endParaRPr>
          </a:p>
        </p:txBody>
      </p:sp>
      <p:sp>
        <p:nvSpPr>
          <p:cNvPr id="107" name="object 107"/>
          <p:cNvSpPr txBox="1"/>
          <p:nvPr/>
        </p:nvSpPr>
        <p:spPr>
          <a:xfrm>
            <a:off x="465296" y="4509247"/>
            <a:ext cx="2006092" cy="498439"/>
          </a:xfrm>
          <a:prstGeom prst="rect">
            <a:avLst/>
          </a:prstGeom>
          <a:ln>
            <a:solidFill>
              <a:schemeClr val="bg1">
                <a:lumMod val="65000"/>
              </a:schemeClr>
            </a:solidFill>
          </a:ln>
        </p:spPr>
        <p:txBody>
          <a:bodyPr vert="horz" wrap="square" lIns="0" tIns="36419" rIns="0" bIns="0" rtlCol="0">
            <a:spAutoFit/>
          </a:bodyPr>
          <a:lstStyle/>
          <a:p>
            <a:pPr marL="11206" marR="4483">
              <a:lnSpc>
                <a:spcPts val="1844"/>
              </a:lnSpc>
              <a:spcBef>
                <a:spcPts val="287"/>
              </a:spcBef>
              <a:tabLst>
                <a:tab pos="1731961" algn="l"/>
              </a:tabLst>
            </a:pPr>
            <a:r>
              <a:rPr sz="1677" b="1" dirty="0">
                <a:solidFill>
                  <a:srgbClr val="FF0000"/>
                </a:solidFill>
                <a:latin typeface="Times New Roman"/>
                <a:cs typeface="Times New Roman"/>
              </a:rPr>
              <a:t>IR</a:t>
            </a:r>
            <a:r>
              <a:rPr sz="1677" b="1" spc="22" dirty="0">
                <a:solidFill>
                  <a:srgbClr val="FF0000"/>
                </a:solidFill>
                <a:latin typeface="Times New Roman"/>
                <a:cs typeface="Times New Roman"/>
              </a:rPr>
              <a:t> </a:t>
            </a:r>
            <a:r>
              <a:rPr sz="1632" dirty="0">
                <a:solidFill>
                  <a:srgbClr val="FF0000"/>
                </a:solidFill>
                <a:latin typeface="Wingdings"/>
                <a:cs typeface="Wingdings"/>
              </a:rPr>
              <a:t></a:t>
            </a:r>
            <a:r>
              <a:rPr sz="1632" spc="79" dirty="0">
                <a:solidFill>
                  <a:srgbClr val="FF0000"/>
                </a:solidFill>
                <a:latin typeface="Times New Roman"/>
                <a:cs typeface="Times New Roman"/>
              </a:rPr>
              <a:t> </a:t>
            </a:r>
            <a:r>
              <a:rPr sz="1677" b="1" spc="-9" dirty="0">
                <a:solidFill>
                  <a:srgbClr val="FF0000"/>
                </a:solidFill>
                <a:latin typeface="Times New Roman"/>
                <a:cs typeface="Times New Roman"/>
              </a:rPr>
              <a:t>mem[PC];</a:t>
            </a:r>
            <a:r>
              <a:rPr sz="1677" b="1" dirty="0">
                <a:solidFill>
                  <a:srgbClr val="FF0000"/>
                </a:solidFill>
                <a:latin typeface="Times New Roman"/>
                <a:cs typeface="Times New Roman"/>
              </a:rPr>
              <a:t>	</a:t>
            </a:r>
            <a:r>
              <a:rPr lang="en-US" sz="1677" b="1" dirty="0">
                <a:solidFill>
                  <a:srgbClr val="FF0000"/>
                </a:solidFill>
                <a:latin typeface="Times New Roman"/>
                <a:cs typeface="Times New Roman"/>
              </a:rPr>
              <a:t> </a:t>
            </a:r>
            <a:r>
              <a:rPr sz="1677" b="1" spc="-22" dirty="0">
                <a:solidFill>
                  <a:srgbClr val="FF0000"/>
                </a:solidFill>
                <a:latin typeface="Times New Roman"/>
                <a:cs typeface="Times New Roman"/>
              </a:rPr>
              <a:t>#1 </a:t>
            </a:r>
            <a:r>
              <a:rPr sz="1677" b="1" dirty="0">
                <a:solidFill>
                  <a:srgbClr val="FF0000"/>
                </a:solidFill>
                <a:latin typeface="Times New Roman"/>
                <a:cs typeface="Times New Roman"/>
              </a:rPr>
              <a:t>PC</a:t>
            </a:r>
            <a:r>
              <a:rPr sz="1677" b="1" spc="13" dirty="0">
                <a:solidFill>
                  <a:srgbClr val="FF0000"/>
                </a:solidFill>
                <a:latin typeface="Times New Roman"/>
                <a:cs typeface="Times New Roman"/>
              </a:rPr>
              <a:t> </a:t>
            </a:r>
            <a:r>
              <a:rPr sz="1632" dirty="0">
                <a:solidFill>
                  <a:srgbClr val="FF0000"/>
                </a:solidFill>
                <a:latin typeface="Wingdings"/>
                <a:cs typeface="Wingdings"/>
              </a:rPr>
              <a:t></a:t>
            </a:r>
            <a:r>
              <a:rPr sz="1632" spc="71" dirty="0">
                <a:solidFill>
                  <a:srgbClr val="FF0000"/>
                </a:solidFill>
                <a:latin typeface="Times New Roman"/>
                <a:cs typeface="Times New Roman"/>
              </a:rPr>
              <a:t> </a:t>
            </a:r>
            <a:r>
              <a:rPr sz="1677" b="1" dirty="0">
                <a:solidFill>
                  <a:srgbClr val="FF0000"/>
                </a:solidFill>
                <a:latin typeface="Times New Roman"/>
                <a:cs typeface="Times New Roman"/>
              </a:rPr>
              <a:t>PC</a:t>
            </a:r>
            <a:r>
              <a:rPr sz="1677" b="1" spc="13" dirty="0">
                <a:solidFill>
                  <a:srgbClr val="FF0000"/>
                </a:solidFill>
                <a:latin typeface="Times New Roman"/>
                <a:cs typeface="Times New Roman"/>
              </a:rPr>
              <a:t> </a:t>
            </a:r>
            <a:r>
              <a:rPr sz="1677" b="1" dirty="0">
                <a:solidFill>
                  <a:srgbClr val="FF0000"/>
                </a:solidFill>
                <a:latin typeface="Times New Roman"/>
                <a:cs typeface="Times New Roman"/>
              </a:rPr>
              <a:t>+</a:t>
            </a:r>
            <a:r>
              <a:rPr sz="1677" b="1" spc="13" dirty="0">
                <a:solidFill>
                  <a:srgbClr val="FF0000"/>
                </a:solidFill>
                <a:latin typeface="Times New Roman"/>
                <a:cs typeface="Times New Roman"/>
              </a:rPr>
              <a:t> </a:t>
            </a:r>
            <a:r>
              <a:rPr sz="1677" b="1" spc="-44" dirty="0">
                <a:solidFill>
                  <a:srgbClr val="FF0000"/>
                </a:solidFill>
                <a:latin typeface="Times New Roman"/>
                <a:cs typeface="Times New Roman"/>
              </a:rPr>
              <a:t>4</a:t>
            </a:r>
            <a:endParaRPr sz="1677" dirty="0">
              <a:latin typeface="Times New Roman"/>
              <a:cs typeface="Times New Roman"/>
            </a:endParaRPr>
          </a:p>
        </p:txBody>
      </p:sp>
      <p:sp>
        <p:nvSpPr>
          <p:cNvPr id="108" name="object 108"/>
          <p:cNvSpPr txBox="1"/>
          <p:nvPr/>
        </p:nvSpPr>
        <p:spPr>
          <a:xfrm>
            <a:off x="465295" y="5068645"/>
            <a:ext cx="2006093" cy="559222"/>
          </a:xfrm>
          <a:prstGeom prst="rect">
            <a:avLst/>
          </a:prstGeom>
          <a:ln>
            <a:solidFill>
              <a:schemeClr val="bg1">
                <a:lumMod val="65000"/>
              </a:schemeClr>
            </a:solidFill>
          </a:ln>
        </p:spPr>
        <p:txBody>
          <a:bodyPr vert="horz" wrap="square" lIns="0" tIns="11206" rIns="0" bIns="0" rtlCol="0">
            <a:spAutoFit/>
          </a:bodyPr>
          <a:lstStyle/>
          <a:p>
            <a:pPr marL="11206">
              <a:spcBef>
                <a:spcPts val="88"/>
              </a:spcBef>
              <a:tabLst>
                <a:tab pos="1285383" algn="l"/>
                <a:tab pos="1731961" algn="l"/>
              </a:tabLst>
            </a:pPr>
            <a:r>
              <a:rPr sz="1677" b="1" dirty="0">
                <a:solidFill>
                  <a:srgbClr val="FF0000"/>
                </a:solidFill>
                <a:latin typeface="Times New Roman"/>
                <a:cs typeface="Times New Roman"/>
              </a:rPr>
              <a:t>A</a:t>
            </a:r>
            <a:r>
              <a:rPr sz="1677" b="1" spc="-71" dirty="0">
                <a:solidFill>
                  <a:srgbClr val="FF0000"/>
                </a:solidFill>
                <a:latin typeface="Times New Roman"/>
                <a:cs typeface="Times New Roman"/>
              </a:rPr>
              <a:t> </a:t>
            </a:r>
            <a:r>
              <a:rPr sz="1632" dirty="0">
                <a:solidFill>
                  <a:srgbClr val="FF0000"/>
                </a:solidFill>
                <a:latin typeface="Wingdings"/>
                <a:cs typeface="Wingdings"/>
              </a:rPr>
              <a:t></a:t>
            </a:r>
            <a:r>
              <a:rPr sz="1632" spc="84" dirty="0">
                <a:solidFill>
                  <a:srgbClr val="FF0000"/>
                </a:solidFill>
                <a:latin typeface="Times New Roman"/>
                <a:cs typeface="Times New Roman"/>
              </a:rPr>
              <a:t> </a:t>
            </a:r>
            <a:r>
              <a:rPr sz="1677" b="1" spc="-9" dirty="0">
                <a:solidFill>
                  <a:srgbClr val="FF0000"/>
                </a:solidFill>
                <a:latin typeface="Times New Roman"/>
                <a:cs typeface="Times New Roman"/>
              </a:rPr>
              <a:t>Reg[</a:t>
            </a:r>
            <a:r>
              <a:rPr sz="1677" b="1" spc="-9" dirty="0" err="1">
                <a:solidFill>
                  <a:srgbClr val="FF0000"/>
                </a:solidFill>
                <a:latin typeface="Times New Roman"/>
                <a:cs typeface="Times New Roman"/>
              </a:rPr>
              <a:t>IR</a:t>
            </a:r>
            <a:r>
              <a:rPr lang="en-US" b="1" spc="-22" baseline="-25000" dirty="0" err="1">
                <a:solidFill>
                  <a:srgbClr val="FF0000"/>
                </a:solidFill>
                <a:latin typeface="Times New Roman"/>
                <a:cs typeface="Times New Roman"/>
              </a:rPr>
              <a:t>rs</a:t>
            </a:r>
            <a:r>
              <a:rPr sz="1677" b="1" spc="-22" dirty="0">
                <a:solidFill>
                  <a:srgbClr val="FF0000"/>
                </a:solidFill>
                <a:latin typeface="Times New Roman"/>
                <a:cs typeface="Times New Roman"/>
              </a:rPr>
              <a:t>];</a:t>
            </a:r>
            <a:r>
              <a:rPr sz="1677" b="1" dirty="0">
                <a:solidFill>
                  <a:srgbClr val="FF0000"/>
                </a:solidFill>
                <a:latin typeface="Times New Roman"/>
                <a:cs typeface="Times New Roman"/>
              </a:rPr>
              <a:t>	</a:t>
            </a:r>
            <a:r>
              <a:rPr lang="en-US" sz="1677" b="1" dirty="0">
                <a:solidFill>
                  <a:srgbClr val="FF0000"/>
                </a:solidFill>
                <a:latin typeface="Times New Roman"/>
                <a:cs typeface="Times New Roman"/>
              </a:rPr>
              <a:t> </a:t>
            </a:r>
            <a:r>
              <a:rPr sz="1677" b="1" spc="-22" dirty="0">
                <a:solidFill>
                  <a:srgbClr val="FF0000"/>
                </a:solidFill>
                <a:latin typeface="Times New Roman"/>
                <a:cs typeface="Times New Roman"/>
              </a:rPr>
              <a:t>#2</a:t>
            </a:r>
            <a:endParaRPr lang="en-US" sz="1677" b="1" spc="-22" dirty="0">
              <a:solidFill>
                <a:srgbClr val="FF0000"/>
              </a:solidFill>
              <a:latin typeface="Times New Roman"/>
              <a:cs typeface="Times New Roman"/>
            </a:endParaRPr>
          </a:p>
          <a:p>
            <a:pPr marL="11206">
              <a:spcBef>
                <a:spcPts val="88"/>
              </a:spcBef>
              <a:tabLst>
                <a:tab pos="1285383" algn="l"/>
                <a:tab pos="1731961" algn="l"/>
              </a:tabLst>
            </a:pPr>
            <a:r>
              <a:rPr lang="en-US" sz="1677" b="1" dirty="0">
                <a:solidFill>
                  <a:srgbClr val="FF0000"/>
                </a:solidFill>
                <a:latin typeface="Times New Roman"/>
                <a:cs typeface="Times New Roman"/>
              </a:rPr>
              <a:t>B</a:t>
            </a:r>
            <a:r>
              <a:rPr lang="en-US" sz="1677" b="1" spc="26" dirty="0">
                <a:solidFill>
                  <a:srgbClr val="FF0000"/>
                </a:solidFill>
                <a:latin typeface="Times New Roman"/>
                <a:cs typeface="Times New Roman"/>
              </a:rPr>
              <a:t> </a:t>
            </a:r>
            <a:r>
              <a:rPr lang="en-US" sz="1632" dirty="0">
                <a:solidFill>
                  <a:srgbClr val="FF0000"/>
                </a:solidFill>
                <a:latin typeface="Wingdings"/>
                <a:cs typeface="Wingdings"/>
              </a:rPr>
              <a:t></a:t>
            </a:r>
            <a:r>
              <a:rPr lang="en-US" sz="1632" spc="88" dirty="0">
                <a:solidFill>
                  <a:srgbClr val="FF0000"/>
                </a:solidFill>
                <a:latin typeface="Times New Roman"/>
                <a:cs typeface="Times New Roman"/>
              </a:rPr>
              <a:t> </a:t>
            </a:r>
            <a:r>
              <a:rPr lang="en-US" sz="1677" b="1" spc="-9" dirty="0">
                <a:solidFill>
                  <a:srgbClr val="FF0000"/>
                </a:solidFill>
                <a:latin typeface="Times New Roman"/>
                <a:cs typeface="Times New Roman"/>
              </a:rPr>
              <a:t>Reg[</a:t>
            </a:r>
            <a:r>
              <a:rPr lang="en-US" sz="1677" b="1" spc="-9" dirty="0" err="1">
                <a:solidFill>
                  <a:srgbClr val="FF0000"/>
                </a:solidFill>
                <a:latin typeface="Times New Roman"/>
                <a:cs typeface="Times New Roman"/>
              </a:rPr>
              <a:t>IR</a:t>
            </a:r>
            <a:r>
              <a:rPr lang="en-US" sz="1721" b="1" spc="-13" baseline="-17094" dirty="0" err="1">
                <a:solidFill>
                  <a:srgbClr val="FF0000"/>
                </a:solidFill>
                <a:latin typeface="Times New Roman"/>
                <a:cs typeface="Times New Roman"/>
              </a:rPr>
              <a:t>rt</a:t>
            </a:r>
            <a:r>
              <a:rPr lang="en-US" sz="1677" b="1" spc="-9" dirty="0">
                <a:solidFill>
                  <a:srgbClr val="FF0000"/>
                </a:solidFill>
                <a:latin typeface="Times New Roman"/>
                <a:cs typeface="Times New Roman"/>
              </a:rPr>
              <a:t>]</a:t>
            </a:r>
            <a:endParaRPr lang="en-US" sz="1677" dirty="0">
              <a:latin typeface="Times New Roman"/>
              <a:cs typeface="Times New Roman"/>
            </a:endParaRPr>
          </a:p>
        </p:txBody>
      </p:sp>
      <p:sp>
        <p:nvSpPr>
          <p:cNvPr id="109" name="object 109"/>
          <p:cNvSpPr txBox="1"/>
          <p:nvPr/>
        </p:nvSpPr>
        <p:spPr>
          <a:xfrm>
            <a:off x="465295" y="5695161"/>
            <a:ext cx="2007395" cy="269399"/>
          </a:xfrm>
          <a:prstGeom prst="rect">
            <a:avLst/>
          </a:prstGeom>
          <a:ln>
            <a:solidFill>
              <a:schemeClr val="bg1">
                <a:lumMod val="65000"/>
              </a:schemeClr>
            </a:solidFill>
          </a:ln>
        </p:spPr>
        <p:txBody>
          <a:bodyPr vert="horz" wrap="square" lIns="0" tIns="11206" rIns="0" bIns="0" rtlCol="0">
            <a:spAutoFit/>
          </a:bodyPr>
          <a:lstStyle/>
          <a:p>
            <a:pPr marL="44826">
              <a:spcBef>
                <a:spcPts val="741"/>
              </a:spcBef>
              <a:tabLst>
                <a:tab pos="1777908" algn="l"/>
              </a:tabLst>
            </a:pPr>
            <a:r>
              <a:rPr sz="1677" b="1" dirty="0" err="1">
                <a:solidFill>
                  <a:srgbClr val="FF0000"/>
                </a:solidFill>
                <a:latin typeface="Times New Roman"/>
                <a:cs typeface="Times New Roman"/>
              </a:rPr>
              <a:t>rslt</a:t>
            </a:r>
            <a:r>
              <a:rPr sz="1677" b="1" dirty="0">
                <a:solidFill>
                  <a:srgbClr val="FF0000"/>
                </a:solidFill>
                <a:latin typeface="Times New Roman"/>
                <a:cs typeface="Times New Roman"/>
              </a:rPr>
              <a:t> </a:t>
            </a:r>
            <a:r>
              <a:rPr sz="1632" dirty="0">
                <a:solidFill>
                  <a:srgbClr val="FF0000"/>
                </a:solidFill>
                <a:latin typeface="Wingdings"/>
                <a:cs typeface="Wingdings"/>
              </a:rPr>
              <a:t></a:t>
            </a:r>
            <a:r>
              <a:rPr sz="1632" spc="-26" dirty="0">
                <a:solidFill>
                  <a:srgbClr val="FF0000"/>
                </a:solidFill>
                <a:latin typeface="Times New Roman"/>
                <a:cs typeface="Times New Roman"/>
              </a:rPr>
              <a:t> </a:t>
            </a:r>
            <a:r>
              <a:rPr sz="1677" b="1" dirty="0">
                <a:solidFill>
                  <a:srgbClr val="FF0000"/>
                </a:solidFill>
                <a:latin typeface="Times New Roman"/>
                <a:cs typeface="Times New Roman"/>
              </a:rPr>
              <a:t>A</a:t>
            </a:r>
            <a:r>
              <a:rPr sz="1677" b="1" spc="-84" dirty="0">
                <a:solidFill>
                  <a:srgbClr val="FF0000"/>
                </a:solidFill>
                <a:latin typeface="Times New Roman"/>
                <a:cs typeface="Times New Roman"/>
              </a:rPr>
              <a:t> </a:t>
            </a:r>
            <a:r>
              <a:rPr sz="1677" b="1" dirty="0">
                <a:solidFill>
                  <a:srgbClr val="FF0000"/>
                </a:solidFill>
                <a:latin typeface="Times New Roman"/>
                <a:cs typeface="Times New Roman"/>
              </a:rPr>
              <a:t>op</a:t>
            </a:r>
            <a:r>
              <a:rPr sz="1721" b="1" baseline="-17094" dirty="0">
                <a:solidFill>
                  <a:srgbClr val="FF0000"/>
                </a:solidFill>
                <a:latin typeface="Times New Roman"/>
                <a:cs typeface="Times New Roman"/>
              </a:rPr>
              <a:t>IRop</a:t>
            </a:r>
            <a:r>
              <a:rPr sz="1721" b="1" spc="172" baseline="-17094" dirty="0">
                <a:solidFill>
                  <a:srgbClr val="FF0000"/>
                </a:solidFill>
                <a:latin typeface="Times New Roman"/>
                <a:cs typeface="Times New Roman"/>
              </a:rPr>
              <a:t> </a:t>
            </a:r>
            <a:r>
              <a:rPr sz="1677" b="1" spc="-44" dirty="0">
                <a:solidFill>
                  <a:srgbClr val="FF0000"/>
                </a:solidFill>
                <a:latin typeface="Times New Roman"/>
                <a:cs typeface="Times New Roman"/>
              </a:rPr>
              <a:t>B</a:t>
            </a:r>
            <a:r>
              <a:rPr sz="1677" b="1" dirty="0">
                <a:solidFill>
                  <a:srgbClr val="FF0000"/>
                </a:solidFill>
                <a:latin typeface="Times New Roman"/>
                <a:cs typeface="Times New Roman"/>
              </a:rPr>
              <a:t>	</a:t>
            </a:r>
            <a:r>
              <a:rPr sz="1677" b="1" spc="-22" dirty="0">
                <a:solidFill>
                  <a:srgbClr val="FF0000"/>
                </a:solidFill>
                <a:latin typeface="Times New Roman"/>
                <a:cs typeface="Times New Roman"/>
              </a:rPr>
              <a:t>#3</a:t>
            </a:r>
            <a:endParaRPr sz="1677" dirty="0">
              <a:latin typeface="Times New Roman"/>
              <a:cs typeface="Times New Roman"/>
            </a:endParaRPr>
          </a:p>
        </p:txBody>
      </p:sp>
      <p:sp>
        <p:nvSpPr>
          <p:cNvPr id="110" name="object 110"/>
          <p:cNvSpPr txBox="1"/>
          <p:nvPr/>
        </p:nvSpPr>
        <p:spPr>
          <a:xfrm>
            <a:off x="3196261" y="1287332"/>
            <a:ext cx="1233207" cy="856287"/>
          </a:xfrm>
          <a:prstGeom prst="rect">
            <a:avLst/>
          </a:prstGeom>
        </p:spPr>
        <p:txBody>
          <a:bodyPr vert="horz" wrap="square" lIns="0" tIns="43143" rIns="0" bIns="0" rtlCol="0">
            <a:spAutoFit/>
          </a:bodyPr>
          <a:lstStyle/>
          <a:p>
            <a:pPr marL="165856" algn="ctr">
              <a:spcBef>
                <a:spcPts val="340"/>
              </a:spcBef>
            </a:pPr>
            <a:r>
              <a:rPr sz="1677" b="1" spc="-44" dirty="0">
                <a:latin typeface="Times New Roman"/>
                <a:cs typeface="Times New Roman"/>
              </a:rPr>
              <a:t>2</a:t>
            </a:r>
            <a:endParaRPr sz="1677">
              <a:latin typeface="Times New Roman"/>
              <a:cs typeface="Times New Roman"/>
            </a:endParaRPr>
          </a:p>
          <a:p>
            <a:pPr marL="11206" marR="4483" algn="ctr">
              <a:spcBef>
                <a:spcPts val="256"/>
              </a:spcBef>
            </a:pPr>
            <a:r>
              <a:rPr sz="1677" b="1" spc="-18" dirty="0">
                <a:latin typeface="Times New Roman"/>
                <a:cs typeface="Times New Roman"/>
              </a:rPr>
              <a:t>Instr.</a:t>
            </a:r>
            <a:r>
              <a:rPr sz="1677" b="1" spc="-49" dirty="0">
                <a:latin typeface="Times New Roman"/>
                <a:cs typeface="Times New Roman"/>
              </a:rPr>
              <a:t> </a:t>
            </a:r>
            <a:r>
              <a:rPr sz="1677" b="1" spc="-9" dirty="0">
                <a:latin typeface="Times New Roman"/>
                <a:cs typeface="Times New Roman"/>
              </a:rPr>
              <a:t>Decode </a:t>
            </a:r>
            <a:r>
              <a:rPr sz="1677" b="1" dirty="0">
                <a:latin typeface="Times New Roman"/>
                <a:cs typeface="Times New Roman"/>
              </a:rPr>
              <a:t>Reg.</a:t>
            </a:r>
            <a:r>
              <a:rPr sz="1677" b="1" spc="31" dirty="0">
                <a:latin typeface="Times New Roman"/>
                <a:cs typeface="Times New Roman"/>
              </a:rPr>
              <a:t> </a:t>
            </a:r>
            <a:r>
              <a:rPr sz="1677" b="1" spc="-18" dirty="0">
                <a:latin typeface="Times New Roman"/>
                <a:cs typeface="Times New Roman"/>
              </a:rPr>
              <a:t>Fetch</a:t>
            </a:r>
            <a:endParaRPr sz="1677">
              <a:latin typeface="Times New Roman"/>
              <a:cs typeface="Times New Roman"/>
            </a:endParaRPr>
          </a:p>
        </p:txBody>
      </p:sp>
      <p:sp>
        <p:nvSpPr>
          <p:cNvPr id="111" name="object 111"/>
          <p:cNvSpPr txBox="1"/>
          <p:nvPr/>
        </p:nvSpPr>
        <p:spPr>
          <a:xfrm>
            <a:off x="5177460" y="1292711"/>
            <a:ext cx="1018054" cy="828753"/>
          </a:xfrm>
          <a:prstGeom prst="rect">
            <a:avLst/>
          </a:prstGeom>
        </p:spPr>
        <p:txBody>
          <a:bodyPr vert="horz" wrap="square" lIns="0" tIns="38100" rIns="0" bIns="0" rtlCol="0">
            <a:spAutoFit/>
          </a:bodyPr>
          <a:lstStyle/>
          <a:p>
            <a:pPr marR="135038" algn="ctr">
              <a:spcBef>
                <a:spcPts val="300"/>
              </a:spcBef>
            </a:pPr>
            <a:r>
              <a:rPr sz="1677" b="1" spc="-44" dirty="0">
                <a:latin typeface="Times New Roman"/>
                <a:cs typeface="Times New Roman"/>
              </a:rPr>
              <a:t>3</a:t>
            </a:r>
            <a:endParaRPr sz="1677">
              <a:latin typeface="Times New Roman"/>
              <a:cs typeface="Times New Roman"/>
            </a:endParaRPr>
          </a:p>
          <a:p>
            <a:pPr marL="11206" marR="4483" indent="-560" algn="ctr">
              <a:lnSpc>
                <a:spcPct val="101099"/>
              </a:lnSpc>
              <a:spcBef>
                <a:spcPts val="190"/>
              </a:spcBef>
            </a:pPr>
            <a:r>
              <a:rPr sz="1677" b="1" spc="-9" dirty="0">
                <a:latin typeface="Times New Roman"/>
                <a:cs typeface="Times New Roman"/>
              </a:rPr>
              <a:t>Execute </a:t>
            </a:r>
            <a:r>
              <a:rPr sz="1677" b="1" spc="-18" dirty="0">
                <a:latin typeface="Times New Roman"/>
                <a:cs typeface="Times New Roman"/>
              </a:rPr>
              <a:t>Addr.</a:t>
            </a:r>
            <a:r>
              <a:rPr sz="1677" b="1" spc="-66" dirty="0">
                <a:latin typeface="Times New Roman"/>
                <a:cs typeface="Times New Roman"/>
              </a:rPr>
              <a:t> </a:t>
            </a:r>
            <a:r>
              <a:rPr sz="1677" b="1" spc="-18" dirty="0">
                <a:latin typeface="Times New Roman"/>
                <a:cs typeface="Times New Roman"/>
              </a:rPr>
              <a:t>Calc</a:t>
            </a:r>
            <a:endParaRPr sz="1677">
              <a:latin typeface="Times New Roman"/>
              <a:cs typeface="Times New Roman"/>
            </a:endParaRPr>
          </a:p>
        </p:txBody>
      </p:sp>
      <p:sp>
        <p:nvSpPr>
          <p:cNvPr id="112" name="object 112"/>
          <p:cNvSpPr txBox="1"/>
          <p:nvPr/>
        </p:nvSpPr>
        <p:spPr>
          <a:xfrm>
            <a:off x="6777510" y="1292711"/>
            <a:ext cx="810745" cy="828753"/>
          </a:xfrm>
          <a:prstGeom prst="rect">
            <a:avLst/>
          </a:prstGeom>
        </p:spPr>
        <p:txBody>
          <a:bodyPr vert="horz" wrap="square" lIns="0" tIns="38100" rIns="0" bIns="0" rtlCol="0">
            <a:spAutoFit/>
          </a:bodyPr>
          <a:lstStyle/>
          <a:p>
            <a:pPr marL="235336">
              <a:spcBef>
                <a:spcPts val="300"/>
              </a:spcBef>
            </a:pPr>
            <a:r>
              <a:rPr sz="1677" b="1" spc="-44" dirty="0">
                <a:latin typeface="Times New Roman"/>
                <a:cs typeface="Times New Roman"/>
              </a:rPr>
              <a:t>4</a:t>
            </a:r>
            <a:endParaRPr sz="1677">
              <a:latin typeface="Times New Roman"/>
              <a:cs typeface="Times New Roman"/>
            </a:endParaRPr>
          </a:p>
          <a:p>
            <a:pPr marL="100858" marR="4483" indent="-89652">
              <a:lnSpc>
                <a:spcPct val="101099"/>
              </a:lnSpc>
              <a:spcBef>
                <a:spcPts val="190"/>
              </a:spcBef>
            </a:pPr>
            <a:r>
              <a:rPr sz="1677" b="1" spc="-9" dirty="0">
                <a:latin typeface="Times New Roman"/>
                <a:cs typeface="Times New Roman"/>
              </a:rPr>
              <a:t>Memory Access</a:t>
            </a:r>
            <a:endParaRPr sz="1677">
              <a:latin typeface="Times New Roman"/>
              <a:cs typeface="Times New Roman"/>
            </a:endParaRPr>
          </a:p>
        </p:txBody>
      </p:sp>
      <p:sp>
        <p:nvSpPr>
          <p:cNvPr id="113" name="object 113"/>
          <p:cNvSpPr txBox="1"/>
          <p:nvPr/>
        </p:nvSpPr>
        <p:spPr>
          <a:xfrm>
            <a:off x="7983711" y="1287332"/>
            <a:ext cx="555812" cy="856287"/>
          </a:xfrm>
          <a:prstGeom prst="rect">
            <a:avLst/>
          </a:prstGeom>
        </p:spPr>
        <p:txBody>
          <a:bodyPr vert="horz" wrap="square" lIns="0" tIns="43143" rIns="0" bIns="0" rtlCol="0">
            <a:spAutoFit/>
          </a:bodyPr>
          <a:lstStyle/>
          <a:p>
            <a:pPr marL="163615">
              <a:spcBef>
                <a:spcPts val="340"/>
              </a:spcBef>
            </a:pPr>
            <a:r>
              <a:rPr sz="1677" b="1" spc="-44" dirty="0">
                <a:latin typeface="Times New Roman"/>
                <a:cs typeface="Times New Roman"/>
              </a:rPr>
              <a:t>5</a:t>
            </a:r>
            <a:endParaRPr sz="1677">
              <a:latin typeface="Times New Roman"/>
              <a:cs typeface="Times New Roman"/>
            </a:endParaRPr>
          </a:p>
          <a:p>
            <a:pPr marL="44826" marR="4483" indent="-34180">
              <a:spcBef>
                <a:spcPts val="256"/>
              </a:spcBef>
            </a:pPr>
            <a:r>
              <a:rPr sz="1677" b="1" spc="-9" dirty="0">
                <a:latin typeface="Times New Roman"/>
                <a:cs typeface="Times New Roman"/>
              </a:rPr>
              <a:t>Write </a:t>
            </a:r>
            <a:r>
              <a:rPr sz="1677" b="1" spc="-18" dirty="0">
                <a:latin typeface="Times New Roman"/>
                <a:cs typeface="Times New Roman"/>
              </a:rPr>
              <a:t>Back</a:t>
            </a:r>
            <a:endParaRPr sz="1677">
              <a:latin typeface="Times New Roman"/>
              <a:cs typeface="Times New Roman"/>
            </a:endParaRPr>
          </a:p>
        </p:txBody>
      </p:sp>
      <p:sp>
        <p:nvSpPr>
          <p:cNvPr id="114" name="object 114"/>
          <p:cNvSpPr txBox="1"/>
          <p:nvPr/>
        </p:nvSpPr>
        <p:spPr>
          <a:xfrm>
            <a:off x="916641" y="1319605"/>
            <a:ext cx="1216399" cy="269399"/>
          </a:xfrm>
          <a:prstGeom prst="rect">
            <a:avLst/>
          </a:prstGeom>
        </p:spPr>
        <p:txBody>
          <a:bodyPr vert="horz" wrap="square" lIns="0" tIns="11206" rIns="0" bIns="0" rtlCol="0">
            <a:spAutoFit/>
          </a:bodyPr>
          <a:lstStyle/>
          <a:p>
            <a:pPr marL="11206">
              <a:spcBef>
                <a:spcPts val="88"/>
              </a:spcBef>
              <a:tabLst>
                <a:tab pos="1098235" algn="l"/>
              </a:tabLst>
            </a:pPr>
            <a:r>
              <a:rPr sz="1677" b="1" spc="-9" dirty="0">
                <a:latin typeface="Times New Roman"/>
                <a:cs typeface="Times New Roman"/>
              </a:rPr>
              <a:t>Stages:</a:t>
            </a:r>
            <a:r>
              <a:rPr sz="1677" b="1" dirty="0">
                <a:latin typeface="Times New Roman"/>
                <a:cs typeface="Times New Roman"/>
              </a:rPr>
              <a:t>	</a:t>
            </a:r>
            <a:r>
              <a:rPr sz="1677" b="1" spc="-44" dirty="0">
                <a:latin typeface="Times New Roman"/>
                <a:cs typeface="Times New Roman"/>
              </a:rPr>
              <a:t>1</a:t>
            </a:r>
            <a:endParaRPr sz="1677">
              <a:latin typeface="Times New Roman"/>
              <a:cs typeface="Times New Roman"/>
            </a:endParaRPr>
          </a:p>
        </p:txBody>
      </p:sp>
      <p:sp>
        <p:nvSpPr>
          <p:cNvPr id="120" name="TextBox 119">
            <a:extLst>
              <a:ext uri="{FF2B5EF4-FFF2-40B4-BE49-F238E27FC236}">
                <a16:creationId xmlns:a16="http://schemas.microsoft.com/office/drawing/2014/main" id="{48340ED5-AC7C-D5CE-B0CD-7B6E59422CDB}"/>
              </a:ext>
            </a:extLst>
          </p:cNvPr>
          <p:cNvSpPr txBox="1"/>
          <p:nvPr/>
        </p:nvSpPr>
        <p:spPr>
          <a:xfrm>
            <a:off x="465295" y="6029504"/>
            <a:ext cx="2006093" cy="258532"/>
          </a:xfrm>
          <a:prstGeom prst="rect">
            <a:avLst/>
          </a:prstGeom>
          <a:noFill/>
          <a:ln>
            <a:solidFill>
              <a:schemeClr val="bg1">
                <a:lumMod val="65000"/>
              </a:schemeClr>
            </a:solidFill>
          </a:ln>
        </p:spPr>
        <p:txBody>
          <a:bodyPr wrap="square" lIns="0" tIns="0" rIns="0" bIns="0">
            <a:spAutoFit/>
          </a:bodyPr>
          <a:lstStyle/>
          <a:p>
            <a:pPr>
              <a:tabLst>
                <a:tab pos="1765581" algn="l"/>
              </a:tabLst>
            </a:pPr>
            <a:r>
              <a:rPr lang="en-US" sz="1680" b="1" dirty="0">
                <a:solidFill>
                  <a:srgbClr val="FF0000"/>
                </a:solidFill>
                <a:latin typeface="Times New Roman"/>
                <a:cs typeface="Times New Roman"/>
              </a:rPr>
              <a:t>WB</a:t>
            </a:r>
            <a:r>
              <a:rPr lang="en-US" sz="1680" b="1" spc="35" dirty="0">
                <a:solidFill>
                  <a:srgbClr val="FF0000"/>
                </a:solidFill>
                <a:latin typeface="Times New Roman"/>
                <a:cs typeface="Times New Roman"/>
              </a:rPr>
              <a:t> </a:t>
            </a:r>
            <a:r>
              <a:rPr lang="en-US" sz="1680" dirty="0">
                <a:solidFill>
                  <a:srgbClr val="FF0000"/>
                </a:solidFill>
                <a:latin typeface="Wingdings"/>
                <a:cs typeface="Wingdings"/>
              </a:rPr>
              <a:t></a:t>
            </a:r>
            <a:r>
              <a:rPr lang="en-US" sz="1680" spc="97" dirty="0">
                <a:solidFill>
                  <a:srgbClr val="FF0000"/>
                </a:solidFill>
                <a:latin typeface="Times New Roman"/>
                <a:cs typeface="Times New Roman"/>
              </a:rPr>
              <a:t> </a:t>
            </a:r>
            <a:r>
              <a:rPr lang="en-US" sz="1680" b="1" spc="-18" dirty="0" err="1">
                <a:solidFill>
                  <a:srgbClr val="FF0000"/>
                </a:solidFill>
                <a:latin typeface="Times New Roman"/>
                <a:cs typeface="Times New Roman"/>
              </a:rPr>
              <a:t>rslt</a:t>
            </a:r>
            <a:r>
              <a:rPr lang="en-US" sz="1680" b="1" spc="-18" dirty="0">
                <a:solidFill>
                  <a:srgbClr val="FF0000"/>
                </a:solidFill>
                <a:latin typeface="Times New Roman"/>
                <a:cs typeface="Times New Roman"/>
              </a:rPr>
              <a:t>               </a:t>
            </a:r>
            <a:r>
              <a:rPr lang="en-US" sz="1680" b="1" spc="-22" dirty="0">
                <a:solidFill>
                  <a:srgbClr val="FF0000"/>
                </a:solidFill>
                <a:latin typeface="Times New Roman"/>
                <a:cs typeface="Times New Roman"/>
              </a:rPr>
              <a:t>#4</a:t>
            </a:r>
            <a:endParaRPr lang="en-US" sz="1680" dirty="0">
              <a:latin typeface="Times New Roman"/>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fade">
                                      <p:cBhvr>
                                        <p:cTn id="7" dur="500"/>
                                        <p:tgtEl>
                                          <p:spTgt spid="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fade">
                                      <p:cBhvr>
                                        <p:cTn id="12" dur="500"/>
                                        <p:tgtEl>
                                          <p:spTgt spid="10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9"/>
                                        </p:tgtEl>
                                        <p:attrNameLst>
                                          <p:attrName>style.visibility</p:attrName>
                                        </p:attrNameLst>
                                      </p:cBhvr>
                                      <p:to>
                                        <p:strVal val="visible"/>
                                      </p:to>
                                    </p:set>
                                    <p:animEffect transition="in" filter="fade">
                                      <p:cBhvr>
                                        <p:cTn id="17" dur="500"/>
                                        <p:tgtEl>
                                          <p:spTgt spid="10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fade">
                                      <p:cBhvr>
                                        <p:cTn id="22" dur="500"/>
                                        <p:tgtEl>
                                          <p:spTgt spid="1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6"/>
                                        </p:tgtEl>
                                        <p:attrNameLst>
                                          <p:attrName>style.visibility</p:attrName>
                                        </p:attrNameLst>
                                      </p:cBhvr>
                                      <p:to>
                                        <p:strVal val="visible"/>
                                      </p:to>
                                    </p:set>
                                    <p:animEffect transition="in" filter="fade">
                                      <p:cBhvr>
                                        <p:cTn id="2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107" grpId="0" animBg="1"/>
      <p:bldP spid="108" grpId="0" animBg="1"/>
      <p:bldP spid="109" grpId="0" animBg="1"/>
      <p:bldP spid="1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5595" y="670487"/>
            <a:ext cx="6842420" cy="472980"/>
          </a:xfrm>
          <a:prstGeom prst="rect">
            <a:avLst/>
          </a:prstGeom>
        </p:spPr>
        <p:txBody>
          <a:bodyPr vert="horz" wrap="square" lIns="0" tIns="11206" rIns="0" bIns="0" rtlCol="0" anchor="ctr">
            <a:spAutoFit/>
          </a:bodyPr>
          <a:lstStyle/>
          <a:p>
            <a:pPr marL="11206">
              <a:lnSpc>
                <a:spcPts val="3565"/>
              </a:lnSpc>
              <a:spcBef>
                <a:spcPts val="88"/>
              </a:spcBef>
            </a:pPr>
            <a:r>
              <a:rPr dirty="0"/>
              <a:t>Visualizing</a:t>
            </a:r>
            <a:r>
              <a:rPr spc="22" dirty="0"/>
              <a:t> </a:t>
            </a:r>
            <a:r>
              <a:rPr spc="-9" dirty="0"/>
              <a:t>Pipelining</a:t>
            </a:r>
          </a:p>
        </p:txBody>
      </p:sp>
      <p:sp>
        <p:nvSpPr>
          <p:cNvPr id="146" name="Slide Number Placeholder 145">
            <a:extLst>
              <a:ext uri="{FF2B5EF4-FFF2-40B4-BE49-F238E27FC236}">
                <a16:creationId xmlns:a16="http://schemas.microsoft.com/office/drawing/2014/main" id="{E1261103-D663-59DB-A225-5778044BBD07}"/>
              </a:ext>
            </a:extLst>
          </p:cNvPr>
          <p:cNvSpPr>
            <a:spLocks noGrp="1"/>
          </p:cNvSpPr>
          <p:nvPr>
            <p:ph type="sldNum" sz="quarter" idx="7"/>
          </p:nvPr>
        </p:nvSpPr>
        <p:spPr/>
        <p:txBody>
          <a:bodyPr/>
          <a:lstStyle/>
          <a:p>
            <a:fld id="{4FE321F0-2018-4E50-8BB3-A5631EBD98DD}" type="slidenum">
              <a:rPr lang="en-US" smtClean="0"/>
              <a:t>28</a:t>
            </a:fld>
            <a:endParaRPr lang="en-US"/>
          </a:p>
        </p:txBody>
      </p:sp>
      <p:sp>
        <p:nvSpPr>
          <p:cNvPr id="3" name="object 3"/>
          <p:cNvSpPr txBox="1"/>
          <p:nvPr/>
        </p:nvSpPr>
        <p:spPr>
          <a:xfrm>
            <a:off x="822688" y="2418677"/>
            <a:ext cx="156882" cy="1460430"/>
          </a:xfrm>
          <a:prstGeom prst="rect">
            <a:avLst/>
          </a:prstGeom>
        </p:spPr>
        <p:txBody>
          <a:bodyPr vert="horz" wrap="square" lIns="0" tIns="11206" rIns="0" bIns="0" rtlCol="0">
            <a:spAutoFit/>
          </a:bodyPr>
          <a:lstStyle/>
          <a:p>
            <a:pPr marL="34180">
              <a:lnSpc>
                <a:spcPts val="2215"/>
              </a:lnSpc>
              <a:spcBef>
                <a:spcPts val="88"/>
              </a:spcBef>
            </a:pPr>
            <a:r>
              <a:rPr sz="1853" b="1" i="1" spc="-44" dirty="0">
                <a:latin typeface="Times New Roman"/>
                <a:cs typeface="Times New Roman"/>
              </a:rPr>
              <a:t>I</a:t>
            </a:r>
            <a:endParaRPr sz="1853">
              <a:latin typeface="Times New Roman"/>
              <a:cs typeface="Times New Roman"/>
            </a:endParaRPr>
          </a:p>
          <a:p>
            <a:pPr marL="34180" marR="4483" indent="-20172">
              <a:lnSpc>
                <a:spcPts val="2285"/>
              </a:lnSpc>
              <a:spcBef>
                <a:spcPts val="13"/>
              </a:spcBef>
            </a:pPr>
            <a:r>
              <a:rPr sz="1853" b="1" i="1" spc="-44" dirty="0">
                <a:latin typeface="Times New Roman"/>
                <a:cs typeface="Times New Roman"/>
              </a:rPr>
              <a:t>n s</a:t>
            </a:r>
            <a:endParaRPr sz="1853">
              <a:latin typeface="Times New Roman"/>
              <a:cs typeface="Times New Roman"/>
            </a:endParaRPr>
          </a:p>
          <a:p>
            <a:pPr marL="11206" marR="11767" indent="36421">
              <a:lnSpc>
                <a:spcPts val="2206"/>
              </a:lnSpc>
              <a:spcBef>
                <a:spcPts val="88"/>
              </a:spcBef>
            </a:pPr>
            <a:r>
              <a:rPr sz="1853" b="1" i="1" spc="-44" dirty="0">
                <a:latin typeface="Times New Roman"/>
                <a:cs typeface="Times New Roman"/>
              </a:rPr>
              <a:t>t </a:t>
            </a:r>
            <a:r>
              <a:rPr sz="1853" b="1" i="1" spc="-115" dirty="0">
                <a:latin typeface="Times New Roman"/>
                <a:cs typeface="Times New Roman"/>
              </a:rPr>
              <a:t>r.</a:t>
            </a:r>
            <a:endParaRPr sz="1853">
              <a:latin typeface="Times New Roman"/>
              <a:cs typeface="Times New Roman"/>
            </a:endParaRPr>
          </a:p>
        </p:txBody>
      </p:sp>
      <p:sp>
        <p:nvSpPr>
          <p:cNvPr id="4" name="object 4"/>
          <p:cNvSpPr txBox="1"/>
          <p:nvPr/>
        </p:nvSpPr>
        <p:spPr>
          <a:xfrm>
            <a:off x="805595" y="4145280"/>
            <a:ext cx="192741" cy="1460430"/>
          </a:xfrm>
          <a:prstGeom prst="rect">
            <a:avLst/>
          </a:prstGeom>
        </p:spPr>
        <p:txBody>
          <a:bodyPr vert="horz" wrap="square" lIns="0" tIns="11206" rIns="0" bIns="0" rtlCol="0">
            <a:spAutoFit/>
          </a:bodyPr>
          <a:lstStyle/>
          <a:p>
            <a:pPr marL="11206">
              <a:lnSpc>
                <a:spcPts val="2215"/>
              </a:lnSpc>
              <a:spcBef>
                <a:spcPts val="88"/>
              </a:spcBef>
            </a:pPr>
            <a:r>
              <a:rPr sz="1853" b="1" i="1" spc="-44" dirty="0">
                <a:latin typeface="Times New Roman"/>
                <a:cs typeface="Times New Roman"/>
              </a:rPr>
              <a:t>O</a:t>
            </a:r>
            <a:endParaRPr sz="1853">
              <a:latin typeface="Times New Roman"/>
              <a:cs typeface="Times New Roman"/>
            </a:endParaRPr>
          </a:p>
          <a:p>
            <a:pPr marL="38102" marR="29697" indent="13448">
              <a:lnSpc>
                <a:spcPts val="2285"/>
              </a:lnSpc>
              <a:spcBef>
                <a:spcPts val="13"/>
              </a:spcBef>
            </a:pPr>
            <a:r>
              <a:rPr sz="1853" b="1" i="1" spc="-44" dirty="0">
                <a:latin typeface="Times New Roman"/>
                <a:cs typeface="Times New Roman"/>
              </a:rPr>
              <a:t>r d</a:t>
            </a:r>
            <a:endParaRPr sz="1853">
              <a:latin typeface="Times New Roman"/>
              <a:cs typeface="Times New Roman"/>
            </a:endParaRPr>
          </a:p>
          <a:p>
            <a:pPr marL="51549" marR="35861" indent="-6724">
              <a:lnSpc>
                <a:spcPts val="2224"/>
              </a:lnSpc>
              <a:spcBef>
                <a:spcPts val="53"/>
              </a:spcBef>
            </a:pPr>
            <a:r>
              <a:rPr sz="1853" b="1" i="1" spc="-44" dirty="0">
                <a:latin typeface="Times New Roman"/>
                <a:cs typeface="Times New Roman"/>
              </a:rPr>
              <a:t>e r</a:t>
            </a:r>
            <a:endParaRPr sz="1853">
              <a:latin typeface="Times New Roman"/>
              <a:cs typeface="Times New Roman"/>
            </a:endParaRPr>
          </a:p>
        </p:txBody>
      </p:sp>
      <p:sp>
        <p:nvSpPr>
          <p:cNvPr id="5" name="object 5"/>
          <p:cNvSpPr/>
          <p:nvPr/>
        </p:nvSpPr>
        <p:spPr>
          <a:xfrm>
            <a:off x="1236182" y="2462449"/>
            <a:ext cx="71718" cy="2932579"/>
          </a:xfrm>
          <a:custGeom>
            <a:avLst/>
            <a:gdLst/>
            <a:ahLst/>
            <a:cxnLst/>
            <a:rect l="l" t="t" r="r" b="b"/>
            <a:pathLst>
              <a:path w="81280" h="3323590">
                <a:moveTo>
                  <a:pt x="27093" y="3241714"/>
                </a:moveTo>
                <a:lnTo>
                  <a:pt x="0" y="3241714"/>
                </a:lnTo>
                <a:lnTo>
                  <a:pt x="40640" y="3322994"/>
                </a:lnTo>
                <a:lnTo>
                  <a:pt x="74499" y="3255275"/>
                </a:lnTo>
                <a:lnTo>
                  <a:pt x="27093" y="3255275"/>
                </a:lnTo>
                <a:lnTo>
                  <a:pt x="27093" y="3241714"/>
                </a:lnTo>
                <a:close/>
              </a:path>
              <a:path w="81280" h="3323590">
                <a:moveTo>
                  <a:pt x="54186" y="0"/>
                </a:moveTo>
                <a:lnTo>
                  <a:pt x="27091" y="0"/>
                </a:lnTo>
                <a:lnTo>
                  <a:pt x="27093" y="3255275"/>
                </a:lnTo>
                <a:lnTo>
                  <a:pt x="54186" y="3255275"/>
                </a:lnTo>
                <a:lnTo>
                  <a:pt x="54186" y="0"/>
                </a:lnTo>
                <a:close/>
              </a:path>
              <a:path w="81280" h="3323590">
                <a:moveTo>
                  <a:pt x="81280" y="3241714"/>
                </a:moveTo>
                <a:lnTo>
                  <a:pt x="54186" y="3241714"/>
                </a:lnTo>
                <a:lnTo>
                  <a:pt x="54186" y="3255275"/>
                </a:lnTo>
                <a:lnTo>
                  <a:pt x="74499" y="3255275"/>
                </a:lnTo>
                <a:lnTo>
                  <a:pt x="81280" y="3241714"/>
                </a:lnTo>
                <a:close/>
              </a:path>
            </a:pathLst>
          </a:custGeom>
          <a:solidFill>
            <a:srgbClr val="000000"/>
          </a:solidFill>
        </p:spPr>
        <p:txBody>
          <a:bodyPr wrap="square" lIns="0" tIns="0" rIns="0" bIns="0" rtlCol="0"/>
          <a:lstStyle/>
          <a:p>
            <a:endParaRPr sz="1588"/>
          </a:p>
        </p:txBody>
      </p:sp>
      <p:grpSp>
        <p:nvGrpSpPr>
          <p:cNvPr id="6" name="object 6"/>
          <p:cNvGrpSpPr/>
          <p:nvPr/>
        </p:nvGrpSpPr>
        <p:grpSpPr>
          <a:xfrm>
            <a:off x="1207257" y="1853539"/>
            <a:ext cx="6880412" cy="1141319"/>
            <a:chOff x="1215825" y="2100677"/>
            <a:chExt cx="7797800" cy="1293495"/>
          </a:xfrm>
        </p:grpSpPr>
        <p:sp>
          <p:nvSpPr>
            <p:cNvPr id="7" name="object 7"/>
            <p:cNvSpPr/>
            <p:nvPr/>
          </p:nvSpPr>
          <p:spPr>
            <a:xfrm>
              <a:off x="1215825" y="2100677"/>
              <a:ext cx="7797800" cy="81280"/>
            </a:xfrm>
            <a:custGeom>
              <a:avLst/>
              <a:gdLst/>
              <a:ahLst/>
              <a:cxnLst/>
              <a:rect l="l" t="t" r="r" b="b"/>
              <a:pathLst>
                <a:path w="7797800" h="81280">
                  <a:moveTo>
                    <a:pt x="7716402" y="0"/>
                  </a:moveTo>
                  <a:lnTo>
                    <a:pt x="7716292" y="40857"/>
                  </a:lnTo>
                  <a:lnTo>
                    <a:pt x="7716184" y="81278"/>
                  </a:lnTo>
                  <a:lnTo>
                    <a:pt x="7770661" y="54222"/>
                  </a:lnTo>
                  <a:lnTo>
                    <a:pt x="7729812" y="54222"/>
                  </a:lnTo>
                  <a:lnTo>
                    <a:pt x="7729886" y="27129"/>
                  </a:lnTo>
                  <a:lnTo>
                    <a:pt x="7770301" y="27129"/>
                  </a:lnTo>
                  <a:lnTo>
                    <a:pt x="7716402" y="0"/>
                  </a:lnTo>
                  <a:close/>
                </a:path>
                <a:path w="7797800" h="81280">
                  <a:moveTo>
                    <a:pt x="72" y="6367"/>
                  </a:moveTo>
                  <a:lnTo>
                    <a:pt x="0" y="33461"/>
                  </a:lnTo>
                  <a:lnTo>
                    <a:pt x="7729812" y="54222"/>
                  </a:lnTo>
                  <a:lnTo>
                    <a:pt x="7716256" y="54222"/>
                  </a:lnTo>
                  <a:lnTo>
                    <a:pt x="7716329" y="27129"/>
                  </a:lnTo>
                  <a:lnTo>
                    <a:pt x="7729886" y="27129"/>
                  </a:lnTo>
                  <a:lnTo>
                    <a:pt x="72" y="6367"/>
                  </a:lnTo>
                  <a:close/>
                </a:path>
                <a:path w="7797800" h="81280">
                  <a:moveTo>
                    <a:pt x="7770301" y="27129"/>
                  </a:moveTo>
                  <a:lnTo>
                    <a:pt x="7729886" y="27129"/>
                  </a:lnTo>
                  <a:lnTo>
                    <a:pt x="7729812" y="54222"/>
                  </a:lnTo>
                  <a:lnTo>
                    <a:pt x="7770661" y="54222"/>
                  </a:lnTo>
                  <a:lnTo>
                    <a:pt x="7797573" y="40857"/>
                  </a:lnTo>
                  <a:lnTo>
                    <a:pt x="7770301" y="27129"/>
                  </a:lnTo>
                  <a:close/>
                </a:path>
              </a:pathLst>
            </a:custGeom>
            <a:solidFill>
              <a:srgbClr val="000000"/>
            </a:solidFill>
          </p:spPr>
          <p:txBody>
            <a:bodyPr wrap="square" lIns="0" tIns="0" rIns="0" bIns="0" rtlCol="0"/>
            <a:lstStyle/>
            <a:p>
              <a:endParaRPr sz="1588"/>
            </a:p>
          </p:txBody>
        </p:sp>
        <p:sp>
          <p:nvSpPr>
            <p:cNvPr id="8" name="object 8"/>
            <p:cNvSpPr/>
            <p:nvPr/>
          </p:nvSpPr>
          <p:spPr>
            <a:xfrm>
              <a:off x="3129981" y="2972283"/>
              <a:ext cx="266700" cy="401955"/>
            </a:xfrm>
            <a:custGeom>
              <a:avLst/>
              <a:gdLst/>
              <a:ahLst/>
              <a:cxnLst/>
              <a:rect l="l" t="t" r="r" b="b"/>
              <a:pathLst>
                <a:path w="266700" h="401954">
                  <a:moveTo>
                    <a:pt x="266161" y="0"/>
                  </a:moveTo>
                  <a:lnTo>
                    <a:pt x="0" y="0"/>
                  </a:lnTo>
                  <a:lnTo>
                    <a:pt x="0" y="401941"/>
                  </a:lnTo>
                  <a:lnTo>
                    <a:pt x="266161" y="401941"/>
                  </a:lnTo>
                  <a:lnTo>
                    <a:pt x="266161" y="0"/>
                  </a:lnTo>
                  <a:close/>
                </a:path>
              </a:pathLst>
            </a:custGeom>
            <a:solidFill>
              <a:srgbClr val="0099FF"/>
            </a:solidFill>
          </p:spPr>
          <p:txBody>
            <a:bodyPr wrap="square" lIns="0" tIns="0" rIns="0" bIns="0" rtlCol="0"/>
            <a:lstStyle/>
            <a:p>
              <a:endParaRPr sz="1588"/>
            </a:p>
          </p:txBody>
        </p:sp>
        <p:sp>
          <p:nvSpPr>
            <p:cNvPr id="9" name="object 9"/>
            <p:cNvSpPr/>
            <p:nvPr/>
          </p:nvSpPr>
          <p:spPr>
            <a:xfrm>
              <a:off x="2863818" y="2972283"/>
              <a:ext cx="532765" cy="407034"/>
            </a:xfrm>
            <a:custGeom>
              <a:avLst/>
              <a:gdLst/>
              <a:ahLst/>
              <a:cxnLst/>
              <a:rect l="l" t="t" r="r" b="b"/>
              <a:pathLst>
                <a:path w="532764" h="407035">
                  <a:moveTo>
                    <a:pt x="0" y="0"/>
                  </a:moveTo>
                  <a:lnTo>
                    <a:pt x="532324" y="0"/>
                  </a:lnTo>
                  <a:lnTo>
                    <a:pt x="532324" y="406647"/>
                  </a:lnTo>
                  <a:lnTo>
                    <a:pt x="0" y="406647"/>
                  </a:lnTo>
                  <a:lnTo>
                    <a:pt x="0" y="0"/>
                  </a:lnTo>
                  <a:close/>
                </a:path>
              </a:pathLst>
            </a:custGeom>
            <a:ln w="30479">
              <a:solidFill>
                <a:srgbClr val="000000"/>
              </a:solidFill>
            </a:ln>
          </p:spPr>
          <p:txBody>
            <a:bodyPr wrap="square" lIns="0" tIns="0" rIns="0" bIns="0" rtlCol="0"/>
            <a:lstStyle/>
            <a:p>
              <a:endParaRPr sz="1588"/>
            </a:p>
          </p:txBody>
        </p:sp>
      </p:grpSp>
      <p:sp>
        <p:nvSpPr>
          <p:cNvPr id="10" name="object 10"/>
          <p:cNvSpPr txBox="1"/>
          <p:nvPr/>
        </p:nvSpPr>
        <p:spPr>
          <a:xfrm>
            <a:off x="2777151" y="2678206"/>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1" name="object 11"/>
          <p:cNvGrpSpPr/>
          <p:nvPr/>
        </p:nvGrpSpPr>
        <p:grpSpPr>
          <a:xfrm>
            <a:off x="3119745" y="2502528"/>
            <a:ext cx="875740" cy="598394"/>
            <a:chOff x="3383311" y="2836198"/>
            <a:chExt cx="992505" cy="678180"/>
          </a:xfrm>
        </p:grpSpPr>
        <p:sp>
          <p:nvSpPr>
            <p:cNvPr id="12" name="object 12"/>
            <p:cNvSpPr/>
            <p:nvPr/>
          </p:nvSpPr>
          <p:spPr>
            <a:xfrm>
              <a:off x="3398551" y="3054312"/>
              <a:ext cx="588010" cy="243204"/>
            </a:xfrm>
            <a:custGeom>
              <a:avLst/>
              <a:gdLst/>
              <a:ahLst/>
              <a:cxnLst/>
              <a:rect l="l" t="t" r="r" b="b"/>
              <a:pathLst>
                <a:path w="588010" h="243204">
                  <a:moveTo>
                    <a:pt x="0" y="0"/>
                  </a:moveTo>
                  <a:lnTo>
                    <a:pt x="115289" y="0"/>
                  </a:lnTo>
                </a:path>
                <a:path w="588010" h="243204">
                  <a:moveTo>
                    <a:pt x="222924" y="0"/>
                  </a:moveTo>
                  <a:lnTo>
                    <a:pt x="587723" y="0"/>
                  </a:lnTo>
                </a:path>
                <a:path w="588010" h="243204">
                  <a:moveTo>
                    <a:pt x="0" y="242591"/>
                  </a:moveTo>
                  <a:lnTo>
                    <a:pt x="115289" y="242591"/>
                  </a:lnTo>
                </a:path>
                <a:path w="588010" h="243204">
                  <a:moveTo>
                    <a:pt x="222924" y="242591"/>
                  </a:moveTo>
                  <a:lnTo>
                    <a:pt x="587723" y="242591"/>
                  </a:lnTo>
                </a:path>
              </a:pathLst>
            </a:custGeom>
            <a:ln w="30481">
              <a:solidFill>
                <a:srgbClr val="000000"/>
              </a:solidFill>
            </a:ln>
          </p:spPr>
          <p:txBody>
            <a:bodyPr wrap="square" lIns="0" tIns="0" rIns="0" bIns="0" rtlCol="0"/>
            <a:lstStyle/>
            <a:p>
              <a:endParaRPr sz="1588"/>
            </a:p>
          </p:txBody>
        </p:sp>
        <p:sp>
          <p:nvSpPr>
            <p:cNvPr id="13" name="object 13"/>
            <p:cNvSpPr/>
            <p:nvPr/>
          </p:nvSpPr>
          <p:spPr>
            <a:xfrm>
              <a:off x="3910332" y="2851438"/>
              <a:ext cx="450215" cy="647700"/>
            </a:xfrm>
            <a:custGeom>
              <a:avLst/>
              <a:gdLst/>
              <a:ahLst/>
              <a:cxnLst/>
              <a:rect l="l" t="t" r="r" b="b"/>
              <a:pathLst>
                <a:path w="450214" h="647700">
                  <a:moveTo>
                    <a:pt x="0" y="0"/>
                  </a:moveTo>
                  <a:lnTo>
                    <a:pt x="0" y="647495"/>
                  </a:lnTo>
                  <a:lnTo>
                    <a:pt x="449958" y="485622"/>
                  </a:lnTo>
                  <a:lnTo>
                    <a:pt x="449958" y="161874"/>
                  </a:lnTo>
                  <a:lnTo>
                    <a:pt x="0" y="0"/>
                  </a:lnTo>
                  <a:close/>
                </a:path>
              </a:pathLst>
            </a:custGeom>
            <a:solidFill>
              <a:srgbClr val="FFFFFF"/>
            </a:solidFill>
          </p:spPr>
          <p:txBody>
            <a:bodyPr wrap="square" lIns="0" tIns="0" rIns="0" bIns="0" rtlCol="0"/>
            <a:lstStyle/>
            <a:p>
              <a:endParaRPr sz="1588"/>
            </a:p>
          </p:txBody>
        </p:sp>
        <p:sp>
          <p:nvSpPr>
            <p:cNvPr id="14" name="object 14"/>
            <p:cNvSpPr/>
            <p:nvPr/>
          </p:nvSpPr>
          <p:spPr>
            <a:xfrm>
              <a:off x="3910332" y="2851438"/>
              <a:ext cx="450215" cy="647700"/>
            </a:xfrm>
            <a:custGeom>
              <a:avLst/>
              <a:gdLst/>
              <a:ahLst/>
              <a:cxnLst/>
              <a:rect l="l" t="t" r="r" b="b"/>
              <a:pathLst>
                <a:path w="450214" h="647700">
                  <a:moveTo>
                    <a:pt x="0" y="647495"/>
                  </a:moveTo>
                  <a:lnTo>
                    <a:pt x="449958" y="485621"/>
                  </a:lnTo>
                  <a:lnTo>
                    <a:pt x="449958" y="161873"/>
                  </a:lnTo>
                  <a:lnTo>
                    <a:pt x="0" y="0"/>
                  </a:lnTo>
                  <a:lnTo>
                    <a:pt x="0" y="647495"/>
                  </a:lnTo>
                  <a:close/>
                </a:path>
              </a:pathLst>
            </a:custGeom>
            <a:ln w="30479">
              <a:solidFill>
                <a:srgbClr val="000000"/>
              </a:solidFill>
            </a:ln>
          </p:spPr>
          <p:txBody>
            <a:bodyPr wrap="square" lIns="0" tIns="0" rIns="0" bIns="0" rtlCol="0"/>
            <a:lstStyle/>
            <a:p>
              <a:endParaRPr sz="1588"/>
            </a:p>
          </p:txBody>
        </p:sp>
        <p:sp>
          <p:nvSpPr>
            <p:cNvPr id="15" name="object 15"/>
            <p:cNvSpPr/>
            <p:nvPr/>
          </p:nvSpPr>
          <p:spPr>
            <a:xfrm>
              <a:off x="3880291" y="3071064"/>
              <a:ext cx="240665" cy="209550"/>
            </a:xfrm>
            <a:custGeom>
              <a:avLst/>
              <a:gdLst/>
              <a:ahLst/>
              <a:cxnLst/>
              <a:rect l="l" t="t" r="r" b="b"/>
              <a:pathLst>
                <a:path w="240664" h="209550">
                  <a:moveTo>
                    <a:pt x="0" y="0"/>
                  </a:moveTo>
                  <a:lnTo>
                    <a:pt x="0" y="209087"/>
                  </a:lnTo>
                  <a:lnTo>
                    <a:pt x="240334" y="104543"/>
                  </a:lnTo>
                  <a:lnTo>
                    <a:pt x="0" y="0"/>
                  </a:lnTo>
                  <a:close/>
                </a:path>
              </a:pathLst>
            </a:custGeom>
            <a:solidFill>
              <a:srgbClr val="FFFFFF"/>
            </a:solidFill>
          </p:spPr>
          <p:txBody>
            <a:bodyPr wrap="square" lIns="0" tIns="0" rIns="0" bIns="0" rtlCol="0"/>
            <a:lstStyle/>
            <a:p>
              <a:endParaRPr sz="1588"/>
            </a:p>
          </p:txBody>
        </p:sp>
        <p:sp>
          <p:nvSpPr>
            <p:cNvPr id="16" name="object 16"/>
            <p:cNvSpPr/>
            <p:nvPr/>
          </p:nvSpPr>
          <p:spPr>
            <a:xfrm>
              <a:off x="3910333" y="3083289"/>
              <a:ext cx="186055" cy="184150"/>
            </a:xfrm>
            <a:custGeom>
              <a:avLst/>
              <a:gdLst/>
              <a:ahLst/>
              <a:cxnLst/>
              <a:rect l="l" t="t" r="r" b="b"/>
              <a:pathLst>
                <a:path w="186054" h="184150">
                  <a:moveTo>
                    <a:pt x="0" y="0"/>
                  </a:moveTo>
                  <a:lnTo>
                    <a:pt x="185591" y="91897"/>
                  </a:lnTo>
                  <a:lnTo>
                    <a:pt x="0" y="183794"/>
                  </a:lnTo>
                </a:path>
              </a:pathLst>
            </a:custGeom>
            <a:ln w="30479">
              <a:solidFill>
                <a:srgbClr val="000000"/>
              </a:solidFill>
            </a:ln>
          </p:spPr>
          <p:txBody>
            <a:bodyPr wrap="square" lIns="0" tIns="0" rIns="0" bIns="0" rtlCol="0"/>
            <a:lstStyle/>
            <a:p>
              <a:endParaRPr sz="1588"/>
            </a:p>
          </p:txBody>
        </p:sp>
      </p:grpSp>
      <p:sp>
        <p:nvSpPr>
          <p:cNvPr id="17" name="object 17"/>
          <p:cNvSpPr txBox="1"/>
          <p:nvPr/>
        </p:nvSpPr>
        <p:spPr>
          <a:xfrm>
            <a:off x="3750481" y="2639405"/>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8" name="object 18"/>
          <p:cNvGrpSpPr/>
          <p:nvPr/>
        </p:nvGrpSpPr>
        <p:grpSpPr>
          <a:xfrm>
            <a:off x="3972002" y="2610696"/>
            <a:ext cx="1295960" cy="384361"/>
            <a:chOff x="4349202" y="2958788"/>
            <a:chExt cx="1468755" cy="435609"/>
          </a:xfrm>
        </p:grpSpPr>
        <p:sp>
          <p:nvSpPr>
            <p:cNvPr id="19" name="object 19"/>
            <p:cNvSpPr/>
            <p:nvPr/>
          </p:nvSpPr>
          <p:spPr>
            <a:xfrm>
              <a:off x="4364442" y="3176481"/>
              <a:ext cx="1438275" cy="0"/>
            </a:xfrm>
            <a:custGeom>
              <a:avLst/>
              <a:gdLst/>
              <a:ahLst/>
              <a:cxnLst/>
              <a:rect l="l" t="t" r="r" b="b"/>
              <a:pathLst>
                <a:path w="1438275">
                  <a:moveTo>
                    <a:pt x="0" y="0"/>
                  </a:moveTo>
                  <a:lnTo>
                    <a:pt x="143531" y="0"/>
                  </a:lnTo>
                </a:path>
                <a:path w="1438275">
                  <a:moveTo>
                    <a:pt x="249673" y="0"/>
                  </a:moveTo>
                  <a:lnTo>
                    <a:pt x="433177" y="0"/>
                  </a:lnTo>
                </a:path>
                <a:path w="1438275">
                  <a:moveTo>
                    <a:pt x="1018881" y="0"/>
                  </a:moveTo>
                  <a:lnTo>
                    <a:pt x="1137665" y="0"/>
                  </a:lnTo>
                </a:path>
                <a:path w="1438275">
                  <a:moveTo>
                    <a:pt x="1245301" y="0"/>
                  </a:moveTo>
                  <a:lnTo>
                    <a:pt x="1437996" y="0"/>
                  </a:lnTo>
                </a:path>
              </a:pathLst>
            </a:custGeom>
            <a:ln w="30481">
              <a:solidFill>
                <a:srgbClr val="000000"/>
              </a:solidFill>
            </a:ln>
          </p:spPr>
          <p:txBody>
            <a:bodyPr wrap="square" lIns="0" tIns="0" rIns="0" bIns="0" rtlCol="0"/>
            <a:lstStyle/>
            <a:p>
              <a:endParaRPr sz="1588"/>
            </a:p>
          </p:txBody>
        </p:sp>
        <p:sp>
          <p:nvSpPr>
            <p:cNvPr id="20" name="object 20"/>
            <p:cNvSpPr/>
            <p:nvPr/>
          </p:nvSpPr>
          <p:spPr>
            <a:xfrm>
              <a:off x="4797620" y="2974028"/>
              <a:ext cx="534035" cy="405130"/>
            </a:xfrm>
            <a:custGeom>
              <a:avLst/>
              <a:gdLst/>
              <a:ahLst/>
              <a:cxnLst/>
              <a:rect l="l" t="t" r="r" b="b"/>
              <a:pathLst>
                <a:path w="534035" h="405129">
                  <a:moveTo>
                    <a:pt x="0" y="0"/>
                  </a:moveTo>
                  <a:lnTo>
                    <a:pt x="533467" y="0"/>
                  </a:lnTo>
                  <a:lnTo>
                    <a:pt x="533467" y="404902"/>
                  </a:lnTo>
                  <a:lnTo>
                    <a:pt x="0" y="404902"/>
                  </a:lnTo>
                  <a:lnTo>
                    <a:pt x="0" y="0"/>
                  </a:lnTo>
                  <a:close/>
                </a:path>
              </a:pathLst>
            </a:custGeom>
            <a:ln w="30479">
              <a:solidFill>
                <a:srgbClr val="000000"/>
              </a:solidFill>
            </a:ln>
          </p:spPr>
          <p:txBody>
            <a:bodyPr wrap="square" lIns="0" tIns="0" rIns="0" bIns="0" rtlCol="0"/>
            <a:lstStyle/>
            <a:p>
              <a:endParaRPr sz="1588"/>
            </a:p>
          </p:txBody>
        </p:sp>
      </p:grpSp>
      <p:sp>
        <p:nvSpPr>
          <p:cNvPr id="21" name="object 21"/>
          <p:cNvSpPr txBox="1"/>
          <p:nvPr/>
        </p:nvSpPr>
        <p:spPr>
          <a:xfrm>
            <a:off x="4393912" y="2678206"/>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22" name="object 22"/>
          <p:cNvGrpSpPr/>
          <p:nvPr/>
        </p:nvGrpSpPr>
        <p:grpSpPr>
          <a:xfrm>
            <a:off x="2201031" y="2681535"/>
            <a:ext cx="2835088" cy="419660"/>
            <a:chOff x="2342102" y="3039072"/>
            <a:chExt cx="3213100" cy="475615"/>
          </a:xfrm>
        </p:grpSpPr>
        <p:sp>
          <p:nvSpPr>
            <p:cNvPr id="23" name="object 23"/>
            <p:cNvSpPr/>
            <p:nvPr/>
          </p:nvSpPr>
          <p:spPr>
            <a:xfrm>
              <a:off x="4740200" y="3176480"/>
              <a:ext cx="800100" cy="323215"/>
            </a:xfrm>
            <a:custGeom>
              <a:avLst/>
              <a:gdLst/>
              <a:ahLst/>
              <a:cxnLst/>
              <a:rect l="l" t="t" r="r" b="b"/>
              <a:pathLst>
                <a:path w="800100" h="323214">
                  <a:moveTo>
                    <a:pt x="0" y="0"/>
                  </a:moveTo>
                  <a:lnTo>
                    <a:pt x="0" y="322874"/>
                  </a:lnTo>
                  <a:lnTo>
                    <a:pt x="705609" y="322874"/>
                  </a:lnTo>
                  <a:lnTo>
                    <a:pt x="705609" y="121077"/>
                  </a:lnTo>
                  <a:lnTo>
                    <a:pt x="799690" y="121077"/>
                  </a:lnTo>
                </a:path>
              </a:pathLst>
            </a:custGeom>
            <a:ln w="30479">
              <a:solidFill>
                <a:srgbClr val="000000"/>
              </a:solidFill>
            </a:ln>
          </p:spPr>
          <p:txBody>
            <a:bodyPr wrap="square" lIns="0" tIns="0" rIns="0" bIns="0" rtlCol="0"/>
            <a:lstStyle/>
            <a:p>
              <a:endParaRPr sz="1588"/>
            </a:p>
          </p:txBody>
        </p:sp>
        <p:sp>
          <p:nvSpPr>
            <p:cNvPr id="24" name="object 24"/>
            <p:cNvSpPr/>
            <p:nvPr/>
          </p:nvSpPr>
          <p:spPr>
            <a:xfrm>
              <a:off x="2357342" y="3054312"/>
              <a:ext cx="506730" cy="244475"/>
            </a:xfrm>
            <a:custGeom>
              <a:avLst/>
              <a:gdLst/>
              <a:ahLst/>
              <a:cxnLst/>
              <a:rect l="l" t="t" r="r" b="b"/>
              <a:pathLst>
                <a:path w="506730" h="244475">
                  <a:moveTo>
                    <a:pt x="0" y="244336"/>
                  </a:moveTo>
                  <a:lnTo>
                    <a:pt x="166850" y="244336"/>
                  </a:lnTo>
                </a:path>
                <a:path w="506730" h="244475">
                  <a:moveTo>
                    <a:pt x="274485" y="244336"/>
                  </a:moveTo>
                  <a:lnTo>
                    <a:pt x="506476" y="244336"/>
                  </a:lnTo>
                </a:path>
                <a:path w="506730" h="244475">
                  <a:moveTo>
                    <a:pt x="274485" y="0"/>
                  </a:moveTo>
                  <a:lnTo>
                    <a:pt x="504067" y="0"/>
                  </a:lnTo>
                </a:path>
                <a:path w="506730" h="244475">
                  <a:moveTo>
                    <a:pt x="0" y="0"/>
                  </a:moveTo>
                  <a:lnTo>
                    <a:pt x="166850" y="0"/>
                  </a:lnTo>
                </a:path>
              </a:pathLst>
            </a:custGeom>
            <a:ln w="30481">
              <a:solidFill>
                <a:srgbClr val="000000"/>
              </a:solidFill>
            </a:ln>
          </p:spPr>
          <p:txBody>
            <a:bodyPr wrap="square" lIns="0" tIns="0" rIns="0" bIns="0" rtlCol="0"/>
            <a:lstStyle/>
            <a:p>
              <a:endParaRPr sz="1588"/>
            </a:p>
          </p:txBody>
        </p:sp>
      </p:grpSp>
      <p:sp>
        <p:nvSpPr>
          <p:cNvPr id="25" name="object 25"/>
          <p:cNvSpPr txBox="1"/>
          <p:nvPr/>
        </p:nvSpPr>
        <p:spPr>
          <a:xfrm>
            <a:off x="1741674" y="2624143"/>
            <a:ext cx="472888" cy="228622"/>
          </a:xfrm>
          <a:prstGeom prst="rect">
            <a:avLst/>
          </a:prstGeom>
          <a:ln w="30479">
            <a:solidFill>
              <a:srgbClr val="000000"/>
            </a:solidFill>
          </a:ln>
        </p:spPr>
        <p:txBody>
          <a:bodyPr vert="horz" wrap="square" lIns="0" tIns="64994" rIns="0" bIns="0" rtlCol="0">
            <a:spAutoFit/>
          </a:bodyPr>
          <a:lstStyle/>
          <a:p>
            <a:pPr marL="72282">
              <a:spcBef>
                <a:spcPts val="512"/>
              </a:spcBef>
            </a:pPr>
            <a:r>
              <a:rPr sz="1059" b="1" spc="-9" dirty="0">
                <a:latin typeface="Times New Roman"/>
                <a:cs typeface="Times New Roman"/>
              </a:rPr>
              <a:t>Ifetch</a:t>
            </a:r>
            <a:endParaRPr sz="1059">
              <a:latin typeface="Times New Roman"/>
              <a:cs typeface="Times New Roman"/>
            </a:endParaRPr>
          </a:p>
        </p:txBody>
      </p:sp>
      <p:grpSp>
        <p:nvGrpSpPr>
          <p:cNvPr id="26" name="object 26"/>
          <p:cNvGrpSpPr/>
          <p:nvPr/>
        </p:nvGrpSpPr>
        <p:grpSpPr>
          <a:xfrm>
            <a:off x="2348252" y="2449002"/>
            <a:ext cx="3393701" cy="706531"/>
            <a:chOff x="2508952" y="2775535"/>
            <a:chExt cx="3846195" cy="800735"/>
          </a:xfrm>
        </p:grpSpPr>
        <p:sp>
          <p:nvSpPr>
            <p:cNvPr id="27" name="object 27"/>
            <p:cNvSpPr/>
            <p:nvPr/>
          </p:nvSpPr>
          <p:spPr>
            <a:xfrm>
              <a:off x="3513841" y="2790775"/>
              <a:ext cx="107950" cy="770255"/>
            </a:xfrm>
            <a:custGeom>
              <a:avLst/>
              <a:gdLst/>
              <a:ahLst/>
              <a:cxnLst/>
              <a:rect l="l" t="t" r="r" b="b"/>
              <a:pathLst>
                <a:path w="107950" h="770254">
                  <a:moveTo>
                    <a:pt x="107635" y="0"/>
                  </a:moveTo>
                  <a:lnTo>
                    <a:pt x="0" y="0"/>
                  </a:lnTo>
                  <a:lnTo>
                    <a:pt x="0" y="769664"/>
                  </a:lnTo>
                  <a:lnTo>
                    <a:pt x="107635" y="769664"/>
                  </a:lnTo>
                  <a:lnTo>
                    <a:pt x="107635" y="0"/>
                  </a:lnTo>
                  <a:close/>
                </a:path>
              </a:pathLst>
            </a:custGeom>
            <a:solidFill>
              <a:srgbClr val="00FF00"/>
            </a:solidFill>
          </p:spPr>
          <p:txBody>
            <a:bodyPr wrap="square" lIns="0" tIns="0" rIns="0" bIns="0" rtlCol="0"/>
            <a:lstStyle/>
            <a:p>
              <a:endParaRPr sz="1588"/>
            </a:p>
          </p:txBody>
        </p:sp>
        <p:sp>
          <p:nvSpPr>
            <p:cNvPr id="28" name="object 28"/>
            <p:cNvSpPr/>
            <p:nvPr/>
          </p:nvSpPr>
          <p:spPr>
            <a:xfrm>
              <a:off x="3513841" y="2790775"/>
              <a:ext cx="107950" cy="770255"/>
            </a:xfrm>
            <a:custGeom>
              <a:avLst/>
              <a:gdLst/>
              <a:ahLst/>
              <a:cxnLst/>
              <a:rect l="l" t="t" r="r" b="b"/>
              <a:pathLst>
                <a:path w="107950" h="770254">
                  <a:moveTo>
                    <a:pt x="0" y="0"/>
                  </a:moveTo>
                  <a:lnTo>
                    <a:pt x="107635" y="0"/>
                  </a:lnTo>
                  <a:lnTo>
                    <a:pt x="107635"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29" name="object 29"/>
            <p:cNvSpPr/>
            <p:nvPr/>
          </p:nvSpPr>
          <p:spPr>
            <a:xfrm>
              <a:off x="5502108" y="2790775"/>
              <a:ext cx="107950" cy="770255"/>
            </a:xfrm>
            <a:custGeom>
              <a:avLst/>
              <a:gdLst/>
              <a:ahLst/>
              <a:cxnLst/>
              <a:rect l="l" t="t" r="r" b="b"/>
              <a:pathLst>
                <a:path w="107950" h="770254">
                  <a:moveTo>
                    <a:pt x="107635" y="0"/>
                  </a:moveTo>
                  <a:lnTo>
                    <a:pt x="0" y="0"/>
                  </a:lnTo>
                  <a:lnTo>
                    <a:pt x="0" y="769664"/>
                  </a:lnTo>
                  <a:lnTo>
                    <a:pt x="107635" y="769664"/>
                  </a:lnTo>
                  <a:lnTo>
                    <a:pt x="107635" y="0"/>
                  </a:lnTo>
                  <a:close/>
                </a:path>
              </a:pathLst>
            </a:custGeom>
            <a:solidFill>
              <a:srgbClr val="00FF00"/>
            </a:solidFill>
          </p:spPr>
          <p:txBody>
            <a:bodyPr wrap="square" lIns="0" tIns="0" rIns="0" bIns="0" rtlCol="0"/>
            <a:lstStyle/>
            <a:p>
              <a:endParaRPr sz="1588"/>
            </a:p>
          </p:txBody>
        </p:sp>
        <p:sp>
          <p:nvSpPr>
            <p:cNvPr id="30" name="object 30"/>
            <p:cNvSpPr/>
            <p:nvPr/>
          </p:nvSpPr>
          <p:spPr>
            <a:xfrm>
              <a:off x="5502108" y="2790775"/>
              <a:ext cx="107950" cy="770255"/>
            </a:xfrm>
            <a:custGeom>
              <a:avLst/>
              <a:gdLst/>
              <a:ahLst/>
              <a:cxnLst/>
              <a:rect l="l" t="t" r="r" b="b"/>
              <a:pathLst>
                <a:path w="107950" h="770254">
                  <a:moveTo>
                    <a:pt x="0" y="0"/>
                  </a:moveTo>
                  <a:lnTo>
                    <a:pt x="107635" y="0"/>
                  </a:lnTo>
                  <a:lnTo>
                    <a:pt x="107635"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31" name="object 31"/>
            <p:cNvSpPr/>
            <p:nvPr/>
          </p:nvSpPr>
          <p:spPr>
            <a:xfrm>
              <a:off x="2524192" y="2790775"/>
              <a:ext cx="107950" cy="770255"/>
            </a:xfrm>
            <a:custGeom>
              <a:avLst/>
              <a:gdLst/>
              <a:ahLst/>
              <a:cxnLst/>
              <a:rect l="l" t="t" r="r" b="b"/>
              <a:pathLst>
                <a:path w="107950" h="770254">
                  <a:moveTo>
                    <a:pt x="107635" y="0"/>
                  </a:moveTo>
                  <a:lnTo>
                    <a:pt x="0" y="0"/>
                  </a:lnTo>
                  <a:lnTo>
                    <a:pt x="0" y="769664"/>
                  </a:lnTo>
                  <a:lnTo>
                    <a:pt x="107635" y="769664"/>
                  </a:lnTo>
                  <a:lnTo>
                    <a:pt x="107635" y="0"/>
                  </a:lnTo>
                  <a:close/>
                </a:path>
              </a:pathLst>
            </a:custGeom>
            <a:solidFill>
              <a:srgbClr val="00FF00"/>
            </a:solidFill>
          </p:spPr>
          <p:txBody>
            <a:bodyPr wrap="square" lIns="0" tIns="0" rIns="0" bIns="0" rtlCol="0"/>
            <a:lstStyle/>
            <a:p>
              <a:endParaRPr sz="1588"/>
            </a:p>
          </p:txBody>
        </p:sp>
        <p:sp>
          <p:nvSpPr>
            <p:cNvPr id="32" name="object 32"/>
            <p:cNvSpPr/>
            <p:nvPr/>
          </p:nvSpPr>
          <p:spPr>
            <a:xfrm>
              <a:off x="2524192" y="2790775"/>
              <a:ext cx="107950" cy="770255"/>
            </a:xfrm>
            <a:custGeom>
              <a:avLst/>
              <a:gdLst/>
              <a:ahLst/>
              <a:cxnLst/>
              <a:rect l="l" t="t" r="r" b="b"/>
              <a:pathLst>
                <a:path w="107950" h="770254">
                  <a:moveTo>
                    <a:pt x="0" y="0"/>
                  </a:moveTo>
                  <a:lnTo>
                    <a:pt x="107635" y="0"/>
                  </a:lnTo>
                  <a:lnTo>
                    <a:pt x="107635"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33" name="object 33"/>
            <p:cNvSpPr/>
            <p:nvPr/>
          </p:nvSpPr>
          <p:spPr>
            <a:xfrm>
              <a:off x="4507974" y="2795296"/>
              <a:ext cx="106680" cy="760095"/>
            </a:xfrm>
            <a:custGeom>
              <a:avLst/>
              <a:gdLst/>
              <a:ahLst/>
              <a:cxnLst/>
              <a:rect l="l" t="t" r="r" b="b"/>
              <a:pathLst>
                <a:path w="106679" h="760095">
                  <a:moveTo>
                    <a:pt x="106141" y="0"/>
                  </a:moveTo>
                  <a:lnTo>
                    <a:pt x="0" y="0"/>
                  </a:lnTo>
                  <a:lnTo>
                    <a:pt x="0" y="759491"/>
                  </a:lnTo>
                  <a:lnTo>
                    <a:pt x="106141" y="759491"/>
                  </a:lnTo>
                  <a:lnTo>
                    <a:pt x="106141" y="0"/>
                  </a:lnTo>
                  <a:close/>
                </a:path>
              </a:pathLst>
            </a:custGeom>
            <a:solidFill>
              <a:srgbClr val="00FF00"/>
            </a:solidFill>
          </p:spPr>
          <p:txBody>
            <a:bodyPr wrap="square" lIns="0" tIns="0" rIns="0" bIns="0" rtlCol="0"/>
            <a:lstStyle/>
            <a:p>
              <a:endParaRPr sz="1588"/>
            </a:p>
          </p:txBody>
        </p:sp>
        <p:sp>
          <p:nvSpPr>
            <p:cNvPr id="34" name="object 34"/>
            <p:cNvSpPr/>
            <p:nvPr/>
          </p:nvSpPr>
          <p:spPr>
            <a:xfrm>
              <a:off x="4507974" y="2795296"/>
              <a:ext cx="106680" cy="760095"/>
            </a:xfrm>
            <a:custGeom>
              <a:avLst/>
              <a:gdLst/>
              <a:ahLst/>
              <a:cxnLst/>
              <a:rect l="l" t="t" r="r" b="b"/>
              <a:pathLst>
                <a:path w="106679" h="760095">
                  <a:moveTo>
                    <a:pt x="0" y="0"/>
                  </a:moveTo>
                  <a:lnTo>
                    <a:pt x="106140" y="0"/>
                  </a:lnTo>
                  <a:lnTo>
                    <a:pt x="106140" y="759492"/>
                  </a:lnTo>
                  <a:lnTo>
                    <a:pt x="0" y="759492"/>
                  </a:lnTo>
                  <a:lnTo>
                    <a:pt x="0" y="0"/>
                  </a:lnTo>
                  <a:close/>
                </a:path>
              </a:pathLst>
            </a:custGeom>
            <a:ln w="30479">
              <a:solidFill>
                <a:srgbClr val="000000"/>
              </a:solidFill>
            </a:ln>
          </p:spPr>
          <p:txBody>
            <a:bodyPr wrap="square" lIns="0" tIns="0" rIns="0" bIns="0" rtlCol="0"/>
            <a:lstStyle/>
            <a:p>
              <a:endParaRPr sz="1588"/>
            </a:p>
          </p:txBody>
        </p:sp>
        <p:sp>
          <p:nvSpPr>
            <p:cNvPr id="35" name="object 35"/>
            <p:cNvSpPr/>
            <p:nvPr/>
          </p:nvSpPr>
          <p:spPr>
            <a:xfrm>
              <a:off x="5802439" y="2958321"/>
              <a:ext cx="268605" cy="401955"/>
            </a:xfrm>
            <a:custGeom>
              <a:avLst/>
              <a:gdLst/>
              <a:ahLst/>
              <a:cxnLst/>
              <a:rect l="l" t="t" r="r" b="b"/>
              <a:pathLst>
                <a:path w="268604" h="401954">
                  <a:moveTo>
                    <a:pt x="268570" y="0"/>
                  </a:moveTo>
                  <a:lnTo>
                    <a:pt x="0" y="0"/>
                  </a:lnTo>
                  <a:lnTo>
                    <a:pt x="0" y="401941"/>
                  </a:lnTo>
                  <a:lnTo>
                    <a:pt x="268570" y="401941"/>
                  </a:lnTo>
                  <a:lnTo>
                    <a:pt x="268570" y="0"/>
                  </a:lnTo>
                  <a:close/>
                </a:path>
              </a:pathLst>
            </a:custGeom>
            <a:solidFill>
              <a:srgbClr val="0099FF"/>
            </a:solidFill>
          </p:spPr>
          <p:txBody>
            <a:bodyPr wrap="square" lIns="0" tIns="0" rIns="0" bIns="0" rtlCol="0"/>
            <a:lstStyle/>
            <a:p>
              <a:endParaRPr sz="1588"/>
            </a:p>
          </p:txBody>
        </p:sp>
        <p:sp>
          <p:nvSpPr>
            <p:cNvPr id="36" name="object 36"/>
            <p:cNvSpPr/>
            <p:nvPr/>
          </p:nvSpPr>
          <p:spPr>
            <a:xfrm>
              <a:off x="5802439" y="2958321"/>
              <a:ext cx="537210" cy="407034"/>
            </a:xfrm>
            <a:custGeom>
              <a:avLst/>
              <a:gdLst/>
              <a:ahLst/>
              <a:cxnLst/>
              <a:rect l="l" t="t" r="r" b="b"/>
              <a:pathLst>
                <a:path w="537210" h="407035">
                  <a:moveTo>
                    <a:pt x="537141" y="0"/>
                  </a:moveTo>
                  <a:lnTo>
                    <a:pt x="0" y="0"/>
                  </a:lnTo>
                  <a:lnTo>
                    <a:pt x="0" y="406647"/>
                  </a:lnTo>
                  <a:lnTo>
                    <a:pt x="537141" y="406647"/>
                  </a:lnTo>
                  <a:lnTo>
                    <a:pt x="537141" y="0"/>
                  </a:lnTo>
                  <a:close/>
                </a:path>
              </a:pathLst>
            </a:custGeom>
            <a:ln w="30479">
              <a:solidFill>
                <a:srgbClr val="000000"/>
              </a:solidFill>
            </a:ln>
          </p:spPr>
          <p:txBody>
            <a:bodyPr wrap="square" lIns="0" tIns="0" rIns="0" bIns="0" rtlCol="0"/>
            <a:lstStyle/>
            <a:p>
              <a:endParaRPr sz="1588"/>
            </a:p>
          </p:txBody>
        </p:sp>
      </p:grpSp>
      <p:sp>
        <p:nvSpPr>
          <p:cNvPr id="37" name="object 37"/>
          <p:cNvSpPr txBox="1"/>
          <p:nvPr/>
        </p:nvSpPr>
        <p:spPr>
          <a:xfrm>
            <a:off x="5374169" y="2664758"/>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38" name="object 38"/>
          <p:cNvGrpSpPr/>
          <p:nvPr/>
        </p:nvGrpSpPr>
        <p:grpSpPr>
          <a:xfrm>
            <a:off x="3541151" y="3496165"/>
            <a:ext cx="496981" cy="386043"/>
            <a:chOff x="3860904" y="3962320"/>
            <a:chExt cx="563245" cy="437515"/>
          </a:xfrm>
        </p:grpSpPr>
        <p:sp>
          <p:nvSpPr>
            <p:cNvPr id="39" name="object 39"/>
            <p:cNvSpPr/>
            <p:nvPr/>
          </p:nvSpPr>
          <p:spPr>
            <a:xfrm>
              <a:off x="4142305" y="3977560"/>
              <a:ext cx="266700" cy="401955"/>
            </a:xfrm>
            <a:custGeom>
              <a:avLst/>
              <a:gdLst/>
              <a:ahLst/>
              <a:cxnLst/>
              <a:rect l="l" t="t" r="r" b="b"/>
              <a:pathLst>
                <a:path w="266700" h="401954">
                  <a:moveTo>
                    <a:pt x="266162" y="0"/>
                  </a:moveTo>
                  <a:lnTo>
                    <a:pt x="0" y="0"/>
                  </a:lnTo>
                  <a:lnTo>
                    <a:pt x="0" y="401941"/>
                  </a:lnTo>
                  <a:lnTo>
                    <a:pt x="266162" y="401941"/>
                  </a:lnTo>
                  <a:lnTo>
                    <a:pt x="266162" y="0"/>
                  </a:lnTo>
                  <a:close/>
                </a:path>
              </a:pathLst>
            </a:custGeom>
            <a:solidFill>
              <a:srgbClr val="0099FF"/>
            </a:solidFill>
          </p:spPr>
          <p:txBody>
            <a:bodyPr wrap="square" lIns="0" tIns="0" rIns="0" bIns="0" rtlCol="0"/>
            <a:lstStyle/>
            <a:p>
              <a:endParaRPr sz="1588"/>
            </a:p>
          </p:txBody>
        </p:sp>
        <p:sp>
          <p:nvSpPr>
            <p:cNvPr id="40" name="object 40"/>
            <p:cNvSpPr/>
            <p:nvPr/>
          </p:nvSpPr>
          <p:spPr>
            <a:xfrm>
              <a:off x="3876144" y="3977560"/>
              <a:ext cx="532765" cy="407034"/>
            </a:xfrm>
            <a:custGeom>
              <a:avLst/>
              <a:gdLst/>
              <a:ahLst/>
              <a:cxnLst/>
              <a:rect l="l" t="t" r="r" b="b"/>
              <a:pathLst>
                <a:path w="532764" h="407035">
                  <a:moveTo>
                    <a:pt x="0" y="0"/>
                  </a:moveTo>
                  <a:lnTo>
                    <a:pt x="532324" y="0"/>
                  </a:lnTo>
                  <a:lnTo>
                    <a:pt x="532324" y="406647"/>
                  </a:lnTo>
                  <a:lnTo>
                    <a:pt x="0" y="406647"/>
                  </a:lnTo>
                  <a:lnTo>
                    <a:pt x="0" y="0"/>
                  </a:lnTo>
                  <a:close/>
                </a:path>
              </a:pathLst>
            </a:custGeom>
            <a:ln w="30479">
              <a:solidFill>
                <a:srgbClr val="000000"/>
              </a:solidFill>
            </a:ln>
          </p:spPr>
          <p:txBody>
            <a:bodyPr wrap="square" lIns="0" tIns="0" rIns="0" bIns="0" rtlCol="0"/>
            <a:lstStyle/>
            <a:p>
              <a:endParaRPr sz="1588"/>
            </a:p>
          </p:txBody>
        </p:sp>
      </p:grpSp>
      <p:sp>
        <p:nvSpPr>
          <p:cNvPr id="41" name="object 41"/>
          <p:cNvSpPr txBox="1"/>
          <p:nvPr/>
        </p:nvSpPr>
        <p:spPr>
          <a:xfrm>
            <a:off x="3670380" y="3565712"/>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42" name="object 42"/>
          <p:cNvGrpSpPr/>
          <p:nvPr/>
        </p:nvGrpSpPr>
        <p:grpSpPr>
          <a:xfrm>
            <a:off x="4012973" y="3389536"/>
            <a:ext cx="875740" cy="598394"/>
            <a:chOff x="4395636" y="3841474"/>
            <a:chExt cx="992505" cy="678180"/>
          </a:xfrm>
        </p:grpSpPr>
        <p:sp>
          <p:nvSpPr>
            <p:cNvPr id="43" name="object 43"/>
            <p:cNvSpPr/>
            <p:nvPr/>
          </p:nvSpPr>
          <p:spPr>
            <a:xfrm>
              <a:off x="4410876" y="4059588"/>
              <a:ext cx="588010" cy="243204"/>
            </a:xfrm>
            <a:custGeom>
              <a:avLst/>
              <a:gdLst/>
              <a:ahLst/>
              <a:cxnLst/>
              <a:rect l="l" t="t" r="r" b="b"/>
              <a:pathLst>
                <a:path w="588010" h="243204">
                  <a:moveTo>
                    <a:pt x="205536" y="0"/>
                  </a:moveTo>
                  <a:lnTo>
                    <a:pt x="587723" y="0"/>
                  </a:lnTo>
                </a:path>
                <a:path w="588010" h="243204">
                  <a:moveTo>
                    <a:pt x="0" y="0"/>
                  </a:moveTo>
                  <a:lnTo>
                    <a:pt x="97749" y="0"/>
                  </a:lnTo>
                </a:path>
                <a:path w="588010" h="243204">
                  <a:moveTo>
                    <a:pt x="205536" y="242591"/>
                  </a:moveTo>
                  <a:lnTo>
                    <a:pt x="587723" y="242591"/>
                  </a:lnTo>
                </a:path>
                <a:path w="588010" h="243204">
                  <a:moveTo>
                    <a:pt x="0" y="242591"/>
                  </a:moveTo>
                  <a:lnTo>
                    <a:pt x="97749" y="242591"/>
                  </a:lnTo>
                </a:path>
              </a:pathLst>
            </a:custGeom>
            <a:ln w="30481">
              <a:solidFill>
                <a:srgbClr val="000000"/>
              </a:solidFill>
            </a:ln>
          </p:spPr>
          <p:txBody>
            <a:bodyPr wrap="square" lIns="0" tIns="0" rIns="0" bIns="0" rtlCol="0"/>
            <a:lstStyle/>
            <a:p>
              <a:endParaRPr sz="1588"/>
            </a:p>
          </p:txBody>
        </p:sp>
        <p:sp>
          <p:nvSpPr>
            <p:cNvPr id="44" name="object 44"/>
            <p:cNvSpPr/>
            <p:nvPr/>
          </p:nvSpPr>
          <p:spPr>
            <a:xfrm>
              <a:off x="4922658" y="3856714"/>
              <a:ext cx="450215" cy="647700"/>
            </a:xfrm>
            <a:custGeom>
              <a:avLst/>
              <a:gdLst/>
              <a:ahLst/>
              <a:cxnLst/>
              <a:rect l="l" t="t" r="r" b="b"/>
              <a:pathLst>
                <a:path w="450214" h="647700">
                  <a:moveTo>
                    <a:pt x="0" y="0"/>
                  </a:moveTo>
                  <a:lnTo>
                    <a:pt x="0" y="647495"/>
                  </a:lnTo>
                  <a:lnTo>
                    <a:pt x="449958" y="485621"/>
                  </a:lnTo>
                  <a:lnTo>
                    <a:pt x="449958" y="161874"/>
                  </a:lnTo>
                  <a:lnTo>
                    <a:pt x="0" y="0"/>
                  </a:lnTo>
                  <a:close/>
                </a:path>
              </a:pathLst>
            </a:custGeom>
            <a:solidFill>
              <a:srgbClr val="FFFFFF"/>
            </a:solidFill>
          </p:spPr>
          <p:txBody>
            <a:bodyPr wrap="square" lIns="0" tIns="0" rIns="0" bIns="0" rtlCol="0"/>
            <a:lstStyle/>
            <a:p>
              <a:endParaRPr sz="1588"/>
            </a:p>
          </p:txBody>
        </p:sp>
        <p:sp>
          <p:nvSpPr>
            <p:cNvPr id="45" name="object 45"/>
            <p:cNvSpPr/>
            <p:nvPr/>
          </p:nvSpPr>
          <p:spPr>
            <a:xfrm>
              <a:off x="4922658" y="3856714"/>
              <a:ext cx="450215" cy="647700"/>
            </a:xfrm>
            <a:custGeom>
              <a:avLst/>
              <a:gdLst/>
              <a:ahLst/>
              <a:cxnLst/>
              <a:rect l="l" t="t" r="r" b="b"/>
              <a:pathLst>
                <a:path w="450214" h="647700">
                  <a:moveTo>
                    <a:pt x="0" y="647495"/>
                  </a:moveTo>
                  <a:lnTo>
                    <a:pt x="449958" y="485621"/>
                  </a:lnTo>
                  <a:lnTo>
                    <a:pt x="449958" y="161873"/>
                  </a:lnTo>
                  <a:lnTo>
                    <a:pt x="0" y="0"/>
                  </a:lnTo>
                  <a:lnTo>
                    <a:pt x="0" y="647495"/>
                  </a:lnTo>
                  <a:close/>
                </a:path>
              </a:pathLst>
            </a:custGeom>
            <a:ln w="30479">
              <a:solidFill>
                <a:srgbClr val="000000"/>
              </a:solidFill>
            </a:ln>
          </p:spPr>
          <p:txBody>
            <a:bodyPr wrap="square" lIns="0" tIns="0" rIns="0" bIns="0" rtlCol="0"/>
            <a:lstStyle/>
            <a:p>
              <a:endParaRPr sz="1588"/>
            </a:p>
          </p:txBody>
        </p:sp>
        <p:sp>
          <p:nvSpPr>
            <p:cNvPr id="46" name="object 46"/>
            <p:cNvSpPr/>
            <p:nvPr/>
          </p:nvSpPr>
          <p:spPr>
            <a:xfrm>
              <a:off x="4892617" y="4076340"/>
              <a:ext cx="240665" cy="209550"/>
            </a:xfrm>
            <a:custGeom>
              <a:avLst/>
              <a:gdLst/>
              <a:ahLst/>
              <a:cxnLst/>
              <a:rect l="l" t="t" r="r" b="b"/>
              <a:pathLst>
                <a:path w="240664" h="209550">
                  <a:moveTo>
                    <a:pt x="0" y="0"/>
                  </a:moveTo>
                  <a:lnTo>
                    <a:pt x="0" y="209087"/>
                  </a:lnTo>
                  <a:lnTo>
                    <a:pt x="240333" y="104543"/>
                  </a:lnTo>
                  <a:lnTo>
                    <a:pt x="0" y="0"/>
                  </a:lnTo>
                  <a:close/>
                </a:path>
              </a:pathLst>
            </a:custGeom>
            <a:solidFill>
              <a:srgbClr val="FFFFFF"/>
            </a:solidFill>
          </p:spPr>
          <p:txBody>
            <a:bodyPr wrap="square" lIns="0" tIns="0" rIns="0" bIns="0" rtlCol="0"/>
            <a:lstStyle/>
            <a:p>
              <a:endParaRPr sz="1588"/>
            </a:p>
          </p:txBody>
        </p:sp>
        <p:sp>
          <p:nvSpPr>
            <p:cNvPr id="47" name="object 47"/>
            <p:cNvSpPr/>
            <p:nvPr/>
          </p:nvSpPr>
          <p:spPr>
            <a:xfrm>
              <a:off x="4922658" y="4088565"/>
              <a:ext cx="186055" cy="184150"/>
            </a:xfrm>
            <a:custGeom>
              <a:avLst/>
              <a:gdLst/>
              <a:ahLst/>
              <a:cxnLst/>
              <a:rect l="l" t="t" r="r" b="b"/>
              <a:pathLst>
                <a:path w="186054" h="184150">
                  <a:moveTo>
                    <a:pt x="0" y="0"/>
                  </a:moveTo>
                  <a:lnTo>
                    <a:pt x="185591" y="91897"/>
                  </a:lnTo>
                  <a:lnTo>
                    <a:pt x="0" y="183794"/>
                  </a:lnTo>
                </a:path>
              </a:pathLst>
            </a:custGeom>
            <a:ln w="30479">
              <a:solidFill>
                <a:srgbClr val="000000"/>
              </a:solidFill>
            </a:ln>
          </p:spPr>
          <p:txBody>
            <a:bodyPr wrap="square" lIns="0" tIns="0" rIns="0" bIns="0" rtlCol="0"/>
            <a:lstStyle/>
            <a:p>
              <a:endParaRPr sz="1588"/>
            </a:p>
          </p:txBody>
        </p:sp>
      </p:grpSp>
      <p:sp>
        <p:nvSpPr>
          <p:cNvPr id="48" name="object 48"/>
          <p:cNvSpPr txBox="1"/>
          <p:nvPr/>
        </p:nvSpPr>
        <p:spPr>
          <a:xfrm>
            <a:off x="4643709" y="3526911"/>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49" name="object 49"/>
          <p:cNvGrpSpPr/>
          <p:nvPr/>
        </p:nvGrpSpPr>
        <p:grpSpPr>
          <a:xfrm>
            <a:off x="4865230" y="3497705"/>
            <a:ext cx="1295960" cy="384361"/>
            <a:chOff x="5361527" y="3964065"/>
            <a:chExt cx="1468755" cy="435609"/>
          </a:xfrm>
        </p:grpSpPr>
        <p:sp>
          <p:nvSpPr>
            <p:cNvPr id="50" name="object 50"/>
            <p:cNvSpPr/>
            <p:nvPr/>
          </p:nvSpPr>
          <p:spPr>
            <a:xfrm>
              <a:off x="5376767" y="4181756"/>
              <a:ext cx="1438275" cy="0"/>
            </a:xfrm>
            <a:custGeom>
              <a:avLst/>
              <a:gdLst/>
              <a:ahLst/>
              <a:cxnLst/>
              <a:rect l="l" t="t" r="r" b="b"/>
              <a:pathLst>
                <a:path w="1438275">
                  <a:moveTo>
                    <a:pt x="0" y="0"/>
                  </a:moveTo>
                  <a:lnTo>
                    <a:pt x="125905" y="0"/>
                  </a:lnTo>
                </a:path>
                <a:path w="1438275">
                  <a:moveTo>
                    <a:pt x="232195" y="0"/>
                  </a:moveTo>
                  <a:lnTo>
                    <a:pt x="433179" y="0"/>
                  </a:lnTo>
                </a:path>
                <a:path w="1438275">
                  <a:moveTo>
                    <a:pt x="1317562" y="0"/>
                  </a:moveTo>
                  <a:lnTo>
                    <a:pt x="1437996" y="0"/>
                  </a:lnTo>
                </a:path>
                <a:path w="1438275">
                  <a:moveTo>
                    <a:pt x="1018882" y="0"/>
                  </a:moveTo>
                  <a:lnTo>
                    <a:pt x="1209774" y="0"/>
                  </a:lnTo>
                </a:path>
              </a:pathLst>
            </a:custGeom>
            <a:ln w="30481">
              <a:solidFill>
                <a:srgbClr val="000000"/>
              </a:solidFill>
            </a:ln>
          </p:spPr>
          <p:txBody>
            <a:bodyPr wrap="square" lIns="0" tIns="0" rIns="0" bIns="0" rtlCol="0"/>
            <a:lstStyle/>
            <a:p>
              <a:endParaRPr sz="1588"/>
            </a:p>
          </p:txBody>
        </p:sp>
        <p:sp>
          <p:nvSpPr>
            <p:cNvPr id="51" name="object 51"/>
            <p:cNvSpPr/>
            <p:nvPr/>
          </p:nvSpPr>
          <p:spPr>
            <a:xfrm>
              <a:off x="5809946" y="3979305"/>
              <a:ext cx="534035" cy="405130"/>
            </a:xfrm>
            <a:custGeom>
              <a:avLst/>
              <a:gdLst/>
              <a:ahLst/>
              <a:cxnLst/>
              <a:rect l="l" t="t" r="r" b="b"/>
              <a:pathLst>
                <a:path w="534035" h="405129">
                  <a:moveTo>
                    <a:pt x="0" y="0"/>
                  </a:moveTo>
                  <a:lnTo>
                    <a:pt x="533467" y="0"/>
                  </a:lnTo>
                  <a:lnTo>
                    <a:pt x="533467" y="404902"/>
                  </a:lnTo>
                  <a:lnTo>
                    <a:pt x="0" y="404902"/>
                  </a:lnTo>
                  <a:lnTo>
                    <a:pt x="0" y="0"/>
                  </a:lnTo>
                  <a:close/>
                </a:path>
              </a:pathLst>
            </a:custGeom>
            <a:ln w="30479">
              <a:solidFill>
                <a:srgbClr val="000000"/>
              </a:solidFill>
            </a:ln>
          </p:spPr>
          <p:txBody>
            <a:bodyPr wrap="square" lIns="0" tIns="0" rIns="0" bIns="0" rtlCol="0"/>
            <a:lstStyle/>
            <a:p>
              <a:endParaRPr sz="1588"/>
            </a:p>
          </p:txBody>
        </p:sp>
      </p:grpSp>
      <p:sp>
        <p:nvSpPr>
          <p:cNvPr id="52" name="object 52"/>
          <p:cNvSpPr txBox="1"/>
          <p:nvPr/>
        </p:nvSpPr>
        <p:spPr>
          <a:xfrm>
            <a:off x="5287140" y="3565712"/>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53" name="object 53"/>
          <p:cNvGrpSpPr/>
          <p:nvPr/>
        </p:nvGrpSpPr>
        <p:grpSpPr>
          <a:xfrm>
            <a:off x="3094259" y="3568543"/>
            <a:ext cx="2856379" cy="419660"/>
            <a:chOff x="3354427" y="4044348"/>
            <a:chExt cx="3237230" cy="475615"/>
          </a:xfrm>
        </p:grpSpPr>
        <p:sp>
          <p:nvSpPr>
            <p:cNvPr id="54" name="object 54"/>
            <p:cNvSpPr/>
            <p:nvPr/>
          </p:nvSpPr>
          <p:spPr>
            <a:xfrm>
              <a:off x="5752526" y="4181755"/>
              <a:ext cx="824230" cy="323215"/>
            </a:xfrm>
            <a:custGeom>
              <a:avLst/>
              <a:gdLst/>
              <a:ahLst/>
              <a:cxnLst/>
              <a:rect l="l" t="t" r="r" b="b"/>
              <a:pathLst>
                <a:path w="824229" h="323214">
                  <a:moveTo>
                    <a:pt x="0" y="0"/>
                  </a:moveTo>
                  <a:lnTo>
                    <a:pt x="0" y="322874"/>
                  </a:lnTo>
                  <a:lnTo>
                    <a:pt x="726862" y="322874"/>
                  </a:lnTo>
                  <a:lnTo>
                    <a:pt x="726862" y="121077"/>
                  </a:lnTo>
                  <a:lnTo>
                    <a:pt x="823777" y="121077"/>
                  </a:lnTo>
                </a:path>
              </a:pathLst>
            </a:custGeom>
            <a:ln w="30479">
              <a:solidFill>
                <a:srgbClr val="000000"/>
              </a:solidFill>
            </a:ln>
          </p:spPr>
          <p:txBody>
            <a:bodyPr wrap="square" lIns="0" tIns="0" rIns="0" bIns="0" rtlCol="0"/>
            <a:lstStyle/>
            <a:p>
              <a:endParaRPr sz="1588"/>
            </a:p>
          </p:txBody>
        </p:sp>
        <p:sp>
          <p:nvSpPr>
            <p:cNvPr id="55" name="object 55"/>
            <p:cNvSpPr/>
            <p:nvPr/>
          </p:nvSpPr>
          <p:spPr>
            <a:xfrm>
              <a:off x="3369667" y="4059588"/>
              <a:ext cx="506730" cy="244475"/>
            </a:xfrm>
            <a:custGeom>
              <a:avLst/>
              <a:gdLst/>
              <a:ahLst/>
              <a:cxnLst/>
              <a:rect l="l" t="t" r="r" b="b"/>
              <a:pathLst>
                <a:path w="506729" h="244475">
                  <a:moveTo>
                    <a:pt x="260186" y="244336"/>
                  </a:moveTo>
                  <a:lnTo>
                    <a:pt x="506477" y="244336"/>
                  </a:lnTo>
                </a:path>
                <a:path w="506729" h="244475">
                  <a:moveTo>
                    <a:pt x="0" y="244336"/>
                  </a:moveTo>
                  <a:lnTo>
                    <a:pt x="152398" y="244336"/>
                  </a:lnTo>
                </a:path>
                <a:path w="506729" h="244475">
                  <a:moveTo>
                    <a:pt x="260186" y="0"/>
                  </a:moveTo>
                  <a:lnTo>
                    <a:pt x="504068" y="0"/>
                  </a:lnTo>
                </a:path>
                <a:path w="506729" h="244475">
                  <a:moveTo>
                    <a:pt x="0" y="0"/>
                  </a:moveTo>
                  <a:lnTo>
                    <a:pt x="152398" y="0"/>
                  </a:lnTo>
                </a:path>
              </a:pathLst>
            </a:custGeom>
            <a:ln w="30481">
              <a:solidFill>
                <a:srgbClr val="000000"/>
              </a:solidFill>
            </a:ln>
          </p:spPr>
          <p:txBody>
            <a:bodyPr wrap="square" lIns="0" tIns="0" rIns="0" bIns="0" rtlCol="0"/>
            <a:lstStyle/>
            <a:p>
              <a:endParaRPr sz="1588"/>
            </a:p>
          </p:txBody>
        </p:sp>
      </p:grpSp>
      <p:sp>
        <p:nvSpPr>
          <p:cNvPr id="56" name="object 56"/>
          <p:cNvSpPr txBox="1"/>
          <p:nvPr/>
        </p:nvSpPr>
        <p:spPr>
          <a:xfrm>
            <a:off x="2634903" y="3511151"/>
            <a:ext cx="472888" cy="229188"/>
          </a:xfrm>
          <a:prstGeom prst="rect">
            <a:avLst/>
          </a:prstGeom>
          <a:ln w="30479">
            <a:solidFill>
              <a:srgbClr val="000000"/>
            </a:solidFill>
          </a:ln>
        </p:spPr>
        <p:txBody>
          <a:bodyPr vert="horz" wrap="square" lIns="0" tIns="65554" rIns="0" bIns="0" rtlCol="0">
            <a:spAutoFit/>
          </a:bodyPr>
          <a:lstStyle/>
          <a:p>
            <a:pPr marL="72282">
              <a:spcBef>
                <a:spcPts val="516"/>
              </a:spcBef>
            </a:pPr>
            <a:r>
              <a:rPr sz="1059" b="1" spc="-9" dirty="0">
                <a:latin typeface="Times New Roman"/>
                <a:cs typeface="Times New Roman"/>
              </a:rPr>
              <a:t>Ifetch</a:t>
            </a:r>
            <a:endParaRPr sz="1059">
              <a:latin typeface="Times New Roman"/>
              <a:cs typeface="Times New Roman"/>
            </a:endParaRPr>
          </a:p>
        </p:txBody>
      </p:sp>
      <p:grpSp>
        <p:nvGrpSpPr>
          <p:cNvPr id="57" name="object 57"/>
          <p:cNvGrpSpPr/>
          <p:nvPr/>
        </p:nvGrpSpPr>
        <p:grpSpPr>
          <a:xfrm>
            <a:off x="3228728" y="3336010"/>
            <a:ext cx="3406588" cy="706531"/>
            <a:chOff x="3506825" y="3780811"/>
            <a:chExt cx="3860800" cy="800735"/>
          </a:xfrm>
        </p:grpSpPr>
        <p:sp>
          <p:nvSpPr>
            <p:cNvPr id="58" name="object 58"/>
            <p:cNvSpPr/>
            <p:nvPr/>
          </p:nvSpPr>
          <p:spPr>
            <a:xfrm>
              <a:off x="4508625" y="3796051"/>
              <a:ext cx="107950" cy="770255"/>
            </a:xfrm>
            <a:custGeom>
              <a:avLst/>
              <a:gdLst/>
              <a:ahLst/>
              <a:cxnLst/>
              <a:rect l="l" t="t" r="r" b="b"/>
              <a:pathLst>
                <a:path w="107950" h="770254">
                  <a:moveTo>
                    <a:pt x="107787" y="0"/>
                  </a:moveTo>
                  <a:lnTo>
                    <a:pt x="0" y="0"/>
                  </a:lnTo>
                  <a:lnTo>
                    <a:pt x="0" y="769664"/>
                  </a:lnTo>
                  <a:lnTo>
                    <a:pt x="107787" y="769664"/>
                  </a:lnTo>
                  <a:lnTo>
                    <a:pt x="107787" y="0"/>
                  </a:lnTo>
                  <a:close/>
                </a:path>
              </a:pathLst>
            </a:custGeom>
            <a:solidFill>
              <a:srgbClr val="00FF00"/>
            </a:solidFill>
          </p:spPr>
          <p:txBody>
            <a:bodyPr wrap="square" lIns="0" tIns="0" rIns="0" bIns="0" rtlCol="0"/>
            <a:lstStyle/>
            <a:p>
              <a:endParaRPr sz="1588"/>
            </a:p>
          </p:txBody>
        </p:sp>
        <p:sp>
          <p:nvSpPr>
            <p:cNvPr id="59" name="object 59"/>
            <p:cNvSpPr/>
            <p:nvPr/>
          </p:nvSpPr>
          <p:spPr>
            <a:xfrm>
              <a:off x="4508625" y="3796051"/>
              <a:ext cx="107950" cy="770255"/>
            </a:xfrm>
            <a:custGeom>
              <a:avLst/>
              <a:gdLst/>
              <a:ahLst/>
              <a:cxnLst/>
              <a:rect l="l" t="t" r="r" b="b"/>
              <a:pathLst>
                <a:path w="107950" h="770254">
                  <a:moveTo>
                    <a:pt x="0" y="0"/>
                  </a:moveTo>
                  <a:lnTo>
                    <a:pt x="107787" y="0"/>
                  </a:lnTo>
                  <a:lnTo>
                    <a:pt x="107787"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60" name="object 60"/>
            <p:cNvSpPr/>
            <p:nvPr/>
          </p:nvSpPr>
          <p:spPr>
            <a:xfrm>
              <a:off x="6586541" y="3796051"/>
              <a:ext cx="107950" cy="770255"/>
            </a:xfrm>
            <a:custGeom>
              <a:avLst/>
              <a:gdLst/>
              <a:ahLst/>
              <a:cxnLst/>
              <a:rect l="l" t="t" r="r" b="b"/>
              <a:pathLst>
                <a:path w="107950" h="770254">
                  <a:moveTo>
                    <a:pt x="107788" y="0"/>
                  </a:moveTo>
                  <a:lnTo>
                    <a:pt x="0" y="0"/>
                  </a:lnTo>
                  <a:lnTo>
                    <a:pt x="0" y="769664"/>
                  </a:lnTo>
                  <a:lnTo>
                    <a:pt x="107788" y="769664"/>
                  </a:lnTo>
                  <a:lnTo>
                    <a:pt x="107788" y="0"/>
                  </a:lnTo>
                  <a:close/>
                </a:path>
              </a:pathLst>
            </a:custGeom>
            <a:solidFill>
              <a:srgbClr val="00FF00"/>
            </a:solidFill>
          </p:spPr>
          <p:txBody>
            <a:bodyPr wrap="square" lIns="0" tIns="0" rIns="0" bIns="0" rtlCol="0"/>
            <a:lstStyle/>
            <a:p>
              <a:endParaRPr sz="1588"/>
            </a:p>
          </p:txBody>
        </p:sp>
        <p:sp>
          <p:nvSpPr>
            <p:cNvPr id="61" name="object 61"/>
            <p:cNvSpPr/>
            <p:nvPr/>
          </p:nvSpPr>
          <p:spPr>
            <a:xfrm>
              <a:off x="6586541" y="3796051"/>
              <a:ext cx="107950" cy="770255"/>
            </a:xfrm>
            <a:custGeom>
              <a:avLst/>
              <a:gdLst/>
              <a:ahLst/>
              <a:cxnLst/>
              <a:rect l="l" t="t" r="r" b="b"/>
              <a:pathLst>
                <a:path w="107950" h="770254">
                  <a:moveTo>
                    <a:pt x="0" y="0"/>
                  </a:moveTo>
                  <a:lnTo>
                    <a:pt x="107787" y="0"/>
                  </a:lnTo>
                  <a:lnTo>
                    <a:pt x="107787"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62" name="object 62"/>
            <p:cNvSpPr/>
            <p:nvPr/>
          </p:nvSpPr>
          <p:spPr>
            <a:xfrm>
              <a:off x="3522065" y="3796051"/>
              <a:ext cx="107950" cy="770255"/>
            </a:xfrm>
            <a:custGeom>
              <a:avLst/>
              <a:gdLst/>
              <a:ahLst/>
              <a:cxnLst/>
              <a:rect l="l" t="t" r="r" b="b"/>
              <a:pathLst>
                <a:path w="107950" h="770254">
                  <a:moveTo>
                    <a:pt x="107787" y="0"/>
                  </a:moveTo>
                  <a:lnTo>
                    <a:pt x="0" y="0"/>
                  </a:lnTo>
                  <a:lnTo>
                    <a:pt x="0" y="769664"/>
                  </a:lnTo>
                  <a:lnTo>
                    <a:pt x="107787" y="769664"/>
                  </a:lnTo>
                  <a:lnTo>
                    <a:pt x="107787" y="0"/>
                  </a:lnTo>
                  <a:close/>
                </a:path>
              </a:pathLst>
            </a:custGeom>
            <a:solidFill>
              <a:srgbClr val="00FF00"/>
            </a:solidFill>
          </p:spPr>
          <p:txBody>
            <a:bodyPr wrap="square" lIns="0" tIns="0" rIns="0" bIns="0" rtlCol="0"/>
            <a:lstStyle/>
            <a:p>
              <a:endParaRPr sz="1588"/>
            </a:p>
          </p:txBody>
        </p:sp>
        <p:sp>
          <p:nvSpPr>
            <p:cNvPr id="63" name="object 63"/>
            <p:cNvSpPr/>
            <p:nvPr/>
          </p:nvSpPr>
          <p:spPr>
            <a:xfrm>
              <a:off x="3522065" y="3796051"/>
              <a:ext cx="107950" cy="770255"/>
            </a:xfrm>
            <a:custGeom>
              <a:avLst/>
              <a:gdLst/>
              <a:ahLst/>
              <a:cxnLst/>
              <a:rect l="l" t="t" r="r" b="b"/>
              <a:pathLst>
                <a:path w="107950" h="770254">
                  <a:moveTo>
                    <a:pt x="0" y="0"/>
                  </a:moveTo>
                  <a:lnTo>
                    <a:pt x="107787" y="0"/>
                  </a:lnTo>
                  <a:lnTo>
                    <a:pt x="107787"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64" name="object 64"/>
            <p:cNvSpPr/>
            <p:nvPr/>
          </p:nvSpPr>
          <p:spPr>
            <a:xfrm>
              <a:off x="5502672" y="3800571"/>
              <a:ext cx="106680" cy="760095"/>
            </a:xfrm>
            <a:custGeom>
              <a:avLst/>
              <a:gdLst/>
              <a:ahLst/>
              <a:cxnLst/>
              <a:rect l="l" t="t" r="r" b="b"/>
              <a:pathLst>
                <a:path w="106679" h="760095">
                  <a:moveTo>
                    <a:pt x="106290" y="0"/>
                  </a:moveTo>
                  <a:lnTo>
                    <a:pt x="0" y="0"/>
                  </a:lnTo>
                  <a:lnTo>
                    <a:pt x="0" y="759493"/>
                  </a:lnTo>
                  <a:lnTo>
                    <a:pt x="106290" y="759493"/>
                  </a:lnTo>
                  <a:lnTo>
                    <a:pt x="106290" y="0"/>
                  </a:lnTo>
                  <a:close/>
                </a:path>
              </a:pathLst>
            </a:custGeom>
            <a:solidFill>
              <a:srgbClr val="00FF00"/>
            </a:solidFill>
          </p:spPr>
          <p:txBody>
            <a:bodyPr wrap="square" lIns="0" tIns="0" rIns="0" bIns="0" rtlCol="0"/>
            <a:lstStyle/>
            <a:p>
              <a:endParaRPr sz="1588"/>
            </a:p>
          </p:txBody>
        </p:sp>
        <p:sp>
          <p:nvSpPr>
            <p:cNvPr id="65" name="object 65"/>
            <p:cNvSpPr/>
            <p:nvPr/>
          </p:nvSpPr>
          <p:spPr>
            <a:xfrm>
              <a:off x="5502672" y="3800571"/>
              <a:ext cx="106680" cy="760095"/>
            </a:xfrm>
            <a:custGeom>
              <a:avLst/>
              <a:gdLst/>
              <a:ahLst/>
              <a:cxnLst/>
              <a:rect l="l" t="t" r="r" b="b"/>
              <a:pathLst>
                <a:path w="106679" h="760095">
                  <a:moveTo>
                    <a:pt x="0" y="0"/>
                  </a:moveTo>
                  <a:lnTo>
                    <a:pt x="106291" y="0"/>
                  </a:lnTo>
                  <a:lnTo>
                    <a:pt x="106291" y="759492"/>
                  </a:lnTo>
                  <a:lnTo>
                    <a:pt x="0" y="759492"/>
                  </a:lnTo>
                  <a:lnTo>
                    <a:pt x="0" y="0"/>
                  </a:lnTo>
                  <a:close/>
                </a:path>
              </a:pathLst>
            </a:custGeom>
            <a:ln w="30479">
              <a:solidFill>
                <a:srgbClr val="000000"/>
              </a:solidFill>
            </a:ln>
          </p:spPr>
          <p:txBody>
            <a:bodyPr wrap="square" lIns="0" tIns="0" rIns="0" bIns="0" rtlCol="0"/>
            <a:lstStyle/>
            <a:p>
              <a:endParaRPr sz="1588"/>
            </a:p>
          </p:txBody>
        </p:sp>
        <p:sp>
          <p:nvSpPr>
            <p:cNvPr id="66" name="object 66"/>
            <p:cNvSpPr/>
            <p:nvPr/>
          </p:nvSpPr>
          <p:spPr>
            <a:xfrm>
              <a:off x="6814763" y="3963597"/>
              <a:ext cx="268605" cy="401955"/>
            </a:xfrm>
            <a:custGeom>
              <a:avLst/>
              <a:gdLst/>
              <a:ahLst/>
              <a:cxnLst/>
              <a:rect l="l" t="t" r="r" b="b"/>
              <a:pathLst>
                <a:path w="268604" h="401954">
                  <a:moveTo>
                    <a:pt x="268570" y="0"/>
                  </a:moveTo>
                  <a:lnTo>
                    <a:pt x="0" y="0"/>
                  </a:lnTo>
                  <a:lnTo>
                    <a:pt x="0" y="401941"/>
                  </a:lnTo>
                  <a:lnTo>
                    <a:pt x="268570" y="401941"/>
                  </a:lnTo>
                  <a:lnTo>
                    <a:pt x="268570" y="0"/>
                  </a:lnTo>
                  <a:close/>
                </a:path>
              </a:pathLst>
            </a:custGeom>
            <a:solidFill>
              <a:srgbClr val="0099FF"/>
            </a:solidFill>
          </p:spPr>
          <p:txBody>
            <a:bodyPr wrap="square" lIns="0" tIns="0" rIns="0" bIns="0" rtlCol="0"/>
            <a:lstStyle/>
            <a:p>
              <a:endParaRPr sz="1588"/>
            </a:p>
          </p:txBody>
        </p:sp>
        <p:sp>
          <p:nvSpPr>
            <p:cNvPr id="67" name="object 67"/>
            <p:cNvSpPr/>
            <p:nvPr/>
          </p:nvSpPr>
          <p:spPr>
            <a:xfrm>
              <a:off x="6814764" y="3963597"/>
              <a:ext cx="537210" cy="407034"/>
            </a:xfrm>
            <a:custGeom>
              <a:avLst/>
              <a:gdLst/>
              <a:ahLst/>
              <a:cxnLst/>
              <a:rect l="l" t="t" r="r" b="b"/>
              <a:pathLst>
                <a:path w="537209" h="407035">
                  <a:moveTo>
                    <a:pt x="537141" y="0"/>
                  </a:moveTo>
                  <a:lnTo>
                    <a:pt x="0" y="0"/>
                  </a:lnTo>
                  <a:lnTo>
                    <a:pt x="0" y="406647"/>
                  </a:lnTo>
                  <a:lnTo>
                    <a:pt x="537141" y="406647"/>
                  </a:lnTo>
                  <a:lnTo>
                    <a:pt x="537141" y="0"/>
                  </a:lnTo>
                  <a:close/>
                </a:path>
              </a:pathLst>
            </a:custGeom>
            <a:ln w="30479">
              <a:solidFill>
                <a:srgbClr val="000000"/>
              </a:solidFill>
            </a:ln>
          </p:spPr>
          <p:txBody>
            <a:bodyPr wrap="square" lIns="0" tIns="0" rIns="0" bIns="0" rtlCol="0"/>
            <a:lstStyle/>
            <a:p>
              <a:endParaRPr sz="1588"/>
            </a:p>
          </p:txBody>
        </p:sp>
      </p:grpSp>
      <p:sp>
        <p:nvSpPr>
          <p:cNvPr id="68" name="object 68"/>
          <p:cNvSpPr txBox="1"/>
          <p:nvPr/>
        </p:nvSpPr>
        <p:spPr>
          <a:xfrm>
            <a:off x="6267398" y="3552265"/>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69" name="object 69"/>
          <p:cNvGrpSpPr/>
          <p:nvPr/>
        </p:nvGrpSpPr>
        <p:grpSpPr>
          <a:xfrm>
            <a:off x="4417776" y="4309256"/>
            <a:ext cx="496981" cy="386043"/>
            <a:chOff x="4854412" y="4883823"/>
            <a:chExt cx="563245" cy="437515"/>
          </a:xfrm>
        </p:grpSpPr>
        <p:sp>
          <p:nvSpPr>
            <p:cNvPr id="70" name="object 70"/>
            <p:cNvSpPr/>
            <p:nvPr/>
          </p:nvSpPr>
          <p:spPr>
            <a:xfrm>
              <a:off x="5135814" y="4899063"/>
              <a:ext cx="266700" cy="401955"/>
            </a:xfrm>
            <a:custGeom>
              <a:avLst/>
              <a:gdLst/>
              <a:ahLst/>
              <a:cxnLst/>
              <a:rect l="l" t="t" r="r" b="b"/>
              <a:pathLst>
                <a:path w="266700" h="401954">
                  <a:moveTo>
                    <a:pt x="266162" y="0"/>
                  </a:moveTo>
                  <a:lnTo>
                    <a:pt x="0" y="0"/>
                  </a:lnTo>
                  <a:lnTo>
                    <a:pt x="0" y="401941"/>
                  </a:lnTo>
                  <a:lnTo>
                    <a:pt x="266162" y="401941"/>
                  </a:lnTo>
                  <a:lnTo>
                    <a:pt x="266162" y="0"/>
                  </a:lnTo>
                  <a:close/>
                </a:path>
              </a:pathLst>
            </a:custGeom>
            <a:solidFill>
              <a:srgbClr val="0099FF"/>
            </a:solidFill>
          </p:spPr>
          <p:txBody>
            <a:bodyPr wrap="square" lIns="0" tIns="0" rIns="0" bIns="0" rtlCol="0"/>
            <a:lstStyle/>
            <a:p>
              <a:endParaRPr sz="1588"/>
            </a:p>
          </p:txBody>
        </p:sp>
        <p:sp>
          <p:nvSpPr>
            <p:cNvPr id="71" name="object 71"/>
            <p:cNvSpPr/>
            <p:nvPr/>
          </p:nvSpPr>
          <p:spPr>
            <a:xfrm>
              <a:off x="4869652" y="4899063"/>
              <a:ext cx="532765" cy="407034"/>
            </a:xfrm>
            <a:custGeom>
              <a:avLst/>
              <a:gdLst/>
              <a:ahLst/>
              <a:cxnLst/>
              <a:rect l="l" t="t" r="r" b="b"/>
              <a:pathLst>
                <a:path w="532764" h="407035">
                  <a:moveTo>
                    <a:pt x="0" y="0"/>
                  </a:moveTo>
                  <a:lnTo>
                    <a:pt x="532324" y="0"/>
                  </a:lnTo>
                  <a:lnTo>
                    <a:pt x="532324" y="406647"/>
                  </a:lnTo>
                  <a:lnTo>
                    <a:pt x="0" y="406647"/>
                  </a:lnTo>
                  <a:lnTo>
                    <a:pt x="0" y="0"/>
                  </a:lnTo>
                  <a:close/>
                </a:path>
              </a:pathLst>
            </a:custGeom>
            <a:ln w="30479">
              <a:solidFill>
                <a:srgbClr val="000000"/>
              </a:solidFill>
            </a:ln>
          </p:spPr>
          <p:txBody>
            <a:bodyPr wrap="square" lIns="0" tIns="0" rIns="0" bIns="0" rtlCol="0"/>
            <a:lstStyle/>
            <a:p>
              <a:endParaRPr sz="1588"/>
            </a:p>
          </p:txBody>
        </p:sp>
      </p:grpSp>
      <p:sp>
        <p:nvSpPr>
          <p:cNvPr id="72" name="object 72"/>
          <p:cNvSpPr txBox="1"/>
          <p:nvPr/>
        </p:nvSpPr>
        <p:spPr>
          <a:xfrm>
            <a:off x="4547005" y="4377914"/>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3" name="object 73"/>
          <p:cNvGrpSpPr/>
          <p:nvPr/>
        </p:nvGrpSpPr>
        <p:grpSpPr>
          <a:xfrm>
            <a:off x="4889598" y="4202627"/>
            <a:ext cx="875740" cy="598394"/>
            <a:chOff x="5389144" y="4762977"/>
            <a:chExt cx="992505" cy="678180"/>
          </a:xfrm>
        </p:grpSpPr>
        <p:sp>
          <p:nvSpPr>
            <p:cNvPr id="74" name="object 74"/>
            <p:cNvSpPr/>
            <p:nvPr/>
          </p:nvSpPr>
          <p:spPr>
            <a:xfrm>
              <a:off x="5404384" y="4981090"/>
              <a:ext cx="588010" cy="243204"/>
            </a:xfrm>
            <a:custGeom>
              <a:avLst/>
              <a:gdLst/>
              <a:ahLst/>
              <a:cxnLst/>
              <a:rect l="l" t="t" r="r" b="b"/>
              <a:pathLst>
                <a:path w="588010" h="243204">
                  <a:moveTo>
                    <a:pt x="204439" y="0"/>
                  </a:moveTo>
                  <a:lnTo>
                    <a:pt x="587723" y="0"/>
                  </a:lnTo>
                </a:path>
                <a:path w="588010" h="243204">
                  <a:moveTo>
                    <a:pt x="0" y="0"/>
                  </a:moveTo>
                  <a:lnTo>
                    <a:pt x="96784" y="0"/>
                  </a:lnTo>
                </a:path>
                <a:path w="588010" h="243204">
                  <a:moveTo>
                    <a:pt x="204439" y="242592"/>
                  </a:moveTo>
                  <a:lnTo>
                    <a:pt x="587723" y="242592"/>
                  </a:lnTo>
                </a:path>
                <a:path w="588010" h="243204">
                  <a:moveTo>
                    <a:pt x="0" y="242592"/>
                  </a:moveTo>
                  <a:lnTo>
                    <a:pt x="96784" y="242592"/>
                  </a:lnTo>
                </a:path>
              </a:pathLst>
            </a:custGeom>
            <a:ln w="30481">
              <a:solidFill>
                <a:srgbClr val="000000"/>
              </a:solidFill>
            </a:ln>
          </p:spPr>
          <p:txBody>
            <a:bodyPr wrap="square" lIns="0" tIns="0" rIns="0" bIns="0" rtlCol="0"/>
            <a:lstStyle/>
            <a:p>
              <a:endParaRPr sz="1588"/>
            </a:p>
          </p:txBody>
        </p:sp>
        <p:sp>
          <p:nvSpPr>
            <p:cNvPr id="75" name="object 75"/>
            <p:cNvSpPr/>
            <p:nvPr/>
          </p:nvSpPr>
          <p:spPr>
            <a:xfrm>
              <a:off x="5916166" y="4778217"/>
              <a:ext cx="450215" cy="647700"/>
            </a:xfrm>
            <a:custGeom>
              <a:avLst/>
              <a:gdLst/>
              <a:ahLst/>
              <a:cxnLst/>
              <a:rect l="l" t="t" r="r" b="b"/>
              <a:pathLst>
                <a:path w="450214" h="647700">
                  <a:moveTo>
                    <a:pt x="0" y="0"/>
                  </a:moveTo>
                  <a:lnTo>
                    <a:pt x="0" y="647495"/>
                  </a:lnTo>
                  <a:lnTo>
                    <a:pt x="449958" y="485621"/>
                  </a:lnTo>
                  <a:lnTo>
                    <a:pt x="449958" y="161874"/>
                  </a:lnTo>
                  <a:lnTo>
                    <a:pt x="0" y="0"/>
                  </a:lnTo>
                  <a:close/>
                </a:path>
              </a:pathLst>
            </a:custGeom>
            <a:solidFill>
              <a:srgbClr val="FFFFFF"/>
            </a:solidFill>
          </p:spPr>
          <p:txBody>
            <a:bodyPr wrap="square" lIns="0" tIns="0" rIns="0" bIns="0" rtlCol="0"/>
            <a:lstStyle/>
            <a:p>
              <a:endParaRPr sz="1588"/>
            </a:p>
          </p:txBody>
        </p:sp>
        <p:sp>
          <p:nvSpPr>
            <p:cNvPr id="76" name="object 76"/>
            <p:cNvSpPr/>
            <p:nvPr/>
          </p:nvSpPr>
          <p:spPr>
            <a:xfrm>
              <a:off x="5916166" y="4778217"/>
              <a:ext cx="450215" cy="647700"/>
            </a:xfrm>
            <a:custGeom>
              <a:avLst/>
              <a:gdLst/>
              <a:ahLst/>
              <a:cxnLst/>
              <a:rect l="l" t="t" r="r" b="b"/>
              <a:pathLst>
                <a:path w="450214" h="647700">
                  <a:moveTo>
                    <a:pt x="0" y="647495"/>
                  </a:moveTo>
                  <a:lnTo>
                    <a:pt x="449958" y="485621"/>
                  </a:lnTo>
                  <a:lnTo>
                    <a:pt x="449958" y="161873"/>
                  </a:lnTo>
                  <a:lnTo>
                    <a:pt x="0" y="0"/>
                  </a:lnTo>
                  <a:lnTo>
                    <a:pt x="0" y="647495"/>
                  </a:lnTo>
                  <a:close/>
                </a:path>
              </a:pathLst>
            </a:custGeom>
            <a:ln w="30479">
              <a:solidFill>
                <a:srgbClr val="000000"/>
              </a:solidFill>
            </a:ln>
          </p:spPr>
          <p:txBody>
            <a:bodyPr wrap="square" lIns="0" tIns="0" rIns="0" bIns="0" rtlCol="0"/>
            <a:lstStyle/>
            <a:p>
              <a:endParaRPr sz="1588"/>
            </a:p>
          </p:txBody>
        </p:sp>
        <p:sp>
          <p:nvSpPr>
            <p:cNvPr id="77" name="object 77"/>
            <p:cNvSpPr/>
            <p:nvPr/>
          </p:nvSpPr>
          <p:spPr>
            <a:xfrm>
              <a:off x="5886126" y="4997843"/>
              <a:ext cx="240665" cy="209550"/>
            </a:xfrm>
            <a:custGeom>
              <a:avLst/>
              <a:gdLst/>
              <a:ahLst/>
              <a:cxnLst/>
              <a:rect l="l" t="t" r="r" b="b"/>
              <a:pathLst>
                <a:path w="240664" h="209550">
                  <a:moveTo>
                    <a:pt x="0" y="0"/>
                  </a:moveTo>
                  <a:lnTo>
                    <a:pt x="0" y="209086"/>
                  </a:lnTo>
                  <a:lnTo>
                    <a:pt x="240333" y="104543"/>
                  </a:lnTo>
                  <a:lnTo>
                    <a:pt x="0" y="0"/>
                  </a:lnTo>
                  <a:close/>
                </a:path>
              </a:pathLst>
            </a:custGeom>
            <a:solidFill>
              <a:srgbClr val="FFFFFF"/>
            </a:solidFill>
          </p:spPr>
          <p:txBody>
            <a:bodyPr wrap="square" lIns="0" tIns="0" rIns="0" bIns="0" rtlCol="0"/>
            <a:lstStyle/>
            <a:p>
              <a:endParaRPr sz="1588"/>
            </a:p>
          </p:txBody>
        </p:sp>
        <p:sp>
          <p:nvSpPr>
            <p:cNvPr id="78" name="object 78"/>
            <p:cNvSpPr/>
            <p:nvPr/>
          </p:nvSpPr>
          <p:spPr>
            <a:xfrm>
              <a:off x="5916166" y="5010067"/>
              <a:ext cx="186055" cy="184150"/>
            </a:xfrm>
            <a:custGeom>
              <a:avLst/>
              <a:gdLst/>
              <a:ahLst/>
              <a:cxnLst/>
              <a:rect l="l" t="t" r="r" b="b"/>
              <a:pathLst>
                <a:path w="186054" h="184150">
                  <a:moveTo>
                    <a:pt x="0" y="0"/>
                  </a:moveTo>
                  <a:lnTo>
                    <a:pt x="185591" y="91897"/>
                  </a:lnTo>
                  <a:lnTo>
                    <a:pt x="0" y="183794"/>
                  </a:lnTo>
                </a:path>
              </a:pathLst>
            </a:custGeom>
            <a:ln w="30479">
              <a:solidFill>
                <a:srgbClr val="000000"/>
              </a:solidFill>
            </a:ln>
          </p:spPr>
          <p:txBody>
            <a:bodyPr wrap="square" lIns="0" tIns="0" rIns="0" bIns="0" rtlCol="0"/>
            <a:lstStyle/>
            <a:p>
              <a:endParaRPr sz="1588"/>
            </a:p>
          </p:txBody>
        </p:sp>
      </p:grpSp>
      <p:sp>
        <p:nvSpPr>
          <p:cNvPr id="79" name="object 79"/>
          <p:cNvSpPr txBox="1"/>
          <p:nvPr/>
        </p:nvSpPr>
        <p:spPr>
          <a:xfrm>
            <a:off x="5520338" y="4339113"/>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80" name="object 80"/>
          <p:cNvGrpSpPr/>
          <p:nvPr/>
        </p:nvGrpSpPr>
        <p:grpSpPr>
          <a:xfrm>
            <a:off x="5741855" y="4310796"/>
            <a:ext cx="1295960" cy="384361"/>
            <a:chOff x="6355035" y="4885568"/>
            <a:chExt cx="1468755" cy="435609"/>
          </a:xfrm>
        </p:grpSpPr>
        <p:sp>
          <p:nvSpPr>
            <p:cNvPr id="81" name="object 81"/>
            <p:cNvSpPr/>
            <p:nvPr/>
          </p:nvSpPr>
          <p:spPr>
            <a:xfrm>
              <a:off x="6370275" y="5103259"/>
              <a:ext cx="1438275" cy="0"/>
            </a:xfrm>
            <a:custGeom>
              <a:avLst/>
              <a:gdLst/>
              <a:ahLst/>
              <a:cxnLst/>
              <a:rect l="l" t="t" r="r" b="b"/>
              <a:pathLst>
                <a:path w="1438275">
                  <a:moveTo>
                    <a:pt x="0" y="0"/>
                  </a:moveTo>
                  <a:lnTo>
                    <a:pt x="213429" y="0"/>
                  </a:lnTo>
                </a:path>
                <a:path w="1438275">
                  <a:moveTo>
                    <a:pt x="319589" y="0"/>
                  </a:moveTo>
                  <a:lnTo>
                    <a:pt x="433179" y="0"/>
                  </a:lnTo>
                </a:path>
                <a:path w="1438275">
                  <a:moveTo>
                    <a:pt x="1307927" y="0"/>
                  </a:moveTo>
                  <a:lnTo>
                    <a:pt x="1437996" y="0"/>
                  </a:lnTo>
                </a:path>
                <a:path w="1438275">
                  <a:moveTo>
                    <a:pt x="966647" y="0"/>
                  </a:moveTo>
                  <a:lnTo>
                    <a:pt x="1200271" y="0"/>
                  </a:lnTo>
                </a:path>
              </a:pathLst>
            </a:custGeom>
            <a:ln w="30481">
              <a:solidFill>
                <a:srgbClr val="000000"/>
              </a:solidFill>
            </a:ln>
          </p:spPr>
          <p:txBody>
            <a:bodyPr wrap="square" lIns="0" tIns="0" rIns="0" bIns="0" rtlCol="0"/>
            <a:lstStyle/>
            <a:p>
              <a:endParaRPr sz="1588"/>
            </a:p>
          </p:txBody>
        </p:sp>
        <p:sp>
          <p:nvSpPr>
            <p:cNvPr id="82" name="object 82"/>
            <p:cNvSpPr/>
            <p:nvPr/>
          </p:nvSpPr>
          <p:spPr>
            <a:xfrm>
              <a:off x="6803454" y="4900808"/>
              <a:ext cx="534035" cy="405130"/>
            </a:xfrm>
            <a:custGeom>
              <a:avLst/>
              <a:gdLst/>
              <a:ahLst/>
              <a:cxnLst/>
              <a:rect l="l" t="t" r="r" b="b"/>
              <a:pathLst>
                <a:path w="534034" h="405129">
                  <a:moveTo>
                    <a:pt x="0" y="0"/>
                  </a:moveTo>
                  <a:lnTo>
                    <a:pt x="533467" y="0"/>
                  </a:lnTo>
                  <a:lnTo>
                    <a:pt x="533467" y="404902"/>
                  </a:lnTo>
                  <a:lnTo>
                    <a:pt x="0" y="404902"/>
                  </a:lnTo>
                  <a:lnTo>
                    <a:pt x="0" y="0"/>
                  </a:lnTo>
                  <a:close/>
                </a:path>
              </a:pathLst>
            </a:custGeom>
            <a:ln w="30479">
              <a:solidFill>
                <a:srgbClr val="000000"/>
              </a:solidFill>
            </a:ln>
          </p:spPr>
          <p:txBody>
            <a:bodyPr wrap="square" lIns="0" tIns="0" rIns="0" bIns="0" rtlCol="0"/>
            <a:lstStyle/>
            <a:p>
              <a:endParaRPr sz="1588"/>
            </a:p>
          </p:txBody>
        </p:sp>
      </p:grpSp>
      <p:sp>
        <p:nvSpPr>
          <p:cNvPr id="83" name="object 83"/>
          <p:cNvSpPr txBox="1"/>
          <p:nvPr/>
        </p:nvSpPr>
        <p:spPr>
          <a:xfrm>
            <a:off x="6163765" y="4380603"/>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84" name="object 84"/>
          <p:cNvGrpSpPr/>
          <p:nvPr/>
        </p:nvGrpSpPr>
        <p:grpSpPr>
          <a:xfrm>
            <a:off x="3970883" y="4381633"/>
            <a:ext cx="2835088" cy="419660"/>
            <a:chOff x="4347934" y="4965850"/>
            <a:chExt cx="3213100" cy="475615"/>
          </a:xfrm>
        </p:grpSpPr>
        <p:sp>
          <p:nvSpPr>
            <p:cNvPr id="85" name="object 85"/>
            <p:cNvSpPr/>
            <p:nvPr/>
          </p:nvSpPr>
          <p:spPr>
            <a:xfrm>
              <a:off x="6746034" y="5103258"/>
              <a:ext cx="800100" cy="323215"/>
            </a:xfrm>
            <a:custGeom>
              <a:avLst/>
              <a:gdLst/>
              <a:ahLst/>
              <a:cxnLst/>
              <a:rect l="l" t="t" r="r" b="b"/>
              <a:pathLst>
                <a:path w="800100" h="323214">
                  <a:moveTo>
                    <a:pt x="0" y="0"/>
                  </a:moveTo>
                  <a:lnTo>
                    <a:pt x="0" y="322874"/>
                  </a:lnTo>
                  <a:lnTo>
                    <a:pt x="705609" y="322874"/>
                  </a:lnTo>
                  <a:lnTo>
                    <a:pt x="705609" y="121077"/>
                  </a:lnTo>
                  <a:lnTo>
                    <a:pt x="799690" y="121077"/>
                  </a:lnTo>
                </a:path>
              </a:pathLst>
            </a:custGeom>
            <a:ln w="30479">
              <a:solidFill>
                <a:srgbClr val="000000"/>
              </a:solidFill>
            </a:ln>
          </p:spPr>
          <p:txBody>
            <a:bodyPr wrap="square" lIns="0" tIns="0" rIns="0" bIns="0" rtlCol="0"/>
            <a:lstStyle/>
            <a:p>
              <a:endParaRPr sz="1588"/>
            </a:p>
          </p:txBody>
        </p:sp>
        <p:sp>
          <p:nvSpPr>
            <p:cNvPr id="86" name="object 86"/>
            <p:cNvSpPr/>
            <p:nvPr/>
          </p:nvSpPr>
          <p:spPr>
            <a:xfrm>
              <a:off x="4363174" y="4981090"/>
              <a:ext cx="506730" cy="244475"/>
            </a:xfrm>
            <a:custGeom>
              <a:avLst/>
              <a:gdLst/>
              <a:ahLst/>
              <a:cxnLst/>
              <a:rect l="l" t="t" r="r" b="b"/>
              <a:pathLst>
                <a:path w="506729" h="244475">
                  <a:moveTo>
                    <a:pt x="0" y="244337"/>
                  </a:moveTo>
                  <a:lnTo>
                    <a:pt x="145171" y="244337"/>
                  </a:lnTo>
                </a:path>
                <a:path w="506729" h="244475">
                  <a:moveTo>
                    <a:pt x="252826" y="244337"/>
                  </a:moveTo>
                  <a:lnTo>
                    <a:pt x="506477" y="244337"/>
                  </a:lnTo>
                </a:path>
                <a:path w="506729" h="244475">
                  <a:moveTo>
                    <a:pt x="252826" y="0"/>
                  </a:moveTo>
                  <a:lnTo>
                    <a:pt x="504068" y="0"/>
                  </a:lnTo>
                </a:path>
                <a:path w="506729" h="244475">
                  <a:moveTo>
                    <a:pt x="0" y="0"/>
                  </a:moveTo>
                  <a:lnTo>
                    <a:pt x="145171" y="0"/>
                  </a:lnTo>
                </a:path>
              </a:pathLst>
            </a:custGeom>
            <a:ln w="30481">
              <a:solidFill>
                <a:srgbClr val="000000"/>
              </a:solidFill>
            </a:ln>
          </p:spPr>
          <p:txBody>
            <a:bodyPr wrap="square" lIns="0" tIns="0" rIns="0" bIns="0" rtlCol="0"/>
            <a:lstStyle/>
            <a:p>
              <a:endParaRPr sz="1588"/>
            </a:p>
          </p:txBody>
        </p:sp>
      </p:grpSp>
      <p:sp>
        <p:nvSpPr>
          <p:cNvPr id="87" name="object 87"/>
          <p:cNvSpPr txBox="1"/>
          <p:nvPr/>
        </p:nvSpPr>
        <p:spPr>
          <a:xfrm>
            <a:off x="3511527" y="4324243"/>
            <a:ext cx="472888" cy="230885"/>
          </a:xfrm>
          <a:prstGeom prst="rect">
            <a:avLst/>
          </a:prstGeom>
          <a:ln w="30479">
            <a:solidFill>
              <a:srgbClr val="000000"/>
            </a:solidFill>
          </a:ln>
        </p:spPr>
        <p:txBody>
          <a:bodyPr vert="horz" wrap="square" lIns="0" tIns="67235" rIns="0" bIns="0" rtlCol="0">
            <a:spAutoFit/>
          </a:bodyPr>
          <a:lstStyle/>
          <a:p>
            <a:pPr marL="72282">
              <a:spcBef>
                <a:spcPts val="529"/>
              </a:spcBef>
            </a:pPr>
            <a:r>
              <a:rPr sz="1059" b="1" spc="-9" dirty="0">
                <a:latin typeface="Times New Roman"/>
                <a:cs typeface="Times New Roman"/>
              </a:rPr>
              <a:t>Ifetch</a:t>
            </a:r>
            <a:endParaRPr sz="1059">
              <a:latin typeface="Times New Roman"/>
              <a:cs typeface="Times New Roman"/>
            </a:endParaRPr>
          </a:p>
        </p:txBody>
      </p:sp>
      <p:grpSp>
        <p:nvGrpSpPr>
          <p:cNvPr id="88" name="object 88"/>
          <p:cNvGrpSpPr/>
          <p:nvPr/>
        </p:nvGrpSpPr>
        <p:grpSpPr>
          <a:xfrm>
            <a:off x="4098977" y="4149101"/>
            <a:ext cx="3412751" cy="706531"/>
            <a:chOff x="4493106" y="4702314"/>
            <a:chExt cx="3867785" cy="800735"/>
          </a:xfrm>
        </p:grpSpPr>
        <p:sp>
          <p:nvSpPr>
            <p:cNvPr id="89" name="object 89"/>
            <p:cNvSpPr/>
            <p:nvPr/>
          </p:nvSpPr>
          <p:spPr>
            <a:xfrm>
              <a:off x="5501168" y="4717554"/>
              <a:ext cx="107950" cy="770255"/>
            </a:xfrm>
            <a:custGeom>
              <a:avLst/>
              <a:gdLst/>
              <a:ahLst/>
              <a:cxnLst/>
              <a:rect l="l" t="t" r="r" b="b"/>
              <a:pathLst>
                <a:path w="107950" h="770254">
                  <a:moveTo>
                    <a:pt x="107655" y="0"/>
                  </a:moveTo>
                  <a:lnTo>
                    <a:pt x="0" y="0"/>
                  </a:lnTo>
                  <a:lnTo>
                    <a:pt x="0" y="769663"/>
                  </a:lnTo>
                  <a:lnTo>
                    <a:pt x="107655" y="769663"/>
                  </a:lnTo>
                  <a:lnTo>
                    <a:pt x="107655" y="0"/>
                  </a:lnTo>
                  <a:close/>
                </a:path>
              </a:pathLst>
            </a:custGeom>
            <a:solidFill>
              <a:srgbClr val="00FF00"/>
            </a:solidFill>
          </p:spPr>
          <p:txBody>
            <a:bodyPr wrap="square" lIns="0" tIns="0" rIns="0" bIns="0" rtlCol="0"/>
            <a:lstStyle/>
            <a:p>
              <a:endParaRPr sz="1588"/>
            </a:p>
          </p:txBody>
        </p:sp>
        <p:sp>
          <p:nvSpPr>
            <p:cNvPr id="90" name="object 90"/>
            <p:cNvSpPr/>
            <p:nvPr/>
          </p:nvSpPr>
          <p:spPr>
            <a:xfrm>
              <a:off x="5501168" y="4717554"/>
              <a:ext cx="107950" cy="770255"/>
            </a:xfrm>
            <a:custGeom>
              <a:avLst/>
              <a:gdLst/>
              <a:ahLst/>
              <a:cxnLst/>
              <a:rect l="l" t="t" r="r" b="b"/>
              <a:pathLst>
                <a:path w="107950" h="770254">
                  <a:moveTo>
                    <a:pt x="0" y="0"/>
                  </a:moveTo>
                  <a:lnTo>
                    <a:pt x="107655" y="0"/>
                  </a:lnTo>
                  <a:lnTo>
                    <a:pt x="107655"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91" name="object 91"/>
            <p:cNvSpPr/>
            <p:nvPr/>
          </p:nvSpPr>
          <p:spPr>
            <a:xfrm>
              <a:off x="7570547" y="4717554"/>
              <a:ext cx="107950" cy="770255"/>
            </a:xfrm>
            <a:custGeom>
              <a:avLst/>
              <a:gdLst/>
              <a:ahLst/>
              <a:cxnLst/>
              <a:rect l="l" t="t" r="r" b="b"/>
              <a:pathLst>
                <a:path w="107950" h="770254">
                  <a:moveTo>
                    <a:pt x="107655" y="0"/>
                  </a:moveTo>
                  <a:lnTo>
                    <a:pt x="0" y="0"/>
                  </a:lnTo>
                  <a:lnTo>
                    <a:pt x="0" y="769663"/>
                  </a:lnTo>
                  <a:lnTo>
                    <a:pt x="107655" y="769663"/>
                  </a:lnTo>
                  <a:lnTo>
                    <a:pt x="107655" y="0"/>
                  </a:lnTo>
                  <a:close/>
                </a:path>
              </a:pathLst>
            </a:custGeom>
            <a:solidFill>
              <a:srgbClr val="00FF00"/>
            </a:solidFill>
          </p:spPr>
          <p:txBody>
            <a:bodyPr wrap="square" lIns="0" tIns="0" rIns="0" bIns="0" rtlCol="0"/>
            <a:lstStyle/>
            <a:p>
              <a:endParaRPr sz="1588"/>
            </a:p>
          </p:txBody>
        </p:sp>
        <p:sp>
          <p:nvSpPr>
            <p:cNvPr id="92" name="object 92"/>
            <p:cNvSpPr/>
            <p:nvPr/>
          </p:nvSpPr>
          <p:spPr>
            <a:xfrm>
              <a:off x="7570547" y="4717554"/>
              <a:ext cx="107950" cy="770255"/>
            </a:xfrm>
            <a:custGeom>
              <a:avLst/>
              <a:gdLst/>
              <a:ahLst/>
              <a:cxnLst/>
              <a:rect l="l" t="t" r="r" b="b"/>
              <a:pathLst>
                <a:path w="107950" h="770254">
                  <a:moveTo>
                    <a:pt x="0" y="0"/>
                  </a:moveTo>
                  <a:lnTo>
                    <a:pt x="107655" y="0"/>
                  </a:lnTo>
                  <a:lnTo>
                    <a:pt x="107655"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93" name="object 93"/>
            <p:cNvSpPr/>
            <p:nvPr/>
          </p:nvSpPr>
          <p:spPr>
            <a:xfrm>
              <a:off x="4508346" y="4717554"/>
              <a:ext cx="107950" cy="770255"/>
            </a:xfrm>
            <a:custGeom>
              <a:avLst/>
              <a:gdLst/>
              <a:ahLst/>
              <a:cxnLst/>
              <a:rect l="l" t="t" r="r" b="b"/>
              <a:pathLst>
                <a:path w="107950" h="770254">
                  <a:moveTo>
                    <a:pt x="107655" y="0"/>
                  </a:moveTo>
                  <a:lnTo>
                    <a:pt x="0" y="0"/>
                  </a:lnTo>
                  <a:lnTo>
                    <a:pt x="0" y="769663"/>
                  </a:lnTo>
                  <a:lnTo>
                    <a:pt x="107655" y="769663"/>
                  </a:lnTo>
                  <a:lnTo>
                    <a:pt x="107655" y="0"/>
                  </a:lnTo>
                  <a:close/>
                </a:path>
              </a:pathLst>
            </a:custGeom>
            <a:solidFill>
              <a:srgbClr val="00FF00"/>
            </a:solidFill>
          </p:spPr>
          <p:txBody>
            <a:bodyPr wrap="square" lIns="0" tIns="0" rIns="0" bIns="0" rtlCol="0"/>
            <a:lstStyle/>
            <a:p>
              <a:endParaRPr sz="1588"/>
            </a:p>
          </p:txBody>
        </p:sp>
        <p:sp>
          <p:nvSpPr>
            <p:cNvPr id="94" name="object 94"/>
            <p:cNvSpPr/>
            <p:nvPr/>
          </p:nvSpPr>
          <p:spPr>
            <a:xfrm>
              <a:off x="4508346" y="4717554"/>
              <a:ext cx="107950" cy="770255"/>
            </a:xfrm>
            <a:custGeom>
              <a:avLst/>
              <a:gdLst/>
              <a:ahLst/>
              <a:cxnLst/>
              <a:rect l="l" t="t" r="r" b="b"/>
              <a:pathLst>
                <a:path w="107950" h="770254">
                  <a:moveTo>
                    <a:pt x="0" y="0"/>
                  </a:moveTo>
                  <a:lnTo>
                    <a:pt x="107655" y="0"/>
                  </a:lnTo>
                  <a:lnTo>
                    <a:pt x="107655"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95" name="object 95"/>
            <p:cNvSpPr/>
            <p:nvPr/>
          </p:nvSpPr>
          <p:spPr>
            <a:xfrm>
              <a:off x="6583705" y="4722074"/>
              <a:ext cx="106680" cy="760095"/>
            </a:xfrm>
            <a:custGeom>
              <a:avLst/>
              <a:gdLst/>
              <a:ahLst/>
              <a:cxnLst/>
              <a:rect l="l" t="t" r="r" b="b"/>
              <a:pathLst>
                <a:path w="106679" h="760095">
                  <a:moveTo>
                    <a:pt x="106159" y="0"/>
                  </a:moveTo>
                  <a:lnTo>
                    <a:pt x="0" y="0"/>
                  </a:lnTo>
                  <a:lnTo>
                    <a:pt x="0" y="759493"/>
                  </a:lnTo>
                  <a:lnTo>
                    <a:pt x="106159" y="759493"/>
                  </a:lnTo>
                  <a:lnTo>
                    <a:pt x="106159" y="0"/>
                  </a:lnTo>
                  <a:close/>
                </a:path>
              </a:pathLst>
            </a:custGeom>
            <a:solidFill>
              <a:srgbClr val="00FF00"/>
            </a:solidFill>
          </p:spPr>
          <p:txBody>
            <a:bodyPr wrap="square" lIns="0" tIns="0" rIns="0" bIns="0" rtlCol="0"/>
            <a:lstStyle/>
            <a:p>
              <a:endParaRPr sz="1588"/>
            </a:p>
          </p:txBody>
        </p:sp>
        <p:sp>
          <p:nvSpPr>
            <p:cNvPr id="96" name="object 96"/>
            <p:cNvSpPr/>
            <p:nvPr/>
          </p:nvSpPr>
          <p:spPr>
            <a:xfrm>
              <a:off x="6583705" y="4722074"/>
              <a:ext cx="106680" cy="760095"/>
            </a:xfrm>
            <a:custGeom>
              <a:avLst/>
              <a:gdLst/>
              <a:ahLst/>
              <a:cxnLst/>
              <a:rect l="l" t="t" r="r" b="b"/>
              <a:pathLst>
                <a:path w="106679" h="760095">
                  <a:moveTo>
                    <a:pt x="0" y="0"/>
                  </a:moveTo>
                  <a:lnTo>
                    <a:pt x="106159" y="0"/>
                  </a:lnTo>
                  <a:lnTo>
                    <a:pt x="106159" y="759492"/>
                  </a:lnTo>
                  <a:lnTo>
                    <a:pt x="0" y="759492"/>
                  </a:lnTo>
                  <a:lnTo>
                    <a:pt x="0" y="0"/>
                  </a:lnTo>
                  <a:close/>
                </a:path>
              </a:pathLst>
            </a:custGeom>
            <a:ln w="30479">
              <a:solidFill>
                <a:srgbClr val="000000"/>
              </a:solidFill>
            </a:ln>
          </p:spPr>
          <p:txBody>
            <a:bodyPr wrap="square" lIns="0" tIns="0" rIns="0" bIns="0" rtlCol="0"/>
            <a:lstStyle/>
            <a:p>
              <a:endParaRPr sz="1588"/>
            </a:p>
          </p:txBody>
        </p:sp>
        <p:sp>
          <p:nvSpPr>
            <p:cNvPr id="97" name="object 97"/>
            <p:cNvSpPr/>
            <p:nvPr/>
          </p:nvSpPr>
          <p:spPr>
            <a:xfrm>
              <a:off x="7808272" y="4885100"/>
              <a:ext cx="268605" cy="401955"/>
            </a:xfrm>
            <a:custGeom>
              <a:avLst/>
              <a:gdLst/>
              <a:ahLst/>
              <a:cxnLst/>
              <a:rect l="l" t="t" r="r" b="b"/>
              <a:pathLst>
                <a:path w="268604" h="401954">
                  <a:moveTo>
                    <a:pt x="268570" y="0"/>
                  </a:moveTo>
                  <a:lnTo>
                    <a:pt x="0" y="0"/>
                  </a:lnTo>
                  <a:lnTo>
                    <a:pt x="0" y="401941"/>
                  </a:lnTo>
                  <a:lnTo>
                    <a:pt x="268570" y="401941"/>
                  </a:lnTo>
                  <a:lnTo>
                    <a:pt x="268570" y="0"/>
                  </a:lnTo>
                  <a:close/>
                </a:path>
              </a:pathLst>
            </a:custGeom>
            <a:solidFill>
              <a:srgbClr val="0099FF"/>
            </a:solidFill>
          </p:spPr>
          <p:txBody>
            <a:bodyPr wrap="square" lIns="0" tIns="0" rIns="0" bIns="0" rtlCol="0"/>
            <a:lstStyle/>
            <a:p>
              <a:endParaRPr sz="1588"/>
            </a:p>
          </p:txBody>
        </p:sp>
        <p:sp>
          <p:nvSpPr>
            <p:cNvPr id="98" name="object 98"/>
            <p:cNvSpPr/>
            <p:nvPr/>
          </p:nvSpPr>
          <p:spPr>
            <a:xfrm>
              <a:off x="7808272" y="4885099"/>
              <a:ext cx="537210" cy="407034"/>
            </a:xfrm>
            <a:custGeom>
              <a:avLst/>
              <a:gdLst/>
              <a:ahLst/>
              <a:cxnLst/>
              <a:rect l="l" t="t" r="r" b="b"/>
              <a:pathLst>
                <a:path w="537209" h="407035">
                  <a:moveTo>
                    <a:pt x="537141" y="0"/>
                  </a:moveTo>
                  <a:lnTo>
                    <a:pt x="0" y="0"/>
                  </a:lnTo>
                  <a:lnTo>
                    <a:pt x="0" y="406647"/>
                  </a:lnTo>
                  <a:lnTo>
                    <a:pt x="537141" y="406647"/>
                  </a:lnTo>
                  <a:lnTo>
                    <a:pt x="537141" y="0"/>
                  </a:lnTo>
                  <a:close/>
                </a:path>
              </a:pathLst>
            </a:custGeom>
            <a:ln w="30479">
              <a:solidFill>
                <a:srgbClr val="000000"/>
              </a:solidFill>
            </a:ln>
          </p:spPr>
          <p:txBody>
            <a:bodyPr wrap="square" lIns="0" tIns="0" rIns="0" bIns="0" rtlCol="0"/>
            <a:lstStyle/>
            <a:p>
              <a:endParaRPr sz="1588"/>
            </a:p>
          </p:txBody>
        </p:sp>
      </p:grpSp>
      <p:sp>
        <p:nvSpPr>
          <p:cNvPr id="99" name="object 99"/>
          <p:cNvSpPr txBox="1"/>
          <p:nvPr/>
        </p:nvSpPr>
        <p:spPr>
          <a:xfrm>
            <a:off x="7144024" y="4364466"/>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0" name="object 100"/>
          <p:cNvGrpSpPr/>
          <p:nvPr/>
        </p:nvGrpSpPr>
        <p:grpSpPr>
          <a:xfrm>
            <a:off x="5294400" y="5122346"/>
            <a:ext cx="496981" cy="386043"/>
            <a:chOff x="5847920" y="5805325"/>
            <a:chExt cx="563245" cy="437515"/>
          </a:xfrm>
        </p:grpSpPr>
        <p:sp>
          <p:nvSpPr>
            <p:cNvPr id="101" name="object 101"/>
            <p:cNvSpPr/>
            <p:nvPr/>
          </p:nvSpPr>
          <p:spPr>
            <a:xfrm>
              <a:off x="6129322" y="5820565"/>
              <a:ext cx="266700" cy="401955"/>
            </a:xfrm>
            <a:custGeom>
              <a:avLst/>
              <a:gdLst/>
              <a:ahLst/>
              <a:cxnLst/>
              <a:rect l="l" t="t" r="r" b="b"/>
              <a:pathLst>
                <a:path w="266700" h="401954">
                  <a:moveTo>
                    <a:pt x="266162" y="0"/>
                  </a:moveTo>
                  <a:lnTo>
                    <a:pt x="0" y="0"/>
                  </a:lnTo>
                  <a:lnTo>
                    <a:pt x="0" y="401941"/>
                  </a:lnTo>
                  <a:lnTo>
                    <a:pt x="266162" y="401941"/>
                  </a:lnTo>
                  <a:lnTo>
                    <a:pt x="266162" y="0"/>
                  </a:lnTo>
                  <a:close/>
                </a:path>
              </a:pathLst>
            </a:custGeom>
            <a:solidFill>
              <a:srgbClr val="0099FF"/>
            </a:solidFill>
          </p:spPr>
          <p:txBody>
            <a:bodyPr wrap="square" lIns="0" tIns="0" rIns="0" bIns="0" rtlCol="0"/>
            <a:lstStyle/>
            <a:p>
              <a:endParaRPr sz="1588"/>
            </a:p>
          </p:txBody>
        </p:sp>
        <p:sp>
          <p:nvSpPr>
            <p:cNvPr id="102" name="object 102"/>
            <p:cNvSpPr/>
            <p:nvPr/>
          </p:nvSpPr>
          <p:spPr>
            <a:xfrm>
              <a:off x="5863160" y="5820565"/>
              <a:ext cx="532765" cy="407034"/>
            </a:xfrm>
            <a:custGeom>
              <a:avLst/>
              <a:gdLst/>
              <a:ahLst/>
              <a:cxnLst/>
              <a:rect l="l" t="t" r="r" b="b"/>
              <a:pathLst>
                <a:path w="532764" h="407035">
                  <a:moveTo>
                    <a:pt x="0" y="0"/>
                  </a:moveTo>
                  <a:lnTo>
                    <a:pt x="532324" y="0"/>
                  </a:lnTo>
                  <a:lnTo>
                    <a:pt x="532324" y="406647"/>
                  </a:lnTo>
                  <a:lnTo>
                    <a:pt x="0" y="406647"/>
                  </a:lnTo>
                  <a:lnTo>
                    <a:pt x="0" y="0"/>
                  </a:lnTo>
                  <a:close/>
                </a:path>
              </a:pathLst>
            </a:custGeom>
            <a:ln w="30479">
              <a:solidFill>
                <a:srgbClr val="000000"/>
              </a:solidFill>
            </a:ln>
          </p:spPr>
          <p:txBody>
            <a:bodyPr wrap="square" lIns="0" tIns="0" rIns="0" bIns="0" rtlCol="0"/>
            <a:lstStyle/>
            <a:p>
              <a:endParaRPr sz="1588"/>
            </a:p>
          </p:txBody>
        </p:sp>
      </p:grpSp>
      <p:sp>
        <p:nvSpPr>
          <p:cNvPr id="103" name="object 103"/>
          <p:cNvSpPr txBox="1"/>
          <p:nvPr/>
        </p:nvSpPr>
        <p:spPr>
          <a:xfrm>
            <a:off x="5423629" y="5190117"/>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4" name="object 104"/>
          <p:cNvGrpSpPr/>
          <p:nvPr/>
        </p:nvGrpSpPr>
        <p:grpSpPr>
          <a:xfrm>
            <a:off x="5766224" y="5015717"/>
            <a:ext cx="875740" cy="598394"/>
            <a:chOff x="6382653" y="5684479"/>
            <a:chExt cx="992505" cy="678180"/>
          </a:xfrm>
        </p:grpSpPr>
        <p:sp>
          <p:nvSpPr>
            <p:cNvPr id="105" name="object 105"/>
            <p:cNvSpPr/>
            <p:nvPr/>
          </p:nvSpPr>
          <p:spPr>
            <a:xfrm>
              <a:off x="6397893" y="5902593"/>
              <a:ext cx="588010" cy="243204"/>
            </a:xfrm>
            <a:custGeom>
              <a:avLst/>
              <a:gdLst/>
              <a:ahLst/>
              <a:cxnLst/>
              <a:rect l="l" t="t" r="r" b="b"/>
              <a:pathLst>
                <a:path w="588009" h="243204">
                  <a:moveTo>
                    <a:pt x="0" y="0"/>
                  </a:moveTo>
                  <a:lnTo>
                    <a:pt x="186696" y="0"/>
                  </a:lnTo>
                </a:path>
                <a:path w="588009" h="243204">
                  <a:moveTo>
                    <a:pt x="294373" y="0"/>
                  </a:moveTo>
                  <a:lnTo>
                    <a:pt x="587723" y="0"/>
                  </a:lnTo>
                </a:path>
                <a:path w="588009" h="243204">
                  <a:moveTo>
                    <a:pt x="0" y="242591"/>
                  </a:moveTo>
                  <a:lnTo>
                    <a:pt x="186696" y="242591"/>
                  </a:lnTo>
                </a:path>
                <a:path w="588009" h="243204">
                  <a:moveTo>
                    <a:pt x="294373" y="242591"/>
                  </a:moveTo>
                  <a:lnTo>
                    <a:pt x="587723" y="242591"/>
                  </a:lnTo>
                </a:path>
              </a:pathLst>
            </a:custGeom>
            <a:ln w="30481">
              <a:solidFill>
                <a:srgbClr val="000000"/>
              </a:solidFill>
            </a:ln>
          </p:spPr>
          <p:txBody>
            <a:bodyPr wrap="square" lIns="0" tIns="0" rIns="0" bIns="0" rtlCol="0"/>
            <a:lstStyle/>
            <a:p>
              <a:endParaRPr sz="1588"/>
            </a:p>
          </p:txBody>
        </p:sp>
        <p:sp>
          <p:nvSpPr>
            <p:cNvPr id="106" name="object 106"/>
            <p:cNvSpPr/>
            <p:nvPr/>
          </p:nvSpPr>
          <p:spPr>
            <a:xfrm>
              <a:off x="6909675" y="5699719"/>
              <a:ext cx="450215" cy="647700"/>
            </a:xfrm>
            <a:custGeom>
              <a:avLst/>
              <a:gdLst/>
              <a:ahLst/>
              <a:cxnLst/>
              <a:rect l="l" t="t" r="r" b="b"/>
              <a:pathLst>
                <a:path w="450215" h="647700">
                  <a:moveTo>
                    <a:pt x="0" y="0"/>
                  </a:moveTo>
                  <a:lnTo>
                    <a:pt x="0" y="647495"/>
                  </a:lnTo>
                  <a:lnTo>
                    <a:pt x="449958" y="485621"/>
                  </a:lnTo>
                  <a:lnTo>
                    <a:pt x="449958" y="161874"/>
                  </a:lnTo>
                  <a:lnTo>
                    <a:pt x="0" y="0"/>
                  </a:lnTo>
                  <a:close/>
                </a:path>
              </a:pathLst>
            </a:custGeom>
            <a:solidFill>
              <a:srgbClr val="FFFFFF"/>
            </a:solidFill>
          </p:spPr>
          <p:txBody>
            <a:bodyPr wrap="square" lIns="0" tIns="0" rIns="0" bIns="0" rtlCol="0"/>
            <a:lstStyle/>
            <a:p>
              <a:endParaRPr sz="1588"/>
            </a:p>
          </p:txBody>
        </p:sp>
        <p:sp>
          <p:nvSpPr>
            <p:cNvPr id="107" name="object 107"/>
            <p:cNvSpPr/>
            <p:nvPr/>
          </p:nvSpPr>
          <p:spPr>
            <a:xfrm>
              <a:off x="6909675" y="5699719"/>
              <a:ext cx="450215" cy="647700"/>
            </a:xfrm>
            <a:custGeom>
              <a:avLst/>
              <a:gdLst/>
              <a:ahLst/>
              <a:cxnLst/>
              <a:rect l="l" t="t" r="r" b="b"/>
              <a:pathLst>
                <a:path w="450215" h="647700">
                  <a:moveTo>
                    <a:pt x="0" y="647495"/>
                  </a:moveTo>
                  <a:lnTo>
                    <a:pt x="449958" y="485621"/>
                  </a:lnTo>
                  <a:lnTo>
                    <a:pt x="449958" y="161873"/>
                  </a:lnTo>
                  <a:lnTo>
                    <a:pt x="0" y="0"/>
                  </a:lnTo>
                  <a:lnTo>
                    <a:pt x="0" y="647495"/>
                  </a:lnTo>
                  <a:close/>
                </a:path>
              </a:pathLst>
            </a:custGeom>
            <a:ln w="30479">
              <a:solidFill>
                <a:srgbClr val="000000"/>
              </a:solidFill>
            </a:ln>
          </p:spPr>
          <p:txBody>
            <a:bodyPr wrap="square" lIns="0" tIns="0" rIns="0" bIns="0" rtlCol="0"/>
            <a:lstStyle/>
            <a:p>
              <a:endParaRPr sz="1588"/>
            </a:p>
          </p:txBody>
        </p:sp>
        <p:sp>
          <p:nvSpPr>
            <p:cNvPr id="108" name="object 108"/>
            <p:cNvSpPr/>
            <p:nvPr/>
          </p:nvSpPr>
          <p:spPr>
            <a:xfrm>
              <a:off x="6879634" y="5919345"/>
              <a:ext cx="240665" cy="209550"/>
            </a:xfrm>
            <a:custGeom>
              <a:avLst/>
              <a:gdLst/>
              <a:ahLst/>
              <a:cxnLst/>
              <a:rect l="l" t="t" r="r" b="b"/>
              <a:pathLst>
                <a:path w="240665" h="209550">
                  <a:moveTo>
                    <a:pt x="0" y="0"/>
                  </a:moveTo>
                  <a:lnTo>
                    <a:pt x="0" y="209086"/>
                  </a:lnTo>
                  <a:lnTo>
                    <a:pt x="240333" y="104543"/>
                  </a:lnTo>
                  <a:lnTo>
                    <a:pt x="0" y="0"/>
                  </a:lnTo>
                  <a:close/>
                </a:path>
              </a:pathLst>
            </a:custGeom>
            <a:solidFill>
              <a:srgbClr val="FFFFFF"/>
            </a:solidFill>
          </p:spPr>
          <p:txBody>
            <a:bodyPr wrap="square" lIns="0" tIns="0" rIns="0" bIns="0" rtlCol="0"/>
            <a:lstStyle/>
            <a:p>
              <a:endParaRPr sz="1588"/>
            </a:p>
          </p:txBody>
        </p:sp>
        <p:sp>
          <p:nvSpPr>
            <p:cNvPr id="109" name="object 109"/>
            <p:cNvSpPr/>
            <p:nvPr/>
          </p:nvSpPr>
          <p:spPr>
            <a:xfrm>
              <a:off x="6909675" y="5931570"/>
              <a:ext cx="186055" cy="184150"/>
            </a:xfrm>
            <a:custGeom>
              <a:avLst/>
              <a:gdLst/>
              <a:ahLst/>
              <a:cxnLst/>
              <a:rect l="l" t="t" r="r" b="b"/>
              <a:pathLst>
                <a:path w="186054" h="184150">
                  <a:moveTo>
                    <a:pt x="0" y="0"/>
                  </a:moveTo>
                  <a:lnTo>
                    <a:pt x="185591" y="91897"/>
                  </a:lnTo>
                  <a:lnTo>
                    <a:pt x="0" y="183794"/>
                  </a:lnTo>
                </a:path>
              </a:pathLst>
            </a:custGeom>
            <a:ln w="30479">
              <a:solidFill>
                <a:srgbClr val="000000"/>
              </a:solidFill>
            </a:ln>
          </p:spPr>
          <p:txBody>
            <a:bodyPr wrap="square" lIns="0" tIns="0" rIns="0" bIns="0" rtlCol="0"/>
            <a:lstStyle/>
            <a:p>
              <a:endParaRPr sz="1588"/>
            </a:p>
          </p:txBody>
        </p:sp>
      </p:grpSp>
      <p:sp>
        <p:nvSpPr>
          <p:cNvPr id="110" name="object 110"/>
          <p:cNvSpPr txBox="1"/>
          <p:nvPr/>
        </p:nvSpPr>
        <p:spPr>
          <a:xfrm>
            <a:off x="6396963" y="5154005"/>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11" name="object 111"/>
          <p:cNvGrpSpPr/>
          <p:nvPr/>
        </p:nvGrpSpPr>
        <p:grpSpPr>
          <a:xfrm>
            <a:off x="6618480" y="5123885"/>
            <a:ext cx="1295960" cy="384361"/>
            <a:chOff x="7348543" y="5807069"/>
            <a:chExt cx="1468755" cy="435609"/>
          </a:xfrm>
        </p:grpSpPr>
        <p:sp>
          <p:nvSpPr>
            <p:cNvPr id="112" name="object 112"/>
            <p:cNvSpPr/>
            <p:nvPr/>
          </p:nvSpPr>
          <p:spPr>
            <a:xfrm>
              <a:off x="7363783" y="6024761"/>
              <a:ext cx="1438275" cy="0"/>
            </a:xfrm>
            <a:custGeom>
              <a:avLst/>
              <a:gdLst/>
              <a:ahLst/>
              <a:cxnLst/>
              <a:rect l="l" t="t" r="r" b="b"/>
              <a:pathLst>
                <a:path w="1438275">
                  <a:moveTo>
                    <a:pt x="0" y="0"/>
                  </a:moveTo>
                  <a:lnTo>
                    <a:pt x="207829" y="0"/>
                  </a:lnTo>
                </a:path>
                <a:path w="1438275">
                  <a:moveTo>
                    <a:pt x="314008" y="0"/>
                  </a:moveTo>
                  <a:lnTo>
                    <a:pt x="433179" y="0"/>
                  </a:lnTo>
                </a:path>
                <a:path w="1438275">
                  <a:moveTo>
                    <a:pt x="1018882" y="0"/>
                  </a:moveTo>
                  <a:lnTo>
                    <a:pt x="1197842" y="0"/>
                  </a:lnTo>
                </a:path>
                <a:path w="1438275">
                  <a:moveTo>
                    <a:pt x="1305518" y="0"/>
                  </a:moveTo>
                  <a:lnTo>
                    <a:pt x="1437996" y="0"/>
                  </a:lnTo>
                </a:path>
              </a:pathLst>
            </a:custGeom>
            <a:ln w="30481">
              <a:solidFill>
                <a:srgbClr val="000000"/>
              </a:solidFill>
            </a:ln>
          </p:spPr>
          <p:txBody>
            <a:bodyPr wrap="square" lIns="0" tIns="0" rIns="0" bIns="0" rtlCol="0"/>
            <a:lstStyle/>
            <a:p>
              <a:endParaRPr sz="1588"/>
            </a:p>
          </p:txBody>
        </p:sp>
        <p:sp>
          <p:nvSpPr>
            <p:cNvPr id="113" name="object 113"/>
            <p:cNvSpPr/>
            <p:nvPr/>
          </p:nvSpPr>
          <p:spPr>
            <a:xfrm>
              <a:off x="7796962" y="5822309"/>
              <a:ext cx="534035" cy="405130"/>
            </a:xfrm>
            <a:custGeom>
              <a:avLst/>
              <a:gdLst/>
              <a:ahLst/>
              <a:cxnLst/>
              <a:rect l="l" t="t" r="r" b="b"/>
              <a:pathLst>
                <a:path w="534034" h="405129">
                  <a:moveTo>
                    <a:pt x="0" y="0"/>
                  </a:moveTo>
                  <a:lnTo>
                    <a:pt x="533467" y="0"/>
                  </a:lnTo>
                  <a:lnTo>
                    <a:pt x="533467" y="404902"/>
                  </a:lnTo>
                  <a:lnTo>
                    <a:pt x="0" y="404902"/>
                  </a:lnTo>
                  <a:lnTo>
                    <a:pt x="0" y="0"/>
                  </a:lnTo>
                  <a:close/>
                </a:path>
              </a:pathLst>
            </a:custGeom>
            <a:ln w="30479">
              <a:solidFill>
                <a:srgbClr val="000000"/>
              </a:solidFill>
            </a:ln>
          </p:spPr>
          <p:txBody>
            <a:bodyPr wrap="square" lIns="0" tIns="0" rIns="0" bIns="0" rtlCol="0"/>
            <a:lstStyle/>
            <a:p>
              <a:endParaRPr sz="1588"/>
            </a:p>
          </p:txBody>
        </p:sp>
      </p:grpSp>
      <p:sp>
        <p:nvSpPr>
          <p:cNvPr id="114" name="object 114"/>
          <p:cNvSpPr txBox="1"/>
          <p:nvPr/>
        </p:nvSpPr>
        <p:spPr>
          <a:xfrm>
            <a:off x="7027591" y="5192805"/>
            <a:ext cx="444313" cy="174309"/>
          </a:xfrm>
          <a:prstGeom prst="rect">
            <a:avLst/>
          </a:prstGeom>
        </p:spPr>
        <p:txBody>
          <a:bodyPr vert="horz" wrap="square" lIns="0" tIns="11206" rIns="0" bIns="0" rtlCol="0">
            <a:spAutoFit/>
          </a:bodyPr>
          <a:lstStyle/>
          <a:p>
            <a:pPr marL="23534">
              <a:spcBef>
                <a:spcPts val="88"/>
              </a:spcBef>
            </a:pPr>
            <a:r>
              <a:rPr sz="1059" b="1" spc="-18" dirty="0">
                <a:latin typeface="Times New Roman"/>
                <a:cs typeface="Times New Roman"/>
              </a:rPr>
              <a:t>DMem</a:t>
            </a:r>
            <a:endParaRPr sz="1059">
              <a:latin typeface="Times New Roman"/>
              <a:cs typeface="Times New Roman"/>
            </a:endParaRPr>
          </a:p>
        </p:txBody>
      </p:sp>
      <p:grpSp>
        <p:nvGrpSpPr>
          <p:cNvPr id="115" name="object 115"/>
          <p:cNvGrpSpPr/>
          <p:nvPr/>
        </p:nvGrpSpPr>
        <p:grpSpPr>
          <a:xfrm>
            <a:off x="4847509" y="5194724"/>
            <a:ext cx="2835088" cy="419660"/>
            <a:chOff x="5341443" y="5887353"/>
            <a:chExt cx="3213100" cy="475615"/>
          </a:xfrm>
        </p:grpSpPr>
        <p:sp>
          <p:nvSpPr>
            <p:cNvPr id="116" name="object 116"/>
            <p:cNvSpPr/>
            <p:nvPr/>
          </p:nvSpPr>
          <p:spPr>
            <a:xfrm>
              <a:off x="7739542" y="6024760"/>
              <a:ext cx="800100" cy="323215"/>
            </a:xfrm>
            <a:custGeom>
              <a:avLst/>
              <a:gdLst/>
              <a:ahLst/>
              <a:cxnLst/>
              <a:rect l="l" t="t" r="r" b="b"/>
              <a:pathLst>
                <a:path w="800100" h="323214">
                  <a:moveTo>
                    <a:pt x="0" y="0"/>
                  </a:moveTo>
                  <a:lnTo>
                    <a:pt x="0" y="322874"/>
                  </a:lnTo>
                  <a:lnTo>
                    <a:pt x="705609" y="322874"/>
                  </a:lnTo>
                  <a:lnTo>
                    <a:pt x="705609" y="121077"/>
                  </a:lnTo>
                  <a:lnTo>
                    <a:pt x="799690" y="121077"/>
                  </a:lnTo>
                </a:path>
              </a:pathLst>
            </a:custGeom>
            <a:ln w="30479">
              <a:solidFill>
                <a:srgbClr val="000000"/>
              </a:solidFill>
            </a:ln>
          </p:spPr>
          <p:txBody>
            <a:bodyPr wrap="square" lIns="0" tIns="0" rIns="0" bIns="0" rtlCol="0"/>
            <a:lstStyle/>
            <a:p>
              <a:endParaRPr sz="1588"/>
            </a:p>
          </p:txBody>
        </p:sp>
        <p:sp>
          <p:nvSpPr>
            <p:cNvPr id="117" name="object 117"/>
            <p:cNvSpPr/>
            <p:nvPr/>
          </p:nvSpPr>
          <p:spPr>
            <a:xfrm>
              <a:off x="5356683" y="5902593"/>
              <a:ext cx="506730" cy="244475"/>
            </a:xfrm>
            <a:custGeom>
              <a:avLst/>
              <a:gdLst/>
              <a:ahLst/>
              <a:cxnLst/>
              <a:rect l="l" t="t" r="r" b="b"/>
              <a:pathLst>
                <a:path w="506729" h="244475">
                  <a:moveTo>
                    <a:pt x="252846" y="244336"/>
                  </a:moveTo>
                  <a:lnTo>
                    <a:pt x="506477" y="244336"/>
                  </a:lnTo>
                </a:path>
                <a:path w="506729" h="244475">
                  <a:moveTo>
                    <a:pt x="0" y="244336"/>
                  </a:moveTo>
                  <a:lnTo>
                    <a:pt x="145171" y="244336"/>
                  </a:lnTo>
                </a:path>
                <a:path w="506729" h="244475">
                  <a:moveTo>
                    <a:pt x="252846" y="0"/>
                  </a:moveTo>
                  <a:lnTo>
                    <a:pt x="504068" y="0"/>
                  </a:lnTo>
                </a:path>
                <a:path w="506729" h="244475">
                  <a:moveTo>
                    <a:pt x="0" y="0"/>
                  </a:moveTo>
                  <a:lnTo>
                    <a:pt x="145171" y="0"/>
                  </a:lnTo>
                </a:path>
              </a:pathLst>
            </a:custGeom>
            <a:ln w="30481">
              <a:solidFill>
                <a:srgbClr val="000000"/>
              </a:solidFill>
            </a:ln>
          </p:spPr>
          <p:txBody>
            <a:bodyPr wrap="square" lIns="0" tIns="0" rIns="0" bIns="0" rtlCol="0"/>
            <a:lstStyle/>
            <a:p>
              <a:endParaRPr sz="1588"/>
            </a:p>
          </p:txBody>
        </p:sp>
      </p:grpSp>
      <p:sp>
        <p:nvSpPr>
          <p:cNvPr id="118" name="object 118"/>
          <p:cNvSpPr txBox="1"/>
          <p:nvPr/>
        </p:nvSpPr>
        <p:spPr>
          <a:xfrm>
            <a:off x="4388152" y="5137331"/>
            <a:ext cx="472888" cy="230319"/>
          </a:xfrm>
          <a:prstGeom prst="rect">
            <a:avLst/>
          </a:prstGeom>
          <a:ln w="30479">
            <a:solidFill>
              <a:srgbClr val="000000"/>
            </a:solidFill>
          </a:ln>
        </p:spPr>
        <p:txBody>
          <a:bodyPr vert="horz" wrap="square" lIns="0" tIns="66675" rIns="0" bIns="0" rtlCol="0">
            <a:spAutoFit/>
          </a:bodyPr>
          <a:lstStyle/>
          <a:p>
            <a:pPr marL="72282">
              <a:spcBef>
                <a:spcPts val="525"/>
              </a:spcBef>
            </a:pPr>
            <a:r>
              <a:rPr sz="1059" b="1" spc="-9" dirty="0">
                <a:latin typeface="Times New Roman"/>
                <a:cs typeface="Times New Roman"/>
              </a:rPr>
              <a:t>Ifetch</a:t>
            </a:r>
            <a:endParaRPr sz="1059">
              <a:latin typeface="Times New Roman"/>
              <a:cs typeface="Times New Roman"/>
            </a:endParaRPr>
          </a:p>
        </p:txBody>
      </p:sp>
      <p:grpSp>
        <p:nvGrpSpPr>
          <p:cNvPr id="119" name="object 119"/>
          <p:cNvGrpSpPr/>
          <p:nvPr/>
        </p:nvGrpSpPr>
        <p:grpSpPr>
          <a:xfrm>
            <a:off x="4975601" y="4962191"/>
            <a:ext cx="3412751" cy="706531"/>
            <a:chOff x="5486614" y="5623816"/>
            <a:chExt cx="3867785" cy="800735"/>
          </a:xfrm>
        </p:grpSpPr>
        <p:sp>
          <p:nvSpPr>
            <p:cNvPr id="120" name="object 120"/>
            <p:cNvSpPr/>
            <p:nvPr/>
          </p:nvSpPr>
          <p:spPr>
            <a:xfrm>
              <a:off x="6584589" y="5639056"/>
              <a:ext cx="107950" cy="770255"/>
            </a:xfrm>
            <a:custGeom>
              <a:avLst/>
              <a:gdLst/>
              <a:ahLst/>
              <a:cxnLst/>
              <a:rect l="l" t="t" r="r" b="b"/>
              <a:pathLst>
                <a:path w="107950" h="770254">
                  <a:moveTo>
                    <a:pt x="107676" y="0"/>
                  </a:moveTo>
                  <a:lnTo>
                    <a:pt x="0" y="0"/>
                  </a:lnTo>
                  <a:lnTo>
                    <a:pt x="0" y="769663"/>
                  </a:lnTo>
                  <a:lnTo>
                    <a:pt x="107676" y="769663"/>
                  </a:lnTo>
                  <a:lnTo>
                    <a:pt x="107676" y="0"/>
                  </a:lnTo>
                  <a:close/>
                </a:path>
              </a:pathLst>
            </a:custGeom>
            <a:solidFill>
              <a:srgbClr val="00FF00"/>
            </a:solidFill>
          </p:spPr>
          <p:txBody>
            <a:bodyPr wrap="square" lIns="0" tIns="0" rIns="0" bIns="0" rtlCol="0"/>
            <a:lstStyle/>
            <a:p>
              <a:endParaRPr sz="1588"/>
            </a:p>
          </p:txBody>
        </p:sp>
        <p:sp>
          <p:nvSpPr>
            <p:cNvPr id="121" name="object 121"/>
            <p:cNvSpPr/>
            <p:nvPr/>
          </p:nvSpPr>
          <p:spPr>
            <a:xfrm>
              <a:off x="6584589" y="5639056"/>
              <a:ext cx="107950" cy="770255"/>
            </a:xfrm>
            <a:custGeom>
              <a:avLst/>
              <a:gdLst/>
              <a:ahLst/>
              <a:cxnLst/>
              <a:rect l="l" t="t" r="r" b="b"/>
              <a:pathLst>
                <a:path w="107950" h="770254">
                  <a:moveTo>
                    <a:pt x="0" y="0"/>
                  </a:moveTo>
                  <a:lnTo>
                    <a:pt x="107675" y="0"/>
                  </a:lnTo>
                  <a:lnTo>
                    <a:pt x="107675"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122" name="object 122"/>
            <p:cNvSpPr/>
            <p:nvPr/>
          </p:nvSpPr>
          <p:spPr>
            <a:xfrm>
              <a:off x="8561626" y="5639056"/>
              <a:ext cx="107950" cy="770255"/>
            </a:xfrm>
            <a:custGeom>
              <a:avLst/>
              <a:gdLst/>
              <a:ahLst/>
              <a:cxnLst/>
              <a:rect l="l" t="t" r="r" b="b"/>
              <a:pathLst>
                <a:path w="107950" h="770254">
                  <a:moveTo>
                    <a:pt x="107675" y="0"/>
                  </a:moveTo>
                  <a:lnTo>
                    <a:pt x="0" y="0"/>
                  </a:lnTo>
                  <a:lnTo>
                    <a:pt x="0" y="769663"/>
                  </a:lnTo>
                  <a:lnTo>
                    <a:pt x="107675" y="769663"/>
                  </a:lnTo>
                  <a:lnTo>
                    <a:pt x="107675" y="0"/>
                  </a:lnTo>
                  <a:close/>
                </a:path>
              </a:pathLst>
            </a:custGeom>
            <a:solidFill>
              <a:srgbClr val="00FF00"/>
            </a:solidFill>
          </p:spPr>
          <p:txBody>
            <a:bodyPr wrap="square" lIns="0" tIns="0" rIns="0" bIns="0" rtlCol="0"/>
            <a:lstStyle/>
            <a:p>
              <a:endParaRPr sz="1588"/>
            </a:p>
          </p:txBody>
        </p:sp>
        <p:sp>
          <p:nvSpPr>
            <p:cNvPr id="123" name="object 123"/>
            <p:cNvSpPr/>
            <p:nvPr/>
          </p:nvSpPr>
          <p:spPr>
            <a:xfrm>
              <a:off x="8561626" y="5639056"/>
              <a:ext cx="107950" cy="770255"/>
            </a:xfrm>
            <a:custGeom>
              <a:avLst/>
              <a:gdLst/>
              <a:ahLst/>
              <a:cxnLst/>
              <a:rect l="l" t="t" r="r" b="b"/>
              <a:pathLst>
                <a:path w="107950" h="770254">
                  <a:moveTo>
                    <a:pt x="0" y="0"/>
                  </a:moveTo>
                  <a:lnTo>
                    <a:pt x="107675" y="0"/>
                  </a:lnTo>
                  <a:lnTo>
                    <a:pt x="107675"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124" name="object 124"/>
            <p:cNvSpPr/>
            <p:nvPr/>
          </p:nvSpPr>
          <p:spPr>
            <a:xfrm>
              <a:off x="5501854" y="5639056"/>
              <a:ext cx="107950" cy="770255"/>
            </a:xfrm>
            <a:custGeom>
              <a:avLst/>
              <a:gdLst/>
              <a:ahLst/>
              <a:cxnLst/>
              <a:rect l="l" t="t" r="r" b="b"/>
              <a:pathLst>
                <a:path w="107950" h="770254">
                  <a:moveTo>
                    <a:pt x="107675" y="0"/>
                  </a:moveTo>
                  <a:lnTo>
                    <a:pt x="0" y="0"/>
                  </a:lnTo>
                  <a:lnTo>
                    <a:pt x="0" y="769663"/>
                  </a:lnTo>
                  <a:lnTo>
                    <a:pt x="107675" y="769663"/>
                  </a:lnTo>
                  <a:lnTo>
                    <a:pt x="107675" y="0"/>
                  </a:lnTo>
                  <a:close/>
                </a:path>
              </a:pathLst>
            </a:custGeom>
            <a:solidFill>
              <a:srgbClr val="00FF00"/>
            </a:solidFill>
          </p:spPr>
          <p:txBody>
            <a:bodyPr wrap="square" lIns="0" tIns="0" rIns="0" bIns="0" rtlCol="0"/>
            <a:lstStyle/>
            <a:p>
              <a:endParaRPr sz="1588"/>
            </a:p>
          </p:txBody>
        </p:sp>
        <p:sp>
          <p:nvSpPr>
            <p:cNvPr id="125" name="object 125"/>
            <p:cNvSpPr/>
            <p:nvPr/>
          </p:nvSpPr>
          <p:spPr>
            <a:xfrm>
              <a:off x="5501854" y="5639056"/>
              <a:ext cx="107950" cy="770255"/>
            </a:xfrm>
            <a:custGeom>
              <a:avLst/>
              <a:gdLst/>
              <a:ahLst/>
              <a:cxnLst/>
              <a:rect l="l" t="t" r="r" b="b"/>
              <a:pathLst>
                <a:path w="107950" h="770254">
                  <a:moveTo>
                    <a:pt x="0" y="0"/>
                  </a:moveTo>
                  <a:lnTo>
                    <a:pt x="107675" y="0"/>
                  </a:lnTo>
                  <a:lnTo>
                    <a:pt x="107675" y="769663"/>
                  </a:lnTo>
                  <a:lnTo>
                    <a:pt x="0" y="769663"/>
                  </a:lnTo>
                  <a:lnTo>
                    <a:pt x="0" y="0"/>
                  </a:lnTo>
                  <a:close/>
                </a:path>
              </a:pathLst>
            </a:custGeom>
            <a:ln w="30479">
              <a:solidFill>
                <a:srgbClr val="000000"/>
              </a:solidFill>
            </a:ln>
          </p:spPr>
          <p:txBody>
            <a:bodyPr wrap="square" lIns="0" tIns="0" rIns="0" bIns="0" rtlCol="0"/>
            <a:lstStyle/>
            <a:p>
              <a:endParaRPr sz="1588"/>
            </a:p>
          </p:txBody>
        </p:sp>
        <p:sp>
          <p:nvSpPr>
            <p:cNvPr id="126" name="object 126"/>
            <p:cNvSpPr/>
            <p:nvPr/>
          </p:nvSpPr>
          <p:spPr>
            <a:xfrm>
              <a:off x="7571613" y="5643576"/>
              <a:ext cx="106680" cy="760095"/>
            </a:xfrm>
            <a:custGeom>
              <a:avLst/>
              <a:gdLst/>
              <a:ahLst/>
              <a:cxnLst/>
              <a:rect l="l" t="t" r="r" b="b"/>
              <a:pathLst>
                <a:path w="106679" h="760095">
                  <a:moveTo>
                    <a:pt x="106179" y="0"/>
                  </a:moveTo>
                  <a:lnTo>
                    <a:pt x="0" y="0"/>
                  </a:lnTo>
                  <a:lnTo>
                    <a:pt x="0" y="759493"/>
                  </a:lnTo>
                  <a:lnTo>
                    <a:pt x="106179" y="759493"/>
                  </a:lnTo>
                  <a:lnTo>
                    <a:pt x="106179" y="0"/>
                  </a:lnTo>
                  <a:close/>
                </a:path>
              </a:pathLst>
            </a:custGeom>
            <a:solidFill>
              <a:srgbClr val="00FF00"/>
            </a:solidFill>
          </p:spPr>
          <p:txBody>
            <a:bodyPr wrap="square" lIns="0" tIns="0" rIns="0" bIns="0" rtlCol="0"/>
            <a:lstStyle/>
            <a:p>
              <a:endParaRPr sz="1588"/>
            </a:p>
          </p:txBody>
        </p:sp>
        <p:sp>
          <p:nvSpPr>
            <p:cNvPr id="127" name="object 127"/>
            <p:cNvSpPr/>
            <p:nvPr/>
          </p:nvSpPr>
          <p:spPr>
            <a:xfrm>
              <a:off x="7571613" y="5643576"/>
              <a:ext cx="106680" cy="760095"/>
            </a:xfrm>
            <a:custGeom>
              <a:avLst/>
              <a:gdLst/>
              <a:ahLst/>
              <a:cxnLst/>
              <a:rect l="l" t="t" r="r" b="b"/>
              <a:pathLst>
                <a:path w="106679" h="760095">
                  <a:moveTo>
                    <a:pt x="0" y="0"/>
                  </a:moveTo>
                  <a:lnTo>
                    <a:pt x="106180" y="0"/>
                  </a:lnTo>
                  <a:lnTo>
                    <a:pt x="106180" y="759492"/>
                  </a:lnTo>
                  <a:lnTo>
                    <a:pt x="0" y="759492"/>
                  </a:lnTo>
                  <a:lnTo>
                    <a:pt x="0" y="0"/>
                  </a:lnTo>
                  <a:close/>
                </a:path>
              </a:pathLst>
            </a:custGeom>
            <a:ln w="30479">
              <a:solidFill>
                <a:srgbClr val="000000"/>
              </a:solidFill>
            </a:ln>
          </p:spPr>
          <p:txBody>
            <a:bodyPr wrap="square" lIns="0" tIns="0" rIns="0" bIns="0" rtlCol="0"/>
            <a:lstStyle/>
            <a:p>
              <a:endParaRPr sz="1588"/>
            </a:p>
          </p:txBody>
        </p:sp>
        <p:sp>
          <p:nvSpPr>
            <p:cNvPr id="128" name="object 128"/>
            <p:cNvSpPr/>
            <p:nvPr/>
          </p:nvSpPr>
          <p:spPr>
            <a:xfrm>
              <a:off x="8801780" y="5806602"/>
              <a:ext cx="268605" cy="401955"/>
            </a:xfrm>
            <a:custGeom>
              <a:avLst/>
              <a:gdLst/>
              <a:ahLst/>
              <a:cxnLst/>
              <a:rect l="l" t="t" r="r" b="b"/>
              <a:pathLst>
                <a:path w="268604" h="401954">
                  <a:moveTo>
                    <a:pt x="268570" y="0"/>
                  </a:moveTo>
                  <a:lnTo>
                    <a:pt x="0" y="0"/>
                  </a:lnTo>
                  <a:lnTo>
                    <a:pt x="0" y="401941"/>
                  </a:lnTo>
                  <a:lnTo>
                    <a:pt x="268570" y="401941"/>
                  </a:lnTo>
                  <a:lnTo>
                    <a:pt x="268570" y="0"/>
                  </a:lnTo>
                  <a:close/>
                </a:path>
              </a:pathLst>
            </a:custGeom>
            <a:solidFill>
              <a:srgbClr val="0099FF"/>
            </a:solidFill>
          </p:spPr>
          <p:txBody>
            <a:bodyPr wrap="square" lIns="0" tIns="0" rIns="0" bIns="0" rtlCol="0"/>
            <a:lstStyle/>
            <a:p>
              <a:endParaRPr sz="1588"/>
            </a:p>
          </p:txBody>
        </p:sp>
        <p:sp>
          <p:nvSpPr>
            <p:cNvPr id="129" name="object 129"/>
            <p:cNvSpPr/>
            <p:nvPr/>
          </p:nvSpPr>
          <p:spPr>
            <a:xfrm>
              <a:off x="8801780" y="5806602"/>
              <a:ext cx="537210" cy="407034"/>
            </a:xfrm>
            <a:custGeom>
              <a:avLst/>
              <a:gdLst/>
              <a:ahLst/>
              <a:cxnLst/>
              <a:rect l="l" t="t" r="r" b="b"/>
              <a:pathLst>
                <a:path w="537209" h="407035">
                  <a:moveTo>
                    <a:pt x="537141" y="0"/>
                  </a:moveTo>
                  <a:lnTo>
                    <a:pt x="0" y="0"/>
                  </a:lnTo>
                  <a:lnTo>
                    <a:pt x="0" y="406647"/>
                  </a:lnTo>
                  <a:lnTo>
                    <a:pt x="537141" y="406647"/>
                  </a:lnTo>
                  <a:lnTo>
                    <a:pt x="537141" y="0"/>
                  </a:lnTo>
                  <a:close/>
                </a:path>
              </a:pathLst>
            </a:custGeom>
            <a:ln w="30479">
              <a:solidFill>
                <a:srgbClr val="000000"/>
              </a:solidFill>
            </a:ln>
          </p:spPr>
          <p:txBody>
            <a:bodyPr wrap="square" lIns="0" tIns="0" rIns="0" bIns="0" rtlCol="0"/>
            <a:lstStyle/>
            <a:p>
              <a:endParaRPr sz="1588"/>
            </a:p>
          </p:txBody>
        </p:sp>
      </p:grpSp>
      <p:sp>
        <p:nvSpPr>
          <p:cNvPr id="130" name="object 130"/>
          <p:cNvSpPr txBox="1"/>
          <p:nvPr/>
        </p:nvSpPr>
        <p:spPr>
          <a:xfrm>
            <a:off x="8020648" y="5179359"/>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31" name="object 131"/>
          <p:cNvGrpSpPr/>
          <p:nvPr/>
        </p:nvGrpSpPr>
        <p:grpSpPr>
          <a:xfrm>
            <a:off x="1512615" y="1871111"/>
            <a:ext cx="6243357" cy="4435288"/>
            <a:chOff x="1561896" y="2120592"/>
            <a:chExt cx="7075805" cy="5026660"/>
          </a:xfrm>
        </p:grpSpPr>
        <p:sp>
          <p:nvSpPr>
            <p:cNvPr id="132" name="object 132"/>
            <p:cNvSpPr/>
            <p:nvPr/>
          </p:nvSpPr>
          <p:spPr>
            <a:xfrm>
              <a:off x="2570645" y="2120592"/>
              <a:ext cx="0" cy="5026660"/>
            </a:xfrm>
            <a:custGeom>
              <a:avLst/>
              <a:gdLst/>
              <a:ahLst/>
              <a:cxnLst/>
              <a:rect l="l" t="t" r="r" b="b"/>
              <a:pathLst>
                <a:path h="5026659">
                  <a:moveTo>
                    <a:pt x="0" y="0"/>
                  </a:moveTo>
                  <a:lnTo>
                    <a:pt x="1" y="5026377"/>
                  </a:lnTo>
                </a:path>
              </a:pathLst>
            </a:custGeom>
            <a:ln w="30479">
              <a:solidFill>
                <a:srgbClr val="000000"/>
              </a:solidFill>
            </a:ln>
          </p:spPr>
          <p:txBody>
            <a:bodyPr wrap="square" lIns="0" tIns="0" rIns="0" bIns="0" rtlCol="0"/>
            <a:lstStyle/>
            <a:p>
              <a:endParaRPr sz="1588"/>
            </a:p>
          </p:txBody>
        </p:sp>
        <p:sp>
          <p:nvSpPr>
            <p:cNvPr id="133" name="object 133"/>
            <p:cNvSpPr/>
            <p:nvPr/>
          </p:nvSpPr>
          <p:spPr>
            <a:xfrm>
              <a:off x="3564154" y="2120592"/>
              <a:ext cx="0" cy="5026660"/>
            </a:xfrm>
            <a:custGeom>
              <a:avLst/>
              <a:gdLst/>
              <a:ahLst/>
              <a:cxnLst/>
              <a:rect l="l" t="t" r="r" b="b"/>
              <a:pathLst>
                <a:path h="5026659">
                  <a:moveTo>
                    <a:pt x="0" y="0"/>
                  </a:moveTo>
                  <a:lnTo>
                    <a:pt x="1" y="5026377"/>
                  </a:lnTo>
                </a:path>
              </a:pathLst>
            </a:custGeom>
            <a:ln w="30479">
              <a:solidFill>
                <a:srgbClr val="000000"/>
              </a:solidFill>
            </a:ln>
          </p:spPr>
          <p:txBody>
            <a:bodyPr wrap="square" lIns="0" tIns="0" rIns="0" bIns="0" rtlCol="0"/>
            <a:lstStyle/>
            <a:p>
              <a:endParaRPr sz="1588"/>
            </a:p>
          </p:txBody>
        </p:sp>
        <p:sp>
          <p:nvSpPr>
            <p:cNvPr id="134" name="object 134"/>
            <p:cNvSpPr/>
            <p:nvPr/>
          </p:nvSpPr>
          <p:spPr>
            <a:xfrm>
              <a:off x="4557662" y="2120592"/>
              <a:ext cx="0" cy="5026660"/>
            </a:xfrm>
            <a:custGeom>
              <a:avLst/>
              <a:gdLst/>
              <a:ahLst/>
              <a:cxnLst/>
              <a:rect l="l" t="t" r="r" b="b"/>
              <a:pathLst>
                <a:path h="5026659">
                  <a:moveTo>
                    <a:pt x="0" y="0"/>
                  </a:moveTo>
                  <a:lnTo>
                    <a:pt x="1" y="5026377"/>
                  </a:lnTo>
                </a:path>
              </a:pathLst>
            </a:custGeom>
            <a:ln w="30479">
              <a:solidFill>
                <a:srgbClr val="000000"/>
              </a:solidFill>
            </a:ln>
          </p:spPr>
          <p:txBody>
            <a:bodyPr wrap="square" lIns="0" tIns="0" rIns="0" bIns="0" rtlCol="0"/>
            <a:lstStyle/>
            <a:p>
              <a:endParaRPr sz="1588"/>
            </a:p>
          </p:txBody>
        </p:sp>
        <p:sp>
          <p:nvSpPr>
            <p:cNvPr id="135" name="object 135"/>
            <p:cNvSpPr/>
            <p:nvPr/>
          </p:nvSpPr>
          <p:spPr>
            <a:xfrm>
              <a:off x="6634998" y="2120592"/>
              <a:ext cx="0" cy="5026660"/>
            </a:xfrm>
            <a:custGeom>
              <a:avLst/>
              <a:gdLst/>
              <a:ahLst/>
              <a:cxnLst/>
              <a:rect l="l" t="t" r="r" b="b"/>
              <a:pathLst>
                <a:path h="5026659">
                  <a:moveTo>
                    <a:pt x="0" y="0"/>
                  </a:moveTo>
                  <a:lnTo>
                    <a:pt x="1" y="5026377"/>
                  </a:lnTo>
                </a:path>
              </a:pathLst>
            </a:custGeom>
            <a:ln w="30479">
              <a:solidFill>
                <a:srgbClr val="000000"/>
              </a:solidFill>
            </a:ln>
          </p:spPr>
          <p:txBody>
            <a:bodyPr wrap="square" lIns="0" tIns="0" rIns="0" bIns="0" rtlCol="0"/>
            <a:lstStyle/>
            <a:p>
              <a:endParaRPr sz="1588"/>
            </a:p>
          </p:txBody>
        </p:sp>
        <p:sp>
          <p:nvSpPr>
            <p:cNvPr id="136" name="object 136"/>
            <p:cNvSpPr/>
            <p:nvPr/>
          </p:nvSpPr>
          <p:spPr>
            <a:xfrm>
              <a:off x="5551171" y="2120592"/>
              <a:ext cx="0" cy="5026660"/>
            </a:xfrm>
            <a:custGeom>
              <a:avLst/>
              <a:gdLst/>
              <a:ahLst/>
              <a:cxnLst/>
              <a:rect l="l" t="t" r="r" b="b"/>
              <a:pathLst>
                <a:path h="5026659">
                  <a:moveTo>
                    <a:pt x="0" y="0"/>
                  </a:moveTo>
                  <a:lnTo>
                    <a:pt x="1" y="5026377"/>
                  </a:lnTo>
                </a:path>
              </a:pathLst>
            </a:custGeom>
            <a:ln w="30479">
              <a:solidFill>
                <a:srgbClr val="000000"/>
              </a:solidFill>
            </a:ln>
          </p:spPr>
          <p:txBody>
            <a:bodyPr wrap="square" lIns="0" tIns="0" rIns="0" bIns="0" rtlCol="0"/>
            <a:lstStyle/>
            <a:p>
              <a:endParaRPr sz="1588"/>
            </a:p>
          </p:txBody>
        </p:sp>
        <p:sp>
          <p:nvSpPr>
            <p:cNvPr id="137" name="object 137"/>
            <p:cNvSpPr/>
            <p:nvPr/>
          </p:nvSpPr>
          <p:spPr>
            <a:xfrm>
              <a:off x="7628507" y="2120592"/>
              <a:ext cx="0" cy="5026660"/>
            </a:xfrm>
            <a:custGeom>
              <a:avLst/>
              <a:gdLst/>
              <a:ahLst/>
              <a:cxnLst/>
              <a:rect l="l" t="t" r="r" b="b"/>
              <a:pathLst>
                <a:path h="5026659">
                  <a:moveTo>
                    <a:pt x="0" y="0"/>
                  </a:moveTo>
                  <a:lnTo>
                    <a:pt x="1" y="5026377"/>
                  </a:lnTo>
                </a:path>
              </a:pathLst>
            </a:custGeom>
            <a:ln w="30479">
              <a:solidFill>
                <a:srgbClr val="000000"/>
              </a:solidFill>
            </a:ln>
          </p:spPr>
          <p:txBody>
            <a:bodyPr wrap="square" lIns="0" tIns="0" rIns="0" bIns="0" rtlCol="0"/>
            <a:lstStyle/>
            <a:p>
              <a:endParaRPr sz="1588"/>
            </a:p>
          </p:txBody>
        </p:sp>
        <p:sp>
          <p:nvSpPr>
            <p:cNvPr id="138" name="object 138"/>
            <p:cNvSpPr/>
            <p:nvPr/>
          </p:nvSpPr>
          <p:spPr>
            <a:xfrm>
              <a:off x="8622016" y="2120592"/>
              <a:ext cx="0" cy="5026660"/>
            </a:xfrm>
            <a:custGeom>
              <a:avLst/>
              <a:gdLst/>
              <a:ahLst/>
              <a:cxnLst/>
              <a:rect l="l" t="t" r="r" b="b"/>
              <a:pathLst>
                <a:path h="5026659">
                  <a:moveTo>
                    <a:pt x="0" y="0"/>
                  </a:moveTo>
                  <a:lnTo>
                    <a:pt x="1" y="5026377"/>
                  </a:lnTo>
                </a:path>
              </a:pathLst>
            </a:custGeom>
            <a:ln w="30479">
              <a:solidFill>
                <a:srgbClr val="000000"/>
              </a:solidFill>
            </a:ln>
          </p:spPr>
          <p:txBody>
            <a:bodyPr wrap="square" lIns="0" tIns="0" rIns="0" bIns="0" rtlCol="0"/>
            <a:lstStyle/>
            <a:p>
              <a:endParaRPr sz="1588"/>
            </a:p>
          </p:txBody>
        </p:sp>
        <p:sp>
          <p:nvSpPr>
            <p:cNvPr id="139" name="object 139"/>
            <p:cNvSpPr/>
            <p:nvPr/>
          </p:nvSpPr>
          <p:spPr>
            <a:xfrm>
              <a:off x="1577136" y="2120592"/>
              <a:ext cx="0" cy="5026660"/>
            </a:xfrm>
            <a:custGeom>
              <a:avLst/>
              <a:gdLst/>
              <a:ahLst/>
              <a:cxnLst/>
              <a:rect l="l" t="t" r="r" b="b"/>
              <a:pathLst>
                <a:path h="5026659">
                  <a:moveTo>
                    <a:pt x="0" y="0"/>
                  </a:moveTo>
                  <a:lnTo>
                    <a:pt x="1" y="5026377"/>
                  </a:lnTo>
                </a:path>
              </a:pathLst>
            </a:custGeom>
            <a:ln w="30479">
              <a:solidFill>
                <a:srgbClr val="000000"/>
              </a:solidFill>
            </a:ln>
          </p:spPr>
          <p:txBody>
            <a:bodyPr wrap="square" lIns="0" tIns="0" rIns="0" bIns="0" rtlCol="0"/>
            <a:lstStyle/>
            <a:p>
              <a:endParaRPr sz="1588"/>
            </a:p>
          </p:txBody>
        </p:sp>
      </p:grpSp>
      <p:sp>
        <p:nvSpPr>
          <p:cNvPr id="140" name="object 140"/>
          <p:cNvSpPr txBox="1"/>
          <p:nvPr/>
        </p:nvSpPr>
        <p:spPr>
          <a:xfrm>
            <a:off x="1693523" y="2087880"/>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40" dirty="0">
                <a:latin typeface="Times New Roman"/>
                <a:cs typeface="Times New Roman"/>
              </a:rPr>
              <a:t> </a:t>
            </a:r>
            <a:r>
              <a:rPr sz="1324" b="1" spc="-44" dirty="0">
                <a:latin typeface="Times New Roman"/>
                <a:cs typeface="Times New Roman"/>
              </a:rPr>
              <a:t>1</a:t>
            </a:r>
            <a:endParaRPr sz="1324">
              <a:latin typeface="Times New Roman"/>
              <a:cs typeface="Times New Roman"/>
            </a:endParaRPr>
          </a:p>
        </p:txBody>
      </p:sp>
      <p:sp>
        <p:nvSpPr>
          <p:cNvPr id="141" name="object 141"/>
          <p:cNvSpPr txBox="1"/>
          <p:nvPr/>
        </p:nvSpPr>
        <p:spPr>
          <a:xfrm>
            <a:off x="2546905" y="2087880"/>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40" dirty="0">
                <a:latin typeface="Times New Roman"/>
                <a:cs typeface="Times New Roman"/>
              </a:rPr>
              <a:t> </a:t>
            </a:r>
            <a:r>
              <a:rPr sz="1324" b="1" spc="-44" dirty="0">
                <a:latin typeface="Times New Roman"/>
                <a:cs typeface="Times New Roman"/>
              </a:rPr>
              <a:t>2</a:t>
            </a:r>
            <a:endParaRPr sz="1324">
              <a:latin typeface="Times New Roman"/>
              <a:cs typeface="Times New Roman"/>
            </a:endParaRPr>
          </a:p>
        </p:txBody>
      </p:sp>
      <p:sp>
        <p:nvSpPr>
          <p:cNvPr id="142" name="object 142"/>
          <p:cNvSpPr txBox="1"/>
          <p:nvPr/>
        </p:nvSpPr>
        <p:spPr>
          <a:xfrm>
            <a:off x="6153023" y="2087880"/>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40" dirty="0">
                <a:latin typeface="Times New Roman"/>
                <a:cs typeface="Times New Roman"/>
              </a:rPr>
              <a:t> </a:t>
            </a:r>
            <a:r>
              <a:rPr sz="1324" b="1" spc="-44" dirty="0">
                <a:latin typeface="Times New Roman"/>
                <a:cs typeface="Times New Roman"/>
              </a:rPr>
              <a:t>6</a:t>
            </a:r>
            <a:endParaRPr sz="1324">
              <a:latin typeface="Times New Roman"/>
              <a:cs typeface="Times New Roman"/>
            </a:endParaRPr>
          </a:p>
        </p:txBody>
      </p:sp>
      <p:sp>
        <p:nvSpPr>
          <p:cNvPr id="143" name="object 143"/>
          <p:cNvSpPr txBox="1"/>
          <p:nvPr/>
        </p:nvSpPr>
        <p:spPr>
          <a:xfrm>
            <a:off x="7030478" y="2087880"/>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40" dirty="0">
                <a:latin typeface="Times New Roman"/>
                <a:cs typeface="Times New Roman"/>
              </a:rPr>
              <a:t> </a:t>
            </a:r>
            <a:r>
              <a:rPr sz="1324" b="1" spc="-44" dirty="0">
                <a:latin typeface="Times New Roman"/>
                <a:cs typeface="Times New Roman"/>
              </a:rPr>
              <a:t>7</a:t>
            </a:r>
            <a:endParaRPr sz="1324">
              <a:latin typeface="Times New Roman"/>
              <a:cs typeface="Times New Roman"/>
            </a:endParaRPr>
          </a:p>
        </p:txBody>
      </p:sp>
      <p:sp>
        <p:nvSpPr>
          <p:cNvPr id="144" name="object 144"/>
          <p:cNvSpPr txBox="1"/>
          <p:nvPr/>
        </p:nvSpPr>
        <p:spPr>
          <a:xfrm>
            <a:off x="3451755" y="1515035"/>
            <a:ext cx="2293844" cy="811022"/>
          </a:xfrm>
          <a:prstGeom prst="rect">
            <a:avLst/>
          </a:prstGeom>
        </p:spPr>
        <p:txBody>
          <a:bodyPr vert="horz" wrap="square" lIns="0" tIns="11206" rIns="0" bIns="0" rtlCol="0">
            <a:spAutoFit/>
          </a:bodyPr>
          <a:lstStyle/>
          <a:p>
            <a:pPr marL="57152">
              <a:spcBef>
                <a:spcPts val="88"/>
              </a:spcBef>
            </a:pPr>
            <a:r>
              <a:rPr sz="1853" i="1" dirty="0">
                <a:latin typeface="Times New Roman"/>
                <a:cs typeface="Times New Roman"/>
              </a:rPr>
              <a:t>Time</a:t>
            </a:r>
            <a:r>
              <a:rPr sz="1853" i="1" spc="-18" dirty="0">
                <a:latin typeface="Times New Roman"/>
                <a:cs typeface="Times New Roman"/>
              </a:rPr>
              <a:t> </a:t>
            </a:r>
            <a:r>
              <a:rPr sz="1853" i="1" dirty="0">
                <a:latin typeface="Times New Roman"/>
                <a:cs typeface="Times New Roman"/>
              </a:rPr>
              <a:t>(clock</a:t>
            </a:r>
            <a:r>
              <a:rPr sz="1853" i="1" spc="-13" dirty="0">
                <a:latin typeface="Times New Roman"/>
                <a:cs typeface="Times New Roman"/>
              </a:rPr>
              <a:t> </a:t>
            </a:r>
            <a:r>
              <a:rPr sz="1853" i="1" spc="-9" dirty="0">
                <a:latin typeface="Times New Roman"/>
                <a:cs typeface="Times New Roman"/>
              </a:rPr>
              <a:t>cycles)</a:t>
            </a:r>
            <a:endParaRPr sz="1853">
              <a:latin typeface="Times New Roman"/>
              <a:cs typeface="Times New Roman"/>
            </a:endParaRPr>
          </a:p>
          <a:p>
            <a:pPr>
              <a:spcBef>
                <a:spcPts val="154"/>
              </a:spcBef>
            </a:pPr>
            <a:endParaRPr sz="1853">
              <a:latin typeface="Times New Roman"/>
              <a:cs typeface="Times New Roman"/>
            </a:endParaRPr>
          </a:p>
          <a:p>
            <a:pPr marL="11206">
              <a:tabLst>
                <a:tab pos="899320" algn="l"/>
                <a:tab pos="1756055" algn="l"/>
              </a:tabLst>
            </a:pPr>
            <a:r>
              <a:rPr sz="1324" b="1" dirty="0">
                <a:latin typeface="Times New Roman"/>
                <a:cs typeface="Times New Roman"/>
              </a:rPr>
              <a:t>Cycle</a:t>
            </a:r>
            <a:r>
              <a:rPr sz="1324" b="1" spc="-40" dirty="0">
                <a:latin typeface="Times New Roman"/>
                <a:cs typeface="Times New Roman"/>
              </a:rPr>
              <a:t> </a:t>
            </a:r>
            <a:r>
              <a:rPr sz="1324" b="1" spc="-44" dirty="0">
                <a:latin typeface="Times New Roman"/>
                <a:cs typeface="Times New Roman"/>
              </a:rPr>
              <a:t>3</a:t>
            </a:r>
            <a:r>
              <a:rPr sz="1324" b="1" dirty="0">
                <a:latin typeface="Times New Roman"/>
                <a:cs typeface="Times New Roman"/>
              </a:rPr>
              <a:t>	Cycle</a:t>
            </a:r>
            <a:r>
              <a:rPr sz="1324" b="1" spc="-40" dirty="0">
                <a:latin typeface="Times New Roman"/>
                <a:cs typeface="Times New Roman"/>
              </a:rPr>
              <a:t> </a:t>
            </a:r>
            <a:r>
              <a:rPr sz="1324" b="1" spc="-44" dirty="0">
                <a:latin typeface="Times New Roman"/>
                <a:cs typeface="Times New Roman"/>
              </a:rPr>
              <a:t>4</a:t>
            </a:r>
            <a:r>
              <a:rPr sz="1324" b="1" dirty="0">
                <a:latin typeface="Times New Roman"/>
                <a:cs typeface="Times New Roman"/>
              </a:rPr>
              <a:t>	Cycle</a:t>
            </a:r>
            <a:r>
              <a:rPr sz="1324" b="1" spc="-49" dirty="0">
                <a:latin typeface="Times New Roman"/>
                <a:cs typeface="Times New Roman"/>
              </a:rPr>
              <a:t> </a:t>
            </a:r>
            <a:r>
              <a:rPr sz="1324" b="1" spc="-44" dirty="0">
                <a:latin typeface="Times New Roman"/>
                <a:cs typeface="Times New Roman"/>
              </a:rPr>
              <a:t>5</a:t>
            </a:r>
            <a:endParaRPr sz="1324">
              <a:latin typeface="Times New Roman"/>
              <a:cs typeface="Times New Roman"/>
            </a:endParaRPr>
          </a:p>
        </p:txBody>
      </p:sp>
      <p:sp>
        <p:nvSpPr>
          <p:cNvPr id="148" name="TextBox 147">
            <a:extLst>
              <a:ext uri="{FF2B5EF4-FFF2-40B4-BE49-F238E27FC236}">
                <a16:creationId xmlns:a16="http://schemas.microsoft.com/office/drawing/2014/main" id="{5563B08A-9016-4B15-B616-11ACEC810F4C}"/>
              </a:ext>
            </a:extLst>
          </p:cNvPr>
          <p:cNvSpPr txBox="1"/>
          <p:nvPr/>
        </p:nvSpPr>
        <p:spPr>
          <a:xfrm>
            <a:off x="715140" y="1211309"/>
            <a:ext cx="1114332" cy="351186"/>
          </a:xfrm>
          <a:prstGeom prst="rect">
            <a:avLst/>
          </a:prstGeom>
          <a:noFill/>
        </p:spPr>
        <p:txBody>
          <a:bodyPr wrap="square">
            <a:spAutoFit/>
          </a:bodyPr>
          <a:lstStyle/>
          <a:p>
            <a:r>
              <a:rPr lang="en-US" sz="1682" dirty="0">
                <a:solidFill>
                  <a:srgbClr val="002060"/>
                </a:solidFill>
              </a:rPr>
              <a:t>Figure</a:t>
            </a:r>
            <a:r>
              <a:rPr lang="en-US" sz="1682" spc="-4" dirty="0">
                <a:solidFill>
                  <a:srgbClr val="002060"/>
                </a:solidFill>
              </a:rPr>
              <a:t> </a:t>
            </a:r>
            <a:r>
              <a:rPr lang="en-US" sz="1682" spc="-22" dirty="0">
                <a:solidFill>
                  <a:srgbClr val="002060"/>
                </a:solidFill>
              </a:rPr>
              <a:t>C.3</a:t>
            </a:r>
            <a:endParaRPr lang="en-US" sz="1682" dirty="0">
              <a:solidFill>
                <a:srgbClr val="00206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1803" y="612099"/>
            <a:ext cx="6826212" cy="589755"/>
          </a:xfrm>
          <a:prstGeom prst="rect">
            <a:avLst/>
          </a:prstGeom>
        </p:spPr>
        <p:txBody>
          <a:bodyPr vert="horz" wrap="square" lIns="0" tIns="126851" rIns="0" bIns="0" rtlCol="0" anchor="ctr">
            <a:spAutoFit/>
          </a:bodyPr>
          <a:lstStyle/>
          <a:p>
            <a:pPr marL="11206">
              <a:lnSpc>
                <a:spcPct val="100000"/>
              </a:lnSpc>
              <a:spcBef>
                <a:spcPts val="88"/>
              </a:spcBef>
            </a:pPr>
            <a:r>
              <a:rPr dirty="0"/>
              <a:t>Review</a:t>
            </a:r>
            <a:r>
              <a:rPr spc="9" dirty="0"/>
              <a:t> </a:t>
            </a:r>
            <a:r>
              <a:rPr spc="-9" dirty="0"/>
              <a:t>Question</a:t>
            </a:r>
          </a:p>
        </p:txBody>
      </p:sp>
      <p:sp>
        <p:nvSpPr>
          <p:cNvPr id="3" name="object 3"/>
          <p:cNvSpPr txBox="1">
            <a:spLocks noGrp="1"/>
          </p:cNvSpPr>
          <p:nvPr>
            <p:ph type="body" idx="1"/>
          </p:nvPr>
        </p:nvSpPr>
        <p:spPr>
          <a:xfrm>
            <a:off x="821803" y="1610846"/>
            <a:ext cx="7523544" cy="3129927"/>
          </a:xfrm>
          <a:prstGeom prst="rect">
            <a:avLst/>
          </a:prstGeom>
        </p:spPr>
        <p:txBody>
          <a:bodyPr vert="horz" wrap="square" lIns="0" tIns="107537" rIns="0" bIns="0" rtlCol="0">
            <a:spAutoFit/>
          </a:bodyPr>
          <a:lstStyle/>
          <a:p>
            <a:pPr marL="347663" marR="4483" indent="-342900">
              <a:spcBef>
                <a:spcPts val="397"/>
              </a:spcBef>
              <a:spcAft>
                <a:spcPts val="1200"/>
              </a:spcAft>
              <a:buFont typeface="Arial" panose="020B0604020202020204" pitchFamily="34" charset="0"/>
              <a:buChar char="•"/>
              <a:tabLst>
                <a:tab pos="280722" algn="l"/>
              </a:tabLst>
            </a:pPr>
            <a:r>
              <a:rPr sz="2400" spc="-9" dirty="0"/>
              <a:t>How</a:t>
            </a:r>
            <a:r>
              <a:rPr sz="2400" spc="-101" dirty="0"/>
              <a:t> </a:t>
            </a:r>
            <a:r>
              <a:rPr sz="2400" dirty="0"/>
              <a:t>many</a:t>
            </a:r>
            <a:r>
              <a:rPr sz="2400" spc="-84" dirty="0"/>
              <a:t> </a:t>
            </a:r>
            <a:r>
              <a:rPr sz="2400" spc="-9" dirty="0"/>
              <a:t>cycles</a:t>
            </a:r>
            <a:r>
              <a:rPr sz="2400" spc="-84" dirty="0"/>
              <a:t> </a:t>
            </a:r>
            <a:r>
              <a:rPr sz="2400" dirty="0"/>
              <a:t>are</a:t>
            </a:r>
            <a:r>
              <a:rPr sz="2400" spc="-84" dirty="0"/>
              <a:t> </a:t>
            </a:r>
            <a:r>
              <a:rPr sz="2400" dirty="0"/>
              <a:t>needed</a:t>
            </a:r>
            <a:r>
              <a:rPr sz="2400" spc="-84" dirty="0"/>
              <a:t> </a:t>
            </a:r>
            <a:r>
              <a:rPr sz="2400" dirty="0"/>
              <a:t>to</a:t>
            </a:r>
            <a:r>
              <a:rPr sz="2400" spc="-97" dirty="0"/>
              <a:t> </a:t>
            </a:r>
            <a:r>
              <a:rPr sz="2400" spc="-9" dirty="0"/>
              <a:t>process</a:t>
            </a:r>
            <a:r>
              <a:rPr sz="2400" spc="-84" dirty="0"/>
              <a:t> </a:t>
            </a:r>
            <a:r>
              <a:rPr sz="2400" dirty="0"/>
              <a:t>5</a:t>
            </a:r>
            <a:r>
              <a:rPr sz="2400" spc="-88" dirty="0"/>
              <a:t> </a:t>
            </a:r>
            <a:r>
              <a:rPr sz="2400" spc="-9" dirty="0"/>
              <a:t>instructions </a:t>
            </a:r>
            <a:r>
              <a:rPr sz="2400" dirty="0"/>
              <a:t>using</a:t>
            </a:r>
            <a:r>
              <a:rPr sz="2400" spc="-84" dirty="0"/>
              <a:t> </a:t>
            </a:r>
            <a:r>
              <a:rPr sz="2400" dirty="0"/>
              <a:t>a</a:t>
            </a:r>
            <a:r>
              <a:rPr sz="2400" spc="-75" dirty="0"/>
              <a:t> </a:t>
            </a:r>
            <a:r>
              <a:rPr sz="2400" spc="-26" dirty="0"/>
              <a:t>single-</a:t>
            </a:r>
            <a:r>
              <a:rPr sz="2400" dirty="0"/>
              <a:t>cycl</a:t>
            </a:r>
            <a:r>
              <a:rPr lang="en-US" sz="2400" dirty="0"/>
              <a:t>e</a:t>
            </a:r>
            <a:r>
              <a:rPr lang="en-US" sz="2400" spc="-71" dirty="0"/>
              <a:t> </a:t>
            </a:r>
            <a:r>
              <a:rPr sz="2400" spc="-9" dirty="0"/>
              <a:t>MIPS</a:t>
            </a:r>
            <a:r>
              <a:rPr sz="2400" spc="-84" dirty="0"/>
              <a:t> </a:t>
            </a:r>
            <a:r>
              <a:rPr sz="2400" dirty="0"/>
              <a:t>ISA</a:t>
            </a:r>
            <a:r>
              <a:rPr sz="2400" spc="-79" dirty="0"/>
              <a:t> </a:t>
            </a:r>
            <a:r>
              <a:rPr sz="2400" spc="-9" dirty="0"/>
              <a:t>implementation?</a:t>
            </a:r>
          </a:p>
          <a:p>
            <a:pPr marL="441535">
              <a:lnSpc>
                <a:spcPct val="100000"/>
              </a:lnSpc>
              <a:spcBef>
                <a:spcPts val="388"/>
              </a:spcBef>
              <a:tabLst>
                <a:tab pos="764282" algn="l"/>
              </a:tabLst>
            </a:pPr>
            <a:r>
              <a:rPr sz="2400" spc="-22" dirty="0"/>
              <a:t>A.</a:t>
            </a:r>
            <a:r>
              <a:rPr sz="2400" dirty="0"/>
              <a:t>	</a:t>
            </a:r>
            <a:r>
              <a:rPr sz="2400" spc="-44" dirty="0"/>
              <a:t>5</a:t>
            </a:r>
            <a:endParaRPr sz="2400" dirty="0"/>
          </a:p>
          <a:p>
            <a:pPr marL="441535">
              <a:lnSpc>
                <a:spcPct val="100000"/>
              </a:lnSpc>
              <a:spcBef>
                <a:spcPts val="446"/>
              </a:spcBef>
              <a:tabLst>
                <a:tab pos="764282" algn="l"/>
              </a:tabLst>
            </a:pPr>
            <a:r>
              <a:rPr sz="2400" spc="-22" dirty="0"/>
              <a:t>B.</a:t>
            </a:r>
            <a:r>
              <a:rPr sz="2400" dirty="0"/>
              <a:t>	</a:t>
            </a:r>
            <a:r>
              <a:rPr sz="2400" spc="-44" dirty="0"/>
              <a:t>6</a:t>
            </a:r>
            <a:endParaRPr sz="2400" dirty="0"/>
          </a:p>
          <a:p>
            <a:pPr marL="441535">
              <a:lnSpc>
                <a:spcPct val="100000"/>
              </a:lnSpc>
              <a:spcBef>
                <a:spcPts val="463"/>
              </a:spcBef>
              <a:tabLst>
                <a:tab pos="764282" algn="l"/>
              </a:tabLst>
            </a:pPr>
            <a:r>
              <a:rPr sz="2400" spc="-22" dirty="0"/>
              <a:t>C.</a:t>
            </a:r>
            <a:r>
              <a:rPr sz="2400" dirty="0"/>
              <a:t>	</a:t>
            </a:r>
            <a:r>
              <a:rPr sz="2400" spc="-44" dirty="0"/>
              <a:t>7</a:t>
            </a:r>
            <a:endParaRPr sz="2400" dirty="0"/>
          </a:p>
          <a:p>
            <a:pPr marL="441535">
              <a:lnSpc>
                <a:spcPct val="100000"/>
              </a:lnSpc>
              <a:spcBef>
                <a:spcPts val="361"/>
              </a:spcBef>
              <a:tabLst>
                <a:tab pos="764282" algn="l"/>
              </a:tabLst>
            </a:pPr>
            <a:r>
              <a:rPr sz="2400" spc="-22" dirty="0"/>
              <a:t>D.</a:t>
            </a:r>
            <a:r>
              <a:rPr sz="2400" dirty="0"/>
              <a:t>	</a:t>
            </a:r>
            <a:r>
              <a:rPr sz="2400" spc="-44" dirty="0"/>
              <a:t>8</a:t>
            </a:r>
            <a:endParaRPr sz="2400" dirty="0"/>
          </a:p>
          <a:p>
            <a:pPr marL="441535">
              <a:lnSpc>
                <a:spcPct val="100000"/>
              </a:lnSpc>
              <a:spcBef>
                <a:spcPts val="468"/>
              </a:spcBef>
              <a:tabLst>
                <a:tab pos="764282" algn="l"/>
              </a:tabLst>
            </a:pPr>
            <a:r>
              <a:rPr sz="2400" spc="-22" dirty="0"/>
              <a:t>E.</a:t>
            </a:r>
            <a:r>
              <a:rPr sz="2400" dirty="0"/>
              <a:t>	</a:t>
            </a:r>
            <a:r>
              <a:rPr sz="2400" spc="-44" dirty="0"/>
              <a:t>9</a:t>
            </a:r>
            <a:endParaRPr sz="2400" dirty="0"/>
          </a:p>
        </p:txBody>
      </p:sp>
      <p:sp>
        <p:nvSpPr>
          <p:cNvPr id="8" name="Slide Number Placeholder 7">
            <a:extLst>
              <a:ext uri="{FF2B5EF4-FFF2-40B4-BE49-F238E27FC236}">
                <a16:creationId xmlns:a16="http://schemas.microsoft.com/office/drawing/2014/main" id="{60B0A948-B088-B068-066D-37F24C3E378C}"/>
              </a:ext>
            </a:extLst>
          </p:cNvPr>
          <p:cNvSpPr>
            <a:spLocks noGrp="1"/>
          </p:cNvSpPr>
          <p:nvPr>
            <p:ph type="sldNum" sz="quarter" idx="7"/>
          </p:nvPr>
        </p:nvSpPr>
        <p:spPr/>
        <p:txBody>
          <a:bodyPr/>
          <a:lstStyle/>
          <a:p>
            <a:fld id="{4FE321F0-2018-4E50-8BB3-A5631EBD98DD}"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3377" y="612099"/>
            <a:ext cx="6814638" cy="589755"/>
          </a:xfrm>
          <a:prstGeom prst="rect">
            <a:avLst/>
          </a:prstGeom>
        </p:spPr>
        <p:txBody>
          <a:bodyPr vert="horz" wrap="square" lIns="0" tIns="126851" rIns="0" bIns="0" rtlCol="0" anchor="ctr">
            <a:spAutoFit/>
          </a:bodyPr>
          <a:lstStyle/>
          <a:p>
            <a:pPr marL="11206">
              <a:lnSpc>
                <a:spcPct val="100000"/>
              </a:lnSpc>
              <a:spcBef>
                <a:spcPts val="88"/>
              </a:spcBef>
            </a:pPr>
            <a:r>
              <a:rPr dirty="0"/>
              <a:t>Review</a:t>
            </a:r>
            <a:r>
              <a:rPr spc="9" dirty="0"/>
              <a:t> </a:t>
            </a:r>
            <a:r>
              <a:rPr spc="-9" dirty="0"/>
              <a:t>Question</a:t>
            </a:r>
          </a:p>
        </p:txBody>
      </p:sp>
      <p:sp>
        <p:nvSpPr>
          <p:cNvPr id="8" name="Slide Number Placeholder 7">
            <a:extLst>
              <a:ext uri="{FF2B5EF4-FFF2-40B4-BE49-F238E27FC236}">
                <a16:creationId xmlns:a16="http://schemas.microsoft.com/office/drawing/2014/main" id="{5813D49F-D608-E63E-A148-5D0D59F51908}"/>
              </a:ext>
            </a:extLst>
          </p:cNvPr>
          <p:cNvSpPr>
            <a:spLocks noGrp="1"/>
          </p:cNvSpPr>
          <p:nvPr>
            <p:ph type="sldNum" sz="quarter" idx="7"/>
          </p:nvPr>
        </p:nvSpPr>
        <p:spPr/>
        <p:txBody>
          <a:bodyPr/>
          <a:lstStyle/>
          <a:p>
            <a:fld id="{4FE321F0-2018-4E50-8BB3-A5631EBD98DD}" type="slidenum">
              <a:rPr lang="en-US" smtClean="0"/>
              <a:t>30</a:t>
            </a:fld>
            <a:endParaRPr lang="en-US"/>
          </a:p>
        </p:txBody>
      </p:sp>
      <p:sp>
        <p:nvSpPr>
          <p:cNvPr id="3" name="object 3"/>
          <p:cNvSpPr txBox="1"/>
          <p:nvPr/>
        </p:nvSpPr>
        <p:spPr>
          <a:xfrm>
            <a:off x="833377" y="1659146"/>
            <a:ext cx="7500395" cy="789582"/>
          </a:xfrm>
          <a:prstGeom prst="rect">
            <a:avLst/>
          </a:prstGeom>
        </p:spPr>
        <p:txBody>
          <a:bodyPr vert="horz" wrap="square" lIns="0" tIns="50426" rIns="0" bIns="0" rtlCol="0">
            <a:spAutoFit/>
          </a:bodyPr>
          <a:lstStyle/>
          <a:p>
            <a:pPr marL="354106" marR="4483" indent="-342900">
              <a:spcBef>
                <a:spcPts val="397"/>
              </a:spcBef>
              <a:spcAft>
                <a:spcPts val="1200"/>
              </a:spcAft>
              <a:buFont typeface="Arial" panose="020B0604020202020204" pitchFamily="34" charset="0"/>
              <a:buChar char="•"/>
              <a:tabLst>
                <a:tab pos="280162" algn="l"/>
              </a:tabLst>
            </a:pPr>
            <a:r>
              <a:rPr sz="2400" spc="-9" dirty="0">
                <a:latin typeface="Calibri"/>
                <a:cs typeface="Calibri"/>
              </a:rPr>
              <a:t>How</a:t>
            </a:r>
            <a:r>
              <a:rPr sz="2400" spc="-101" dirty="0">
                <a:latin typeface="Calibri"/>
                <a:cs typeface="Calibri"/>
              </a:rPr>
              <a:t> </a:t>
            </a:r>
            <a:r>
              <a:rPr sz="2400" dirty="0">
                <a:latin typeface="Calibri"/>
                <a:cs typeface="Calibri"/>
              </a:rPr>
              <a:t>many</a:t>
            </a:r>
            <a:r>
              <a:rPr sz="2400" spc="-84" dirty="0">
                <a:latin typeface="Calibri"/>
                <a:cs typeface="Calibri"/>
              </a:rPr>
              <a:t> </a:t>
            </a:r>
            <a:r>
              <a:rPr sz="2400" spc="-9" dirty="0">
                <a:latin typeface="Calibri"/>
                <a:cs typeface="Calibri"/>
              </a:rPr>
              <a:t>cycles</a:t>
            </a:r>
            <a:r>
              <a:rPr sz="2400" spc="-84" dirty="0">
                <a:latin typeface="Calibri"/>
                <a:cs typeface="Calibri"/>
              </a:rPr>
              <a:t> </a:t>
            </a:r>
            <a:r>
              <a:rPr sz="2400" dirty="0">
                <a:latin typeface="Calibri"/>
                <a:cs typeface="Calibri"/>
              </a:rPr>
              <a:t>are</a:t>
            </a:r>
            <a:r>
              <a:rPr sz="2400" spc="-84" dirty="0">
                <a:latin typeface="Calibri"/>
                <a:cs typeface="Calibri"/>
              </a:rPr>
              <a:t> </a:t>
            </a:r>
            <a:r>
              <a:rPr sz="2400" dirty="0">
                <a:latin typeface="Calibri"/>
                <a:cs typeface="Calibri"/>
              </a:rPr>
              <a:t>needed</a:t>
            </a:r>
            <a:r>
              <a:rPr sz="2400" spc="-84" dirty="0">
                <a:latin typeface="Calibri"/>
                <a:cs typeface="Calibri"/>
              </a:rPr>
              <a:t> </a:t>
            </a:r>
            <a:r>
              <a:rPr sz="2400" dirty="0">
                <a:latin typeface="Calibri"/>
                <a:cs typeface="Calibri"/>
              </a:rPr>
              <a:t>to</a:t>
            </a:r>
            <a:r>
              <a:rPr sz="2400" spc="-97" dirty="0">
                <a:latin typeface="Calibri"/>
                <a:cs typeface="Calibri"/>
              </a:rPr>
              <a:t> </a:t>
            </a:r>
            <a:r>
              <a:rPr sz="2400" spc="-9" dirty="0">
                <a:latin typeface="Calibri"/>
                <a:cs typeface="Calibri"/>
              </a:rPr>
              <a:t>process</a:t>
            </a:r>
            <a:r>
              <a:rPr sz="2400" spc="-84" dirty="0">
                <a:latin typeface="Calibri"/>
                <a:cs typeface="Calibri"/>
              </a:rPr>
              <a:t> </a:t>
            </a:r>
            <a:r>
              <a:rPr sz="2400" dirty="0">
                <a:latin typeface="Calibri"/>
                <a:cs typeface="Calibri"/>
              </a:rPr>
              <a:t>5</a:t>
            </a:r>
            <a:r>
              <a:rPr sz="2400" spc="-88" dirty="0">
                <a:latin typeface="Calibri"/>
                <a:cs typeface="Calibri"/>
              </a:rPr>
              <a:t> </a:t>
            </a:r>
            <a:r>
              <a:rPr sz="2400" spc="-9" dirty="0">
                <a:latin typeface="Calibri"/>
                <a:cs typeface="Calibri"/>
              </a:rPr>
              <a:t>instructions </a:t>
            </a:r>
            <a:r>
              <a:rPr sz="2400" dirty="0">
                <a:latin typeface="Calibri"/>
                <a:cs typeface="Calibri"/>
              </a:rPr>
              <a:t>using</a:t>
            </a:r>
            <a:r>
              <a:rPr sz="2400" spc="-88" dirty="0">
                <a:latin typeface="Calibri"/>
                <a:cs typeface="Calibri"/>
              </a:rPr>
              <a:t> </a:t>
            </a:r>
            <a:r>
              <a:rPr sz="2400" dirty="0">
                <a:latin typeface="Calibri"/>
                <a:cs typeface="Calibri"/>
              </a:rPr>
              <a:t>a</a:t>
            </a:r>
            <a:r>
              <a:rPr sz="2400" spc="-79" dirty="0">
                <a:latin typeface="Calibri"/>
                <a:cs typeface="Calibri"/>
              </a:rPr>
              <a:t> </a:t>
            </a:r>
            <a:r>
              <a:rPr sz="2400" spc="-26" dirty="0">
                <a:latin typeface="Calibri"/>
                <a:cs typeface="Calibri"/>
              </a:rPr>
              <a:t>multi-</a:t>
            </a:r>
            <a:r>
              <a:rPr sz="2400" dirty="0">
                <a:latin typeface="Calibri"/>
                <a:cs typeface="Calibri"/>
              </a:rPr>
              <a:t>cycle</a:t>
            </a:r>
            <a:r>
              <a:rPr sz="2400" spc="-79" dirty="0">
                <a:latin typeface="Calibri"/>
                <a:cs typeface="Calibri"/>
              </a:rPr>
              <a:t> </a:t>
            </a:r>
            <a:r>
              <a:rPr sz="2400" spc="-9" dirty="0">
                <a:latin typeface="Calibri"/>
                <a:cs typeface="Calibri"/>
              </a:rPr>
              <a:t>MIPS</a:t>
            </a:r>
            <a:r>
              <a:rPr sz="2400" spc="-84" dirty="0">
                <a:latin typeface="Calibri"/>
                <a:cs typeface="Calibri"/>
              </a:rPr>
              <a:t> </a:t>
            </a:r>
            <a:r>
              <a:rPr sz="2400" dirty="0">
                <a:latin typeface="Calibri"/>
                <a:cs typeface="Calibri"/>
              </a:rPr>
              <a:t>ISA</a:t>
            </a:r>
            <a:r>
              <a:rPr sz="2400" spc="-84" dirty="0">
                <a:latin typeface="Calibri"/>
                <a:cs typeface="Calibri"/>
              </a:rPr>
              <a:t> </a:t>
            </a:r>
            <a:r>
              <a:rPr sz="2400" spc="-9" dirty="0">
                <a:latin typeface="Calibri"/>
                <a:cs typeface="Calibri"/>
              </a:rPr>
              <a:t>implementation?</a:t>
            </a:r>
            <a:endParaRPr lang="en-US" sz="2400" spc="-9" dirty="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1802" y="612099"/>
            <a:ext cx="6826213" cy="589755"/>
          </a:xfrm>
          <a:prstGeom prst="rect">
            <a:avLst/>
          </a:prstGeom>
        </p:spPr>
        <p:txBody>
          <a:bodyPr vert="horz" wrap="square" lIns="0" tIns="126851" rIns="0" bIns="0" rtlCol="0" anchor="ctr">
            <a:spAutoFit/>
          </a:bodyPr>
          <a:lstStyle/>
          <a:p>
            <a:pPr marL="11206">
              <a:lnSpc>
                <a:spcPct val="100000"/>
              </a:lnSpc>
              <a:spcBef>
                <a:spcPts val="88"/>
              </a:spcBef>
            </a:pPr>
            <a:r>
              <a:rPr dirty="0"/>
              <a:t>Review</a:t>
            </a:r>
            <a:r>
              <a:rPr spc="9" dirty="0"/>
              <a:t> </a:t>
            </a:r>
            <a:r>
              <a:rPr spc="-9" dirty="0"/>
              <a:t>Question</a:t>
            </a:r>
          </a:p>
        </p:txBody>
      </p:sp>
      <p:sp>
        <p:nvSpPr>
          <p:cNvPr id="3" name="object 3"/>
          <p:cNvSpPr txBox="1">
            <a:spLocks noGrp="1"/>
          </p:cNvSpPr>
          <p:nvPr>
            <p:ph type="body" idx="1"/>
          </p:nvPr>
        </p:nvSpPr>
        <p:spPr>
          <a:xfrm>
            <a:off x="821802" y="1610846"/>
            <a:ext cx="7535119" cy="3129927"/>
          </a:xfrm>
          <a:prstGeom prst="rect">
            <a:avLst/>
          </a:prstGeom>
        </p:spPr>
        <p:txBody>
          <a:bodyPr vert="horz" wrap="square" lIns="0" tIns="107537" rIns="0" bIns="0" rtlCol="0">
            <a:spAutoFit/>
          </a:bodyPr>
          <a:lstStyle/>
          <a:p>
            <a:pPr marL="342900" marR="4483" indent="-342900">
              <a:spcBef>
                <a:spcPts val="397"/>
              </a:spcBef>
              <a:spcAft>
                <a:spcPts val="1200"/>
              </a:spcAft>
              <a:buFont typeface="Arial" panose="020B0604020202020204" pitchFamily="34" charset="0"/>
              <a:buChar char="•"/>
              <a:tabLst>
                <a:tab pos="0" algn="l"/>
              </a:tabLst>
            </a:pPr>
            <a:r>
              <a:rPr sz="2400" spc="-9" dirty="0"/>
              <a:t>How</a:t>
            </a:r>
            <a:r>
              <a:rPr sz="2400" spc="-101" dirty="0"/>
              <a:t> </a:t>
            </a:r>
            <a:r>
              <a:rPr sz="2400" dirty="0"/>
              <a:t>many</a:t>
            </a:r>
            <a:r>
              <a:rPr sz="2400" spc="-84" dirty="0"/>
              <a:t> </a:t>
            </a:r>
            <a:r>
              <a:rPr sz="2400" spc="-9" dirty="0"/>
              <a:t>cycles</a:t>
            </a:r>
            <a:r>
              <a:rPr sz="2400" spc="-84" dirty="0"/>
              <a:t> </a:t>
            </a:r>
            <a:r>
              <a:rPr sz="2400" dirty="0"/>
              <a:t>are</a:t>
            </a:r>
            <a:r>
              <a:rPr sz="2400" spc="-84" dirty="0"/>
              <a:t> </a:t>
            </a:r>
            <a:r>
              <a:rPr sz="2400" dirty="0"/>
              <a:t>needed</a:t>
            </a:r>
            <a:r>
              <a:rPr sz="2400" spc="-84" dirty="0"/>
              <a:t> </a:t>
            </a:r>
            <a:r>
              <a:rPr sz="2400" dirty="0"/>
              <a:t>to</a:t>
            </a:r>
            <a:r>
              <a:rPr sz="2400" spc="-97" dirty="0"/>
              <a:t> </a:t>
            </a:r>
            <a:r>
              <a:rPr sz="2400" spc="-9" dirty="0"/>
              <a:t>process</a:t>
            </a:r>
            <a:r>
              <a:rPr sz="2400" spc="-84" dirty="0"/>
              <a:t> </a:t>
            </a:r>
            <a:r>
              <a:rPr sz="2400" dirty="0"/>
              <a:t>5</a:t>
            </a:r>
            <a:r>
              <a:rPr sz="2400" spc="-88" dirty="0"/>
              <a:t> </a:t>
            </a:r>
            <a:r>
              <a:rPr sz="2400" spc="-9" dirty="0"/>
              <a:t>instructions </a:t>
            </a:r>
            <a:r>
              <a:rPr sz="2400" dirty="0"/>
              <a:t>using</a:t>
            </a:r>
            <a:r>
              <a:rPr sz="2400" spc="-75" dirty="0"/>
              <a:t> </a:t>
            </a:r>
            <a:r>
              <a:rPr sz="2400" dirty="0"/>
              <a:t>the</a:t>
            </a:r>
            <a:r>
              <a:rPr sz="2400" spc="-71" dirty="0"/>
              <a:t> </a:t>
            </a:r>
            <a:r>
              <a:rPr sz="2400" b="1" spc="-22" dirty="0">
                <a:latin typeface="Calibri"/>
                <a:cs typeface="Calibri"/>
              </a:rPr>
              <a:t>pipelined</a:t>
            </a:r>
            <a:r>
              <a:rPr sz="2400" b="1" spc="-71" dirty="0">
                <a:latin typeface="Calibri"/>
                <a:cs typeface="Calibri"/>
              </a:rPr>
              <a:t> </a:t>
            </a:r>
            <a:r>
              <a:rPr sz="2400" dirty="0"/>
              <a:t>MIPS</a:t>
            </a:r>
            <a:r>
              <a:rPr sz="2400" spc="-75" dirty="0"/>
              <a:t> </a:t>
            </a:r>
            <a:r>
              <a:rPr sz="2400" spc="-22" dirty="0"/>
              <a:t>implementation</a:t>
            </a:r>
            <a:r>
              <a:rPr sz="2400" spc="-66" dirty="0"/>
              <a:t> </a:t>
            </a:r>
            <a:r>
              <a:rPr sz="2400" spc="-9" dirty="0"/>
              <a:t>discussed?</a:t>
            </a:r>
          </a:p>
          <a:p>
            <a:pPr marL="441535">
              <a:lnSpc>
                <a:spcPct val="100000"/>
              </a:lnSpc>
              <a:spcBef>
                <a:spcPts val="388"/>
              </a:spcBef>
              <a:tabLst>
                <a:tab pos="764282" algn="l"/>
              </a:tabLst>
            </a:pPr>
            <a:r>
              <a:rPr sz="2400" spc="-22" dirty="0"/>
              <a:t>A.</a:t>
            </a:r>
            <a:r>
              <a:rPr sz="2400" dirty="0"/>
              <a:t>	</a:t>
            </a:r>
            <a:r>
              <a:rPr sz="2400" spc="-44" dirty="0"/>
              <a:t>5</a:t>
            </a:r>
            <a:endParaRPr sz="2400" dirty="0"/>
          </a:p>
          <a:p>
            <a:pPr marL="441535">
              <a:lnSpc>
                <a:spcPct val="100000"/>
              </a:lnSpc>
              <a:spcBef>
                <a:spcPts val="446"/>
              </a:spcBef>
              <a:tabLst>
                <a:tab pos="764282" algn="l"/>
              </a:tabLst>
            </a:pPr>
            <a:r>
              <a:rPr sz="2400" spc="-22" dirty="0"/>
              <a:t>B.</a:t>
            </a:r>
            <a:r>
              <a:rPr sz="2400" dirty="0"/>
              <a:t>	</a:t>
            </a:r>
            <a:r>
              <a:rPr sz="2400" spc="-44" dirty="0"/>
              <a:t>6</a:t>
            </a:r>
            <a:endParaRPr sz="2400" dirty="0"/>
          </a:p>
          <a:p>
            <a:pPr marL="441535">
              <a:lnSpc>
                <a:spcPct val="100000"/>
              </a:lnSpc>
              <a:spcBef>
                <a:spcPts val="463"/>
              </a:spcBef>
              <a:tabLst>
                <a:tab pos="764282" algn="l"/>
              </a:tabLst>
            </a:pPr>
            <a:r>
              <a:rPr sz="2400" spc="-22" dirty="0"/>
              <a:t>C.</a:t>
            </a:r>
            <a:r>
              <a:rPr sz="2400" dirty="0"/>
              <a:t>	</a:t>
            </a:r>
            <a:r>
              <a:rPr sz="2400" spc="-44" dirty="0"/>
              <a:t>7</a:t>
            </a:r>
            <a:endParaRPr sz="2400" dirty="0"/>
          </a:p>
          <a:p>
            <a:pPr marL="441535">
              <a:lnSpc>
                <a:spcPct val="100000"/>
              </a:lnSpc>
              <a:spcBef>
                <a:spcPts val="361"/>
              </a:spcBef>
              <a:tabLst>
                <a:tab pos="764282" algn="l"/>
              </a:tabLst>
            </a:pPr>
            <a:r>
              <a:rPr sz="2400" spc="-22" dirty="0"/>
              <a:t>D.</a:t>
            </a:r>
            <a:r>
              <a:rPr sz="2400" dirty="0"/>
              <a:t>	</a:t>
            </a:r>
            <a:r>
              <a:rPr sz="2400" spc="-44" dirty="0"/>
              <a:t>8</a:t>
            </a:r>
            <a:endParaRPr sz="2400" dirty="0"/>
          </a:p>
          <a:p>
            <a:pPr marL="441535">
              <a:lnSpc>
                <a:spcPct val="100000"/>
              </a:lnSpc>
              <a:spcBef>
                <a:spcPts val="468"/>
              </a:spcBef>
              <a:tabLst>
                <a:tab pos="764282" algn="l"/>
              </a:tabLst>
            </a:pPr>
            <a:r>
              <a:rPr sz="2400" spc="-22" dirty="0"/>
              <a:t>E.</a:t>
            </a:r>
            <a:r>
              <a:rPr sz="2400" dirty="0"/>
              <a:t>	</a:t>
            </a:r>
            <a:r>
              <a:rPr sz="2400" spc="-44" dirty="0"/>
              <a:t>9</a:t>
            </a:r>
            <a:endParaRPr sz="2400" dirty="0"/>
          </a:p>
        </p:txBody>
      </p:sp>
      <p:sp>
        <p:nvSpPr>
          <p:cNvPr id="8" name="Slide Number Placeholder 7">
            <a:extLst>
              <a:ext uri="{FF2B5EF4-FFF2-40B4-BE49-F238E27FC236}">
                <a16:creationId xmlns:a16="http://schemas.microsoft.com/office/drawing/2014/main" id="{6D0E8590-1281-A10D-A633-66051D019919}"/>
              </a:ext>
            </a:extLst>
          </p:cNvPr>
          <p:cNvSpPr>
            <a:spLocks noGrp="1"/>
          </p:cNvSpPr>
          <p:nvPr>
            <p:ph type="sldNum" sz="quarter" idx="7"/>
          </p:nvPr>
        </p:nvSpPr>
        <p:spPr/>
        <p:txBody>
          <a:bodyPr/>
          <a:lstStyle/>
          <a:p>
            <a:fld id="{4FE321F0-2018-4E50-8BB3-A5631EBD98DD}"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44419" y="2377029"/>
            <a:ext cx="4947397" cy="1447606"/>
          </a:xfrm>
          <a:prstGeom prst="rect">
            <a:avLst/>
          </a:prstGeom>
        </p:spPr>
        <p:txBody>
          <a:bodyPr vert="horz" wrap="square" lIns="0" tIns="11206" rIns="0" bIns="0" rtlCol="0" anchor="ctr">
            <a:spAutoFit/>
          </a:bodyPr>
          <a:lstStyle/>
          <a:p>
            <a:pPr marL="11206">
              <a:lnSpc>
                <a:spcPts val="4487"/>
              </a:lnSpc>
              <a:spcBef>
                <a:spcPts val="88"/>
              </a:spcBef>
            </a:pPr>
            <a:r>
              <a:rPr sz="3794" b="1" dirty="0">
                <a:latin typeface="Arial"/>
                <a:cs typeface="Arial"/>
              </a:rPr>
              <a:t>HAZARDS</a:t>
            </a:r>
            <a:r>
              <a:rPr sz="3794" b="1" spc="-115" dirty="0">
                <a:latin typeface="Arial"/>
                <a:cs typeface="Arial"/>
              </a:rPr>
              <a:t> </a:t>
            </a:r>
            <a:r>
              <a:rPr sz="3794" b="1" dirty="0">
                <a:latin typeface="Arial"/>
                <a:cs typeface="Arial"/>
              </a:rPr>
              <a:t>IN</a:t>
            </a:r>
            <a:r>
              <a:rPr sz="3794" b="1" spc="-110" dirty="0">
                <a:latin typeface="Arial"/>
                <a:cs typeface="Arial"/>
              </a:rPr>
              <a:t> </a:t>
            </a:r>
            <a:r>
              <a:rPr sz="3794" b="1" spc="-9" dirty="0">
                <a:latin typeface="Arial"/>
                <a:cs typeface="Arial"/>
              </a:rPr>
              <a:t>PIPELINING</a:t>
            </a:r>
            <a:endParaRPr sz="3794">
              <a:latin typeface="Arial"/>
              <a:cs typeface="Arial"/>
            </a:endParaRPr>
          </a:p>
          <a:p>
            <a:pPr marL="11206">
              <a:lnSpc>
                <a:spcPts val="2157"/>
              </a:lnSpc>
            </a:pPr>
            <a:r>
              <a:rPr sz="1853" b="1" dirty="0">
                <a:latin typeface="Arial"/>
                <a:cs typeface="Arial"/>
              </a:rPr>
              <a:t>-</a:t>
            </a:r>
            <a:r>
              <a:rPr sz="1853" b="1" spc="75" dirty="0">
                <a:latin typeface="Arial"/>
                <a:cs typeface="Arial"/>
              </a:rPr>
              <a:t> </a:t>
            </a:r>
            <a:r>
              <a:rPr sz="1853" b="1" dirty="0">
                <a:latin typeface="Arial"/>
                <a:cs typeface="Arial"/>
              </a:rPr>
              <a:t>APPENDIX</a:t>
            </a:r>
            <a:r>
              <a:rPr sz="1853" b="1" spc="93" dirty="0">
                <a:latin typeface="Arial"/>
                <a:cs typeface="Arial"/>
              </a:rPr>
              <a:t> </a:t>
            </a:r>
            <a:r>
              <a:rPr sz="1853" b="1" spc="-44" dirty="0">
                <a:latin typeface="Arial"/>
                <a:cs typeface="Arial"/>
              </a:rPr>
              <a:t>C</a:t>
            </a:r>
            <a:endParaRPr sz="1853">
              <a:latin typeface="Arial"/>
              <a:cs typeface="Arial"/>
            </a:endParaRPr>
          </a:p>
        </p:txBody>
      </p:sp>
      <p:sp>
        <p:nvSpPr>
          <p:cNvPr id="4" name="Slide Number Placeholder 3">
            <a:extLst>
              <a:ext uri="{FF2B5EF4-FFF2-40B4-BE49-F238E27FC236}">
                <a16:creationId xmlns:a16="http://schemas.microsoft.com/office/drawing/2014/main" id="{5249422D-D5D8-4CA8-3DF2-FFD36F5C7B2B}"/>
              </a:ext>
            </a:extLst>
          </p:cNvPr>
          <p:cNvSpPr>
            <a:spLocks noGrp="1"/>
          </p:cNvSpPr>
          <p:nvPr>
            <p:ph type="sldNum" sz="quarter" idx="7"/>
          </p:nvPr>
        </p:nvSpPr>
        <p:spPr/>
        <p:txBody>
          <a:bodyPr/>
          <a:lstStyle/>
          <a:p>
            <a:pPr marL="11206">
              <a:lnSpc>
                <a:spcPts val="1747"/>
              </a:lnSpc>
            </a:pPr>
            <a:fld id="{81D60167-4931-47E6-BA6A-407CBD079E47}" type="slidenum">
              <a:rPr lang="en-US" spc="-22" smtClean="0"/>
              <a:pPr marL="11206">
                <a:lnSpc>
                  <a:spcPts val="1747"/>
                </a:lnSpc>
              </a:pPr>
              <a:t>32</a:t>
            </a:fld>
            <a:endParaRPr lang="en-US" spc="-22"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5502" y="612100"/>
            <a:ext cx="6814638" cy="589755"/>
          </a:xfrm>
          <a:prstGeom prst="rect">
            <a:avLst/>
          </a:prstGeom>
        </p:spPr>
        <p:txBody>
          <a:bodyPr vert="horz" wrap="square" lIns="0" tIns="126851" rIns="0" bIns="0" rtlCol="0" anchor="ctr">
            <a:spAutoFit/>
          </a:bodyPr>
          <a:lstStyle/>
          <a:p>
            <a:pPr marL="11206">
              <a:lnSpc>
                <a:spcPct val="100000"/>
              </a:lnSpc>
              <a:spcBef>
                <a:spcPts val="88"/>
              </a:spcBef>
            </a:pPr>
            <a:r>
              <a:rPr dirty="0"/>
              <a:t>Pipelining</a:t>
            </a:r>
            <a:r>
              <a:rPr spc="9" dirty="0"/>
              <a:t> </a:t>
            </a:r>
            <a:r>
              <a:rPr dirty="0"/>
              <a:t>is not</a:t>
            </a:r>
            <a:r>
              <a:rPr spc="4" dirty="0"/>
              <a:t> </a:t>
            </a:r>
            <a:r>
              <a:rPr dirty="0"/>
              <a:t>quite that</a:t>
            </a:r>
            <a:r>
              <a:rPr spc="4" dirty="0"/>
              <a:t> </a:t>
            </a:r>
            <a:r>
              <a:rPr spc="-9" dirty="0"/>
              <a:t>easy!</a:t>
            </a:r>
          </a:p>
        </p:txBody>
      </p:sp>
      <p:sp>
        <p:nvSpPr>
          <p:cNvPr id="5" name="Slide Number Placeholder 4">
            <a:extLst>
              <a:ext uri="{FF2B5EF4-FFF2-40B4-BE49-F238E27FC236}">
                <a16:creationId xmlns:a16="http://schemas.microsoft.com/office/drawing/2014/main" id="{AC7D04C4-D0DA-8927-4525-EDE6B5B080A0}"/>
              </a:ext>
            </a:extLst>
          </p:cNvPr>
          <p:cNvSpPr>
            <a:spLocks noGrp="1"/>
          </p:cNvSpPr>
          <p:nvPr>
            <p:ph type="sldNum" sz="quarter" idx="7"/>
          </p:nvPr>
        </p:nvSpPr>
        <p:spPr/>
        <p:txBody>
          <a:bodyPr/>
          <a:lstStyle/>
          <a:p>
            <a:fld id="{4FE321F0-2018-4E50-8BB3-A5631EBD98DD}" type="slidenum">
              <a:rPr lang="en-US" smtClean="0"/>
              <a:t>33</a:t>
            </a:fld>
            <a:endParaRPr lang="en-US"/>
          </a:p>
        </p:txBody>
      </p:sp>
      <p:sp>
        <p:nvSpPr>
          <p:cNvPr id="3" name="object 3"/>
          <p:cNvSpPr txBox="1"/>
          <p:nvPr/>
        </p:nvSpPr>
        <p:spPr>
          <a:xfrm>
            <a:off x="775502" y="1300331"/>
            <a:ext cx="7951809" cy="4975343"/>
          </a:xfrm>
          <a:prstGeom prst="rect">
            <a:avLst/>
          </a:prstGeom>
        </p:spPr>
        <p:txBody>
          <a:bodyPr vert="horz" wrap="square" lIns="0" tIns="50426" rIns="0" bIns="0" rtlCol="0">
            <a:spAutoFit/>
          </a:bodyPr>
          <a:lstStyle/>
          <a:p>
            <a:pPr marL="280162" marR="409596" indent="-268956">
              <a:spcBef>
                <a:spcPts val="397"/>
              </a:spcBef>
              <a:spcAft>
                <a:spcPts val="1200"/>
              </a:spcAft>
              <a:buChar char="•"/>
              <a:tabLst>
                <a:tab pos="280162" algn="l"/>
              </a:tabLst>
            </a:pPr>
            <a:r>
              <a:rPr sz="2400" spc="-9" dirty="0">
                <a:latin typeface="Calibri"/>
                <a:cs typeface="Calibri"/>
              </a:rPr>
              <a:t>Limits</a:t>
            </a:r>
            <a:r>
              <a:rPr sz="2400" spc="-88" dirty="0">
                <a:latin typeface="Calibri"/>
                <a:cs typeface="Calibri"/>
              </a:rPr>
              <a:t> </a:t>
            </a:r>
            <a:r>
              <a:rPr sz="2400" dirty="0">
                <a:latin typeface="Calibri"/>
                <a:cs typeface="Calibri"/>
              </a:rPr>
              <a:t>to</a:t>
            </a:r>
            <a:r>
              <a:rPr sz="2400" spc="-88" dirty="0">
                <a:latin typeface="Calibri"/>
                <a:cs typeface="Calibri"/>
              </a:rPr>
              <a:t> </a:t>
            </a:r>
            <a:r>
              <a:rPr sz="2400" spc="-18" dirty="0">
                <a:latin typeface="Calibri"/>
                <a:cs typeface="Calibri"/>
              </a:rPr>
              <a:t>pipelining:</a:t>
            </a:r>
            <a:r>
              <a:rPr sz="2400" spc="-84" dirty="0">
                <a:latin typeface="Calibri"/>
                <a:cs typeface="Calibri"/>
              </a:rPr>
              <a:t> </a:t>
            </a:r>
            <a:r>
              <a:rPr sz="2400" spc="-9" dirty="0">
                <a:latin typeface="Calibri"/>
                <a:cs typeface="Calibri"/>
              </a:rPr>
              <a:t>Hazards</a:t>
            </a:r>
            <a:r>
              <a:rPr sz="2400" spc="-84" dirty="0">
                <a:latin typeface="Calibri"/>
                <a:cs typeface="Calibri"/>
              </a:rPr>
              <a:t> </a:t>
            </a:r>
            <a:r>
              <a:rPr sz="2400" spc="-9" dirty="0">
                <a:latin typeface="Calibri"/>
                <a:cs typeface="Calibri"/>
              </a:rPr>
              <a:t>prevent</a:t>
            </a:r>
            <a:r>
              <a:rPr sz="2400" spc="-84" dirty="0">
                <a:latin typeface="Calibri"/>
                <a:cs typeface="Calibri"/>
              </a:rPr>
              <a:t> </a:t>
            </a:r>
            <a:r>
              <a:rPr sz="2400" dirty="0">
                <a:latin typeface="Calibri"/>
                <a:cs typeface="Calibri"/>
              </a:rPr>
              <a:t>next</a:t>
            </a:r>
            <a:r>
              <a:rPr sz="2400" spc="-84" dirty="0">
                <a:latin typeface="Calibri"/>
                <a:cs typeface="Calibri"/>
              </a:rPr>
              <a:t> </a:t>
            </a:r>
            <a:r>
              <a:rPr sz="2400" spc="-9" dirty="0">
                <a:latin typeface="Calibri"/>
                <a:cs typeface="Calibri"/>
              </a:rPr>
              <a:t>instruction </a:t>
            </a:r>
            <a:r>
              <a:rPr sz="2400" dirty="0">
                <a:latin typeface="Calibri"/>
                <a:cs typeface="Calibri"/>
              </a:rPr>
              <a:t>from</a:t>
            </a:r>
            <a:r>
              <a:rPr sz="2400" spc="-97" dirty="0">
                <a:latin typeface="Calibri"/>
                <a:cs typeface="Calibri"/>
              </a:rPr>
              <a:t> </a:t>
            </a:r>
            <a:r>
              <a:rPr sz="2400" spc="-18" dirty="0">
                <a:latin typeface="Calibri"/>
                <a:cs typeface="Calibri"/>
              </a:rPr>
              <a:t>executing</a:t>
            </a:r>
            <a:r>
              <a:rPr sz="2400" spc="-84" dirty="0">
                <a:latin typeface="Calibri"/>
                <a:cs typeface="Calibri"/>
              </a:rPr>
              <a:t> </a:t>
            </a:r>
            <a:r>
              <a:rPr sz="2400" spc="-9" dirty="0">
                <a:latin typeface="Calibri"/>
                <a:cs typeface="Calibri"/>
              </a:rPr>
              <a:t>during</a:t>
            </a:r>
            <a:r>
              <a:rPr sz="2400" spc="-84" dirty="0">
                <a:latin typeface="Calibri"/>
                <a:cs typeface="Calibri"/>
              </a:rPr>
              <a:t> </a:t>
            </a:r>
            <a:r>
              <a:rPr sz="2400" dirty="0">
                <a:latin typeface="Calibri"/>
                <a:cs typeface="Calibri"/>
              </a:rPr>
              <a:t>its</a:t>
            </a:r>
            <a:r>
              <a:rPr sz="2400" spc="-79" dirty="0">
                <a:latin typeface="Calibri"/>
                <a:cs typeface="Calibri"/>
              </a:rPr>
              <a:t> </a:t>
            </a:r>
            <a:r>
              <a:rPr sz="2400" spc="-18" dirty="0">
                <a:latin typeface="Calibri"/>
                <a:cs typeface="Calibri"/>
              </a:rPr>
              <a:t>designated</a:t>
            </a:r>
            <a:r>
              <a:rPr sz="2400" spc="-79" dirty="0">
                <a:latin typeface="Calibri"/>
                <a:cs typeface="Calibri"/>
              </a:rPr>
              <a:t> </a:t>
            </a:r>
            <a:r>
              <a:rPr sz="2400" spc="-9" dirty="0">
                <a:latin typeface="Calibri"/>
                <a:cs typeface="Calibri"/>
              </a:rPr>
              <a:t>clock</a:t>
            </a:r>
            <a:r>
              <a:rPr sz="2400" spc="-79" dirty="0">
                <a:latin typeface="Calibri"/>
                <a:cs typeface="Calibri"/>
              </a:rPr>
              <a:t> </a:t>
            </a:r>
            <a:r>
              <a:rPr sz="2400" spc="-9" dirty="0">
                <a:latin typeface="Calibri"/>
                <a:cs typeface="Calibri"/>
              </a:rPr>
              <a:t>cycle</a:t>
            </a:r>
            <a:endParaRPr lang="en-US" sz="2400" spc="-9" dirty="0">
              <a:latin typeface="Calibri"/>
              <a:cs typeface="Calibri"/>
            </a:endParaRPr>
          </a:p>
          <a:p>
            <a:pPr marR="409596" indent="-268956">
              <a:buChar char="•"/>
              <a:tabLst>
                <a:tab pos="280162" algn="l"/>
              </a:tabLst>
            </a:pPr>
            <a:r>
              <a:rPr sz="2200" b="1" dirty="0">
                <a:solidFill>
                  <a:srgbClr val="FF0000"/>
                </a:solidFill>
                <a:latin typeface="Calibri"/>
                <a:cs typeface="Calibri"/>
              </a:rPr>
              <a:t>Structural</a:t>
            </a:r>
            <a:r>
              <a:rPr sz="2200" b="1" spc="71" dirty="0">
                <a:solidFill>
                  <a:srgbClr val="FF0000"/>
                </a:solidFill>
                <a:latin typeface="Calibri"/>
                <a:cs typeface="Calibri"/>
              </a:rPr>
              <a:t> </a:t>
            </a:r>
            <a:r>
              <a:rPr sz="2200" b="1" spc="-9" dirty="0">
                <a:solidFill>
                  <a:srgbClr val="FF0000"/>
                </a:solidFill>
                <a:latin typeface="Calibri"/>
                <a:cs typeface="Calibri"/>
              </a:rPr>
              <a:t>hazards</a:t>
            </a:r>
            <a:endParaRPr lang="en-US" sz="2200" b="1" spc="-9" dirty="0">
              <a:solidFill>
                <a:srgbClr val="FF0000"/>
              </a:solidFill>
              <a:latin typeface="Calibri"/>
              <a:cs typeface="Calibri"/>
            </a:endParaRPr>
          </a:p>
          <a:p>
            <a:pPr marL="463550" indent="-231775"/>
            <a:r>
              <a:rPr lang="en-US" sz="2200" dirty="0">
                <a:cs typeface="Calibri"/>
              </a:rPr>
              <a:t>»</a:t>
            </a:r>
            <a:r>
              <a:rPr lang="en-US" sz="2200" spc="388" dirty="0">
                <a:cs typeface="Calibri"/>
              </a:rPr>
              <a:t> </a:t>
            </a:r>
            <a:r>
              <a:rPr lang="en-US" sz="2200" dirty="0">
                <a:cs typeface="Calibri"/>
              </a:rPr>
              <a:t>Hardware</a:t>
            </a:r>
            <a:r>
              <a:rPr lang="en-US" sz="2200" spc="62" dirty="0">
                <a:cs typeface="Calibri"/>
              </a:rPr>
              <a:t> </a:t>
            </a:r>
            <a:r>
              <a:rPr lang="en-US" sz="2200" dirty="0">
                <a:cs typeface="Calibri"/>
              </a:rPr>
              <a:t>cannot</a:t>
            </a:r>
            <a:r>
              <a:rPr lang="en-US" sz="2200" spc="57" dirty="0">
                <a:cs typeface="Calibri"/>
              </a:rPr>
              <a:t> </a:t>
            </a:r>
            <a:r>
              <a:rPr lang="en-US" sz="2200" dirty="0">
                <a:cs typeface="Calibri"/>
              </a:rPr>
              <a:t>support</a:t>
            </a:r>
            <a:r>
              <a:rPr lang="en-US" sz="2200" spc="57" dirty="0">
                <a:cs typeface="Calibri"/>
              </a:rPr>
              <a:t> </a:t>
            </a:r>
            <a:r>
              <a:rPr lang="en-US" sz="2200" dirty="0">
                <a:cs typeface="Calibri"/>
              </a:rPr>
              <a:t>this</a:t>
            </a:r>
            <a:r>
              <a:rPr lang="en-US" sz="2200" spc="57" dirty="0">
                <a:cs typeface="Calibri"/>
              </a:rPr>
              <a:t> </a:t>
            </a:r>
            <a:r>
              <a:rPr lang="en-US" sz="2200" dirty="0">
                <a:cs typeface="Calibri"/>
              </a:rPr>
              <a:t>combination</a:t>
            </a:r>
            <a:r>
              <a:rPr lang="en-US" sz="2200" spc="57" dirty="0">
                <a:cs typeface="Calibri"/>
              </a:rPr>
              <a:t> </a:t>
            </a:r>
            <a:r>
              <a:rPr lang="en-US" sz="2200" dirty="0">
                <a:cs typeface="Calibri"/>
              </a:rPr>
              <a:t>of</a:t>
            </a:r>
            <a:r>
              <a:rPr lang="en-US" sz="2200" spc="53" dirty="0">
                <a:cs typeface="Calibri"/>
              </a:rPr>
              <a:t> </a:t>
            </a:r>
            <a:r>
              <a:rPr lang="en-US" sz="2200" spc="-9" dirty="0">
                <a:cs typeface="Calibri"/>
              </a:rPr>
              <a:t>instructions</a:t>
            </a:r>
            <a:endParaRPr lang="en-US" sz="2200" dirty="0">
              <a:cs typeface="Calibri"/>
            </a:endParaRPr>
          </a:p>
          <a:p>
            <a:pPr marL="463550" marR="79006" indent="-231775">
              <a:spcAft>
                <a:spcPts val="1200"/>
              </a:spcAft>
            </a:pPr>
            <a:r>
              <a:rPr lang="en-US" sz="2200" dirty="0">
                <a:cs typeface="Calibri"/>
              </a:rPr>
              <a:t>»</a:t>
            </a:r>
            <a:r>
              <a:rPr lang="en-US" sz="2200" spc="357" dirty="0">
                <a:cs typeface="Calibri"/>
              </a:rPr>
              <a:t> </a:t>
            </a:r>
            <a:r>
              <a:rPr lang="en-US" sz="2200" dirty="0">
                <a:cs typeface="Calibri"/>
              </a:rPr>
              <a:t>e.g.,</a:t>
            </a:r>
            <a:r>
              <a:rPr lang="en-US" sz="2200" spc="35" dirty="0">
                <a:cs typeface="Calibri"/>
              </a:rPr>
              <a:t> </a:t>
            </a:r>
            <a:r>
              <a:rPr lang="en-US" sz="2200" dirty="0">
                <a:cs typeface="Calibri"/>
              </a:rPr>
              <a:t>having</a:t>
            </a:r>
            <a:r>
              <a:rPr lang="en-US" sz="2200" spc="35" dirty="0">
                <a:cs typeface="Calibri"/>
              </a:rPr>
              <a:t> </a:t>
            </a:r>
            <a:r>
              <a:rPr lang="en-US" sz="2200" dirty="0">
                <a:cs typeface="Calibri"/>
              </a:rPr>
              <a:t>a</a:t>
            </a:r>
            <a:r>
              <a:rPr lang="en-US" sz="2200" spc="44" dirty="0">
                <a:cs typeface="Calibri"/>
              </a:rPr>
              <a:t> </a:t>
            </a:r>
            <a:r>
              <a:rPr lang="en-US" sz="2200" dirty="0">
                <a:cs typeface="Calibri"/>
              </a:rPr>
              <a:t>single</a:t>
            </a:r>
            <a:r>
              <a:rPr lang="en-US" sz="2200" spc="44" dirty="0">
                <a:cs typeface="Calibri"/>
              </a:rPr>
              <a:t> </a:t>
            </a:r>
            <a:r>
              <a:rPr lang="en-US" sz="2200" dirty="0">
                <a:cs typeface="Calibri"/>
              </a:rPr>
              <a:t>person</a:t>
            </a:r>
            <a:r>
              <a:rPr lang="en-US" sz="2200" spc="40" dirty="0">
                <a:cs typeface="Calibri"/>
              </a:rPr>
              <a:t> </a:t>
            </a:r>
            <a:r>
              <a:rPr lang="en-US" sz="2200" dirty="0">
                <a:cs typeface="Calibri"/>
              </a:rPr>
              <a:t>to</a:t>
            </a:r>
            <a:r>
              <a:rPr lang="en-US" sz="2200" spc="35" dirty="0">
                <a:cs typeface="Calibri"/>
              </a:rPr>
              <a:t> </a:t>
            </a:r>
            <a:r>
              <a:rPr lang="en-US" sz="2200" dirty="0">
                <a:cs typeface="Calibri"/>
              </a:rPr>
              <a:t>fold</a:t>
            </a:r>
            <a:r>
              <a:rPr lang="en-US" sz="2200" spc="40" dirty="0">
                <a:cs typeface="Calibri"/>
              </a:rPr>
              <a:t> </a:t>
            </a:r>
            <a:r>
              <a:rPr lang="en-US" sz="2200" dirty="0">
                <a:cs typeface="Calibri"/>
              </a:rPr>
              <a:t>and</a:t>
            </a:r>
            <a:r>
              <a:rPr lang="en-US" sz="2200" spc="40" dirty="0">
                <a:cs typeface="Calibri"/>
              </a:rPr>
              <a:t> </a:t>
            </a:r>
            <a:r>
              <a:rPr lang="en-US" sz="2200" dirty="0">
                <a:cs typeface="Calibri"/>
              </a:rPr>
              <a:t>put</a:t>
            </a:r>
            <a:r>
              <a:rPr lang="en-US" sz="2200" spc="40" dirty="0">
                <a:cs typeface="Calibri"/>
              </a:rPr>
              <a:t> </a:t>
            </a:r>
            <a:r>
              <a:rPr lang="en-US" sz="2200" dirty="0">
                <a:cs typeface="Calibri"/>
              </a:rPr>
              <a:t>clothes</a:t>
            </a:r>
            <a:r>
              <a:rPr lang="en-US" sz="2200" spc="40" dirty="0">
                <a:cs typeface="Calibri"/>
              </a:rPr>
              <a:t> </a:t>
            </a:r>
            <a:r>
              <a:rPr lang="en-US" sz="2200" dirty="0">
                <a:cs typeface="Calibri"/>
              </a:rPr>
              <a:t>away</a:t>
            </a:r>
            <a:r>
              <a:rPr lang="en-US" sz="2200" spc="31" dirty="0">
                <a:cs typeface="Calibri"/>
              </a:rPr>
              <a:t> </a:t>
            </a:r>
            <a:r>
              <a:rPr lang="en-US" sz="2200" spc="-22" dirty="0">
                <a:cs typeface="Calibri"/>
              </a:rPr>
              <a:t>at </a:t>
            </a:r>
            <a:r>
              <a:rPr lang="en-US" sz="2200" dirty="0">
                <a:cs typeface="Calibri"/>
              </a:rPr>
              <a:t>same</a:t>
            </a:r>
            <a:r>
              <a:rPr lang="en-US" sz="2200" spc="62" dirty="0">
                <a:cs typeface="Calibri"/>
              </a:rPr>
              <a:t> </a:t>
            </a:r>
            <a:r>
              <a:rPr lang="en-US" sz="2200" spc="-18" dirty="0">
                <a:cs typeface="Calibri"/>
              </a:rPr>
              <a:t>time</a:t>
            </a:r>
            <a:endParaRPr lang="en-US" sz="2200" spc="-9" dirty="0">
              <a:latin typeface="Calibri"/>
              <a:cs typeface="Calibri"/>
            </a:endParaRPr>
          </a:p>
          <a:p>
            <a:pPr marR="409596" indent="-268956">
              <a:buChar char="•"/>
              <a:tabLst>
                <a:tab pos="280162" algn="l"/>
              </a:tabLst>
            </a:pPr>
            <a:r>
              <a:rPr sz="2200" b="1" dirty="0">
                <a:solidFill>
                  <a:srgbClr val="FF0000"/>
                </a:solidFill>
                <a:latin typeface="Calibri"/>
                <a:cs typeface="Calibri"/>
              </a:rPr>
              <a:t>Data</a:t>
            </a:r>
            <a:r>
              <a:rPr sz="2200" b="1" spc="22" dirty="0">
                <a:solidFill>
                  <a:srgbClr val="FF0000"/>
                </a:solidFill>
                <a:latin typeface="Calibri"/>
                <a:cs typeface="Calibri"/>
              </a:rPr>
              <a:t> </a:t>
            </a:r>
            <a:r>
              <a:rPr sz="2200" b="1" spc="-9" dirty="0">
                <a:solidFill>
                  <a:srgbClr val="FF0000"/>
                </a:solidFill>
                <a:latin typeface="Calibri"/>
                <a:cs typeface="Calibri"/>
              </a:rPr>
              <a:t>hazards</a:t>
            </a:r>
            <a:endParaRPr lang="en-US" sz="2200" b="1" spc="-9" dirty="0">
              <a:solidFill>
                <a:srgbClr val="FF0000"/>
              </a:solidFill>
              <a:latin typeface="Calibri"/>
              <a:cs typeface="Calibri"/>
            </a:endParaRPr>
          </a:p>
          <a:p>
            <a:pPr marL="463550" marR="4483" indent="-214313"/>
            <a:r>
              <a:rPr lang="en-US" sz="2200" dirty="0">
                <a:cs typeface="Calibri"/>
              </a:rPr>
              <a:t>»</a:t>
            </a:r>
            <a:r>
              <a:rPr lang="en-US" sz="2200" spc="361" dirty="0">
                <a:cs typeface="Calibri"/>
              </a:rPr>
              <a:t> </a:t>
            </a:r>
            <a:r>
              <a:rPr lang="en-US" sz="2200" dirty="0">
                <a:cs typeface="Calibri"/>
              </a:rPr>
              <a:t>Instruction</a:t>
            </a:r>
            <a:r>
              <a:rPr lang="en-US" sz="2200" spc="44" dirty="0">
                <a:cs typeface="Calibri"/>
              </a:rPr>
              <a:t> </a:t>
            </a:r>
            <a:r>
              <a:rPr lang="en-US" sz="2200" dirty="0">
                <a:cs typeface="Calibri"/>
              </a:rPr>
              <a:t>depends</a:t>
            </a:r>
            <a:r>
              <a:rPr lang="en-US" sz="2200" spc="44" dirty="0">
                <a:cs typeface="Calibri"/>
              </a:rPr>
              <a:t> </a:t>
            </a:r>
            <a:r>
              <a:rPr lang="en-US" sz="2200" dirty="0">
                <a:cs typeface="Calibri"/>
              </a:rPr>
              <a:t>on</a:t>
            </a:r>
            <a:r>
              <a:rPr lang="en-US" sz="2200" spc="44" dirty="0">
                <a:cs typeface="Calibri"/>
              </a:rPr>
              <a:t> </a:t>
            </a:r>
            <a:r>
              <a:rPr lang="en-US" sz="2200" dirty="0">
                <a:cs typeface="Calibri"/>
              </a:rPr>
              <a:t>result</a:t>
            </a:r>
            <a:r>
              <a:rPr lang="en-US" sz="2200" spc="44" dirty="0">
                <a:cs typeface="Calibri"/>
              </a:rPr>
              <a:t> </a:t>
            </a:r>
            <a:r>
              <a:rPr lang="en-US" sz="2200" dirty="0">
                <a:cs typeface="Calibri"/>
              </a:rPr>
              <a:t>of</a:t>
            </a:r>
            <a:r>
              <a:rPr lang="en-US" sz="2200" spc="40" dirty="0">
                <a:cs typeface="Calibri"/>
              </a:rPr>
              <a:t> </a:t>
            </a:r>
            <a:r>
              <a:rPr lang="en-US" sz="2200" dirty="0">
                <a:cs typeface="Calibri"/>
              </a:rPr>
              <a:t>prior</a:t>
            </a:r>
            <a:r>
              <a:rPr lang="en-US" sz="2200" spc="40" dirty="0">
                <a:cs typeface="Calibri"/>
              </a:rPr>
              <a:t> </a:t>
            </a:r>
            <a:r>
              <a:rPr lang="en-US" sz="2200" dirty="0">
                <a:cs typeface="Calibri"/>
              </a:rPr>
              <a:t>instruction</a:t>
            </a:r>
            <a:r>
              <a:rPr lang="en-US" sz="2200" spc="44" dirty="0">
                <a:cs typeface="Calibri"/>
              </a:rPr>
              <a:t> </a:t>
            </a:r>
            <a:r>
              <a:rPr lang="en-US" sz="2200" dirty="0">
                <a:cs typeface="Calibri"/>
              </a:rPr>
              <a:t>still</a:t>
            </a:r>
            <a:r>
              <a:rPr lang="en-US" sz="2200" spc="40" dirty="0">
                <a:cs typeface="Calibri"/>
              </a:rPr>
              <a:t> </a:t>
            </a:r>
            <a:r>
              <a:rPr lang="en-US" sz="2200" dirty="0">
                <a:cs typeface="Calibri"/>
              </a:rPr>
              <a:t>in</a:t>
            </a:r>
            <a:r>
              <a:rPr lang="en-US" sz="2200" spc="44" dirty="0">
                <a:cs typeface="Calibri"/>
              </a:rPr>
              <a:t> </a:t>
            </a:r>
            <a:r>
              <a:rPr lang="en-US" sz="2200" spc="-22" dirty="0">
                <a:cs typeface="Calibri"/>
              </a:rPr>
              <a:t>the </a:t>
            </a:r>
            <a:r>
              <a:rPr lang="en-US" sz="2200" spc="-9" dirty="0">
                <a:cs typeface="Calibri"/>
              </a:rPr>
              <a:t>pipeline</a:t>
            </a:r>
            <a:endParaRPr lang="en-US" sz="2200" dirty="0">
              <a:cs typeface="Calibri"/>
            </a:endParaRPr>
          </a:p>
          <a:p>
            <a:pPr marL="463550" indent="-214313">
              <a:spcAft>
                <a:spcPts val="1200"/>
              </a:spcAft>
            </a:pPr>
            <a:r>
              <a:rPr lang="en-US" sz="2200" dirty="0">
                <a:cs typeface="Calibri"/>
              </a:rPr>
              <a:t>»</a:t>
            </a:r>
            <a:r>
              <a:rPr lang="en-US" sz="2200" spc="361" dirty="0">
                <a:cs typeface="Calibri"/>
              </a:rPr>
              <a:t> </a:t>
            </a:r>
            <a:r>
              <a:rPr lang="en-US" sz="2200" dirty="0">
                <a:cs typeface="Calibri"/>
              </a:rPr>
              <a:t>e.g.,</a:t>
            </a:r>
            <a:r>
              <a:rPr lang="en-US" sz="2200" spc="35" dirty="0">
                <a:cs typeface="Calibri"/>
              </a:rPr>
              <a:t> </a:t>
            </a:r>
            <a:r>
              <a:rPr lang="en-US" sz="2200" dirty="0">
                <a:cs typeface="Calibri"/>
              </a:rPr>
              <a:t>having</a:t>
            </a:r>
            <a:r>
              <a:rPr lang="en-US" sz="2200" spc="40" dirty="0">
                <a:cs typeface="Calibri"/>
              </a:rPr>
              <a:t> </a:t>
            </a:r>
            <a:r>
              <a:rPr lang="en-US" sz="2200" dirty="0">
                <a:cs typeface="Calibri"/>
              </a:rPr>
              <a:t>a</a:t>
            </a:r>
            <a:r>
              <a:rPr lang="en-US" sz="2200" spc="44" dirty="0">
                <a:cs typeface="Calibri"/>
              </a:rPr>
              <a:t> </a:t>
            </a:r>
            <a:r>
              <a:rPr lang="en-US" sz="2200" dirty="0">
                <a:cs typeface="Calibri"/>
              </a:rPr>
              <a:t>missing</a:t>
            </a:r>
            <a:r>
              <a:rPr lang="en-US" sz="2200" spc="35" dirty="0">
                <a:cs typeface="Calibri"/>
              </a:rPr>
              <a:t> </a:t>
            </a:r>
            <a:r>
              <a:rPr lang="en-US" sz="2200" dirty="0">
                <a:cs typeface="Calibri"/>
              </a:rPr>
              <a:t>sock</a:t>
            </a:r>
            <a:r>
              <a:rPr lang="en-US" sz="2200" spc="49" dirty="0">
                <a:cs typeface="Calibri"/>
              </a:rPr>
              <a:t> </a:t>
            </a:r>
            <a:r>
              <a:rPr lang="en-US" sz="2200" dirty="0">
                <a:cs typeface="Calibri"/>
              </a:rPr>
              <a:t>in</a:t>
            </a:r>
            <a:r>
              <a:rPr lang="en-US" sz="2200" spc="40" dirty="0">
                <a:cs typeface="Calibri"/>
              </a:rPr>
              <a:t> </a:t>
            </a:r>
            <a:r>
              <a:rPr lang="en-US" sz="2200" dirty="0">
                <a:cs typeface="Calibri"/>
              </a:rPr>
              <a:t>a</a:t>
            </a:r>
            <a:r>
              <a:rPr lang="en-US" sz="2200" spc="49" dirty="0">
                <a:cs typeface="Calibri"/>
              </a:rPr>
              <a:t> </a:t>
            </a:r>
            <a:r>
              <a:rPr lang="en-US" sz="2200" dirty="0">
                <a:cs typeface="Calibri"/>
              </a:rPr>
              <a:t>later</a:t>
            </a:r>
            <a:r>
              <a:rPr lang="en-US" sz="2200" spc="40" dirty="0">
                <a:cs typeface="Calibri"/>
              </a:rPr>
              <a:t> </a:t>
            </a:r>
            <a:r>
              <a:rPr lang="en-US" sz="2200" dirty="0">
                <a:cs typeface="Calibri"/>
              </a:rPr>
              <a:t>wash;</a:t>
            </a:r>
            <a:r>
              <a:rPr lang="en-US" sz="2200" spc="40" dirty="0">
                <a:cs typeface="Calibri"/>
              </a:rPr>
              <a:t> </a:t>
            </a:r>
            <a:r>
              <a:rPr lang="en-US" sz="2200" dirty="0">
                <a:cs typeface="Calibri"/>
              </a:rPr>
              <a:t>cannot</a:t>
            </a:r>
            <a:r>
              <a:rPr lang="en-US" sz="2200" spc="40" dirty="0">
                <a:cs typeface="Calibri"/>
              </a:rPr>
              <a:t> </a:t>
            </a:r>
            <a:r>
              <a:rPr lang="en-US" sz="2200" dirty="0">
                <a:cs typeface="Calibri"/>
              </a:rPr>
              <a:t>put</a:t>
            </a:r>
            <a:r>
              <a:rPr lang="en-US" sz="2200" spc="44" dirty="0">
                <a:cs typeface="Calibri"/>
              </a:rPr>
              <a:t> </a:t>
            </a:r>
            <a:r>
              <a:rPr lang="en-US" sz="2200" spc="-18" dirty="0">
                <a:cs typeface="Calibri"/>
              </a:rPr>
              <a:t>away</a:t>
            </a:r>
            <a:endParaRPr lang="en-US" sz="2200" spc="-9" dirty="0">
              <a:latin typeface="Calibri"/>
              <a:cs typeface="Calibri"/>
            </a:endParaRPr>
          </a:p>
          <a:p>
            <a:pPr marR="409596" indent="-268956">
              <a:buChar char="•"/>
              <a:tabLst>
                <a:tab pos="280162" algn="l"/>
              </a:tabLst>
            </a:pPr>
            <a:r>
              <a:rPr sz="2200" b="1" dirty="0">
                <a:solidFill>
                  <a:srgbClr val="FF0000"/>
                </a:solidFill>
                <a:latin typeface="Calibri"/>
                <a:cs typeface="Calibri"/>
              </a:rPr>
              <a:t>Control</a:t>
            </a:r>
            <a:r>
              <a:rPr sz="2200" b="1" spc="62" dirty="0">
                <a:solidFill>
                  <a:srgbClr val="FF0000"/>
                </a:solidFill>
                <a:latin typeface="Calibri"/>
                <a:cs typeface="Calibri"/>
              </a:rPr>
              <a:t> </a:t>
            </a:r>
            <a:r>
              <a:rPr sz="2200" b="1" spc="-9" dirty="0">
                <a:solidFill>
                  <a:srgbClr val="FF0000"/>
                </a:solidFill>
                <a:latin typeface="Calibri"/>
                <a:cs typeface="Calibri"/>
              </a:rPr>
              <a:t>hazards</a:t>
            </a:r>
            <a:endParaRPr sz="2200" dirty="0">
              <a:latin typeface="Calibri"/>
              <a:cs typeface="Calibri"/>
            </a:endParaRPr>
          </a:p>
          <a:p>
            <a:pPr marL="446088" marR="178743" indent="-214313"/>
            <a:r>
              <a:rPr sz="2200" dirty="0">
                <a:latin typeface="Calibri"/>
                <a:cs typeface="Calibri"/>
              </a:rPr>
              <a:t>»</a:t>
            </a:r>
            <a:r>
              <a:rPr sz="2200" spc="375" dirty="0">
                <a:latin typeface="Calibri"/>
                <a:cs typeface="Calibri"/>
              </a:rPr>
              <a:t> </a:t>
            </a:r>
            <a:r>
              <a:rPr sz="2200" dirty="0">
                <a:latin typeface="Calibri"/>
                <a:cs typeface="Calibri"/>
              </a:rPr>
              <a:t>Caused</a:t>
            </a:r>
            <a:r>
              <a:rPr sz="2200" spc="49" dirty="0">
                <a:latin typeface="Calibri"/>
                <a:cs typeface="Calibri"/>
              </a:rPr>
              <a:t> </a:t>
            </a:r>
            <a:r>
              <a:rPr sz="2200" dirty="0">
                <a:latin typeface="Calibri"/>
                <a:cs typeface="Calibri"/>
              </a:rPr>
              <a:t>by</a:t>
            </a:r>
            <a:r>
              <a:rPr sz="2200" spc="44" dirty="0">
                <a:latin typeface="Calibri"/>
                <a:cs typeface="Calibri"/>
              </a:rPr>
              <a:t> </a:t>
            </a:r>
            <a:r>
              <a:rPr sz="2200" dirty="0">
                <a:latin typeface="Calibri"/>
                <a:cs typeface="Calibri"/>
              </a:rPr>
              <a:t>delay</a:t>
            </a:r>
            <a:r>
              <a:rPr sz="2200" spc="40" dirty="0">
                <a:latin typeface="Calibri"/>
                <a:cs typeface="Calibri"/>
              </a:rPr>
              <a:t> </a:t>
            </a:r>
            <a:r>
              <a:rPr sz="2200" dirty="0">
                <a:latin typeface="Calibri"/>
                <a:cs typeface="Calibri"/>
              </a:rPr>
              <a:t>between</a:t>
            </a:r>
            <a:r>
              <a:rPr sz="2200" spc="49" dirty="0">
                <a:latin typeface="Calibri"/>
                <a:cs typeface="Calibri"/>
              </a:rPr>
              <a:t> </a:t>
            </a:r>
            <a:r>
              <a:rPr sz="2200" dirty="0">
                <a:latin typeface="Calibri"/>
                <a:cs typeface="Calibri"/>
              </a:rPr>
              <a:t>the</a:t>
            </a:r>
            <a:r>
              <a:rPr sz="2200" spc="57" dirty="0">
                <a:latin typeface="Calibri"/>
                <a:cs typeface="Calibri"/>
              </a:rPr>
              <a:t> </a:t>
            </a:r>
            <a:r>
              <a:rPr sz="2200" dirty="0">
                <a:latin typeface="Calibri"/>
                <a:cs typeface="Calibri"/>
              </a:rPr>
              <a:t>fetching</a:t>
            </a:r>
            <a:r>
              <a:rPr sz="2200" spc="44" dirty="0">
                <a:latin typeface="Calibri"/>
                <a:cs typeface="Calibri"/>
              </a:rPr>
              <a:t> </a:t>
            </a:r>
            <a:r>
              <a:rPr sz="2200" dirty="0">
                <a:latin typeface="Calibri"/>
                <a:cs typeface="Calibri"/>
              </a:rPr>
              <a:t>of</a:t>
            </a:r>
            <a:r>
              <a:rPr sz="2200" spc="44" dirty="0">
                <a:latin typeface="Calibri"/>
                <a:cs typeface="Calibri"/>
              </a:rPr>
              <a:t> </a:t>
            </a:r>
            <a:r>
              <a:rPr sz="2200" dirty="0">
                <a:latin typeface="Calibri"/>
                <a:cs typeface="Calibri"/>
              </a:rPr>
              <a:t>instructions</a:t>
            </a:r>
            <a:r>
              <a:rPr sz="2200" spc="49" dirty="0">
                <a:latin typeface="Calibri"/>
                <a:cs typeface="Calibri"/>
              </a:rPr>
              <a:t> </a:t>
            </a:r>
            <a:r>
              <a:rPr sz="2200" spc="-22" dirty="0">
                <a:latin typeface="Calibri"/>
                <a:cs typeface="Calibri"/>
              </a:rPr>
              <a:t>and </a:t>
            </a:r>
            <a:r>
              <a:rPr sz="2200" dirty="0">
                <a:latin typeface="Calibri"/>
                <a:cs typeface="Calibri"/>
              </a:rPr>
              <a:t>decisions</a:t>
            </a:r>
            <a:r>
              <a:rPr sz="2200" spc="49" dirty="0">
                <a:latin typeface="Calibri"/>
                <a:cs typeface="Calibri"/>
              </a:rPr>
              <a:t> </a:t>
            </a:r>
            <a:r>
              <a:rPr sz="2200" dirty="0">
                <a:latin typeface="Calibri"/>
                <a:cs typeface="Calibri"/>
              </a:rPr>
              <a:t>about</a:t>
            </a:r>
            <a:r>
              <a:rPr sz="2200" spc="53" dirty="0">
                <a:latin typeface="Calibri"/>
                <a:cs typeface="Calibri"/>
              </a:rPr>
              <a:t> </a:t>
            </a:r>
            <a:r>
              <a:rPr sz="2200" dirty="0">
                <a:latin typeface="Calibri"/>
                <a:cs typeface="Calibri"/>
              </a:rPr>
              <a:t>changes</a:t>
            </a:r>
            <a:r>
              <a:rPr sz="2200" spc="53" dirty="0">
                <a:latin typeface="Calibri"/>
                <a:cs typeface="Calibri"/>
              </a:rPr>
              <a:t> </a:t>
            </a:r>
            <a:r>
              <a:rPr sz="2200" dirty="0">
                <a:latin typeface="Calibri"/>
                <a:cs typeface="Calibri"/>
              </a:rPr>
              <a:t>in</a:t>
            </a:r>
            <a:r>
              <a:rPr sz="2200" spc="53" dirty="0">
                <a:latin typeface="Calibri"/>
                <a:cs typeface="Calibri"/>
              </a:rPr>
              <a:t> </a:t>
            </a:r>
            <a:r>
              <a:rPr sz="2200" dirty="0">
                <a:latin typeface="Calibri"/>
                <a:cs typeface="Calibri"/>
              </a:rPr>
              <a:t>control</a:t>
            </a:r>
            <a:r>
              <a:rPr sz="2200" spc="49" dirty="0">
                <a:latin typeface="Calibri"/>
                <a:cs typeface="Calibri"/>
              </a:rPr>
              <a:t> </a:t>
            </a:r>
            <a:r>
              <a:rPr sz="2200" dirty="0">
                <a:latin typeface="Calibri"/>
                <a:cs typeface="Calibri"/>
              </a:rPr>
              <a:t>flow</a:t>
            </a:r>
            <a:r>
              <a:rPr sz="2200" spc="53" dirty="0">
                <a:latin typeface="Calibri"/>
                <a:cs typeface="Calibri"/>
              </a:rPr>
              <a:t> </a:t>
            </a:r>
            <a:r>
              <a:rPr sz="2200" dirty="0">
                <a:latin typeface="Calibri"/>
                <a:cs typeface="Calibri"/>
              </a:rPr>
              <a:t>(branches</a:t>
            </a:r>
            <a:r>
              <a:rPr sz="2200" spc="53" dirty="0">
                <a:latin typeface="Calibri"/>
                <a:cs typeface="Calibri"/>
              </a:rPr>
              <a:t> </a:t>
            </a:r>
            <a:r>
              <a:rPr sz="2200" spc="-22" dirty="0">
                <a:latin typeface="Calibri"/>
                <a:cs typeface="Calibri"/>
              </a:rPr>
              <a:t>and </a:t>
            </a:r>
            <a:r>
              <a:rPr sz="2200" spc="-9" dirty="0">
                <a:latin typeface="Calibri"/>
                <a:cs typeface="Calibri"/>
              </a:rPr>
              <a:t>jumps).</a:t>
            </a:r>
            <a:endParaRPr sz="22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4912" y="670487"/>
            <a:ext cx="6958853" cy="472980"/>
          </a:xfrm>
          <a:prstGeom prst="rect">
            <a:avLst/>
          </a:prstGeom>
        </p:spPr>
        <p:txBody>
          <a:bodyPr vert="horz" wrap="square" lIns="0" tIns="11206" rIns="0" bIns="0" rtlCol="0" anchor="ctr">
            <a:spAutoFit/>
          </a:bodyPr>
          <a:lstStyle/>
          <a:p>
            <a:pPr marL="11206">
              <a:lnSpc>
                <a:spcPts val="3565"/>
              </a:lnSpc>
              <a:spcBef>
                <a:spcPts val="88"/>
              </a:spcBef>
            </a:pPr>
            <a:r>
              <a:rPr dirty="0"/>
              <a:t>One </a:t>
            </a:r>
            <a:r>
              <a:rPr spc="-9" dirty="0"/>
              <a:t>Memory-</a:t>
            </a:r>
            <a:r>
              <a:rPr dirty="0"/>
              <a:t>Port</a:t>
            </a:r>
            <a:r>
              <a:rPr spc="9" dirty="0"/>
              <a:t> </a:t>
            </a:r>
            <a:r>
              <a:rPr dirty="0"/>
              <a:t>/</a:t>
            </a:r>
            <a:r>
              <a:rPr spc="9" dirty="0"/>
              <a:t> </a:t>
            </a:r>
            <a:r>
              <a:rPr dirty="0"/>
              <a:t>Structural</a:t>
            </a:r>
            <a:r>
              <a:rPr spc="9" dirty="0"/>
              <a:t> </a:t>
            </a:r>
            <a:r>
              <a:rPr spc="-9" dirty="0"/>
              <a:t>Hazards</a:t>
            </a:r>
          </a:p>
        </p:txBody>
      </p:sp>
      <p:sp>
        <p:nvSpPr>
          <p:cNvPr id="184" name="Slide Number Placeholder 183">
            <a:extLst>
              <a:ext uri="{FF2B5EF4-FFF2-40B4-BE49-F238E27FC236}">
                <a16:creationId xmlns:a16="http://schemas.microsoft.com/office/drawing/2014/main" id="{3AC8CAED-0F1F-4055-37EA-1D052A19E9DD}"/>
              </a:ext>
            </a:extLst>
          </p:cNvPr>
          <p:cNvSpPr>
            <a:spLocks noGrp="1"/>
          </p:cNvSpPr>
          <p:nvPr>
            <p:ph type="sldNum" sz="quarter" idx="7"/>
          </p:nvPr>
        </p:nvSpPr>
        <p:spPr/>
        <p:txBody>
          <a:bodyPr/>
          <a:lstStyle/>
          <a:p>
            <a:fld id="{4FE321F0-2018-4E50-8BB3-A5631EBD98DD}" type="slidenum">
              <a:rPr lang="en-US" smtClean="0"/>
              <a:t>34</a:t>
            </a:fld>
            <a:endParaRPr lang="en-US"/>
          </a:p>
        </p:txBody>
      </p:sp>
      <p:sp>
        <p:nvSpPr>
          <p:cNvPr id="3" name="object 3"/>
          <p:cNvSpPr txBox="1"/>
          <p:nvPr/>
        </p:nvSpPr>
        <p:spPr>
          <a:xfrm>
            <a:off x="1240676" y="2311998"/>
            <a:ext cx="499782" cy="269399"/>
          </a:xfrm>
          <a:prstGeom prst="rect">
            <a:avLst/>
          </a:prstGeom>
        </p:spPr>
        <p:txBody>
          <a:bodyPr vert="horz" wrap="square" lIns="0" tIns="11206" rIns="0" bIns="0" rtlCol="0">
            <a:spAutoFit/>
          </a:bodyPr>
          <a:lstStyle/>
          <a:p>
            <a:pPr marL="11206">
              <a:spcBef>
                <a:spcPts val="88"/>
              </a:spcBef>
            </a:pPr>
            <a:r>
              <a:rPr sz="1677" b="1" spc="-18" dirty="0">
                <a:solidFill>
                  <a:srgbClr val="FF0000"/>
                </a:solidFill>
                <a:latin typeface="Times New Roman"/>
                <a:cs typeface="Times New Roman"/>
              </a:rPr>
              <a:t>Load</a:t>
            </a:r>
            <a:endParaRPr sz="1677">
              <a:latin typeface="Times New Roman"/>
              <a:cs typeface="Times New Roman"/>
            </a:endParaRPr>
          </a:p>
        </p:txBody>
      </p:sp>
      <p:sp>
        <p:nvSpPr>
          <p:cNvPr id="4" name="object 4"/>
          <p:cNvSpPr txBox="1"/>
          <p:nvPr/>
        </p:nvSpPr>
        <p:spPr>
          <a:xfrm>
            <a:off x="1240676" y="3065032"/>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1</a:t>
            </a:r>
            <a:endParaRPr sz="1677" dirty="0">
              <a:latin typeface="Times New Roman"/>
              <a:cs typeface="Times New Roman"/>
            </a:endParaRPr>
          </a:p>
        </p:txBody>
      </p:sp>
      <p:sp>
        <p:nvSpPr>
          <p:cNvPr id="5" name="object 5"/>
          <p:cNvSpPr txBox="1"/>
          <p:nvPr/>
        </p:nvSpPr>
        <p:spPr>
          <a:xfrm>
            <a:off x="1240676" y="3831516"/>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2</a:t>
            </a:r>
            <a:endParaRPr sz="1677">
              <a:latin typeface="Times New Roman"/>
              <a:cs typeface="Times New Roman"/>
            </a:endParaRPr>
          </a:p>
        </p:txBody>
      </p:sp>
      <p:sp>
        <p:nvSpPr>
          <p:cNvPr id="6" name="object 6"/>
          <p:cNvSpPr txBox="1"/>
          <p:nvPr/>
        </p:nvSpPr>
        <p:spPr>
          <a:xfrm>
            <a:off x="1240676" y="4606066"/>
            <a:ext cx="633132" cy="269399"/>
          </a:xfrm>
          <a:prstGeom prst="rect">
            <a:avLst/>
          </a:prstGeom>
        </p:spPr>
        <p:txBody>
          <a:bodyPr vert="horz" wrap="square" lIns="0" tIns="11206" rIns="0" bIns="0" rtlCol="0">
            <a:spAutoFit/>
          </a:bodyPr>
          <a:lstStyle/>
          <a:p>
            <a:pPr marL="11206">
              <a:spcBef>
                <a:spcPts val="88"/>
              </a:spcBef>
            </a:pPr>
            <a:r>
              <a:rPr sz="1677" b="1" dirty="0">
                <a:solidFill>
                  <a:srgbClr val="FF0000"/>
                </a:solidFill>
                <a:latin typeface="Times New Roman"/>
                <a:cs typeface="Times New Roman"/>
              </a:rPr>
              <a:t>Instr</a:t>
            </a:r>
            <a:r>
              <a:rPr sz="1677" b="1" spc="-22" dirty="0">
                <a:solidFill>
                  <a:srgbClr val="FF0000"/>
                </a:solidFill>
                <a:latin typeface="Times New Roman"/>
                <a:cs typeface="Times New Roman"/>
              </a:rPr>
              <a:t> </a:t>
            </a:r>
            <a:r>
              <a:rPr sz="1677" b="1" spc="-44" dirty="0">
                <a:solidFill>
                  <a:srgbClr val="FF0000"/>
                </a:solidFill>
                <a:latin typeface="Times New Roman"/>
                <a:cs typeface="Times New Roman"/>
              </a:rPr>
              <a:t>3</a:t>
            </a:r>
            <a:endParaRPr sz="1677">
              <a:latin typeface="Times New Roman"/>
              <a:cs typeface="Times New Roman"/>
            </a:endParaRPr>
          </a:p>
        </p:txBody>
      </p:sp>
      <p:sp>
        <p:nvSpPr>
          <p:cNvPr id="7" name="object 7"/>
          <p:cNvSpPr txBox="1"/>
          <p:nvPr/>
        </p:nvSpPr>
        <p:spPr>
          <a:xfrm>
            <a:off x="1240676" y="5337586"/>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4</a:t>
            </a:r>
            <a:endParaRPr sz="1677">
              <a:latin typeface="Times New Roman"/>
              <a:cs typeface="Times New Roman"/>
            </a:endParaRPr>
          </a:p>
        </p:txBody>
      </p:sp>
      <p:sp>
        <p:nvSpPr>
          <p:cNvPr id="8" name="object 8"/>
          <p:cNvSpPr txBox="1"/>
          <p:nvPr/>
        </p:nvSpPr>
        <p:spPr>
          <a:xfrm>
            <a:off x="568228" y="2265381"/>
            <a:ext cx="156882" cy="1463444"/>
          </a:xfrm>
          <a:prstGeom prst="rect">
            <a:avLst/>
          </a:prstGeom>
        </p:spPr>
        <p:txBody>
          <a:bodyPr vert="horz" wrap="square" lIns="0" tIns="11206" rIns="0" bIns="0" rtlCol="0">
            <a:spAutoFit/>
          </a:bodyPr>
          <a:lstStyle/>
          <a:p>
            <a:pPr marL="34180">
              <a:spcBef>
                <a:spcPts val="88"/>
              </a:spcBef>
            </a:pPr>
            <a:r>
              <a:rPr sz="1853" b="1" i="1" spc="-44" dirty="0">
                <a:latin typeface="Times New Roman"/>
                <a:cs typeface="Times New Roman"/>
              </a:rPr>
              <a:t>I</a:t>
            </a:r>
            <a:endParaRPr sz="1853">
              <a:latin typeface="Times New Roman"/>
              <a:cs typeface="Times New Roman"/>
            </a:endParaRPr>
          </a:p>
          <a:p>
            <a:pPr marL="34180" marR="4483" indent="-20172">
              <a:lnSpc>
                <a:spcPts val="2285"/>
              </a:lnSpc>
              <a:spcBef>
                <a:spcPts val="22"/>
              </a:spcBef>
            </a:pPr>
            <a:r>
              <a:rPr sz="1853" b="1" i="1" spc="-44" dirty="0">
                <a:latin typeface="Times New Roman"/>
                <a:cs typeface="Times New Roman"/>
              </a:rPr>
              <a:t>n s</a:t>
            </a:r>
            <a:endParaRPr sz="1853">
              <a:latin typeface="Times New Roman"/>
              <a:cs typeface="Times New Roman"/>
            </a:endParaRPr>
          </a:p>
          <a:p>
            <a:pPr marL="11206" marR="11767" indent="36421">
              <a:lnSpc>
                <a:spcPts val="2224"/>
              </a:lnSpc>
              <a:spcBef>
                <a:spcPts val="53"/>
              </a:spcBef>
            </a:pPr>
            <a:r>
              <a:rPr sz="1853" b="1" i="1" spc="-44" dirty="0">
                <a:latin typeface="Times New Roman"/>
                <a:cs typeface="Times New Roman"/>
              </a:rPr>
              <a:t>t </a:t>
            </a:r>
            <a:r>
              <a:rPr sz="1853" b="1" i="1" spc="-115" dirty="0">
                <a:latin typeface="Times New Roman"/>
                <a:cs typeface="Times New Roman"/>
              </a:rPr>
              <a:t>r.</a:t>
            </a:r>
            <a:endParaRPr sz="1853">
              <a:latin typeface="Times New Roman"/>
              <a:cs typeface="Times New Roman"/>
            </a:endParaRPr>
          </a:p>
        </p:txBody>
      </p:sp>
      <p:sp>
        <p:nvSpPr>
          <p:cNvPr id="9" name="object 9"/>
          <p:cNvSpPr txBox="1"/>
          <p:nvPr/>
        </p:nvSpPr>
        <p:spPr>
          <a:xfrm>
            <a:off x="551136" y="3991983"/>
            <a:ext cx="192741" cy="1436064"/>
          </a:xfrm>
          <a:prstGeom prst="rect">
            <a:avLst/>
          </a:prstGeom>
        </p:spPr>
        <p:txBody>
          <a:bodyPr vert="horz" wrap="square" lIns="0" tIns="11206" rIns="0" bIns="0" rtlCol="0">
            <a:spAutoFit/>
          </a:bodyPr>
          <a:lstStyle/>
          <a:p>
            <a:pPr marL="11206">
              <a:lnSpc>
                <a:spcPts val="2215"/>
              </a:lnSpc>
              <a:spcBef>
                <a:spcPts val="88"/>
              </a:spcBef>
            </a:pPr>
            <a:r>
              <a:rPr sz="1853" b="1" i="1" spc="-44" dirty="0">
                <a:latin typeface="Times New Roman"/>
                <a:cs typeface="Times New Roman"/>
              </a:rPr>
              <a:t>O</a:t>
            </a:r>
            <a:endParaRPr sz="1853">
              <a:latin typeface="Times New Roman"/>
              <a:cs typeface="Times New Roman"/>
            </a:endParaRPr>
          </a:p>
          <a:p>
            <a:pPr marL="51549">
              <a:lnSpc>
                <a:spcPts val="2215"/>
              </a:lnSpc>
            </a:pPr>
            <a:r>
              <a:rPr sz="1853" b="1" i="1" spc="-44" dirty="0">
                <a:latin typeface="Times New Roman"/>
                <a:cs typeface="Times New Roman"/>
              </a:rPr>
              <a:t>r</a:t>
            </a:r>
            <a:endParaRPr sz="1853">
              <a:latin typeface="Times New Roman"/>
              <a:cs typeface="Times New Roman"/>
            </a:endParaRPr>
          </a:p>
          <a:p>
            <a:pPr marL="44826" marR="29697" indent="-7284" algn="just">
              <a:lnSpc>
                <a:spcPct val="101000"/>
              </a:lnSpc>
              <a:spcBef>
                <a:spcPts val="62"/>
              </a:spcBef>
            </a:pPr>
            <a:r>
              <a:rPr sz="1853" b="1" i="1" spc="-44" dirty="0">
                <a:latin typeface="Times New Roman"/>
                <a:cs typeface="Times New Roman"/>
              </a:rPr>
              <a:t>d e r</a:t>
            </a:r>
            <a:endParaRPr sz="1853">
              <a:latin typeface="Times New Roman"/>
              <a:cs typeface="Times New Roman"/>
            </a:endParaRPr>
          </a:p>
        </p:txBody>
      </p:sp>
      <p:sp>
        <p:nvSpPr>
          <p:cNvPr id="10" name="object 10"/>
          <p:cNvSpPr/>
          <p:nvPr/>
        </p:nvSpPr>
        <p:spPr>
          <a:xfrm>
            <a:off x="929675" y="2310572"/>
            <a:ext cx="71718" cy="2932579"/>
          </a:xfrm>
          <a:custGeom>
            <a:avLst/>
            <a:gdLst/>
            <a:ahLst/>
            <a:cxnLst/>
            <a:rect l="l" t="t" r="r" b="b"/>
            <a:pathLst>
              <a:path w="81280" h="3323590">
                <a:moveTo>
                  <a:pt x="27093" y="3241714"/>
                </a:moveTo>
                <a:lnTo>
                  <a:pt x="0" y="3241714"/>
                </a:lnTo>
                <a:lnTo>
                  <a:pt x="40639" y="3322994"/>
                </a:lnTo>
                <a:lnTo>
                  <a:pt x="74499" y="3255275"/>
                </a:lnTo>
                <a:lnTo>
                  <a:pt x="27093" y="3255275"/>
                </a:lnTo>
                <a:lnTo>
                  <a:pt x="27093" y="3241714"/>
                </a:lnTo>
                <a:close/>
              </a:path>
              <a:path w="81280" h="3323590">
                <a:moveTo>
                  <a:pt x="54185" y="0"/>
                </a:moveTo>
                <a:lnTo>
                  <a:pt x="27092" y="0"/>
                </a:lnTo>
                <a:lnTo>
                  <a:pt x="27093" y="3255275"/>
                </a:lnTo>
                <a:lnTo>
                  <a:pt x="54186" y="3255275"/>
                </a:lnTo>
                <a:lnTo>
                  <a:pt x="54185" y="0"/>
                </a:lnTo>
                <a:close/>
              </a:path>
              <a:path w="81280" h="3323590">
                <a:moveTo>
                  <a:pt x="81279" y="3241714"/>
                </a:moveTo>
                <a:lnTo>
                  <a:pt x="54186" y="3241714"/>
                </a:lnTo>
                <a:lnTo>
                  <a:pt x="54186" y="3255275"/>
                </a:lnTo>
                <a:lnTo>
                  <a:pt x="74499" y="3255275"/>
                </a:lnTo>
                <a:lnTo>
                  <a:pt x="81279" y="3241714"/>
                </a:lnTo>
                <a:close/>
              </a:path>
            </a:pathLst>
          </a:custGeom>
          <a:solidFill>
            <a:srgbClr val="000000"/>
          </a:solidFill>
        </p:spPr>
        <p:txBody>
          <a:bodyPr wrap="square" lIns="0" tIns="0" rIns="0" bIns="0" rtlCol="0"/>
          <a:lstStyle/>
          <a:p>
            <a:endParaRPr sz="1588"/>
          </a:p>
        </p:txBody>
      </p:sp>
      <p:grpSp>
        <p:nvGrpSpPr>
          <p:cNvPr id="11" name="object 11"/>
          <p:cNvGrpSpPr/>
          <p:nvPr/>
        </p:nvGrpSpPr>
        <p:grpSpPr>
          <a:xfrm>
            <a:off x="1697128" y="1630917"/>
            <a:ext cx="6728572" cy="1032622"/>
            <a:chOff x="1771011" y="1848372"/>
            <a:chExt cx="7625715" cy="1170305"/>
          </a:xfrm>
        </p:grpSpPr>
        <p:sp>
          <p:nvSpPr>
            <p:cNvPr id="12" name="object 12"/>
            <p:cNvSpPr/>
            <p:nvPr/>
          </p:nvSpPr>
          <p:spPr>
            <a:xfrm>
              <a:off x="1771011" y="1848372"/>
              <a:ext cx="7625715" cy="81280"/>
            </a:xfrm>
            <a:custGeom>
              <a:avLst/>
              <a:gdLst/>
              <a:ahLst/>
              <a:cxnLst/>
              <a:rect l="l" t="t" r="r" b="b"/>
              <a:pathLst>
                <a:path w="7625715" h="81280">
                  <a:moveTo>
                    <a:pt x="7544468" y="0"/>
                  </a:moveTo>
                  <a:lnTo>
                    <a:pt x="7544349" y="40874"/>
                  </a:lnTo>
                  <a:lnTo>
                    <a:pt x="7544233" y="81278"/>
                  </a:lnTo>
                  <a:lnTo>
                    <a:pt x="7598734" y="54225"/>
                  </a:lnTo>
                  <a:lnTo>
                    <a:pt x="7557843" y="54225"/>
                  </a:lnTo>
                  <a:lnTo>
                    <a:pt x="7557921" y="27132"/>
                  </a:lnTo>
                  <a:lnTo>
                    <a:pt x="7598342" y="27132"/>
                  </a:lnTo>
                  <a:lnTo>
                    <a:pt x="7544468" y="0"/>
                  </a:lnTo>
                  <a:close/>
                </a:path>
                <a:path w="7625715" h="81280">
                  <a:moveTo>
                    <a:pt x="78" y="5265"/>
                  </a:moveTo>
                  <a:lnTo>
                    <a:pt x="0" y="32358"/>
                  </a:lnTo>
                  <a:lnTo>
                    <a:pt x="7557843" y="54225"/>
                  </a:lnTo>
                  <a:lnTo>
                    <a:pt x="7544311" y="54225"/>
                  </a:lnTo>
                  <a:lnTo>
                    <a:pt x="7544389" y="27132"/>
                  </a:lnTo>
                  <a:lnTo>
                    <a:pt x="7557921" y="27132"/>
                  </a:lnTo>
                  <a:lnTo>
                    <a:pt x="78" y="5265"/>
                  </a:lnTo>
                  <a:close/>
                </a:path>
                <a:path w="7625715" h="81280">
                  <a:moveTo>
                    <a:pt x="7598342" y="27132"/>
                  </a:moveTo>
                  <a:lnTo>
                    <a:pt x="7557921" y="27132"/>
                  </a:lnTo>
                  <a:lnTo>
                    <a:pt x="7557843" y="54225"/>
                  </a:lnTo>
                  <a:lnTo>
                    <a:pt x="7598734" y="54225"/>
                  </a:lnTo>
                  <a:lnTo>
                    <a:pt x="7625629" y="40874"/>
                  </a:lnTo>
                  <a:lnTo>
                    <a:pt x="7598342" y="27132"/>
                  </a:lnTo>
                  <a:close/>
                </a:path>
              </a:pathLst>
            </a:custGeom>
            <a:solidFill>
              <a:srgbClr val="000000"/>
            </a:solidFill>
          </p:spPr>
          <p:txBody>
            <a:bodyPr wrap="square" lIns="0" tIns="0" rIns="0" bIns="0" rtlCol="0"/>
            <a:lstStyle/>
            <a:p>
              <a:endParaRPr sz="1588"/>
            </a:p>
          </p:txBody>
        </p:sp>
        <p:sp>
          <p:nvSpPr>
            <p:cNvPr id="13" name="object 13"/>
            <p:cNvSpPr/>
            <p:nvPr/>
          </p:nvSpPr>
          <p:spPr>
            <a:xfrm>
              <a:off x="3414873" y="2636240"/>
              <a:ext cx="228600" cy="363220"/>
            </a:xfrm>
            <a:custGeom>
              <a:avLst/>
              <a:gdLst/>
              <a:ahLst/>
              <a:cxnLst/>
              <a:rect l="l" t="t" r="r" b="b"/>
              <a:pathLst>
                <a:path w="228600" h="363219">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14" name="object 14"/>
            <p:cNvSpPr/>
            <p:nvPr/>
          </p:nvSpPr>
          <p:spPr>
            <a:xfrm>
              <a:off x="3186296" y="2636240"/>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5" name="object 15"/>
          <p:cNvSpPr txBox="1"/>
          <p:nvPr/>
        </p:nvSpPr>
        <p:spPr>
          <a:xfrm>
            <a:off x="3028251" y="2366234"/>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6" name="object 16"/>
          <p:cNvGrpSpPr/>
          <p:nvPr/>
        </p:nvGrpSpPr>
        <p:grpSpPr>
          <a:xfrm>
            <a:off x="3337657" y="2216363"/>
            <a:ext cx="755837" cy="542925"/>
            <a:chOff x="3630278" y="2511878"/>
            <a:chExt cx="856615" cy="615315"/>
          </a:xfrm>
        </p:grpSpPr>
        <p:sp>
          <p:nvSpPr>
            <p:cNvPr id="17" name="object 17"/>
            <p:cNvSpPr/>
            <p:nvPr/>
          </p:nvSpPr>
          <p:spPr>
            <a:xfrm>
              <a:off x="3645518" y="2710308"/>
              <a:ext cx="504825" cy="219075"/>
            </a:xfrm>
            <a:custGeom>
              <a:avLst/>
              <a:gdLst/>
              <a:ahLst/>
              <a:cxnLst/>
              <a:rect l="l" t="t" r="r" b="b"/>
              <a:pathLst>
                <a:path w="504825" h="219075">
                  <a:moveTo>
                    <a:pt x="0" y="0"/>
                  </a:moveTo>
                  <a:lnTo>
                    <a:pt x="99009" y="0"/>
                  </a:lnTo>
                </a:path>
                <a:path w="504825" h="219075">
                  <a:moveTo>
                    <a:pt x="191446" y="0"/>
                  </a:moveTo>
                  <a:lnTo>
                    <a:pt x="504730" y="0"/>
                  </a:lnTo>
                </a:path>
                <a:path w="504825" h="219075">
                  <a:moveTo>
                    <a:pt x="0" y="219055"/>
                  </a:moveTo>
                  <a:lnTo>
                    <a:pt x="99009" y="219055"/>
                  </a:lnTo>
                </a:path>
                <a:path w="504825" h="219075">
                  <a:moveTo>
                    <a:pt x="191446" y="219055"/>
                  </a:moveTo>
                  <a:lnTo>
                    <a:pt x="504730" y="219055"/>
                  </a:lnTo>
                </a:path>
              </a:pathLst>
            </a:custGeom>
            <a:ln w="30481">
              <a:solidFill>
                <a:srgbClr val="000000"/>
              </a:solidFill>
            </a:ln>
          </p:spPr>
          <p:txBody>
            <a:bodyPr wrap="square" lIns="0" tIns="0" rIns="0" bIns="0" rtlCol="0"/>
            <a:lstStyle/>
            <a:p>
              <a:endParaRPr sz="1588"/>
            </a:p>
          </p:txBody>
        </p:sp>
        <p:sp>
          <p:nvSpPr>
            <p:cNvPr id="18" name="object 18"/>
            <p:cNvSpPr/>
            <p:nvPr/>
          </p:nvSpPr>
          <p:spPr>
            <a:xfrm>
              <a:off x="4085032" y="2527118"/>
              <a:ext cx="386715" cy="584835"/>
            </a:xfrm>
            <a:custGeom>
              <a:avLst/>
              <a:gdLst/>
              <a:ahLst/>
              <a:cxnLst/>
              <a:rect l="l" t="t" r="r" b="b"/>
              <a:pathLst>
                <a:path w="386714" h="584835">
                  <a:moveTo>
                    <a:pt x="0" y="0"/>
                  </a:moveTo>
                  <a:lnTo>
                    <a:pt x="0" y="584672"/>
                  </a:lnTo>
                  <a:lnTo>
                    <a:pt x="386417" y="438504"/>
                  </a:lnTo>
                  <a:lnTo>
                    <a:pt x="386417" y="146168"/>
                  </a:lnTo>
                  <a:lnTo>
                    <a:pt x="0" y="0"/>
                  </a:lnTo>
                  <a:close/>
                </a:path>
              </a:pathLst>
            </a:custGeom>
            <a:solidFill>
              <a:srgbClr val="FFFFFF"/>
            </a:solidFill>
          </p:spPr>
          <p:txBody>
            <a:bodyPr wrap="square" lIns="0" tIns="0" rIns="0" bIns="0" rtlCol="0"/>
            <a:lstStyle/>
            <a:p>
              <a:endParaRPr sz="1588"/>
            </a:p>
          </p:txBody>
        </p:sp>
        <p:sp>
          <p:nvSpPr>
            <p:cNvPr id="19" name="object 19"/>
            <p:cNvSpPr/>
            <p:nvPr/>
          </p:nvSpPr>
          <p:spPr>
            <a:xfrm>
              <a:off x="4085032" y="2527118"/>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20" name="object 20"/>
            <p:cNvSpPr/>
            <p:nvPr/>
          </p:nvSpPr>
          <p:spPr>
            <a:xfrm>
              <a:off x="4059232" y="2725436"/>
              <a:ext cx="207010" cy="189230"/>
            </a:xfrm>
            <a:custGeom>
              <a:avLst/>
              <a:gdLst/>
              <a:ahLst/>
              <a:cxnLst/>
              <a:rect l="l" t="t" r="r" b="b"/>
              <a:pathLst>
                <a:path w="207010" h="189230">
                  <a:moveTo>
                    <a:pt x="0" y="0"/>
                  </a:moveTo>
                  <a:lnTo>
                    <a:pt x="0" y="188799"/>
                  </a:lnTo>
                  <a:lnTo>
                    <a:pt x="206395" y="94399"/>
                  </a:lnTo>
                  <a:lnTo>
                    <a:pt x="0" y="0"/>
                  </a:lnTo>
                  <a:close/>
                </a:path>
              </a:pathLst>
            </a:custGeom>
            <a:solidFill>
              <a:srgbClr val="FFFFFF"/>
            </a:solidFill>
          </p:spPr>
          <p:txBody>
            <a:bodyPr wrap="square" lIns="0" tIns="0" rIns="0" bIns="0" rtlCol="0"/>
            <a:lstStyle/>
            <a:p>
              <a:endParaRPr sz="1588"/>
            </a:p>
          </p:txBody>
        </p:sp>
        <p:sp>
          <p:nvSpPr>
            <p:cNvPr id="21" name="object 21"/>
            <p:cNvSpPr/>
            <p:nvPr/>
          </p:nvSpPr>
          <p:spPr>
            <a:xfrm>
              <a:off x="4085031" y="2736474"/>
              <a:ext cx="159385" cy="166370"/>
            </a:xfrm>
            <a:custGeom>
              <a:avLst/>
              <a:gdLst/>
              <a:ahLst/>
              <a:cxnLst/>
              <a:rect l="l" t="t" r="r" b="b"/>
              <a:pathLst>
                <a:path w="159385" h="166369">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22" name="object 22"/>
          <p:cNvSpPr txBox="1"/>
          <p:nvPr/>
        </p:nvSpPr>
        <p:spPr>
          <a:xfrm>
            <a:off x="3868940" y="2327433"/>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23" name="object 23"/>
          <p:cNvGrpSpPr/>
          <p:nvPr/>
        </p:nvGrpSpPr>
        <p:grpSpPr>
          <a:xfrm>
            <a:off x="4069564" y="2314037"/>
            <a:ext cx="1116666" cy="349624"/>
            <a:chOff x="4459772" y="2622575"/>
            <a:chExt cx="1265555" cy="396240"/>
          </a:xfrm>
        </p:grpSpPr>
        <p:sp>
          <p:nvSpPr>
            <p:cNvPr id="24" name="object 24"/>
            <p:cNvSpPr/>
            <p:nvPr/>
          </p:nvSpPr>
          <p:spPr>
            <a:xfrm>
              <a:off x="4475012" y="2820624"/>
              <a:ext cx="1235075" cy="0"/>
            </a:xfrm>
            <a:custGeom>
              <a:avLst/>
              <a:gdLst/>
              <a:ahLst/>
              <a:cxnLst/>
              <a:rect l="l" t="t" r="r" b="b"/>
              <a:pathLst>
                <a:path w="1235075">
                  <a:moveTo>
                    <a:pt x="0" y="0"/>
                  </a:moveTo>
                  <a:lnTo>
                    <a:pt x="123264" y="0"/>
                  </a:lnTo>
                </a:path>
                <a:path w="1235075">
                  <a:moveTo>
                    <a:pt x="214416" y="0"/>
                  </a:moveTo>
                  <a:lnTo>
                    <a:pt x="506798" y="0"/>
                  </a:lnTo>
                </a:path>
                <a:path w="1235075">
                  <a:moveTo>
                    <a:pt x="1069450" y="0"/>
                  </a:moveTo>
                  <a:lnTo>
                    <a:pt x="1234935" y="0"/>
                  </a:lnTo>
                </a:path>
                <a:path w="1235075">
                  <a:moveTo>
                    <a:pt x="875004" y="0"/>
                  </a:moveTo>
                  <a:lnTo>
                    <a:pt x="977013" y="0"/>
                  </a:lnTo>
                </a:path>
              </a:pathLst>
            </a:custGeom>
            <a:ln w="30481">
              <a:solidFill>
                <a:srgbClr val="000000"/>
              </a:solidFill>
            </a:ln>
          </p:spPr>
          <p:txBody>
            <a:bodyPr wrap="square" lIns="0" tIns="0" rIns="0" bIns="0" rtlCol="0"/>
            <a:lstStyle/>
            <a:p>
              <a:endParaRPr sz="1588"/>
            </a:p>
          </p:txBody>
        </p:sp>
        <p:sp>
          <p:nvSpPr>
            <p:cNvPr id="25" name="object 25"/>
            <p:cNvSpPr/>
            <p:nvPr/>
          </p:nvSpPr>
          <p:spPr>
            <a:xfrm>
              <a:off x="4847022" y="2637815"/>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26" name="object 26"/>
          <p:cNvSpPr txBox="1"/>
          <p:nvPr/>
        </p:nvSpPr>
        <p:spPr>
          <a:xfrm>
            <a:off x="4389499" y="2327484"/>
            <a:ext cx="426383" cy="168719"/>
          </a:xfrm>
          <a:prstGeom prst="rect">
            <a:avLst/>
          </a:prstGeom>
          <a:ln w="30479">
            <a:solidFill>
              <a:srgbClr val="000000"/>
            </a:solidFill>
          </a:ln>
        </p:spPr>
        <p:txBody>
          <a:bodyPr vert="horz" wrap="square" lIns="0" tIns="49866" rIns="0" bIns="0" rtlCol="0">
            <a:spAutoFit/>
          </a:bodyPr>
          <a:lstStyle/>
          <a:p>
            <a:pPr marL="26335">
              <a:lnSpc>
                <a:spcPts val="877"/>
              </a:lnSpc>
              <a:spcBef>
                <a:spcPts val="393"/>
              </a:spcBef>
            </a:pPr>
            <a:r>
              <a:rPr sz="1059" b="1" spc="-18" dirty="0">
                <a:latin typeface="Times New Roman"/>
                <a:cs typeface="Times New Roman"/>
              </a:rPr>
              <a:t>DMem</a:t>
            </a:r>
            <a:endParaRPr sz="1059">
              <a:latin typeface="Times New Roman"/>
              <a:cs typeface="Times New Roman"/>
            </a:endParaRPr>
          </a:p>
        </p:txBody>
      </p:sp>
      <p:grpSp>
        <p:nvGrpSpPr>
          <p:cNvPr id="27" name="object 27"/>
          <p:cNvGrpSpPr/>
          <p:nvPr/>
        </p:nvGrpSpPr>
        <p:grpSpPr>
          <a:xfrm>
            <a:off x="2548678" y="2378001"/>
            <a:ext cx="2438960" cy="381559"/>
            <a:chOff x="2736101" y="2695068"/>
            <a:chExt cx="2764155" cy="432434"/>
          </a:xfrm>
        </p:grpSpPr>
        <p:sp>
          <p:nvSpPr>
            <p:cNvPr id="28" name="object 28"/>
            <p:cNvSpPr/>
            <p:nvPr/>
          </p:nvSpPr>
          <p:spPr>
            <a:xfrm>
              <a:off x="4797709" y="2820624"/>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29" name="object 29"/>
            <p:cNvSpPr/>
            <p:nvPr/>
          </p:nvSpPr>
          <p:spPr>
            <a:xfrm>
              <a:off x="2751341" y="2710308"/>
              <a:ext cx="434975" cy="220979"/>
            </a:xfrm>
            <a:custGeom>
              <a:avLst/>
              <a:gdLst/>
              <a:ahLst/>
              <a:cxnLst/>
              <a:rect l="l" t="t" r="r" b="b"/>
              <a:pathLst>
                <a:path w="434975" h="220980">
                  <a:moveTo>
                    <a:pt x="0" y="220632"/>
                  </a:moveTo>
                  <a:lnTo>
                    <a:pt x="143287" y="220632"/>
                  </a:lnTo>
                </a:path>
                <a:path w="434975" h="220980">
                  <a:moveTo>
                    <a:pt x="235723" y="220632"/>
                  </a:moveTo>
                  <a:lnTo>
                    <a:pt x="434955" y="220632"/>
                  </a:lnTo>
                </a:path>
                <a:path w="434975" h="220980">
                  <a:moveTo>
                    <a:pt x="235723" y="0"/>
                  </a:moveTo>
                  <a:lnTo>
                    <a:pt x="432886" y="0"/>
                  </a:lnTo>
                </a:path>
                <a:path w="434975" h="220980">
                  <a:moveTo>
                    <a:pt x="0" y="0"/>
                  </a:moveTo>
                  <a:lnTo>
                    <a:pt x="143287" y="0"/>
                  </a:lnTo>
                </a:path>
              </a:pathLst>
            </a:custGeom>
            <a:ln w="30481">
              <a:solidFill>
                <a:srgbClr val="000000"/>
              </a:solidFill>
            </a:ln>
          </p:spPr>
          <p:txBody>
            <a:bodyPr wrap="square" lIns="0" tIns="0" rIns="0" bIns="0" rtlCol="0"/>
            <a:lstStyle/>
            <a:p>
              <a:endParaRPr sz="1588"/>
            </a:p>
          </p:txBody>
        </p:sp>
      </p:grpSp>
      <p:sp>
        <p:nvSpPr>
          <p:cNvPr id="30" name="object 30"/>
          <p:cNvSpPr txBox="1"/>
          <p:nvPr/>
        </p:nvSpPr>
        <p:spPr>
          <a:xfrm>
            <a:off x="2156086" y="2327484"/>
            <a:ext cx="406213" cy="213346"/>
          </a:xfrm>
          <a:prstGeom prst="rect">
            <a:avLst/>
          </a:prstGeom>
          <a:ln w="30479">
            <a:solidFill>
              <a:srgbClr val="000000"/>
            </a:solidFill>
          </a:ln>
        </p:spPr>
        <p:txBody>
          <a:bodyPr vert="horz" wrap="square" lIns="0" tIns="49866" rIns="0" bIns="0" rtlCol="0">
            <a:spAutoFit/>
          </a:bodyPr>
          <a:lstStyle/>
          <a:p>
            <a:pPr marL="39223">
              <a:spcBef>
                <a:spcPts val="393"/>
              </a:spcBef>
            </a:pPr>
            <a:r>
              <a:rPr sz="1059" b="1" spc="-9" dirty="0">
                <a:latin typeface="Times New Roman"/>
                <a:cs typeface="Times New Roman"/>
              </a:rPr>
              <a:t>Ifetch</a:t>
            </a:r>
            <a:endParaRPr sz="1059">
              <a:latin typeface="Times New Roman"/>
              <a:cs typeface="Times New Roman"/>
            </a:endParaRPr>
          </a:p>
        </p:txBody>
      </p:sp>
      <p:grpSp>
        <p:nvGrpSpPr>
          <p:cNvPr id="31" name="object 31"/>
          <p:cNvGrpSpPr/>
          <p:nvPr/>
        </p:nvGrpSpPr>
        <p:grpSpPr>
          <a:xfrm>
            <a:off x="2675108" y="2168033"/>
            <a:ext cx="2918572" cy="640416"/>
            <a:chOff x="2879389" y="2457103"/>
            <a:chExt cx="3307715" cy="725805"/>
          </a:xfrm>
        </p:grpSpPr>
        <p:sp>
          <p:nvSpPr>
            <p:cNvPr id="32" name="object 32"/>
            <p:cNvSpPr/>
            <p:nvPr/>
          </p:nvSpPr>
          <p:spPr>
            <a:xfrm>
              <a:off x="3744527" y="2472343"/>
              <a:ext cx="92710" cy="695325"/>
            </a:xfrm>
            <a:custGeom>
              <a:avLst/>
              <a:gdLst/>
              <a:ahLst/>
              <a:cxnLst/>
              <a:rect l="l" t="t" r="r" b="b"/>
              <a:pathLst>
                <a:path w="92710" h="695325">
                  <a:moveTo>
                    <a:pt x="92436" y="0"/>
                  </a:moveTo>
                  <a:lnTo>
                    <a:pt x="0" y="0"/>
                  </a:lnTo>
                  <a:lnTo>
                    <a:pt x="0" y="694987"/>
                  </a:lnTo>
                  <a:lnTo>
                    <a:pt x="92436" y="694987"/>
                  </a:lnTo>
                  <a:lnTo>
                    <a:pt x="92436" y="0"/>
                  </a:lnTo>
                  <a:close/>
                </a:path>
              </a:pathLst>
            </a:custGeom>
            <a:solidFill>
              <a:srgbClr val="00FF00"/>
            </a:solidFill>
          </p:spPr>
          <p:txBody>
            <a:bodyPr wrap="square" lIns="0" tIns="0" rIns="0" bIns="0" rtlCol="0"/>
            <a:lstStyle/>
            <a:p>
              <a:endParaRPr sz="1588"/>
            </a:p>
          </p:txBody>
        </p:sp>
        <p:sp>
          <p:nvSpPr>
            <p:cNvPr id="33" name="object 33"/>
            <p:cNvSpPr/>
            <p:nvPr/>
          </p:nvSpPr>
          <p:spPr>
            <a:xfrm>
              <a:off x="3744527"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4" name="object 34"/>
            <p:cNvSpPr/>
            <p:nvPr/>
          </p:nvSpPr>
          <p:spPr>
            <a:xfrm>
              <a:off x="5452026" y="2472343"/>
              <a:ext cx="92710" cy="695325"/>
            </a:xfrm>
            <a:custGeom>
              <a:avLst/>
              <a:gdLst/>
              <a:ahLst/>
              <a:cxnLst/>
              <a:rect l="l" t="t" r="r" b="b"/>
              <a:pathLst>
                <a:path w="92710" h="695325">
                  <a:moveTo>
                    <a:pt x="92436" y="0"/>
                  </a:moveTo>
                  <a:lnTo>
                    <a:pt x="0" y="0"/>
                  </a:lnTo>
                  <a:lnTo>
                    <a:pt x="0" y="694987"/>
                  </a:lnTo>
                  <a:lnTo>
                    <a:pt x="92436" y="694987"/>
                  </a:lnTo>
                  <a:lnTo>
                    <a:pt x="92436" y="0"/>
                  </a:lnTo>
                  <a:close/>
                </a:path>
              </a:pathLst>
            </a:custGeom>
            <a:solidFill>
              <a:srgbClr val="00FF00"/>
            </a:solidFill>
          </p:spPr>
          <p:txBody>
            <a:bodyPr wrap="square" lIns="0" tIns="0" rIns="0" bIns="0" rtlCol="0"/>
            <a:lstStyle/>
            <a:p>
              <a:endParaRPr sz="1588"/>
            </a:p>
          </p:txBody>
        </p:sp>
        <p:sp>
          <p:nvSpPr>
            <p:cNvPr id="35" name="object 35"/>
            <p:cNvSpPr/>
            <p:nvPr/>
          </p:nvSpPr>
          <p:spPr>
            <a:xfrm>
              <a:off x="5452026"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6" name="object 36"/>
            <p:cNvSpPr/>
            <p:nvPr/>
          </p:nvSpPr>
          <p:spPr>
            <a:xfrm>
              <a:off x="2894629" y="2472343"/>
              <a:ext cx="92710" cy="695325"/>
            </a:xfrm>
            <a:custGeom>
              <a:avLst/>
              <a:gdLst/>
              <a:ahLst/>
              <a:cxnLst/>
              <a:rect l="l" t="t" r="r" b="b"/>
              <a:pathLst>
                <a:path w="92710" h="695325">
                  <a:moveTo>
                    <a:pt x="92435" y="0"/>
                  </a:moveTo>
                  <a:lnTo>
                    <a:pt x="0" y="0"/>
                  </a:lnTo>
                  <a:lnTo>
                    <a:pt x="0" y="694987"/>
                  </a:lnTo>
                  <a:lnTo>
                    <a:pt x="92435" y="694987"/>
                  </a:lnTo>
                  <a:lnTo>
                    <a:pt x="92435" y="0"/>
                  </a:lnTo>
                  <a:close/>
                </a:path>
              </a:pathLst>
            </a:custGeom>
            <a:solidFill>
              <a:srgbClr val="00FF00"/>
            </a:solidFill>
          </p:spPr>
          <p:txBody>
            <a:bodyPr wrap="square" lIns="0" tIns="0" rIns="0" bIns="0" rtlCol="0"/>
            <a:lstStyle/>
            <a:p>
              <a:endParaRPr sz="1588"/>
            </a:p>
          </p:txBody>
        </p:sp>
        <p:sp>
          <p:nvSpPr>
            <p:cNvPr id="37" name="object 37"/>
            <p:cNvSpPr/>
            <p:nvPr/>
          </p:nvSpPr>
          <p:spPr>
            <a:xfrm>
              <a:off x="2894629"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8" name="object 38"/>
            <p:cNvSpPr/>
            <p:nvPr/>
          </p:nvSpPr>
          <p:spPr>
            <a:xfrm>
              <a:off x="4598277" y="2476425"/>
              <a:ext cx="91440" cy="685800"/>
            </a:xfrm>
            <a:custGeom>
              <a:avLst/>
              <a:gdLst/>
              <a:ahLst/>
              <a:cxnLst/>
              <a:rect l="l" t="t" r="r" b="b"/>
              <a:pathLst>
                <a:path w="91439" h="685800">
                  <a:moveTo>
                    <a:pt x="91151" y="0"/>
                  </a:moveTo>
                  <a:lnTo>
                    <a:pt x="0" y="0"/>
                  </a:lnTo>
                  <a:lnTo>
                    <a:pt x="0" y="685802"/>
                  </a:lnTo>
                  <a:lnTo>
                    <a:pt x="91151" y="685802"/>
                  </a:lnTo>
                  <a:lnTo>
                    <a:pt x="91151" y="0"/>
                  </a:lnTo>
                  <a:close/>
                </a:path>
              </a:pathLst>
            </a:custGeom>
            <a:solidFill>
              <a:srgbClr val="00FF00"/>
            </a:solidFill>
          </p:spPr>
          <p:txBody>
            <a:bodyPr wrap="square" lIns="0" tIns="0" rIns="0" bIns="0" rtlCol="0"/>
            <a:lstStyle/>
            <a:p>
              <a:endParaRPr sz="1588"/>
            </a:p>
          </p:txBody>
        </p:sp>
        <p:sp>
          <p:nvSpPr>
            <p:cNvPr id="39" name="object 39"/>
            <p:cNvSpPr/>
            <p:nvPr/>
          </p:nvSpPr>
          <p:spPr>
            <a:xfrm>
              <a:off x="4598277" y="2476425"/>
              <a:ext cx="91440" cy="685800"/>
            </a:xfrm>
            <a:custGeom>
              <a:avLst/>
              <a:gdLst/>
              <a:ahLst/>
              <a:cxnLst/>
              <a:rect l="l" t="t" r="r" b="b"/>
              <a:pathLst>
                <a:path w="91439" h="685800">
                  <a:moveTo>
                    <a:pt x="0" y="0"/>
                  </a:moveTo>
                  <a:lnTo>
                    <a:pt x="91151" y="0"/>
                  </a:lnTo>
                  <a:lnTo>
                    <a:pt x="91151"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40" name="object 40"/>
            <p:cNvSpPr/>
            <p:nvPr/>
          </p:nvSpPr>
          <p:spPr>
            <a:xfrm>
              <a:off x="5709947" y="2623632"/>
              <a:ext cx="231140" cy="363220"/>
            </a:xfrm>
            <a:custGeom>
              <a:avLst/>
              <a:gdLst/>
              <a:ahLst/>
              <a:cxnLst/>
              <a:rect l="l" t="t" r="r" b="b"/>
              <a:pathLst>
                <a:path w="231139" h="363219">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41" name="object 41"/>
            <p:cNvSpPr/>
            <p:nvPr/>
          </p:nvSpPr>
          <p:spPr>
            <a:xfrm>
              <a:off x="5709947" y="2623632"/>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42" name="object 42"/>
          <p:cNvSpPr txBox="1"/>
          <p:nvPr/>
        </p:nvSpPr>
        <p:spPr>
          <a:xfrm>
            <a:off x="5258538" y="2355477"/>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43" name="object 43"/>
          <p:cNvGrpSpPr/>
          <p:nvPr/>
        </p:nvGrpSpPr>
        <p:grpSpPr>
          <a:xfrm>
            <a:off x="3699554" y="3058146"/>
            <a:ext cx="430306" cy="351304"/>
            <a:chOff x="4040428" y="3465898"/>
            <a:chExt cx="487680" cy="398145"/>
          </a:xfrm>
        </p:grpSpPr>
        <p:sp>
          <p:nvSpPr>
            <p:cNvPr id="44" name="object 44"/>
            <p:cNvSpPr/>
            <p:nvPr/>
          </p:nvSpPr>
          <p:spPr>
            <a:xfrm>
              <a:off x="4284244" y="3481138"/>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45" name="object 45"/>
            <p:cNvSpPr/>
            <p:nvPr/>
          </p:nvSpPr>
          <p:spPr>
            <a:xfrm>
              <a:off x="4055668" y="3481138"/>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46" name="object 46"/>
          <p:cNvSpPr txBox="1"/>
          <p:nvPr/>
        </p:nvSpPr>
        <p:spPr>
          <a:xfrm>
            <a:off x="3795343" y="3111201"/>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47" name="object 47"/>
          <p:cNvGrpSpPr/>
          <p:nvPr/>
        </p:nvGrpSpPr>
        <p:grpSpPr>
          <a:xfrm>
            <a:off x="4104750" y="2961862"/>
            <a:ext cx="755837" cy="542925"/>
            <a:chOff x="4499650" y="3356776"/>
            <a:chExt cx="856615" cy="615315"/>
          </a:xfrm>
        </p:grpSpPr>
        <p:sp>
          <p:nvSpPr>
            <p:cNvPr id="48" name="object 48"/>
            <p:cNvSpPr/>
            <p:nvPr/>
          </p:nvSpPr>
          <p:spPr>
            <a:xfrm>
              <a:off x="4514890" y="3555208"/>
              <a:ext cx="504825" cy="219075"/>
            </a:xfrm>
            <a:custGeom>
              <a:avLst/>
              <a:gdLst/>
              <a:ahLst/>
              <a:cxnLst/>
              <a:rect l="l" t="t" r="r" b="b"/>
              <a:pathLst>
                <a:path w="504825" h="219075">
                  <a:moveTo>
                    <a:pt x="176512" y="0"/>
                  </a:moveTo>
                  <a:lnTo>
                    <a:pt x="504730" y="0"/>
                  </a:lnTo>
                </a:path>
                <a:path w="504825" h="219075">
                  <a:moveTo>
                    <a:pt x="0" y="0"/>
                  </a:moveTo>
                  <a:lnTo>
                    <a:pt x="83944" y="0"/>
                  </a:lnTo>
                </a:path>
                <a:path w="504825" h="219075">
                  <a:moveTo>
                    <a:pt x="176512" y="219055"/>
                  </a:moveTo>
                  <a:lnTo>
                    <a:pt x="504730" y="219055"/>
                  </a:lnTo>
                </a:path>
                <a:path w="504825" h="219075">
                  <a:moveTo>
                    <a:pt x="0" y="219055"/>
                  </a:moveTo>
                  <a:lnTo>
                    <a:pt x="83944" y="219055"/>
                  </a:lnTo>
                </a:path>
              </a:pathLst>
            </a:custGeom>
            <a:ln w="30481">
              <a:solidFill>
                <a:srgbClr val="000000"/>
              </a:solidFill>
            </a:ln>
          </p:spPr>
          <p:txBody>
            <a:bodyPr wrap="square" lIns="0" tIns="0" rIns="0" bIns="0" rtlCol="0"/>
            <a:lstStyle/>
            <a:p>
              <a:endParaRPr sz="1588"/>
            </a:p>
          </p:txBody>
        </p:sp>
        <p:sp>
          <p:nvSpPr>
            <p:cNvPr id="49" name="object 49"/>
            <p:cNvSpPr/>
            <p:nvPr/>
          </p:nvSpPr>
          <p:spPr>
            <a:xfrm>
              <a:off x="4954403" y="3372017"/>
              <a:ext cx="386715" cy="584835"/>
            </a:xfrm>
            <a:custGeom>
              <a:avLst/>
              <a:gdLst/>
              <a:ahLst/>
              <a:cxnLst/>
              <a:rect l="l" t="t" r="r" b="b"/>
              <a:pathLst>
                <a:path w="386714" h="584835">
                  <a:moveTo>
                    <a:pt x="0" y="0"/>
                  </a:moveTo>
                  <a:lnTo>
                    <a:pt x="0" y="584671"/>
                  </a:lnTo>
                  <a:lnTo>
                    <a:pt x="386419" y="438503"/>
                  </a:lnTo>
                  <a:lnTo>
                    <a:pt x="386419" y="146166"/>
                  </a:lnTo>
                  <a:lnTo>
                    <a:pt x="0" y="0"/>
                  </a:lnTo>
                  <a:close/>
                </a:path>
              </a:pathLst>
            </a:custGeom>
            <a:solidFill>
              <a:srgbClr val="FFFFFF"/>
            </a:solidFill>
          </p:spPr>
          <p:txBody>
            <a:bodyPr wrap="square" lIns="0" tIns="0" rIns="0" bIns="0" rtlCol="0"/>
            <a:lstStyle/>
            <a:p>
              <a:endParaRPr sz="1588"/>
            </a:p>
          </p:txBody>
        </p:sp>
        <p:sp>
          <p:nvSpPr>
            <p:cNvPr id="50" name="object 50"/>
            <p:cNvSpPr/>
            <p:nvPr/>
          </p:nvSpPr>
          <p:spPr>
            <a:xfrm>
              <a:off x="4954403" y="3372016"/>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51" name="object 51"/>
            <p:cNvSpPr/>
            <p:nvPr/>
          </p:nvSpPr>
          <p:spPr>
            <a:xfrm>
              <a:off x="4928603" y="3570334"/>
              <a:ext cx="207010" cy="189230"/>
            </a:xfrm>
            <a:custGeom>
              <a:avLst/>
              <a:gdLst/>
              <a:ahLst/>
              <a:cxnLst/>
              <a:rect l="l" t="t" r="r" b="b"/>
              <a:pathLst>
                <a:path w="207010" h="189229">
                  <a:moveTo>
                    <a:pt x="0" y="0"/>
                  </a:moveTo>
                  <a:lnTo>
                    <a:pt x="0" y="188799"/>
                  </a:lnTo>
                  <a:lnTo>
                    <a:pt x="206395" y="94399"/>
                  </a:lnTo>
                  <a:lnTo>
                    <a:pt x="0" y="0"/>
                  </a:lnTo>
                  <a:close/>
                </a:path>
              </a:pathLst>
            </a:custGeom>
            <a:solidFill>
              <a:srgbClr val="FFFFFF"/>
            </a:solidFill>
          </p:spPr>
          <p:txBody>
            <a:bodyPr wrap="square" lIns="0" tIns="0" rIns="0" bIns="0" rtlCol="0"/>
            <a:lstStyle/>
            <a:p>
              <a:endParaRPr sz="1588"/>
            </a:p>
          </p:txBody>
        </p:sp>
        <p:sp>
          <p:nvSpPr>
            <p:cNvPr id="52" name="object 52"/>
            <p:cNvSpPr/>
            <p:nvPr/>
          </p:nvSpPr>
          <p:spPr>
            <a:xfrm>
              <a:off x="4954402" y="3581373"/>
              <a:ext cx="159385" cy="166370"/>
            </a:xfrm>
            <a:custGeom>
              <a:avLst/>
              <a:gdLst/>
              <a:ahLst/>
              <a:cxnLst/>
              <a:rect l="l" t="t" r="r" b="b"/>
              <a:pathLst>
                <a:path w="159385"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53" name="object 53"/>
          <p:cNvSpPr txBox="1"/>
          <p:nvPr/>
        </p:nvSpPr>
        <p:spPr>
          <a:xfrm>
            <a:off x="4636034" y="3072400"/>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54" name="object 54"/>
          <p:cNvGrpSpPr/>
          <p:nvPr/>
        </p:nvGrpSpPr>
        <p:grpSpPr>
          <a:xfrm>
            <a:off x="4836657" y="3059536"/>
            <a:ext cx="1116666" cy="349624"/>
            <a:chOff x="5329144" y="3467474"/>
            <a:chExt cx="1265555" cy="396240"/>
          </a:xfrm>
        </p:grpSpPr>
        <p:sp>
          <p:nvSpPr>
            <p:cNvPr id="55" name="object 55"/>
            <p:cNvSpPr/>
            <p:nvPr/>
          </p:nvSpPr>
          <p:spPr>
            <a:xfrm>
              <a:off x="5344384" y="3665522"/>
              <a:ext cx="1235075" cy="0"/>
            </a:xfrm>
            <a:custGeom>
              <a:avLst/>
              <a:gdLst/>
              <a:ahLst/>
              <a:cxnLst/>
              <a:rect l="l" t="t" r="r" b="b"/>
              <a:pathLst>
                <a:path w="1235075">
                  <a:moveTo>
                    <a:pt x="199406" y="0"/>
                  </a:moveTo>
                  <a:lnTo>
                    <a:pt x="372009" y="0"/>
                  </a:lnTo>
                </a:path>
                <a:path w="1235075">
                  <a:moveTo>
                    <a:pt x="0" y="0"/>
                  </a:moveTo>
                  <a:lnTo>
                    <a:pt x="108125" y="0"/>
                  </a:lnTo>
                </a:path>
                <a:path w="1235075">
                  <a:moveTo>
                    <a:pt x="875004" y="0"/>
                  </a:moveTo>
                  <a:lnTo>
                    <a:pt x="1038938" y="0"/>
                  </a:lnTo>
                </a:path>
                <a:path w="1235075">
                  <a:moveTo>
                    <a:pt x="1131506" y="0"/>
                  </a:moveTo>
                  <a:lnTo>
                    <a:pt x="1234935" y="0"/>
                  </a:lnTo>
                </a:path>
              </a:pathLst>
            </a:custGeom>
            <a:ln w="30481">
              <a:solidFill>
                <a:srgbClr val="000000"/>
              </a:solidFill>
            </a:ln>
          </p:spPr>
          <p:txBody>
            <a:bodyPr wrap="square" lIns="0" tIns="0" rIns="0" bIns="0" rtlCol="0"/>
            <a:lstStyle/>
            <a:p>
              <a:endParaRPr sz="1588"/>
            </a:p>
          </p:txBody>
        </p:sp>
        <p:sp>
          <p:nvSpPr>
            <p:cNvPr id="56" name="object 56"/>
            <p:cNvSpPr/>
            <p:nvPr/>
          </p:nvSpPr>
          <p:spPr>
            <a:xfrm>
              <a:off x="5716394" y="3482714"/>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57" name="object 57"/>
          <p:cNvSpPr txBox="1"/>
          <p:nvPr/>
        </p:nvSpPr>
        <p:spPr>
          <a:xfrm>
            <a:off x="5171982" y="3113891"/>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58" name="object 58"/>
          <p:cNvGrpSpPr/>
          <p:nvPr/>
        </p:nvGrpSpPr>
        <p:grpSpPr>
          <a:xfrm>
            <a:off x="3315771" y="3123501"/>
            <a:ext cx="2456890" cy="381559"/>
            <a:chOff x="3605474" y="3539968"/>
            <a:chExt cx="2784475" cy="432434"/>
          </a:xfrm>
        </p:grpSpPr>
        <p:sp>
          <p:nvSpPr>
            <p:cNvPr id="59" name="object 59"/>
            <p:cNvSpPr/>
            <p:nvPr/>
          </p:nvSpPr>
          <p:spPr>
            <a:xfrm>
              <a:off x="5667081" y="3665522"/>
              <a:ext cx="708025" cy="292100"/>
            </a:xfrm>
            <a:custGeom>
              <a:avLst/>
              <a:gdLst/>
              <a:ahLst/>
              <a:cxnLst/>
              <a:rect l="l" t="t" r="r" b="b"/>
              <a:pathLst>
                <a:path w="708025" h="292100">
                  <a:moveTo>
                    <a:pt x="0" y="0"/>
                  </a:moveTo>
                  <a:lnTo>
                    <a:pt x="0" y="291547"/>
                  </a:lnTo>
                  <a:lnTo>
                    <a:pt x="624220" y="291547"/>
                  </a:lnTo>
                  <a:lnTo>
                    <a:pt x="624220" y="109330"/>
                  </a:lnTo>
                  <a:lnTo>
                    <a:pt x="707449" y="109330"/>
                  </a:lnTo>
                </a:path>
              </a:pathLst>
            </a:custGeom>
            <a:ln w="30479">
              <a:solidFill>
                <a:srgbClr val="000000"/>
              </a:solidFill>
            </a:ln>
          </p:spPr>
          <p:txBody>
            <a:bodyPr wrap="square" lIns="0" tIns="0" rIns="0" bIns="0" rtlCol="0"/>
            <a:lstStyle/>
            <a:p>
              <a:endParaRPr sz="1588"/>
            </a:p>
          </p:txBody>
        </p:sp>
        <p:sp>
          <p:nvSpPr>
            <p:cNvPr id="60" name="object 60"/>
            <p:cNvSpPr/>
            <p:nvPr/>
          </p:nvSpPr>
          <p:spPr>
            <a:xfrm>
              <a:off x="3620714" y="3555208"/>
              <a:ext cx="434975" cy="220979"/>
            </a:xfrm>
            <a:custGeom>
              <a:avLst/>
              <a:gdLst/>
              <a:ahLst/>
              <a:cxnLst/>
              <a:rect l="l" t="t" r="r" b="b"/>
              <a:pathLst>
                <a:path w="434975" h="220979">
                  <a:moveTo>
                    <a:pt x="223442" y="220630"/>
                  </a:moveTo>
                  <a:lnTo>
                    <a:pt x="434955" y="220630"/>
                  </a:lnTo>
                </a:path>
                <a:path w="434975" h="220979">
                  <a:moveTo>
                    <a:pt x="0" y="220630"/>
                  </a:moveTo>
                  <a:lnTo>
                    <a:pt x="130874" y="220630"/>
                  </a:lnTo>
                </a:path>
                <a:path w="434975" h="220979">
                  <a:moveTo>
                    <a:pt x="223442" y="0"/>
                  </a:moveTo>
                  <a:lnTo>
                    <a:pt x="432886" y="0"/>
                  </a:lnTo>
                </a:path>
                <a:path w="434975" h="220979">
                  <a:moveTo>
                    <a:pt x="0" y="0"/>
                  </a:moveTo>
                  <a:lnTo>
                    <a:pt x="130874" y="0"/>
                  </a:lnTo>
                </a:path>
              </a:pathLst>
            </a:custGeom>
            <a:ln w="30481">
              <a:solidFill>
                <a:srgbClr val="000000"/>
              </a:solidFill>
            </a:ln>
          </p:spPr>
          <p:txBody>
            <a:bodyPr wrap="square" lIns="0" tIns="0" rIns="0" bIns="0" rtlCol="0"/>
            <a:lstStyle/>
            <a:p>
              <a:endParaRPr sz="1588"/>
            </a:p>
          </p:txBody>
        </p:sp>
      </p:grpSp>
      <p:sp>
        <p:nvSpPr>
          <p:cNvPr id="61" name="object 61"/>
          <p:cNvSpPr txBox="1"/>
          <p:nvPr/>
        </p:nvSpPr>
        <p:spPr>
          <a:xfrm>
            <a:off x="2923179" y="3072983"/>
            <a:ext cx="406213" cy="215609"/>
          </a:xfrm>
          <a:prstGeom prst="rect">
            <a:avLst/>
          </a:prstGeom>
          <a:ln w="30479">
            <a:solidFill>
              <a:srgbClr val="000000"/>
            </a:solidFill>
          </a:ln>
        </p:spPr>
        <p:txBody>
          <a:bodyPr vert="horz" wrap="square" lIns="0" tIns="52107" rIns="0" bIns="0" rtlCol="0">
            <a:spAutoFit/>
          </a:bodyPr>
          <a:lstStyle/>
          <a:p>
            <a:pPr marL="39223">
              <a:spcBef>
                <a:spcPts val="410"/>
              </a:spcBef>
            </a:pPr>
            <a:r>
              <a:rPr sz="1059" b="1" spc="-9" dirty="0">
                <a:latin typeface="Times New Roman"/>
                <a:cs typeface="Times New Roman"/>
              </a:rPr>
              <a:t>Ifetch</a:t>
            </a:r>
            <a:endParaRPr sz="1059">
              <a:latin typeface="Times New Roman"/>
              <a:cs typeface="Times New Roman"/>
            </a:endParaRPr>
          </a:p>
        </p:txBody>
      </p:sp>
      <p:grpSp>
        <p:nvGrpSpPr>
          <p:cNvPr id="62" name="object 62"/>
          <p:cNvGrpSpPr/>
          <p:nvPr/>
        </p:nvGrpSpPr>
        <p:grpSpPr>
          <a:xfrm>
            <a:off x="3431249" y="2913531"/>
            <a:ext cx="2929217" cy="640416"/>
            <a:chOff x="3736349" y="3302001"/>
            <a:chExt cx="3319779" cy="725805"/>
          </a:xfrm>
        </p:grpSpPr>
        <p:sp>
          <p:nvSpPr>
            <p:cNvPr id="63" name="object 63"/>
            <p:cNvSpPr/>
            <p:nvPr/>
          </p:nvSpPr>
          <p:spPr>
            <a:xfrm>
              <a:off x="4598835"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64" name="object 64"/>
            <p:cNvSpPr/>
            <p:nvPr/>
          </p:nvSpPr>
          <p:spPr>
            <a:xfrm>
              <a:off x="4598835"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65" name="object 65"/>
            <p:cNvSpPr/>
            <p:nvPr/>
          </p:nvSpPr>
          <p:spPr>
            <a:xfrm>
              <a:off x="6383323"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66" name="object 66"/>
            <p:cNvSpPr/>
            <p:nvPr/>
          </p:nvSpPr>
          <p:spPr>
            <a:xfrm>
              <a:off x="6383323"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67" name="object 67"/>
            <p:cNvSpPr/>
            <p:nvPr/>
          </p:nvSpPr>
          <p:spPr>
            <a:xfrm>
              <a:off x="3751589"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68" name="object 68"/>
            <p:cNvSpPr/>
            <p:nvPr/>
          </p:nvSpPr>
          <p:spPr>
            <a:xfrm>
              <a:off x="3751589"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69" name="object 69"/>
            <p:cNvSpPr/>
            <p:nvPr/>
          </p:nvSpPr>
          <p:spPr>
            <a:xfrm>
              <a:off x="5452510" y="3321322"/>
              <a:ext cx="91440" cy="685800"/>
            </a:xfrm>
            <a:custGeom>
              <a:avLst/>
              <a:gdLst/>
              <a:ahLst/>
              <a:cxnLst/>
              <a:rect l="l" t="t" r="r" b="b"/>
              <a:pathLst>
                <a:path w="91439" h="685800">
                  <a:moveTo>
                    <a:pt x="91281" y="0"/>
                  </a:moveTo>
                  <a:lnTo>
                    <a:pt x="0" y="0"/>
                  </a:lnTo>
                  <a:lnTo>
                    <a:pt x="0" y="685802"/>
                  </a:lnTo>
                  <a:lnTo>
                    <a:pt x="91281" y="685802"/>
                  </a:lnTo>
                  <a:lnTo>
                    <a:pt x="91281" y="0"/>
                  </a:lnTo>
                  <a:close/>
                </a:path>
              </a:pathLst>
            </a:custGeom>
            <a:solidFill>
              <a:srgbClr val="00FF00"/>
            </a:solidFill>
          </p:spPr>
          <p:txBody>
            <a:bodyPr wrap="square" lIns="0" tIns="0" rIns="0" bIns="0" rtlCol="0"/>
            <a:lstStyle/>
            <a:p>
              <a:endParaRPr sz="1588"/>
            </a:p>
          </p:txBody>
        </p:sp>
        <p:sp>
          <p:nvSpPr>
            <p:cNvPr id="70" name="object 70"/>
            <p:cNvSpPr/>
            <p:nvPr/>
          </p:nvSpPr>
          <p:spPr>
            <a:xfrm>
              <a:off x="5452510" y="3321322"/>
              <a:ext cx="91440" cy="685800"/>
            </a:xfrm>
            <a:custGeom>
              <a:avLst/>
              <a:gdLst/>
              <a:ahLst/>
              <a:cxnLst/>
              <a:rect l="l" t="t" r="r" b="b"/>
              <a:pathLst>
                <a:path w="91439" h="685800">
                  <a:moveTo>
                    <a:pt x="0" y="0"/>
                  </a:moveTo>
                  <a:lnTo>
                    <a:pt x="91281" y="0"/>
                  </a:lnTo>
                  <a:lnTo>
                    <a:pt x="91281"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71" name="object 71"/>
            <p:cNvSpPr/>
            <p:nvPr/>
          </p:nvSpPr>
          <p:spPr>
            <a:xfrm>
              <a:off x="6579320" y="3468530"/>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72" name="object 72"/>
            <p:cNvSpPr/>
            <p:nvPr/>
          </p:nvSpPr>
          <p:spPr>
            <a:xfrm>
              <a:off x="6579318" y="3468529"/>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73" name="object 73"/>
          <p:cNvSpPr txBox="1"/>
          <p:nvPr/>
        </p:nvSpPr>
        <p:spPr>
          <a:xfrm>
            <a:off x="6025632" y="310044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4" name="object 74"/>
          <p:cNvGrpSpPr/>
          <p:nvPr/>
        </p:nvGrpSpPr>
        <p:grpSpPr>
          <a:xfrm>
            <a:off x="4452389" y="3792347"/>
            <a:ext cx="430306" cy="351304"/>
            <a:chOff x="4893641" y="4297993"/>
            <a:chExt cx="487680" cy="398145"/>
          </a:xfrm>
        </p:grpSpPr>
        <p:sp>
          <p:nvSpPr>
            <p:cNvPr id="75" name="object 75"/>
            <p:cNvSpPr/>
            <p:nvPr/>
          </p:nvSpPr>
          <p:spPr>
            <a:xfrm>
              <a:off x="5137458" y="4313233"/>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76" name="object 76"/>
            <p:cNvSpPr/>
            <p:nvPr/>
          </p:nvSpPr>
          <p:spPr>
            <a:xfrm>
              <a:off x="4908881" y="4313233"/>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77" name="object 77"/>
          <p:cNvSpPr txBox="1"/>
          <p:nvPr/>
        </p:nvSpPr>
        <p:spPr>
          <a:xfrm>
            <a:off x="4548179" y="3845411"/>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8" name="object 78"/>
          <p:cNvGrpSpPr/>
          <p:nvPr/>
        </p:nvGrpSpPr>
        <p:grpSpPr>
          <a:xfrm>
            <a:off x="4857586" y="3696063"/>
            <a:ext cx="755837" cy="542925"/>
            <a:chOff x="5352864" y="4188871"/>
            <a:chExt cx="856615" cy="615315"/>
          </a:xfrm>
        </p:grpSpPr>
        <p:sp>
          <p:nvSpPr>
            <p:cNvPr id="79" name="object 79"/>
            <p:cNvSpPr/>
            <p:nvPr/>
          </p:nvSpPr>
          <p:spPr>
            <a:xfrm>
              <a:off x="5368104" y="4387301"/>
              <a:ext cx="504825" cy="219075"/>
            </a:xfrm>
            <a:custGeom>
              <a:avLst/>
              <a:gdLst/>
              <a:ahLst/>
              <a:cxnLst/>
              <a:rect l="l" t="t" r="r" b="b"/>
              <a:pathLst>
                <a:path w="504825" h="219075">
                  <a:moveTo>
                    <a:pt x="175569" y="0"/>
                  </a:moveTo>
                  <a:lnTo>
                    <a:pt x="504730" y="0"/>
                  </a:lnTo>
                </a:path>
                <a:path w="504825" h="219075">
                  <a:moveTo>
                    <a:pt x="0" y="0"/>
                  </a:moveTo>
                  <a:lnTo>
                    <a:pt x="83116" y="0"/>
                  </a:lnTo>
                </a:path>
                <a:path w="504825" h="219075">
                  <a:moveTo>
                    <a:pt x="175569" y="219055"/>
                  </a:moveTo>
                  <a:lnTo>
                    <a:pt x="504730" y="219055"/>
                  </a:lnTo>
                </a:path>
                <a:path w="504825" h="219075">
                  <a:moveTo>
                    <a:pt x="0" y="219055"/>
                  </a:moveTo>
                  <a:lnTo>
                    <a:pt x="83116" y="219055"/>
                  </a:lnTo>
                </a:path>
              </a:pathLst>
            </a:custGeom>
            <a:ln w="30481">
              <a:solidFill>
                <a:srgbClr val="000000"/>
              </a:solidFill>
            </a:ln>
          </p:spPr>
          <p:txBody>
            <a:bodyPr wrap="square" lIns="0" tIns="0" rIns="0" bIns="0" rtlCol="0"/>
            <a:lstStyle/>
            <a:p>
              <a:endParaRPr sz="1588"/>
            </a:p>
          </p:txBody>
        </p:sp>
        <p:sp>
          <p:nvSpPr>
            <p:cNvPr id="80" name="object 80"/>
            <p:cNvSpPr/>
            <p:nvPr/>
          </p:nvSpPr>
          <p:spPr>
            <a:xfrm>
              <a:off x="5807617" y="4204111"/>
              <a:ext cx="386715" cy="584835"/>
            </a:xfrm>
            <a:custGeom>
              <a:avLst/>
              <a:gdLst/>
              <a:ahLst/>
              <a:cxnLst/>
              <a:rect l="l" t="t" r="r" b="b"/>
              <a:pathLst>
                <a:path w="386714" h="584835">
                  <a:moveTo>
                    <a:pt x="0" y="0"/>
                  </a:moveTo>
                  <a:lnTo>
                    <a:pt x="0" y="584672"/>
                  </a:lnTo>
                  <a:lnTo>
                    <a:pt x="386417" y="438504"/>
                  </a:lnTo>
                  <a:lnTo>
                    <a:pt x="386417" y="146168"/>
                  </a:lnTo>
                  <a:lnTo>
                    <a:pt x="0" y="0"/>
                  </a:lnTo>
                  <a:close/>
                </a:path>
              </a:pathLst>
            </a:custGeom>
            <a:solidFill>
              <a:srgbClr val="FFFFFF"/>
            </a:solidFill>
          </p:spPr>
          <p:txBody>
            <a:bodyPr wrap="square" lIns="0" tIns="0" rIns="0" bIns="0" rtlCol="0"/>
            <a:lstStyle/>
            <a:p>
              <a:endParaRPr sz="1588"/>
            </a:p>
          </p:txBody>
        </p:sp>
        <p:sp>
          <p:nvSpPr>
            <p:cNvPr id="81" name="object 81"/>
            <p:cNvSpPr/>
            <p:nvPr/>
          </p:nvSpPr>
          <p:spPr>
            <a:xfrm>
              <a:off x="5807617" y="4204111"/>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82" name="object 82"/>
            <p:cNvSpPr/>
            <p:nvPr/>
          </p:nvSpPr>
          <p:spPr>
            <a:xfrm>
              <a:off x="5781817" y="4402429"/>
              <a:ext cx="207010" cy="189230"/>
            </a:xfrm>
            <a:custGeom>
              <a:avLst/>
              <a:gdLst/>
              <a:ahLst/>
              <a:cxnLst/>
              <a:rect l="l" t="t" r="r" b="b"/>
              <a:pathLst>
                <a:path w="207010" h="189229">
                  <a:moveTo>
                    <a:pt x="0" y="0"/>
                  </a:moveTo>
                  <a:lnTo>
                    <a:pt x="0" y="188799"/>
                  </a:lnTo>
                  <a:lnTo>
                    <a:pt x="206396" y="94399"/>
                  </a:lnTo>
                  <a:lnTo>
                    <a:pt x="0" y="0"/>
                  </a:lnTo>
                  <a:close/>
                </a:path>
              </a:pathLst>
            </a:custGeom>
            <a:solidFill>
              <a:srgbClr val="FFFFFF"/>
            </a:solidFill>
          </p:spPr>
          <p:txBody>
            <a:bodyPr wrap="square" lIns="0" tIns="0" rIns="0" bIns="0" rtlCol="0"/>
            <a:lstStyle/>
            <a:p>
              <a:endParaRPr sz="1588"/>
            </a:p>
          </p:txBody>
        </p:sp>
        <p:sp>
          <p:nvSpPr>
            <p:cNvPr id="83" name="object 83"/>
            <p:cNvSpPr/>
            <p:nvPr/>
          </p:nvSpPr>
          <p:spPr>
            <a:xfrm>
              <a:off x="5807616" y="4413468"/>
              <a:ext cx="159385" cy="166370"/>
            </a:xfrm>
            <a:custGeom>
              <a:avLst/>
              <a:gdLst/>
              <a:ahLst/>
              <a:cxnLst/>
              <a:rect l="l" t="t" r="r" b="b"/>
              <a:pathLst>
                <a:path w="159385"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84" name="object 84"/>
          <p:cNvSpPr txBox="1"/>
          <p:nvPr/>
        </p:nvSpPr>
        <p:spPr>
          <a:xfrm>
            <a:off x="5388871" y="380660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85" name="object 85"/>
          <p:cNvGrpSpPr/>
          <p:nvPr/>
        </p:nvGrpSpPr>
        <p:grpSpPr>
          <a:xfrm>
            <a:off x="5589493" y="3793736"/>
            <a:ext cx="1116666" cy="349624"/>
            <a:chOff x="6182358" y="4299568"/>
            <a:chExt cx="1265555" cy="396240"/>
          </a:xfrm>
        </p:grpSpPr>
        <p:sp>
          <p:nvSpPr>
            <p:cNvPr id="86" name="object 86"/>
            <p:cNvSpPr/>
            <p:nvPr/>
          </p:nvSpPr>
          <p:spPr>
            <a:xfrm>
              <a:off x="6197598" y="4497617"/>
              <a:ext cx="1235075" cy="0"/>
            </a:xfrm>
            <a:custGeom>
              <a:avLst/>
              <a:gdLst/>
              <a:ahLst/>
              <a:cxnLst/>
              <a:rect l="l" t="t" r="r" b="b"/>
              <a:pathLst>
                <a:path w="1235075">
                  <a:moveTo>
                    <a:pt x="0" y="0"/>
                  </a:moveTo>
                  <a:lnTo>
                    <a:pt x="183291" y="0"/>
                  </a:lnTo>
                </a:path>
                <a:path w="1235075">
                  <a:moveTo>
                    <a:pt x="274459" y="0"/>
                  </a:moveTo>
                  <a:lnTo>
                    <a:pt x="372009" y="0"/>
                  </a:lnTo>
                </a:path>
                <a:path w="1235075">
                  <a:moveTo>
                    <a:pt x="1123232" y="0"/>
                  </a:moveTo>
                  <a:lnTo>
                    <a:pt x="1234934" y="0"/>
                  </a:lnTo>
                </a:path>
                <a:path w="1235075">
                  <a:moveTo>
                    <a:pt x="830145" y="0"/>
                  </a:moveTo>
                  <a:lnTo>
                    <a:pt x="1030778" y="0"/>
                  </a:lnTo>
                </a:path>
              </a:pathLst>
            </a:custGeom>
            <a:ln w="30481">
              <a:solidFill>
                <a:srgbClr val="000000"/>
              </a:solidFill>
            </a:ln>
          </p:spPr>
          <p:txBody>
            <a:bodyPr wrap="square" lIns="0" tIns="0" rIns="0" bIns="0" rtlCol="0"/>
            <a:lstStyle/>
            <a:p>
              <a:endParaRPr sz="1588"/>
            </a:p>
          </p:txBody>
        </p:sp>
        <p:sp>
          <p:nvSpPr>
            <p:cNvPr id="87" name="object 87"/>
            <p:cNvSpPr/>
            <p:nvPr/>
          </p:nvSpPr>
          <p:spPr>
            <a:xfrm>
              <a:off x="6569608" y="4314808"/>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88" name="object 88"/>
          <p:cNvSpPr txBox="1"/>
          <p:nvPr/>
        </p:nvSpPr>
        <p:spPr>
          <a:xfrm>
            <a:off x="5924818" y="3848099"/>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89" name="object 89"/>
          <p:cNvGrpSpPr/>
          <p:nvPr/>
        </p:nvGrpSpPr>
        <p:grpSpPr>
          <a:xfrm>
            <a:off x="4068607" y="3857701"/>
            <a:ext cx="2438960" cy="381559"/>
            <a:chOff x="4458687" y="4372061"/>
            <a:chExt cx="2764155" cy="432434"/>
          </a:xfrm>
        </p:grpSpPr>
        <p:sp>
          <p:nvSpPr>
            <p:cNvPr id="90" name="object 90"/>
            <p:cNvSpPr/>
            <p:nvPr/>
          </p:nvSpPr>
          <p:spPr>
            <a:xfrm>
              <a:off x="6520295" y="4497617"/>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91" name="object 91"/>
            <p:cNvSpPr/>
            <p:nvPr/>
          </p:nvSpPr>
          <p:spPr>
            <a:xfrm>
              <a:off x="4473927" y="4387301"/>
              <a:ext cx="434975" cy="220979"/>
            </a:xfrm>
            <a:custGeom>
              <a:avLst/>
              <a:gdLst/>
              <a:ahLst/>
              <a:cxnLst/>
              <a:rect l="l" t="t" r="r" b="b"/>
              <a:pathLst>
                <a:path w="434975" h="220979">
                  <a:moveTo>
                    <a:pt x="0" y="220632"/>
                  </a:moveTo>
                  <a:lnTo>
                    <a:pt x="124669" y="220632"/>
                  </a:lnTo>
                </a:path>
                <a:path w="434975" h="220979">
                  <a:moveTo>
                    <a:pt x="217123" y="220632"/>
                  </a:moveTo>
                  <a:lnTo>
                    <a:pt x="434955" y="220632"/>
                  </a:lnTo>
                </a:path>
                <a:path w="434975" h="220979">
                  <a:moveTo>
                    <a:pt x="217123" y="0"/>
                  </a:moveTo>
                  <a:lnTo>
                    <a:pt x="432885" y="0"/>
                  </a:lnTo>
                </a:path>
                <a:path w="434975" h="220979">
                  <a:moveTo>
                    <a:pt x="0" y="0"/>
                  </a:moveTo>
                  <a:lnTo>
                    <a:pt x="124669" y="0"/>
                  </a:lnTo>
                </a:path>
              </a:pathLst>
            </a:custGeom>
            <a:ln w="30481">
              <a:solidFill>
                <a:srgbClr val="000000"/>
              </a:solidFill>
            </a:ln>
          </p:spPr>
          <p:txBody>
            <a:bodyPr wrap="square" lIns="0" tIns="0" rIns="0" bIns="0" rtlCol="0"/>
            <a:lstStyle/>
            <a:p>
              <a:endParaRPr sz="1588"/>
            </a:p>
          </p:txBody>
        </p:sp>
      </p:grpSp>
      <p:sp>
        <p:nvSpPr>
          <p:cNvPr id="92" name="object 92"/>
          <p:cNvSpPr txBox="1"/>
          <p:nvPr/>
        </p:nvSpPr>
        <p:spPr>
          <a:xfrm>
            <a:off x="3676014" y="3807184"/>
            <a:ext cx="406213" cy="215609"/>
          </a:xfrm>
          <a:prstGeom prst="rect">
            <a:avLst/>
          </a:prstGeom>
          <a:ln w="30479">
            <a:solidFill>
              <a:srgbClr val="000000"/>
            </a:solidFill>
          </a:ln>
        </p:spPr>
        <p:txBody>
          <a:bodyPr vert="horz" wrap="square" lIns="0" tIns="52107" rIns="0" bIns="0" rtlCol="0">
            <a:spAutoFit/>
          </a:bodyPr>
          <a:lstStyle/>
          <a:p>
            <a:pPr marL="39223">
              <a:spcBef>
                <a:spcPts val="410"/>
              </a:spcBef>
            </a:pPr>
            <a:r>
              <a:rPr sz="1059" b="1" spc="-9" dirty="0">
                <a:latin typeface="Times New Roman"/>
                <a:cs typeface="Times New Roman"/>
              </a:rPr>
              <a:t>Ifetch</a:t>
            </a:r>
            <a:endParaRPr sz="1059">
              <a:latin typeface="Times New Roman"/>
              <a:cs typeface="Times New Roman"/>
            </a:endParaRPr>
          </a:p>
        </p:txBody>
      </p:sp>
      <p:grpSp>
        <p:nvGrpSpPr>
          <p:cNvPr id="93" name="object 93"/>
          <p:cNvGrpSpPr/>
          <p:nvPr/>
        </p:nvGrpSpPr>
        <p:grpSpPr>
          <a:xfrm>
            <a:off x="4178609" y="3647732"/>
            <a:ext cx="2934820" cy="640416"/>
            <a:chOff x="4583357" y="4134096"/>
            <a:chExt cx="3326129" cy="725805"/>
          </a:xfrm>
        </p:grpSpPr>
        <p:sp>
          <p:nvSpPr>
            <p:cNvPr id="94" name="object 94"/>
            <p:cNvSpPr/>
            <p:nvPr/>
          </p:nvSpPr>
          <p:spPr>
            <a:xfrm>
              <a:off x="5451220" y="4149336"/>
              <a:ext cx="92710" cy="695325"/>
            </a:xfrm>
            <a:custGeom>
              <a:avLst/>
              <a:gdLst/>
              <a:ahLst/>
              <a:cxnLst/>
              <a:rect l="l" t="t" r="r" b="b"/>
              <a:pathLst>
                <a:path w="92710"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95" name="object 95"/>
            <p:cNvSpPr/>
            <p:nvPr/>
          </p:nvSpPr>
          <p:spPr>
            <a:xfrm>
              <a:off x="5451220" y="4149336"/>
              <a:ext cx="92710" cy="695325"/>
            </a:xfrm>
            <a:custGeom>
              <a:avLst/>
              <a:gdLst/>
              <a:ahLst/>
              <a:cxnLst/>
              <a:rect l="l" t="t" r="r" b="b"/>
              <a:pathLst>
                <a:path w="92710"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96" name="object 96"/>
            <p:cNvSpPr/>
            <p:nvPr/>
          </p:nvSpPr>
          <p:spPr>
            <a:xfrm>
              <a:off x="7228377" y="4149336"/>
              <a:ext cx="92710" cy="695325"/>
            </a:xfrm>
            <a:custGeom>
              <a:avLst/>
              <a:gdLst/>
              <a:ahLst/>
              <a:cxnLst/>
              <a:rect l="l" t="t" r="r" b="b"/>
              <a:pathLst>
                <a:path w="92709"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97" name="object 97"/>
            <p:cNvSpPr/>
            <p:nvPr/>
          </p:nvSpPr>
          <p:spPr>
            <a:xfrm>
              <a:off x="7228377" y="4149336"/>
              <a:ext cx="92710" cy="695325"/>
            </a:xfrm>
            <a:custGeom>
              <a:avLst/>
              <a:gdLst/>
              <a:ahLst/>
              <a:cxnLst/>
              <a:rect l="l" t="t" r="r" b="b"/>
              <a:pathLst>
                <a:path w="92709"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98" name="object 98"/>
            <p:cNvSpPr/>
            <p:nvPr/>
          </p:nvSpPr>
          <p:spPr>
            <a:xfrm>
              <a:off x="4598597" y="4149336"/>
              <a:ext cx="92710" cy="695325"/>
            </a:xfrm>
            <a:custGeom>
              <a:avLst/>
              <a:gdLst/>
              <a:ahLst/>
              <a:cxnLst/>
              <a:rect l="l" t="t" r="r" b="b"/>
              <a:pathLst>
                <a:path w="92710"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99" name="object 99"/>
            <p:cNvSpPr/>
            <p:nvPr/>
          </p:nvSpPr>
          <p:spPr>
            <a:xfrm>
              <a:off x="4598597" y="4149336"/>
              <a:ext cx="92710" cy="695325"/>
            </a:xfrm>
            <a:custGeom>
              <a:avLst/>
              <a:gdLst/>
              <a:ahLst/>
              <a:cxnLst/>
              <a:rect l="l" t="t" r="r" b="b"/>
              <a:pathLst>
                <a:path w="92710"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00" name="object 100"/>
            <p:cNvSpPr/>
            <p:nvPr/>
          </p:nvSpPr>
          <p:spPr>
            <a:xfrm>
              <a:off x="6380889" y="4153418"/>
              <a:ext cx="91440" cy="685800"/>
            </a:xfrm>
            <a:custGeom>
              <a:avLst/>
              <a:gdLst/>
              <a:ahLst/>
              <a:cxnLst/>
              <a:rect l="l" t="t" r="r" b="b"/>
              <a:pathLst>
                <a:path w="91439" h="685800">
                  <a:moveTo>
                    <a:pt x="91168" y="0"/>
                  </a:moveTo>
                  <a:lnTo>
                    <a:pt x="0" y="0"/>
                  </a:lnTo>
                  <a:lnTo>
                    <a:pt x="0" y="685802"/>
                  </a:lnTo>
                  <a:lnTo>
                    <a:pt x="91168" y="685802"/>
                  </a:lnTo>
                  <a:lnTo>
                    <a:pt x="91168" y="0"/>
                  </a:lnTo>
                  <a:close/>
                </a:path>
              </a:pathLst>
            </a:custGeom>
            <a:solidFill>
              <a:srgbClr val="00FF00"/>
            </a:solidFill>
          </p:spPr>
          <p:txBody>
            <a:bodyPr wrap="square" lIns="0" tIns="0" rIns="0" bIns="0" rtlCol="0"/>
            <a:lstStyle/>
            <a:p>
              <a:endParaRPr sz="1588"/>
            </a:p>
          </p:txBody>
        </p:sp>
        <p:sp>
          <p:nvSpPr>
            <p:cNvPr id="101" name="object 101"/>
            <p:cNvSpPr/>
            <p:nvPr/>
          </p:nvSpPr>
          <p:spPr>
            <a:xfrm>
              <a:off x="6380889" y="4153418"/>
              <a:ext cx="91440" cy="685800"/>
            </a:xfrm>
            <a:custGeom>
              <a:avLst/>
              <a:gdLst/>
              <a:ahLst/>
              <a:cxnLst/>
              <a:rect l="l" t="t" r="r" b="b"/>
              <a:pathLst>
                <a:path w="91439" h="685800">
                  <a:moveTo>
                    <a:pt x="0" y="0"/>
                  </a:moveTo>
                  <a:lnTo>
                    <a:pt x="91169" y="0"/>
                  </a:lnTo>
                  <a:lnTo>
                    <a:pt x="91169"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02" name="object 102"/>
            <p:cNvSpPr/>
            <p:nvPr/>
          </p:nvSpPr>
          <p:spPr>
            <a:xfrm>
              <a:off x="7432532" y="4300625"/>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103" name="object 103"/>
            <p:cNvSpPr/>
            <p:nvPr/>
          </p:nvSpPr>
          <p:spPr>
            <a:xfrm>
              <a:off x="7432532" y="4300625"/>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104" name="object 104"/>
          <p:cNvSpPr txBox="1"/>
          <p:nvPr/>
        </p:nvSpPr>
        <p:spPr>
          <a:xfrm>
            <a:off x="6778467" y="383465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5" name="object 105"/>
          <p:cNvGrpSpPr/>
          <p:nvPr/>
        </p:nvGrpSpPr>
        <p:grpSpPr>
          <a:xfrm>
            <a:off x="5205224" y="4526548"/>
            <a:ext cx="430306" cy="351304"/>
            <a:chOff x="5746854" y="5130087"/>
            <a:chExt cx="487680" cy="398145"/>
          </a:xfrm>
        </p:grpSpPr>
        <p:sp>
          <p:nvSpPr>
            <p:cNvPr id="106" name="object 106"/>
            <p:cNvSpPr/>
            <p:nvPr/>
          </p:nvSpPr>
          <p:spPr>
            <a:xfrm>
              <a:off x="5990672" y="5145327"/>
              <a:ext cx="228600" cy="363220"/>
            </a:xfrm>
            <a:custGeom>
              <a:avLst/>
              <a:gdLst/>
              <a:ahLst/>
              <a:cxnLst/>
              <a:rect l="l" t="t" r="r" b="b"/>
              <a:pathLst>
                <a:path w="228600" h="363220">
                  <a:moveTo>
                    <a:pt x="228575" y="0"/>
                  </a:moveTo>
                  <a:lnTo>
                    <a:pt x="0" y="0"/>
                  </a:lnTo>
                  <a:lnTo>
                    <a:pt x="0" y="362943"/>
                  </a:lnTo>
                  <a:lnTo>
                    <a:pt x="228575" y="362943"/>
                  </a:lnTo>
                  <a:lnTo>
                    <a:pt x="228575" y="0"/>
                  </a:lnTo>
                  <a:close/>
                </a:path>
              </a:pathLst>
            </a:custGeom>
            <a:solidFill>
              <a:srgbClr val="0099FF"/>
            </a:solidFill>
          </p:spPr>
          <p:txBody>
            <a:bodyPr wrap="square" lIns="0" tIns="0" rIns="0" bIns="0" rtlCol="0"/>
            <a:lstStyle/>
            <a:p>
              <a:endParaRPr sz="1588"/>
            </a:p>
          </p:txBody>
        </p:sp>
        <p:sp>
          <p:nvSpPr>
            <p:cNvPr id="107" name="object 107"/>
            <p:cNvSpPr/>
            <p:nvPr/>
          </p:nvSpPr>
          <p:spPr>
            <a:xfrm>
              <a:off x="5762094" y="5145327"/>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08" name="object 108"/>
          <p:cNvSpPr txBox="1"/>
          <p:nvPr/>
        </p:nvSpPr>
        <p:spPr>
          <a:xfrm>
            <a:off x="5301014" y="4579619"/>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9" name="object 109"/>
          <p:cNvGrpSpPr/>
          <p:nvPr/>
        </p:nvGrpSpPr>
        <p:grpSpPr>
          <a:xfrm>
            <a:off x="5610421" y="4430264"/>
            <a:ext cx="755837" cy="542925"/>
            <a:chOff x="6206077" y="5020965"/>
            <a:chExt cx="856615" cy="615315"/>
          </a:xfrm>
        </p:grpSpPr>
        <p:sp>
          <p:nvSpPr>
            <p:cNvPr id="110" name="object 110"/>
            <p:cNvSpPr/>
            <p:nvPr/>
          </p:nvSpPr>
          <p:spPr>
            <a:xfrm>
              <a:off x="6221317" y="5219395"/>
              <a:ext cx="504825" cy="219075"/>
            </a:xfrm>
            <a:custGeom>
              <a:avLst/>
              <a:gdLst/>
              <a:ahLst/>
              <a:cxnLst/>
              <a:rect l="l" t="t" r="r" b="b"/>
              <a:pathLst>
                <a:path w="504825" h="219075">
                  <a:moveTo>
                    <a:pt x="0" y="0"/>
                  </a:moveTo>
                  <a:lnTo>
                    <a:pt x="160331" y="0"/>
                  </a:lnTo>
                </a:path>
                <a:path w="504825" h="219075">
                  <a:moveTo>
                    <a:pt x="252802" y="0"/>
                  </a:moveTo>
                  <a:lnTo>
                    <a:pt x="504730" y="0"/>
                  </a:lnTo>
                </a:path>
                <a:path w="504825" h="219075">
                  <a:moveTo>
                    <a:pt x="0" y="219055"/>
                  </a:moveTo>
                  <a:lnTo>
                    <a:pt x="160331" y="219055"/>
                  </a:lnTo>
                </a:path>
                <a:path w="504825" h="219075">
                  <a:moveTo>
                    <a:pt x="252802" y="219055"/>
                  </a:moveTo>
                  <a:lnTo>
                    <a:pt x="504730" y="219055"/>
                  </a:lnTo>
                </a:path>
              </a:pathLst>
            </a:custGeom>
            <a:ln w="30481">
              <a:solidFill>
                <a:srgbClr val="000000"/>
              </a:solidFill>
            </a:ln>
          </p:spPr>
          <p:txBody>
            <a:bodyPr wrap="square" lIns="0" tIns="0" rIns="0" bIns="0" rtlCol="0"/>
            <a:lstStyle/>
            <a:p>
              <a:endParaRPr sz="1588"/>
            </a:p>
          </p:txBody>
        </p:sp>
        <p:sp>
          <p:nvSpPr>
            <p:cNvPr id="111" name="object 111"/>
            <p:cNvSpPr/>
            <p:nvPr/>
          </p:nvSpPr>
          <p:spPr>
            <a:xfrm>
              <a:off x="6660830" y="5036205"/>
              <a:ext cx="386715" cy="584835"/>
            </a:xfrm>
            <a:custGeom>
              <a:avLst/>
              <a:gdLst/>
              <a:ahLst/>
              <a:cxnLst/>
              <a:rect l="l" t="t" r="r" b="b"/>
              <a:pathLst>
                <a:path w="386715" h="584835">
                  <a:moveTo>
                    <a:pt x="0" y="0"/>
                  </a:moveTo>
                  <a:lnTo>
                    <a:pt x="0" y="584672"/>
                  </a:lnTo>
                  <a:lnTo>
                    <a:pt x="386417" y="438504"/>
                  </a:lnTo>
                  <a:lnTo>
                    <a:pt x="386417" y="146168"/>
                  </a:lnTo>
                  <a:lnTo>
                    <a:pt x="0" y="0"/>
                  </a:lnTo>
                  <a:close/>
                </a:path>
              </a:pathLst>
            </a:custGeom>
            <a:solidFill>
              <a:srgbClr val="FFFFFF"/>
            </a:solidFill>
          </p:spPr>
          <p:txBody>
            <a:bodyPr wrap="square" lIns="0" tIns="0" rIns="0" bIns="0" rtlCol="0"/>
            <a:lstStyle/>
            <a:p>
              <a:endParaRPr sz="1588"/>
            </a:p>
          </p:txBody>
        </p:sp>
        <p:sp>
          <p:nvSpPr>
            <p:cNvPr id="112" name="object 112"/>
            <p:cNvSpPr/>
            <p:nvPr/>
          </p:nvSpPr>
          <p:spPr>
            <a:xfrm>
              <a:off x="6660830" y="5036205"/>
              <a:ext cx="386715" cy="584835"/>
            </a:xfrm>
            <a:custGeom>
              <a:avLst/>
              <a:gdLst/>
              <a:ahLst/>
              <a:cxnLst/>
              <a:rect l="l" t="t" r="r" b="b"/>
              <a:pathLst>
                <a:path w="386715"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113" name="object 113"/>
            <p:cNvSpPr/>
            <p:nvPr/>
          </p:nvSpPr>
          <p:spPr>
            <a:xfrm>
              <a:off x="6635031" y="5234523"/>
              <a:ext cx="207010" cy="189230"/>
            </a:xfrm>
            <a:custGeom>
              <a:avLst/>
              <a:gdLst/>
              <a:ahLst/>
              <a:cxnLst/>
              <a:rect l="l" t="t" r="r" b="b"/>
              <a:pathLst>
                <a:path w="207009" h="189229">
                  <a:moveTo>
                    <a:pt x="0" y="0"/>
                  </a:moveTo>
                  <a:lnTo>
                    <a:pt x="0" y="188799"/>
                  </a:lnTo>
                  <a:lnTo>
                    <a:pt x="206395" y="94399"/>
                  </a:lnTo>
                  <a:lnTo>
                    <a:pt x="0" y="0"/>
                  </a:lnTo>
                  <a:close/>
                </a:path>
              </a:pathLst>
            </a:custGeom>
            <a:solidFill>
              <a:srgbClr val="FFFFFF"/>
            </a:solidFill>
          </p:spPr>
          <p:txBody>
            <a:bodyPr wrap="square" lIns="0" tIns="0" rIns="0" bIns="0" rtlCol="0"/>
            <a:lstStyle/>
            <a:p>
              <a:endParaRPr sz="1588"/>
            </a:p>
          </p:txBody>
        </p:sp>
        <p:sp>
          <p:nvSpPr>
            <p:cNvPr id="114" name="object 114"/>
            <p:cNvSpPr/>
            <p:nvPr/>
          </p:nvSpPr>
          <p:spPr>
            <a:xfrm>
              <a:off x="6660829" y="5245560"/>
              <a:ext cx="159385" cy="166370"/>
            </a:xfrm>
            <a:custGeom>
              <a:avLst/>
              <a:gdLst/>
              <a:ahLst/>
              <a:cxnLst/>
              <a:rect l="l" t="t" r="r" b="b"/>
              <a:pathLst>
                <a:path w="159384"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115" name="object 115"/>
          <p:cNvSpPr txBox="1"/>
          <p:nvPr/>
        </p:nvSpPr>
        <p:spPr>
          <a:xfrm>
            <a:off x="6141704" y="454081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16" name="object 116"/>
          <p:cNvGrpSpPr/>
          <p:nvPr/>
        </p:nvGrpSpPr>
        <p:grpSpPr>
          <a:xfrm>
            <a:off x="6342328" y="4527937"/>
            <a:ext cx="1116666" cy="349624"/>
            <a:chOff x="7035571" y="5131662"/>
            <a:chExt cx="1265555" cy="396240"/>
          </a:xfrm>
        </p:grpSpPr>
        <p:sp>
          <p:nvSpPr>
            <p:cNvPr id="117" name="object 117"/>
            <p:cNvSpPr/>
            <p:nvPr/>
          </p:nvSpPr>
          <p:spPr>
            <a:xfrm>
              <a:off x="7050811" y="5329711"/>
              <a:ext cx="1235075" cy="0"/>
            </a:xfrm>
            <a:custGeom>
              <a:avLst/>
              <a:gdLst/>
              <a:ahLst/>
              <a:cxnLst/>
              <a:rect l="l" t="t" r="r" b="b"/>
              <a:pathLst>
                <a:path w="1235075">
                  <a:moveTo>
                    <a:pt x="0" y="0"/>
                  </a:moveTo>
                  <a:lnTo>
                    <a:pt x="178480" y="0"/>
                  </a:lnTo>
                </a:path>
                <a:path w="1235075">
                  <a:moveTo>
                    <a:pt x="269666" y="0"/>
                  </a:moveTo>
                  <a:lnTo>
                    <a:pt x="372009" y="0"/>
                  </a:lnTo>
                </a:path>
                <a:path w="1235075">
                  <a:moveTo>
                    <a:pt x="875004" y="0"/>
                  </a:moveTo>
                  <a:lnTo>
                    <a:pt x="1028693" y="0"/>
                  </a:lnTo>
                </a:path>
                <a:path w="1235075">
                  <a:moveTo>
                    <a:pt x="1121163" y="0"/>
                  </a:moveTo>
                  <a:lnTo>
                    <a:pt x="1234935" y="0"/>
                  </a:lnTo>
                </a:path>
              </a:pathLst>
            </a:custGeom>
            <a:ln w="30481">
              <a:solidFill>
                <a:srgbClr val="000000"/>
              </a:solidFill>
            </a:ln>
          </p:spPr>
          <p:txBody>
            <a:bodyPr wrap="square" lIns="0" tIns="0" rIns="0" bIns="0" rtlCol="0"/>
            <a:lstStyle/>
            <a:p>
              <a:endParaRPr sz="1588"/>
            </a:p>
          </p:txBody>
        </p:sp>
        <p:sp>
          <p:nvSpPr>
            <p:cNvPr id="118" name="object 118"/>
            <p:cNvSpPr/>
            <p:nvPr/>
          </p:nvSpPr>
          <p:spPr>
            <a:xfrm>
              <a:off x="7422820" y="5146902"/>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19" name="object 119"/>
          <p:cNvSpPr txBox="1"/>
          <p:nvPr/>
        </p:nvSpPr>
        <p:spPr>
          <a:xfrm>
            <a:off x="6677653" y="4582309"/>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120" name="object 120"/>
          <p:cNvGrpSpPr/>
          <p:nvPr/>
        </p:nvGrpSpPr>
        <p:grpSpPr>
          <a:xfrm>
            <a:off x="4415402" y="4527938"/>
            <a:ext cx="2844613" cy="445993"/>
            <a:chOff x="4851722" y="5131662"/>
            <a:chExt cx="3223895" cy="505459"/>
          </a:xfrm>
        </p:grpSpPr>
        <p:sp>
          <p:nvSpPr>
            <p:cNvPr id="121" name="object 121"/>
            <p:cNvSpPr/>
            <p:nvPr/>
          </p:nvSpPr>
          <p:spPr>
            <a:xfrm>
              <a:off x="7373508" y="5329711"/>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122" name="object 122"/>
            <p:cNvSpPr/>
            <p:nvPr/>
          </p:nvSpPr>
          <p:spPr>
            <a:xfrm>
              <a:off x="5224268" y="5219395"/>
              <a:ext cx="537845" cy="220979"/>
            </a:xfrm>
            <a:custGeom>
              <a:avLst/>
              <a:gdLst/>
              <a:ahLst/>
              <a:cxnLst/>
              <a:rect l="l" t="t" r="r" b="b"/>
              <a:pathLst>
                <a:path w="537845" h="220979">
                  <a:moveTo>
                    <a:pt x="62057" y="220632"/>
                  </a:moveTo>
                  <a:lnTo>
                    <a:pt x="227542" y="220632"/>
                  </a:lnTo>
                </a:path>
                <a:path w="537845" h="220979">
                  <a:moveTo>
                    <a:pt x="320012" y="220632"/>
                  </a:moveTo>
                  <a:lnTo>
                    <a:pt x="537827" y="220632"/>
                  </a:lnTo>
                </a:path>
                <a:path w="537845" h="220979">
                  <a:moveTo>
                    <a:pt x="320012" y="0"/>
                  </a:moveTo>
                  <a:lnTo>
                    <a:pt x="535758" y="0"/>
                  </a:lnTo>
                </a:path>
                <a:path w="537845" h="220979">
                  <a:moveTo>
                    <a:pt x="0" y="0"/>
                  </a:moveTo>
                  <a:lnTo>
                    <a:pt x="227542" y="0"/>
                  </a:lnTo>
                </a:path>
              </a:pathLst>
            </a:custGeom>
            <a:ln w="30481">
              <a:solidFill>
                <a:srgbClr val="000000"/>
              </a:solidFill>
            </a:ln>
          </p:spPr>
          <p:txBody>
            <a:bodyPr wrap="square" lIns="0" tIns="0" rIns="0" bIns="0" rtlCol="0"/>
            <a:lstStyle/>
            <a:p>
              <a:endParaRPr sz="1588"/>
            </a:p>
          </p:txBody>
        </p:sp>
        <p:sp>
          <p:nvSpPr>
            <p:cNvPr id="123" name="object 123"/>
            <p:cNvSpPr/>
            <p:nvPr/>
          </p:nvSpPr>
          <p:spPr>
            <a:xfrm>
              <a:off x="4866962" y="5146902"/>
              <a:ext cx="460375" cy="365760"/>
            </a:xfrm>
            <a:custGeom>
              <a:avLst/>
              <a:gdLst/>
              <a:ahLst/>
              <a:cxnLst/>
              <a:rect l="l" t="t" r="r" b="b"/>
              <a:pathLst>
                <a:path w="460375" h="365760">
                  <a:moveTo>
                    <a:pt x="0" y="0"/>
                  </a:moveTo>
                  <a:lnTo>
                    <a:pt x="460177" y="0"/>
                  </a:lnTo>
                  <a:lnTo>
                    <a:pt x="460177"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24" name="object 124"/>
          <p:cNvSpPr txBox="1"/>
          <p:nvPr/>
        </p:nvSpPr>
        <p:spPr>
          <a:xfrm>
            <a:off x="4457057" y="4582309"/>
            <a:ext cx="351304" cy="174309"/>
          </a:xfrm>
          <a:prstGeom prst="rect">
            <a:avLst/>
          </a:prstGeom>
        </p:spPr>
        <p:txBody>
          <a:bodyPr vert="horz" wrap="square" lIns="0" tIns="11206" rIns="0" bIns="0" rtlCol="0">
            <a:spAutoFit/>
          </a:bodyPr>
          <a:lstStyle/>
          <a:p>
            <a:pPr marL="11206">
              <a:spcBef>
                <a:spcPts val="88"/>
              </a:spcBef>
            </a:pPr>
            <a:r>
              <a:rPr sz="1059" b="1" spc="-9" dirty="0">
                <a:latin typeface="Times New Roman"/>
                <a:cs typeface="Times New Roman"/>
              </a:rPr>
              <a:t>Ifetch</a:t>
            </a:r>
            <a:endParaRPr sz="1059">
              <a:latin typeface="Times New Roman"/>
              <a:cs typeface="Times New Roman"/>
            </a:endParaRPr>
          </a:p>
        </p:txBody>
      </p:sp>
      <p:grpSp>
        <p:nvGrpSpPr>
          <p:cNvPr id="125" name="object 125"/>
          <p:cNvGrpSpPr/>
          <p:nvPr/>
        </p:nvGrpSpPr>
        <p:grpSpPr>
          <a:xfrm>
            <a:off x="4931444" y="4381933"/>
            <a:ext cx="2934820" cy="640416"/>
            <a:chOff x="5436570" y="4966190"/>
            <a:chExt cx="3326129" cy="725805"/>
          </a:xfrm>
        </p:grpSpPr>
        <p:sp>
          <p:nvSpPr>
            <p:cNvPr id="126" name="object 126"/>
            <p:cNvSpPr/>
            <p:nvPr/>
          </p:nvSpPr>
          <p:spPr>
            <a:xfrm>
              <a:off x="6381648" y="4981430"/>
              <a:ext cx="92710" cy="695325"/>
            </a:xfrm>
            <a:custGeom>
              <a:avLst/>
              <a:gdLst/>
              <a:ahLst/>
              <a:cxnLst/>
              <a:rect l="l" t="t" r="r" b="b"/>
              <a:pathLst>
                <a:path w="92710" h="695325">
                  <a:moveTo>
                    <a:pt x="92471" y="0"/>
                  </a:moveTo>
                  <a:lnTo>
                    <a:pt x="0" y="0"/>
                  </a:lnTo>
                  <a:lnTo>
                    <a:pt x="0" y="694987"/>
                  </a:lnTo>
                  <a:lnTo>
                    <a:pt x="92471" y="694987"/>
                  </a:lnTo>
                  <a:lnTo>
                    <a:pt x="92471" y="0"/>
                  </a:lnTo>
                  <a:close/>
                </a:path>
              </a:pathLst>
            </a:custGeom>
            <a:solidFill>
              <a:srgbClr val="00FF00"/>
            </a:solidFill>
          </p:spPr>
          <p:txBody>
            <a:bodyPr wrap="square" lIns="0" tIns="0" rIns="0" bIns="0" rtlCol="0"/>
            <a:lstStyle/>
            <a:p>
              <a:endParaRPr sz="1588"/>
            </a:p>
          </p:txBody>
        </p:sp>
        <p:sp>
          <p:nvSpPr>
            <p:cNvPr id="127" name="object 127"/>
            <p:cNvSpPr/>
            <p:nvPr/>
          </p:nvSpPr>
          <p:spPr>
            <a:xfrm>
              <a:off x="6381648" y="4981430"/>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28" name="object 128"/>
            <p:cNvSpPr/>
            <p:nvPr/>
          </p:nvSpPr>
          <p:spPr>
            <a:xfrm>
              <a:off x="8079504" y="4981430"/>
              <a:ext cx="92710" cy="695325"/>
            </a:xfrm>
            <a:custGeom>
              <a:avLst/>
              <a:gdLst/>
              <a:ahLst/>
              <a:cxnLst/>
              <a:rect l="l" t="t" r="r" b="b"/>
              <a:pathLst>
                <a:path w="92709"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29" name="object 129"/>
            <p:cNvSpPr/>
            <p:nvPr/>
          </p:nvSpPr>
          <p:spPr>
            <a:xfrm>
              <a:off x="8079504" y="4981430"/>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30" name="object 130"/>
            <p:cNvSpPr/>
            <p:nvPr/>
          </p:nvSpPr>
          <p:spPr>
            <a:xfrm>
              <a:off x="5451810" y="4981430"/>
              <a:ext cx="92710" cy="695325"/>
            </a:xfrm>
            <a:custGeom>
              <a:avLst/>
              <a:gdLst/>
              <a:ahLst/>
              <a:cxnLst/>
              <a:rect l="l" t="t" r="r" b="b"/>
              <a:pathLst>
                <a:path w="92710"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31" name="object 131"/>
            <p:cNvSpPr/>
            <p:nvPr/>
          </p:nvSpPr>
          <p:spPr>
            <a:xfrm>
              <a:off x="5451810" y="4981430"/>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32" name="object 132"/>
            <p:cNvSpPr/>
            <p:nvPr/>
          </p:nvSpPr>
          <p:spPr>
            <a:xfrm>
              <a:off x="7229291" y="4985512"/>
              <a:ext cx="91440" cy="685800"/>
            </a:xfrm>
            <a:custGeom>
              <a:avLst/>
              <a:gdLst/>
              <a:ahLst/>
              <a:cxnLst/>
              <a:rect l="l" t="t" r="r" b="b"/>
              <a:pathLst>
                <a:path w="91440" h="685800">
                  <a:moveTo>
                    <a:pt x="91185" y="0"/>
                  </a:moveTo>
                  <a:lnTo>
                    <a:pt x="0" y="0"/>
                  </a:lnTo>
                  <a:lnTo>
                    <a:pt x="0" y="685802"/>
                  </a:lnTo>
                  <a:lnTo>
                    <a:pt x="91185" y="685802"/>
                  </a:lnTo>
                  <a:lnTo>
                    <a:pt x="91185" y="0"/>
                  </a:lnTo>
                  <a:close/>
                </a:path>
              </a:pathLst>
            </a:custGeom>
            <a:solidFill>
              <a:srgbClr val="00FF00"/>
            </a:solidFill>
          </p:spPr>
          <p:txBody>
            <a:bodyPr wrap="square" lIns="0" tIns="0" rIns="0" bIns="0" rtlCol="0"/>
            <a:lstStyle/>
            <a:p>
              <a:endParaRPr sz="1588"/>
            </a:p>
          </p:txBody>
        </p:sp>
        <p:sp>
          <p:nvSpPr>
            <p:cNvPr id="133" name="object 133"/>
            <p:cNvSpPr/>
            <p:nvPr/>
          </p:nvSpPr>
          <p:spPr>
            <a:xfrm>
              <a:off x="7229291" y="4985512"/>
              <a:ext cx="91440" cy="685800"/>
            </a:xfrm>
            <a:custGeom>
              <a:avLst/>
              <a:gdLst/>
              <a:ahLst/>
              <a:cxnLst/>
              <a:rect l="l" t="t" r="r" b="b"/>
              <a:pathLst>
                <a:path w="91440" h="685800">
                  <a:moveTo>
                    <a:pt x="0" y="0"/>
                  </a:moveTo>
                  <a:lnTo>
                    <a:pt x="91186" y="0"/>
                  </a:lnTo>
                  <a:lnTo>
                    <a:pt x="91186"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34" name="object 134"/>
            <p:cNvSpPr/>
            <p:nvPr/>
          </p:nvSpPr>
          <p:spPr>
            <a:xfrm>
              <a:off x="8285746" y="5132719"/>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135" name="object 135"/>
            <p:cNvSpPr/>
            <p:nvPr/>
          </p:nvSpPr>
          <p:spPr>
            <a:xfrm>
              <a:off x="8285745" y="5132719"/>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136" name="object 136"/>
          <p:cNvSpPr txBox="1"/>
          <p:nvPr/>
        </p:nvSpPr>
        <p:spPr>
          <a:xfrm>
            <a:off x="7531302" y="456886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37" name="object 137"/>
          <p:cNvSpPr txBox="1"/>
          <p:nvPr/>
        </p:nvSpPr>
        <p:spPr>
          <a:xfrm>
            <a:off x="2076020"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1</a:t>
            </a:r>
            <a:endParaRPr sz="1324">
              <a:latin typeface="Times New Roman"/>
              <a:cs typeface="Times New Roman"/>
            </a:endParaRPr>
          </a:p>
        </p:txBody>
      </p:sp>
      <p:sp>
        <p:nvSpPr>
          <p:cNvPr id="138" name="object 138"/>
          <p:cNvSpPr txBox="1"/>
          <p:nvPr/>
        </p:nvSpPr>
        <p:spPr>
          <a:xfrm>
            <a:off x="5905782"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6</a:t>
            </a:r>
            <a:endParaRPr sz="1324">
              <a:latin typeface="Times New Roman"/>
              <a:cs typeface="Times New Roman"/>
            </a:endParaRPr>
          </a:p>
        </p:txBody>
      </p:sp>
      <p:sp>
        <p:nvSpPr>
          <p:cNvPr id="139" name="object 139"/>
          <p:cNvSpPr txBox="1"/>
          <p:nvPr/>
        </p:nvSpPr>
        <p:spPr>
          <a:xfrm>
            <a:off x="6659330"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7</a:t>
            </a:r>
            <a:endParaRPr sz="1324">
              <a:latin typeface="Times New Roman"/>
              <a:cs typeface="Times New Roman"/>
            </a:endParaRPr>
          </a:p>
        </p:txBody>
      </p:sp>
      <p:sp>
        <p:nvSpPr>
          <p:cNvPr id="140" name="object 140"/>
          <p:cNvSpPr txBox="1"/>
          <p:nvPr/>
        </p:nvSpPr>
        <p:spPr>
          <a:xfrm>
            <a:off x="2808893" y="1291813"/>
            <a:ext cx="2824443" cy="756712"/>
          </a:xfrm>
          <a:prstGeom prst="rect">
            <a:avLst/>
          </a:prstGeom>
        </p:spPr>
        <p:txBody>
          <a:bodyPr vert="horz" wrap="square" lIns="0" tIns="11206" rIns="0" bIns="0" rtlCol="0">
            <a:spAutoFit/>
          </a:bodyPr>
          <a:lstStyle/>
          <a:p>
            <a:pPr marL="876907">
              <a:spcBef>
                <a:spcPts val="88"/>
              </a:spcBef>
            </a:pPr>
            <a:r>
              <a:rPr sz="1853" i="1" dirty="0">
                <a:latin typeface="Times New Roman"/>
                <a:cs typeface="Times New Roman"/>
              </a:rPr>
              <a:t>Time</a:t>
            </a:r>
            <a:r>
              <a:rPr sz="1853" i="1" spc="-18" dirty="0">
                <a:latin typeface="Times New Roman"/>
                <a:cs typeface="Times New Roman"/>
              </a:rPr>
              <a:t> </a:t>
            </a:r>
            <a:r>
              <a:rPr sz="1853" i="1" dirty="0">
                <a:latin typeface="Times New Roman"/>
                <a:cs typeface="Times New Roman"/>
              </a:rPr>
              <a:t>(clock</a:t>
            </a:r>
            <a:r>
              <a:rPr sz="1853" i="1" spc="-13" dirty="0">
                <a:latin typeface="Times New Roman"/>
                <a:cs typeface="Times New Roman"/>
              </a:rPr>
              <a:t> </a:t>
            </a:r>
            <a:r>
              <a:rPr sz="1853" i="1" spc="-9" dirty="0">
                <a:latin typeface="Times New Roman"/>
                <a:cs typeface="Times New Roman"/>
              </a:rPr>
              <a:t>cycles)</a:t>
            </a:r>
            <a:endParaRPr sz="1853">
              <a:latin typeface="Times New Roman"/>
              <a:cs typeface="Times New Roman"/>
            </a:endParaRPr>
          </a:p>
          <a:p>
            <a:pPr marL="11206">
              <a:spcBef>
                <a:spcPts val="2012"/>
              </a:spcBef>
              <a:tabLst>
                <a:tab pos="787816" algn="l"/>
                <a:tab pos="1550977" algn="l"/>
                <a:tab pos="2286682" algn="l"/>
              </a:tabLst>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2</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3</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4</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5</a:t>
            </a:r>
            <a:endParaRPr sz="1324">
              <a:latin typeface="Times New Roman"/>
              <a:cs typeface="Times New Roman"/>
            </a:endParaRPr>
          </a:p>
        </p:txBody>
      </p:sp>
      <p:grpSp>
        <p:nvGrpSpPr>
          <p:cNvPr id="141" name="object 141"/>
          <p:cNvGrpSpPr/>
          <p:nvPr/>
        </p:nvGrpSpPr>
        <p:grpSpPr>
          <a:xfrm>
            <a:off x="6027867" y="5258179"/>
            <a:ext cx="430306" cy="351304"/>
            <a:chOff x="6679183" y="5959269"/>
            <a:chExt cx="487680" cy="398145"/>
          </a:xfrm>
        </p:grpSpPr>
        <p:sp>
          <p:nvSpPr>
            <p:cNvPr id="142" name="object 142"/>
            <p:cNvSpPr/>
            <p:nvPr/>
          </p:nvSpPr>
          <p:spPr>
            <a:xfrm>
              <a:off x="6922998" y="5974509"/>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143" name="object 143"/>
            <p:cNvSpPr/>
            <p:nvPr/>
          </p:nvSpPr>
          <p:spPr>
            <a:xfrm>
              <a:off x="6694423" y="5974509"/>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44" name="object 144"/>
          <p:cNvSpPr txBox="1"/>
          <p:nvPr/>
        </p:nvSpPr>
        <p:spPr>
          <a:xfrm>
            <a:off x="6123657" y="5311139"/>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45" name="object 145"/>
          <p:cNvGrpSpPr/>
          <p:nvPr/>
        </p:nvGrpSpPr>
        <p:grpSpPr>
          <a:xfrm>
            <a:off x="6433063" y="5161895"/>
            <a:ext cx="755837" cy="542925"/>
            <a:chOff x="7138404" y="5850147"/>
            <a:chExt cx="856615" cy="615315"/>
          </a:xfrm>
        </p:grpSpPr>
        <p:sp>
          <p:nvSpPr>
            <p:cNvPr id="146" name="object 146"/>
            <p:cNvSpPr/>
            <p:nvPr/>
          </p:nvSpPr>
          <p:spPr>
            <a:xfrm>
              <a:off x="7153644" y="6048578"/>
              <a:ext cx="504825" cy="219075"/>
            </a:xfrm>
            <a:custGeom>
              <a:avLst/>
              <a:gdLst/>
              <a:ahLst/>
              <a:cxnLst/>
              <a:rect l="l" t="t" r="r" b="b"/>
              <a:pathLst>
                <a:path w="504825" h="219075">
                  <a:moveTo>
                    <a:pt x="0" y="0"/>
                  </a:moveTo>
                  <a:lnTo>
                    <a:pt x="81989" y="0"/>
                  </a:lnTo>
                </a:path>
                <a:path w="504825" h="219075">
                  <a:moveTo>
                    <a:pt x="174459" y="0"/>
                  </a:moveTo>
                  <a:lnTo>
                    <a:pt x="504730" y="0"/>
                  </a:lnTo>
                </a:path>
                <a:path w="504825" h="219075">
                  <a:moveTo>
                    <a:pt x="0" y="219054"/>
                  </a:moveTo>
                  <a:lnTo>
                    <a:pt x="81989" y="219054"/>
                  </a:lnTo>
                </a:path>
                <a:path w="504825" h="219075">
                  <a:moveTo>
                    <a:pt x="174459" y="219054"/>
                  </a:moveTo>
                  <a:lnTo>
                    <a:pt x="504730" y="219054"/>
                  </a:lnTo>
                </a:path>
              </a:pathLst>
            </a:custGeom>
            <a:ln w="30481">
              <a:solidFill>
                <a:srgbClr val="000000"/>
              </a:solidFill>
            </a:ln>
          </p:spPr>
          <p:txBody>
            <a:bodyPr wrap="square" lIns="0" tIns="0" rIns="0" bIns="0" rtlCol="0"/>
            <a:lstStyle/>
            <a:p>
              <a:endParaRPr sz="1588"/>
            </a:p>
          </p:txBody>
        </p:sp>
        <p:sp>
          <p:nvSpPr>
            <p:cNvPr id="147" name="object 147"/>
            <p:cNvSpPr/>
            <p:nvPr/>
          </p:nvSpPr>
          <p:spPr>
            <a:xfrm>
              <a:off x="7593158" y="5865388"/>
              <a:ext cx="386715" cy="584835"/>
            </a:xfrm>
            <a:custGeom>
              <a:avLst/>
              <a:gdLst/>
              <a:ahLst/>
              <a:cxnLst/>
              <a:rect l="l" t="t" r="r" b="b"/>
              <a:pathLst>
                <a:path w="386715" h="584835">
                  <a:moveTo>
                    <a:pt x="0" y="0"/>
                  </a:moveTo>
                  <a:lnTo>
                    <a:pt x="0" y="584671"/>
                  </a:lnTo>
                  <a:lnTo>
                    <a:pt x="386417" y="438503"/>
                  </a:lnTo>
                  <a:lnTo>
                    <a:pt x="386417" y="146166"/>
                  </a:lnTo>
                  <a:lnTo>
                    <a:pt x="0" y="0"/>
                  </a:lnTo>
                  <a:close/>
                </a:path>
              </a:pathLst>
            </a:custGeom>
            <a:solidFill>
              <a:srgbClr val="FFFFFF"/>
            </a:solidFill>
          </p:spPr>
          <p:txBody>
            <a:bodyPr wrap="square" lIns="0" tIns="0" rIns="0" bIns="0" rtlCol="0"/>
            <a:lstStyle/>
            <a:p>
              <a:endParaRPr sz="1588"/>
            </a:p>
          </p:txBody>
        </p:sp>
        <p:sp>
          <p:nvSpPr>
            <p:cNvPr id="148" name="object 148"/>
            <p:cNvSpPr/>
            <p:nvPr/>
          </p:nvSpPr>
          <p:spPr>
            <a:xfrm>
              <a:off x="7593158" y="5865387"/>
              <a:ext cx="386715" cy="584835"/>
            </a:xfrm>
            <a:custGeom>
              <a:avLst/>
              <a:gdLst/>
              <a:ahLst/>
              <a:cxnLst/>
              <a:rect l="l" t="t" r="r" b="b"/>
              <a:pathLst>
                <a:path w="386715"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149" name="object 149"/>
            <p:cNvSpPr/>
            <p:nvPr/>
          </p:nvSpPr>
          <p:spPr>
            <a:xfrm>
              <a:off x="7567357" y="6063705"/>
              <a:ext cx="207010" cy="189230"/>
            </a:xfrm>
            <a:custGeom>
              <a:avLst/>
              <a:gdLst/>
              <a:ahLst/>
              <a:cxnLst/>
              <a:rect l="l" t="t" r="r" b="b"/>
              <a:pathLst>
                <a:path w="207009" h="189229">
                  <a:moveTo>
                    <a:pt x="0" y="0"/>
                  </a:moveTo>
                  <a:lnTo>
                    <a:pt x="0" y="188799"/>
                  </a:lnTo>
                  <a:lnTo>
                    <a:pt x="206396" y="94400"/>
                  </a:lnTo>
                  <a:lnTo>
                    <a:pt x="0" y="0"/>
                  </a:lnTo>
                  <a:close/>
                </a:path>
              </a:pathLst>
            </a:custGeom>
            <a:solidFill>
              <a:srgbClr val="FFFFFF"/>
            </a:solidFill>
          </p:spPr>
          <p:txBody>
            <a:bodyPr wrap="square" lIns="0" tIns="0" rIns="0" bIns="0" rtlCol="0"/>
            <a:lstStyle/>
            <a:p>
              <a:endParaRPr sz="1588"/>
            </a:p>
          </p:txBody>
        </p:sp>
        <p:sp>
          <p:nvSpPr>
            <p:cNvPr id="150" name="object 150"/>
            <p:cNvSpPr/>
            <p:nvPr/>
          </p:nvSpPr>
          <p:spPr>
            <a:xfrm>
              <a:off x="7593156" y="6074744"/>
              <a:ext cx="159385" cy="166370"/>
            </a:xfrm>
            <a:custGeom>
              <a:avLst/>
              <a:gdLst/>
              <a:ahLst/>
              <a:cxnLst/>
              <a:rect l="l" t="t" r="r" b="b"/>
              <a:pathLst>
                <a:path w="159384"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151" name="object 151"/>
          <p:cNvSpPr txBox="1"/>
          <p:nvPr/>
        </p:nvSpPr>
        <p:spPr>
          <a:xfrm>
            <a:off x="6964351" y="527233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52" name="object 152"/>
          <p:cNvGrpSpPr/>
          <p:nvPr/>
        </p:nvGrpSpPr>
        <p:grpSpPr>
          <a:xfrm>
            <a:off x="7164969" y="5259567"/>
            <a:ext cx="1116666" cy="349624"/>
            <a:chOff x="7967898" y="5960843"/>
            <a:chExt cx="1265555" cy="396240"/>
          </a:xfrm>
        </p:grpSpPr>
        <p:sp>
          <p:nvSpPr>
            <p:cNvPr id="153" name="object 153"/>
            <p:cNvSpPr/>
            <p:nvPr/>
          </p:nvSpPr>
          <p:spPr>
            <a:xfrm>
              <a:off x="7983138" y="6158893"/>
              <a:ext cx="1235075" cy="0"/>
            </a:xfrm>
            <a:custGeom>
              <a:avLst/>
              <a:gdLst/>
              <a:ahLst/>
              <a:cxnLst/>
              <a:rect l="l" t="t" r="r" b="b"/>
              <a:pathLst>
                <a:path w="1235075">
                  <a:moveTo>
                    <a:pt x="0" y="0"/>
                  </a:moveTo>
                  <a:lnTo>
                    <a:pt x="107844" y="0"/>
                  </a:lnTo>
                </a:path>
                <a:path w="1235075">
                  <a:moveTo>
                    <a:pt x="199030" y="0"/>
                  </a:moveTo>
                  <a:lnTo>
                    <a:pt x="372009" y="0"/>
                  </a:lnTo>
                </a:path>
                <a:path w="1235075">
                  <a:moveTo>
                    <a:pt x="1121163" y="0"/>
                  </a:moveTo>
                  <a:lnTo>
                    <a:pt x="1234934" y="0"/>
                  </a:lnTo>
                </a:path>
                <a:path w="1235075">
                  <a:moveTo>
                    <a:pt x="875003" y="0"/>
                  </a:moveTo>
                  <a:lnTo>
                    <a:pt x="1028693" y="0"/>
                  </a:lnTo>
                </a:path>
              </a:pathLst>
            </a:custGeom>
            <a:ln w="30481">
              <a:solidFill>
                <a:srgbClr val="000000"/>
              </a:solidFill>
            </a:ln>
          </p:spPr>
          <p:txBody>
            <a:bodyPr wrap="square" lIns="0" tIns="0" rIns="0" bIns="0" rtlCol="0"/>
            <a:lstStyle/>
            <a:p>
              <a:endParaRPr sz="1588"/>
            </a:p>
          </p:txBody>
        </p:sp>
        <p:sp>
          <p:nvSpPr>
            <p:cNvPr id="154" name="object 154"/>
            <p:cNvSpPr/>
            <p:nvPr/>
          </p:nvSpPr>
          <p:spPr>
            <a:xfrm>
              <a:off x="8355148" y="5976083"/>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55" name="object 155"/>
          <p:cNvSpPr txBox="1"/>
          <p:nvPr/>
        </p:nvSpPr>
        <p:spPr>
          <a:xfrm>
            <a:off x="7500295" y="5313830"/>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156" name="object 156"/>
          <p:cNvGrpSpPr/>
          <p:nvPr/>
        </p:nvGrpSpPr>
        <p:grpSpPr>
          <a:xfrm>
            <a:off x="5644084" y="5323534"/>
            <a:ext cx="2438960" cy="381559"/>
            <a:chOff x="6244228" y="6033338"/>
            <a:chExt cx="2764155" cy="432434"/>
          </a:xfrm>
        </p:grpSpPr>
        <p:sp>
          <p:nvSpPr>
            <p:cNvPr id="157" name="object 157"/>
            <p:cNvSpPr/>
            <p:nvPr/>
          </p:nvSpPr>
          <p:spPr>
            <a:xfrm>
              <a:off x="8305835" y="6158892"/>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158" name="object 158"/>
            <p:cNvSpPr/>
            <p:nvPr/>
          </p:nvSpPr>
          <p:spPr>
            <a:xfrm>
              <a:off x="6259468" y="6048578"/>
              <a:ext cx="434975" cy="220979"/>
            </a:xfrm>
            <a:custGeom>
              <a:avLst/>
              <a:gdLst/>
              <a:ahLst/>
              <a:cxnLst/>
              <a:rect l="l" t="t" r="r" b="b"/>
              <a:pathLst>
                <a:path w="434975" h="220979">
                  <a:moveTo>
                    <a:pt x="217139" y="220630"/>
                  </a:moveTo>
                  <a:lnTo>
                    <a:pt x="434955" y="220630"/>
                  </a:lnTo>
                </a:path>
                <a:path w="434975" h="220979">
                  <a:moveTo>
                    <a:pt x="0" y="220630"/>
                  </a:moveTo>
                  <a:lnTo>
                    <a:pt x="124669" y="220630"/>
                  </a:lnTo>
                </a:path>
                <a:path w="434975" h="220979">
                  <a:moveTo>
                    <a:pt x="217139" y="0"/>
                  </a:moveTo>
                  <a:lnTo>
                    <a:pt x="432886" y="0"/>
                  </a:lnTo>
                </a:path>
                <a:path w="434975" h="220979">
                  <a:moveTo>
                    <a:pt x="0" y="0"/>
                  </a:moveTo>
                  <a:lnTo>
                    <a:pt x="124669" y="0"/>
                  </a:lnTo>
                </a:path>
              </a:pathLst>
            </a:custGeom>
            <a:ln w="30481">
              <a:solidFill>
                <a:srgbClr val="000000"/>
              </a:solidFill>
            </a:ln>
          </p:spPr>
          <p:txBody>
            <a:bodyPr wrap="square" lIns="0" tIns="0" rIns="0" bIns="0" rtlCol="0"/>
            <a:lstStyle/>
            <a:p>
              <a:endParaRPr sz="1588"/>
            </a:p>
          </p:txBody>
        </p:sp>
      </p:grpSp>
      <p:sp>
        <p:nvSpPr>
          <p:cNvPr id="159" name="object 159"/>
          <p:cNvSpPr txBox="1"/>
          <p:nvPr/>
        </p:nvSpPr>
        <p:spPr>
          <a:xfrm>
            <a:off x="5251492" y="5273015"/>
            <a:ext cx="406213" cy="215608"/>
          </a:xfrm>
          <a:prstGeom prst="rect">
            <a:avLst/>
          </a:prstGeom>
          <a:ln w="30479">
            <a:solidFill>
              <a:srgbClr val="000000"/>
            </a:solidFill>
          </a:ln>
        </p:spPr>
        <p:txBody>
          <a:bodyPr vert="horz" wrap="square" lIns="0" tIns="52106" rIns="0" bIns="0" rtlCol="0">
            <a:spAutoFit/>
          </a:bodyPr>
          <a:lstStyle/>
          <a:p>
            <a:pPr marL="39223">
              <a:spcBef>
                <a:spcPts val="409"/>
              </a:spcBef>
            </a:pPr>
            <a:r>
              <a:rPr sz="1059" b="1" spc="-9" dirty="0">
                <a:latin typeface="Times New Roman"/>
                <a:cs typeface="Times New Roman"/>
              </a:rPr>
              <a:t>Ifetch</a:t>
            </a:r>
            <a:endParaRPr sz="1059">
              <a:latin typeface="Times New Roman"/>
              <a:cs typeface="Times New Roman"/>
            </a:endParaRPr>
          </a:p>
        </p:txBody>
      </p:sp>
      <p:grpSp>
        <p:nvGrpSpPr>
          <p:cNvPr id="160" name="object 160"/>
          <p:cNvGrpSpPr/>
          <p:nvPr/>
        </p:nvGrpSpPr>
        <p:grpSpPr>
          <a:xfrm>
            <a:off x="5754086" y="5113563"/>
            <a:ext cx="2934820" cy="640416"/>
            <a:chOff x="6368897" y="5795371"/>
            <a:chExt cx="3326129" cy="725805"/>
          </a:xfrm>
        </p:grpSpPr>
        <p:sp>
          <p:nvSpPr>
            <p:cNvPr id="161" name="object 161"/>
            <p:cNvSpPr/>
            <p:nvPr/>
          </p:nvSpPr>
          <p:spPr>
            <a:xfrm>
              <a:off x="7235634" y="5810611"/>
              <a:ext cx="92710" cy="695325"/>
            </a:xfrm>
            <a:custGeom>
              <a:avLst/>
              <a:gdLst/>
              <a:ahLst/>
              <a:cxnLst/>
              <a:rect l="l" t="t" r="r" b="b"/>
              <a:pathLst>
                <a:path w="92709"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62" name="object 162"/>
            <p:cNvSpPr/>
            <p:nvPr/>
          </p:nvSpPr>
          <p:spPr>
            <a:xfrm>
              <a:off x="7235634" y="5810611"/>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3" name="object 163"/>
            <p:cNvSpPr/>
            <p:nvPr/>
          </p:nvSpPr>
          <p:spPr>
            <a:xfrm>
              <a:off x="9011832" y="5810611"/>
              <a:ext cx="92710" cy="695325"/>
            </a:xfrm>
            <a:custGeom>
              <a:avLst/>
              <a:gdLst/>
              <a:ahLst/>
              <a:cxnLst/>
              <a:rect l="l" t="t" r="r" b="b"/>
              <a:pathLst>
                <a:path w="92709"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64" name="object 164"/>
            <p:cNvSpPr/>
            <p:nvPr/>
          </p:nvSpPr>
          <p:spPr>
            <a:xfrm>
              <a:off x="9011832" y="5810611"/>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5" name="object 165"/>
            <p:cNvSpPr/>
            <p:nvPr/>
          </p:nvSpPr>
          <p:spPr>
            <a:xfrm>
              <a:off x="6384137" y="5810611"/>
              <a:ext cx="92710" cy="695325"/>
            </a:xfrm>
            <a:custGeom>
              <a:avLst/>
              <a:gdLst/>
              <a:ahLst/>
              <a:cxnLst/>
              <a:rect l="l" t="t" r="r" b="b"/>
              <a:pathLst>
                <a:path w="92710"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66" name="object 166"/>
            <p:cNvSpPr/>
            <p:nvPr/>
          </p:nvSpPr>
          <p:spPr>
            <a:xfrm>
              <a:off x="6384137" y="5810611"/>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7" name="object 167"/>
            <p:cNvSpPr/>
            <p:nvPr/>
          </p:nvSpPr>
          <p:spPr>
            <a:xfrm>
              <a:off x="8090983" y="5814693"/>
              <a:ext cx="91440" cy="685800"/>
            </a:xfrm>
            <a:custGeom>
              <a:avLst/>
              <a:gdLst/>
              <a:ahLst/>
              <a:cxnLst/>
              <a:rect l="l" t="t" r="r" b="b"/>
              <a:pathLst>
                <a:path w="91440" h="685800">
                  <a:moveTo>
                    <a:pt x="91185" y="0"/>
                  </a:moveTo>
                  <a:lnTo>
                    <a:pt x="0" y="0"/>
                  </a:lnTo>
                  <a:lnTo>
                    <a:pt x="0" y="685802"/>
                  </a:lnTo>
                  <a:lnTo>
                    <a:pt x="91185" y="685802"/>
                  </a:lnTo>
                  <a:lnTo>
                    <a:pt x="91185" y="0"/>
                  </a:lnTo>
                  <a:close/>
                </a:path>
              </a:pathLst>
            </a:custGeom>
            <a:solidFill>
              <a:srgbClr val="00FF00"/>
            </a:solidFill>
          </p:spPr>
          <p:txBody>
            <a:bodyPr wrap="square" lIns="0" tIns="0" rIns="0" bIns="0" rtlCol="0"/>
            <a:lstStyle/>
            <a:p>
              <a:endParaRPr sz="1588"/>
            </a:p>
          </p:txBody>
        </p:sp>
        <p:sp>
          <p:nvSpPr>
            <p:cNvPr id="168" name="object 168"/>
            <p:cNvSpPr/>
            <p:nvPr/>
          </p:nvSpPr>
          <p:spPr>
            <a:xfrm>
              <a:off x="8090983" y="5814693"/>
              <a:ext cx="91440" cy="685800"/>
            </a:xfrm>
            <a:custGeom>
              <a:avLst/>
              <a:gdLst/>
              <a:ahLst/>
              <a:cxnLst/>
              <a:rect l="l" t="t" r="r" b="b"/>
              <a:pathLst>
                <a:path w="91440" h="685800">
                  <a:moveTo>
                    <a:pt x="0" y="0"/>
                  </a:moveTo>
                  <a:lnTo>
                    <a:pt x="91186" y="0"/>
                  </a:lnTo>
                  <a:lnTo>
                    <a:pt x="91186"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69" name="object 169"/>
            <p:cNvSpPr/>
            <p:nvPr/>
          </p:nvSpPr>
          <p:spPr>
            <a:xfrm>
              <a:off x="9218072" y="5961900"/>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170" name="object 170"/>
            <p:cNvSpPr/>
            <p:nvPr/>
          </p:nvSpPr>
          <p:spPr>
            <a:xfrm>
              <a:off x="9218074" y="5961900"/>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171" name="object 171"/>
          <p:cNvSpPr txBox="1"/>
          <p:nvPr/>
        </p:nvSpPr>
        <p:spPr>
          <a:xfrm>
            <a:off x="8353943" y="530038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72" name="object 172"/>
          <p:cNvGrpSpPr/>
          <p:nvPr/>
        </p:nvGrpSpPr>
        <p:grpSpPr>
          <a:xfrm>
            <a:off x="1957474" y="1647513"/>
            <a:ext cx="6177802" cy="4650441"/>
            <a:chOff x="2066070" y="1867181"/>
            <a:chExt cx="7001509" cy="5270500"/>
          </a:xfrm>
        </p:grpSpPr>
        <p:sp>
          <p:nvSpPr>
            <p:cNvPr id="173" name="object 173"/>
            <p:cNvSpPr/>
            <p:nvPr/>
          </p:nvSpPr>
          <p:spPr>
            <a:xfrm>
              <a:off x="2934522"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4" name="object 174"/>
            <p:cNvSpPr/>
            <p:nvPr/>
          </p:nvSpPr>
          <p:spPr>
            <a:xfrm>
              <a:off x="3787736"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5" name="object 175"/>
            <p:cNvSpPr/>
            <p:nvPr/>
          </p:nvSpPr>
          <p:spPr>
            <a:xfrm>
              <a:off x="4640949"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6" name="object 176"/>
            <p:cNvSpPr/>
            <p:nvPr/>
          </p:nvSpPr>
          <p:spPr>
            <a:xfrm>
              <a:off x="6424940"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7" name="object 177"/>
            <p:cNvSpPr/>
            <p:nvPr/>
          </p:nvSpPr>
          <p:spPr>
            <a:xfrm>
              <a:off x="5494162"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8" name="object 178"/>
            <p:cNvSpPr/>
            <p:nvPr/>
          </p:nvSpPr>
          <p:spPr>
            <a:xfrm>
              <a:off x="7278151"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9" name="object 179"/>
            <p:cNvSpPr/>
            <p:nvPr/>
          </p:nvSpPr>
          <p:spPr>
            <a:xfrm>
              <a:off x="8131366"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80" name="object 180"/>
            <p:cNvSpPr/>
            <p:nvPr/>
          </p:nvSpPr>
          <p:spPr>
            <a:xfrm>
              <a:off x="2081310"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81" name="object 181"/>
            <p:cNvSpPr/>
            <p:nvPr/>
          </p:nvSpPr>
          <p:spPr>
            <a:xfrm>
              <a:off x="9051936" y="1878893"/>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grpSp>
      <p:sp>
        <p:nvSpPr>
          <p:cNvPr id="182" name="object 182"/>
          <p:cNvSpPr txBox="1"/>
          <p:nvPr/>
        </p:nvSpPr>
        <p:spPr>
          <a:xfrm>
            <a:off x="7418720"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8</a:t>
            </a:r>
            <a:endParaRPr sz="1324">
              <a:latin typeface="Times New Roman"/>
              <a:cs typeface="Times New Roman"/>
            </a:endParaRPr>
          </a:p>
        </p:txBody>
      </p:sp>
      <p:sp>
        <p:nvSpPr>
          <p:cNvPr id="186" name="TextBox 185">
            <a:extLst>
              <a:ext uri="{FF2B5EF4-FFF2-40B4-BE49-F238E27FC236}">
                <a16:creationId xmlns:a16="http://schemas.microsoft.com/office/drawing/2014/main" id="{C78B4952-3B72-F45D-6F82-CE6FA92E6F33}"/>
              </a:ext>
            </a:extLst>
          </p:cNvPr>
          <p:cNvSpPr txBox="1"/>
          <p:nvPr/>
        </p:nvSpPr>
        <p:spPr>
          <a:xfrm>
            <a:off x="755452" y="1230069"/>
            <a:ext cx="1374395" cy="350865"/>
          </a:xfrm>
          <a:prstGeom prst="rect">
            <a:avLst/>
          </a:prstGeom>
          <a:noFill/>
        </p:spPr>
        <p:txBody>
          <a:bodyPr wrap="square">
            <a:spAutoFit/>
          </a:bodyPr>
          <a:lstStyle/>
          <a:p>
            <a:r>
              <a:rPr lang="en-US" sz="1680" dirty="0">
                <a:solidFill>
                  <a:srgbClr val="002060"/>
                </a:solidFill>
              </a:rPr>
              <a:t>Figure</a:t>
            </a:r>
            <a:r>
              <a:rPr lang="en-US" sz="1680" spc="-4" dirty="0">
                <a:solidFill>
                  <a:srgbClr val="002060"/>
                </a:solidFill>
              </a:rPr>
              <a:t> </a:t>
            </a:r>
            <a:r>
              <a:rPr lang="en-US" sz="1680" spc="-22" dirty="0">
                <a:solidFill>
                  <a:srgbClr val="002060"/>
                </a:solidFill>
              </a:rPr>
              <a:t>C.4</a:t>
            </a:r>
            <a:endParaRPr lang="en-US" sz="1680" dirty="0">
              <a:solidFill>
                <a:srgbClr val="00206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Slide Number Placeholder 183">
            <a:extLst>
              <a:ext uri="{FF2B5EF4-FFF2-40B4-BE49-F238E27FC236}">
                <a16:creationId xmlns:a16="http://schemas.microsoft.com/office/drawing/2014/main" id="{8D2E2B9F-031F-89C0-11DC-4333DDEBC52F}"/>
              </a:ext>
            </a:extLst>
          </p:cNvPr>
          <p:cNvSpPr>
            <a:spLocks noGrp="1"/>
          </p:cNvSpPr>
          <p:nvPr>
            <p:ph type="sldNum" sz="quarter" idx="7"/>
          </p:nvPr>
        </p:nvSpPr>
        <p:spPr/>
        <p:txBody>
          <a:bodyPr/>
          <a:lstStyle/>
          <a:p>
            <a:fld id="{4FE321F0-2018-4E50-8BB3-A5631EBD98DD}" type="slidenum">
              <a:rPr lang="en-US" smtClean="0"/>
              <a:t>35</a:t>
            </a:fld>
            <a:endParaRPr lang="en-US"/>
          </a:p>
        </p:txBody>
      </p:sp>
      <p:sp>
        <p:nvSpPr>
          <p:cNvPr id="3" name="object 3"/>
          <p:cNvSpPr txBox="1"/>
          <p:nvPr/>
        </p:nvSpPr>
        <p:spPr>
          <a:xfrm>
            <a:off x="1240676" y="2311998"/>
            <a:ext cx="499782" cy="269399"/>
          </a:xfrm>
          <a:prstGeom prst="rect">
            <a:avLst/>
          </a:prstGeom>
        </p:spPr>
        <p:txBody>
          <a:bodyPr vert="horz" wrap="square" lIns="0" tIns="11206" rIns="0" bIns="0" rtlCol="0">
            <a:spAutoFit/>
          </a:bodyPr>
          <a:lstStyle/>
          <a:p>
            <a:pPr marL="11206">
              <a:spcBef>
                <a:spcPts val="88"/>
              </a:spcBef>
            </a:pPr>
            <a:r>
              <a:rPr sz="1677" b="1" spc="-18" dirty="0">
                <a:solidFill>
                  <a:srgbClr val="FF0000"/>
                </a:solidFill>
                <a:latin typeface="Times New Roman"/>
                <a:cs typeface="Times New Roman"/>
              </a:rPr>
              <a:t>Load</a:t>
            </a:r>
            <a:endParaRPr sz="1677">
              <a:latin typeface="Times New Roman"/>
              <a:cs typeface="Times New Roman"/>
            </a:endParaRPr>
          </a:p>
        </p:txBody>
      </p:sp>
      <p:sp>
        <p:nvSpPr>
          <p:cNvPr id="4" name="object 4"/>
          <p:cNvSpPr txBox="1"/>
          <p:nvPr/>
        </p:nvSpPr>
        <p:spPr>
          <a:xfrm>
            <a:off x="1240676" y="3065032"/>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1</a:t>
            </a:r>
            <a:endParaRPr sz="1677">
              <a:latin typeface="Times New Roman"/>
              <a:cs typeface="Times New Roman"/>
            </a:endParaRPr>
          </a:p>
        </p:txBody>
      </p:sp>
      <p:sp>
        <p:nvSpPr>
          <p:cNvPr id="5" name="object 5"/>
          <p:cNvSpPr txBox="1"/>
          <p:nvPr/>
        </p:nvSpPr>
        <p:spPr>
          <a:xfrm>
            <a:off x="1240676" y="3831516"/>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2</a:t>
            </a:r>
            <a:endParaRPr sz="1677">
              <a:latin typeface="Times New Roman"/>
              <a:cs typeface="Times New Roman"/>
            </a:endParaRPr>
          </a:p>
        </p:txBody>
      </p:sp>
      <p:sp>
        <p:nvSpPr>
          <p:cNvPr id="6" name="object 6"/>
          <p:cNvSpPr txBox="1"/>
          <p:nvPr/>
        </p:nvSpPr>
        <p:spPr>
          <a:xfrm>
            <a:off x="1240676" y="4606066"/>
            <a:ext cx="633132" cy="269399"/>
          </a:xfrm>
          <a:prstGeom prst="rect">
            <a:avLst/>
          </a:prstGeom>
        </p:spPr>
        <p:txBody>
          <a:bodyPr vert="horz" wrap="square" lIns="0" tIns="11206" rIns="0" bIns="0" rtlCol="0">
            <a:spAutoFit/>
          </a:bodyPr>
          <a:lstStyle/>
          <a:p>
            <a:pPr marL="11206">
              <a:spcBef>
                <a:spcPts val="88"/>
              </a:spcBef>
            </a:pPr>
            <a:r>
              <a:rPr sz="1677" b="1" dirty="0">
                <a:solidFill>
                  <a:srgbClr val="FF0000"/>
                </a:solidFill>
                <a:latin typeface="Times New Roman"/>
                <a:cs typeface="Times New Roman"/>
              </a:rPr>
              <a:t>Instr</a:t>
            </a:r>
            <a:r>
              <a:rPr sz="1677" b="1" spc="-22" dirty="0">
                <a:solidFill>
                  <a:srgbClr val="FF0000"/>
                </a:solidFill>
                <a:latin typeface="Times New Roman"/>
                <a:cs typeface="Times New Roman"/>
              </a:rPr>
              <a:t> </a:t>
            </a:r>
            <a:r>
              <a:rPr sz="1677" b="1" spc="-44" dirty="0">
                <a:solidFill>
                  <a:srgbClr val="FF0000"/>
                </a:solidFill>
                <a:latin typeface="Times New Roman"/>
                <a:cs typeface="Times New Roman"/>
              </a:rPr>
              <a:t>3</a:t>
            </a:r>
            <a:endParaRPr sz="1677">
              <a:latin typeface="Times New Roman"/>
              <a:cs typeface="Times New Roman"/>
            </a:endParaRPr>
          </a:p>
        </p:txBody>
      </p:sp>
      <p:sp>
        <p:nvSpPr>
          <p:cNvPr id="7" name="object 7"/>
          <p:cNvSpPr txBox="1"/>
          <p:nvPr/>
        </p:nvSpPr>
        <p:spPr>
          <a:xfrm>
            <a:off x="1240676" y="5337586"/>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4</a:t>
            </a:r>
            <a:endParaRPr sz="1677">
              <a:latin typeface="Times New Roman"/>
              <a:cs typeface="Times New Roman"/>
            </a:endParaRPr>
          </a:p>
        </p:txBody>
      </p:sp>
      <p:sp>
        <p:nvSpPr>
          <p:cNvPr id="8" name="object 8"/>
          <p:cNvSpPr txBox="1"/>
          <p:nvPr/>
        </p:nvSpPr>
        <p:spPr>
          <a:xfrm>
            <a:off x="568228" y="2265381"/>
            <a:ext cx="156882" cy="1463444"/>
          </a:xfrm>
          <a:prstGeom prst="rect">
            <a:avLst/>
          </a:prstGeom>
        </p:spPr>
        <p:txBody>
          <a:bodyPr vert="horz" wrap="square" lIns="0" tIns="11206" rIns="0" bIns="0" rtlCol="0">
            <a:spAutoFit/>
          </a:bodyPr>
          <a:lstStyle/>
          <a:p>
            <a:pPr marL="34180">
              <a:spcBef>
                <a:spcPts val="88"/>
              </a:spcBef>
            </a:pPr>
            <a:r>
              <a:rPr sz="1853" b="1" i="1" spc="-44" dirty="0">
                <a:latin typeface="Times New Roman"/>
                <a:cs typeface="Times New Roman"/>
              </a:rPr>
              <a:t>I</a:t>
            </a:r>
            <a:endParaRPr sz="1853">
              <a:latin typeface="Times New Roman"/>
              <a:cs typeface="Times New Roman"/>
            </a:endParaRPr>
          </a:p>
          <a:p>
            <a:pPr marL="34180" marR="4483" indent="-20172">
              <a:lnSpc>
                <a:spcPts val="2285"/>
              </a:lnSpc>
              <a:spcBef>
                <a:spcPts val="22"/>
              </a:spcBef>
            </a:pPr>
            <a:r>
              <a:rPr sz="1853" b="1" i="1" spc="-44" dirty="0">
                <a:latin typeface="Times New Roman"/>
                <a:cs typeface="Times New Roman"/>
              </a:rPr>
              <a:t>n s</a:t>
            </a:r>
            <a:endParaRPr sz="1853">
              <a:latin typeface="Times New Roman"/>
              <a:cs typeface="Times New Roman"/>
            </a:endParaRPr>
          </a:p>
          <a:p>
            <a:pPr marL="11206" marR="11767" indent="36421">
              <a:lnSpc>
                <a:spcPts val="2224"/>
              </a:lnSpc>
              <a:spcBef>
                <a:spcPts val="53"/>
              </a:spcBef>
            </a:pPr>
            <a:r>
              <a:rPr sz="1853" b="1" i="1" spc="-44" dirty="0">
                <a:latin typeface="Times New Roman"/>
                <a:cs typeface="Times New Roman"/>
              </a:rPr>
              <a:t>t </a:t>
            </a:r>
            <a:r>
              <a:rPr sz="1853" b="1" i="1" spc="-115" dirty="0">
                <a:latin typeface="Times New Roman"/>
                <a:cs typeface="Times New Roman"/>
              </a:rPr>
              <a:t>r.</a:t>
            </a:r>
            <a:endParaRPr sz="1853">
              <a:latin typeface="Times New Roman"/>
              <a:cs typeface="Times New Roman"/>
            </a:endParaRPr>
          </a:p>
        </p:txBody>
      </p:sp>
      <p:sp>
        <p:nvSpPr>
          <p:cNvPr id="9" name="object 9"/>
          <p:cNvSpPr txBox="1"/>
          <p:nvPr/>
        </p:nvSpPr>
        <p:spPr>
          <a:xfrm>
            <a:off x="551136" y="3991983"/>
            <a:ext cx="192741" cy="1436064"/>
          </a:xfrm>
          <a:prstGeom prst="rect">
            <a:avLst/>
          </a:prstGeom>
        </p:spPr>
        <p:txBody>
          <a:bodyPr vert="horz" wrap="square" lIns="0" tIns="11206" rIns="0" bIns="0" rtlCol="0">
            <a:spAutoFit/>
          </a:bodyPr>
          <a:lstStyle/>
          <a:p>
            <a:pPr marL="11206">
              <a:lnSpc>
                <a:spcPts val="2215"/>
              </a:lnSpc>
              <a:spcBef>
                <a:spcPts val="88"/>
              </a:spcBef>
            </a:pPr>
            <a:r>
              <a:rPr sz="1853" b="1" i="1" spc="-44" dirty="0">
                <a:latin typeface="Times New Roman"/>
                <a:cs typeface="Times New Roman"/>
              </a:rPr>
              <a:t>O</a:t>
            </a:r>
            <a:endParaRPr sz="1853">
              <a:latin typeface="Times New Roman"/>
              <a:cs typeface="Times New Roman"/>
            </a:endParaRPr>
          </a:p>
          <a:p>
            <a:pPr marL="51549">
              <a:lnSpc>
                <a:spcPts val="2215"/>
              </a:lnSpc>
            </a:pPr>
            <a:r>
              <a:rPr sz="1853" b="1" i="1" spc="-44" dirty="0">
                <a:latin typeface="Times New Roman"/>
                <a:cs typeface="Times New Roman"/>
              </a:rPr>
              <a:t>r</a:t>
            </a:r>
            <a:endParaRPr sz="1853">
              <a:latin typeface="Times New Roman"/>
              <a:cs typeface="Times New Roman"/>
            </a:endParaRPr>
          </a:p>
          <a:p>
            <a:pPr marL="44826" marR="29697" indent="-7284" algn="just">
              <a:lnSpc>
                <a:spcPct val="101000"/>
              </a:lnSpc>
              <a:spcBef>
                <a:spcPts val="62"/>
              </a:spcBef>
            </a:pPr>
            <a:r>
              <a:rPr sz="1853" b="1" i="1" spc="-44" dirty="0">
                <a:latin typeface="Times New Roman"/>
                <a:cs typeface="Times New Roman"/>
              </a:rPr>
              <a:t>d e r</a:t>
            </a:r>
            <a:endParaRPr sz="1853">
              <a:latin typeface="Times New Roman"/>
              <a:cs typeface="Times New Roman"/>
            </a:endParaRPr>
          </a:p>
        </p:txBody>
      </p:sp>
      <p:sp>
        <p:nvSpPr>
          <p:cNvPr id="10" name="object 10"/>
          <p:cNvSpPr/>
          <p:nvPr/>
        </p:nvSpPr>
        <p:spPr>
          <a:xfrm>
            <a:off x="929675" y="2310572"/>
            <a:ext cx="71718" cy="2932579"/>
          </a:xfrm>
          <a:custGeom>
            <a:avLst/>
            <a:gdLst/>
            <a:ahLst/>
            <a:cxnLst/>
            <a:rect l="l" t="t" r="r" b="b"/>
            <a:pathLst>
              <a:path w="81280" h="3323590">
                <a:moveTo>
                  <a:pt x="27093" y="3241714"/>
                </a:moveTo>
                <a:lnTo>
                  <a:pt x="0" y="3241714"/>
                </a:lnTo>
                <a:lnTo>
                  <a:pt x="40639" y="3322994"/>
                </a:lnTo>
                <a:lnTo>
                  <a:pt x="74499" y="3255275"/>
                </a:lnTo>
                <a:lnTo>
                  <a:pt x="27093" y="3255275"/>
                </a:lnTo>
                <a:lnTo>
                  <a:pt x="27093" y="3241714"/>
                </a:lnTo>
                <a:close/>
              </a:path>
              <a:path w="81280" h="3323590">
                <a:moveTo>
                  <a:pt x="54185" y="0"/>
                </a:moveTo>
                <a:lnTo>
                  <a:pt x="27092" y="0"/>
                </a:lnTo>
                <a:lnTo>
                  <a:pt x="27093" y="3255275"/>
                </a:lnTo>
                <a:lnTo>
                  <a:pt x="54186" y="3255275"/>
                </a:lnTo>
                <a:lnTo>
                  <a:pt x="54185" y="0"/>
                </a:lnTo>
                <a:close/>
              </a:path>
              <a:path w="81280" h="3323590">
                <a:moveTo>
                  <a:pt x="81279" y="3241714"/>
                </a:moveTo>
                <a:lnTo>
                  <a:pt x="54186" y="3241714"/>
                </a:lnTo>
                <a:lnTo>
                  <a:pt x="54186" y="3255275"/>
                </a:lnTo>
                <a:lnTo>
                  <a:pt x="74499" y="3255275"/>
                </a:lnTo>
                <a:lnTo>
                  <a:pt x="81279" y="3241714"/>
                </a:lnTo>
                <a:close/>
              </a:path>
            </a:pathLst>
          </a:custGeom>
          <a:solidFill>
            <a:srgbClr val="000000"/>
          </a:solidFill>
        </p:spPr>
        <p:txBody>
          <a:bodyPr wrap="square" lIns="0" tIns="0" rIns="0" bIns="0" rtlCol="0"/>
          <a:lstStyle/>
          <a:p>
            <a:endParaRPr sz="1588"/>
          </a:p>
        </p:txBody>
      </p:sp>
      <p:grpSp>
        <p:nvGrpSpPr>
          <p:cNvPr id="11" name="object 11"/>
          <p:cNvGrpSpPr/>
          <p:nvPr/>
        </p:nvGrpSpPr>
        <p:grpSpPr>
          <a:xfrm>
            <a:off x="1697128" y="1630917"/>
            <a:ext cx="6728572" cy="1032622"/>
            <a:chOff x="1771011" y="1848372"/>
            <a:chExt cx="7625715" cy="1170305"/>
          </a:xfrm>
        </p:grpSpPr>
        <p:sp>
          <p:nvSpPr>
            <p:cNvPr id="12" name="object 12"/>
            <p:cNvSpPr/>
            <p:nvPr/>
          </p:nvSpPr>
          <p:spPr>
            <a:xfrm>
              <a:off x="1771011" y="1848372"/>
              <a:ext cx="7625715" cy="81280"/>
            </a:xfrm>
            <a:custGeom>
              <a:avLst/>
              <a:gdLst/>
              <a:ahLst/>
              <a:cxnLst/>
              <a:rect l="l" t="t" r="r" b="b"/>
              <a:pathLst>
                <a:path w="7625715" h="81280">
                  <a:moveTo>
                    <a:pt x="7544468" y="0"/>
                  </a:moveTo>
                  <a:lnTo>
                    <a:pt x="7544349" y="40874"/>
                  </a:lnTo>
                  <a:lnTo>
                    <a:pt x="7544233" y="81278"/>
                  </a:lnTo>
                  <a:lnTo>
                    <a:pt x="7598734" y="54225"/>
                  </a:lnTo>
                  <a:lnTo>
                    <a:pt x="7557843" y="54225"/>
                  </a:lnTo>
                  <a:lnTo>
                    <a:pt x="7557921" y="27132"/>
                  </a:lnTo>
                  <a:lnTo>
                    <a:pt x="7598342" y="27132"/>
                  </a:lnTo>
                  <a:lnTo>
                    <a:pt x="7544468" y="0"/>
                  </a:lnTo>
                  <a:close/>
                </a:path>
                <a:path w="7625715" h="81280">
                  <a:moveTo>
                    <a:pt x="78" y="5265"/>
                  </a:moveTo>
                  <a:lnTo>
                    <a:pt x="0" y="32358"/>
                  </a:lnTo>
                  <a:lnTo>
                    <a:pt x="7557843" y="54225"/>
                  </a:lnTo>
                  <a:lnTo>
                    <a:pt x="7544311" y="54225"/>
                  </a:lnTo>
                  <a:lnTo>
                    <a:pt x="7544389" y="27132"/>
                  </a:lnTo>
                  <a:lnTo>
                    <a:pt x="7557921" y="27132"/>
                  </a:lnTo>
                  <a:lnTo>
                    <a:pt x="78" y="5265"/>
                  </a:lnTo>
                  <a:close/>
                </a:path>
                <a:path w="7625715" h="81280">
                  <a:moveTo>
                    <a:pt x="7598342" y="27132"/>
                  </a:moveTo>
                  <a:lnTo>
                    <a:pt x="7557921" y="27132"/>
                  </a:lnTo>
                  <a:lnTo>
                    <a:pt x="7557843" y="54225"/>
                  </a:lnTo>
                  <a:lnTo>
                    <a:pt x="7598734" y="54225"/>
                  </a:lnTo>
                  <a:lnTo>
                    <a:pt x="7625629" y="40874"/>
                  </a:lnTo>
                  <a:lnTo>
                    <a:pt x="7598342" y="27132"/>
                  </a:lnTo>
                  <a:close/>
                </a:path>
              </a:pathLst>
            </a:custGeom>
            <a:solidFill>
              <a:srgbClr val="000000"/>
            </a:solidFill>
          </p:spPr>
          <p:txBody>
            <a:bodyPr wrap="square" lIns="0" tIns="0" rIns="0" bIns="0" rtlCol="0"/>
            <a:lstStyle/>
            <a:p>
              <a:endParaRPr sz="1588"/>
            </a:p>
          </p:txBody>
        </p:sp>
        <p:sp>
          <p:nvSpPr>
            <p:cNvPr id="13" name="object 13"/>
            <p:cNvSpPr/>
            <p:nvPr/>
          </p:nvSpPr>
          <p:spPr>
            <a:xfrm>
              <a:off x="3414873" y="2636240"/>
              <a:ext cx="228600" cy="363220"/>
            </a:xfrm>
            <a:custGeom>
              <a:avLst/>
              <a:gdLst/>
              <a:ahLst/>
              <a:cxnLst/>
              <a:rect l="l" t="t" r="r" b="b"/>
              <a:pathLst>
                <a:path w="228600" h="363219">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14" name="object 14"/>
            <p:cNvSpPr/>
            <p:nvPr/>
          </p:nvSpPr>
          <p:spPr>
            <a:xfrm>
              <a:off x="3186296" y="2636240"/>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5" name="object 15"/>
          <p:cNvSpPr txBox="1"/>
          <p:nvPr/>
        </p:nvSpPr>
        <p:spPr>
          <a:xfrm>
            <a:off x="3028251" y="2366234"/>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6" name="object 16"/>
          <p:cNvGrpSpPr/>
          <p:nvPr/>
        </p:nvGrpSpPr>
        <p:grpSpPr>
          <a:xfrm>
            <a:off x="3337657" y="2216363"/>
            <a:ext cx="755837" cy="542925"/>
            <a:chOff x="3630278" y="2511878"/>
            <a:chExt cx="856615" cy="615315"/>
          </a:xfrm>
        </p:grpSpPr>
        <p:sp>
          <p:nvSpPr>
            <p:cNvPr id="17" name="object 17"/>
            <p:cNvSpPr/>
            <p:nvPr/>
          </p:nvSpPr>
          <p:spPr>
            <a:xfrm>
              <a:off x="3645518" y="2710308"/>
              <a:ext cx="504825" cy="219075"/>
            </a:xfrm>
            <a:custGeom>
              <a:avLst/>
              <a:gdLst/>
              <a:ahLst/>
              <a:cxnLst/>
              <a:rect l="l" t="t" r="r" b="b"/>
              <a:pathLst>
                <a:path w="504825" h="219075">
                  <a:moveTo>
                    <a:pt x="0" y="0"/>
                  </a:moveTo>
                  <a:lnTo>
                    <a:pt x="99009" y="0"/>
                  </a:lnTo>
                </a:path>
                <a:path w="504825" h="219075">
                  <a:moveTo>
                    <a:pt x="191446" y="0"/>
                  </a:moveTo>
                  <a:lnTo>
                    <a:pt x="504730" y="0"/>
                  </a:lnTo>
                </a:path>
                <a:path w="504825" h="219075">
                  <a:moveTo>
                    <a:pt x="0" y="219055"/>
                  </a:moveTo>
                  <a:lnTo>
                    <a:pt x="99009" y="219055"/>
                  </a:lnTo>
                </a:path>
                <a:path w="504825" h="219075">
                  <a:moveTo>
                    <a:pt x="191446" y="219055"/>
                  </a:moveTo>
                  <a:lnTo>
                    <a:pt x="504730" y="219055"/>
                  </a:lnTo>
                </a:path>
              </a:pathLst>
            </a:custGeom>
            <a:ln w="30481">
              <a:solidFill>
                <a:srgbClr val="000000"/>
              </a:solidFill>
            </a:ln>
          </p:spPr>
          <p:txBody>
            <a:bodyPr wrap="square" lIns="0" tIns="0" rIns="0" bIns="0" rtlCol="0"/>
            <a:lstStyle/>
            <a:p>
              <a:endParaRPr sz="1588"/>
            </a:p>
          </p:txBody>
        </p:sp>
        <p:sp>
          <p:nvSpPr>
            <p:cNvPr id="18" name="object 18"/>
            <p:cNvSpPr/>
            <p:nvPr/>
          </p:nvSpPr>
          <p:spPr>
            <a:xfrm>
              <a:off x="4085032" y="2527118"/>
              <a:ext cx="386715" cy="584835"/>
            </a:xfrm>
            <a:custGeom>
              <a:avLst/>
              <a:gdLst/>
              <a:ahLst/>
              <a:cxnLst/>
              <a:rect l="l" t="t" r="r" b="b"/>
              <a:pathLst>
                <a:path w="386714" h="584835">
                  <a:moveTo>
                    <a:pt x="0" y="0"/>
                  </a:moveTo>
                  <a:lnTo>
                    <a:pt x="0" y="584672"/>
                  </a:lnTo>
                  <a:lnTo>
                    <a:pt x="386417" y="438504"/>
                  </a:lnTo>
                  <a:lnTo>
                    <a:pt x="386417" y="146168"/>
                  </a:lnTo>
                  <a:lnTo>
                    <a:pt x="0" y="0"/>
                  </a:lnTo>
                  <a:close/>
                </a:path>
              </a:pathLst>
            </a:custGeom>
            <a:solidFill>
              <a:srgbClr val="FFFFFF"/>
            </a:solidFill>
          </p:spPr>
          <p:txBody>
            <a:bodyPr wrap="square" lIns="0" tIns="0" rIns="0" bIns="0" rtlCol="0"/>
            <a:lstStyle/>
            <a:p>
              <a:endParaRPr sz="1588"/>
            </a:p>
          </p:txBody>
        </p:sp>
        <p:sp>
          <p:nvSpPr>
            <p:cNvPr id="19" name="object 19"/>
            <p:cNvSpPr/>
            <p:nvPr/>
          </p:nvSpPr>
          <p:spPr>
            <a:xfrm>
              <a:off x="4085032" y="2527118"/>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20" name="object 20"/>
            <p:cNvSpPr/>
            <p:nvPr/>
          </p:nvSpPr>
          <p:spPr>
            <a:xfrm>
              <a:off x="4059232" y="2725436"/>
              <a:ext cx="207010" cy="189230"/>
            </a:xfrm>
            <a:custGeom>
              <a:avLst/>
              <a:gdLst/>
              <a:ahLst/>
              <a:cxnLst/>
              <a:rect l="l" t="t" r="r" b="b"/>
              <a:pathLst>
                <a:path w="207010" h="189230">
                  <a:moveTo>
                    <a:pt x="0" y="0"/>
                  </a:moveTo>
                  <a:lnTo>
                    <a:pt x="0" y="188799"/>
                  </a:lnTo>
                  <a:lnTo>
                    <a:pt x="206395" y="94399"/>
                  </a:lnTo>
                  <a:lnTo>
                    <a:pt x="0" y="0"/>
                  </a:lnTo>
                  <a:close/>
                </a:path>
              </a:pathLst>
            </a:custGeom>
            <a:solidFill>
              <a:srgbClr val="FFFFFF"/>
            </a:solidFill>
          </p:spPr>
          <p:txBody>
            <a:bodyPr wrap="square" lIns="0" tIns="0" rIns="0" bIns="0" rtlCol="0"/>
            <a:lstStyle/>
            <a:p>
              <a:endParaRPr sz="1588"/>
            </a:p>
          </p:txBody>
        </p:sp>
        <p:sp>
          <p:nvSpPr>
            <p:cNvPr id="21" name="object 21"/>
            <p:cNvSpPr/>
            <p:nvPr/>
          </p:nvSpPr>
          <p:spPr>
            <a:xfrm>
              <a:off x="4085031" y="2736474"/>
              <a:ext cx="159385" cy="166370"/>
            </a:xfrm>
            <a:custGeom>
              <a:avLst/>
              <a:gdLst/>
              <a:ahLst/>
              <a:cxnLst/>
              <a:rect l="l" t="t" r="r" b="b"/>
              <a:pathLst>
                <a:path w="159385" h="166369">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22" name="object 22"/>
          <p:cNvSpPr txBox="1"/>
          <p:nvPr/>
        </p:nvSpPr>
        <p:spPr>
          <a:xfrm>
            <a:off x="3868940" y="2327433"/>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23" name="object 23"/>
          <p:cNvGrpSpPr/>
          <p:nvPr/>
        </p:nvGrpSpPr>
        <p:grpSpPr>
          <a:xfrm>
            <a:off x="4069564" y="2314037"/>
            <a:ext cx="1116666" cy="349624"/>
            <a:chOff x="4459772" y="2622575"/>
            <a:chExt cx="1265555" cy="396240"/>
          </a:xfrm>
        </p:grpSpPr>
        <p:sp>
          <p:nvSpPr>
            <p:cNvPr id="24" name="object 24"/>
            <p:cNvSpPr/>
            <p:nvPr/>
          </p:nvSpPr>
          <p:spPr>
            <a:xfrm>
              <a:off x="4475012" y="2820624"/>
              <a:ext cx="1235075" cy="0"/>
            </a:xfrm>
            <a:custGeom>
              <a:avLst/>
              <a:gdLst/>
              <a:ahLst/>
              <a:cxnLst/>
              <a:rect l="l" t="t" r="r" b="b"/>
              <a:pathLst>
                <a:path w="1235075">
                  <a:moveTo>
                    <a:pt x="214416" y="0"/>
                  </a:moveTo>
                  <a:lnTo>
                    <a:pt x="372009" y="0"/>
                  </a:lnTo>
                </a:path>
                <a:path w="1235075">
                  <a:moveTo>
                    <a:pt x="0" y="0"/>
                  </a:moveTo>
                  <a:lnTo>
                    <a:pt x="123264" y="0"/>
                  </a:lnTo>
                </a:path>
                <a:path w="1235075">
                  <a:moveTo>
                    <a:pt x="875004" y="0"/>
                  </a:moveTo>
                  <a:lnTo>
                    <a:pt x="977013" y="0"/>
                  </a:lnTo>
                </a:path>
                <a:path w="1235075">
                  <a:moveTo>
                    <a:pt x="1069450" y="0"/>
                  </a:moveTo>
                  <a:lnTo>
                    <a:pt x="1234935" y="0"/>
                  </a:lnTo>
                </a:path>
              </a:pathLst>
            </a:custGeom>
            <a:ln w="30481">
              <a:solidFill>
                <a:srgbClr val="000000"/>
              </a:solidFill>
            </a:ln>
          </p:spPr>
          <p:txBody>
            <a:bodyPr wrap="square" lIns="0" tIns="0" rIns="0" bIns="0" rtlCol="0"/>
            <a:lstStyle/>
            <a:p>
              <a:endParaRPr sz="1588"/>
            </a:p>
          </p:txBody>
        </p:sp>
        <p:sp>
          <p:nvSpPr>
            <p:cNvPr id="25" name="object 25"/>
            <p:cNvSpPr/>
            <p:nvPr/>
          </p:nvSpPr>
          <p:spPr>
            <a:xfrm>
              <a:off x="4847022" y="2637815"/>
              <a:ext cx="458470" cy="365760"/>
            </a:xfrm>
            <a:custGeom>
              <a:avLst/>
              <a:gdLst/>
              <a:ahLst/>
              <a:cxnLst/>
              <a:rect l="l" t="t" r="r" b="b"/>
              <a:pathLst>
                <a:path w="458470" h="365760">
                  <a:moveTo>
                    <a:pt x="458137" y="0"/>
                  </a:moveTo>
                  <a:lnTo>
                    <a:pt x="0" y="0"/>
                  </a:lnTo>
                  <a:lnTo>
                    <a:pt x="0" y="365617"/>
                  </a:lnTo>
                  <a:lnTo>
                    <a:pt x="458137" y="365617"/>
                  </a:lnTo>
                  <a:lnTo>
                    <a:pt x="458137" y="0"/>
                  </a:lnTo>
                  <a:close/>
                </a:path>
              </a:pathLst>
            </a:custGeom>
            <a:solidFill>
              <a:srgbClr val="FF0000"/>
            </a:solidFill>
          </p:spPr>
          <p:txBody>
            <a:bodyPr wrap="square" lIns="0" tIns="0" rIns="0" bIns="0" rtlCol="0"/>
            <a:lstStyle/>
            <a:p>
              <a:endParaRPr sz="1588"/>
            </a:p>
          </p:txBody>
        </p:sp>
        <p:sp>
          <p:nvSpPr>
            <p:cNvPr id="26" name="object 26"/>
            <p:cNvSpPr/>
            <p:nvPr/>
          </p:nvSpPr>
          <p:spPr>
            <a:xfrm>
              <a:off x="4847022" y="2637815"/>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27" name="object 27"/>
          <p:cNvSpPr txBox="1"/>
          <p:nvPr/>
        </p:nvSpPr>
        <p:spPr>
          <a:xfrm>
            <a:off x="4416096" y="2366234"/>
            <a:ext cx="389964" cy="174309"/>
          </a:xfrm>
          <a:prstGeom prst="rect">
            <a:avLst/>
          </a:prstGeom>
        </p:spPr>
        <p:txBody>
          <a:bodyPr vert="horz" wrap="square" lIns="0" tIns="11206" rIns="0" bIns="0" rtlCol="0">
            <a:spAutoFit/>
          </a:bodyPr>
          <a:lstStyle/>
          <a:p>
            <a:pPr>
              <a:spcBef>
                <a:spcPts val="88"/>
              </a:spcBef>
            </a:pPr>
            <a:r>
              <a:rPr sz="1059" b="1" spc="-31" dirty="0">
                <a:latin typeface="Times New Roman"/>
                <a:cs typeface="Times New Roman"/>
              </a:rPr>
              <a:t>DMem</a:t>
            </a:r>
            <a:endParaRPr sz="1059">
              <a:latin typeface="Times New Roman"/>
              <a:cs typeface="Times New Roman"/>
            </a:endParaRPr>
          </a:p>
        </p:txBody>
      </p:sp>
      <p:grpSp>
        <p:nvGrpSpPr>
          <p:cNvPr id="28" name="object 28"/>
          <p:cNvGrpSpPr/>
          <p:nvPr/>
        </p:nvGrpSpPr>
        <p:grpSpPr>
          <a:xfrm>
            <a:off x="2548678" y="2378001"/>
            <a:ext cx="2438960" cy="381559"/>
            <a:chOff x="2736101" y="2695068"/>
            <a:chExt cx="2764155" cy="432434"/>
          </a:xfrm>
        </p:grpSpPr>
        <p:sp>
          <p:nvSpPr>
            <p:cNvPr id="29" name="object 29"/>
            <p:cNvSpPr/>
            <p:nvPr/>
          </p:nvSpPr>
          <p:spPr>
            <a:xfrm>
              <a:off x="4797709" y="2820624"/>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30" name="object 30"/>
            <p:cNvSpPr/>
            <p:nvPr/>
          </p:nvSpPr>
          <p:spPr>
            <a:xfrm>
              <a:off x="2751341" y="2710308"/>
              <a:ext cx="434975" cy="220979"/>
            </a:xfrm>
            <a:custGeom>
              <a:avLst/>
              <a:gdLst/>
              <a:ahLst/>
              <a:cxnLst/>
              <a:rect l="l" t="t" r="r" b="b"/>
              <a:pathLst>
                <a:path w="434975" h="220980">
                  <a:moveTo>
                    <a:pt x="235723" y="220632"/>
                  </a:moveTo>
                  <a:lnTo>
                    <a:pt x="434955" y="220632"/>
                  </a:lnTo>
                </a:path>
                <a:path w="434975" h="220980">
                  <a:moveTo>
                    <a:pt x="0" y="220632"/>
                  </a:moveTo>
                  <a:lnTo>
                    <a:pt x="143287" y="220632"/>
                  </a:lnTo>
                </a:path>
                <a:path w="434975" h="220980">
                  <a:moveTo>
                    <a:pt x="235723" y="0"/>
                  </a:moveTo>
                  <a:lnTo>
                    <a:pt x="432886" y="0"/>
                  </a:lnTo>
                </a:path>
                <a:path w="434975" h="220980">
                  <a:moveTo>
                    <a:pt x="0" y="0"/>
                  </a:moveTo>
                  <a:lnTo>
                    <a:pt x="143287" y="0"/>
                  </a:lnTo>
                </a:path>
              </a:pathLst>
            </a:custGeom>
            <a:ln w="30481">
              <a:solidFill>
                <a:srgbClr val="000000"/>
              </a:solidFill>
            </a:ln>
          </p:spPr>
          <p:txBody>
            <a:bodyPr wrap="square" lIns="0" tIns="0" rIns="0" bIns="0" rtlCol="0"/>
            <a:lstStyle/>
            <a:p>
              <a:endParaRPr sz="1588"/>
            </a:p>
          </p:txBody>
        </p:sp>
      </p:grpSp>
      <p:sp>
        <p:nvSpPr>
          <p:cNvPr id="31" name="object 31"/>
          <p:cNvSpPr txBox="1"/>
          <p:nvPr/>
        </p:nvSpPr>
        <p:spPr>
          <a:xfrm>
            <a:off x="2156086" y="2327484"/>
            <a:ext cx="406213" cy="213346"/>
          </a:xfrm>
          <a:prstGeom prst="rect">
            <a:avLst/>
          </a:prstGeom>
          <a:ln w="30479">
            <a:solidFill>
              <a:srgbClr val="000000"/>
            </a:solidFill>
          </a:ln>
        </p:spPr>
        <p:txBody>
          <a:bodyPr vert="horz" wrap="square" lIns="0" tIns="49866" rIns="0" bIns="0" rtlCol="0">
            <a:spAutoFit/>
          </a:bodyPr>
          <a:lstStyle/>
          <a:p>
            <a:pPr marL="39223">
              <a:spcBef>
                <a:spcPts val="393"/>
              </a:spcBef>
            </a:pPr>
            <a:r>
              <a:rPr sz="1059" b="1" spc="-9" dirty="0">
                <a:latin typeface="Times New Roman"/>
                <a:cs typeface="Times New Roman"/>
              </a:rPr>
              <a:t>Ifetch</a:t>
            </a:r>
            <a:endParaRPr sz="1059">
              <a:latin typeface="Times New Roman"/>
              <a:cs typeface="Times New Roman"/>
            </a:endParaRPr>
          </a:p>
        </p:txBody>
      </p:sp>
      <p:grpSp>
        <p:nvGrpSpPr>
          <p:cNvPr id="32" name="object 32"/>
          <p:cNvGrpSpPr/>
          <p:nvPr/>
        </p:nvGrpSpPr>
        <p:grpSpPr>
          <a:xfrm>
            <a:off x="2675108" y="2168033"/>
            <a:ext cx="2918572" cy="640416"/>
            <a:chOff x="2879389" y="2457103"/>
            <a:chExt cx="3307715" cy="725805"/>
          </a:xfrm>
        </p:grpSpPr>
        <p:sp>
          <p:nvSpPr>
            <p:cNvPr id="33" name="object 33"/>
            <p:cNvSpPr/>
            <p:nvPr/>
          </p:nvSpPr>
          <p:spPr>
            <a:xfrm>
              <a:off x="3744527" y="2472343"/>
              <a:ext cx="92710" cy="695325"/>
            </a:xfrm>
            <a:custGeom>
              <a:avLst/>
              <a:gdLst/>
              <a:ahLst/>
              <a:cxnLst/>
              <a:rect l="l" t="t" r="r" b="b"/>
              <a:pathLst>
                <a:path w="92710" h="695325">
                  <a:moveTo>
                    <a:pt x="92436" y="0"/>
                  </a:moveTo>
                  <a:lnTo>
                    <a:pt x="0" y="0"/>
                  </a:lnTo>
                  <a:lnTo>
                    <a:pt x="0" y="694987"/>
                  </a:lnTo>
                  <a:lnTo>
                    <a:pt x="92436" y="694987"/>
                  </a:lnTo>
                  <a:lnTo>
                    <a:pt x="92436" y="0"/>
                  </a:lnTo>
                  <a:close/>
                </a:path>
              </a:pathLst>
            </a:custGeom>
            <a:solidFill>
              <a:srgbClr val="00FF00"/>
            </a:solidFill>
          </p:spPr>
          <p:txBody>
            <a:bodyPr wrap="square" lIns="0" tIns="0" rIns="0" bIns="0" rtlCol="0"/>
            <a:lstStyle/>
            <a:p>
              <a:endParaRPr sz="1588"/>
            </a:p>
          </p:txBody>
        </p:sp>
        <p:sp>
          <p:nvSpPr>
            <p:cNvPr id="34" name="object 34"/>
            <p:cNvSpPr/>
            <p:nvPr/>
          </p:nvSpPr>
          <p:spPr>
            <a:xfrm>
              <a:off x="3744527"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5" name="object 35"/>
            <p:cNvSpPr/>
            <p:nvPr/>
          </p:nvSpPr>
          <p:spPr>
            <a:xfrm>
              <a:off x="5452026" y="2472343"/>
              <a:ext cx="92710" cy="695325"/>
            </a:xfrm>
            <a:custGeom>
              <a:avLst/>
              <a:gdLst/>
              <a:ahLst/>
              <a:cxnLst/>
              <a:rect l="l" t="t" r="r" b="b"/>
              <a:pathLst>
                <a:path w="92710" h="695325">
                  <a:moveTo>
                    <a:pt x="92436" y="0"/>
                  </a:moveTo>
                  <a:lnTo>
                    <a:pt x="0" y="0"/>
                  </a:lnTo>
                  <a:lnTo>
                    <a:pt x="0" y="694987"/>
                  </a:lnTo>
                  <a:lnTo>
                    <a:pt x="92436" y="694987"/>
                  </a:lnTo>
                  <a:lnTo>
                    <a:pt x="92436" y="0"/>
                  </a:lnTo>
                  <a:close/>
                </a:path>
              </a:pathLst>
            </a:custGeom>
            <a:solidFill>
              <a:srgbClr val="00FF00"/>
            </a:solidFill>
          </p:spPr>
          <p:txBody>
            <a:bodyPr wrap="square" lIns="0" tIns="0" rIns="0" bIns="0" rtlCol="0"/>
            <a:lstStyle/>
            <a:p>
              <a:endParaRPr sz="1588"/>
            </a:p>
          </p:txBody>
        </p:sp>
        <p:sp>
          <p:nvSpPr>
            <p:cNvPr id="36" name="object 36"/>
            <p:cNvSpPr/>
            <p:nvPr/>
          </p:nvSpPr>
          <p:spPr>
            <a:xfrm>
              <a:off x="5452026"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7" name="object 37"/>
            <p:cNvSpPr/>
            <p:nvPr/>
          </p:nvSpPr>
          <p:spPr>
            <a:xfrm>
              <a:off x="2894629" y="2472343"/>
              <a:ext cx="92710" cy="695325"/>
            </a:xfrm>
            <a:custGeom>
              <a:avLst/>
              <a:gdLst/>
              <a:ahLst/>
              <a:cxnLst/>
              <a:rect l="l" t="t" r="r" b="b"/>
              <a:pathLst>
                <a:path w="92710" h="695325">
                  <a:moveTo>
                    <a:pt x="92435" y="0"/>
                  </a:moveTo>
                  <a:lnTo>
                    <a:pt x="0" y="0"/>
                  </a:lnTo>
                  <a:lnTo>
                    <a:pt x="0" y="694987"/>
                  </a:lnTo>
                  <a:lnTo>
                    <a:pt x="92435" y="694987"/>
                  </a:lnTo>
                  <a:lnTo>
                    <a:pt x="92435" y="0"/>
                  </a:lnTo>
                  <a:close/>
                </a:path>
              </a:pathLst>
            </a:custGeom>
            <a:solidFill>
              <a:srgbClr val="00FF00"/>
            </a:solidFill>
          </p:spPr>
          <p:txBody>
            <a:bodyPr wrap="square" lIns="0" tIns="0" rIns="0" bIns="0" rtlCol="0"/>
            <a:lstStyle/>
            <a:p>
              <a:endParaRPr sz="1588"/>
            </a:p>
          </p:txBody>
        </p:sp>
        <p:sp>
          <p:nvSpPr>
            <p:cNvPr id="38" name="object 38"/>
            <p:cNvSpPr/>
            <p:nvPr/>
          </p:nvSpPr>
          <p:spPr>
            <a:xfrm>
              <a:off x="2894629"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9" name="object 39"/>
            <p:cNvSpPr/>
            <p:nvPr/>
          </p:nvSpPr>
          <p:spPr>
            <a:xfrm>
              <a:off x="4598277" y="2476425"/>
              <a:ext cx="91440" cy="685800"/>
            </a:xfrm>
            <a:custGeom>
              <a:avLst/>
              <a:gdLst/>
              <a:ahLst/>
              <a:cxnLst/>
              <a:rect l="l" t="t" r="r" b="b"/>
              <a:pathLst>
                <a:path w="91439" h="685800">
                  <a:moveTo>
                    <a:pt x="91151" y="0"/>
                  </a:moveTo>
                  <a:lnTo>
                    <a:pt x="0" y="0"/>
                  </a:lnTo>
                  <a:lnTo>
                    <a:pt x="0" y="685802"/>
                  </a:lnTo>
                  <a:lnTo>
                    <a:pt x="91151" y="685802"/>
                  </a:lnTo>
                  <a:lnTo>
                    <a:pt x="91151" y="0"/>
                  </a:lnTo>
                  <a:close/>
                </a:path>
              </a:pathLst>
            </a:custGeom>
            <a:solidFill>
              <a:srgbClr val="00FF00"/>
            </a:solidFill>
          </p:spPr>
          <p:txBody>
            <a:bodyPr wrap="square" lIns="0" tIns="0" rIns="0" bIns="0" rtlCol="0"/>
            <a:lstStyle/>
            <a:p>
              <a:endParaRPr sz="1588"/>
            </a:p>
          </p:txBody>
        </p:sp>
        <p:sp>
          <p:nvSpPr>
            <p:cNvPr id="40" name="object 40"/>
            <p:cNvSpPr/>
            <p:nvPr/>
          </p:nvSpPr>
          <p:spPr>
            <a:xfrm>
              <a:off x="4598277" y="2476425"/>
              <a:ext cx="91440" cy="685800"/>
            </a:xfrm>
            <a:custGeom>
              <a:avLst/>
              <a:gdLst/>
              <a:ahLst/>
              <a:cxnLst/>
              <a:rect l="l" t="t" r="r" b="b"/>
              <a:pathLst>
                <a:path w="91439" h="685800">
                  <a:moveTo>
                    <a:pt x="0" y="0"/>
                  </a:moveTo>
                  <a:lnTo>
                    <a:pt x="91151" y="0"/>
                  </a:lnTo>
                  <a:lnTo>
                    <a:pt x="91151"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41" name="object 41"/>
            <p:cNvSpPr/>
            <p:nvPr/>
          </p:nvSpPr>
          <p:spPr>
            <a:xfrm>
              <a:off x="5709947" y="2623632"/>
              <a:ext cx="231140" cy="363220"/>
            </a:xfrm>
            <a:custGeom>
              <a:avLst/>
              <a:gdLst/>
              <a:ahLst/>
              <a:cxnLst/>
              <a:rect l="l" t="t" r="r" b="b"/>
              <a:pathLst>
                <a:path w="231139" h="363219">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42" name="object 42"/>
            <p:cNvSpPr/>
            <p:nvPr/>
          </p:nvSpPr>
          <p:spPr>
            <a:xfrm>
              <a:off x="5709947" y="2623632"/>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43" name="object 43"/>
          <p:cNvSpPr txBox="1"/>
          <p:nvPr/>
        </p:nvSpPr>
        <p:spPr>
          <a:xfrm>
            <a:off x="5258538" y="2355477"/>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44" name="object 44"/>
          <p:cNvGrpSpPr/>
          <p:nvPr/>
        </p:nvGrpSpPr>
        <p:grpSpPr>
          <a:xfrm>
            <a:off x="3699554" y="3058146"/>
            <a:ext cx="430306" cy="351304"/>
            <a:chOff x="4040428" y="3465898"/>
            <a:chExt cx="487680" cy="398145"/>
          </a:xfrm>
        </p:grpSpPr>
        <p:sp>
          <p:nvSpPr>
            <p:cNvPr id="45" name="object 45"/>
            <p:cNvSpPr/>
            <p:nvPr/>
          </p:nvSpPr>
          <p:spPr>
            <a:xfrm>
              <a:off x="4284244" y="3481138"/>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46" name="object 46"/>
            <p:cNvSpPr/>
            <p:nvPr/>
          </p:nvSpPr>
          <p:spPr>
            <a:xfrm>
              <a:off x="4055668" y="3481138"/>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47" name="object 47"/>
          <p:cNvSpPr txBox="1"/>
          <p:nvPr/>
        </p:nvSpPr>
        <p:spPr>
          <a:xfrm>
            <a:off x="3795343" y="3111201"/>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48" name="object 48"/>
          <p:cNvGrpSpPr/>
          <p:nvPr/>
        </p:nvGrpSpPr>
        <p:grpSpPr>
          <a:xfrm>
            <a:off x="4104750" y="2961862"/>
            <a:ext cx="755837" cy="542925"/>
            <a:chOff x="4499650" y="3356776"/>
            <a:chExt cx="856615" cy="615315"/>
          </a:xfrm>
        </p:grpSpPr>
        <p:sp>
          <p:nvSpPr>
            <p:cNvPr id="49" name="object 49"/>
            <p:cNvSpPr/>
            <p:nvPr/>
          </p:nvSpPr>
          <p:spPr>
            <a:xfrm>
              <a:off x="4514890" y="3555208"/>
              <a:ext cx="504825" cy="219075"/>
            </a:xfrm>
            <a:custGeom>
              <a:avLst/>
              <a:gdLst/>
              <a:ahLst/>
              <a:cxnLst/>
              <a:rect l="l" t="t" r="r" b="b"/>
              <a:pathLst>
                <a:path w="504825" h="219075">
                  <a:moveTo>
                    <a:pt x="0" y="0"/>
                  </a:moveTo>
                  <a:lnTo>
                    <a:pt x="83944" y="0"/>
                  </a:lnTo>
                </a:path>
                <a:path w="504825" h="219075">
                  <a:moveTo>
                    <a:pt x="176512" y="0"/>
                  </a:moveTo>
                  <a:lnTo>
                    <a:pt x="504730" y="0"/>
                  </a:lnTo>
                </a:path>
                <a:path w="504825" h="219075">
                  <a:moveTo>
                    <a:pt x="176512" y="219055"/>
                  </a:moveTo>
                  <a:lnTo>
                    <a:pt x="504730" y="219055"/>
                  </a:lnTo>
                </a:path>
                <a:path w="504825" h="219075">
                  <a:moveTo>
                    <a:pt x="0" y="219055"/>
                  </a:moveTo>
                  <a:lnTo>
                    <a:pt x="83944" y="219055"/>
                  </a:lnTo>
                </a:path>
              </a:pathLst>
            </a:custGeom>
            <a:ln w="30481">
              <a:solidFill>
                <a:srgbClr val="000000"/>
              </a:solidFill>
            </a:ln>
          </p:spPr>
          <p:txBody>
            <a:bodyPr wrap="square" lIns="0" tIns="0" rIns="0" bIns="0" rtlCol="0"/>
            <a:lstStyle/>
            <a:p>
              <a:endParaRPr sz="1588"/>
            </a:p>
          </p:txBody>
        </p:sp>
        <p:sp>
          <p:nvSpPr>
            <p:cNvPr id="50" name="object 50"/>
            <p:cNvSpPr/>
            <p:nvPr/>
          </p:nvSpPr>
          <p:spPr>
            <a:xfrm>
              <a:off x="4954403" y="3372017"/>
              <a:ext cx="386715" cy="584835"/>
            </a:xfrm>
            <a:custGeom>
              <a:avLst/>
              <a:gdLst/>
              <a:ahLst/>
              <a:cxnLst/>
              <a:rect l="l" t="t" r="r" b="b"/>
              <a:pathLst>
                <a:path w="386714" h="584835">
                  <a:moveTo>
                    <a:pt x="0" y="0"/>
                  </a:moveTo>
                  <a:lnTo>
                    <a:pt x="0" y="584671"/>
                  </a:lnTo>
                  <a:lnTo>
                    <a:pt x="386419" y="438503"/>
                  </a:lnTo>
                  <a:lnTo>
                    <a:pt x="386419" y="146166"/>
                  </a:lnTo>
                  <a:lnTo>
                    <a:pt x="0" y="0"/>
                  </a:lnTo>
                  <a:close/>
                </a:path>
              </a:pathLst>
            </a:custGeom>
            <a:solidFill>
              <a:srgbClr val="FFFFFF"/>
            </a:solidFill>
          </p:spPr>
          <p:txBody>
            <a:bodyPr wrap="square" lIns="0" tIns="0" rIns="0" bIns="0" rtlCol="0"/>
            <a:lstStyle/>
            <a:p>
              <a:endParaRPr sz="1588"/>
            </a:p>
          </p:txBody>
        </p:sp>
        <p:sp>
          <p:nvSpPr>
            <p:cNvPr id="51" name="object 51"/>
            <p:cNvSpPr/>
            <p:nvPr/>
          </p:nvSpPr>
          <p:spPr>
            <a:xfrm>
              <a:off x="4954403" y="3372016"/>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52" name="object 52"/>
            <p:cNvSpPr/>
            <p:nvPr/>
          </p:nvSpPr>
          <p:spPr>
            <a:xfrm>
              <a:off x="4928603" y="3570334"/>
              <a:ext cx="207010" cy="189230"/>
            </a:xfrm>
            <a:custGeom>
              <a:avLst/>
              <a:gdLst/>
              <a:ahLst/>
              <a:cxnLst/>
              <a:rect l="l" t="t" r="r" b="b"/>
              <a:pathLst>
                <a:path w="207010" h="189229">
                  <a:moveTo>
                    <a:pt x="0" y="0"/>
                  </a:moveTo>
                  <a:lnTo>
                    <a:pt x="0" y="188799"/>
                  </a:lnTo>
                  <a:lnTo>
                    <a:pt x="206395" y="94399"/>
                  </a:lnTo>
                  <a:lnTo>
                    <a:pt x="0" y="0"/>
                  </a:lnTo>
                  <a:close/>
                </a:path>
              </a:pathLst>
            </a:custGeom>
            <a:solidFill>
              <a:srgbClr val="FFFFFF"/>
            </a:solidFill>
          </p:spPr>
          <p:txBody>
            <a:bodyPr wrap="square" lIns="0" tIns="0" rIns="0" bIns="0" rtlCol="0"/>
            <a:lstStyle/>
            <a:p>
              <a:endParaRPr sz="1588"/>
            </a:p>
          </p:txBody>
        </p:sp>
        <p:sp>
          <p:nvSpPr>
            <p:cNvPr id="53" name="object 53"/>
            <p:cNvSpPr/>
            <p:nvPr/>
          </p:nvSpPr>
          <p:spPr>
            <a:xfrm>
              <a:off x="4954402" y="3581373"/>
              <a:ext cx="159385" cy="166370"/>
            </a:xfrm>
            <a:custGeom>
              <a:avLst/>
              <a:gdLst/>
              <a:ahLst/>
              <a:cxnLst/>
              <a:rect l="l" t="t" r="r" b="b"/>
              <a:pathLst>
                <a:path w="159385"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54" name="object 54"/>
          <p:cNvSpPr txBox="1"/>
          <p:nvPr/>
        </p:nvSpPr>
        <p:spPr>
          <a:xfrm>
            <a:off x="4636034" y="3072400"/>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55" name="object 55"/>
          <p:cNvGrpSpPr/>
          <p:nvPr/>
        </p:nvGrpSpPr>
        <p:grpSpPr>
          <a:xfrm>
            <a:off x="4836657" y="3059536"/>
            <a:ext cx="1116666" cy="349624"/>
            <a:chOff x="5329144" y="3467474"/>
            <a:chExt cx="1265555" cy="396240"/>
          </a:xfrm>
        </p:grpSpPr>
        <p:sp>
          <p:nvSpPr>
            <p:cNvPr id="56" name="object 56"/>
            <p:cNvSpPr/>
            <p:nvPr/>
          </p:nvSpPr>
          <p:spPr>
            <a:xfrm>
              <a:off x="5344384" y="3665522"/>
              <a:ext cx="1235075" cy="0"/>
            </a:xfrm>
            <a:custGeom>
              <a:avLst/>
              <a:gdLst/>
              <a:ahLst/>
              <a:cxnLst/>
              <a:rect l="l" t="t" r="r" b="b"/>
              <a:pathLst>
                <a:path w="1235075">
                  <a:moveTo>
                    <a:pt x="0" y="0"/>
                  </a:moveTo>
                  <a:lnTo>
                    <a:pt x="108125" y="0"/>
                  </a:lnTo>
                </a:path>
                <a:path w="1235075">
                  <a:moveTo>
                    <a:pt x="199406" y="0"/>
                  </a:moveTo>
                  <a:lnTo>
                    <a:pt x="372009" y="0"/>
                  </a:lnTo>
                </a:path>
                <a:path w="1235075">
                  <a:moveTo>
                    <a:pt x="1131506" y="0"/>
                  </a:moveTo>
                  <a:lnTo>
                    <a:pt x="1234935" y="0"/>
                  </a:lnTo>
                </a:path>
                <a:path w="1235075">
                  <a:moveTo>
                    <a:pt x="875004" y="0"/>
                  </a:moveTo>
                  <a:lnTo>
                    <a:pt x="1038938" y="0"/>
                  </a:lnTo>
                </a:path>
              </a:pathLst>
            </a:custGeom>
            <a:ln w="30481">
              <a:solidFill>
                <a:srgbClr val="000000"/>
              </a:solidFill>
            </a:ln>
          </p:spPr>
          <p:txBody>
            <a:bodyPr wrap="square" lIns="0" tIns="0" rIns="0" bIns="0" rtlCol="0"/>
            <a:lstStyle/>
            <a:p>
              <a:endParaRPr sz="1588"/>
            </a:p>
          </p:txBody>
        </p:sp>
        <p:sp>
          <p:nvSpPr>
            <p:cNvPr id="57" name="object 57"/>
            <p:cNvSpPr/>
            <p:nvPr/>
          </p:nvSpPr>
          <p:spPr>
            <a:xfrm>
              <a:off x="5716394" y="3482714"/>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58" name="object 58"/>
          <p:cNvSpPr txBox="1"/>
          <p:nvPr/>
        </p:nvSpPr>
        <p:spPr>
          <a:xfrm>
            <a:off x="5171982" y="3113891"/>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59" name="object 59"/>
          <p:cNvGrpSpPr/>
          <p:nvPr/>
        </p:nvGrpSpPr>
        <p:grpSpPr>
          <a:xfrm>
            <a:off x="3315771" y="3123501"/>
            <a:ext cx="2456890" cy="381559"/>
            <a:chOff x="3605474" y="3539968"/>
            <a:chExt cx="2784475" cy="432434"/>
          </a:xfrm>
        </p:grpSpPr>
        <p:sp>
          <p:nvSpPr>
            <p:cNvPr id="60" name="object 60"/>
            <p:cNvSpPr/>
            <p:nvPr/>
          </p:nvSpPr>
          <p:spPr>
            <a:xfrm>
              <a:off x="5667081" y="3665522"/>
              <a:ext cx="708025" cy="292100"/>
            </a:xfrm>
            <a:custGeom>
              <a:avLst/>
              <a:gdLst/>
              <a:ahLst/>
              <a:cxnLst/>
              <a:rect l="l" t="t" r="r" b="b"/>
              <a:pathLst>
                <a:path w="708025" h="292100">
                  <a:moveTo>
                    <a:pt x="0" y="0"/>
                  </a:moveTo>
                  <a:lnTo>
                    <a:pt x="0" y="291547"/>
                  </a:lnTo>
                  <a:lnTo>
                    <a:pt x="624220" y="291547"/>
                  </a:lnTo>
                  <a:lnTo>
                    <a:pt x="624220" y="109330"/>
                  </a:lnTo>
                  <a:lnTo>
                    <a:pt x="707449" y="109330"/>
                  </a:lnTo>
                </a:path>
              </a:pathLst>
            </a:custGeom>
            <a:ln w="30479">
              <a:solidFill>
                <a:srgbClr val="000000"/>
              </a:solidFill>
            </a:ln>
          </p:spPr>
          <p:txBody>
            <a:bodyPr wrap="square" lIns="0" tIns="0" rIns="0" bIns="0" rtlCol="0"/>
            <a:lstStyle/>
            <a:p>
              <a:endParaRPr sz="1588"/>
            </a:p>
          </p:txBody>
        </p:sp>
        <p:sp>
          <p:nvSpPr>
            <p:cNvPr id="61" name="object 61"/>
            <p:cNvSpPr/>
            <p:nvPr/>
          </p:nvSpPr>
          <p:spPr>
            <a:xfrm>
              <a:off x="3620714" y="3555208"/>
              <a:ext cx="434975" cy="220979"/>
            </a:xfrm>
            <a:custGeom>
              <a:avLst/>
              <a:gdLst/>
              <a:ahLst/>
              <a:cxnLst/>
              <a:rect l="l" t="t" r="r" b="b"/>
              <a:pathLst>
                <a:path w="434975" h="220979">
                  <a:moveTo>
                    <a:pt x="0" y="220630"/>
                  </a:moveTo>
                  <a:lnTo>
                    <a:pt x="130874" y="220630"/>
                  </a:lnTo>
                </a:path>
                <a:path w="434975" h="220979">
                  <a:moveTo>
                    <a:pt x="223442" y="220630"/>
                  </a:moveTo>
                  <a:lnTo>
                    <a:pt x="434955" y="220630"/>
                  </a:lnTo>
                </a:path>
                <a:path w="434975" h="220979">
                  <a:moveTo>
                    <a:pt x="0" y="0"/>
                  </a:moveTo>
                  <a:lnTo>
                    <a:pt x="130874" y="0"/>
                  </a:lnTo>
                </a:path>
                <a:path w="434975" h="220979">
                  <a:moveTo>
                    <a:pt x="223442" y="0"/>
                  </a:moveTo>
                  <a:lnTo>
                    <a:pt x="432886" y="0"/>
                  </a:lnTo>
                </a:path>
              </a:pathLst>
            </a:custGeom>
            <a:ln w="30481">
              <a:solidFill>
                <a:srgbClr val="000000"/>
              </a:solidFill>
            </a:ln>
          </p:spPr>
          <p:txBody>
            <a:bodyPr wrap="square" lIns="0" tIns="0" rIns="0" bIns="0" rtlCol="0"/>
            <a:lstStyle/>
            <a:p>
              <a:endParaRPr sz="1588"/>
            </a:p>
          </p:txBody>
        </p:sp>
      </p:grpSp>
      <p:sp>
        <p:nvSpPr>
          <p:cNvPr id="62" name="object 62"/>
          <p:cNvSpPr txBox="1"/>
          <p:nvPr/>
        </p:nvSpPr>
        <p:spPr>
          <a:xfrm>
            <a:off x="2923179" y="3072983"/>
            <a:ext cx="406213" cy="215609"/>
          </a:xfrm>
          <a:prstGeom prst="rect">
            <a:avLst/>
          </a:prstGeom>
          <a:ln w="30479">
            <a:solidFill>
              <a:srgbClr val="000000"/>
            </a:solidFill>
          </a:ln>
        </p:spPr>
        <p:txBody>
          <a:bodyPr vert="horz" wrap="square" lIns="0" tIns="52107" rIns="0" bIns="0" rtlCol="0">
            <a:spAutoFit/>
          </a:bodyPr>
          <a:lstStyle/>
          <a:p>
            <a:pPr marL="39223">
              <a:spcBef>
                <a:spcPts val="410"/>
              </a:spcBef>
            </a:pPr>
            <a:r>
              <a:rPr sz="1059" b="1" spc="-9" dirty="0">
                <a:latin typeface="Times New Roman"/>
                <a:cs typeface="Times New Roman"/>
              </a:rPr>
              <a:t>Ifetch</a:t>
            </a:r>
            <a:endParaRPr sz="1059">
              <a:latin typeface="Times New Roman"/>
              <a:cs typeface="Times New Roman"/>
            </a:endParaRPr>
          </a:p>
        </p:txBody>
      </p:sp>
      <p:grpSp>
        <p:nvGrpSpPr>
          <p:cNvPr id="63" name="object 63"/>
          <p:cNvGrpSpPr/>
          <p:nvPr/>
        </p:nvGrpSpPr>
        <p:grpSpPr>
          <a:xfrm>
            <a:off x="3431249" y="2913531"/>
            <a:ext cx="2929217" cy="640416"/>
            <a:chOff x="3736349" y="3302001"/>
            <a:chExt cx="3319779" cy="725805"/>
          </a:xfrm>
        </p:grpSpPr>
        <p:sp>
          <p:nvSpPr>
            <p:cNvPr id="64" name="object 64"/>
            <p:cNvSpPr/>
            <p:nvPr/>
          </p:nvSpPr>
          <p:spPr>
            <a:xfrm>
              <a:off x="4598835"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65" name="object 65"/>
            <p:cNvSpPr/>
            <p:nvPr/>
          </p:nvSpPr>
          <p:spPr>
            <a:xfrm>
              <a:off x="4598835"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66" name="object 66"/>
            <p:cNvSpPr/>
            <p:nvPr/>
          </p:nvSpPr>
          <p:spPr>
            <a:xfrm>
              <a:off x="6383323"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67" name="object 67"/>
            <p:cNvSpPr/>
            <p:nvPr/>
          </p:nvSpPr>
          <p:spPr>
            <a:xfrm>
              <a:off x="6383323"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68" name="object 68"/>
            <p:cNvSpPr/>
            <p:nvPr/>
          </p:nvSpPr>
          <p:spPr>
            <a:xfrm>
              <a:off x="3751589"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69" name="object 69"/>
            <p:cNvSpPr/>
            <p:nvPr/>
          </p:nvSpPr>
          <p:spPr>
            <a:xfrm>
              <a:off x="3751589"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70" name="object 70"/>
            <p:cNvSpPr/>
            <p:nvPr/>
          </p:nvSpPr>
          <p:spPr>
            <a:xfrm>
              <a:off x="5452510" y="3321322"/>
              <a:ext cx="91440" cy="685800"/>
            </a:xfrm>
            <a:custGeom>
              <a:avLst/>
              <a:gdLst/>
              <a:ahLst/>
              <a:cxnLst/>
              <a:rect l="l" t="t" r="r" b="b"/>
              <a:pathLst>
                <a:path w="91439" h="685800">
                  <a:moveTo>
                    <a:pt x="91281" y="0"/>
                  </a:moveTo>
                  <a:lnTo>
                    <a:pt x="0" y="0"/>
                  </a:lnTo>
                  <a:lnTo>
                    <a:pt x="0" y="685802"/>
                  </a:lnTo>
                  <a:lnTo>
                    <a:pt x="91281" y="685802"/>
                  </a:lnTo>
                  <a:lnTo>
                    <a:pt x="91281" y="0"/>
                  </a:lnTo>
                  <a:close/>
                </a:path>
              </a:pathLst>
            </a:custGeom>
            <a:solidFill>
              <a:srgbClr val="00FF00"/>
            </a:solidFill>
          </p:spPr>
          <p:txBody>
            <a:bodyPr wrap="square" lIns="0" tIns="0" rIns="0" bIns="0" rtlCol="0"/>
            <a:lstStyle/>
            <a:p>
              <a:endParaRPr sz="1588"/>
            </a:p>
          </p:txBody>
        </p:sp>
        <p:sp>
          <p:nvSpPr>
            <p:cNvPr id="71" name="object 71"/>
            <p:cNvSpPr/>
            <p:nvPr/>
          </p:nvSpPr>
          <p:spPr>
            <a:xfrm>
              <a:off x="5452510" y="3321322"/>
              <a:ext cx="91440" cy="685800"/>
            </a:xfrm>
            <a:custGeom>
              <a:avLst/>
              <a:gdLst/>
              <a:ahLst/>
              <a:cxnLst/>
              <a:rect l="l" t="t" r="r" b="b"/>
              <a:pathLst>
                <a:path w="91439" h="685800">
                  <a:moveTo>
                    <a:pt x="0" y="0"/>
                  </a:moveTo>
                  <a:lnTo>
                    <a:pt x="91281" y="0"/>
                  </a:lnTo>
                  <a:lnTo>
                    <a:pt x="91281"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72" name="object 72"/>
            <p:cNvSpPr/>
            <p:nvPr/>
          </p:nvSpPr>
          <p:spPr>
            <a:xfrm>
              <a:off x="6579320" y="3468530"/>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73" name="object 73"/>
            <p:cNvSpPr/>
            <p:nvPr/>
          </p:nvSpPr>
          <p:spPr>
            <a:xfrm>
              <a:off x="6579318" y="3468529"/>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74" name="object 74"/>
          <p:cNvSpPr txBox="1"/>
          <p:nvPr/>
        </p:nvSpPr>
        <p:spPr>
          <a:xfrm>
            <a:off x="6025632" y="310044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5" name="object 75"/>
          <p:cNvGrpSpPr/>
          <p:nvPr/>
        </p:nvGrpSpPr>
        <p:grpSpPr>
          <a:xfrm>
            <a:off x="4452389" y="3792347"/>
            <a:ext cx="430306" cy="351304"/>
            <a:chOff x="4893641" y="4297993"/>
            <a:chExt cx="487680" cy="398145"/>
          </a:xfrm>
        </p:grpSpPr>
        <p:sp>
          <p:nvSpPr>
            <p:cNvPr id="76" name="object 76"/>
            <p:cNvSpPr/>
            <p:nvPr/>
          </p:nvSpPr>
          <p:spPr>
            <a:xfrm>
              <a:off x="5137458" y="4313233"/>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77" name="object 77"/>
            <p:cNvSpPr/>
            <p:nvPr/>
          </p:nvSpPr>
          <p:spPr>
            <a:xfrm>
              <a:off x="4908881" y="4313233"/>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78" name="object 78"/>
          <p:cNvSpPr txBox="1"/>
          <p:nvPr/>
        </p:nvSpPr>
        <p:spPr>
          <a:xfrm>
            <a:off x="4548179" y="3845411"/>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9" name="object 79"/>
          <p:cNvGrpSpPr/>
          <p:nvPr/>
        </p:nvGrpSpPr>
        <p:grpSpPr>
          <a:xfrm>
            <a:off x="4857586" y="3696063"/>
            <a:ext cx="755837" cy="542925"/>
            <a:chOff x="5352864" y="4188871"/>
            <a:chExt cx="856615" cy="615315"/>
          </a:xfrm>
        </p:grpSpPr>
        <p:sp>
          <p:nvSpPr>
            <p:cNvPr id="80" name="object 80"/>
            <p:cNvSpPr/>
            <p:nvPr/>
          </p:nvSpPr>
          <p:spPr>
            <a:xfrm>
              <a:off x="5368104" y="4387301"/>
              <a:ext cx="504825" cy="219075"/>
            </a:xfrm>
            <a:custGeom>
              <a:avLst/>
              <a:gdLst/>
              <a:ahLst/>
              <a:cxnLst/>
              <a:rect l="l" t="t" r="r" b="b"/>
              <a:pathLst>
                <a:path w="504825" h="219075">
                  <a:moveTo>
                    <a:pt x="0" y="0"/>
                  </a:moveTo>
                  <a:lnTo>
                    <a:pt x="83116" y="0"/>
                  </a:lnTo>
                </a:path>
                <a:path w="504825" h="219075">
                  <a:moveTo>
                    <a:pt x="175569" y="0"/>
                  </a:moveTo>
                  <a:lnTo>
                    <a:pt x="504730" y="0"/>
                  </a:lnTo>
                </a:path>
                <a:path w="504825" h="219075">
                  <a:moveTo>
                    <a:pt x="0" y="219055"/>
                  </a:moveTo>
                  <a:lnTo>
                    <a:pt x="83116" y="219055"/>
                  </a:lnTo>
                </a:path>
                <a:path w="504825" h="219075">
                  <a:moveTo>
                    <a:pt x="175569" y="219055"/>
                  </a:moveTo>
                  <a:lnTo>
                    <a:pt x="504730" y="219055"/>
                  </a:lnTo>
                </a:path>
              </a:pathLst>
            </a:custGeom>
            <a:ln w="30481">
              <a:solidFill>
                <a:srgbClr val="000000"/>
              </a:solidFill>
            </a:ln>
          </p:spPr>
          <p:txBody>
            <a:bodyPr wrap="square" lIns="0" tIns="0" rIns="0" bIns="0" rtlCol="0"/>
            <a:lstStyle/>
            <a:p>
              <a:endParaRPr sz="1588"/>
            </a:p>
          </p:txBody>
        </p:sp>
        <p:sp>
          <p:nvSpPr>
            <p:cNvPr id="81" name="object 81"/>
            <p:cNvSpPr/>
            <p:nvPr/>
          </p:nvSpPr>
          <p:spPr>
            <a:xfrm>
              <a:off x="5807617" y="4204111"/>
              <a:ext cx="386715" cy="584835"/>
            </a:xfrm>
            <a:custGeom>
              <a:avLst/>
              <a:gdLst/>
              <a:ahLst/>
              <a:cxnLst/>
              <a:rect l="l" t="t" r="r" b="b"/>
              <a:pathLst>
                <a:path w="386714" h="584835">
                  <a:moveTo>
                    <a:pt x="0" y="0"/>
                  </a:moveTo>
                  <a:lnTo>
                    <a:pt x="0" y="584672"/>
                  </a:lnTo>
                  <a:lnTo>
                    <a:pt x="386417" y="438504"/>
                  </a:lnTo>
                  <a:lnTo>
                    <a:pt x="386417" y="146168"/>
                  </a:lnTo>
                  <a:lnTo>
                    <a:pt x="0" y="0"/>
                  </a:lnTo>
                  <a:close/>
                </a:path>
              </a:pathLst>
            </a:custGeom>
            <a:solidFill>
              <a:srgbClr val="FFFFFF"/>
            </a:solidFill>
          </p:spPr>
          <p:txBody>
            <a:bodyPr wrap="square" lIns="0" tIns="0" rIns="0" bIns="0" rtlCol="0"/>
            <a:lstStyle/>
            <a:p>
              <a:endParaRPr sz="1588"/>
            </a:p>
          </p:txBody>
        </p:sp>
        <p:sp>
          <p:nvSpPr>
            <p:cNvPr id="82" name="object 82"/>
            <p:cNvSpPr/>
            <p:nvPr/>
          </p:nvSpPr>
          <p:spPr>
            <a:xfrm>
              <a:off x="5807617" y="4204111"/>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83" name="object 83"/>
            <p:cNvSpPr/>
            <p:nvPr/>
          </p:nvSpPr>
          <p:spPr>
            <a:xfrm>
              <a:off x="5781817" y="4402429"/>
              <a:ext cx="207010" cy="189230"/>
            </a:xfrm>
            <a:custGeom>
              <a:avLst/>
              <a:gdLst/>
              <a:ahLst/>
              <a:cxnLst/>
              <a:rect l="l" t="t" r="r" b="b"/>
              <a:pathLst>
                <a:path w="207010" h="189229">
                  <a:moveTo>
                    <a:pt x="0" y="0"/>
                  </a:moveTo>
                  <a:lnTo>
                    <a:pt x="0" y="188799"/>
                  </a:lnTo>
                  <a:lnTo>
                    <a:pt x="206396" y="94399"/>
                  </a:lnTo>
                  <a:lnTo>
                    <a:pt x="0" y="0"/>
                  </a:lnTo>
                  <a:close/>
                </a:path>
              </a:pathLst>
            </a:custGeom>
            <a:solidFill>
              <a:srgbClr val="FFFFFF"/>
            </a:solidFill>
          </p:spPr>
          <p:txBody>
            <a:bodyPr wrap="square" lIns="0" tIns="0" rIns="0" bIns="0" rtlCol="0"/>
            <a:lstStyle/>
            <a:p>
              <a:endParaRPr sz="1588"/>
            </a:p>
          </p:txBody>
        </p:sp>
        <p:sp>
          <p:nvSpPr>
            <p:cNvPr id="84" name="object 84"/>
            <p:cNvSpPr/>
            <p:nvPr/>
          </p:nvSpPr>
          <p:spPr>
            <a:xfrm>
              <a:off x="5807616" y="4413468"/>
              <a:ext cx="159385" cy="166370"/>
            </a:xfrm>
            <a:custGeom>
              <a:avLst/>
              <a:gdLst/>
              <a:ahLst/>
              <a:cxnLst/>
              <a:rect l="l" t="t" r="r" b="b"/>
              <a:pathLst>
                <a:path w="159385"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85" name="object 85"/>
          <p:cNvSpPr txBox="1"/>
          <p:nvPr/>
        </p:nvSpPr>
        <p:spPr>
          <a:xfrm>
            <a:off x="5388871" y="380660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86" name="object 86"/>
          <p:cNvGrpSpPr/>
          <p:nvPr/>
        </p:nvGrpSpPr>
        <p:grpSpPr>
          <a:xfrm>
            <a:off x="5589493" y="3793736"/>
            <a:ext cx="1116666" cy="349624"/>
            <a:chOff x="6182358" y="4299568"/>
            <a:chExt cx="1265555" cy="396240"/>
          </a:xfrm>
        </p:grpSpPr>
        <p:sp>
          <p:nvSpPr>
            <p:cNvPr id="87" name="object 87"/>
            <p:cNvSpPr/>
            <p:nvPr/>
          </p:nvSpPr>
          <p:spPr>
            <a:xfrm>
              <a:off x="6197598" y="4497617"/>
              <a:ext cx="1235075" cy="0"/>
            </a:xfrm>
            <a:custGeom>
              <a:avLst/>
              <a:gdLst/>
              <a:ahLst/>
              <a:cxnLst/>
              <a:rect l="l" t="t" r="r" b="b"/>
              <a:pathLst>
                <a:path w="1235075">
                  <a:moveTo>
                    <a:pt x="0" y="0"/>
                  </a:moveTo>
                  <a:lnTo>
                    <a:pt x="183291" y="0"/>
                  </a:lnTo>
                </a:path>
                <a:path w="1235075">
                  <a:moveTo>
                    <a:pt x="274459" y="0"/>
                  </a:moveTo>
                  <a:lnTo>
                    <a:pt x="372009" y="0"/>
                  </a:lnTo>
                </a:path>
                <a:path w="1235075">
                  <a:moveTo>
                    <a:pt x="1123232" y="0"/>
                  </a:moveTo>
                  <a:lnTo>
                    <a:pt x="1234934" y="0"/>
                  </a:lnTo>
                </a:path>
                <a:path w="1235075">
                  <a:moveTo>
                    <a:pt x="830145" y="0"/>
                  </a:moveTo>
                  <a:lnTo>
                    <a:pt x="1030778" y="0"/>
                  </a:lnTo>
                </a:path>
              </a:pathLst>
            </a:custGeom>
            <a:ln w="30481">
              <a:solidFill>
                <a:srgbClr val="000000"/>
              </a:solidFill>
            </a:ln>
          </p:spPr>
          <p:txBody>
            <a:bodyPr wrap="square" lIns="0" tIns="0" rIns="0" bIns="0" rtlCol="0"/>
            <a:lstStyle/>
            <a:p>
              <a:endParaRPr sz="1588"/>
            </a:p>
          </p:txBody>
        </p:sp>
        <p:sp>
          <p:nvSpPr>
            <p:cNvPr id="88" name="object 88"/>
            <p:cNvSpPr/>
            <p:nvPr/>
          </p:nvSpPr>
          <p:spPr>
            <a:xfrm>
              <a:off x="6569608" y="4314808"/>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89" name="object 89"/>
          <p:cNvSpPr txBox="1"/>
          <p:nvPr/>
        </p:nvSpPr>
        <p:spPr>
          <a:xfrm>
            <a:off x="5924818" y="3848099"/>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90" name="object 90"/>
          <p:cNvGrpSpPr/>
          <p:nvPr/>
        </p:nvGrpSpPr>
        <p:grpSpPr>
          <a:xfrm>
            <a:off x="4068607" y="3857701"/>
            <a:ext cx="2438960" cy="381559"/>
            <a:chOff x="4458687" y="4372061"/>
            <a:chExt cx="2764155" cy="432434"/>
          </a:xfrm>
        </p:grpSpPr>
        <p:sp>
          <p:nvSpPr>
            <p:cNvPr id="91" name="object 91"/>
            <p:cNvSpPr/>
            <p:nvPr/>
          </p:nvSpPr>
          <p:spPr>
            <a:xfrm>
              <a:off x="6520295" y="4497617"/>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92" name="object 92"/>
            <p:cNvSpPr/>
            <p:nvPr/>
          </p:nvSpPr>
          <p:spPr>
            <a:xfrm>
              <a:off x="4473927" y="4387301"/>
              <a:ext cx="434975" cy="220979"/>
            </a:xfrm>
            <a:custGeom>
              <a:avLst/>
              <a:gdLst/>
              <a:ahLst/>
              <a:cxnLst/>
              <a:rect l="l" t="t" r="r" b="b"/>
              <a:pathLst>
                <a:path w="434975" h="220979">
                  <a:moveTo>
                    <a:pt x="0" y="220632"/>
                  </a:moveTo>
                  <a:lnTo>
                    <a:pt x="124669" y="220632"/>
                  </a:lnTo>
                </a:path>
                <a:path w="434975" h="220979">
                  <a:moveTo>
                    <a:pt x="217123" y="220632"/>
                  </a:moveTo>
                  <a:lnTo>
                    <a:pt x="434955" y="220632"/>
                  </a:lnTo>
                </a:path>
                <a:path w="434975" h="220979">
                  <a:moveTo>
                    <a:pt x="0" y="0"/>
                  </a:moveTo>
                  <a:lnTo>
                    <a:pt x="124669" y="0"/>
                  </a:lnTo>
                </a:path>
                <a:path w="434975" h="220979">
                  <a:moveTo>
                    <a:pt x="217123" y="0"/>
                  </a:moveTo>
                  <a:lnTo>
                    <a:pt x="432885" y="0"/>
                  </a:lnTo>
                </a:path>
              </a:pathLst>
            </a:custGeom>
            <a:ln w="30481">
              <a:solidFill>
                <a:srgbClr val="000000"/>
              </a:solidFill>
            </a:ln>
          </p:spPr>
          <p:txBody>
            <a:bodyPr wrap="square" lIns="0" tIns="0" rIns="0" bIns="0" rtlCol="0"/>
            <a:lstStyle/>
            <a:p>
              <a:endParaRPr sz="1588"/>
            </a:p>
          </p:txBody>
        </p:sp>
      </p:grpSp>
      <p:sp>
        <p:nvSpPr>
          <p:cNvPr id="93" name="object 93"/>
          <p:cNvSpPr txBox="1"/>
          <p:nvPr/>
        </p:nvSpPr>
        <p:spPr>
          <a:xfrm>
            <a:off x="3676014" y="3807184"/>
            <a:ext cx="406213" cy="215609"/>
          </a:xfrm>
          <a:prstGeom prst="rect">
            <a:avLst/>
          </a:prstGeom>
          <a:ln w="30479">
            <a:solidFill>
              <a:srgbClr val="000000"/>
            </a:solidFill>
          </a:ln>
        </p:spPr>
        <p:txBody>
          <a:bodyPr vert="horz" wrap="square" lIns="0" tIns="52107" rIns="0" bIns="0" rtlCol="0">
            <a:spAutoFit/>
          </a:bodyPr>
          <a:lstStyle/>
          <a:p>
            <a:pPr marL="39223">
              <a:spcBef>
                <a:spcPts val="410"/>
              </a:spcBef>
            </a:pPr>
            <a:r>
              <a:rPr sz="1059" b="1" spc="-9" dirty="0">
                <a:latin typeface="Times New Roman"/>
                <a:cs typeface="Times New Roman"/>
              </a:rPr>
              <a:t>Ifetch</a:t>
            </a:r>
            <a:endParaRPr sz="1059">
              <a:latin typeface="Times New Roman"/>
              <a:cs typeface="Times New Roman"/>
            </a:endParaRPr>
          </a:p>
        </p:txBody>
      </p:sp>
      <p:grpSp>
        <p:nvGrpSpPr>
          <p:cNvPr id="94" name="object 94"/>
          <p:cNvGrpSpPr/>
          <p:nvPr/>
        </p:nvGrpSpPr>
        <p:grpSpPr>
          <a:xfrm>
            <a:off x="4178609" y="3647732"/>
            <a:ext cx="2934820" cy="640416"/>
            <a:chOff x="4583357" y="4134096"/>
            <a:chExt cx="3326129" cy="725805"/>
          </a:xfrm>
        </p:grpSpPr>
        <p:sp>
          <p:nvSpPr>
            <p:cNvPr id="95" name="object 95"/>
            <p:cNvSpPr/>
            <p:nvPr/>
          </p:nvSpPr>
          <p:spPr>
            <a:xfrm>
              <a:off x="5451220" y="4149336"/>
              <a:ext cx="92710" cy="695325"/>
            </a:xfrm>
            <a:custGeom>
              <a:avLst/>
              <a:gdLst/>
              <a:ahLst/>
              <a:cxnLst/>
              <a:rect l="l" t="t" r="r" b="b"/>
              <a:pathLst>
                <a:path w="92710"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96" name="object 96"/>
            <p:cNvSpPr/>
            <p:nvPr/>
          </p:nvSpPr>
          <p:spPr>
            <a:xfrm>
              <a:off x="5451220" y="4149336"/>
              <a:ext cx="92710" cy="695325"/>
            </a:xfrm>
            <a:custGeom>
              <a:avLst/>
              <a:gdLst/>
              <a:ahLst/>
              <a:cxnLst/>
              <a:rect l="l" t="t" r="r" b="b"/>
              <a:pathLst>
                <a:path w="92710"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97" name="object 97"/>
            <p:cNvSpPr/>
            <p:nvPr/>
          </p:nvSpPr>
          <p:spPr>
            <a:xfrm>
              <a:off x="7228377" y="4149336"/>
              <a:ext cx="92710" cy="695325"/>
            </a:xfrm>
            <a:custGeom>
              <a:avLst/>
              <a:gdLst/>
              <a:ahLst/>
              <a:cxnLst/>
              <a:rect l="l" t="t" r="r" b="b"/>
              <a:pathLst>
                <a:path w="92709"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98" name="object 98"/>
            <p:cNvSpPr/>
            <p:nvPr/>
          </p:nvSpPr>
          <p:spPr>
            <a:xfrm>
              <a:off x="7228377" y="4149336"/>
              <a:ext cx="92710" cy="695325"/>
            </a:xfrm>
            <a:custGeom>
              <a:avLst/>
              <a:gdLst/>
              <a:ahLst/>
              <a:cxnLst/>
              <a:rect l="l" t="t" r="r" b="b"/>
              <a:pathLst>
                <a:path w="92709"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99" name="object 99"/>
            <p:cNvSpPr/>
            <p:nvPr/>
          </p:nvSpPr>
          <p:spPr>
            <a:xfrm>
              <a:off x="4598597" y="4149336"/>
              <a:ext cx="92710" cy="695325"/>
            </a:xfrm>
            <a:custGeom>
              <a:avLst/>
              <a:gdLst/>
              <a:ahLst/>
              <a:cxnLst/>
              <a:rect l="l" t="t" r="r" b="b"/>
              <a:pathLst>
                <a:path w="92710"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100" name="object 100"/>
            <p:cNvSpPr/>
            <p:nvPr/>
          </p:nvSpPr>
          <p:spPr>
            <a:xfrm>
              <a:off x="4598597" y="4149336"/>
              <a:ext cx="92710" cy="695325"/>
            </a:xfrm>
            <a:custGeom>
              <a:avLst/>
              <a:gdLst/>
              <a:ahLst/>
              <a:cxnLst/>
              <a:rect l="l" t="t" r="r" b="b"/>
              <a:pathLst>
                <a:path w="92710"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01" name="object 101"/>
            <p:cNvSpPr/>
            <p:nvPr/>
          </p:nvSpPr>
          <p:spPr>
            <a:xfrm>
              <a:off x="6380889" y="4153418"/>
              <a:ext cx="91440" cy="685800"/>
            </a:xfrm>
            <a:custGeom>
              <a:avLst/>
              <a:gdLst/>
              <a:ahLst/>
              <a:cxnLst/>
              <a:rect l="l" t="t" r="r" b="b"/>
              <a:pathLst>
                <a:path w="91439" h="685800">
                  <a:moveTo>
                    <a:pt x="91168" y="0"/>
                  </a:moveTo>
                  <a:lnTo>
                    <a:pt x="0" y="0"/>
                  </a:lnTo>
                  <a:lnTo>
                    <a:pt x="0" y="685802"/>
                  </a:lnTo>
                  <a:lnTo>
                    <a:pt x="91168" y="685802"/>
                  </a:lnTo>
                  <a:lnTo>
                    <a:pt x="91168" y="0"/>
                  </a:lnTo>
                  <a:close/>
                </a:path>
              </a:pathLst>
            </a:custGeom>
            <a:solidFill>
              <a:srgbClr val="00FF00"/>
            </a:solidFill>
          </p:spPr>
          <p:txBody>
            <a:bodyPr wrap="square" lIns="0" tIns="0" rIns="0" bIns="0" rtlCol="0"/>
            <a:lstStyle/>
            <a:p>
              <a:endParaRPr sz="1588"/>
            </a:p>
          </p:txBody>
        </p:sp>
        <p:sp>
          <p:nvSpPr>
            <p:cNvPr id="102" name="object 102"/>
            <p:cNvSpPr/>
            <p:nvPr/>
          </p:nvSpPr>
          <p:spPr>
            <a:xfrm>
              <a:off x="6380889" y="4153418"/>
              <a:ext cx="91440" cy="685800"/>
            </a:xfrm>
            <a:custGeom>
              <a:avLst/>
              <a:gdLst/>
              <a:ahLst/>
              <a:cxnLst/>
              <a:rect l="l" t="t" r="r" b="b"/>
              <a:pathLst>
                <a:path w="91439" h="685800">
                  <a:moveTo>
                    <a:pt x="0" y="0"/>
                  </a:moveTo>
                  <a:lnTo>
                    <a:pt x="91169" y="0"/>
                  </a:lnTo>
                  <a:lnTo>
                    <a:pt x="91169"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03" name="object 103"/>
            <p:cNvSpPr/>
            <p:nvPr/>
          </p:nvSpPr>
          <p:spPr>
            <a:xfrm>
              <a:off x="7432532" y="4300625"/>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104" name="object 104"/>
            <p:cNvSpPr/>
            <p:nvPr/>
          </p:nvSpPr>
          <p:spPr>
            <a:xfrm>
              <a:off x="7432532" y="4300625"/>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105" name="object 105"/>
          <p:cNvSpPr txBox="1"/>
          <p:nvPr/>
        </p:nvSpPr>
        <p:spPr>
          <a:xfrm>
            <a:off x="6778467" y="383465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6" name="object 106"/>
          <p:cNvGrpSpPr/>
          <p:nvPr/>
        </p:nvGrpSpPr>
        <p:grpSpPr>
          <a:xfrm>
            <a:off x="5205224" y="4526548"/>
            <a:ext cx="430306" cy="351304"/>
            <a:chOff x="5746854" y="5130087"/>
            <a:chExt cx="487680" cy="398145"/>
          </a:xfrm>
        </p:grpSpPr>
        <p:sp>
          <p:nvSpPr>
            <p:cNvPr id="107" name="object 107"/>
            <p:cNvSpPr/>
            <p:nvPr/>
          </p:nvSpPr>
          <p:spPr>
            <a:xfrm>
              <a:off x="5990672" y="5145327"/>
              <a:ext cx="228600" cy="363220"/>
            </a:xfrm>
            <a:custGeom>
              <a:avLst/>
              <a:gdLst/>
              <a:ahLst/>
              <a:cxnLst/>
              <a:rect l="l" t="t" r="r" b="b"/>
              <a:pathLst>
                <a:path w="228600" h="363220">
                  <a:moveTo>
                    <a:pt x="228575" y="0"/>
                  </a:moveTo>
                  <a:lnTo>
                    <a:pt x="0" y="0"/>
                  </a:lnTo>
                  <a:lnTo>
                    <a:pt x="0" y="362943"/>
                  </a:lnTo>
                  <a:lnTo>
                    <a:pt x="228575" y="362943"/>
                  </a:lnTo>
                  <a:lnTo>
                    <a:pt x="228575" y="0"/>
                  </a:lnTo>
                  <a:close/>
                </a:path>
              </a:pathLst>
            </a:custGeom>
            <a:solidFill>
              <a:srgbClr val="0099FF"/>
            </a:solidFill>
          </p:spPr>
          <p:txBody>
            <a:bodyPr wrap="square" lIns="0" tIns="0" rIns="0" bIns="0" rtlCol="0"/>
            <a:lstStyle/>
            <a:p>
              <a:endParaRPr sz="1588"/>
            </a:p>
          </p:txBody>
        </p:sp>
        <p:sp>
          <p:nvSpPr>
            <p:cNvPr id="108" name="object 108"/>
            <p:cNvSpPr/>
            <p:nvPr/>
          </p:nvSpPr>
          <p:spPr>
            <a:xfrm>
              <a:off x="5762094" y="5145327"/>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09" name="object 109"/>
          <p:cNvSpPr txBox="1"/>
          <p:nvPr/>
        </p:nvSpPr>
        <p:spPr>
          <a:xfrm>
            <a:off x="5301014" y="4579619"/>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10" name="object 110"/>
          <p:cNvGrpSpPr/>
          <p:nvPr/>
        </p:nvGrpSpPr>
        <p:grpSpPr>
          <a:xfrm>
            <a:off x="5610421" y="4430264"/>
            <a:ext cx="755837" cy="542925"/>
            <a:chOff x="6206077" y="5020965"/>
            <a:chExt cx="856615" cy="615315"/>
          </a:xfrm>
        </p:grpSpPr>
        <p:sp>
          <p:nvSpPr>
            <p:cNvPr id="111" name="object 111"/>
            <p:cNvSpPr/>
            <p:nvPr/>
          </p:nvSpPr>
          <p:spPr>
            <a:xfrm>
              <a:off x="6221317" y="5219395"/>
              <a:ext cx="504825" cy="219075"/>
            </a:xfrm>
            <a:custGeom>
              <a:avLst/>
              <a:gdLst/>
              <a:ahLst/>
              <a:cxnLst/>
              <a:rect l="l" t="t" r="r" b="b"/>
              <a:pathLst>
                <a:path w="504825" h="219075">
                  <a:moveTo>
                    <a:pt x="0" y="0"/>
                  </a:moveTo>
                  <a:lnTo>
                    <a:pt x="160331" y="0"/>
                  </a:lnTo>
                </a:path>
                <a:path w="504825" h="219075">
                  <a:moveTo>
                    <a:pt x="252802" y="0"/>
                  </a:moveTo>
                  <a:lnTo>
                    <a:pt x="504730" y="0"/>
                  </a:lnTo>
                </a:path>
                <a:path w="504825" h="219075">
                  <a:moveTo>
                    <a:pt x="0" y="219055"/>
                  </a:moveTo>
                  <a:lnTo>
                    <a:pt x="160331" y="219055"/>
                  </a:lnTo>
                </a:path>
                <a:path w="504825" h="219075">
                  <a:moveTo>
                    <a:pt x="252802" y="219055"/>
                  </a:moveTo>
                  <a:lnTo>
                    <a:pt x="504730" y="219055"/>
                  </a:lnTo>
                </a:path>
              </a:pathLst>
            </a:custGeom>
            <a:ln w="30481">
              <a:solidFill>
                <a:srgbClr val="000000"/>
              </a:solidFill>
            </a:ln>
          </p:spPr>
          <p:txBody>
            <a:bodyPr wrap="square" lIns="0" tIns="0" rIns="0" bIns="0" rtlCol="0"/>
            <a:lstStyle/>
            <a:p>
              <a:endParaRPr sz="1588"/>
            </a:p>
          </p:txBody>
        </p:sp>
        <p:sp>
          <p:nvSpPr>
            <p:cNvPr id="112" name="object 112"/>
            <p:cNvSpPr/>
            <p:nvPr/>
          </p:nvSpPr>
          <p:spPr>
            <a:xfrm>
              <a:off x="6660830" y="5036205"/>
              <a:ext cx="386715" cy="584835"/>
            </a:xfrm>
            <a:custGeom>
              <a:avLst/>
              <a:gdLst/>
              <a:ahLst/>
              <a:cxnLst/>
              <a:rect l="l" t="t" r="r" b="b"/>
              <a:pathLst>
                <a:path w="386715" h="584835">
                  <a:moveTo>
                    <a:pt x="0" y="0"/>
                  </a:moveTo>
                  <a:lnTo>
                    <a:pt x="0" y="584672"/>
                  </a:lnTo>
                  <a:lnTo>
                    <a:pt x="386417" y="438504"/>
                  </a:lnTo>
                  <a:lnTo>
                    <a:pt x="386417" y="146168"/>
                  </a:lnTo>
                  <a:lnTo>
                    <a:pt x="0" y="0"/>
                  </a:lnTo>
                  <a:close/>
                </a:path>
              </a:pathLst>
            </a:custGeom>
            <a:solidFill>
              <a:srgbClr val="FFFFFF"/>
            </a:solidFill>
          </p:spPr>
          <p:txBody>
            <a:bodyPr wrap="square" lIns="0" tIns="0" rIns="0" bIns="0" rtlCol="0"/>
            <a:lstStyle/>
            <a:p>
              <a:endParaRPr sz="1588"/>
            </a:p>
          </p:txBody>
        </p:sp>
        <p:sp>
          <p:nvSpPr>
            <p:cNvPr id="113" name="object 113"/>
            <p:cNvSpPr/>
            <p:nvPr/>
          </p:nvSpPr>
          <p:spPr>
            <a:xfrm>
              <a:off x="6660830" y="5036205"/>
              <a:ext cx="386715" cy="584835"/>
            </a:xfrm>
            <a:custGeom>
              <a:avLst/>
              <a:gdLst/>
              <a:ahLst/>
              <a:cxnLst/>
              <a:rect l="l" t="t" r="r" b="b"/>
              <a:pathLst>
                <a:path w="386715"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114" name="object 114"/>
            <p:cNvSpPr/>
            <p:nvPr/>
          </p:nvSpPr>
          <p:spPr>
            <a:xfrm>
              <a:off x="6635031" y="5234523"/>
              <a:ext cx="207010" cy="189230"/>
            </a:xfrm>
            <a:custGeom>
              <a:avLst/>
              <a:gdLst/>
              <a:ahLst/>
              <a:cxnLst/>
              <a:rect l="l" t="t" r="r" b="b"/>
              <a:pathLst>
                <a:path w="207009" h="189229">
                  <a:moveTo>
                    <a:pt x="0" y="0"/>
                  </a:moveTo>
                  <a:lnTo>
                    <a:pt x="0" y="188799"/>
                  </a:lnTo>
                  <a:lnTo>
                    <a:pt x="206395" y="94399"/>
                  </a:lnTo>
                  <a:lnTo>
                    <a:pt x="0" y="0"/>
                  </a:lnTo>
                  <a:close/>
                </a:path>
              </a:pathLst>
            </a:custGeom>
            <a:solidFill>
              <a:srgbClr val="FFFFFF"/>
            </a:solidFill>
          </p:spPr>
          <p:txBody>
            <a:bodyPr wrap="square" lIns="0" tIns="0" rIns="0" bIns="0" rtlCol="0"/>
            <a:lstStyle/>
            <a:p>
              <a:endParaRPr sz="1588"/>
            </a:p>
          </p:txBody>
        </p:sp>
        <p:sp>
          <p:nvSpPr>
            <p:cNvPr id="115" name="object 115"/>
            <p:cNvSpPr/>
            <p:nvPr/>
          </p:nvSpPr>
          <p:spPr>
            <a:xfrm>
              <a:off x="6660829" y="5245560"/>
              <a:ext cx="159385" cy="166370"/>
            </a:xfrm>
            <a:custGeom>
              <a:avLst/>
              <a:gdLst/>
              <a:ahLst/>
              <a:cxnLst/>
              <a:rect l="l" t="t" r="r" b="b"/>
              <a:pathLst>
                <a:path w="159384"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116" name="object 116"/>
          <p:cNvSpPr txBox="1"/>
          <p:nvPr/>
        </p:nvSpPr>
        <p:spPr>
          <a:xfrm>
            <a:off x="6141704" y="454081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17" name="object 117"/>
          <p:cNvGrpSpPr/>
          <p:nvPr/>
        </p:nvGrpSpPr>
        <p:grpSpPr>
          <a:xfrm>
            <a:off x="6342328" y="4527937"/>
            <a:ext cx="1116666" cy="349624"/>
            <a:chOff x="7035571" y="5131662"/>
            <a:chExt cx="1265555" cy="396240"/>
          </a:xfrm>
        </p:grpSpPr>
        <p:sp>
          <p:nvSpPr>
            <p:cNvPr id="118" name="object 118"/>
            <p:cNvSpPr/>
            <p:nvPr/>
          </p:nvSpPr>
          <p:spPr>
            <a:xfrm>
              <a:off x="7050811" y="5329711"/>
              <a:ext cx="1235075" cy="0"/>
            </a:xfrm>
            <a:custGeom>
              <a:avLst/>
              <a:gdLst/>
              <a:ahLst/>
              <a:cxnLst/>
              <a:rect l="l" t="t" r="r" b="b"/>
              <a:pathLst>
                <a:path w="1235075">
                  <a:moveTo>
                    <a:pt x="0" y="0"/>
                  </a:moveTo>
                  <a:lnTo>
                    <a:pt x="178480" y="0"/>
                  </a:lnTo>
                </a:path>
                <a:path w="1235075">
                  <a:moveTo>
                    <a:pt x="269666" y="0"/>
                  </a:moveTo>
                  <a:lnTo>
                    <a:pt x="372009" y="0"/>
                  </a:lnTo>
                </a:path>
                <a:path w="1235075">
                  <a:moveTo>
                    <a:pt x="875004" y="0"/>
                  </a:moveTo>
                  <a:lnTo>
                    <a:pt x="1028693" y="0"/>
                  </a:lnTo>
                </a:path>
                <a:path w="1235075">
                  <a:moveTo>
                    <a:pt x="1121163" y="0"/>
                  </a:moveTo>
                  <a:lnTo>
                    <a:pt x="1234935" y="0"/>
                  </a:lnTo>
                </a:path>
              </a:pathLst>
            </a:custGeom>
            <a:ln w="30481">
              <a:solidFill>
                <a:srgbClr val="000000"/>
              </a:solidFill>
            </a:ln>
          </p:spPr>
          <p:txBody>
            <a:bodyPr wrap="square" lIns="0" tIns="0" rIns="0" bIns="0" rtlCol="0"/>
            <a:lstStyle/>
            <a:p>
              <a:endParaRPr sz="1588"/>
            </a:p>
          </p:txBody>
        </p:sp>
        <p:sp>
          <p:nvSpPr>
            <p:cNvPr id="119" name="object 119"/>
            <p:cNvSpPr/>
            <p:nvPr/>
          </p:nvSpPr>
          <p:spPr>
            <a:xfrm>
              <a:off x="7422820" y="5146902"/>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20" name="object 120"/>
          <p:cNvSpPr txBox="1"/>
          <p:nvPr/>
        </p:nvSpPr>
        <p:spPr>
          <a:xfrm>
            <a:off x="6677653" y="4582309"/>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121" name="object 121"/>
          <p:cNvGrpSpPr/>
          <p:nvPr/>
        </p:nvGrpSpPr>
        <p:grpSpPr>
          <a:xfrm>
            <a:off x="4821442" y="4591902"/>
            <a:ext cx="2438960" cy="381559"/>
            <a:chOff x="5311900" y="5204155"/>
            <a:chExt cx="2764155" cy="432434"/>
          </a:xfrm>
        </p:grpSpPr>
        <p:sp>
          <p:nvSpPr>
            <p:cNvPr id="122" name="object 122"/>
            <p:cNvSpPr/>
            <p:nvPr/>
          </p:nvSpPr>
          <p:spPr>
            <a:xfrm>
              <a:off x="7373508" y="5329711"/>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123" name="object 123"/>
            <p:cNvSpPr/>
            <p:nvPr/>
          </p:nvSpPr>
          <p:spPr>
            <a:xfrm>
              <a:off x="5327140" y="5219395"/>
              <a:ext cx="434975" cy="220979"/>
            </a:xfrm>
            <a:custGeom>
              <a:avLst/>
              <a:gdLst/>
              <a:ahLst/>
              <a:cxnLst/>
              <a:rect l="l" t="t" r="r" b="b"/>
              <a:pathLst>
                <a:path w="434975" h="220979">
                  <a:moveTo>
                    <a:pt x="217139" y="220632"/>
                  </a:moveTo>
                  <a:lnTo>
                    <a:pt x="434955" y="220632"/>
                  </a:lnTo>
                </a:path>
                <a:path w="434975" h="220979">
                  <a:moveTo>
                    <a:pt x="0" y="220632"/>
                  </a:moveTo>
                  <a:lnTo>
                    <a:pt x="124669" y="220632"/>
                  </a:lnTo>
                </a:path>
                <a:path w="434975" h="220979">
                  <a:moveTo>
                    <a:pt x="217139" y="0"/>
                  </a:moveTo>
                  <a:lnTo>
                    <a:pt x="432886" y="0"/>
                  </a:lnTo>
                </a:path>
                <a:path w="434975" h="220979">
                  <a:moveTo>
                    <a:pt x="0" y="0"/>
                  </a:moveTo>
                  <a:lnTo>
                    <a:pt x="124669" y="0"/>
                  </a:lnTo>
                </a:path>
              </a:pathLst>
            </a:custGeom>
            <a:ln w="30481">
              <a:solidFill>
                <a:srgbClr val="000000"/>
              </a:solidFill>
            </a:ln>
          </p:spPr>
          <p:txBody>
            <a:bodyPr wrap="square" lIns="0" tIns="0" rIns="0" bIns="0" rtlCol="0"/>
            <a:lstStyle/>
            <a:p>
              <a:endParaRPr sz="1588"/>
            </a:p>
          </p:txBody>
        </p:sp>
      </p:grpSp>
      <p:sp>
        <p:nvSpPr>
          <p:cNvPr id="124" name="object 124"/>
          <p:cNvSpPr txBox="1"/>
          <p:nvPr/>
        </p:nvSpPr>
        <p:spPr>
          <a:xfrm>
            <a:off x="4428849" y="4541384"/>
            <a:ext cx="406213" cy="215609"/>
          </a:xfrm>
          <a:prstGeom prst="rect">
            <a:avLst/>
          </a:prstGeom>
          <a:ln w="30479">
            <a:solidFill>
              <a:srgbClr val="000000"/>
            </a:solidFill>
          </a:ln>
        </p:spPr>
        <p:txBody>
          <a:bodyPr vert="horz" wrap="square" lIns="0" tIns="52107" rIns="0" bIns="0" rtlCol="0">
            <a:spAutoFit/>
          </a:bodyPr>
          <a:lstStyle/>
          <a:p>
            <a:pPr marL="39223">
              <a:spcBef>
                <a:spcPts val="410"/>
              </a:spcBef>
            </a:pPr>
            <a:r>
              <a:rPr sz="1059" b="1" spc="-9" dirty="0">
                <a:latin typeface="Times New Roman"/>
                <a:cs typeface="Times New Roman"/>
              </a:rPr>
              <a:t>Ifetch</a:t>
            </a:r>
            <a:endParaRPr sz="1059">
              <a:latin typeface="Times New Roman"/>
              <a:cs typeface="Times New Roman"/>
            </a:endParaRPr>
          </a:p>
        </p:txBody>
      </p:sp>
      <p:grpSp>
        <p:nvGrpSpPr>
          <p:cNvPr id="125" name="object 125"/>
          <p:cNvGrpSpPr/>
          <p:nvPr/>
        </p:nvGrpSpPr>
        <p:grpSpPr>
          <a:xfrm>
            <a:off x="4931444" y="4381933"/>
            <a:ext cx="2934820" cy="640416"/>
            <a:chOff x="5436570" y="4966190"/>
            <a:chExt cx="3326129" cy="725805"/>
          </a:xfrm>
        </p:grpSpPr>
        <p:sp>
          <p:nvSpPr>
            <p:cNvPr id="126" name="object 126"/>
            <p:cNvSpPr/>
            <p:nvPr/>
          </p:nvSpPr>
          <p:spPr>
            <a:xfrm>
              <a:off x="6381648" y="4981430"/>
              <a:ext cx="92710" cy="695325"/>
            </a:xfrm>
            <a:custGeom>
              <a:avLst/>
              <a:gdLst/>
              <a:ahLst/>
              <a:cxnLst/>
              <a:rect l="l" t="t" r="r" b="b"/>
              <a:pathLst>
                <a:path w="92710" h="695325">
                  <a:moveTo>
                    <a:pt x="92471" y="0"/>
                  </a:moveTo>
                  <a:lnTo>
                    <a:pt x="0" y="0"/>
                  </a:lnTo>
                  <a:lnTo>
                    <a:pt x="0" y="694987"/>
                  </a:lnTo>
                  <a:lnTo>
                    <a:pt x="92471" y="694987"/>
                  </a:lnTo>
                  <a:lnTo>
                    <a:pt x="92471" y="0"/>
                  </a:lnTo>
                  <a:close/>
                </a:path>
              </a:pathLst>
            </a:custGeom>
            <a:solidFill>
              <a:srgbClr val="00FF00"/>
            </a:solidFill>
          </p:spPr>
          <p:txBody>
            <a:bodyPr wrap="square" lIns="0" tIns="0" rIns="0" bIns="0" rtlCol="0"/>
            <a:lstStyle/>
            <a:p>
              <a:endParaRPr sz="1588"/>
            </a:p>
          </p:txBody>
        </p:sp>
        <p:sp>
          <p:nvSpPr>
            <p:cNvPr id="127" name="object 127"/>
            <p:cNvSpPr/>
            <p:nvPr/>
          </p:nvSpPr>
          <p:spPr>
            <a:xfrm>
              <a:off x="6381648" y="4981430"/>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28" name="object 128"/>
            <p:cNvSpPr/>
            <p:nvPr/>
          </p:nvSpPr>
          <p:spPr>
            <a:xfrm>
              <a:off x="8079504" y="4981430"/>
              <a:ext cx="92710" cy="695325"/>
            </a:xfrm>
            <a:custGeom>
              <a:avLst/>
              <a:gdLst/>
              <a:ahLst/>
              <a:cxnLst/>
              <a:rect l="l" t="t" r="r" b="b"/>
              <a:pathLst>
                <a:path w="92709"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29" name="object 129"/>
            <p:cNvSpPr/>
            <p:nvPr/>
          </p:nvSpPr>
          <p:spPr>
            <a:xfrm>
              <a:off x="8079504" y="4981430"/>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30" name="object 130"/>
            <p:cNvSpPr/>
            <p:nvPr/>
          </p:nvSpPr>
          <p:spPr>
            <a:xfrm>
              <a:off x="5451810" y="4981430"/>
              <a:ext cx="92710" cy="695325"/>
            </a:xfrm>
            <a:custGeom>
              <a:avLst/>
              <a:gdLst/>
              <a:ahLst/>
              <a:cxnLst/>
              <a:rect l="l" t="t" r="r" b="b"/>
              <a:pathLst>
                <a:path w="92710"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31" name="object 131"/>
            <p:cNvSpPr/>
            <p:nvPr/>
          </p:nvSpPr>
          <p:spPr>
            <a:xfrm>
              <a:off x="5451810" y="4981430"/>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32" name="object 132"/>
            <p:cNvSpPr/>
            <p:nvPr/>
          </p:nvSpPr>
          <p:spPr>
            <a:xfrm>
              <a:off x="7229291" y="4985512"/>
              <a:ext cx="91440" cy="685800"/>
            </a:xfrm>
            <a:custGeom>
              <a:avLst/>
              <a:gdLst/>
              <a:ahLst/>
              <a:cxnLst/>
              <a:rect l="l" t="t" r="r" b="b"/>
              <a:pathLst>
                <a:path w="91440" h="685800">
                  <a:moveTo>
                    <a:pt x="91185" y="0"/>
                  </a:moveTo>
                  <a:lnTo>
                    <a:pt x="0" y="0"/>
                  </a:lnTo>
                  <a:lnTo>
                    <a:pt x="0" y="685802"/>
                  </a:lnTo>
                  <a:lnTo>
                    <a:pt x="91185" y="685802"/>
                  </a:lnTo>
                  <a:lnTo>
                    <a:pt x="91185" y="0"/>
                  </a:lnTo>
                  <a:close/>
                </a:path>
              </a:pathLst>
            </a:custGeom>
            <a:solidFill>
              <a:srgbClr val="00FF00"/>
            </a:solidFill>
          </p:spPr>
          <p:txBody>
            <a:bodyPr wrap="square" lIns="0" tIns="0" rIns="0" bIns="0" rtlCol="0"/>
            <a:lstStyle/>
            <a:p>
              <a:endParaRPr sz="1588"/>
            </a:p>
          </p:txBody>
        </p:sp>
        <p:sp>
          <p:nvSpPr>
            <p:cNvPr id="133" name="object 133"/>
            <p:cNvSpPr/>
            <p:nvPr/>
          </p:nvSpPr>
          <p:spPr>
            <a:xfrm>
              <a:off x="7229291" y="4985512"/>
              <a:ext cx="91440" cy="685800"/>
            </a:xfrm>
            <a:custGeom>
              <a:avLst/>
              <a:gdLst/>
              <a:ahLst/>
              <a:cxnLst/>
              <a:rect l="l" t="t" r="r" b="b"/>
              <a:pathLst>
                <a:path w="91440" h="685800">
                  <a:moveTo>
                    <a:pt x="0" y="0"/>
                  </a:moveTo>
                  <a:lnTo>
                    <a:pt x="91186" y="0"/>
                  </a:lnTo>
                  <a:lnTo>
                    <a:pt x="91186"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34" name="object 134"/>
            <p:cNvSpPr/>
            <p:nvPr/>
          </p:nvSpPr>
          <p:spPr>
            <a:xfrm>
              <a:off x="8285746" y="5132719"/>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135" name="object 135"/>
            <p:cNvSpPr/>
            <p:nvPr/>
          </p:nvSpPr>
          <p:spPr>
            <a:xfrm>
              <a:off x="8285745" y="5132719"/>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136" name="object 136"/>
          <p:cNvSpPr txBox="1"/>
          <p:nvPr/>
        </p:nvSpPr>
        <p:spPr>
          <a:xfrm>
            <a:off x="7531302" y="456886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37" name="object 137"/>
          <p:cNvSpPr txBox="1"/>
          <p:nvPr/>
        </p:nvSpPr>
        <p:spPr>
          <a:xfrm>
            <a:off x="2076020"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1</a:t>
            </a:r>
            <a:endParaRPr sz="1324">
              <a:latin typeface="Times New Roman"/>
              <a:cs typeface="Times New Roman"/>
            </a:endParaRPr>
          </a:p>
        </p:txBody>
      </p:sp>
      <p:sp>
        <p:nvSpPr>
          <p:cNvPr id="138" name="object 138"/>
          <p:cNvSpPr txBox="1"/>
          <p:nvPr/>
        </p:nvSpPr>
        <p:spPr>
          <a:xfrm>
            <a:off x="5905782"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6</a:t>
            </a:r>
            <a:endParaRPr sz="1324">
              <a:latin typeface="Times New Roman"/>
              <a:cs typeface="Times New Roman"/>
            </a:endParaRPr>
          </a:p>
        </p:txBody>
      </p:sp>
      <p:sp>
        <p:nvSpPr>
          <p:cNvPr id="139" name="object 139"/>
          <p:cNvSpPr txBox="1"/>
          <p:nvPr/>
        </p:nvSpPr>
        <p:spPr>
          <a:xfrm>
            <a:off x="6659330"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7</a:t>
            </a:r>
            <a:endParaRPr sz="1324">
              <a:latin typeface="Times New Roman"/>
              <a:cs typeface="Times New Roman"/>
            </a:endParaRPr>
          </a:p>
        </p:txBody>
      </p:sp>
      <p:sp>
        <p:nvSpPr>
          <p:cNvPr id="140" name="object 140"/>
          <p:cNvSpPr txBox="1"/>
          <p:nvPr/>
        </p:nvSpPr>
        <p:spPr>
          <a:xfrm>
            <a:off x="2808893" y="1291813"/>
            <a:ext cx="2824443" cy="756712"/>
          </a:xfrm>
          <a:prstGeom prst="rect">
            <a:avLst/>
          </a:prstGeom>
        </p:spPr>
        <p:txBody>
          <a:bodyPr vert="horz" wrap="square" lIns="0" tIns="11206" rIns="0" bIns="0" rtlCol="0">
            <a:spAutoFit/>
          </a:bodyPr>
          <a:lstStyle/>
          <a:p>
            <a:pPr marL="876907">
              <a:spcBef>
                <a:spcPts val="88"/>
              </a:spcBef>
            </a:pPr>
            <a:r>
              <a:rPr sz="1853" i="1" dirty="0">
                <a:latin typeface="Times New Roman"/>
                <a:cs typeface="Times New Roman"/>
              </a:rPr>
              <a:t>Time</a:t>
            </a:r>
            <a:r>
              <a:rPr sz="1853" i="1" spc="-18" dirty="0">
                <a:latin typeface="Times New Roman"/>
                <a:cs typeface="Times New Roman"/>
              </a:rPr>
              <a:t> </a:t>
            </a:r>
            <a:r>
              <a:rPr sz="1853" i="1" dirty="0">
                <a:latin typeface="Times New Roman"/>
                <a:cs typeface="Times New Roman"/>
              </a:rPr>
              <a:t>(clock</a:t>
            </a:r>
            <a:r>
              <a:rPr sz="1853" i="1" spc="-13" dirty="0">
                <a:latin typeface="Times New Roman"/>
                <a:cs typeface="Times New Roman"/>
              </a:rPr>
              <a:t> </a:t>
            </a:r>
            <a:r>
              <a:rPr sz="1853" i="1" spc="-9" dirty="0">
                <a:latin typeface="Times New Roman"/>
                <a:cs typeface="Times New Roman"/>
              </a:rPr>
              <a:t>cycles)</a:t>
            </a:r>
            <a:endParaRPr sz="1853">
              <a:latin typeface="Times New Roman"/>
              <a:cs typeface="Times New Roman"/>
            </a:endParaRPr>
          </a:p>
          <a:p>
            <a:pPr marL="11206">
              <a:spcBef>
                <a:spcPts val="2012"/>
              </a:spcBef>
              <a:tabLst>
                <a:tab pos="787816" algn="l"/>
                <a:tab pos="1550977" algn="l"/>
                <a:tab pos="2286682" algn="l"/>
              </a:tabLst>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2</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3</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4</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5</a:t>
            </a:r>
            <a:endParaRPr sz="1324">
              <a:latin typeface="Times New Roman"/>
              <a:cs typeface="Times New Roman"/>
            </a:endParaRPr>
          </a:p>
        </p:txBody>
      </p:sp>
      <p:grpSp>
        <p:nvGrpSpPr>
          <p:cNvPr id="141" name="object 141"/>
          <p:cNvGrpSpPr/>
          <p:nvPr/>
        </p:nvGrpSpPr>
        <p:grpSpPr>
          <a:xfrm>
            <a:off x="6027867" y="5258179"/>
            <a:ext cx="430306" cy="351304"/>
            <a:chOff x="6679183" y="5959269"/>
            <a:chExt cx="487680" cy="398145"/>
          </a:xfrm>
        </p:grpSpPr>
        <p:sp>
          <p:nvSpPr>
            <p:cNvPr id="142" name="object 142"/>
            <p:cNvSpPr/>
            <p:nvPr/>
          </p:nvSpPr>
          <p:spPr>
            <a:xfrm>
              <a:off x="6922998" y="5974509"/>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143" name="object 143"/>
            <p:cNvSpPr/>
            <p:nvPr/>
          </p:nvSpPr>
          <p:spPr>
            <a:xfrm>
              <a:off x="6694423" y="5974509"/>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44" name="object 144"/>
          <p:cNvSpPr txBox="1"/>
          <p:nvPr/>
        </p:nvSpPr>
        <p:spPr>
          <a:xfrm>
            <a:off x="6123657" y="5311139"/>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45" name="object 145"/>
          <p:cNvGrpSpPr/>
          <p:nvPr/>
        </p:nvGrpSpPr>
        <p:grpSpPr>
          <a:xfrm>
            <a:off x="6433063" y="5161895"/>
            <a:ext cx="755837" cy="542925"/>
            <a:chOff x="7138404" y="5850147"/>
            <a:chExt cx="856615" cy="615315"/>
          </a:xfrm>
        </p:grpSpPr>
        <p:sp>
          <p:nvSpPr>
            <p:cNvPr id="146" name="object 146"/>
            <p:cNvSpPr/>
            <p:nvPr/>
          </p:nvSpPr>
          <p:spPr>
            <a:xfrm>
              <a:off x="7153644" y="6048578"/>
              <a:ext cx="504825" cy="219075"/>
            </a:xfrm>
            <a:custGeom>
              <a:avLst/>
              <a:gdLst/>
              <a:ahLst/>
              <a:cxnLst/>
              <a:rect l="l" t="t" r="r" b="b"/>
              <a:pathLst>
                <a:path w="504825" h="219075">
                  <a:moveTo>
                    <a:pt x="0" y="0"/>
                  </a:moveTo>
                  <a:lnTo>
                    <a:pt x="81989" y="0"/>
                  </a:lnTo>
                </a:path>
                <a:path w="504825" h="219075">
                  <a:moveTo>
                    <a:pt x="174459" y="0"/>
                  </a:moveTo>
                  <a:lnTo>
                    <a:pt x="504730" y="0"/>
                  </a:lnTo>
                </a:path>
                <a:path w="504825" h="219075">
                  <a:moveTo>
                    <a:pt x="0" y="219054"/>
                  </a:moveTo>
                  <a:lnTo>
                    <a:pt x="81989" y="219054"/>
                  </a:lnTo>
                </a:path>
                <a:path w="504825" h="219075">
                  <a:moveTo>
                    <a:pt x="174459" y="219054"/>
                  </a:moveTo>
                  <a:lnTo>
                    <a:pt x="504730" y="219054"/>
                  </a:lnTo>
                </a:path>
              </a:pathLst>
            </a:custGeom>
            <a:ln w="30481">
              <a:solidFill>
                <a:srgbClr val="000000"/>
              </a:solidFill>
            </a:ln>
          </p:spPr>
          <p:txBody>
            <a:bodyPr wrap="square" lIns="0" tIns="0" rIns="0" bIns="0" rtlCol="0"/>
            <a:lstStyle/>
            <a:p>
              <a:endParaRPr sz="1588"/>
            </a:p>
          </p:txBody>
        </p:sp>
        <p:sp>
          <p:nvSpPr>
            <p:cNvPr id="147" name="object 147"/>
            <p:cNvSpPr/>
            <p:nvPr/>
          </p:nvSpPr>
          <p:spPr>
            <a:xfrm>
              <a:off x="7593158" y="5865388"/>
              <a:ext cx="386715" cy="584835"/>
            </a:xfrm>
            <a:custGeom>
              <a:avLst/>
              <a:gdLst/>
              <a:ahLst/>
              <a:cxnLst/>
              <a:rect l="l" t="t" r="r" b="b"/>
              <a:pathLst>
                <a:path w="386715" h="584835">
                  <a:moveTo>
                    <a:pt x="0" y="0"/>
                  </a:moveTo>
                  <a:lnTo>
                    <a:pt x="0" y="584671"/>
                  </a:lnTo>
                  <a:lnTo>
                    <a:pt x="386417" y="438503"/>
                  </a:lnTo>
                  <a:lnTo>
                    <a:pt x="386417" y="146166"/>
                  </a:lnTo>
                  <a:lnTo>
                    <a:pt x="0" y="0"/>
                  </a:lnTo>
                  <a:close/>
                </a:path>
              </a:pathLst>
            </a:custGeom>
            <a:solidFill>
              <a:srgbClr val="FFFFFF"/>
            </a:solidFill>
          </p:spPr>
          <p:txBody>
            <a:bodyPr wrap="square" lIns="0" tIns="0" rIns="0" bIns="0" rtlCol="0"/>
            <a:lstStyle/>
            <a:p>
              <a:endParaRPr sz="1588"/>
            </a:p>
          </p:txBody>
        </p:sp>
        <p:sp>
          <p:nvSpPr>
            <p:cNvPr id="148" name="object 148"/>
            <p:cNvSpPr/>
            <p:nvPr/>
          </p:nvSpPr>
          <p:spPr>
            <a:xfrm>
              <a:off x="7593158" y="5865387"/>
              <a:ext cx="386715" cy="584835"/>
            </a:xfrm>
            <a:custGeom>
              <a:avLst/>
              <a:gdLst/>
              <a:ahLst/>
              <a:cxnLst/>
              <a:rect l="l" t="t" r="r" b="b"/>
              <a:pathLst>
                <a:path w="386715"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149" name="object 149"/>
            <p:cNvSpPr/>
            <p:nvPr/>
          </p:nvSpPr>
          <p:spPr>
            <a:xfrm>
              <a:off x="7567357" y="6063705"/>
              <a:ext cx="207010" cy="189230"/>
            </a:xfrm>
            <a:custGeom>
              <a:avLst/>
              <a:gdLst/>
              <a:ahLst/>
              <a:cxnLst/>
              <a:rect l="l" t="t" r="r" b="b"/>
              <a:pathLst>
                <a:path w="207009" h="189229">
                  <a:moveTo>
                    <a:pt x="0" y="0"/>
                  </a:moveTo>
                  <a:lnTo>
                    <a:pt x="0" y="188799"/>
                  </a:lnTo>
                  <a:lnTo>
                    <a:pt x="206396" y="94400"/>
                  </a:lnTo>
                  <a:lnTo>
                    <a:pt x="0" y="0"/>
                  </a:lnTo>
                  <a:close/>
                </a:path>
              </a:pathLst>
            </a:custGeom>
            <a:solidFill>
              <a:srgbClr val="FFFFFF"/>
            </a:solidFill>
          </p:spPr>
          <p:txBody>
            <a:bodyPr wrap="square" lIns="0" tIns="0" rIns="0" bIns="0" rtlCol="0"/>
            <a:lstStyle/>
            <a:p>
              <a:endParaRPr sz="1588"/>
            </a:p>
          </p:txBody>
        </p:sp>
        <p:sp>
          <p:nvSpPr>
            <p:cNvPr id="150" name="object 150"/>
            <p:cNvSpPr/>
            <p:nvPr/>
          </p:nvSpPr>
          <p:spPr>
            <a:xfrm>
              <a:off x="7593156" y="6074744"/>
              <a:ext cx="159385" cy="166370"/>
            </a:xfrm>
            <a:custGeom>
              <a:avLst/>
              <a:gdLst/>
              <a:ahLst/>
              <a:cxnLst/>
              <a:rect l="l" t="t" r="r" b="b"/>
              <a:pathLst>
                <a:path w="159384"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151" name="object 151"/>
          <p:cNvSpPr txBox="1"/>
          <p:nvPr/>
        </p:nvSpPr>
        <p:spPr>
          <a:xfrm>
            <a:off x="6964351" y="527233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52" name="object 152"/>
          <p:cNvGrpSpPr/>
          <p:nvPr/>
        </p:nvGrpSpPr>
        <p:grpSpPr>
          <a:xfrm>
            <a:off x="7164969" y="5259567"/>
            <a:ext cx="1116666" cy="349624"/>
            <a:chOff x="7967898" y="5960843"/>
            <a:chExt cx="1265555" cy="396240"/>
          </a:xfrm>
        </p:grpSpPr>
        <p:sp>
          <p:nvSpPr>
            <p:cNvPr id="153" name="object 153"/>
            <p:cNvSpPr/>
            <p:nvPr/>
          </p:nvSpPr>
          <p:spPr>
            <a:xfrm>
              <a:off x="7983138" y="6158893"/>
              <a:ext cx="1235075" cy="0"/>
            </a:xfrm>
            <a:custGeom>
              <a:avLst/>
              <a:gdLst/>
              <a:ahLst/>
              <a:cxnLst/>
              <a:rect l="l" t="t" r="r" b="b"/>
              <a:pathLst>
                <a:path w="1235075">
                  <a:moveTo>
                    <a:pt x="0" y="0"/>
                  </a:moveTo>
                  <a:lnTo>
                    <a:pt x="107844" y="0"/>
                  </a:lnTo>
                </a:path>
                <a:path w="1235075">
                  <a:moveTo>
                    <a:pt x="199030" y="0"/>
                  </a:moveTo>
                  <a:lnTo>
                    <a:pt x="372009" y="0"/>
                  </a:lnTo>
                </a:path>
                <a:path w="1235075">
                  <a:moveTo>
                    <a:pt x="1121163" y="0"/>
                  </a:moveTo>
                  <a:lnTo>
                    <a:pt x="1234934" y="0"/>
                  </a:lnTo>
                </a:path>
                <a:path w="1235075">
                  <a:moveTo>
                    <a:pt x="875003" y="0"/>
                  </a:moveTo>
                  <a:lnTo>
                    <a:pt x="1028693" y="0"/>
                  </a:lnTo>
                </a:path>
              </a:pathLst>
            </a:custGeom>
            <a:ln w="30481">
              <a:solidFill>
                <a:srgbClr val="000000"/>
              </a:solidFill>
            </a:ln>
          </p:spPr>
          <p:txBody>
            <a:bodyPr wrap="square" lIns="0" tIns="0" rIns="0" bIns="0" rtlCol="0"/>
            <a:lstStyle/>
            <a:p>
              <a:endParaRPr sz="1588"/>
            </a:p>
          </p:txBody>
        </p:sp>
        <p:sp>
          <p:nvSpPr>
            <p:cNvPr id="154" name="object 154"/>
            <p:cNvSpPr/>
            <p:nvPr/>
          </p:nvSpPr>
          <p:spPr>
            <a:xfrm>
              <a:off x="8355148" y="5976083"/>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55" name="object 155"/>
          <p:cNvSpPr txBox="1"/>
          <p:nvPr/>
        </p:nvSpPr>
        <p:spPr>
          <a:xfrm>
            <a:off x="7500295" y="5313830"/>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156" name="object 156"/>
          <p:cNvGrpSpPr/>
          <p:nvPr/>
        </p:nvGrpSpPr>
        <p:grpSpPr>
          <a:xfrm>
            <a:off x="5644084" y="5323534"/>
            <a:ext cx="2438960" cy="381559"/>
            <a:chOff x="6244228" y="6033338"/>
            <a:chExt cx="2764155" cy="432434"/>
          </a:xfrm>
        </p:grpSpPr>
        <p:sp>
          <p:nvSpPr>
            <p:cNvPr id="157" name="object 157"/>
            <p:cNvSpPr/>
            <p:nvPr/>
          </p:nvSpPr>
          <p:spPr>
            <a:xfrm>
              <a:off x="8305835" y="6158892"/>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158" name="object 158"/>
            <p:cNvSpPr/>
            <p:nvPr/>
          </p:nvSpPr>
          <p:spPr>
            <a:xfrm>
              <a:off x="6259468" y="6048578"/>
              <a:ext cx="434975" cy="220979"/>
            </a:xfrm>
            <a:custGeom>
              <a:avLst/>
              <a:gdLst/>
              <a:ahLst/>
              <a:cxnLst/>
              <a:rect l="l" t="t" r="r" b="b"/>
              <a:pathLst>
                <a:path w="434975" h="220979">
                  <a:moveTo>
                    <a:pt x="217139" y="220630"/>
                  </a:moveTo>
                  <a:lnTo>
                    <a:pt x="434955" y="220630"/>
                  </a:lnTo>
                </a:path>
                <a:path w="434975" h="220979">
                  <a:moveTo>
                    <a:pt x="0" y="220630"/>
                  </a:moveTo>
                  <a:lnTo>
                    <a:pt x="124669" y="220630"/>
                  </a:lnTo>
                </a:path>
                <a:path w="434975" h="220979">
                  <a:moveTo>
                    <a:pt x="217139" y="0"/>
                  </a:moveTo>
                  <a:lnTo>
                    <a:pt x="432886" y="0"/>
                  </a:lnTo>
                </a:path>
                <a:path w="434975" h="220979">
                  <a:moveTo>
                    <a:pt x="0" y="0"/>
                  </a:moveTo>
                  <a:lnTo>
                    <a:pt x="124669" y="0"/>
                  </a:lnTo>
                </a:path>
              </a:pathLst>
            </a:custGeom>
            <a:ln w="30481">
              <a:solidFill>
                <a:srgbClr val="000000"/>
              </a:solidFill>
            </a:ln>
          </p:spPr>
          <p:txBody>
            <a:bodyPr wrap="square" lIns="0" tIns="0" rIns="0" bIns="0" rtlCol="0"/>
            <a:lstStyle/>
            <a:p>
              <a:endParaRPr sz="1588"/>
            </a:p>
          </p:txBody>
        </p:sp>
      </p:grpSp>
      <p:sp>
        <p:nvSpPr>
          <p:cNvPr id="159" name="object 159"/>
          <p:cNvSpPr txBox="1"/>
          <p:nvPr/>
        </p:nvSpPr>
        <p:spPr>
          <a:xfrm>
            <a:off x="5251492" y="5273015"/>
            <a:ext cx="406213" cy="215608"/>
          </a:xfrm>
          <a:prstGeom prst="rect">
            <a:avLst/>
          </a:prstGeom>
          <a:ln w="30479">
            <a:solidFill>
              <a:srgbClr val="000000"/>
            </a:solidFill>
          </a:ln>
        </p:spPr>
        <p:txBody>
          <a:bodyPr vert="horz" wrap="square" lIns="0" tIns="52106" rIns="0" bIns="0" rtlCol="0">
            <a:spAutoFit/>
          </a:bodyPr>
          <a:lstStyle/>
          <a:p>
            <a:pPr marL="39223">
              <a:spcBef>
                <a:spcPts val="409"/>
              </a:spcBef>
            </a:pPr>
            <a:r>
              <a:rPr sz="1059" b="1" spc="-9" dirty="0">
                <a:latin typeface="Times New Roman"/>
                <a:cs typeface="Times New Roman"/>
              </a:rPr>
              <a:t>Ifetch</a:t>
            </a:r>
            <a:endParaRPr sz="1059">
              <a:latin typeface="Times New Roman"/>
              <a:cs typeface="Times New Roman"/>
            </a:endParaRPr>
          </a:p>
        </p:txBody>
      </p:sp>
      <p:grpSp>
        <p:nvGrpSpPr>
          <p:cNvPr id="160" name="object 160"/>
          <p:cNvGrpSpPr/>
          <p:nvPr/>
        </p:nvGrpSpPr>
        <p:grpSpPr>
          <a:xfrm>
            <a:off x="5754086" y="5113563"/>
            <a:ext cx="2934820" cy="640416"/>
            <a:chOff x="6368897" y="5795371"/>
            <a:chExt cx="3326129" cy="725805"/>
          </a:xfrm>
        </p:grpSpPr>
        <p:sp>
          <p:nvSpPr>
            <p:cNvPr id="161" name="object 161"/>
            <p:cNvSpPr/>
            <p:nvPr/>
          </p:nvSpPr>
          <p:spPr>
            <a:xfrm>
              <a:off x="7235634" y="5810611"/>
              <a:ext cx="92710" cy="695325"/>
            </a:xfrm>
            <a:custGeom>
              <a:avLst/>
              <a:gdLst/>
              <a:ahLst/>
              <a:cxnLst/>
              <a:rect l="l" t="t" r="r" b="b"/>
              <a:pathLst>
                <a:path w="92709"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62" name="object 162"/>
            <p:cNvSpPr/>
            <p:nvPr/>
          </p:nvSpPr>
          <p:spPr>
            <a:xfrm>
              <a:off x="7235634" y="5810611"/>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3" name="object 163"/>
            <p:cNvSpPr/>
            <p:nvPr/>
          </p:nvSpPr>
          <p:spPr>
            <a:xfrm>
              <a:off x="9011832" y="5810611"/>
              <a:ext cx="92710" cy="695325"/>
            </a:xfrm>
            <a:custGeom>
              <a:avLst/>
              <a:gdLst/>
              <a:ahLst/>
              <a:cxnLst/>
              <a:rect l="l" t="t" r="r" b="b"/>
              <a:pathLst>
                <a:path w="92709"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64" name="object 164"/>
            <p:cNvSpPr/>
            <p:nvPr/>
          </p:nvSpPr>
          <p:spPr>
            <a:xfrm>
              <a:off x="9011832" y="5810611"/>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5" name="object 165"/>
            <p:cNvSpPr/>
            <p:nvPr/>
          </p:nvSpPr>
          <p:spPr>
            <a:xfrm>
              <a:off x="6384137" y="5810611"/>
              <a:ext cx="92710" cy="695325"/>
            </a:xfrm>
            <a:custGeom>
              <a:avLst/>
              <a:gdLst/>
              <a:ahLst/>
              <a:cxnLst/>
              <a:rect l="l" t="t" r="r" b="b"/>
              <a:pathLst>
                <a:path w="92710"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66" name="object 166"/>
            <p:cNvSpPr/>
            <p:nvPr/>
          </p:nvSpPr>
          <p:spPr>
            <a:xfrm>
              <a:off x="6384137" y="5810611"/>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7" name="object 167"/>
            <p:cNvSpPr/>
            <p:nvPr/>
          </p:nvSpPr>
          <p:spPr>
            <a:xfrm>
              <a:off x="8090983" y="5814693"/>
              <a:ext cx="91440" cy="685800"/>
            </a:xfrm>
            <a:custGeom>
              <a:avLst/>
              <a:gdLst/>
              <a:ahLst/>
              <a:cxnLst/>
              <a:rect l="l" t="t" r="r" b="b"/>
              <a:pathLst>
                <a:path w="91440" h="685800">
                  <a:moveTo>
                    <a:pt x="91185" y="0"/>
                  </a:moveTo>
                  <a:lnTo>
                    <a:pt x="0" y="0"/>
                  </a:lnTo>
                  <a:lnTo>
                    <a:pt x="0" y="685802"/>
                  </a:lnTo>
                  <a:lnTo>
                    <a:pt x="91185" y="685802"/>
                  </a:lnTo>
                  <a:lnTo>
                    <a:pt x="91185" y="0"/>
                  </a:lnTo>
                  <a:close/>
                </a:path>
              </a:pathLst>
            </a:custGeom>
            <a:solidFill>
              <a:srgbClr val="00FF00"/>
            </a:solidFill>
          </p:spPr>
          <p:txBody>
            <a:bodyPr wrap="square" lIns="0" tIns="0" rIns="0" bIns="0" rtlCol="0"/>
            <a:lstStyle/>
            <a:p>
              <a:endParaRPr sz="1588"/>
            </a:p>
          </p:txBody>
        </p:sp>
        <p:sp>
          <p:nvSpPr>
            <p:cNvPr id="168" name="object 168"/>
            <p:cNvSpPr/>
            <p:nvPr/>
          </p:nvSpPr>
          <p:spPr>
            <a:xfrm>
              <a:off x="8090983" y="5814693"/>
              <a:ext cx="91440" cy="685800"/>
            </a:xfrm>
            <a:custGeom>
              <a:avLst/>
              <a:gdLst/>
              <a:ahLst/>
              <a:cxnLst/>
              <a:rect l="l" t="t" r="r" b="b"/>
              <a:pathLst>
                <a:path w="91440" h="685800">
                  <a:moveTo>
                    <a:pt x="0" y="0"/>
                  </a:moveTo>
                  <a:lnTo>
                    <a:pt x="91186" y="0"/>
                  </a:lnTo>
                  <a:lnTo>
                    <a:pt x="91186"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69" name="object 169"/>
            <p:cNvSpPr/>
            <p:nvPr/>
          </p:nvSpPr>
          <p:spPr>
            <a:xfrm>
              <a:off x="9218072" y="5961900"/>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170" name="object 170"/>
            <p:cNvSpPr/>
            <p:nvPr/>
          </p:nvSpPr>
          <p:spPr>
            <a:xfrm>
              <a:off x="9218074" y="5961900"/>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171" name="object 171"/>
          <p:cNvSpPr txBox="1"/>
          <p:nvPr/>
        </p:nvSpPr>
        <p:spPr>
          <a:xfrm>
            <a:off x="8353943" y="530038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72" name="object 172"/>
          <p:cNvGrpSpPr/>
          <p:nvPr/>
        </p:nvGrpSpPr>
        <p:grpSpPr>
          <a:xfrm>
            <a:off x="1957474" y="1647513"/>
            <a:ext cx="6177802" cy="4650441"/>
            <a:chOff x="2066070" y="1867181"/>
            <a:chExt cx="7001509" cy="5270500"/>
          </a:xfrm>
        </p:grpSpPr>
        <p:sp>
          <p:nvSpPr>
            <p:cNvPr id="173" name="object 173"/>
            <p:cNvSpPr/>
            <p:nvPr/>
          </p:nvSpPr>
          <p:spPr>
            <a:xfrm>
              <a:off x="2934522"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4" name="object 174"/>
            <p:cNvSpPr/>
            <p:nvPr/>
          </p:nvSpPr>
          <p:spPr>
            <a:xfrm>
              <a:off x="3787736"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5" name="object 175"/>
            <p:cNvSpPr/>
            <p:nvPr/>
          </p:nvSpPr>
          <p:spPr>
            <a:xfrm>
              <a:off x="4640949"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6" name="object 176"/>
            <p:cNvSpPr/>
            <p:nvPr/>
          </p:nvSpPr>
          <p:spPr>
            <a:xfrm>
              <a:off x="6424940"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7" name="object 177"/>
            <p:cNvSpPr/>
            <p:nvPr/>
          </p:nvSpPr>
          <p:spPr>
            <a:xfrm>
              <a:off x="5494162"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8" name="object 178"/>
            <p:cNvSpPr/>
            <p:nvPr/>
          </p:nvSpPr>
          <p:spPr>
            <a:xfrm>
              <a:off x="7278151"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9" name="object 179"/>
            <p:cNvSpPr/>
            <p:nvPr/>
          </p:nvSpPr>
          <p:spPr>
            <a:xfrm>
              <a:off x="8131366"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80" name="object 180"/>
            <p:cNvSpPr/>
            <p:nvPr/>
          </p:nvSpPr>
          <p:spPr>
            <a:xfrm>
              <a:off x="2081310"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81" name="object 181"/>
            <p:cNvSpPr/>
            <p:nvPr/>
          </p:nvSpPr>
          <p:spPr>
            <a:xfrm>
              <a:off x="9051936" y="1878893"/>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grpSp>
      <p:sp>
        <p:nvSpPr>
          <p:cNvPr id="182" name="object 182"/>
          <p:cNvSpPr txBox="1"/>
          <p:nvPr/>
        </p:nvSpPr>
        <p:spPr>
          <a:xfrm>
            <a:off x="7418720"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8</a:t>
            </a:r>
            <a:endParaRPr sz="1324">
              <a:latin typeface="Times New Roman"/>
              <a:cs typeface="Times New Roman"/>
            </a:endParaRPr>
          </a:p>
        </p:txBody>
      </p:sp>
      <p:sp>
        <p:nvSpPr>
          <p:cNvPr id="191" name="object 2">
            <a:extLst>
              <a:ext uri="{FF2B5EF4-FFF2-40B4-BE49-F238E27FC236}">
                <a16:creationId xmlns:a16="http://schemas.microsoft.com/office/drawing/2014/main" id="{4CBEB86B-D0CE-BF6F-8C9E-314953773FD9}"/>
              </a:ext>
            </a:extLst>
          </p:cNvPr>
          <p:cNvSpPr txBox="1">
            <a:spLocks noGrp="1"/>
          </p:cNvSpPr>
          <p:nvPr>
            <p:ph type="title"/>
          </p:nvPr>
        </p:nvSpPr>
        <p:spPr>
          <a:xfrm>
            <a:off x="804912" y="670487"/>
            <a:ext cx="6958853" cy="472980"/>
          </a:xfrm>
          <a:prstGeom prst="rect">
            <a:avLst/>
          </a:prstGeom>
        </p:spPr>
        <p:txBody>
          <a:bodyPr vert="horz" wrap="square" lIns="0" tIns="11206" rIns="0" bIns="0" rtlCol="0" anchor="ctr">
            <a:spAutoFit/>
          </a:bodyPr>
          <a:lstStyle/>
          <a:p>
            <a:pPr marL="11206">
              <a:lnSpc>
                <a:spcPts val="3565"/>
              </a:lnSpc>
              <a:spcBef>
                <a:spcPts val="88"/>
              </a:spcBef>
            </a:pPr>
            <a:r>
              <a:rPr dirty="0"/>
              <a:t>One </a:t>
            </a:r>
            <a:r>
              <a:rPr spc="-9" dirty="0"/>
              <a:t>Memory-</a:t>
            </a:r>
            <a:r>
              <a:rPr dirty="0"/>
              <a:t>Port</a:t>
            </a:r>
            <a:r>
              <a:rPr spc="9" dirty="0"/>
              <a:t> </a:t>
            </a:r>
            <a:r>
              <a:rPr dirty="0"/>
              <a:t>/</a:t>
            </a:r>
            <a:r>
              <a:rPr spc="9" dirty="0"/>
              <a:t> </a:t>
            </a:r>
            <a:r>
              <a:rPr dirty="0"/>
              <a:t>Structural</a:t>
            </a:r>
            <a:r>
              <a:rPr spc="9" dirty="0"/>
              <a:t> </a:t>
            </a:r>
            <a:r>
              <a:rPr spc="-9" dirty="0"/>
              <a:t>Hazards</a:t>
            </a:r>
          </a:p>
        </p:txBody>
      </p:sp>
      <p:sp>
        <p:nvSpPr>
          <p:cNvPr id="192" name="TextBox 191">
            <a:extLst>
              <a:ext uri="{FF2B5EF4-FFF2-40B4-BE49-F238E27FC236}">
                <a16:creationId xmlns:a16="http://schemas.microsoft.com/office/drawing/2014/main" id="{1A1E3DF8-91E7-FD44-FC30-2179AC41FA6E}"/>
              </a:ext>
            </a:extLst>
          </p:cNvPr>
          <p:cNvSpPr txBox="1"/>
          <p:nvPr/>
        </p:nvSpPr>
        <p:spPr>
          <a:xfrm>
            <a:off x="755452" y="1230069"/>
            <a:ext cx="1374395" cy="350865"/>
          </a:xfrm>
          <a:prstGeom prst="rect">
            <a:avLst/>
          </a:prstGeom>
          <a:noFill/>
        </p:spPr>
        <p:txBody>
          <a:bodyPr wrap="square">
            <a:spAutoFit/>
          </a:bodyPr>
          <a:lstStyle/>
          <a:p>
            <a:r>
              <a:rPr lang="en-US" sz="1680" dirty="0">
                <a:solidFill>
                  <a:srgbClr val="002060"/>
                </a:solidFill>
              </a:rPr>
              <a:t>Figure</a:t>
            </a:r>
            <a:r>
              <a:rPr lang="en-US" sz="1680" spc="-4" dirty="0">
                <a:solidFill>
                  <a:srgbClr val="002060"/>
                </a:solidFill>
              </a:rPr>
              <a:t> </a:t>
            </a:r>
            <a:r>
              <a:rPr lang="en-US" sz="1680" spc="-22" dirty="0">
                <a:solidFill>
                  <a:srgbClr val="002060"/>
                </a:solidFill>
              </a:rPr>
              <a:t>C.4</a:t>
            </a:r>
            <a:endParaRPr lang="en-US" sz="1680" dirty="0">
              <a:solidFill>
                <a:srgbClr val="00206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Slide Number Placeholder 183">
            <a:extLst>
              <a:ext uri="{FF2B5EF4-FFF2-40B4-BE49-F238E27FC236}">
                <a16:creationId xmlns:a16="http://schemas.microsoft.com/office/drawing/2014/main" id="{00CC8C0C-2783-281B-87BD-9E796BD848ED}"/>
              </a:ext>
            </a:extLst>
          </p:cNvPr>
          <p:cNvSpPr>
            <a:spLocks noGrp="1"/>
          </p:cNvSpPr>
          <p:nvPr>
            <p:ph type="sldNum" sz="quarter" idx="7"/>
          </p:nvPr>
        </p:nvSpPr>
        <p:spPr/>
        <p:txBody>
          <a:bodyPr/>
          <a:lstStyle/>
          <a:p>
            <a:fld id="{4FE321F0-2018-4E50-8BB3-A5631EBD98DD}" type="slidenum">
              <a:rPr lang="en-US" smtClean="0"/>
              <a:t>36</a:t>
            </a:fld>
            <a:endParaRPr lang="en-US"/>
          </a:p>
        </p:txBody>
      </p:sp>
      <p:sp>
        <p:nvSpPr>
          <p:cNvPr id="3" name="object 3"/>
          <p:cNvSpPr txBox="1"/>
          <p:nvPr/>
        </p:nvSpPr>
        <p:spPr>
          <a:xfrm>
            <a:off x="1240676" y="2311998"/>
            <a:ext cx="499782" cy="269399"/>
          </a:xfrm>
          <a:prstGeom prst="rect">
            <a:avLst/>
          </a:prstGeom>
        </p:spPr>
        <p:txBody>
          <a:bodyPr vert="horz" wrap="square" lIns="0" tIns="11206" rIns="0" bIns="0" rtlCol="0">
            <a:spAutoFit/>
          </a:bodyPr>
          <a:lstStyle/>
          <a:p>
            <a:pPr marL="11206">
              <a:spcBef>
                <a:spcPts val="88"/>
              </a:spcBef>
            </a:pPr>
            <a:r>
              <a:rPr sz="1677" b="1" spc="-18" dirty="0">
                <a:solidFill>
                  <a:srgbClr val="FF0000"/>
                </a:solidFill>
                <a:latin typeface="Times New Roman"/>
                <a:cs typeface="Times New Roman"/>
              </a:rPr>
              <a:t>Load</a:t>
            </a:r>
            <a:endParaRPr sz="1677">
              <a:latin typeface="Times New Roman"/>
              <a:cs typeface="Times New Roman"/>
            </a:endParaRPr>
          </a:p>
        </p:txBody>
      </p:sp>
      <p:sp>
        <p:nvSpPr>
          <p:cNvPr id="4" name="object 4"/>
          <p:cNvSpPr txBox="1"/>
          <p:nvPr/>
        </p:nvSpPr>
        <p:spPr>
          <a:xfrm>
            <a:off x="1240676" y="3065032"/>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1</a:t>
            </a:r>
            <a:endParaRPr sz="1677">
              <a:latin typeface="Times New Roman"/>
              <a:cs typeface="Times New Roman"/>
            </a:endParaRPr>
          </a:p>
        </p:txBody>
      </p:sp>
      <p:sp>
        <p:nvSpPr>
          <p:cNvPr id="5" name="object 5"/>
          <p:cNvSpPr txBox="1"/>
          <p:nvPr/>
        </p:nvSpPr>
        <p:spPr>
          <a:xfrm>
            <a:off x="1240676" y="3831516"/>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2</a:t>
            </a:r>
            <a:endParaRPr sz="1677">
              <a:latin typeface="Times New Roman"/>
              <a:cs typeface="Times New Roman"/>
            </a:endParaRPr>
          </a:p>
        </p:txBody>
      </p:sp>
      <p:sp>
        <p:nvSpPr>
          <p:cNvPr id="6" name="object 6"/>
          <p:cNvSpPr txBox="1"/>
          <p:nvPr/>
        </p:nvSpPr>
        <p:spPr>
          <a:xfrm>
            <a:off x="1240676" y="4606066"/>
            <a:ext cx="633132" cy="269399"/>
          </a:xfrm>
          <a:prstGeom prst="rect">
            <a:avLst/>
          </a:prstGeom>
        </p:spPr>
        <p:txBody>
          <a:bodyPr vert="horz" wrap="square" lIns="0" tIns="11206" rIns="0" bIns="0" rtlCol="0">
            <a:spAutoFit/>
          </a:bodyPr>
          <a:lstStyle/>
          <a:p>
            <a:pPr marL="11206">
              <a:spcBef>
                <a:spcPts val="88"/>
              </a:spcBef>
            </a:pPr>
            <a:r>
              <a:rPr sz="1677" b="1" dirty="0">
                <a:solidFill>
                  <a:srgbClr val="FF0000"/>
                </a:solidFill>
                <a:latin typeface="Times New Roman"/>
                <a:cs typeface="Times New Roman"/>
              </a:rPr>
              <a:t>Instr</a:t>
            </a:r>
            <a:r>
              <a:rPr sz="1677" b="1" spc="-22" dirty="0">
                <a:solidFill>
                  <a:srgbClr val="FF0000"/>
                </a:solidFill>
                <a:latin typeface="Times New Roman"/>
                <a:cs typeface="Times New Roman"/>
              </a:rPr>
              <a:t> </a:t>
            </a:r>
            <a:r>
              <a:rPr sz="1677" b="1" spc="-44" dirty="0">
                <a:solidFill>
                  <a:srgbClr val="FF0000"/>
                </a:solidFill>
                <a:latin typeface="Times New Roman"/>
                <a:cs typeface="Times New Roman"/>
              </a:rPr>
              <a:t>3</a:t>
            </a:r>
            <a:endParaRPr sz="1677">
              <a:latin typeface="Times New Roman"/>
              <a:cs typeface="Times New Roman"/>
            </a:endParaRPr>
          </a:p>
        </p:txBody>
      </p:sp>
      <p:sp>
        <p:nvSpPr>
          <p:cNvPr id="7" name="object 7"/>
          <p:cNvSpPr txBox="1"/>
          <p:nvPr/>
        </p:nvSpPr>
        <p:spPr>
          <a:xfrm>
            <a:off x="1240676" y="5337586"/>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4</a:t>
            </a:r>
            <a:endParaRPr sz="1677">
              <a:latin typeface="Times New Roman"/>
              <a:cs typeface="Times New Roman"/>
            </a:endParaRPr>
          </a:p>
        </p:txBody>
      </p:sp>
      <p:sp>
        <p:nvSpPr>
          <p:cNvPr id="8" name="object 8"/>
          <p:cNvSpPr txBox="1"/>
          <p:nvPr/>
        </p:nvSpPr>
        <p:spPr>
          <a:xfrm>
            <a:off x="568228" y="2265381"/>
            <a:ext cx="156882" cy="1463444"/>
          </a:xfrm>
          <a:prstGeom prst="rect">
            <a:avLst/>
          </a:prstGeom>
        </p:spPr>
        <p:txBody>
          <a:bodyPr vert="horz" wrap="square" lIns="0" tIns="11206" rIns="0" bIns="0" rtlCol="0">
            <a:spAutoFit/>
          </a:bodyPr>
          <a:lstStyle/>
          <a:p>
            <a:pPr marL="34180">
              <a:spcBef>
                <a:spcPts val="88"/>
              </a:spcBef>
            </a:pPr>
            <a:r>
              <a:rPr sz="1853" b="1" i="1" spc="-44" dirty="0">
                <a:latin typeface="Times New Roman"/>
                <a:cs typeface="Times New Roman"/>
              </a:rPr>
              <a:t>I</a:t>
            </a:r>
            <a:endParaRPr sz="1853">
              <a:latin typeface="Times New Roman"/>
              <a:cs typeface="Times New Roman"/>
            </a:endParaRPr>
          </a:p>
          <a:p>
            <a:pPr marL="34180" marR="4483" indent="-20172">
              <a:lnSpc>
                <a:spcPts val="2285"/>
              </a:lnSpc>
              <a:spcBef>
                <a:spcPts val="22"/>
              </a:spcBef>
            </a:pPr>
            <a:r>
              <a:rPr sz="1853" b="1" i="1" spc="-44" dirty="0">
                <a:latin typeface="Times New Roman"/>
                <a:cs typeface="Times New Roman"/>
              </a:rPr>
              <a:t>n s</a:t>
            </a:r>
            <a:endParaRPr sz="1853">
              <a:latin typeface="Times New Roman"/>
              <a:cs typeface="Times New Roman"/>
            </a:endParaRPr>
          </a:p>
          <a:p>
            <a:pPr marL="11206" marR="11767" indent="36421">
              <a:lnSpc>
                <a:spcPts val="2224"/>
              </a:lnSpc>
              <a:spcBef>
                <a:spcPts val="53"/>
              </a:spcBef>
            </a:pPr>
            <a:r>
              <a:rPr sz="1853" b="1" i="1" spc="-44" dirty="0">
                <a:latin typeface="Times New Roman"/>
                <a:cs typeface="Times New Roman"/>
              </a:rPr>
              <a:t>t </a:t>
            </a:r>
            <a:r>
              <a:rPr sz="1853" b="1" i="1" spc="-115" dirty="0">
                <a:latin typeface="Times New Roman"/>
                <a:cs typeface="Times New Roman"/>
              </a:rPr>
              <a:t>r.</a:t>
            </a:r>
            <a:endParaRPr sz="1853">
              <a:latin typeface="Times New Roman"/>
              <a:cs typeface="Times New Roman"/>
            </a:endParaRPr>
          </a:p>
        </p:txBody>
      </p:sp>
      <p:sp>
        <p:nvSpPr>
          <p:cNvPr id="9" name="object 9"/>
          <p:cNvSpPr txBox="1"/>
          <p:nvPr/>
        </p:nvSpPr>
        <p:spPr>
          <a:xfrm>
            <a:off x="551136" y="3991983"/>
            <a:ext cx="192741" cy="1436064"/>
          </a:xfrm>
          <a:prstGeom prst="rect">
            <a:avLst/>
          </a:prstGeom>
        </p:spPr>
        <p:txBody>
          <a:bodyPr vert="horz" wrap="square" lIns="0" tIns="11206" rIns="0" bIns="0" rtlCol="0">
            <a:spAutoFit/>
          </a:bodyPr>
          <a:lstStyle/>
          <a:p>
            <a:pPr marL="11206">
              <a:lnSpc>
                <a:spcPts val="2215"/>
              </a:lnSpc>
              <a:spcBef>
                <a:spcPts val="88"/>
              </a:spcBef>
            </a:pPr>
            <a:r>
              <a:rPr sz="1853" b="1" i="1" spc="-44" dirty="0">
                <a:latin typeface="Times New Roman"/>
                <a:cs typeface="Times New Roman"/>
              </a:rPr>
              <a:t>O</a:t>
            </a:r>
            <a:endParaRPr sz="1853">
              <a:latin typeface="Times New Roman"/>
              <a:cs typeface="Times New Roman"/>
            </a:endParaRPr>
          </a:p>
          <a:p>
            <a:pPr marL="51549">
              <a:lnSpc>
                <a:spcPts val="2215"/>
              </a:lnSpc>
            </a:pPr>
            <a:r>
              <a:rPr sz="1853" b="1" i="1" spc="-44" dirty="0">
                <a:latin typeface="Times New Roman"/>
                <a:cs typeface="Times New Roman"/>
              </a:rPr>
              <a:t>r</a:t>
            </a:r>
            <a:endParaRPr sz="1853">
              <a:latin typeface="Times New Roman"/>
              <a:cs typeface="Times New Roman"/>
            </a:endParaRPr>
          </a:p>
          <a:p>
            <a:pPr marL="44826" marR="29697" indent="-7284" algn="just">
              <a:lnSpc>
                <a:spcPct val="101000"/>
              </a:lnSpc>
              <a:spcBef>
                <a:spcPts val="62"/>
              </a:spcBef>
            </a:pPr>
            <a:r>
              <a:rPr sz="1853" b="1" i="1" spc="-44" dirty="0">
                <a:latin typeface="Times New Roman"/>
                <a:cs typeface="Times New Roman"/>
              </a:rPr>
              <a:t>d e r</a:t>
            </a:r>
            <a:endParaRPr sz="1853">
              <a:latin typeface="Times New Roman"/>
              <a:cs typeface="Times New Roman"/>
            </a:endParaRPr>
          </a:p>
        </p:txBody>
      </p:sp>
      <p:sp>
        <p:nvSpPr>
          <p:cNvPr id="10" name="object 10"/>
          <p:cNvSpPr/>
          <p:nvPr/>
        </p:nvSpPr>
        <p:spPr>
          <a:xfrm>
            <a:off x="929675" y="2310572"/>
            <a:ext cx="71718" cy="2932579"/>
          </a:xfrm>
          <a:custGeom>
            <a:avLst/>
            <a:gdLst/>
            <a:ahLst/>
            <a:cxnLst/>
            <a:rect l="l" t="t" r="r" b="b"/>
            <a:pathLst>
              <a:path w="81280" h="3323590">
                <a:moveTo>
                  <a:pt x="27093" y="3241714"/>
                </a:moveTo>
                <a:lnTo>
                  <a:pt x="0" y="3241714"/>
                </a:lnTo>
                <a:lnTo>
                  <a:pt x="40639" y="3322994"/>
                </a:lnTo>
                <a:lnTo>
                  <a:pt x="74499" y="3255275"/>
                </a:lnTo>
                <a:lnTo>
                  <a:pt x="27093" y="3255275"/>
                </a:lnTo>
                <a:lnTo>
                  <a:pt x="27093" y="3241714"/>
                </a:lnTo>
                <a:close/>
              </a:path>
              <a:path w="81280" h="3323590">
                <a:moveTo>
                  <a:pt x="54185" y="0"/>
                </a:moveTo>
                <a:lnTo>
                  <a:pt x="27092" y="0"/>
                </a:lnTo>
                <a:lnTo>
                  <a:pt x="27093" y="3255275"/>
                </a:lnTo>
                <a:lnTo>
                  <a:pt x="54186" y="3255275"/>
                </a:lnTo>
                <a:lnTo>
                  <a:pt x="54185" y="0"/>
                </a:lnTo>
                <a:close/>
              </a:path>
              <a:path w="81280" h="3323590">
                <a:moveTo>
                  <a:pt x="81279" y="3241714"/>
                </a:moveTo>
                <a:lnTo>
                  <a:pt x="54186" y="3241714"/>
                </a:lnTo>
                <a:lnTo>
                  <a:pt x="54186" y="3255275"/>
                </a:lnTo>
                <a:lnTo>
                  <a:pt x="74499" y="3255275"/>
                </a:lnTo>
                <a:lnTo>
                  <a:pt x="81279" y="3241714"/>
                </a:lnTo>
                <a:close/>
              </a:path>
            </a:pathLst>
          </a:custGeom>
          <a:solidFill>
            <a:srgbClr val="000000"/>
          </a:solidFill>
        </p:spPr>
        <p:txBody>
          <a:bodyPr wrap="square" lIns="0" tIns="0" rIns="0" bIns="0" rtlCol="0"/>
          <a:lstStyle/>
          <a:p>
            <a:endParaRPr sz="1588"/>
          </a:p>
        </p:txBody>
      </p:sp>
      <p:grpSp>
        <p:nvGrpSpPr>
          <p:cNvPr id="11" name="object 11"/>
          <p:cNvGrpSpPr/>
          <p:nvPr/>
        </p:nvGrpSpPr>
        <p:grpSpPr>
          <a:xfrm>
            <a:off x="1697128" y="1630917"/>
            <a:ext cx="6728572" cy="1032622"/>
            <a:chOff x="1771011" y="1848372"/>
            <a:chExt cx="7625715" cy="1170305"/>
          </a:xfrm>
        </p:grpSpPr>
        <p:sp>
          <p:nvSpPr>
            <p:cNvPr id="12" name="object 12"/>
            <p:cNvSpPr/>
            <p:nvPr/>
          </p:nvSpPr>
          <p:spPr>
            <a:xfrm>
              <a:off x="1771011" y="1848372"/>
              <a:ext cx="7625715" cy="81280"/>
            </a:xfrm>
            <a:custGeom>
              <a:avLst/>
              <a:gdLst/>
              <a:ahLst/>
              <a:cxnLst/>
              <a:rect l="l" t="t" r="r" b="b"/>
              <a:pathLst>
                <a:path w="7625715" h="81280">
                  <a:moveTo>
                    <a:pt x="7544468" y="0"/>
                  </a:moveTo>
                  <a:lnTo>
                    <a:pt x="7544349" y="40874"/>
                  </a:lnTo>
                  <a:lnTo>
                    <a:pt x="7544233" y="81278"/>
                  </a:lnTo>
                  <a:lnTo>
                    <a:pt x="7598734" y="54225"/>
                  </a:lnTo>
                  <a:lnTo>
                    <a:pt x="7557843" y="54225"/>
                  </a:lnTo>
                  <a:lnTo>
                    <a:pt x="7557921" y="27132"/>
                  </a:lnTo>
                  <a:lnTo>
                    <a:pt x="7598342" y="27132"/>
                  </a:lnTo>
                  <a:lnTo>
                    <a:pt x="7544468" y="0"/>
                  </a:lnTo>
                  <a:close/>
                </a:path>
                <a:path w="7625715" h="81280">
                  <a:moveTo>
                    <a:pt x="78" y="5265"/>
                  </a:moveTo>
                  <a:lnTo>
                    <a:pt x="0" y="32358"/>
                  </a:lnTo>
                  <a:lnTo>
                    <a:pt x="7557843" y="54225"/>
                  </a:lnTo>
                  <a:lnTo>
                    <a:pt x="7544311" y="54225"/>
                  </a:lnTo>
                  <a:lnTo>
                    <a:pt x="7544389" y="27132"/>
                  </a:lnTo>
                  <a:lnTo>
                    <a:pt x="7557921" y="27132"/>
                  </a:lnTo>
                  <a:lnTo>
                    <a:pt x="78" y="5265"/>
                  </a:lnTo>
                  <a:close/>
                </a:path>
                <a:path w="7625715" h="81280">
                  <a:moveTo>
                    <a:pt x="7598342" y="27132"/>
                  </a:moveTo>
                  <a:lnTo>
                    <a:pt x="7557921" y="27132"/>
                  </a:lnTo>
                  <a:lnTo>
                    <a:pt x="7557843" y="54225"/>
                  </a:lnTo>
                  <a:lnTo>
                    <a:pt x="7598734" y="54225"/>
                  </a:lnTo>
                  <a:lnTo>
                    <a:pt x="7625629" y="40874"/>
                  </a:lnTo>
                  <a:lnTo>
                    <a:pt x="7598342" y="27132"/>
                  </a:lnTo>
                  <a:close/>
                </a:path>
              </a:pathLst>
            </a:custGeom>
            <a:solidFill>
              <a:srgbClr val="000000"/>
            </a:solidFill>
          </p:spPr>
          <p:txBody>
            <a:bodyPr wrap="square" lIns="0" tIns="0" rIns="0" bIns="0" rtlCol="0"/>
            <a:lstStyle/>
            <a:p>
              <a:endParaRPr sz="1588"/>
            </a:p>
          </p:txBody>
        </p:sp>
        <p:sp>
          <p:nvSpPr>
            <p:cNvPr id="13" name="object 13"/>
            <p:cNvSpPr/>
            <p:nvPr/>
          </p:nvSpPr>
          <p:spPr>
            <a:xfrm>
              <a:off x="3414873" y="2636240"/>
              <a:ext cx="228600" cy="363220"/>
            </a:xfrm>
            <a:custGeom>
              <a:avLst/>
              <a:gdLst/>
              <a:ahLst/>
              <a:cxnLst/>
              <a:rect l="l" t="t" r="r" b="b"/>
              <a:pathLst>
                <a:path w="228600" h="363219">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14" name="object 14"/>
            <p:cNvSpPr/>
            <p:nvPr/>
          </p:nvSpPr>
          <p:spPr>
            <a:xfrm>
              <a:off x="3186296" y="2636240"/>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5" name="object 15"/>
          <p:cNvSpPr txBox="1"/>
          <p:nvPr/>
        </p:nvSpPr>
        <p:spPr>
          <a:xfrm>
            <a:off x="3028251" y="2366234"/>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6" name="object 16"/>
          <p:cNvGrpSpPr/>
          <p:nvPr/>
        </p:nvGrpSpPr>
        <p:grpSpPr>
          <a:xfrm>
            <a:off x="3337657" y="2216363"/>
            <a:ext cx="755837" cy="542925"/>
            <a:chOff x="3630278" y="2511878"/>
            <a:chExt cx="856615" cy="615315"/>
          </a:xfrm>
        </p:grpSpPr>
        <p:sp>
          <p:nvSpPr>
            <p:cNvPr id="17" name="object 17"/>
            <p:cNvSpPr/>
            <p:nvPr/>
          </p:nvSpPr>
          <p:spPr>
            <a:xfrm>
              <a:off x="3645518" y="2710308"/>
              <a:ext cx="504825" cy="219075"/>
            </a:xfrm>
            <a:custGeom>
              <a:avLst/>
              <a:gdLst/>
              <a:ahLst/>
              <a:cxnLst/>
              <a:rect l="l" t="t" r="r" b="b"/>
              <a:pathLst>
                <a:path w="504825" h="219075">
                  <a:moveTo>
                    <a:pt x="0" y="0"/>
                  </a:moveTo>
                  <a:lnTo>
                    <a:pt x="99009" y="0"/>
                  </a:lnTo>
                </a:path>
                <a:path w="504825" h="219075">
                  <a:moveTo>
                    <a:pt x="191446" y="0"/>
                  </a:moveTo>
                  <a:lnTo>
                    <a:pt x="504730" y="0"/>
                  </a:lnTo>
                </a:path>
                <a:path w="504825" h="219075">
                  <a:moveTo>
                    <a:pt x="0" y="219055"/>
                  </a:moveTo>
                  <a:lnTo>
                    <a:pt x="99009" y="219055"/>
                  </a:lnTo>
                </a:path>
                <a:path w="504825" h="219075">
                  <a:moveTo>
                    <a:pt x="191446" y="219055"/>
                  </a:moveTo>
                  <a:lnTo>
                    <a:pt x="504730" y="219055"/>
                  </a:lnTo>
                </a:path>
              </a:pathLst>
            </a:custGeom>
            <a:ln w="30481">
              <a:solidFill>
                <a:srgbClr val="000000"/>
              </a:solidFill>
            </a:ln>
          </p:spPr>
          <p:txBody>
            <a:bodyPr wrap="square" lIns="0" tIns="0" rIns="0" bIns="0" rtlCol="0"/>
            <a:lstStyle/>
            <a:p>
              <a:endParaRPr sz="1588"/>
            </a:p>
          </p:txBody>
        </p:sp>
        <p:sp>
          <p:nvSpPr>
            <p:cNvPr id="18" name="object 18"/>
            <p:cNvSpPr/>
            <p:nvPr/>
          </p:nvSpPr>
          <p:spPr>
            <a:xfrm>
              <a:off x="4085032" y="2527118"/>
              <a:ext cx="386715" cy="584835"/>
            </a:xfrm>
            <a:custGeom>
              <a:avLst/>
              <a:gdLst/>
              <a:ahLst/>
              <a:cxnLst/>
              <a:rect l="l" t="t" r="r" b="b"/>
              <a:pathLst>
                <a:path w="386714" h="584835">
                  <a:moveTo>
                    <a:pt x="0" y="0"/>
                  </a:moveTo>
                  <a:lnTo>
                    <a:pt x="0" y="584672"/>
                  </a:lnTo>
                  <a:lnTo>
                    <a:pt x="386417" y="438504"/>
                  </a:lnTo>
                  <a:lnTo>
                    <a:pt x="386417" y="146168"/>
                  </a:lnTo>
                  <a:lnTo>
                    <a:pt x="0" y="0"/>
                  </a:lnTo>
                  <a:close/>
                </a:path>
              </a:pathLst>
            </a:custGeom>
            <a:solidFill>
              <a:srgbClr val="FFFFFF"/>
            </a:solidFill>
          </p:spPr>
          <p:txBody>
            <a:bodyPr wrap="square" lIns="0" tIns="0" rIns="0" bIns="0" rtlCol="0"/>
            <a:lstStyle/>
            <a:p>
              <a:endParaRPr sz="1588"/>
            </a:p>
          </p:txBody>
        </p:sp>
        <p:sp>
          <p:nvSpPr>
            <p:cNvPr id="19" name="object 19"/>
            <p:cNvSpPr/>
            <p:nvPr/>
          </p:nvSpPr>
          <p:spPr>
            <a:xfrm>
              <a:off x="4085032" y="2527118"/>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20" name="object 20"/>
            <p:cNvSpPr/>
            <p:nvPr/>
          </p:nvSpPr>
          <p:spPr>
            <a:xfrm>
              <a:off x="4059232" y="2725436"/>
              <a:ext cx="207010" cy="189230"/>
            </a:xfrm>
            <a:custGeom>
              <a:avLst/>
              <a:gdLst/>
              <a:ahLst/>
              <a:cxnLst/>
              <a:rect l="l" t="t" r="r" b="b"/>
              <a:pathLst>
                <a:path w="207010" h="189230">
                  <a:moveTo>
                    <a:pt x="0" y="0"/>
                  </a:moveTo>
                  <a:lnTo>
                    <a:pt x="0" y="188799"/>
                  </a:lnTo>
                  <a:lnTo>
                    <a:pt x="206395" y="94399"/>
                  </a:lnTo>
                  <a:lnTo>
                    <a:pt x="0" y="0"/>
                  </a:lnTo>
                  <a:close/>
                </a:path>
              </a:pathLst>
            </a:custGeom>
            <a:solidFill>
              <a:srgbClr val="FFFFFF"/>
            </a:solidFill>
          </p:spPr>
          <p:txBody>
            <a:bodyPr wrap="square" lIns="0" tIns="0" rIns="0" bIns="0" rtlCol="0"/>
            <a:lstStyle/>
            <a:p>
              <a:endParaRPr sz="1588"/>
            </a:p>
          </p:txBody>
        </p:sp>
        <p:sp>
          <p:nvSpPr>
            <p:cNvPr id="21" name="object 21"/>
            <p:cNvSpPr/>
            <p:nvPr/>
          </p:nvSpPr>
          <p:spPr>
            <a:xfrm>
              <a:off x="4085031" y="2736474"/>
              <a:ext cx="159385" cy="166370"/>
            </a:xfrm>
            <a:custGeom>
              <a:avLst/>
              <a:gdLst/>
              <a:ahLst/>
              <a:cxnLst/>
              <a:rect l="l" t="t" r="r" b="b"/>
              <a:pathLst>
                <a:path w="159385" h="166369">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22" name="object 22"/>
          <p:cNvSpPr txBox="1"/>
          <p:nvPr/>
        </p:nvSpPr>
        <p:spPr>
          <a:xfrm>
            <a:off x="3868940" y="2327433"/>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23" name="object 23"/>
          <p:cNvGrpSpPr/>
          <p:nvPr/>
        </p:nvGrpSpPr>
        <p:grpSpPr>
          <a:xfrm>
            <a:off x="4069564" y="2314037"/>
            <a:ext cx="1116666" cy="349624"/>
            <a:chOff x="4459772" y="2622575"/>
            <a:chExt cx="1265555" cy="396240"/>
          </a:xfrm>
        </p:grpSpPr>
        <p:sp>
          <p:nvSpPr>
            <p:cNvPr id="24" name="object 24"/>
            <p:cNvSpPr/>
            <p:nvPr/>
          </p:nvSpPr>
          <p:spPr>
            <a:xfrm>
              <a:off x="4475012" y="2820624"/>
              <a:ext cx="1235075" cy="0"/>
            </a:xfrm>
            <a:custGeom>
              <a:avLst/>
              <a:gdLst/>
              <a:ahLst/>
              <a:cxnLst/>
              <a:rect l="l" t="t" r="r" b="b"/>
              <a:pathLst>
                <a:path w="1235075">
                  <a:moveTo>
                    <a:pt x="214416" y="0"/>
                  </a:moveTo>
                  <a:lnTo>
                    <a:pt x="372009" y="0"/>
                  </a:lnTo>
                </a:path>
                <a:path w="1235075">
                  <a:moveTo>
                    <a:pt x="0" y="0"/>
                  </a:moveTo>
                  <a:lnTo>
                    <a:pt x="123264" y="0"/>
                  </a:lnTo>
                </a:path>
                <a:path w="1235075">
                  <a:moveTo>
                    <a:pt x="875004" y="0"/>
                  </a:moveTo>
                  <a:lnTo>
                    <a:pt x="977013" y="0"/>
                  </a:lnTo>
                </a:path>
                <a:path w="1235075">
                  <a:moveTo>
                    <a:pt x="1069450" y="0"/>
                  </a:moveTo>
                  <a:lnTo>
                    <a:pt x="1234935" y="0"/>
                  </a:lnTo>
                </a:path>
              </a:pathLst>
            </a:custGeom>
            <a:ln w="30481">
              <a:solidFill>
                <a:srgbClr val="000000"/>
              </a:solidFill>
            </a:ln>
          </p:spPr>
          <p:txBody>
            <a:bodyPr wrap="square" lIns="0" tIns="0" rIns="0" bIns="0" rtlCol="0"/>
            <a:lstStyle/>
            <a:p>
              <a:endParaRPr sz="1588"/>
            </a:p>
          </p:txBody>
        </p:sp>
        <p:sp>
          <p:nvSpPr>
            <p:cNvPr id="25" name="object 25"/>
            <p:cNvSpPr/>
            <p:nvPr/>
          </p:nvSpPr>
          <p:spPr>
            <a:xfrm>
              <a:off x="4847022" y="2637815"/>
              <a:ext cx="458470" cy="365760"/>
            </a:xfrm>
            <a:custGeom>
              <a:avLst/>
              <a:gdLst/>
              <a:ahLst/>
              <a:cxnLst/>
              <a:rect l="l" t="t" r="r" b="b"/>
              <a:pathLst>
                <a:path w="458470" h="365760">
                  <a:moveTo>
                    <a:pt x="458137" y="0"/>
                  </a:moveTo>
                  <a:lnTo>
                    <a:pt x="0" y="0"/>
                  </a:lnTo>
                  <a:lnTo>
                    <a:pt x="0" y="365617"/>
                  </a:lnTo>
                  <a:lnTo>
                    <a:pt x="458137" y="365617"/>
                  </a:lnTo>
                  <a:lnTo>
                    <a:pt x="458137" y="0"/>
                  </a:lnTo>
                  <a:close/>
                </a:path>
              </a:pathLst>
            </a:custGeom>
            <a:solidFill>
              <a:srgbClr val="FF0000"/>
            </a:solidFill>
          </p:spPr>
          <p:txBody>
            <a:bodyPr wrap="square" lIns="0" tIns="0" rIns="0" bIns="0" rtlCol="0"/>
            <a:lstStyle/>
            <a:p>
              <a:endParaRPr sz="1588"/>
            </a:p>
          </p:txBody>
        </p:sp>
        <p:sp>
          <p:nvSpPr>
            <p:cNvPr id="26" name="object 26"/>
            <p:cNvSpPr/>
            <p:nvPr/>
          </p:nvSpPr>
          <p:spPr>
            <a:xfrm>
              <a:off x="4847022" y="2637815"/>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27" name="object 27"/>
          <p:cNvSpPr txBox="1"/>
          <p:nvPr/>
        </p:nvSpPr>
        <p:spPr>
          <a:xfrm>
            <a:off x="4416096" y="2366234"/>
            <a:ext cx="389964" cy="174309"/>
          </a:xfrm>
          <a:prstGeom prst="rect">
            <a:avLst/>
          </a:prstGeom>
        </p:spPr>
        <p:txBody>
          <a:bodyPr vert="horz" wrap="square" lIns="0" tIns="11206" rIns="0" bIns="0" rtlCol="0">
            <a:spAutoFit/>
          </a:bodyPr>
          <a:lstStyle/>
          <a:p>
            <a:pPr>
              <a:spcBef>
                <a:spcPts val="88"/>
              </a:spcBef>
            </a:pPr>
            <a:r>
              <a:rPr sz="1059" b="1" spc="-31" dirty="0">
                <a:latin typeface="Times New Roman"/>
                <a:cs typeface="Times New Roman"/>
              </a:rPr>
              <a:t>DMem</a:t>
            </a:r>
            <a:endParaRPr sz="1059">
              <a:latin typeface="Times New Roman"/>
              <a:cs typeface="Times New Roman"/>
            </a:endParaRPr>
          </a:p>
        </p:txBody>
      </p:sp>
      <p:grpSp>
        <p:nvGrpSpPr>
          <p:cNvPr id="28" name="object 28"/>
          <p:cNvGrpSpPr/>
          <p:nvPr/>
        </p:nvGrpSpPr>
        <p:grpSpPr>
          <a:xfrm>
            <a:off x="2548678" y="2378001"/>
            <a:ext cx="2438960" cy="381559"/>
            <a:chOff x="2736101" y="2695068"/>
            <a:chExt cx="2764155" cy="432434"/>
          </a:xfrm>
        </p:grpSpPr>
        <p:sp>
          <p:nvSpPr>
            <p:cNvPr id="29" name="object 29"/>
            <p:cNvSpPr/>
            <p:nvPr/>
          </p:nvSpPr>
          <p:spPr>
            <a:xfrm>
              <a:off x="4797709" y="2820624"/>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30" name="object 30"/>
            <p:cNvSpPr/>
            <p:nvPr/>
          </p:nvSpPr>
          <p:spPr>
            <a:xfrm>
              <a:off x="2751341" y="2710308"/>
              <a:ext cx="434975" cy="220979"/>
            </a:xfrm>
            <a:custGeom>
              <a:avLst/>
              <a:gdLst/>
              <a:ahLst/>
              <a:cxnLst/>
              <a:rect l="l" t="t" r="r" b="b"/>
              <a:pathLst>
                <a:path w="434975" h="220980">
                  <a:moveTo>
                    <a:pt x="235723" y="220632"/>
                  </a:moveTo>
                  <a:lnTo>
                    <a:pt x="434955" y="220632"/>
                  </a:lnTo>
                </a:path>
                <a:path w="434975" h="220980">
                  <a:moveTo>
                    <a:pt x="0" y="220632"/>
                  </a:moveTo>
                  <a:lnTo>
                    <a:pt x="143287" y="220632"/>
                  </a:lnTo>
                </a:path>
                <a:path w="434975" h="220980">
                  <a:moveTo>
                    <a:pt x="235723" y="0"/>
                  </a:moveTo>
                  <a:lnTo>
                    <a:pt x="432886" y="0"/>
                  </a:lnTo>
                </a:path>
                <a:path w="434975" h="220980">
                  <a:moveTo>
                    <a:pt x="0" y="0"/>
                  </a:moveTo>
                  <a:lnTo>
                    <a:pt x="143287" y="0"/>
                  </a:lnTo>
                </a:path>
              </a:pathLst>
            </a:custGeom>
            <a:ln w="30481">
              <a:solidFill>
                <a:srgbClr val="000000"/>
              </a:solidFill>
            </a:ln>
          </p:spPr>
          <p:txBody>
            <a:bodyPr wrap="square" lIns="0" tIns="0" rIns="0" bIns="0" rtlCol="0"/>
            <a:lstStyle/>
            <a:p>
              <a:endParaRPr sz="1588"/>
            </a:p>
          </p:txBody>
        </p:sp>
      </p:grpSp>
      <p:sp>
        <p:nvSpPr>
          <p:cNvPr id="31" name="object 31"/>
          <p:cNvSpPr txBox="1"/>
          <p:nvPr/>
        </p:nvSpPr>
        <p:spPr>
          <a:xfrm>
            <a:off x="2156086" y="2327484"/>
            <a:ext cx="406213" cy="213346"/>
          </a:xfrm>
          <a:prstGeom prst="rect">
            <a:avLst/>
          </a:prstGeom>
          <a:ln w="30479">
            <a:solidFill>
              <a:srgbClr val="000000"/>
            </a:solidFill>
          </a:ln>
        </p:spPr>
        <p:txBody>
          <a:bodyPr vert="horz" wrap="square" lIns="0" tIns="49866" rIns="0" bIns="0" rtlCol="0">
            <a:spAutoFit/>
          </a:bodyPr>
          <a:lstStyle/>
          <a:p>
            <a:pPr marL="39223">
              <a:spcBef>
                <a:spcPts val="393"/>
              </a:spcBef>
            </a:pPr>
            <a:r>
              <a:rPr sz="1059" b="1" spc="-9" dirty="0">
                <a:latin typeface="Times New Roman"/>
                <a:cs typeface="Times New Roman"/>
              </a:rPr>
              <a:t>Ifetch</a:t>
            </a:r>
            <a:endParaRPr sz="1059">
              <a:latin typeface="Times New Roman"/>
              <a:cs typeface="Times New Roman"/>
            </a:endParaRPr>
          </a:p>
        </p:txBody>
      </p:sp>
      <p:grpSp>
        <p:nvGrpSpPr>
          <p:cNvPr id="32" name="object 32"/>
          <p:cNvGrpSpPr/>
          <p:nvPr/>
        </p:nvGrpSpPr>
        <p:grpSpPr>
          <a:xfrm>
            <a:off x="2675108" y="2168033"/>
            <a:ext cx="2918572" cy="640416"/>
            <a:chOff x="2879389" y="2457103"/>
            <a:chExt cx="3307715" cy="725805"/>
          </a:xfrm>
        </p:grpSpPr>
        <p:sp>
          <p:nvSpPr>
            <p:cNvPr id="33" name="object 33"/>
            <p:cNvSpPr/>
            <p:nvPr/>
          </p:nvSpPr>
          <p:spPr>
            <a:xfrm>
              <a:off x="3744527" y="2472343"/>
              <a:ext cx="92710" cy="695325"/>
            </a:xfrm>
            <a:custGeom>
              <a:avLst/>
              <a:gdLst/>
              <a:ahLst/>
              <a:cxnLst/>
              <a:rect l="l" t="t" r="r" b="b"/>
              <a:pathLst>
                <a:path w="92710" h="695325">
                  <a:moveTo>
                    <a:pt x="92436" y="0"/>
                  </a:moveTo>
                  <a:lnTo>
                    <a:pt x="0" y="0"/>
                  </a:lnTo>
                  <a:lnTo>
                    <a:pt x="0" y="694987"/>
                  </a:lnTo>
                  <a:lnTo>
                    <a:pt x="92436" y="694987"/>
                  </a:lnTo>
                  <a:lnTo>
                    <a:pt x="92436" y="0"/>
                  </a:lnTo>
                  <a:close/>
                </a:path>
              </a:pathLst>
            </a:custGeom>
            <a:solidFill>
              <a:srgbClr val="00FF00"/>
            </a:solidFill>
          </p:spPr>
          <p:txBody>
            <a:bodyPr wrap="square" lIns="0" tIns="0" rIns="0" bIns="0" rtlCol="0"/>
            <a:lstStyle/>
            <a:p>
              <a:endParaRPr sz="1588"/>
            </a:p>
          </p:txBody>
        </p:sp>
        <p:sp>
          <p:nvSpPr>
            <p:cNvPr id="34" name="object 34"/>
            <p:cNvSpPr/>
            <p:nvPr/>
          </p:nvSpPr>
          <p:spPr>
            <a:xfrm>
              <a:off x="3744527"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5" name="object 35"/>
            <p:cNvSpPr/>
            <p:nvPr/>
          </p:nvSpPr>
          <p:spPr>
            <a:xfrm>
              <a:off x="5452026" y="2472343"/>
              <a:ext cx="92710" cy="695325"/>
            </a:xfrm>
            <a:custGeom>
              <a:avLst/>
              <a:gdLst/>
              <a:ahLst/>
              <a:cxnLst/>
              <a:rect l="l" t="t" r="r" b="b"/>
              <a:pathLst>
                <a:path w="92710" h="695325">
                  <a:moveTo>
                    <a:pt x="92436" y="0"/>
                  </a:moveTo>
                  <a:lnTo>
                    <a:pt x="0" y="0"/>
                  </a:lnTo>
                  <a:lnTo>
                    <a:pt x="0" y="694987"/>
                  </a:lnTo>
                  <a:lnTo>
                    <a:pt x="92436" y="694987"/>
                  </a:lnTo>
                  <a:lnTo>
                    <a:pt x="92436" y="0"/>
                  </a:lnTo>
                  <a:close/>
                </a:path>
              </a:pathLst>
            </a:custGeom>
            <a:solidFill>
              <a:srgbClr val="00FF00"/>
            </a:solidFill>
          </p:spPr>
          <p:txBody>
            <a:bodyPr wrap="square" lIns="0" tIns="0" rIns="0" bIns="0" rtlCol="0"/>
            <a:lstStyle/>
            <a:p>
              <a:endParaRPr sz="1588"/>
            </a:p>
          </p:txBody>
        </p:sp>
        <p:sp>
          <p:nvSpPr>
            <p:cNvPr id="36" name="object 36"/>
            <p:cNvSpPr/>
            <p:nvPr/>
          </p:nvSpPr>
          <p:spPr>
            <a:xfrm>
              <a:off x="5452026"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7" name="object 37"/>
            <p:cNvSpPr/>
            <p:nvPr/>
          </p:nvSpPr>
          <p:spPr>
            <a:xfrm>
              <a:off x="2894629" y="2472343"/>
              <a:ext cx="92710" cy="695325"/>
            </a:xfrm>
            <a:custGeom>
              <a:avLst/>
              <a:gdLst/>
              <a:ahLst/>
              <a:cxnLst/>
              <a:rect l="l" t="t" r="r" b="b"/>
              <a:pathLst>
                <a:path w="92710" h="695325">
                  <a:moveTo>
                    <a:pt x="92435" y="0"/>
                  </a:moveTo>
                  <a:lnTo>
                    <a:pt x="0" y="0"/>
                  </a:lnTo>
                  <a:lnTo>
                    <a:pt x="0" y="694987"/>
                  </a:lnTo>
                  <a:lnTo>
                    <a:pt x="92435" y="694987"/>
                  </a:lnTo>
                  <a:lnTo>
                    <a:pt x="92435" y="0"/>
                  </a:lnTo>
                  <a:close/>
                </a:path>
              </a:pathLst>
            </a:custGeom>
            <a:solidFill>
              <a:srgbClr val="00FF00"/>
            </a:solidFill>
          </p:spPr>
          <p:txBody>
            <a:bodyPr wrap="square" lIns="0" tIns="0" rIns="0" bIns="0" rtlCol="0"/>
            <a:lstStyle/>
            <a:p>
              <a:endParaRPr sz="1588"/>
            </a:p>
          </p:txBody>
        </p:sp>
        <p:sp>
          <p:nvSpPr>
            <p:cNvPr id="38" name="object 38"/>
            <p:cNvSpPr/>
            <p:nvPr/>
          </p:nvSpPr>
          <p:spPr>
            <a:xfrm>
              <a:off x="2894629"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9" name="object 39"/>
            <p:cNvSpPr/>
            <p:nvPr/>
          </p:nvSpPr>
          <p:spPr>
            <a:xfrm>
              <a:off x="4598277" y="2476425"/>
              <a:ext cx="91440" cy="685800"/>
            </a:xfrm>
            <a:custGeom>
              <a:avLst/>
              <a:gdLst/>
              <a:ahLst/>
              <a:cxnLst/>
              <a:rect l="l" t="t" r="r" b="b"/>
              <a:pathLst>
                <a:path w="91439" h="685800">
                  <a:moveTo>
                    <a:pt x="91151" y="0"/>
                  </a:moveTo>
                  <a:lnTo>
                    <a:pt x="0" y="0"/>
                  </a:lnTo>
                  <a:lnTo>
                    <a:pt x="0" y="685802"/>
                  </a:lnTo>
                  <a:lnTo>
                    <a:pt x="91151" y="685802"/>
                  </a:lnTo>
                  <a:lnTo>
                    <a:pt x="91151" y="0"/>
                  </a:lnTo>
                  <a:close/>
                </a:path>
              </a:pathLst>
            </a:custGeom>
            <a:solidFill>
              <a:srgbClr val="00FF00"/>
            </a:solidFill>
          </p:spPr>
          <p:txBody>
            <a:bodyPr wrap="square" lIns="0" tIns="0" rIns="0" bIns="0" rtlCol="0"/>
            <a:lstStyle/>
            <a:p>
              <a:endParaRPr sz="1588"/>
            </a:p>
          </p:txBody>
        </p:sp>
        <p:sp>
          <p:nvSpPr>
            <p:cNvPr id="40" name="object 40"/>
            <p:cNvSpPr/>
            <p:nvPr/>
          </p:nvSpPr>
          <p:spPr>
            <a:xfrm>
              <a:off x="4598277" y="2476425"/>
              <a:ext cx="91440" cy="685800"/>
            </a:xfrm>
            <a:custGeom>
              <a:avLst/>
              <a:gdLst/>
              <a:ahLst/>
              <a:cxnLst/>
              <a:rect l="l" t="t" r="r" b="b"/>
              <a:pathLst>
                <a:path w="91439" h="685800">
                  <a:moveTo>
                    <a:pt x="0" y="0"/>
                  </a:moveTo>
                  <a:lnTo>
                    <a:pt x="91151" y="0"/>
                  </a:lnTo>
                  <a:lnTo>
                    <a:pt x="91151"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41" name="object 41"/>
            <p:cNvSpPr/>
            <p:nvPr/>
          </p:nvSpPr>
          <p:spPr>
            <a:xfrm>
              <a:off x="5709947" y="2623632"/>
              <a:ext cx="231140" cy="363220"/>
            </a:xfrm>
            <a:custGeom>
              <a:avLst/>
              <a:gdLst/>
              <a:ahLst/>
              <a:cxnLst/>
              <a:rect l="l" t="t" r="r" b="b"/>
              <a:pathLst>
                <a:path w="231139" h="363219">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42" name="object 42"/>
            <p:cNvSpPr/>
            <p:nvPr/>
          </p:nvSpPr>
          <p:spPr>
            <a:xfrm>
              <a:off x="5709947" y="2623632"/>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43" name="object 43"/>
          <p:cNvSpPr txBox="1"/>
          <p:nvPr/>
        </p:nvSpPr>
        <p:spPr>
          <a:xfrm>
            <a:off x="5258538" y="2355477"/>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44" name="object 44"/>
          <p:cNvGrpSpPr/>
          <p:nvPr/>
        </p:nvGrpSpPr>
        <p:grpSpPr>
          <a:xfrm>
            <a:off x="3699554" y="3058146"/>
            <a:ext cx="430306" cy="351304"/>
            <a:chOff x="4040428" y="3465898"/>
            <a:chExt cx="487680" cy="398145"/>
          </a:xfrm>
        </p:grpSpPr>
        <p:sp>
          <p:nvSpPr>
            <p:cNvPr id="45" name="object 45"/>
            <p:cNvSpPr/>
            <p:nvPr/>
          </p:nvSpPr>
          <p:spPr>
            <a:xfrm>
              <a:off x="4284244" y="3481138"/>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46" name="object 46"/>
            <p:cNvSpPr/>
            <p:nvPr/>
          </p:nvSpPr>
          <p:spPr>
            <a:xfrm>
              <a:off x="4055668" y="3481138"/>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47" name="object 47"/>
          <p:cNvSpPr txBox="1"/>
          <p:nvPr/>
        </p:nvSpPr>
        <p:spPr>
          <a:xfrm>
            <a:off x="3795343" y="3111201"/>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48" name="object 48"/>
          <p:cNvGrpSpPr/>
          <p:nvPr/>
        </p:nvGrpSpPr>
        <p:grpSpPr>
          <a:xfrm>
            <a:off x="4104750" y="2961862"/>
            <a:ext cx="755837" cy="542925"/>
            <a:chOff x="4499650" y="3356776"/>
            <a:chExt cx="856615" cy="615315"/>
          </a:xfrm>
        </p:grpSpPr>
        <p:sp>
          <p:nvSpPr>
            <p:cNvPr id="49" name="object 49"/>
            <p:cNvSpPr/>
            <p:nvPr/>
          </p:nvSpPr>
          <p:spPr>
            <a:xfrm>
              <a:off x="4514890" y="3555208"/>
              <a:ext cx="504825" cy="219075"/>
            </a:xfrm>
            <a:custGeom>
              <a:avLst/>
              <a:gdLst/>
              <a:ahLst/>
              <a:cxnLst/>
              <a:rect l="l" t="t" r="r" b="b"/>
              <a:pathLst>
                <a:path w="504825" h="219075">
                  <a:moveTo>
                    <a:pt x="0" y="0"/>
                  </a:moveTo>
                  <a:lnTo>
                    <a:pt x="83944" y="0"/>
                  </a:lnTo>
                </a:path>
                <a:path w="504825" h="219075">
                  <a:moveTo>
                    <a:pt x="176512" y="0"/>
                  </a:moveTo>
                  <a:lnTo>
                    <a:pt x="504730" y="0"/>
                  </a:lnTo>
                </a:path>
                <a:path w="504825" h="219075">
                  <a:moveTo>
                    <a:pt x="176512" y="219055"/>
                  </a:moveTo>
                  <a:lnTo>
                    <a:pt x="504730" y="219055"/>
                  </a:lnTo>
                </a:path>
                <a:path w="504825" h="219075">
                  <a:moveTo>
                    <a:pt x="0" y="219055"/>
                  </a:moveTo>
                  <a:lnTo>
                    <a:pt x="83944" y="219055"/>
                  </a:lnTo>
                </a:path>
              </a:pathLst>
            </a:custGeom>
            <a:ln w="30481">
              <a:solidFill>
                <a:srgbClr val="000000"/>
              </a:solidFill>
            </a:ln>
          </p:spPr>
          <p:txBody>
            <a:bodyPr wrap="square" lIns="0" tIns="0" rIns="0" bIns="0" rtlCol="0"/>
            <a:lstStyle/>
            <a:p>
              <a:endParaRPr sz="1588"/>
            </a:p>
          </p:txBody>
        </p:sp>
        <p:sp>
          <p:nvSpPr>
            <p:cNvPr id="50" name="object 50"/>
            <p:cNvSpPr/>
            <p:nvPr/>
          </p:nvSpPr>
          <p:spPr>
            <a:xfrm>
              <a:off x="4954403" y="3372017"/>
              <a:ext cx="386715" cy="584835"/>
            </a:xfrm>
            <a:custGeom>
              <a:avLst/>
              <a:gdLst/>
              <a:ahLst/>
              <a:cxnLst/>
              <a:rect l="l" t="t" r="r" b="b"/>
              <a:pathLst>
                <a:path w="386714" h="584835">
                  <a:moveTo>
                    <a:pt x="0" y="0"/>
                  </a:moveTo>
                  <a:lnTo>
                    <a:pt x="0" y="584671"/>
                  </a:lnTo>
                  <a:lnTo>
                    <a:pt x="386419" y="438503"/>
                  </a:lnTo>
                  <a:lnTo>
                    <a:pt x="386419" y="146166"/>
                  </a:lnTo>
                  <a:lnTo>
                    <a:pt x="0" y="0"/>
                  </a:lnTo>
                  <a:close/>
                </a:path>
              </a:pathLst>
            </a:custGeom>
            <a:solidFill>
              <a:srgbClr val="FFFFFF"/>
            </a:solidFill>
          </p:spPr>
          <p:txBody>
            <a:bodyPr wrap="square" lIns="0" tIns="0" rIns="0" bIns="0" rtlCol="0"/>
            <a:lstStyle/>
            <a:p>
              <a:endParaRPr sz="1588"/>
            </a:p>
          </p:txBody>
        </p:sp>
        <p:sp>
          <p:nvSpPr>
            <p:cNvPr id="51" name="object 51"/>
            <p:cNvSpPr/>
            <p:nvPr/>
          </p:nvSpPr>
          <p:spPr>
            <a:xfrm>
              <a:off x="4954403" y="3372016"/>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52" name="object 52"/>
            <p:cNvSpPr/>
            <p:nvPr/>
          </p:nvSpPr>
          <p:spPr>
            <a:xfrm>
              <a:off x="4928603" y="3570334"/>
              <a:ext cx="207010" cy="189230"/>
            </a:xfrm>
            <a:custGeom>
              <a:avLst/>
              <a:gdLst/>
              <a:ahLst/>
              <a:cxnLst/>
              <a:rect l="l" t="t" r="r" b="b"/>
              <a:pathLst>
                <a:path w="207010" h="189229">
                  <a:moveTo>
                    <a:pt x="0" y="0"/>
                  </a:moveTo>
                  <a:lnTo>
                    <a:pt x="0" y="188799"/>
                  </a:lnTo>
                  <a:lnTo>
                    <a:pt x="206395" y="94399"/>
                  </a:lnTo>
                  <a:lnTo>
                    <a:pt x="0" y="0"/>
                  </a:lnTo>
                  <a:close/>
                </a:path>
              </a:pathLst>
            </a:custGeom>
            <a:solidFill>
              <a:srgbClr val="FFFFFF"/>
            </a:solidFill>
          </p:spPr>
          <p:txBody>
            <a:bodyPr wrap="square" lIns="0" tIns="0" rIns="0" bIns="0" rtlCol="0"/>
            <a:lstStyle/>
            <a:p>
              <a:endParaRPr sz="1588"/>
            </a:p>
          </p:txBody>
        </p:sp>
        <p:sp>
          <p:nvSpPr>
            <p:cNvPr id="53" name="object 53"/>
            <p:cNvSpPr/>
            <p:nvPr/>
          </p:nvSpPr>
          <p:spPr>
            <a:xfrm>
              <a:off x="4954402" y="3581373"/>
              <a:ext cx="159385" cy="166370"/>
            </a:xfrm>
            <a:custGeom>
              <a:avLst/>
              <a:gdLst/>
              <a:ahLst/>
              <a:cxnLst/>
              <a:rect l="l" t="t" r="r" b="b"/>
              <a:pathLst>
                <a:path w="159385"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54" name="object 54"/>
          <p:cNvSpPr txBox="1"/>
          <p:nvPr/>
        </p:nvSpPr>
        <p:spPr>
          <a:xfrm>
            <a:off x="4636034" y="3072400"/>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55" name="object 55"/>
          <p:cNvGrpSpPr/>
          <p:nvPr/>
        </p:nvGrpSpPr>
        <p:grpSpPr>
          <a:xfrm>
            <a:off x="4836657" y="3059536"/>
            <a:ext cx="1116666" cy="349624"/>
            <a:chOff x="5329144" y="3467474"/>
            <a:chExt cx="1265555" cy="396240"/>
          </a:xfrm>
        </p:grpSpPr>
        <p:sp>
          <p:nvSpPr>
            <p:cNvPr id="56" name="object 56"/>
            <p:cNvSpPr/>
            <p:nvPr/>
          </p:nvSpPr>
          <p:spPr>
            <a:xfrm>
              <a:off x="5344384" y="3665522"/>
              <a:ext cx="1235075" cy="0"/>
            </a:xfrm>
            <a:custGeom>
              <a:avLst/>
              <a:gdLst/>
              <a:ahLst/>
              <a:cxnLst/>
              <a:rect l="l" t="t" r="r" b="b"/>
              <a:pathLst>
                <a:path w="1235075">
                  <a:moveTo>
                    <a:pt x="0" y="0"/>
                  </a:moveTo>
                  <a:lnTo>
                    <a:pt x="108125" y="0"/>
                  </a:lnTo>
                </a:path>
                <a:path w="1235075">
                  <a:moveTo>
                    <a:pt x="199406" y="0"/>
                  </a:moveTo>
                  <a:lnTo>
                    <a:pt x="372009" y="0"/>
                  </a:lnTo>
                </a:path>
                <a:path w="1235075">
                  <a:moveTo>
                    <a:pt x="1131506" y="0"/>
                  </a:moveTo>
                  <a:lnTo>
                    <a:pt x="1234935" y="0"/>
                  </a:lnTo>
                </a:path>
                <a:path w="1235075">
                  <a:moveTo>
                    <a:pt x="875004" y="0"/>
                  </a:moveTo>
                  <a:lnTo>
                    <a:pt x="1038938" y="0"/>
                  </a:lnTo>
                </a:path>
              </a:pathLst>
            </a:custGeom>
            <a:ln w="30481">
              <a:solidFill>
                <a:srgbClr val="000000"/>
              </a:solidFill>
            </a:ln>
          </p:spPr>
          <p:txBody>
            <a:bodyPr wrap="square" lIns="0" tIns="0" rIns="0" bIns="0" rtlCol="0"/>
            <a:lstStyle/>
            <a:p>
              <a:endParaRPr sz="1588"/>
            </a:p>
          </p:txBody>
        </p:sp>
        <p:sp>
          <p:nvSpPr>
            <p:cNvPr id="57" name="object 57"/>
            <p:cNvSpPr/>
            <p:nvPr/>
          </p:nvSpPr>
          <p:spPr>
            <a:xfrm>
              <a:off x="5716394" y="3482714"/>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58" name="object 58"/>
          <p:cNvSpPr txBox="1"/>
          <p:nvPr/>
        </p:nvSpPr>
        <p:spPr>
          <a:xfrm>
            <a:off x="5171982" y="3113891"/>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59" name="object 59"/>
          <p:cNvGrpSpPr/>
          <p:nvPr/>
        </p:nvGrpSpPr>
        <p:grpSpPr>
          <a:xfrm>
            <a:off x="3315771" y="3123501"/>
            <a:ext cx="2456890" cy="381559"/>
            <a:chOff x="3605474" y="3539968"/>
            <a:chExt cx="2784475" cy="432434"/>
          </a:xfrm>
        </p:grpSpPr>
        <p:sp>
          <p:nvSpPr>
            <p:cNvPr id="60" name="object 60"/>
            <p:cNvSpPr/>
            <p:nvPr/>
          </p:nvSpPr>
          <p:spPr>
            <a:xfrm>
              <a:off x="5667081" y="3665522"/>
              <a:ext cx="708025" cy="292100"/>
            </a:xfrm>
            <a:custGeom>
              <a:avLst/>
              <a:gdLst/>
              <a:ahLst/>
              <a:cxnLst/>
              <a:rect l="l" t="t" r="r" b="b"/>
              <a:pathLst>
                <a:path w="708025" h="292100">
                  <a:moveTo>
                    <a:pt x="0" y="0"/>
                  </a:moveTo>
                  <a:lnTo>
                    <a:pt x="0" y="291547"/>
                  </a:lnTo>
                  <a:lnTo>
                    <a:pt x="624220" y="291547"/>
                  </a:lnTo>
                  <a:lnTo>
                    <a:pt x="624220" y="109330"/>
                  </a:lnTo>
                  <a:lnTo>
                    <a:pt x="707449" y="109330"/>
                  </a:lnTo>
                </a:path>
              </a:pathLst>
            </a:custGeom>
            <a:ln w="30479">
              <a:solidFill>
                <a:srgbClr val="000000"/>
              </a:solidFill>
            </a:ln>
          </p:spPr>
          <p:txBody>
            <a:bodyPr wrap="square" lIns="0" tIns="0" rIns="0" bIns="0" rtlCol="0"/>
            <a:lstStyle/>
            <a:p>
              <a:endParaRPr sz="1588"/>
            </a:p>
          </p:txBody>
        </p:sp>
        <p:sp>
          <p:nvSpPr>
            <p:cNvPr id="61" name="object 61"/>
            <p:cNvSpPr/>
            <p:nvPr/>
          </p:nvSpPr>
          <p:spPr>
            <a:xfrm>
              <a:off x="3620714" y="3555208"/>
              <a:ext cx="434975" cy="220979"/>
            </a:xfrm>
            <a:custGeom>
              <a:avLst/>
              <a:gdLst/>
              <a:ahLst/>
              <a:cxnLst/>
              <a:rect l="l" t="t" r="r" b="b"/>
              <a:pathLst>
                <a:path w="434975" h="220979">
                  <a:moveTo>
                    <a:pt x="0" y="220630"/>
                  </a:moveTo>
                  <a:lnTo>
                    <a:pt x="130874" y="220630"/>
                  </a:lnTo>
                </a:path>
                <a:path w="434975" h="220979">
                  <a:moveTo>
                    <a:pt x="223442" y="220630"/>
                  </a:moveTo>
                  <a:lnTo>
                    <a:pt x="434955" y="220630"/>
                  </a:lnTo>
                </a:path>
                <a:path w="434975" h="220979">
                  <a:moveTo>
                    <a:pt x="0" y="0"/>
                  </a:moveTo>
                  <a:lnTo>
                    <a:pt x="130874" y="0"/>
                  </a:lnTo>
                </a:path>
                <a:path w="434975" h="220979">
                  <a:moveTo>
                    <a:pt x="223442" y="0"/>
                  </a:moveTo>
                  <a:lnTo>
                    <a:pt x="432886" y="0"/>
                  </a:lnTo>
                </a:path>
              </a:pathLst>
            </a:custGeom>
            <a:ln w="30481">
              <a:solidFill>
                <a:srgbClr val="000000"/>
              </a:solidFill>
            </a:ln>
          </p:spPr>
          <p:txBody>
            <a:bodyPr wrap="square" lIns="0" tIns="0" rIns="0" bIns="0" rtlCol="0"/>
            <a:lstStyle/>
            <a:p>
              <a:endParaRPr sz="1588"/>
            </a:p>
          </p:txBody>
        </p:sp>
      </p:grpSp>
      <p:sp>
        <p:nvSpPr>
          <p:cNvPr id="62" name="object 62"/>
          <p:cNvSpPr txBox="1"/>
          <p:nvPr/>
        </p:nvSpPr>
        <p:spPr>
          <a:xfrm>
            <a:off x="2923179" y="3072983"/>
            <a:ext cx="406213" cy="215609"/>
          </a:xfrm>
          <a:prstGeom prst="rect">
            <a:avLst/>
          </a:prstGeom>
          <a:ln w="30479">
            <a:solidFill>
              <a:srgbClr val="000000"/>
            </a:solidFill>
          </a:ln>
        </p:spPr>
        <p:txBody>
          <a:bodyPr vert="horz" wrap="square" lIns="0" tIns="52107" rIns="0" bIns="0" rtlCol="0">
            <a:spAutoFit/>
          </a:bodyPr>
          <a:lstStyle/>
          <a:p>
            <a:pPr marL="39223">
              <a:spcBef>
                <a:spcPts val="410"/>
              </a:spcBef>
            </a:pPr>
            <a:r>
              <a:rPr sz="1059" b="1" spc="-9" dirty="0">
                <a:latin typeface="Times New Roman"/>
                <a:cs typeface="Times New Roman"/>
              </a:rPr>
              <a:t>Ifetch</a:t>
            </a:r>
            <a:endParaRPr sz="1059">
              <a:latin typeface="Times New Roman"/>
              <a:cs typeface="Times New Roman"/>
            </a:endParaRPr>
          </a:p>
        </p:txBody>
      </p:sp>
      <p:grpSp>
        <p:nvGrpSpPr>
          <p:cNvPr id="63" name="object 63"/>
          <p:cNvGrpSpPr/>
          <p:nvPr/>
        </p:nvGrpSpPr>
        <p:grpSpPr>
          <a:xfrm>
            <a:off x="3431249" y="2913531"/>
            <a:ext cx="2929217" cy="640416"/>
            <a:chOff x="3736349" y="3302001"/>
            <a:chExt cx="3319779" cy="725805"/>
          </a:xfrm>
        </p:grpSpPr>
        <p:sp>
          <p:nvSpPr>
            <p:cNvPr id="64" name="object 64"/>
            <p:cNvSpPr/>
            <p:nvPr/>
          </p:nvSpPr>
          <p:spPr>
            <a:xfrm>
              <a:off x="4598835"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65" name="object 65"/>
            <p:cNvSpPr/>
            <p:nvPr/>
          </p:nvSpPr>
          <p:spPr>
            <a:xfrm>
              <a:off x="4598835"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66" name="object 66"/>
            <p:cNvSpPr/>
            <p:nvPr/>
          </p:nvSpPr>
          <p:spPr>
            <a:xfrm>
              <a:off x="6383323"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67" name="object 67"/>
            <p:cNvSpPr/>
            <p:nvPr/>
          </p:nvSpPr>
          <p:spPr>
            <a:xfrm>
              <a:off x="6383323"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68" name="object 68"/>
            <p:cNvSpPr/>
            <p:nvPr/>
          </p:nvSpPr>
          <p:spPr>
            <a:xfrm>
              <a:off x="3751589"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69" name="object 69"/>
            <p:cNvSpPr/>
            <p:nvPr/>
          </p:nvSpPr>
          <p:spPr>
            <a:xfrm>
              <a:off x="3751589"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70" name="object 70"/>
            <p:cNvSpPr/>
            <p:nvPr/>
          </p:nvSpPr>
          <p:spPr>
            <a:xfrm>
              <a:off x="5452510" y="3321322"/>
              <a:ext cx="91440" cy="685800"/>
            </a:xfrm>
            <a:custGeom>
              <a:avLst/>
              <a:gdLst/>
              <a:ahLst/>
              <a:cxnLst/>
              <a:rect l="l" t="t" r="r" b="b"/>
              <a:pathLst>
                <a:path w="91439" h="685800">
                  <a:moveTo>
                    <a:pt x="91281" y="0"/>
                  </a:moveTo>
                  <a:lnTo>
                    <a:pt x="0" y="0"/>
                  </a:lnTo>
                  <a:lnTo>
                    <a:pt x="0" y="685802"/>
                  </a:lnTo>
                  <a:lnTo>
                    <a:pt x="91281" y="685802"/>
                  </a:lnTo>
                  <a:lnTo>
                    <a:pt x="91281" y="0"/>
                  </a:lnTo>
                  <a:close/>
                </a:path>
              </a:pathLst>
            </a:custGeom>
            <a:solidFill>
              <a:srgbClr val="00FF00"/>
            </a:solidFill>
          </p:spPr>
          <p:txBody>
            <a:bodyPr wrap="square" lIns="0" tIns="0" rIns="0" bIns="0" rtlCol="0"/>
            <a:lstStyle/>
            <a:p>
              <a:endParaRPr sz="1588"/>
            </a:p>
          </p:txBody>
        </p:sp>
        <p:sp>
          <p:nvSpPr>
            <p:cNvPr id="71" name="object 71"/>
            <p:cNvSpPr/>
            <p:nvPr/>
          </p:nvSpPr>
          <p:spPr>
            <a:xfrm>
              <a:off x="5452510" y="3321322"/>
              <a:ext cx="91440" cy="685800"/>
            </a:xfrm>
            <a:custGeom>
              <a:avLst/>
              <a:gdLst/>
              <a:ahLst/>
              <a:cxnLst/>
              <a:rect l="l" t="t" r="r" b="b"/>
              <a:pathLst>
                <a:path w="91439" h="685800">
                  <a:moveTo>
                    <a:pt x="0" y="0"/>
                  </a:moveTo>
                  <a:lnTo>
                    <a:pt x="91281" y="0"/>
                  </a:lnTo>
                  <a:lnTo>
                    <a:pt x="91281"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72" name="object 72"/>
            <p:cNvSpPr/>
            <p:nvPr/>
          </p:nvSpPr>
          <p:spPr>
            <a:xfrm>
              <a:off x="6579320" y="3468530"/>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73" name="object 73"/>
            <p:cNvSpPr/>
            <p:nvPr/>
          </p:nvSpPr>
          <p:spPr>
            <a:xfrm>
              <a:off x="6579318" y="3468529"/>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74" name="object 74"/>
          <p:cNvSpPr txBox="1"/>
          <p:nvPr/>
        </p:nvSpPr>
        <p:spPr>
          <a:xfrm>
            <a:off x="6025632" y="310044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5" name="object 75"/>
          <p:cNvGrpSpPr/>
          <p:nvPr/>
        </p:nvGrpSpPr>
        <p:grpSpPr>
          <a:xfrm>
            <a:off x="4452389" y="3792347"/>
            <a:ext cx="430306" cy="351304"/>
            <a:chOff x="4893641" y="4297993"/>
            <a:chExt cx="487680" cy="398145"/>
          </a:xfrm>
        </p:grpSpPr>
        <p:sp>
          <p:nvSpPr>
            <p:cNvPr id="76" name="object 76"/>
            <p:cNvSpPr/>
            <p:nvPr/>
          </p:nvSpPr>
          <p:spPr>
            <a:xfrm>
              <a:off x="5137458" y="4313233"/>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77" name="object 77"/>
            <p:cNvSpPr/>
            <p:nvPr/>
          </p:nvSpPr>
          <p:spPr>
            <a:xfrm>
              <a:off x="4908881" y="4313233"/>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78" name="object 78"/>
          <p:cNvSpPr txBox="1"/>
          <p:nvPr/>
        </p:nvSpPr>
        <p:spPr>
          <a:xfrm>
            <a:off x="4548179" y="3845411"/>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9" name="object 79"/>
          <p:cNvGrpSpPr/>
          <p:nvPr/>
        </p:nvGrpSpPr>
        <p:grpSpPr>
          <a:xfrm>
            <a:off x="4857586" y="3696063"/>
            <a:ext cx="755837" cy="542925"/>
            <a:chOff x="5352864" y="4188871"/>
            <a:chExt cx="856615" cy="615315"/>
          </a:xfrm>
        </p:grpSpPr>
        <p:sp>
          <p:nvSpPr>
            <p:cNvPr id="80" name="object 80"/>
            <p:cNvSpPr/>
            <p:nvPr/>
          </p:nvSpPr>
          <p:spPr>
            <a:xfrm>
              <a:off x="5368104" y="4387301"/>
              <a:ext cx="504825" cy="219075"/>
            </a:xfrm>
            <a:custGeom>
              <a:avLst/>
              <a:gdLst/>
              <a:ahLst/>
              <a:cxnLst/>
              <a:rect l="l" t="t" r="r" b="b"/>
              <a:pathLst>
                <a:path w="504825" h="219075">
                  <a:moveTo>
                    <a:pt x="0" y="0"/>
                  </a:moveTo>
                  <a:lnTo>
                    <a:pt x="83116" y="0"/>
                  </a:lnTo>
                </a:path>
                <a:path w="504825" h="219075">
                  <a:moveTo>
                    <a:pt x="175569" y="0"/>
                  </a:moveTo>
                  <a:lnTo>
                    <a:pt x="504730" y="0"/>
                  </a:lnTo>
                </a:path>
                <a:path w="504825" h="219075">
                  <a:moveTo>
                    <a:pt x="0" y="219055"/>
                  </a:moveTo>
                  <a:lnTo>
                    <a:pt x="83116" y="219055"/>
                  </a:lnTo>
                </a:path>
                <a:path w="504825" h="219075">
                  <a:moveTo>
                    <a:pt x="175569" y="219055"/>
                  </a:moveTo>
                  <a:lnTo>
                    <a:pt x="504730" y="219055"/>
                  </a:lnTo>
                </a:path>
              </a:pathLst>
            </a:custGeom>
            <a:ln w="30481">
              <a:solidFill>
                <a:srgbClr val="000000"/>
              </a:solidFill>
            </a:ln>
          </p:spPr>
          <p:txBody>
            <a:bodyPr wrap="square" lIns="0" tIns="0" rIns="0" bIns="0" rtlCol="0"/>
            <a:lstStyle/>
            <a:p>
              <a:endParaRPr sz="1588"/>
            </a:p>
          </p:txBody>
        </p:sp>
        <p:sp>
          <p:nvSpPr>
            <p:cNvPr id="81" name="object 81"/>
            <p:cNvSpPr/>
            <p:nvPr/>
          </p:nvSpPr>
          <p:spPr>
            <a:xfrm>
              <a:off x="5807617" y="4204111"/>
              <a:ext cx="386715" cy="584835"/>
            </a:xfrm>
            <a:custGeom>
              <a:avLst/>
              <a:gdLst/>
              <a:ahLst/>
              <a:cxnLst/>
              <a:rect l="l" t="t" r="r" b="b"/>
              <a:pathLst>
                <a:path w="386714" h="584835">
                  <a:moveTo>
                    <a:pt x="0" y="0"/>
                  </a:moveTo>
                  <a:lnTo>
                    <a:pt x="0" y="584672"/>
                  </a:lnTo>
                  <a:lnTo>
                    <a:pt x="386417" y="438504"/>
                  </a:lnTo>
                  <a:lnTo>
                    <a:pt x="386417" y="146168"/>
                  </a:lnTo>
                  <a:lnTo>
                    <a:pt x="0" y="0"/>
                  </a:lnTo>
                  <a:close/>
                </a:path>
              </a:pathLst>
            </a:custGeom>
            <a:solidFill>
              <a:srgbClr val="FFFFFF"/>
            </a:solidFill>
          </p:spPr>
          <p:txBody>
            <a:bodyPr wrap="square" lIns="0" tIns="0" rIns="0" bIns="0" rtlCol="0"/>
            <a:lstStyle/>
            <a:p>
              <a:endParaRPr sz="1588"/>
            </a:p>
          </p:txBody>
        </p:sp>
        <p:sp>
          <p:nvSpPr>
            <p:cNvPr id="82" name="object 82"/>
            <p:cNvSpPr/>
            <p:nvPr/>
          </p:nvSpPr>
          <p:spPr>
            <a:xfrm>
              <a:off x="5807617" y="4204111"/>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83" name="object 83"/>
            <p:cNvSpPr/>
            <p:nvPr/>
          </p:nvSpPr>
          <p:spPr>
            <a:xfrm>
              <a:off x="5781817" y="4402429"/>
              <a:ext cx="207010" cy="189230"/>
            </a:xfrm>
            <a:custGeom>
              <a:avLst/>
              <a:gdLst/>
              <a:ahLst/>
              <a:cxnLst/>
              <a:rect l="l" t="t" r="r" b="b"/>
              <a:pathLst>
                <a:path w="207010" h="189229">
                  <a:moveTo>
                    <a:pt x="0" y="0"/>
                  </a:moveTo>
                  <a:lnTo>
                    <a:pt x="0" y="188799"/>
                  </a:lnTo>
                  <a:lnTo>
                    <a:pt x="206396" y="94399"/>
                  </a:lnTo>
                  <a:lnTo>
                    <a:pt x="0" y="0"/>
                  </a:lnTo>
                  <a:close/>
                </a:path>
              </a:pathLst>
            </a:custGeom>
            <a:solidFill>
              <a:srgbClr val="FFFFFF"/>
            </a:solidFill>
          </p:spPr>
          <p:txBody>
            <a:bodyPr wrap="square" lIns="0" tIns="0" rIns="0" bIns="0" rtlCol="0"/>
            <a:lstStyle/>
            <a:p>
              <a:endParaRPr sz="1588"/>
            </a:p>
          </p:txBody>
        </p:sp>
        <p:sp>
          <p:nvSpPr>
            <p:cNvPr id="84" name="object 84"/>
            <p:cNvSpPr/>
            <p:nvPr/>
          </p:nvSpPr>
          <p:spPr>
            <a:xfrm>
              <a:off x="5807616" y="4413468"/>
              <a:ext cx="159385" cy="166370"/>
            </a:xfrm>
            <a:custGeom>
              <a:avLst/>
              <a:gdLst/>
              <a:ahLst/>
              <a:cxnLst/>
              <a:rect l="l" t="t" r="r" b="b"/>
              <a:pathLst>
                <a:path w="159385"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85" name="object 85"/>
          <p:cNvSpPr txBox="1"/>
          <p:nvPr/>
        </p:nvSpPr>
        <p:spPr>
          <a:xfrm>
            <a:off x="5388871" y="380660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86" name="object 86"/>
          <p:cNvGrpSpPr/>
          <p:nvPr/>
        </p:nvGrpSpPr>
        <p:grpSpPr>
          <a:xfrm>
            <a:off x="5589493" y="3793736"/>
            <a:ext cx="1116666" cy="349624"/>
            <a:chOff x="6182358" y="4299568"/>
            <a:chExt cx="1265555" cy="396240"/>
          </a:xfrm>
        </p:grpSpPr>
        <p:sp>
          <p:nvSpPr>
            <p:cNvPr id="87" name="object 87"/>
            <p:cNvSpPr/>
            <p:nvPr/>
          </p:nvSpPr>
          <p:spPr>
            <a:xfrm>
              <a:off x="6197598" y="4497617"/>
              <a:ext cx="1235075" cy="0"/>
            </a:xfrm>
            <a:custGeom>
              <a:avLst/>
              <a:gdLst/>
              <a:ahLst/>
              <a:cxnLst/>
              <a:rect l="l" t="t" r="r" b="b"/>
              <a:pathLst>
                <a:path w="1235075">
                  <a:moveTo>
                    <a:pt x="0" y="0"/>
                  </a:moveTo>
                  <a:lnTo>
                    <a:pt x="183291" y="0"/>
                  </a:lnTo>
                </a:path>
                <a:path w="1235075">
                  <a:moveTo>
                    <a:pt x="274459" y="0"/>
                  </a:moveTo>
                  <a:lnTo>
                    <a:pt x="372009" y="0"/>
                  </a:lnTo>
                </a:path>
                <a:path w="1235075">
                  <a:moveTo>
                    <a:pt x="1123232" y="0"/>
                  </a:moveTo>
                  <a:lnTo>
                    <a:pt x="1234934" y="0"/>
                  </a:lnTo>
                </a:path>
                <a:path w="1235075">
                  <a:moveTo>
                    <a:pt x="830145" y="0"/>
                  </a:moveTo>
                  <a:lnTo>
                    <a:pt x="1030778" y="0"/>
                  </a:lnTo>
                </a:path>
              </a:pathLst>
            </a:custGeom>
            <a:ln w="30481">
              <a:solidFill>
                <a:srgbClr val="000000"/>
              </a:solidFill>
            </a:ln>
          </p:spPr>
          <p:txBody>
            <a:bodyPr wrap="square" lIns="0" tIns="0" rIns="0" bIns="0" rtlCol="0"/>
            <a:lstStyle/>
            <a:p>
              <a:endParaRPr sz="1588"/>
            </a:p>
          </p:txBody>
        </p:sp>
        <p:sp>
          <p:nvSpPr>
            <p:cNvPr id="88" name="object 88"/>
            <p:cNvSpPr/>
            <p:nvPr/>
          </p:nvSpPr>
          <p:spPr>
            <a:xfrm>
              <a:off x="6569608" y="4314808"/>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89" name="object 89"/>
          <p:cNvSpPr txBox="1"/>
          <p:nvPr/>
        </p:nvSpPr>
        <p:spPr>
          <a:xfrm>
            <a:off x="5924818" y="3848099"/>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90" name="object 90"/>
          <p:cNvGrpSpPr/>
          <p:nvPr/>
        </p:nvGrpSpPr>
        <p:grpSpPr>
          <a:xfrm>
            <a:off x="4068607" y="3857701"/>
            <a:ext cx="2438960" cy="381559"/>
            <a:chOff x="4458687" y="4372061"/>
            <a:chExt cx="2764155" cy="432434"/>
          </a:xfrm>
        </p:grpSpPr>
        <p:sp>
          <p:nvSpPr>
            <p:cNvPr id="91" name="object 91"/>
            <p:cNvSpPr/>
            <p:nvPr/>
          </p:nvSpPr>
          <p:spPr>
            <a:xfrm>
              <a:off x="6520295" y="4497617"/>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92" name="object 92"/>
            <p:cNvSpPr/>
            <p:nvPr/>
          </p:nvSpPr>
          <p:spPr>
            <a:xfrm>
              <a:off x="4473927" y="4387301"/>
              <a:ext cx="434975" cy="220979"/>
            </a:xfrm>
            <a:custGeom>
              <a:avLst/>
              <a:gdLst/>
              <a:ahLst/>
              <a:cxnLst/>
              <a:rect l="l" t="t" r="r" b="b"/>
              <a:pathLst>
                <a:path w="434975" h="220979">
                  <a:moveTo>
                    <a:pt x="0" y="220632"/>
                  </a:moveTo>
                  <a:lnTo>
                    <a:pt x="124669" y="220632"/>
                  </a:lnTo>
                </a:path>
                <a:path w="434975" h="220979">
                  <a:moveTo>
                    <a:pt x="217123" y="220632"/>
                  </a:moveTo>
                  <a:lnTo>
                    <a:pt x="434955" y="220632"/>
                  </a:lnTo>
                </a:path>
                <a:path w="434975" h="220979">
                  <a:moveTo>
                    <a:pt x="0" y="0"/>
                  </a:moveTo>
                  <a:lnTo>
                    <a:pt x="124669" y="0"/>
                  </a:lnTo>
                </a:path>
                <a:path w="434975" h="220979">
                  <a:moveTo>
                    <a:pt x="217123" y="0"/>
                  </a:moveTo>
                  <a:lnTo>
                    <a:pt x="432885" y="0"/>
                  </a:lnTo>
                </a:path>
              </a:pathLst>
            </a:custGeom>
            <a:ln w="30481">
              <a:solidFill>
                <a:srgbClr val="000000"/>
              </a:solidFill>
            </a:ln>
          </p:spPr>
          <p:txBody>
            <a:bodyPr wrap="square" lIns="0" tIns="0" rIns="0" bIns="0" rtlCol="0"/>
            <a:lstStyle/>
            <a:p>
              <a:endParaRPr sz="1588"/>
            </a:p>
          </p:txBody>
        </p:sp>
      </p:grpSp>
      <p:sp>
        <p:nvSpPr>
          <p:cNvPr id="93" name="object 93"/>
          <p:cNvSpPr txBox="1"/>
          <p:nvPr/>
        </p:nvSpPr>
        <p:spPr>
          <a:xfrm>
            <a:off x="3676014" y="3807184"/>
            <a:ext cx="406213" cy="215609"/>
          </a:xfrm>
          <a:prstGeom prst="rect">
            <a:avLst/>
          </a:prstGeom>
          <a:ln w="30479">
            <a:solidFill>
              <a:srgbClr val="000000"/>
            </a:solidFill>
          </a:ln>
        </p:spPr>
        <p:txBody>
          <a:bodyPr vert="horz" wrap="square" lIns="0" tIns="52107" rIns="0" bIns="0" rtlCol="0">
            <a:spAutoFit/>
          </a:bodyPr>
          <a:lstStyle/>
          <a:p>
            <a:pPr marL="39223">
              <a:spcBef>
                <a:spcPts val="410"/>
              </a:spcBef>
            </a:pPr>
            <a:r>
              <a:rPr sz="1059" b="1" spc="-9" dirty="0">
                <a:latin typeface="Times New Roman"/>
                <a:cs typeface="Times New Roman"/>
              </a:rPr>
              <a:t>Ifetch</a:t>
            </a:r>
            <a:endParaRPr sz="1059">
              <a:latin typeface="Times New Roman"/>
              <a:cs typeface="Times New Roman"/>
            </a:endParaRPr>
          </a:p>
        </p:txBody>
      </p:sp>
      <p:grpSp>
        <p:nvGrpSpPr>
          <p:cNvPr id="94" name="object 94"/>
          <p:cNvGrpSpPr/>
          <p:nvPr/>
        </p:nvGrpSpPr>
        <p:grpSpPr>
          <a:xfrm>
            <a:off x="4178609" y="3647732"/>
            <a:ext cx="2934820" cy="640416"/>
            <a:chOff x="4583357" y="4134096"/>
            <a:chExt cx="3326129" cy="725805"/>
          </a:xfrm>
        </p:grpSpPr>
        <p:sp>
          <p:nvSpPr>
            <p:cNvPr id="95" name="object 95"/>
            <p:cNvSpPr/>
            <p:nvPr/>
          </p:nvSpPr>
          <p:spPr>
            <a:xfrm>
              <a:off x="5451220" y="4149336"/>
              <a:ext cx="92710" cy="695325"/>
            </a:xfrm>
            <a:custGeom>
              <a:avLst/>
              <a:gdLst/>
              <a:ahLst/>
              <a:cxnLst/>
              <a:rect l="l" t="t" r="r" b="b"/>
              <a:pathLst>
                <a:path w="92710"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96" name="object 96"/>
            <p:cNvSpPr/>
            <p:nvPr/>
          </p:nvSpPr>
          <p:spPr>
            <a:xfrm>
              <a:off x="5451220" y="4149336"/>
              <a:ext cx="92710" cy="695325"/>
            </a:xfrm>
            <a:custGeom>
              <a:avLst/>
              <a:gdLst/>
              <a:ahLst/>
              <a:cxnLst/>
              <a:rect l="l" t="t" r="r" b="b"/>
              <a:pathLst>
                <a:path w="92710"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97" name="object 97"/>
            <p:cNvSpPr/>
            <p:nvPr/>
          </p:nvSpPr>
          <p:spPr>
            <a:xfrm>
              <a:off x="7228377" y="4149336"/>
              <a:ext cx="92710" cy="695325"/>
            </a:xfrm>
            <a:custGeom>
              <a:avLst/>
              <a:gdLst/>
              <a:ahLst/>
              <a:cxnLst/>
              <a:rect l="l" t="t" r="r" b="b"/>
              <a:pathLst>
                <a:path w="92709"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98" name="object 98"/>
            <p:cNvSpPr/>
            <p:nvPr/>
          </p:nvSpPr>
          <p:spPr>
            <a:xfrm>
              <a:off x="7228377" y="4149336"/>
              <a:ext cx="92710" cy="695325"/>
            </a:xfrm>
            <a:custGeom>
              <a:avLst/>
              <a:gdLst/>
              <a:ahLst/>
              <a:cxnLst/>
              <a:rect l="l" t="t" r="r" b="b"/>
              <a:pathLst>
                <a:path w="92709"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99" name="object 99"/>
            <p:cNvSpPr/>
            <p:nvPr/>
          </p:nvSpPr>
          <p:spPr>
            <a:xfrm>
              <a:off x="4598597" y="4149336"/>
              <a:ext cx="92710" cy="695325"/>
            </a:xfrm>
            <a:custGeom>
              <a:avLst/>
              <a:gdLst/>
              <a:ahLst/>
              <a:cxnLst/>
              <a:rect l="l" t="t" r="r" b="b"/>
              <a:pathLst>
                <a:path w="92710"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100" name="object 100"/>
            <p:cNvSpPr/>
            <p:nvPr/>
          </p:nvSpPr>
          <p:spPr>
            <a:xfrm>
              <a:off x="4598597" y="4149336"/>
              <a:ext cx="92710" cy="695325"/>
            </a:xfrm>
            <a:custGeom>
              <a:avLst/>
              <a:gdLst/>
              <a:ahLst/>
              <a:cxnLst/>
              <a:rect l="l" t="t" r="r" b="b"/>
              <a:pathLst>
                <a:path w="92710"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01" name="object 101"/>
            <p:cNvSpPr/>
            <p:nvPr/>
          </p:nvSpPr>
          <p:spPr>
            <a:xfrm>
              <a:off x="6380889" y="4153418"/>
              <a:ext cx="91440" cy="685800"/>
            </a:xfrm>
            <a:custGeom>
              <a:avLst/>
              <a:gdLst/>
              <a:ahLst/>
              <a:cxnLst/>
              <a:rect l="l" t="t" r="r" b="b"/>
              <a:pathLst>
                <a:path w="91439" h="685800">
                  <a:moveTo>
                    <a:pt x="91168" y="0"/>
                  </a:moveTo>
                  <a:lnTo>
                    <a:pt x="0" y="0"/>
                  </a:lnTo>
                  <a:lnTo>
                    <a:pt x="0" y="685802"/>
                  </a:lnTo>
                  <a:lnTo>
                    <a:pt x="91168" y="685802"/>
                  </a:lnTo>
                  <a:lnTo>
                    <a:pt x="91168" y="0"/>
                  </a:lnTo>
                  <a:close/>
                </a:path>
              </a:pathLst>
            </a:custGeom>
            <a:solidFill>
              <a:srgbClr val="00FF00"/>
            </a:solidFill>
          </p:spPr>
          <p:txBody>
            <a:bodyPr wrap="square" lIns="0" tIns="0" rIns="0" bIns="0" rtlCol="0"/>
            <a:lstStyle/>
            <a:p>
              <a:endParaRPr sz="1588"/>
            </a:p>
          </p:txBody>
        </p:sp>
        <p:sp>
          <p:nvSpPr>
            <p:cNvPr id="102" name="object 102"/>
            <p:cNvSpPr/>
            <p:nvPr/>
          </p:nvSpPr>
          <p:spPr>
            <a:xfrm>
              <a:off x="6380889" y="4153418"/>
              <a:ext cx="91440" cy="685800"/>
            </a:xfrm>
            <a:custGeom>
              <a:avLst/>
              <a:gdLst/>
              <a:ahLst/>
              <a:cxnLst/>
              <a:rect l="l" t="t" r="r" b="b"/>
              <a:pathLst>
                <a:path w="91439" h="685800">
                  <a:moveTo>
                    <a:pt x="0" y="0"/>
                  </a:moveTo>
                  <a:lnTo>
                    <a:pt x="91169" y="0"/>
                  </a:lnTo>
                  <a:lnTo>
                    <a:pt x="91169"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03" name="object 103"/>
            <p:cNvSpPr/>
            <p:nvPr/>
          </p:nvSpPr>
          <p:spPr>
            <a:xfrm>
              <a:off x="7432532" y="4300625"/>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104" name="object 104"/>
            <p:cNvSpPr/>
            <p:nvPr/>
          </p:nvSpPr>
          <p:spPr>
            <a:xfrm>
              <a:off x="7432532" y="4300625"/>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105" name="object 105"/>
          <p:cNvSpPr txBox="1"/>
          <p:nvPr/>
        </p:nvSpPr>
        <p:spPr>
          <a:xfrm>
            <a:off x="6778467" y="383465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6" name="object 106"/>
          <p:cNvGrpSpPr/>
          <p:nvPr/>
        </p:nvGrpSpPr>
        <p:grpSpPr>
          <a:xfrm>
            <a:off x="5205224" y="4526548"/>
            <a:ext cx="430306" cy="351304"/>
            <a:chOff x="5746854" y="5130087"/>
            <a:chExt cx="487680" cy="398145"/>
          </a:xfrm>
        </p:grpSpPr>
        <p:sp>
          <p:nvSpPr>
            <p:cNvPr id="107" name="object 107"/>
            <p:cNvSpPr/>
            <p:nvPr/>
          </p:nvSpPr>
          <p:spPr>
            <a:xfrm>
              <a:off x="5990672" y="5145327"/>
              <a:ext cx="228600" cy="363220"/>
            </a:xfrm>
            <a:custGeom>
              <a:avLst/>
              <a:gdLst/>
              <a:ahLst/>
              <a:cxnLst/>
              <a:rect l="l" t="t" r="r" b="b"/>
              <a:pathLst>
                <a:path w="228600" h="363220">
                  <a:moveTo>
                    <a:pt x="228575" y="0"/>
                  </a:moveTo>
                  <a:lnTo>
                    <a:pt x="0" y="0"/>
                  </a:lnTo>
                  <a:lnTo>
                    <a:pt x="0" y="362943"/>
                  </a:lnTo>
                  <a:lnTo>
                    <a:pt x="228575" y="362943"/>
                  </a:lnTo>
                  <a:lnTo>
                    <a:pt x="228575" y="0"/>
                  </a:lnTo>
                  <a:close/>
                </a:path>
              </a:pathLst>
            </a:custGeom>
            <a:solidFill>
              <a:srgbClr val="0099FF"/>
            </a:solidFill>
          </p:spPr>
          <p:txBody>
            <a:bodyPr wrap="square" lIns="0" tIns="0" rIns="0" bIns="0" rtlCol="0"/>
            <a:lstStyle/>
            <a:p>
              <a:endParaRPr sz="1588"/>
            </a:p>
          </p:txBody>
        </p:sp>
        <p:sp>
          <p:nvSpPr>
            <p:cNvPr id="108" name="object 108"/>
            <p:cNvSpPr/>
            <p:nvPr/>
          </p:nvSpPr>
          <p:spPr>
            <a:xfrm>
              <a:off x="5762094" y="5145327"/>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09" name="object 109"/>
          <p:cNvSpPr txBox="1"/>
          <p:nvPr/>
        </p:nvSpPr>
        <p:spPr>
          <a:xfrm>
            <a:off x="5301014" y="4579619"/>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10" name="object 110"/>
          <p:cNvGrpSpPr/>
          <p:nvPr/>
        </p:nvGrpSpPr>
        <p:grpSpPr>
          <a:xfrm>
            <a:off x="5610421" y="4430264"/>
            <a:ext cx="755837" cy="542925"/>
            <a:chOff x="6206077" y="5020965"/>
            <a:chExt cx="856615" cy="615315"/>
          </a:xfrm>
        </p:grpSpPr>
        <p:sp>
          <p:nvSpPr>
            <p:cNvPr id="111" name="object 111"/>
            <p:cNvSpPr/>
            <p:nvPr/>
          </p:nvSpPr>
          <p:spPr>
            <a:xfrm>
              <a:off x="6221317" y="5219395"/>
              <a:ext cx="504825" cy="219075"/>
            </a:xfrm>
            <a:custGeom>
              <a:avLst/>
              <a:gdLst/>
              <a:ahLst/>
              <a:cxnLst/>
              <a:rect l="l" t="t" r="r" b="b"/>
              <a:pathLst>
                <a:path w="504825" h="219075">
                  <a:moveTo>
                    <a:pt x="0" y="0"/>
                  </a:moveTo>
                  <a:lnTo>
                    <a:pt x="160331" y="0"/>
                  </a:lnTo>
                </a:path>
                <a:path w="504825" h="219075">
                  <a:moveTo>
                    <a:pt x="252802" y="0"/>
                  </a:moveTo>
                  <a:lnTo>
                    <a:pt x="504730" y="0"/>
                  </a:lnTo>
                </a:path>
                <a:path w="504825" h="219075">
                  <a:moveTo>
                    <a:pt x="0" y="219055"/>
                  </a:moveTo>
                  <a:lnTo>
                    <a:pt x="160331" y="219055"/>
                  </a:lnTo>
                </a:path>
                <a:path w="504825" h="219075">
                  <a:moveTo>
                    <a:pt x="252802" y="219055"/>
                  </a:moveTo>
                  <a:lnTo>
                    <a:pt x="504730" y="219055"/>
                  </a:lnTo>
                </a:path>
              </a:pathLst>
            </a:custGeom>
            <a:ln w="30481">
              <a:solidFill>
                <a:srgbClr val="000000"/>
              </a:solidFill>
            </a:ln>
          </p:spPr>
          <p:txBody>
            <a:bodyPr wrap="square" lIns="0" tIns="0" rIns="0" bIns="0" rtlCol="0"/>
            <a:lstStyle/>
            <a:p>
              <a:endParaRPr sz="1588"/>
            </a:p>
          </p:txBody>
        </p:sp>
        <p:sp>
          <p:nvSpPr>
            <p:cNvPr id="112" name="object 112"/>
            <p:cNvSpPr/>
            <p:nvPr/>
          </p:nvSpPr>
          <p:spPr>
            <a:xfrm>
              <a:off x="6660830" y="5036205"/>
              <a:ext cx="386715" cy="584835"/>
            </a:xfrm>
            <a:custGeom>
              <a:avLst/>
              <a:gdLst/>
              <a:ahLst/>
              <a:cxnLst/>
              <a:rect l="l" t="t" r="r" b="b"/>
              <a:pathLst>
                <a:path w="386715" h="584835">
                  <a:moveTo>
                    <a:pt x="0" y="0"/>
                  </a:moveTo>
                  <a:lnTo>
                    <a:pt x="0" y="584672"/>
                  </a:lnTo>
                  <a:lnTo>
                    <a:pt x="386417" y="438504"/>
                  </a:lnTo>
                  <a:lnTo>
                    <a:pt x="386417" y="146168"/>
                  </a:lnTo>
                  <a:lnTo>
                    <a:pt x="0" y="0"/>
                  </a:lnTo>
                  <a:close/>
                </a:path>
              </a:pathLst>
            </a:custGeom>
            <a:solidFill>
              <a:srgbClr val="FFFFFF"/>
            </a:solidFill>
          </p:spPr>
          <p:txBody>
            <a:bodyPr wrap="square" lIns="0" tIns="0" rIns="0" bIns="0" rtlCol="0"/>
            <a:lstStyle/>
            <a:p>
              <a:endParaRPr sz="1588"/>
            </a:p>
          </p:txBody>
        </p:sp>
        <p:sp>
          <p:nvSpPr>
            <p:cNvPr id="113" name="object 113"/>
            <p:cNvSpPr/>
            <p:nvPr/>
          </p:nvSpPr>
          <p:spPr>
            <a:xfrm>
              <a:off x="6660830" y="5036205"/>
              <a:ext cx="386715" cy="584835"/>
            </a:xfrm>
            <a:custGeom>
              <a:avLst/>
              <a:gdLst/>
              <a:ahLst/>
              <a:cxnLst/>
              <a:rect l="l" t="t" r="r" b="b"/>
              <a:pathLst>
                <a:path w="386715"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114" name="object 114"/>
            <p:cNvSpPr/>
            <p:nvPr/>
          </p:nvSpPr>
          <p:spPr>
            <a:xfrm>
              <a:off x="6635031" y="5234523"/>
              <a:ext cx="207010" cy="189230"/>
            </a:xfrm>
            <a:custGeom>
              <a:avLst/>
              <a:gdLst/>
              <a:ahLst/>
              <a:cxnLst/>
              <a:rect l="l" t="t" r="r" b="b"/>
              <a:pathLst>
                <a:path w="207009" h="189229">
                  <a:moveTo>
                    <a:pt x="0" y="0"/>
                  </a:moveTo>
                  <a:lnTo>
                    <a:pt x="0" y="188799"/>
                  </a:lnTo>
                  <a:lnTo>
                    <a:pt x="206395" y="94399"/>
                  </a:lnTo>
                  <a:lnTo>
                    <a:pt x="0" y="0"/>
                  </a:lnTo>
                  <a:close/>
                </a:path>
              </a:pathLst>
            </a:custGeom>
            <a:solidFill>
              <a:srgbClr val="FFFFFF"/>
            </a:solidFill>
          </p:spPr>
          <p:txBody>
            <a:bodyPr wrap="square" lIns="0" tIns="0" rIns="0" bIns="0" rtlCol="0"/>
            <a:lstStyle/>
            <a:p>
              <a:endParaRPr sz="1588"/>
            </a:p>
          </p:txBody>
        </p:sp>
        <p:sp>
          <p:nvSpPr>
            <p:cNvPr id="115" name="object 115"/>
            <p:cNvSpPr/>
            <p:nvPr/>
          </p:nvSpPr>
          <p:spPr>
            <a:xfrm>
              <a:off x="6660829" y="5245560"/>
              <a:ext cx="159385" cy="166370"/>
            </a:xfrm>
            <a:custGeom>
              <a:avLst/>
              <a:gdLst/>
              <a:ahLst/>
              <a:cxnLst/>
              <a:rect l="l" t="t" r="r" b="b"/>
              <a:pathLst>
                <a:path w="159384"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116" name="object 116"/>
          <p:cNvSpPr txBox="1"/>
          <p:nvPr/>
        </p:nvSpPr>
        <p:spPr>
          <a:xfrm>
            <a:off x="6141704" y="454081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17" name="object 117"/>
          <p:cNvGrpSpPr/>
          <p:nvPr/>
        </p:nvGrpSpPr>
        <p:grpSpPr>
          <a:xfrm>
            <a:off x="6342328" y="4527937"/>
            <a:ext cx="1116666" cy="349624"/>
            <a:chOff x="7035571" y="5131662"/>
            <a:chExt cx="1265555" cy="396240"/>
          </a:xfrm>
        </p:grpSpPr>
        <p:sp>
          <p:nvSpPr>
            <p:cNvPr id="118" name="object 118"/>
            <p:cNvSpPr/>
            <p:nvPr/>
          </p:nvSpPr>
          <p:spPr>
            <a:xfrm>
              <a:off x="7050811" y="5329711"/>
              <a:ext cx="1235075" cy="0"/>
            </a:xfrm>
            <a:custGeom>
              <a:avLst/>
              <a:gdLst/>
              <a:ahLst/>
              <a:cxnLst/>
              <a:rect l="l" t="t" r="r" b="b"/>
              <a:pathLst>
                <a:path w="1235075">
                  <a:moveTo>
                    <a:pt x="0" y="0"/>
                  </a:moveTo>
                  <a:lnTo>
                    <a:pt x="178480" y="0"/>
                  </a:lnTo>
                </a:path>
                <a:path w="1235075">
                  <a:moveTo>
                    <a:pt x="269666" y="0"/>
                  </a:moveTo>
                  <a:lnTo>
                    <a:pt x="372009" y="0"/>
                  </a:lnTo>
                </a:path>
                <a:path w="1235075">
                  <a:moveTo>
                    <a:pt x="875004" y="0"/>
                  </a:moveTo>
                  <a:lnTo>
                    <a:pt x="1028693" y="0"/>
                  </a:lnTo>
                </a:path>
                <a:path w="1235075">
                  <a:moveTo>
                    <a:pt x="1121163" y="0"/>
                  </a:moveTo>
                  <a:lnTo>
                    <a:pt x="1234935" y="0"/>
                  </a:lnTo>
                </a:path>
              </a:pathLst>
            </a:custGeom>
            <a:ln w="30481">
              <a:solidFill>
                <a:srgbClr val="000000"/>
              </a:solidFill>
            </a:ln>
          </p:spPr>
          <p:txBody>
            <a:bodyPr wrap="square" lIns="0" tIns="0" rIns="0" bIns="0" rtlCol="0"/>
            <a:lstStyle/>
            <a:p>
              <a:endParaRPr sz="1588"/>
            </a:p>
          </p:txBody>
        </p:sp>
        <p:sp>
          <p:nvSpPr>
            <p:cNvPr id="119" name="object 119"/>
            <p:cNvSpPr/>
            <p:nvPr/>
          </p:nvSpPr>
          <p:spPr>
            <a:xfrm>
              <a:off x="7422820" y="5146902"/>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20" name="object 120"/>
          <p:cNvSpPr txBox="1"/>
          <p:nvPr/>
        </p:nvSpPr>
        <p:spPr>
          <a:xfrm>
            <a:off x="6677653" y="4582309"/>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121" name="object 121"/>
          <p:cNvGrpSpPr/>
          <p:nvPr/>
        </p:nvGrpSpPr>
        <p:grpSpPr>
          <a:xfrm>
            <a:off x="4821442" y="4591902"/>
            <a:ext cx="2438960" cy="381559"/>
            <a:chOff x="5311900" y="5204155"/>
            <a:chExt cx="2764155" cy="432434"/>
          </a:xfrm>
        </p:grpSpPr>
        <p:sp>
          <p:nvSpPr>
            <p:cNvPr id="122" name="object 122"/>
            <p:cNvSpPr/>
            <p:nvPr/>
          </p:nvSpPr>
          <p:spPr>
            <a:xfrm>
              <a:off x="7373508" y="5329711"/>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123" name="object 123"/>
            <p:cNvSpPr/>
            <p:nvPr/>
          </p:nvSpPr>
          <p:spPr>
            <a:xfrm>
              <a:off x="5327140" y="5219395"/>
              <a:ext cx="434975" cy="220979"/>
            </a:xfrm>
            <a:custGeom>
              <a:avLst/>
              <a:gdLst/>
              <a:ahLst/>
              <a:cxnLst/>
              <a:rect l="l" t="t" r="r" b="b"/>
              <a:pathLst>
                <a:path w="434975" h="220979">
                  <a:moveTo>
                    <a:pt x="217139" y="220632"/>
                  </a:moveTo>
                  <a:lnTo>
                    <a:pt x="434955" y="220632"/>
                  </a:lnTo>
                </a:path>
                <a:path w="434975" h="220979">
                  <a:moveTo>
                    <a:pt x="0" y="220632"/>
                  </a:moveTo>
                  <a:lnTo>
                    <a:pt x="124669" y="220632"/>
                  </a:lnTo>
                </a:path>
                <a:path w="434975" h="220979">
                  <a:moveTo>
                    <a:pt x="217139" y="0"/>
                  </a:moveTo>
                  <a:lnTo>
                    <a:pt x="432886" y="0"/>
                  </a:lnTo>
                </a:path>
                <a:path w="434975" h="220979">
                  <a:moveTo>
                    <a:pt x="0" y="0"/>
                  </a:moveTo>
                  <a:lnTo>
                    <a:pt x="124669" y="0"/>
                  </a:lnTo>
                </a:path>
              </a:pathLst>
            </a:custGeom>
            <a:ln w="30481">
              <a:solidFill>
                <a:srgbClr val="000000"/>
              </a:solidFill>
            </a:ln>
          </p:spPr>
          <p:txBody>
            <a:bodyPr wrap="square" lIns="0" tIns="0" rIns="0" bIns="0" rtlCol="0"/>
            <a:lstStyle/>
            <a:p>
              <a:endParaRPr sz="1588"/>
            </a:p>
          </p:txBody>
        </p:sp>
      </p:grpSp>
      <p:sp>
        <p:nvSpPr>
          <p:cNvPr id="124" name="object 124"/>
          <p:cNvSpPr txBox="1"/>
          <p:nvPr/>
        </p:nvSpPr>
        <p:spPr>
          <a:xfrm>
            <a:off x="4428849" y="4541384"/>
            <a:ext cx="406213" cy="215609"/>
          </a:xfrm>
          <a:prstGeom prst="rect">
            <a:avLst/>
          </a:prstGeom>
          <a:solidFill>
            <a:srgbClr val="FF0000"/>
          </a:solidFill>
          <a:ln w="30479">
            <a:solidFill>
              <a:srgbClr val="000000"/>
            </a:solidFill>
          </a:ln>
        </p:spPr>
        <p:txBody>
          <a:bodyPr vert="horz" wrap="square" lIns="0" tIns="52107" rIns="0" bIns="0" rtlCol="0">
            <a:spAutoFit/>
          </a:bodyPr>
          <a:lstStyle/>
          <a:p>
            <a:pPr marL="39223">
              <a:spcBef>
                <a:spcPts val="410"/>
              </a:spcBef>
            </a:pPr>
            <a:r>
              <a:rPr sz="1059" b="1" spc="-9" dirty="0">
                <a:latin typeface="Times New Roman"/>
                <a:cs typeface="Times New Roman"/>
              </a:rPr>
              <a:t>Ifetch</a:t>
            </a:r>
            <a:endParaRPr sz="1059">
              <a:latin typeface="Times New Roman"/>
              <a:cs typeface="Times New Roman"/>
            </a:endParaRPr>
          </a:p>
        </p:txBody>
      </p:sp>
      <p:grpSp>
        <p:nvGrpSpPr>
          <p:cNvPr id="125" name="object 125"/>
          <p:cNvGrpSpPr/>
          <p:nvPr/>
        </p:nvGrpSpPr>
        <p:grpSpPr>
          <a:xfrm>
            <a:off x="4931444" y="4381933"/>
            <a:ext cx="2934820" cy="640416"/>
            <a:chOff x="5436570" y="4966190"/>
            <a:chExt cx="3326129" cy="725805"/>
          </a:xfrm>
        </p:grpSpPr>
        <p:sp>
          <p:nvSpPr>
            <p:cNvPr id="126" name="object 126"/>
            <p:cNvSpPr/>
            <p:nvPr/>
          </p:nvSpPr>
          <p:spPr>
            <a:xfrm>
              <a:off x="6381648" y="4981430"/>
              <a:ext cx="92710" cy="695325"/>
            </a:xfrm>
            <a:custGeom>
              <a:avLst/>
              <a:gdLst/>
              <a:ahLst/>
              <a:cxnLst/>
              <a:rect l="l" t="t" r="r" b="b"/>
              <a:pathLst>
                <a:path w="92710" h="695325">
                  <a:moveTo>
                    <a:pt x="92471" y="0"/>
                  </a:moveTo>
                  <a:lnTo>
                    <a:pt x="0" y="0"/>
                  </a:lnTo>
                  <a:lnTo>
                    <a:pt x="0" y="694987"/>
                  </a:lnTo>
                  <a:lnTo>
                    <a:pt x="92471" y="694987"/>
                  </a:lnTo>
                  <a:lnTo>
                    <a:pt x="92471" y="0"/>
                  </a:lnTo>
                  <a:close/>
                </a:path>
              </a:pathLst>
            </a:custGeom>
            <a:solidFill>
              <a:srgbClr val="00FF00"/>
            </a:solidFill>
          </p:spPr>
          <p:txBody>
            <a:bodyPr wrap="square" lIns="0" tIns="0" rIns="0" bIns="0" rtlCol="0"/>
            <a:lstStyle/>
            <a:p>
              <a:endParaRPr sz="1588"/>
            </a:p>
          </p:txBody>
        </p:sp>
        <p:sp>
          <p:nvSpPr>
            <p:cNvPr id="127" name="object 127"/>
            <p:cNvSpPr/>
            <p:nvPr/>
          </p:nvSpPr>
          <p:spPr>
            <a:xfrm>
              <a:off x="6381648" y="4981430"/>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28" name="object 128"/>
            <p:cNvSpPr/>
            <p:nvPr/>
          </p:nvSpPr>
          <p:spPr>
            <a:xfrm>
              <a:off x="8079504" y="4981430"/>
              <a:ext cx="92710" cy="695325"/>
            </a:xfrm>
            <a:custGeom>
              <a:avLst/>
              <a:gdLst/>
              <a:ahLst/>
              <a:cxnLst/>
              <a:rect l="l" t="t" r="r" b="b"/>
              <a:pathLst>
                <a:path w="92709"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29" name="object 129"/>
            <p:cNvSpPr/>
            <p:nvPr/>
          </p:nvSpPr>
          <p:spPr>
            <a:xfrm>
              <a:off x="8079504" y="4981430"/>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30" name="object 130"/>
            <p:cNvSpPr/>
            <p:nvPr/>
          </p:nvSpPr>
          <p:spPr>
            <a:xfrm>
              <a:off x="5451810" y="4981430"/>
              <a:ext cx="92710" cy="695325"/>
            </a:xfrm>
            <a:custGeom>
              <a:avLst/>
              <a:gdLst/>
              <a:ahLst/>
              <a:cxnLst/>
              <a:rect l="l" t="t" r="r" b="b"/>
              <a:pathLst>
                <a:path w="92710"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31" name="object 131"/>
            <p:cNvSpPr/>
            <p:nvPr/>
          </p:nvSpPr>
          <p:spPr>
            <a:xfrm>
              <a:off x="5451810" y="4981430"/>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32" name="object 132"/>
            <p:cNvSpPr/>
            <p:nvPr/>
          </p:nvSpPr>
          <p:spPr>
            <a:xfrm>
              <a:off x="7229291" y="4985512"/>
              <a:ext cx="91440" cy="685800"/>
            </a:xfrm>
            <a:custGeom>
              <a:avLst/>
              <a:gdLst/>
              <a:ahLst/>
              <a:cxnLst/>
              <a:rect l="l" t="t" r="r" b="b"/>
              <a:pathLst>
                <a:path w="91440" h="685800">
                  <a:moveTo>
                    <a:pt x="91185" y="0"/>
                  </a:moveTo>
                  <a:lnTo>
                    <a:pt x="0" y="0"/>
                  </a:lnTo>
                  <a:lnTo>
                    <a:pt x="0" y="685802"/>
                  </a:lnTo>
                  <a:lnTo>
                    <a:pt x="91185" y="685802"/>
                  </a:lnTo>
                  <a:lnTo>
                    <a:pt x="91185" y="0"/>
                  </a:lnTo>
                  <a:close/>
                </a:path>
              </a:pathLst>
            </a:custGeom>
            <a:solidFill>
              <a:srgbClr val="00FF00"/>
            </a:solidFill>
          </p:spPr>
          <p:txBody>
            <a:bodyPr wrap="square" lIns="0" tIns="0" rIns="0" bIns="0" rtlCol="0"/>
            <a:lstStyle/>
            <a:p>
              <a:endParaRPr sz="1588"/>
            </a:p>
          </p:txBody>
        </p:sp>
        <p:sp>
          <p:nvSpPr>
            <p:cNvPr id="133" name="object 133"/>
            <p:cNvSpPr/>
            <p:nvPr/>
          </p:nvSpPr>
          <p:spPr>
            <a:xfrm>
              <a:off x="7229291" y="4985512"/>
              <a:ext cx="91440" cy="685800"/>
            </a:xfrm>
            <a:custGeom>
              <a:avLst/>
              <a:gdLst/>
              <a:ahLst/>
              <a:cxnLst/>
              <a:rect l="l" t="t" r="r" b="b"/>
              <a:pathLst>
                <a:path w="91440" h="685800">
                  <a:moveTo>
                    <a:pt x="0" y="0"/>
                  </a:moveTo>
                  <a:lnTo>
                    <a:pt x="91186" y="0"/>
                  </a:lnTo>
                  <a:lnTo>
                    <a:pt x="91186"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34" name="object 134"/>
            <p:cNvSpPr/>
            <p:nvPr/>
          </p:nvSpPr>
          <p:spPr>
            <a:xfrm>
              <a:off x="8285746" y="5132719"/>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135" name="object 135"/>
            <p:cNvSpPr/>
            <p:nvPr/>
          </p:nvSpPr>
          <p:spPr>
            <a:xfrm>
              <a:off x="8285745" y="5132719"/>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136" name="object 136"/>
          <p:cNvSpPr txBox="1"/>
          <p:nvPr/>
        </p:nvSpPr>
        <p:spPr>
          <a:xfrm>
            <a:off x="7531302" y="456886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37" name="object 137"/>
          <p:cNvSpPr txBox="1"/>
          <p:nvPr/>
        </p:nvSpPr>
        <p:spPr>
          <a:xfrm>
            <a:off x="2076020"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1</a:t>
            </a:r>
            <a:endParaRPr sz="1324">
              <a:latin typeface="Times New Roman"/>
              <a:cs typeface="Times New Roman"/>
            </a:endParaRPr>
          </a:p>
        </p:txBody>
      </p:sp>
      <p:sp>
        <p:nvSpPr>
          <p:cNvPr id="138" name="object 138"/>
          <p:cNvSpPr txBox="1"/>
          <p:nvPr/>
        </p:nvSpPr>
        <p:spPr>
          <a:xfrm>
            <a:off x="5905782"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6</a:t>
            </a:r>
            <a:endParaRPr sz="1324">
              <a:latin typeface="Times New Roman"/>
              <a:cs typeface="Times New Roman"/>
            </a:endParaRPr>
          </a:p>
        </p:txBody>
      </p:sp>
      <p:sp>
        <p:nvSpPr>
          <p:cNvPr id="139" name="object 139"/>
          <p:cNvSpPr txBox="1"/>
          <p:nvPr/>
        </p:nvSpPr>
        <p:spPr>
          <a:xfrm>
            <a:off x="6659330"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7</a:t>
            </a:r>
            <a:endParaRPr sz="1324">
              <a:latin typeface="Times New Roman"/>
              <a:cs typeface="Times New Roman"/>
            </a:endParaRPr>
          </a:p>
        </p:txBody>
      </p:sp>
      <p:sp>
        <p:nvSpPr>
          <p:cNvPr id="140" name="object 140"/>
          <p:cNvSpPr txBox="1"/>
          <p:nvPr/>
        </p:nvSpPr>
        <p:spPr>
          <a:xfrm>
            <a:off x="2808893" y="1291813"/>
            <a:ext cx="2824443" cy="756712"/>
          </a:xfrm>
          <a:prstGeom prst="rect">
            <a:avLst/>
          </a:prstGeom>
        </p:spPr>
        <p:txBody>
          <a:bodyPr vert="horz" wrap="square" lIns="0" tIns="11206" rIns="0" bIns="0" rtlCol="0">
            <a:spAutoFit/>
          </a:bodyPr>
          <a:lstStyle/>
          <a:p>
            <a:pPr marL="876907">
              <a:spcBef>
                <a:spcPts val="88"/>
              </a:spcBef>
            </a:pPr>
            <a:r>
              <a:rPr sz="1853" i="1" dirty="0">
                <a:latin typeface="Times New Roman"/>
                <a:cs typeface="Times New Roman"/>
              </a:rPr>
              <a:t>Time</a:t>
            </a:r>
            <a:r>
              <a:rPr sz="1853" i="1" spc="-18" dirty="0">
                <a:latin typeface="Times New Roman"/>
                <a:cs typeface="Times New Roman"/>
              </a:rPr>
              <a:t> </a:t>
            </a:r>
            <a:r>
              <a:rPr sz="1853" i="1" dirty="0">
                <a:latin typeface="Times New Roman"/>
                <a:cs typeface="Times New Roman"/>
              </a:rPr>
              <a:t>(clock</a:t>
            </a:r>
            <a:r>
              <a:rPr sz="1853" i="1" spc="-13" dirty="0">
                <a:latin typeface="Times New Roman"/>
                <a:cs typeface="Times New Roman"/>
              </a:rPr>
              <a:t> </a:t>
            </a:r>
            <a:r>
              <a:rPr sz="1853" i="1" spc="-9" dirty="0">
                <a:latin typeface="Times New Roman"/>
                <a:cs typeface="Times New Roman"/>
              </a:rPr>
              <a:t>cycles)</a:t>
            </a:r>
            <a:endParaRPr sz="1853">
              <a:latin typeface="Times New Roman"/>
              <a:cs typeface="Times New Roman"/>
            </a:endParaRPr>
          </a:p>
          <a:p>
            <a:pPr marL="11206">
              <a:spcBef>
                <a:spcPts val="2012"/>
              </a:spcBef>
              <a:tabLst>
                <a:tab pos="787816" algn="l"/>
                <a:tab pos="1550977" algn="l"/>
                <a:tab pos="2286682" algn="l"/>
              </a:tabLst>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2</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3</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4</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5</a:t>
            </a:r>
            <a:endParaRPr sz="1324">
              <a:latin typeface="Times New Roman"/>
              <a:cs typeface="Times New Roman"/>
            </a:endParaRPr>
          </a:p>
        </p:txBody>
      </p:sp>
      <p:grpSp>
        <p:nvGrpSpPr>
          <p:cNvPr id="141" name="object 141"/>
          <p:cNvGrpSpPr/>
          <p:nvPr/>
        </p:nvGrpSpPr>
        <p:grpSpPr>
          <a:xfrm>
            <a:off x="6027867" y="5258179"/>
            <a:ext cx="430306" cy="351304"/>
            <a:chOff x="6679183" y="5959269"/>
            <a:chExt cx="487680" cy="398145"/>
          </a:xfrm>
        </p:grpSpPr>
        <p:sp>
          <p:nvSpPr>
            <p:cNvPr id="142" name="object 142"/>
            <p:cNvSpPr/>
            <p:nvPr/>
          </p:nvSpPr>
          <p:spPr>
            <a:xfrm>
              <a:off x="6922998" y="5974509"/>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143" name="object 143"/>
            <p:cNvSpPr/>
            <p:nvPr/>
          </p:nvSpPr>
          <p:spPr>
            <a:xfrm>
              <a:off x="6694423" y="5974509"/>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44" name="object 144"/>
          <p:cNvSpPr txBox="1"/>
          <p:nvPr/>
        </p:nvSpPr>
        <p:spPr>
          <a:xfrm>
            <a:off x="6123657" y="5311139"/>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45" name="object 145"/>
          <p:cNvGrpSpPr/>
          <p:nvPr/>
        </p:nvGrpSpPr>
        <p:grpSpPr>
          <a:xfrm>
            <a:off x="6433063" y="5161895"/>
            <a:ext cx="755837" cy="542925"/>
            <a:chOff x="7138404" y="5850147"/>
            <a:chExt cx="856615" cy="615315"/>
          </a:xfrm>
        </p:grpSpPr>
        <p:sp>
          <p:nvSpPr>
            <p:cNvPr id="146" name="object 146"/>
            <p:cNvSpPr/>
            <p:nvPr/>
          </p:nvSpPr>
          <p:spPr>
            <a:xfrm>
              <a:off x="7153644" y="6048578"/>
              <a:ext cx="504825" cy="219075"/>
            </a:xfrm>
            <a:custGeom>
              <a:avLst/>
              <a:gdLst/>
              <a:ahLst/>
              <a:cxnLst/>
              <a:rect l="l" t="t" r="r" b="b"/>
              <a:pathLst>
                <a:path w="504825" h="219075">
                  <a:moveTo>
                    <a:pt x="0" y="0"/>
                  </a:moveTo>
                  <a:lnTo>
                    <a:pt x="81989" y="0"/>
                  </a:lnTo>
                </a:path>
                <a:path w="504825" h="219075">
                  <a:moveTo>
                    <a:pt x="174459" y="0"/>
                  </a:moveTo>
                  <a:lnTo>
                    <a:pt x="504730" y="0"/>
                  </a:lnTo>
                </a:path>
                <a:path w="504825" h="219075">
                  <a:moveTo>
                    <a:pt x="0" y="219054"/>
                  </a:moveTo>
                  <a:lnTo>
                    <a:pt x="81989" y="219054"/>
                  </a:lnTo>
                </a:path>
                <a:path w="504825" h="219075">
                  <a:moveTo>
                    <a:pt x="174459" y="219054"/>
                  </a:moveTo>
                  <a:lnTo>
                    <a:pt x="504730" y="219054"/>
                  </a:lnTo>
                </a:path>
              </a:pathLst>
            </a:custGeom>
            <a:ln w="30481">
              <a:solidFill>
                <a:srgbClr val="000000"/>
              </a:solidFill>
            </a:ln>
          </p:spPr>
          <p:txBody>
            <a:bodyPr wrap="square" lIns="0" tIns="0" rIns="0" bIns="0" rtlCol="0"/>
            <a:lstStyle/>
            <a:p>
              <a:endParaRPr sz="1588"/>
            </a:p>
          </p:txBody>
        </p:sp>
        <p:sp>
          <p:nvSpPr>
            <p:cNvPr id="147" name="object 147"/>
            <p:cNvSpPr/>
            <p:nvPr/>
          </p:nvSpPr>
          <p:spPr>
            <a:xfrm>
              <a:off x="7593158" y="5865388"/>
              <a:ext cx="386715" cy="584835"/>
            </a:xfrm>
            <a:custGeom>
              <a:avLst/>
              <a:gdLst/>
              <a:ahLst/>
              <a:cxnLst/>
              <a:rect l="l" t="t" r="r" b="b"/>
              <a:pathLst>
                <a:path w="386715" h="584835">
                  <a:moveTo>
                    <a:pt x="0" y="0"/>
                  </a:moveTo>
                  <a:lnTo>
                    <a:pt x="0" y="584671"/>
                  </a:lnTo>
                  <a:lnTo>
                    <a:pt x="386417" y="438503"/>
                  </a:lnTo>
                  <a:lnTo>
                    <a:pt x="386417" y="146166"/>
                  </a:lnTo>
                  <a:lnTo>
                    <a:pt x="0" y="0"/>
                  </a:lnTo>
                  <a:close/>
                </a:path>
              </a:pathLst>
            </a:custGeom>
            <a:solidFill>
              <a:srgbClr val="FFFFFF"/>
            </a:solidFill>
          </p:spPr>
          <p:txBody>
            <a:bodyPr wrap="square" lIns="0" tIns="0" rIns="0" bIns="0" rtlCol="0"/>
            <a:lstStyle/>
            <a:p>
              <a:endParaRPr sz="1588"/>
            </a:p>
          </p:txBody>
        </p:sp>
        <p:sp>
          <p:nvSpPr>
            <p:cNvPr id="148" name="object 148"/>
            <p:cNvSpPr/>
            <p:nvPr/>
          </p:nvSpPr>
          <p:spPr>
            <a:xfrm>
              <a:off x="7593158" y="5865387"/>
              <a:ext cx="386715" cy="584835"/>
            </a:xfrm>
            <a:custGeom>
              <a:avLst/>
              <a:gdLst/>
              <a:ahLst/>
              <a:cxnLst/>
              <a:rect l="l" t="t" r="r" b="b"/>
              <a:pathLst>
                <a:path w="386715"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149" name="object 149"/>
            <p:cNvSpPr/>
            <p:nvPr/>
          </p:nvSpPr>
          <p:spPr>
            <a:xfrm>
              <a:off x="7567357" y="6063705"/>
              <a:ext cx="207010" cy="189230"/>
            </a:xfrm>
            <a:custGeom>
              <a:avLst/>
              <a:gdLst/>
              <a:ahLst/>
              <a:cxnLst/>
              <a:rect l="l" t="t" r="r" b="b"/>
              <a:pathLst>
                <a:path w="207009" h="189229">
                  <a:moveTo>
                    <a:pt x="0" y="0"/>
                  </a:moveTo>
                  <a:lnTo>
                    <a:pt x="0" y="188799"/>
                  </a:lnTo>
                  <a:lnTo>
                    <a:pt x="206396" y="94400"/>
                  </a:lnTo>
                  <a:lnTo>
                    <a:pt x="0" y="0"/>
                  </a:lnTo>
                  <a:close/>
                </a:path>
              </a:pathLst>
            </a:custGeom>
            <a:solidFill>
              <a:srgbClr val="FFFFFF"/>
            </a:solidFill>
          </p:spPr>
          <p:txBody>
            <a:bodyPr wrap="square" lIns="0" tIns="0" rIns="0" bIns="0" rtlCol="0"/>
            <a:lstStyle/>
            <a:p>
              <a:endParaRPr sz="1588"/>
            </a:p>
          </p:txBody>
        </p:sp>
        <p:sp>
          <p:nvSpPr>
            <p:cNvPr id="150" name="object 150"/>
            <p:cNvSpPr/>
            <p:nvPr/>
          </p:nvSpPr>
          <p:spPr>
            <a:xfrm>
              <a:off x="7593156" y="6074744"/>
              <a:ext cx="159385" cy="166370"/>
            </a:xfrm>
            <a:custGeom>
              <a:avLst/>
              <a:gdLst/>
              <a:ahLst/>
              <a:cxnLst/>
              <a:rect l="l" t="t" r="r" b="b"/>
              <a:pathLst>
                <a:path w="159384"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151" name="object 151"/>
          <p:cNvSpPr txBox="1"/>
          <p:nvPr/>
        </p:nvSpPr>
        <p:spPr>
          <a:xfrm>
            <a:off x="6964351" y="527233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52" name="object 152"/>
          <p:cNvGrpSpPr/>
          <p:nvPr/>
        </p:nvGrpSpPr>
        <p:grpSpPr>
          <a:xfrm>
            <a:off x="7164969" y="5259567"/>
            <a:ext cx="1116666" cy="349624"/>
            <a:chOff x="7967898" y="5960843"/>
            <a:chExt cx="1265555" cy="396240"/>
          </a:xfrm>
        </p:grpSpPr>
        <p:sp>
          <p:nvSpPr>
            <p:cNvPr id="153" name="object 153"/>
            <p:cNvSpPr/>
            <p:nvPr/>
          </p:nvSpPr>
          <p:spPr>
            <a:xfrm>
              <a:off x="7983138" y="6158893"/>
              <a:ext cx="1235075" cy="0"/>
            </a:xfrm>
            <a:custGeom>
              <a:avLst/>
              <a:gdLst/>
              <a:ahLst/>
              <a:cxnLst/>
              <a:rect l="l" t="t" r="r" b="b"/>
              <a:pathLst>
                <a:path w="1235075">
                  <a:moveTo>
                    <a:pt x="0" y="0"/>
                  </a:moveTo>
                  <a:lnTo>
                    <a:pt x="107844" y="0"/>
                  </a:lnTo>
                </a:path>
                <a:path w="1235075">
                  <a:moveTo>
                    <a:pt x="199030" y="0"/>
                  </a:moveTo>
                  <a:lnTo>
                    <a:pt x="372009" y="0"/>
                  </a:lnTo>
                </a:path>
                <a:path w="1235075">
                  <a:moveTo>
                    <a:pt x="1121163" y="0"/>
                  </a:moveTo>
                  <a:lnTo>
                    <a:pt x="1234934" y="0"/>
                  </a:lnTo>
                </a:path>
                <a:path w="1235075">
                  <a:moveTo>
                    <a:pt x="875003" y="0"/>
                  </a:moveTo>
                  <a:lnTo>
                    <a:pt x="1028693" y="0"/>
                  </a:lnTo>
                </a:path>
              </a:pathLst>
            </a:custGeom>
            <a:ln w="30481">
              <a:solidFill>
                <a:srgbClr val="000000"/>
              </a:solidFill>
            </a:ln>
          </p:spPr>
          <p:txBody>
            <a:bodyPr wrap="square" lIns="0" tIns="0" rIns="0" bIns="0" rtlCol="0"/>
            <a:lstStyle/>
            <a:p>
              <a:endParaRPr sz="1588"/>
            </a:p>
          </p:txBody>
        </p:sp>
        <p:sp>
          <p:nvSpPr>
            <p:cNvPr id="154" name="object 154"/>
            <p:cNvSpPr/>
            <p:nvPr/>
          </p:nvSpPr>
          <p:spPr>
            <a:xfrm>
              <a:off x="8355148" y="5976083"/>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55" name="object 155"/>
          <p:cNvSpPr txBox="1"/>
          <p:nvPr/>
        </p:nvSpPr>
        <p:spPr>
          <a:xfrm>
            <a:off x="7500295" y="5313830"/>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156" name="object 156"/>
          <p:cNvGrpSpPr/>
          <p:nvPr/>
        </p:nvGrpSpPr>
        <p:grpSpPr>
          <a:xfrm>
            <a:off x="5644084" y="5323534"/>
            <a:ext cx="2438960" cy="381559"/>
            <a:chOff x="6244228" y="6033338"/>
            <a:chExt cx="2764155" cy="432434"/>
          </a:xfrm>
        </p:grpSpPr>
        <p:sp>
          <p:nvSpPr>
            <p:cNvPr id="157" name="object 157"/>
            <p:cNvSpPr/>
            <p:nvPr/>
          </p:nvSpPr>
          <p:spPr>
            <a:xfrm>
              <a:off x="8305835" y="6158892"/>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158" name="object 158"/>
            <p:cNvSpPr/>
            <p:nvPr/>
          </p:nvSpPr>
          <p:spPr>
            <a:xfrm>
              <a:off x="6259468" y="6048578"/>
              <a:ext cx="434975" cy="220979"/>
            </a:xfrm>
            <a:custGeom>
              <a:avLst/>
              <a:gdLst/>
              <a:ahLst/>
              <a:cxnLst/>
              <a:rect l="l" t="t" r="r" b="b"/>
              <a:pathLst>
                <a:path w="434975" h="220979">
                  <a:moveTo>
                    <a:pt x="217139" y="220630"/>
                  </a:moveTo>
                  <a:lnTo>
                    <a:pt x="434955" y="220630"/>
                  </a:lnTo>
                </a:path>
                <a:path w="434975" h="220979">
                  <a:moveTo>
                    <a:pt x="0" y="220630"/>
                  </a:moveTo>
                  <a:lnTo>
                    <a:pt x="124669" y="220630"/>
                  </a:lnTo>
                </a:path>
                <a:path w="434975" h="220979">
                  <a:moveTo>
                    <a:pt x="217139" y="0"/>
                  </a:moveTo>
                  <a:lnTo>
                    <a:pt x="432886" y="0"/>
                  </a:lnTo>
                </a:path>
                <a:path w="434975" h="220979">
                  <a:moveTo>
                    <a:pt x="0" y="0"/>
                  </a:moveTo>
                  <a:lnTo>
                    <a:pt x="124669" y="0"/>
                  </a:lnTo>
                </a:path>
              </a:pathLst>
            </a:custGeom>
            <a:ln w="30481">
              <a:solidFill>
                <a:srgbClr val="000000"/>
              </a:solidFill>
            </a:ln>
          </p:spPr>
          <p:txBody>
            <a:bodyPr wrap="square" lIns="0" tIns="0" rIns="0" bIns="0" rtlCol="0"/>
            <a:lstStyle/>
            <a:p>
              <a:endParaRPr sz="1588"/>
            </a:p>
          </p:txBody>
        </p:sp>
      </p:grpSp>
      <p:sp>
        <p:nvSpPr>
          <p:cNvPr id="159" name="object 159"/>
          <p:cNvSpPr txBox="1"/>
          <p:nvPr/>
        </p:nvSpPr>
        <p:spPr>
          <a:xfrm>
            <a:off x="5251492" y="5273015"/>
            <a:ext cx="406213" cy="215608"/>
          </a:xfrm>
          <a:prstGeom prst="rect">
            <a:avLst/>
          </a:prstGeom>
          <a:ln w="30479">
            <a:solidFill>
              <a:srgbClr val="000000"/>
            </a:solidFill>
          </a:ln>
        </p:spPr>
        <p:txBody>
          <a:bodyPr vert="horz" wrap="square" lIns="0" tIns="52106" rIns="0" bIns="0" rtlCol="0">
            <a:spAutoFit/>
          </a:bodyPr>
          <a:lstStyle/>
          <a:p>
            <a:pPr marL="39223">
              <a:spcBef>
                <a:spcPts val="409"/>
              </a:spcBef>
            </a:pPr>
            <a:r>
              <a:rPr sz="1059" b="1" spc="-9" dirty="0">
                <a:latin typeface="Times New Roman"/>
                <a:cs typeface="Times New Roman"/>
              </a:rPr>
              <a:t>Ifetch</a:t>
            </a:r>
            <a:endParaRPr sz="1059">
              <a:latin typeface="Times New Roman"/>
              <a:cs typeface="Times New Roman"/>
            </a:endParaRPr>
          </a:p>
        </p:txBody>
      </p:sp>
      <p:grpSp>
        <p:nvGrpSpPr>
          <p:cNvPr id="160" name="object 160"/>
          <p:cNvGrpSpPr/>
          <p:nvPr/>
        </p:nvGrpSpPr>
        <p:grpSpPr>
          <a:xfrm>
            <a:off x="5754086" y="5113563"/>
            <a:ext cx="2934820" cy="640416"/>
            <a:chOff x="6368897" y="5795371"/>
            <a:chExt cx="3326129" cy="725805"/>
          </a:xfrm>
        </p:grpSpPr>
        <p:sp>
          <p:nvSpPr>
            <p:cNvPr id="161" name="object 161"/>
            <p:cNvSpPr/>
            <p:nvPr/>
          </p:nvSpPr>
          <p:spPr>
            <a:xfrm>
              <a:off x="7235634" y="5810611"/>
              <a:ext cx="92710" cy="695325"/>
            </a:xfrm>
            <a:custGeom>
              <a:avLst/>
              <a:gdLst/>
              <a:ahLst/>
              <a:cxnLst/>
              <a:rect l="l" t="t" r="r" b="b"/>
              <a:pathLst>
                <a:path w="92709"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62" name="object 162"/>
            <p:cNvSpPr/>
            <p:nvPr/>
          </p:nvSpPr>
          <p:spPr>
            <a:xfrm>
              <a:off x="7235634" y="5810611"/>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3" name="object 163"/>
            <p:cNvSpPr/>
            <p:nvPr/>
          </p:nvSpPr>
          <p:spPr>
            <a:xfrm>
              <a:off x="9011832" y="5810611"/>
              <a:ext cx="92710" cy="695325"/>
            </a:xfrm>
            <a:custGeom>
              <a:avLst/>
              <a:gdLst/>
              <a:ahLst/>
              <a:cxnLst/>
              <a:rect l="l" t="t" r="r" b="b"/>
              <a:pathLst>
                <a:path w="92709"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64" name="object 164"/>
            <p:cNvSpPr/>
            <p:nvPr/>
          </p:nvSpPr>
          <p:spPr>
            <a:xfrm>
              <a:off x="9011832" y="5810611"/>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5" name="object 165"/>
            <p:cNvSpPr/>
            <p:nvPr/>
          </p:nvSpPr>
          <p:spPr>
            <a:xfrm>
              <a:off x="6384137" y="5810611"/>
              <a:ext cx="92710" cy="695325"/>
            </a:xfrm>
            <a:custGeom>
              <a:avLst/>
              <a:gdLst/>
              <a:ahLst/>
              <a:cxnLst/>
              <a:rect l="l" t="t" r="r" b="b"/>
              <a:pathLst>
                <a:path w="92710"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66" name="object 166"/>
            <p:cNvSpPr/>
            <p:nvPr/>
          </p:nvSpPr>
          <p:spPr>
            <a:xfrm>
              <a:off x="6384137" y="5810611"/>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7" name="object 167"/>
            <p:cNvSpPr/>
            <p:nvPr/>
          </p:nvSpPr>
          <p:spPr>
            <a:xfrm>
              <a:off x="8090983" y="5814693"/>
              <a:ext cx="91440" cy="685800"/>
            </a:xfrm>
            <a:custGeom>
              <a:avLst/>
              <a:gdLst/>
              <a:ahLst/>
              <a:cxnLst/>
              <a:rect l="l" t="t" r="r" b="b"/>
              <a:pathLst>
                <a:path w="91440" h="685800">
                  <a:moveTo>
                    <a:pt x="91185" y="0"/>
                  </a:moveTo>
                  <a:lnTo>
                    <a:pt x="0" y="0"/>
                  </a:lnTo>
                  <a:lnTo>
                    <a:pt x="0" y="685802"/>
                  </a:lnTo>
                  <a:lnTo>
                    <a:pt x="91185" y="685802"/>
                  </a:lnTo>
                  <a:lnTo>
                    <a:pt x="91185" y="0"/>
                  </a:lnTo>
                  <a:close/>
                </a:path>
              </a:pathLst>
            </a:custGeom>
            <a:solidFill>
              <a:srgbClr val="00FF00"/>
            </a:solidFill>
          </p:spPr>
          <p:txBody>
            <a:bodyPr wrap="square" lIns="0" tIns="0" rIns="0" bIns="0" rtlCol="0"/>
            <a:lstStyle/>
            <a:p>
              <a:endParaRPr sz="1588"/>
            </a:p>
          </p:txBody>
        </p:sp>
        <p:sp>
          <p:nvSpPr>
            <p:cNvPr id="168" name="object 168"/>
            <p:cNvSpPr/>
            <p:nvPr/>
          </p:nvSpPr>
          <p:spPr>
            <a:xfrm>
              <a:off x="8090983" y="5814693"/>
              <a:ext cx="91440" cy="685800"/>
            </a:xfrm>
            <a:custGeom>
              <a:avLst/>
              <a:gdLst/>
              <a:ahLst/>
              <a:cxnLst/>
              <a:rect l="l" t="t" r="r" b="b"/>
              <a:pathLst>
                <a:path w="91440" h="685800">
                  <a:moveTo>
                    <a:pt x="0" y="0"/>
                  </a:moveTo>
                  <a:lnTo>
                    <a:pt x="91186" y="0"/>
                  </a:lnTo>
                  <a:lnTo>
                    <a:pt x="91186"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69" name="object 169"/>
            <p:cNvSpPr/>
            <p:nvPr/>
          </p:nvSpPr>
          <p:spPr>
            <a:xfrm>
              <a:off x="9218072" y="5961900"/>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170" name="object 170"/>
            <p:cNvSpPr/>
            <p:nvPr/>
          </p:nvSpPr>
          <p:spPr>
            <a:xfrm>
              <a:off x="9218074" y="5961900"/>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171" name="object 171"/>
          <p:cNvSpPr txBox="1"/>
          <p:nvPr/>
        </p:nvSpPr>
        <p:spPr>
          <a:xfrm>
            <a:off x="8353943" y="530038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72" name="object 172"/>
          <p:cNvGrpSpPr/>
          <p:nvPr/>
        </p:nvGrpSpPr>
        <p:grpSpPr>
          <a:xfrm>
            <a:off x="1957474" y="1647513"/>
            <a:ext cx="6177802" cy="4650441"/>
            <a:chOff x="2066070" y="1867181"/>
            <a:chExt cx="7001509" cy="5270500"/>
          </a:xfrm>
        </p:grpSpPr>
        <p:sp>
          <p:nvSpPr>
            <p:cNvPr id="173" name="object 173"/>
            <p:cNvSpPr/>
            <p:nvPr/>
          </p:nvSpPr>
          <p:spPr>
            <a:xfrm>
              <a:off x="2934522"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4" name="object 174"/>
            <p:cNvSpPr/>
            <p:nvPr/>
          </p:nvSpPr>
          <p:spPr>
            <a:xfrm>
              <a:off x="3787736"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5" name="object 175"/>
            <p:cNvSpPr/>
            <p:nvPr/>
          </p:nvSpPr>
          <p:spPr>
            <a:xfrm>
              <a:off x="4640949"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6" name="object 176"/>
            <p:cNvSpPr/>
            <p:nvPr/>
          </p:nvSpPr>
          <p:spPr>
            <a:xfrm>
              <a:off x="6424940"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7" name="object 177"/>
            <p:cNvSpPr/>
            <p:nvPr/>
          </p:nvSpPr>
          <p:spPr>
            <a:xfrm>
              <a:off x="5494162"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8" name="object 178"/>
            <p:cNvSpPr/>
            <p:nvPr/>
          </p:nvSpPr>
          <p:spPr>
            <a:xfrm>
              <a:off x="7278151"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9" name="object 179"/>
            <p:cNvSpPr/>
            <p:nvPr/>
          </p:nvSpPr>
          <p:spPr>
            <a:xfrm>
              <a:off x="8131366"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80" name="object 180"/>
            <p:cNvSpPr/>
            <p:nvPr/>
          </p:nvSpPr>
          <p:spPr>
            <a:xfrm>
              <a:off x="2081310"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81" name="object 181"/>
            <p:cNvSpPr/>
            <p:nvPr/>
          </p:nvSpPr>
          <p:spPr>
            <a:xfrm>
              <a:off x="9051936" y="1878893"/>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grpSp>
      <p:sp>
        <p:nvSpPr>
          <p:cNvPr id="182" name="object 182"/>
          <p:cNvSpPr txBox="1"/>
          <p:nvPr/>
        </p:nvSpPr>
        <p:spPr>
          <a:xfrm>
            <a:off x="7418720"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8</a:t>
            </a:r>
            <a:endParaRPr sz="1324">
              <a:latin typeface="Times New Roman"/>
              <a:cs typeface="Times New Roman"/>
            </a:endParaRPr>
          </a:p>
        </p:txBody>
      </p:sp>
      <p:sp>
        <p:nvSpPr>
          <p:cNvPr id="187" name="object 2">
            <a:extLst>
              <a:ext uri="{FF2B5EF4-FFF2-40B4-BE49-F238E27FC236}">
                <a16:creationId xmlns:a16="http://schemas.microsoft.com/office/drawing/2014/main" id="{6216A1A2-9668-4EBF-EE25-7EB77BF3B609}"/>
              </a:ext>
            </a:extLst>
          </p:cNvPr>
          <p:cNvSpPr txBox="1">
            <a:spLocks noGrp="1"/>
          </p:cNvSpPr>
          <p:nvPr>
            <p:ph type="title"/>
          </p:nvPr>
        </p:nvSpPr>
        <p:spPr>
          <a:xfrm>
            <a:off x="804912" y="670487"/>
            <a:ext cx="6958853" cy="472980"/>
          </a:xfrm>
          <a:prstGeom prst="rect">
            <a:avLst/>
          </a:prstGeom>
        </p:spPr>
        <p:txBody>
          <a:bodyPr vert="horz" wrap="square" lIns="0" tIns="11206" rIns="0" bIns="0" rtlCol="0" anchor="ctr">
            <a:spAutoFit/>
          </a:bodyPr>
          <a:lstStyle/>
          <a:p>
            <a:pPr marL="11206">
              <a:lnSpc>
                <a:spcPts val="3565"/>
              </a:lnSpc>
              <a:spcBef>
                <a:spcPts val="88"/>
              </a:spcBef>
            </a:pPr>
            <a:r>
              <a:rPr dirty="0"/>
              <a:t>One </a:t>
            </a:r>
            <a:r>
              <a:rPr spc="-9" dirty="0"/>
              <a:t>Memory-</a:t>
            </a:r>
            <a:r>
              <a:rPr dirty="0"/>
              <a:t>Port</a:t>
            </a:r>
            <a:r>
              <a:rPr spc="9" dirty="0"/>
              <a:t> </a:t>
            </a:r>
            <a:r>
              <a:rPr dirty="0"/>
              <a:t>/</a:t>
            </a:r>
            <a:r>
              <a:rPr spc="9" dirty="0"/>
              <a:t> </a:t>
            </a:r>
            <a:r>
              <a:rPr dirty="0"/>
              <a:t>Structural</a:t>
            </a:r>
            <a:r>
              <a:rPr spc="9" dirty="0"/>
              <a:t> </a:t>
            </a:r>
            <a:r>
              <a:rPr spc="-9" dirty="0"/>
              <a:t>Hazards</a:t>
            </a:r>
          </a:p>
        </p:txBody>
      </p:sp>
      <p:sp>
        <p:nvSpPr>
          <p:cNvPr id="188" name="TextBox 187">
            <a:extLst>
              <a:ext uri="{FF2B5EF4-FFF2-40B4-BE49-F238E27FC236}">
                <a16:creationId xmlns:a16="http://schemas.microsoft.com/office/drawing/2014/main" id="{148ADFDE-A5B6-6C56-7537-E59A30DF53C4}"/>
              </a:ext>
            </a:extLst>
          </p:cNvPr>
          <p:cNvSpPr txBox="1"/>
          <p:nvPr/>
        </p:nvSpPr>
        <p:spPr>
          <a:xfrm>
            <a:off x="755452" y="1230069"/>
            <a:ext cx="1374395" cy="350865"/>
          </a:xfrm>
          <a:prstGeom prst="rect">
            <a:avLst/>
          </a:prstGeom>
          <a:noFill/>
        </p:spPr>
        <p:txBody>
          <a:bodyPr wrap="square">
            <a:spAutoFit/>
          </a:bodyPr>
          <a:lstStyle/>
          <a:p>
            <a:r>
              <a:rPr lang="en-US" sz="1680" dirty="0">
                <a:solidFill>
                  <a:srgbClr val="002060"/>
                </a:solidFill>
              </a:rPr>
              <a:t>Figure</a:t>
            </a:r>
            <a:r>
              <a:rPr lang="en-US" sz="1680" spc="-4" dirty="0">
                <a:solidFill>
                  <a:srgbClr val="002060"/>
                </a:solidFill>
              </a:rPr>
              <a:t> </a:t>
            </a:r>
            <a:r>
              <a:rPr lang="en-US" sz="1680" spc="-22" dirty="0">
                <a:solidFill>
                  <a:srgbClr val="002060"/>
                </a:solidFill>
              </a:rPr>
              <a:t>C.4</a:t>
            </a:r>
            <a:endParaRPr lang="en-US" sz="1680" dirty="0">
              <a:solidFill>
                <a:srgbClr val="00206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08817" y="661563"/>
            <a:ext cx="6047254" cy="484296"/>
          </a:xfrm>
          <a:prstGeom prst="rect">
            <a:avLst/>
          </a:prstGeom>
        </p:spPr>
        <p:txBody>
          <a:bodyPr vert="horz" wrap="square" lIns="0" tIns="60512" rIns="0" bIns="0" rtlCol="0" anchor="ctr">
            <a:spAutoFit/>
          </a:bodyPr>
          <a:lstStyle/>
          <a:p>
            <a:pPr marL="11206" marR="4483">
              <a:lnSpc>
                <a:spcPts val="3265"/>
              </a:lnSpc>
              <a:spcBef>
                <a:spcPts val="476"/>
              </a:spcBef>
            </a:pPr>
            <a:r>
              <a:rPr dirty="0"/>
              <a:t>One </a:t>
            </a:r>
            <a:r>
              <a:rPr spc="-9" dirty="0"/>
              <a:t>Memory-</a:t>
            </a:r>
            <a:r>
              <a:rPr dirty="0"/>
              <a:t>Port</a:t>
            </a:r>
            <a:r>
              <a:rPr spc="9" dirty="0"/>
              <a:t> </a:t>
            </a:r>
            <a:r>
              <a:rPr dirty="0"/>
              <a:t>/</a:t>
            </a:r>
            <a:r>
              <a:rPr spc="9" dirty="0"/>
              <a:t> </a:t>
            </a:r>
            <a:r>
              <a:rPr dirty="0"/>
              <a:t>Structural</a:t>
            </a:r>
            <a:r>
              <a:rPr spc="9" dirty="0"/>
              <a:t> </a:t>
            </a:r>
            <a:r>
              <a:rPr spc="-9" dirty="0"/>
              <a:t>Hazards</a:t>
            </a:r>
            <a:endParaRPr sz="1680" spc="-22" dirty="0"/>
          </a:p>
        </p:txBody>
      </p:sp>
      <p:sp>
        <p:nvSpPr>
          <p:cNvPr id="187" name="Slide Number Placeholder 186">
            <a:extLst>
              <a:ext uri="{FF2B5EF4-FFF2-40B4-BE49-F238E27FC236}">
                <a16:creationId xmlns:a16="http://schemas.microsoft.com/office/drawing/2014/main" id="{0FBC25D5-B461-499C-FEFA-960EAEEAA7D1}"/>
              </a:ext>
            </a:extLst>
          </p:cNvPr>
          <p:cNvSpPr>
            <a:spLocks noGrp="1"/>
          </p:cNvSpPr>
          <p:nvPr>
            <p:ph type="sldNum" sz="quarter" idx="7"/>
          </p:nvPr>
        </p:nvSpPr>
        <p:spPr/>
        <p:txBody>
          <a:bodyPr/>
          <a:lstStyle/>
          <a:p>
            <a:fld id="{4FE321F0-2018-4E50-8BB3-A5631EBD98DD}" type="slidenum">
              <a:rPr lang="en-US" smtClean="0"/>
              <a:t>37</a:t>
            </a:fld>
            <a:endParaRPr lang="en-US" dirty="0"/>
          </a:p>
        </p:txBody>
      </p:sp>
      <p:grpSp>
        <p:nvGrpSpPr>
          <p:cNvPr id="190" name="Group 189">
            <a:extLst>
              <a:ext uri="{FF2B5EF4-FFF2-40B4-BE49-F238E27FC236}">
                <a16:creationId xmlns:a16="http://schemas.microsoft.com/office/drawing/2014/main" id="{58D53F55-45CF-0ADE-287A-99ADD5925F4B}"/>
              </a:ext>
            </a:extLst>
          </p:cNvPr>
          <p:cNvGrpSpPr/>
          <p:nvPr/>
        </p:nvGrpSpPr>
        <p:grpSpPr>
          <a:xfrm>
            <a:off x="551101" y="1262528"/>
            <a:ext cx="8137770" cy="5352554"/>
            <a:chOff x="561261" y="1262528"/>
            <a:chExt cx="8137770" cy="5352554"/>
          </a:xfrm>
        </p:grpSpPr>
        <p:grpSp>
          <p:nvGrpSpPr>
            <p:cNvPr id="4" name="object 4"/>
            <p:cNvGrpSpPr/>
            <p:nvPr/>
          </p:nvGrpSpPr>
          <p:grpSpPr>
            <a:xfrm>
              <a:off x="1707253" y="1262528"/>
              <a:ext cx="6728572" cy="3759574"/>
              <a:chOff x="1782486" y="1430865"/>
              <a:chExt cx="7625715" cy="4260850"/>
            </a:xfrm>
          </p:grpSpPr>
          <p:sp>
            <p:nvSpPr>
              <p:cNvPr id="5" name="object 5"/>
              <p:cNvSpPr/>
              <p:nvPr/>
            </p:nvSpPr>
            <p:spPr>
              <a:xfrm>
                <a:off x="6393124" y="4981430"/>
                <a:ext cx="92710" cy="695325"/>
              </a:xfrm>
              <a:custGeom>
                <a:avLst/>
                <a:gdLst/>
                <a:ahLst/>
                <a:cxnLst/>
                <a:rect l="l" t="t" r="r" b="b"/>
                <a:pathLst>
                  <a:path w="92710"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6" name="object 6"/>
              <p:cNvSpPr/>
              <p:nvPr/>
            </p:nvSpPr>
            <p:spPr>
              <a:xfrm>
                <a:off x="6393124" y="4981430"/>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7" name="object 7"/>
              <p:cNvSpPr/>
              <p:nvPr/>
            </p:nvSpPr>
            <p:spPr>
              <a:xfrm>
                <a:off x="8090979" y="4981430"/>
                <a:ext cx="92710" cy="695325"/>
              </a:xfrm>
              <a:custGeom>
                <a:avLst/>
                <a:gdLst/>
                <a:ahLst/>
                <a:cxnLst/>
                <a:rect l="l" t="t" r="r" b="b"/>
                <a:pathLst>
                  <a:path w="92709" h="695325">
                    <a:moveTo>
                      <a:pt x="92471" y="0"/>
                    </a:moveTo>
                    <a:lnTo>
                      <a:pt x="0" y="0"/>
                    </a:lnTo>
                    <a:lnTo>
                      <a:pt x="0" y="694987"/>
                    </a:lnTo>
                    <a:lnTo>
                      <a:pt x="92471" y="694987"/>
                    </a:lnTo>
                    <a:lnTo>
                      <a:pt x="92471" y="0"/>
                    </a:lnTo>
                    <a:close/>
                  </a:path>
                </a:pathLst>
              </a:custGeom>
              <a:solidFill>
                <a:srgbClr val="00FF00"/>
              </a:solidFill>
            </p:spPr>
            <p:txBody>
              <a:bodyPr wrap="square" lIns="0" tIns="0" rIns="0" bIns="0" rtlCol="0"/>
              <a:lstStyle/>
              <a:p>
                <a:endParaRPr sz="1588"/>
              </a:p>
            </p:txBody>
          </p:sp>
          <p:sp>
            <p:nvSpPr>
              <p:cNvPr id="8" name="object 8"/>
              <p:cNvSpPr/>
              <p:nvPr/>
            </p:nvSpPr>
            <p:spPr>
              <a:xfrm>
                <a:off x="8090979" y="4981430"/>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9" name="object 9"/>
              <p:cNvSpPr/>
              <p:nvPr/>
            </p:nvSpPr>
            <p:spPr>
              <a:xfrm>
                <a:off x="5463285" y="4981430"/>
                <a:ext cx="92710" cy="695325"/>
              </a:xfrm>
              <a:custGeom>
                <a:avLst/>
                <a:gdLst/>
                <a:ahLst/>
                <a:cxnLst/>
                <a:rect l="l" t="t" r="r" b="b"/>
                <a:pathLst>
                  <a:path w="92710"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0" name="object 10"/>
              <p:cNvSpPr/>
              <p:nvPr/>
            </p:nvSpPr>
            <p:spPr>
              <a:xfrm>
                <a:off x="5463285" y="4981430"/>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1" name="object 11"/>
              <p:cNvSpPr/>
              <p:nvPr/>
            </p:nvSpPr>
            <p:spPr>
              <a:xfrm>
                <a:off x="7240767" y="4985512"/>
                <a:ext cx="91440" cy="685800"/>
              </a:xfrm>
              <a:custGeom>
                <a:avLst/>
                <a:gdLst/>
                <a:ahLst/>
                <a:cxnLst/>
                <a:rect l="l" t="t" r="r" b="b"/>
                <a:pathLst>
                  <a:path w="91440" h="685800">
                    <a:moveTo>
                      <a:pt x="91185" y="0"/>
                    </a:moveTo>
                    <a:lnTo>
                      <a:pt x="0" y="0"/>
                    </a:lnTo>
                    <a:lnTo>
                      <a:pt x="0" y="685802"/>
                    </a:lnTo>
                    <a:lnTo>
                      <a:pt x="91185" y="685802"/>
                    </a:lnTo>
                    <a:lnTo>
                      <a:pt x="91185" y="0"/>
                    </a:lnTo>
                    <a:close/>
                  </a:path>
                </a:pathLst>
              </a:custGeom>
              <a:solidFill>
                <a:srgbClr val="00FF00"/>
              </a:solidFill>
            </p:spPr>
            <p:txBody>
              <a:bodyPr wrap="square" lIns="0" tIns="0" rIns="0" bIns="0" rtlCol="0"/>
              <a:lstStyle/>
              <a:p>
                <a:endParaRPr sz="1588"/>
              </a:p>
            </p:txBody>
          </p:sp>
          <p:sp>
            <p:nvSpPr>
              <p:cNvPr id="12" name="object 12"/>
              <p:cNvSpPr/>
              <p:nvPr/>
            </p:nvSpPr>
            <p:spPr>
              <a:xfrm>
                <a:off x="7240767" y="4985512"/>
                <a:ext cx="91440" cy="685800"/>
              </a:xfrm>
              <a:custGeom>
                <a:avLst/>
                <a:gdLst/>
                <a:ahLst/>
                <a:cxnLst/>
                <a:rect l="l" t="t" r="r" b="b"/>
                <a:pathLst>
                  <a:path w="91440" h="685800">
                    <a:moveTo>
                      <a:pt x="0" y="0"/>
                    </a:moveTo>
                    <a:lnTo>
                      <a:pt x="91186" y="0"/>
                    </a:lnTo>
                    <a:lnTo>
                      <a:pt x="91186"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3" name="object 13"/>
              <p:cNvSpPr/>
              <p:nvPr/>
            </p:nvSpPr>
            <p:spPr>
              <a:xfrm>
                <a:off x="3939797" y="1430865"/>
                <a:ext cx="2417445" cy="424180"/>
              </a:xfrm>
              <a:custGeom>
                <a:avLst/>
                <a:gdLst/>
                <a:ahLst/>
                <a:cxnLst/>
                <a:rect l="l" t="t" r="r" b="b"/>
                <a:pathLst>
                  <a:path w="2417445" h="424180">
                    <a:moveTo>
                      <a:pt x="2417436" y="0"/>
                    </a:moveTo>
                    <a:lnTo>
                      <a:pt x="0" y="0"/>
                    </a:lnTo>
                    <a:lnTo>
                      <a:pt x="0" y="424047"/>
                    </a:lnTo>
                    <a:lnTo>
                      <a:pt x="2417436" y="424047"/>
                    </a:lnTo>
                    <a:lnTo>
                      <a:pt x="2417436" y="0"/>
                    </a:lnTo>
                    <a:close/>
                  </a:path>
                </a:pathLst>
              </a:custGeom>
              <a:solidFill>
                <a:srgbClr val="FFFFFF"/>
              </a:solidFill>
            </p:spPr>
            <p:txBody>
              <a:bodyPr wrap="square" lIns="0" tIns="0" rIns="0" bIns="0" rtlCol="0"/>
              <a:lstStyle/>
              <a:p>
                <a:endParaRPr sz="1588"/>
              </a:p>
            </p:txBody>
          </p:sp>
          <p:sp>
            <p:nvSpPr>
              <p:cNvPr id="14" name="object 14"/>
              <p:cNvSpPr/>
              <p:nvPr/>
            </p:nvSpPr>
            <p:spPr>
              <a:xfrm>
                <a:off x="1782486" y="1848372"/>
                <a:ext cx="7625715" cy="81280"/>
              </a:xfrm>
              <a:custGeom>
                <a:avLst/>
                <a:gdLst/>
                <a:ahLst/>
                <a:cxnLst/>
                <a:rect l="l" t="t" r="r" b="b"/>
                <a:pathLst>
                  <a:path w="7625715" h="81280">
                    <a:moveTo>
                      <a:pt x="7544468" y="0"/>
                    </a:moveTo>
                    <a:lnTo>
                      <a:pt x="7544349" y="40874"/>
                    </a:lnTo>
                    <a:lnTo>
                      <a:pt x="7544233" y="81278"/>
                    </a:lnTo>
                    <a:lnTo>
                      <a:pt x="7598734" y="54225"/>
                    </a:lnTo>
                    <a:lnTo>
                      <a:pt x="7557842" y="54225"/>
                    </a:lnTo>
                    <a:lnTo>
                      <a:pt x="7557921" y="27132"/>
                    </a:lnTo>
                    <a:lnTo>
                      <a:pt x="7598342" y="27132"/>
                    </a:lnTo>
                    <a:lnTo>
                      <a:pt x="7544468" y="0"/>
                    </a:lnTo>
                    <a:close/>
                  </a:path>
                  <a:path w="7625715" h="81280">
                    <a:moveTo>
                      <a:pt x="77" y="5265"/>
                    </a:moveTo>
                    <a:lnTo>
                      <a:pt x="0" y="32358"/>
                    </a:lnTo>
                    <a:lnTo>
                      <a:pt x="7557842" y="54225"/>
                    </a:lnTo>
                    <a:lnTo>
                      <a:pt x="7544311" y="54225"/>
                    </a:lnTo>
                    <a:lnTo>
                      <a:pt x="7544389" y="27132"/>
                    </a:lnTo>
                    <a:lnTo>
                      <a:pt x="7557921" y="27132"/>
                    </a:lnTo>
                    <a:lnTo>
                      <a:pt x="77" y="5265"/>
                    </a:lnTo>
                    <a:close/>
                  </a:path>
                  <a:path w="7625715" h="81280">
                    <a:moveTo>
                      <a:pt x="7598342" y="27132"/>
                    </a:moveTo>
                    <a:lnTo>
                      <a:pt x="7557921" y="27132"/>
                    </a:lnTo>
                    <a:lnTo>
                      <a:pt x="7557842" y="54225"/>
                    </a:lnTo>
                    <a:lnTo>
                      <a:pt x="7598734" y="54225"/>
                    </a:lnTo>
                    <a:lnTo>
                      <a:pt x="7625629" y="40874"/>
                    </a:lnTo>
                    <a:lnTo>
                      <a:pt x="7598342" y="27132"/>
                    </a:lnTo>
                    <a:close/>
                  </a:path>
                </a:pathLst>
              </a:custGeom>
              <a:solidFill>
                <a:srgbClr val="000000"/>
              </a:solidFill>
            </p:spPr>
            <p:txBody>
              <a:bodyPr wrap="square" lIns="0" tIns="0" rIns="0" bIns="0" rtlCol="0"/>
              <a:lstStyle/>
              <a:p>
                <a:endParaRPr sz="1588"/>
              </a:p>
            </p:txBody>
          </p:sp>
          <p:sp>
            <p:nvSpPr>
              <p:cNvPr id="15" name="object 15"/>
              <p:cNvSpPr/>
              <p:nvPr/>
            </p:nvSpPr>
            <p:spPr>
              <a:xfrm>
                <a:off x="3426348" y="2636240"/>
                <a:ext cx="228600" cy="363220"/>
              </a:xfrm>
              <a:custGeom>
                <a:avLst/>
                <a:gdLst/>
                <a:ahLst/>
                <a:cxnLst/>
                <a:rect l="l" t="t" r="r" b="b"/>
                <a:pathLst>
                  <a:path w="228600" h="363219">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16" name="object 16"/>
              <p:cNvSpPr/>
              <p:nvPr/>
            </p:nvSpPr>
            <p:spPr>
              <a:xfrm>
                <a:off x="3197771" y="2636240"/>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7" name="object 17"/>
            <p:cNvSpPr txBox="1"/>
            <p:nvPr/>
          </p:nvSpPr>
          <p:spPr>
            <a:xfrm>
              <a:off x="1250802" y="2311998"/>
              <a:ext cx="499782" cy="269399"/>
            </a:xfrm>
            <a:prstGeom prst="rect">
              <a:avLst/>
            </a:prstGeom>
          </p:spPr>
          <p:txBody>
            <a:bodyPr vert="horz" wrap="square" lIns="0" tIns="11206" rIns="0" bIns="0" rtlCol="0">
              <a:spAutoFit/>
            </a:bodyPr>
            <a:lstStyle/>
            <a:p>
              <a:pPr marL="11206">
                <a:spcBef>
                  <a:spcPts val="88"/>
                </a:spcBef>
              </a:pPr>
              <a:r>
                <a:rPr sz="1677" b="1" spc="-18" dirty="0">
                  <a:solidFill>
                    <a:srgbClr val="FF0000"/>
                  </a:solidFill>
                  <a:latin typeface="Times New Roman"/>
                  <a:cs typeface="Times New Roman"/>
                </a:rPr>
                <a:t>Load</a:t>
              </a:r>
              <a:endParaRPr sz="1677">
                <a:latin typeface="Times New Roman"/>
                <a:cs typeface="Times New Roman"/>
              </a:endParaRPr>
            </a:p>
          </p:txBody>
        </p:sp>
        <p:sp>
          <p:nvSpPr>
            <p:cNvPr id="18" name="object 18"/>
            <p:cNvSpPr txBox="1"/>
            <p:nvPr/>
          </p:nvSpPr>
          <p:spPr>
            <a:xfrm>
              <a:off x="1250802" y="3065032"/>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1</a:t>
              </a:r>
              <a:endParaRPr sz="1677">
                <a:latin typeface="Times New Roman"/>
                <a:cs typeface="Times New Roman"/>
              </a:endParaRPr>
            </a:p>
          </p:txBody>
        </p:sp>
        <p:sp>
          <p:nvSpPr>
            <p:cNvPr id="19" name="object 19"/>
            <p:cNvSpPr txBox="1"/>
            <p:nvPr/>
          </p:nvSpPr>
          <p:spPr>
            <a:xfrm>
              <a:off x="1250802" y="3831516"/>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2</a:t>
              </a:r>
              <a:endParaRPr sz="1677">
                <a:latin typeface="Times New Roman"/>
                <a:cs typeface="Times New Roman"/>
              </a:endParaRPr>
            </a:p>
          </p:txBody>
        </p:sp>
        <p:sp>
          <p:nvSpPr>
            <p:cNvPr id="20" name="object 20"/>
            <p:cNvSpPr txBox="1"/>
            <p:nvPr/>
          </p:nvSpPr>
          <p:spPr>
            <a:xfrm>
              <a:off x="1250802" y="4606066"/>
              <a:ext cx="440390" cy="269399"/>
            </a:xfrm>
            <a:prstGeom prst="rect">
              <a:avLst/>
            </a:prstGeom>
          </p:spPr>
          <p:txBody>
            <a:bodyPr vert="horz" wrap="square" lIns="0" tIns="11206" rIns="0" bIns="0" rtlCol="0">
              <a:spAutoFit/>
            </a:bodyPr>
            <a:lstStyle/>
            <a:p>
              <a:pPr marL="11206">
                <a:spcBef>
                  <a:spcPts val="88"/>
                </a:spcBef>
              </a:pPr>
              <a:r>
                <a:rPr sz="1677" b="1" spc="-9" dirty="0">
                  <a:solidFill>
                    <a:srgbClr val="008000"/>
                  </a:solidFill>
                  <a:latin typeface="Times New Roman"/>
                  <a:cs typeface="Times New Roman"/>
                </a:rPr>
                <a:t>Stall</a:t>
              </a:r>
              <a:endParaRPr sz="1677">
                <a:latin typeface="Times New Roman"/>
                <a:cs typeface="Times New Roman"/>
              </a:endParaRPr>
            </a:p>
          </p:txBody>
        </p:sp>
        <p:sp>
          <p:nvSpPr>
            <p:cNvPr id="21" name="object 21"/>
            <p:cNvSpPr txBox="1"/>
            <p:nvPr/>
          </p:nvSpPr>
          <p:spPr>
            <a:xfrm>
              <a:off x="1250802" y="5337586"/>
              <a:ext cx="633132"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Instr</a:t>
              </a:r>
              <a:r>
                <a:rPr sz="1677" b="1" spc="-22" dirty="0">
                  <a:latin typeface="Times New Roman"/>
                  <a:cs typeface="Times New Roman"/>
                </a:rPr>
                <a:t> </a:t>
              </a:r>
              <a:r>
                <a:rPr sz="1677" b="1" spc="-44" dirty="0">
                  <a:latin typeface="Times New Roman"/>
                  <a:cs typeface="Times New Roman"/>
                </a:rPr>
                <a:t>3</a:t>
              </a:r>
              <a:endParaRPr sz="1677">
                <a:latin typeface="Times New Roman"/>
                <a:cs typeface="Times New Roman"/>
              </a:endParaRPr>
            </a:p>
          </p:txBody>
        </p:sp>
        <p:sp>
          <p:nvSpPr>
            <p:cNvPr id="22" name="object 22"/>
            <p:cNvSpPr txBox="1"/>
            <p:nvPr/>
          </p:nvSpPr>
          <p:spPr>
            <a:xfrm>
              <a:off x="578353" y="2265381"/>
              <a:ext cx="156882" cy="1463444"/>
            </a:xfrm>
            <a:prstGeom prst="rect">
              <a:avLst/>
            </a:prstGeom>
          </p:spPr>
          <p:txBody>
            <a:bodyPr vert="horz" wrap="square" lIns="0" tIns="11206" rIns="0" bIns="0" rtlCol="0">
              <a:spAutoFit/>
            </a:bodyPr>
            <a:lstStyle/>
            <a:p>
              <a:pPr marL="34180">
                <a:spcBef>
                  <a:spcPts val="88"/>
                </a:spcBef>
              </a:pPr>
              <a:r>
                <a:rPr sz="1853" b="1" i="1" spc="-44" dirty="0">
                  <a:latin typeface="Times New Roman"/>
                  <a:cs typeface="Times New Roman"/>
                </a:rPr>
                <a:t>I</a:t>
              </a:r>
              <a:endParaRPr sz="1853">
                <a:latin typeface="Times New Roman"/>
                <a:cs typeface="Times New Roman"/>
              </a:endParaRPr>
            </a:p>
            <a:p>
              <a:pPr marL="34180" marR="4483" indent="-20172">
                <a:lnSpc>
                  <a:spcPts val="2285"/>
                </a:lnSpc>
                <a:spcBef>
                  <a:spcPts val="22"/>
                </a:spcBef>
              </a:pPr>
              <a:r>
                <a:rPr sz="1853" b="1" i="1" spc="-44" dirty="0">
                  <a:latin typeface="Times New Roman"/>
                  <a:cs typeface="Times New Roman"/>
                </a:rPr>
                <a:t>n s</a:t>
              </a:r>
              <a:endParaRPr sz="1853">
                <a:latin typeface="Times New Roman"/>
                <a:cs typeface="Times New Roman"/>
              </a:endParaRPr>
            </a:p>
            <a:p>
              <a:pPr marL="11206" marR="11767" indent="36421">
                <a:lnSpc>
                  <a:spcPts val="2224"/>
                </a:lnSpc>
                <a:spcBef>
                  <a:spcPts val="53"/>
                </a:spcBef>
              </a:pPr>
              <a:r>
                <a:rPr sz="1853" b="1" i="1" spc="-44" dirty="0">
                  <a:latin typeface="Times New Roman"/>
                  <a:cs typeface="Times New Roman"/>
                </a:rPr>
                <a:t>t </a:t>
              </a:r>
              <a:r>
                <a:rPr sz="1853" b="1" i="1" spc="-115" dirty="0">
                  <a:latin typeface="Times New Roman"/>
                  <a:cs typeface="Times New Roman"/>
                </a:rPr>
                <a:t>r.</a:t>
              </a:r>
              <a:endParaRPr sz="1853">
                <a:latin typeface="Times New Roman"/>
                <a:cs typeface="Times New Roman"/>
              </a:endParaRPr>
            </a:p>
          </p:txBody>
        </p:sp>
        <p:sp>
          <p:nvSpPr>
            <p:cNvPr id="23" name="object 23"/>
            <p:cNvSpPr txBox="1"/>
            <p:nvPr/>
          </p:nvSpPr>
          <p:spPr>
            <a:xfrm>
              <a:off x="561261" y="3991983"/>
              <a:ext cx="192741" cy="1436064"/>
            </a:xfrm>
            <a:prstGeom prst="rect">
              <a:avLst/>
            </a:prstGeom>
          </p:spPr>
          <p:txBody>
            <a:bodyPr vert="horz" wrap="square" lIns="0" tIns="11206" rIns="0" bIns="0" rtlCol="0">
              <a:spAutoFit/>
            </a:bodyPr>
            <a:lstStyle/>
            <a:p>
              <a:pPr marL="11206">
                <a:lnSpc>
                  <a:spcPts val="2215"/>
                </a:lnSpc>
                <a:spcBef>
                  <a:spcPts val="88"/>
                </a:spcBef>
              </a:pPr>
              <a:r>
                <a:rPr sz="1853" b="1" i="1" spc="-44" dirty="0">
                  <a:latin typeface="Times New Roman"/>
                  <a:cs typeface="Times New Roman"/>
                </a:rPr>
                <a:t>O</a:t>
              </a:r>
              <a:endParaRPr sz="1853">
                <a:latin typeface="Times New Roman"/>
                <a:cs typeface="Times New Roman"/>
              </a:endParaRPr>
            </a:p>
            <a:p>
              <a:pPr marL="51549">
                <a:lnSpc>
                  <a:spcPts val="2215"/>
                </a:lnSpc>
              </a:pPr>
              <a:r>
                <a:rPr sz="1853" b="1" i="1" spc="-44" dirty="0">
                  <a:latin typeface="Times New Roman"/>
                  <a:cs typeface="Times New Roman"/>
                </a:rPr>
                <a:t>r</a:t>
              </a:r>
              <a:endParaRPr sz="1853">
                <a:latin typeface="Times New Roman"/>
                <a:cs typeface="Times New Roman"/>
              </a:endParaRPr>
            </a:p>
            <a:p>
              <a:pPr marL="44826" marR="29697" indent="-7284" algn="just">
                <a:lnSpc>
                  <a:spcPct val="101000"/>
                </a:lnSpc>
                <a:spcBef>
                  <a:spcPts val="62"/>
                </a:spcBef>
              </a:pPr>
              <a:r>
                <a:rPr sz="1853" b="1" i="1" spc="-44" dirty="0">
                  <a:latin typeface="Times New Roman"/>
                  <a:cs typeface="Times New Roman"/>
                </a:rPr>
                <a:t>d e r</a:t>
              </a:r>
              <a:endParaRPr sz="1853">
                <a:latin typeface="Times New Roman"/>
                <a:cs typeface="Times New Roman"/>
              </a:endParaRPr>
            </a:p>
          </p:txBody>
        </p:sp>
        <p:sp>
          <p:nvSpPr>
            <p:cNvPr id="24" name="object 24"/>
            <p:cNvSpPr/>
            <p:nvPr/>
          </p:nvSpPr>
          <p:spPr>
            <a:xfrm>
              <a:off x="939801" y="2310572"/>
              <a:ext cx="71718" cy="2932579"/>
            </a:xfrm>
            <a:custGeom>
              <a:avLst/>
              <a:gdLst/>
              <a:ahLst/>
              <a:cxnLst/>
              <a:rect l="l" t="t" r="r" b="b"/>
              <a:pathLst>
                <a:path w="81280" h="3323590">
                  <a:moveTo>
                    <a:pt x="27093" y="3241714"/>
                  </a:moveTo>
                  <a:lnTo>
                    <a:pt x="0" y="3241714"/>
                  </a:lnTo>
                  <a:lnTo>
                    <a:pt x="40639" y="3322994"/>
                  </a:lnTo>
                  <a:lnTo>
                    <a:pt x="74499" y="3255275"/>
                  </a:lnTo>
                  <a:lnTo>
                    <a:pt x="27093" y="3255275"/>
                  </a:lnTo>
                  <a:lnTo>
                    <a:pt x="27093" y="3241714"/>
                  </a:lnTo>
                  <a:close/>
                </a:path>
                <a:path w="81280" h="3323590">
                  <a:moveTo>
                    <a:pt x="54185" y="0"/>
                  </a:moveTo>
                  <a:lnTo>
                    <a:pt x="27092" y="0"/>
                  </a:lnTo>
                  <a:lnTo>
                    <a:pt x="27093" y="3255275"/>
                  </a:lnTo>
                  <a:lnTo>
                    <a:pt x="54186" y="3255275"/>
                  </a:lnTo>
                  <a:lnTo>
                    <a:pt x="54185" y="0"/>
                  </a:lnTo>
                  <a:close/>
                </a:path>
                <a:path w="81280" h="3323590">
                  <a:moveTo>
                    <a:pt x="81279" y="3241714"/>
                  </a:moveTo>
                  <a:lnTo>
                    <a:pt x="54186" y="3241714"/>
                  </a:lnTo>
                  <a:lnTo>
                    <a:pt x="54186" y="3255275"/>
                  </a:lnTo>
                  <a:lnTo>
                    <a:pt x="74499" y="3255275"/>
                  </a:lnTo>
                  <a:lnTo>
                    <a:pt x="81279" y="3241714"/>
                  </a:lnTo>
                  <a:close/>
                </a:path>
              </a:pathLst>
            </a:custGeom>
            <a:solidFill>
              <a:srgbClr val="000000"/>
            </a:solidFill>
          </p:spPr>
          <p:txBody>
            <a:bodyPr wrap="square" lIns="0" tIns="0" rIns="0" bIns="0" rtlCol="0"/>
            <a:lstStyle/>
            <a:p>
              <a:endParaRPr sz="1588"/>
            </a:p>
          </p:txBody>
        </p:sp>
        <p:sp>
          <p:nvSpPr>
            <p:cNvPr id="25" name="object 25"/>
            <p:cNvSpPr txBox="1"/>
            <p:nvPr/>
          </p:nvSpPr>
          <p:spPr>
            <a:xfrm>
              <a:off x="3038376" y="2366234"/>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26" name="object 26"/>
            <p:cNvGrpSpPr/>
            <p:nvPr/>
          </p:nvGrpSpPr>
          <p:grpSpPr>
            <a:xfrm>
              <a:off x="3347783" y="2216363"/>
              <a:ext cx="755837" cy="542925"/>
              <a:chOff x="3641754" y="2511878"/>
              <a:chExt cx="856615" cy="615315"/>
            </a:xfrm>
          </p:grpSpPr>
          <p:sp>
            <p:nvSpPr>
              <p:cNvPr id="27" name="object 27"/>
              <p:cNvSpPr/>
              <p:nvPr/>
            </p:nvSpPr>
            <p:spPr>
              <a:xfrm>
                <a:off x="3656994" y="2710308"/>
                <a:ext cx="504825" cy="219075"/>
              </a:xfrm>
              <a:custGeom>
                <a:avLst/>
                <a:gdLst/>
                <a:ahLst/>
                <a:cxnLst/>
                <a:rect l="l" t="t" r="r" b="b"/>
                <a:pathLst>
                  <a:path w="504825" h="219075">
                    <a:moveTo>
                      <a:pt x="191444" y="0"/>
                    </a:moveTo>
                    <a:lnTo>
                      <a:pt x="504730" y="0"/>
                    </a:lnTo>
                  </a:path>
                  <a:path w="504825" h="219075">
                    <a:moveTo>
                      <a:pt x="0" y="0"/>
                    </a:moveTo>
                    <a:lnTo>
                      <a:pt x="99009" y="0"/>
                    </a:lnTo>
                  </a:path>
                  <a:path w="504825" h="219075">
                    <a:moveTo>
                      <a:pt x="191444" y="219055"/>
                    </a:moveTo>
                    <a:lnTo>
                      <a:pt x="504730" y="219055"/>
                    </a:lnTo>
                  </a:path>
                  <a:path w="504825" h="219075">
                    <a:moveTo>
                      <a:pt x="0" y="219055"/>
                    </a:moveTo>
                    <a:lnTo>
                      <a:pt x="99009" y="219055"/>
                    </a:lnTo>
                  </a:path>
                </a:pathLst>
              </a:custGeom>
              <a:ln w="30481">
                <a:solidFill>
                  <a:srgbClr val="000000"/>
                </a:solidFill>
              </a:ln>
            </p:spPr>
            <p:txBody>
              <a:bodyPr wrap="square" lIns="0" tIns="0" rIns="0" bIns="0" rtlCol="0"/>
              <a:lstStyle/>
              <a:p>
                <a:endParaRPr sz="1588"/>
              </a:p>
            </p:txBody>
          </p:sp>
          <p:sp>
            <p:nvSpPr>
              <p:cNvPr id="28" name="object 28"/>
              <p:cNvSpPr/>
              <p:nvPr/>
            </p:nvSpPr>
            <p:spPr>
              <a:xfrm>
                <a:off x="4096506" y="2527118"/>
                <a:ext cx="386715" cy="584835"/>
              </a:xfrm>
              <a:custGeom>
                <a:avLst/>
                <a:gdLst/>
                <a:ahLst/>
                <a:cxnLst/>
                <a:rect l="l" t="t" r="r" b="b"/>
                <a:pathLst>
                  <a:path w="386714" h="584835">
                    <a:moveTo>
                      <a:pt x="0" y="0"/>
                    </a:moveTo>
                    <a:lnTo>
                      <a:pt x="0" y="584672"/>
                    </a:lnTo>
                    <a:lnTo>
                      <a:pt x="386417" y="438504"/>
                    </a:lnTo>
                    <a:lnTo>
                      <a:pt x="386417" y="146168"/>
                    </a:lnTo>
                    <a:lnTo>
                      <a:pt x="0" y="0"/>
                    </a:lnTo>
                    <a:close/>
                  </a:path>
                </a:pathLst>
              </a:custGeom>
              <a:solidFill>
                <a:srgbClr val="FFFFFF"/>
              </a:solidFill>
            </p:spPr>
            <p:txBody>
              <a:bodyPr wrap="square" lIns="0" tIns="0" rIns="0" bIns="0" rtlCol="0"/>
              <a:lstStyle/>
              <a:p>
                <a:endParaRPr sz="1588"/>
              </a:p>
            </p:txBody>
          </p:sp>
          <p:sp>
            <p:nvSpPr>
              <p:cNvPr id="29" name="object 29"/>
              <p:cNvSpPr/>
              <p:nvPr/>
            </p:nvSpPr>
            <p:spPr>
              <a:xfrm>
                <a:off x="4096506" y="2527118"/>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30" name="object 30"/>
              <p:cNvSpPr/>
              <p:nvPr/>
            </p:nvSpPr>
            <p:spPr>
              <a:xfrm>
                <a:off x="4070706" y="2725436"/>
                <a:ext cx="207010" cy="189230"/>
              </a:xfrm>
              <a:custGeom>
                <a:avLst/>
                <a:gdLst/>
                <a:ahLst/>
                <a:cxnLst/>
                <a:rect l="l" t="t" r="r" b="b"/>
                <a:pathLst>
                  <a:path w="207010" h="189230">
                    <a:moveTo>
                      <a:pt x="0" y="0"/>
                    </a:moveTo>
                    <a:lnTo>
                      <a:pt x="0" y="188799"/>
                    </a:lnTo>
                    <a:lnTo>
                      <a:pt x="206396" y="94399"/>
                    </a:lnTo>
                    <a:lnTo>
                      <a:pt x="0" y="0"/>
                    </a:lnTo>
                    <a:close/>
                  </a:path>
                </a:pathLst>
              </a:custGeom>
              <a:solidFill>
                <a:srgbClr val="FFFFFF"/>
              </a:solidFill>
            </p:spPr>
            <p:txBody>
              <a:bodyPr wrap="square" lIns="0" tIns="0" rIns="0" bIns="0" rtlCol="0"/>
              <a:lstStyle/>
              <a:p>
                <a:endParaRPr sz="1588"/>
              </a:p>
            </p:txBody>
          </p:sp>
          <p:sp>
            <p:nvSpPr>
              <p:cNvPr id="31" name="object 31"/>
              <p:cNvSpPr/>
              <p:nvPr/>
            </p:nvSpPr>
            <p:spPr>
              <a:xfrm>
                <a:off x="4096505" y="2736474"/>
                <a:ext cx="159385" cy="166370"/>
              </a:xfrm>
              <a:custGeom>
                <a:avLst/>
                <a:gdLst/>
                <a:ahLst/>
                <a:cxnLst/>
                <a:rect l="l" t="t" r="r" b="b"/>
                <a:pathLst>
                  <a:path w="159385" h="166369">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32" name="object 32"/>
            <p:cNvSpPr txBox="1"/>
            <p:nvPr/>
          </p:nvSpPr>
          <p:spPr>
            <a:xfrm>
              <a:off x="3879066" y="2327433"/>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33" name="object 33"/>
            <p:cNvGrpSpPr/>
            <p:nvPr/>
          </p:nvGrpSpPr>
          <p:grpSpPr>
            <a:xfrm>
              <a:off x="4079690" y="2314037"/>
              <a:ext cx="1116666" cy="349624"/>
              <a:chOff x="4471248" y="2622575"/>
              <a:chExt cx="1265555" cy="396240"/>
            </a:xfrm>
          </p:grpSpPr>
          <p:sp>
            <p:nvSpPr>
              <p:cNvPr id="34" name="object 34"/>
              <p:cNvSpPr/>
              <p:nvPr/>
            </p:nvSpPr>
            <p:spPr>
              <a:xfrm>
                <a:off x="4486488" y="2820624"/>
                <a:ext cx="1235075" cy="0"/>
              </a:xfrm>
              <a:custGeom>
                <a:avLst/>
                <a:gdLst/>
                <a:ahLst/>
                <a:cxnLst/>
                <a:rect l="l" t="t" r="r" b="b"/>
                <a:pathLst>
                  <a:path w="1235075">
                    <a:moveTo>
                      <a:pt x="0" y="0"/>
                    </a:moveTo>
                    <a:lnTo>
                      <a:pt x="123263" y="0"/>
                    </a:lnTo>
                  </a:path>
                  <a:path w="1235075">
                    <a:moveTo>
                      <a:pt x="214416" y="0"/>
                    </a:moveTo>
                    <a:lnTo>
                      <a:pt x="372009" y="0"/>
                    </a:lnTo>
                  </a:path>
                  <a:path w="1235075">
                    <a:moveTo>
                      <a:pt x="875003" y="0"/>
                    </a:moveTo>
                    <a:lnTo>
                      <a:pt x="977013" y="0"/>
                    </a:lnTo>
                  </a:path>
                  <a:path w="1235075">
                    <a:moveTo>
                      <a:pt x="1069449" y="0"/>
                    </a:moveTo>
                    <a:lnTo>
                      <a:pt x="1234934" y="0"/>
                    </a:lnTo>
                  </a:path>
                </a:pathLst>
              </a:custGeom>
              <a:ln w="30481">
                <a:solidFill>
                  <a:srgbClr val="000000"/>
                </a:solidFill>
              </a:ln>
            </p:spPr>
            <p:txBody>
              <a:bodyPr wrap="square" lIns="0" tIns="0" rIns="0" bIns="0" rtlCol="0"/>
              <a:lstStyle/>
              <a:p>
                <a:endParaRPr sz="1588"/>
              </a:p>
            </p:txBody>
          </p:sp>
          <p:sp>
            <p:nvSpPr>
              <p:cNvPr id="35" name="object 35"/>
              <p:cNvSpPr/>
              <p:nvPr/>
            </p:nvSpPr>
            <p:spPr>
              <a:xfrm>
                <a:off x="4858498" y="2637815"/>
                <a:ext cx="458470" cy="365760"/>
              </a:xfrm>
              <a:custGeom>
                <a:avLst/>
                <a:gdLst/>
                <a:ahLst/>
                <a:cxnLst/>
                <a:rect l="l" t="t" r="r" b="b"/>
                <a:pathLst>
                  <a:path w="458470" h="365760">
                    <a:moveTo>
                      <a:pt x="458135" y="0"/>
                    </a:moveTo>
                    <a:lnTo>
                      <a:pt x="0" y="0"/>
                    </a:lnTo>
                    <a:lnTo>
                      <a:pt x="0" y="365617"/>
                    </a:lnTo>
                    <a:lnTo>
                      <a:pt x="458135" y="365617"/>
                    </a:lnTo>
                    <a:lnTo>
                      <a:pt x="458135" y="0"/>
                    </a:lnTo>
                    <a:close/>
                  </a:path>
                </a:pathLst>
              </a:custGeom>
              <a:solidFill>
                <a:srgbClr val="FF0000"/>
              </a:solidFill>
            </p:spPr>
            <p:txBody>
              <a:bodyPr wrap="square" lIns="0" tIns="0" rIns="0" bIns="0" rtlCol="0"/>
              <a:lstStyle/>
              <a:p>
                <a:endParaRPr sz="1588"/>
              </a:p>
            </p:txBody>
          </p:sp>
          <p:sp>
            <p:nvSpPr>
              <p:cNvPr id="36" name="object 36"/>
              <p:cNvSpPr/>
              <p:nvPr/>
            </p:nvSpPr>
            <p:spPr>
              <a:xfrm>
                <a:off x="4858498" y="2637815"/>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37" name="object 37"/>
            <p:cNvSpPr txBox="1"/>
            <p:nvPr/>
          </p:nvSpPr>
          <p:spPr>
            <a:xfrm>
              <a:off x="4426222" y="2366234"/>
              <a:ext cx="389964" cy="174309"/>
            </a:xfrm>
            <a:prstGeom prst="rect">
              <a:avLst/>
            </a:prstGeom>
          </p:spPr>
          <p:txBody>
            <a:bodyPr vert="horz" wrap="square" lIns="0" tIns="11206" rIns="0" bIns="0" rtlCol="0">
              <a:spAutoFit/>
            </a:bodyPr>
            <a:lstStyle/>
            <a:p>
              <a:pPr>
                <a:spcBef>
                  <a:spcPts val="88"/>
                </a:spcBef>
              </a:pPr>
              <a:r>
                <a:rPr sz="1059" b="1" spc="-31" dirty="0">
                  <a:latin typeface="Times New Roman"/>
                  <a:cs typeface="Times New Roman"/>
                </a:rPr>
                <a:t>DMem</a:t>
              </a:r>
              <a:endParaRPr sz="1059">
                <a:latin typeface="Times New Roman"/>
                <a:cs typeface="Times New Roman"/>
              </a:endParaRPr>
            </a:p>
          </p:txBody>
        </p:sp>
        <p:grpSp>
          <p:nvGrpSpPr>
            <p:cNvPr id="38" name="object 38"/>
            <p:cNvGrpSpPr/>
            <p:nvPr/>
          </p:nvGrpSpPr>
          <p:grpSpPr>
            <a:xfrm>
              <a:off x="2558803" y="2378001"/>
              <a:ext cx="2438960" cy="381559"/>
              <a:chOff x="2747576" y="2695068"/>
              <a:chExt cx="2764155" cy="432434"/>
            </a:xfrm>
          </p:grpSpPr>
          <p:sp>
            <p:nvSpPr>
              <p:cNvPr id="39" name="object 39"/>
              <p:cNvSpPr/>
              <p:nvPr/>
            </p:nvSpPr>
            <p:spPr>
              <a:xfrm>
                <a:off x="4809185" y="2820624"/>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40" name="object 40"/>
              <p:cNvSpPr/>
              <p:nvPr/>
            </p:nvSpPr>
            <p:spPr>
              <a:xfrm>
                <a:off x="2762816" y="2710308"/>
                <a:ext cx="434975" cy="220979"/>
              </a:xfrm>
              <a:custGeom>
                <a:avLst/>
                <a:gdLst/>
                <a:ahLst/>
                <a:cxnLst/>
                <a:rect l="l" t="t" r="r" b="b"/>
                <a:pathLst>
                  <a:path w="434975" h="220980">
                    <a:moveTo>
                      <a:pt x="235724" y="220632"/>
                    </a:moveTo>
                    <a:lnTo>
                      <a:pt x="434956" y="220632"/>
                    </a:lnTo>
                  </a:path>
                  <a:path w="434975" h="220980">
                    <a:moveTo>
                      <a:pt x="0" y="220632"/>
                    </a:moveTo>
                    <a:lnTo>
                      <a:pt x="143287" y="220632"/>
                    </a:lnTo>
                  </a:path>
                  <a:path w="434975" h="220980">
                    <a:moveTo>
                      <a:pt x="0" y="0"/>
                    </a:moveTo>
                    <a:lnTo>
                      <a:pt x="143287" y="0"/>
                    </a:lnTo>
                  </a:path>
                  <a:path w="434975" h="220980">
                    <a:moveTo>
                      <a:pt x="235724" y="0"/>
                    </a:moveTo>
                    <a:lnTo>
                      <a:pt x="432887" y="0"/>
                    </a:lnTo>
                  </a:path>
                </a:pathLst>
              </a:custGeom>
              <a:ln w="30481">
                <a:solidFill>
                  <a:srgbClr val="000000"/>
                </a:solidFill>
              </a:ln>
            </p:spPr>
            <p:txBody>
              <a:bodyPr wrap="square" lIns="0" tIns="0" rIns="0" bIns="0" rtlCol="0"/>
              <a:lstStyle/>
              <a:p>
                <a:endParaRPr sz="1588"/>
              </a:p>
            </p:txBody>
          </p:sp>
        </p:grpSp>
        <p:sp>
          <p:nvSpPr>
            <p:cNvPr id="41" name="object 41"/>
            <p:cNvSpPr txBox="1"/>
            <p:nvPr/>
          </p:nvSpPr>
          <p:spPr>
            <a:xfrm>
              <a:off x="2166211" y="2327484"/>
              <a:ext cx="406213" cy="213346"/>
            </a:xfrm>
            <a:prstGeom prst="rect">
              <a:avLst/>
            </a:prstGeom>
            <a:ln w="30479">
              <a:solidFill>
                <a:srgbClr val="000000"/>
              </a:solidFill>
            </a:ln>
          </p:spPr>
          <p:txBody>
            <a:bodyPr vert="horz" wrap="square" lIns="0" tIns="49866" rIns="0" bIns="0" rtlCol="0">
              <a:spAutoFit/>
            </a:bodyPr>
            <a:lstStyle/>
            <a:p>
              <a:pPr marL="39223">
                <a:spcBef>
                  <a:spcPts val="393"/>
                </a:spcBef>
              </a:pPr>
              <a:r>
                <a:rPr sz="1059" b="1" spc="-9" dirty="0">
                  <a:latin typeface="Times New Roman"/>
                  <a:cs typeface="Times New Roman"/>
                </a:rPr>
                <a:t>Ifetch</a:t>
              </a:r>
              <a:endParaRPr sz="1059">
                <a:latin typeface="Times New Roman"/>
                <a:cs typeface="Times New Roman"/>
              </a:endParaRPr>
            </a:p>
          </p:txBody>
        </p:sp>
        <p:grpSp>
          <p:nvGrpSpPr>
            <p:cNvPr id="42" name="object 42"/>
            <p:cNvGrpSpPr/>
            <p:nvPr/>
          </p:nvGrpSpPr>
          <p:grpSpPr>
            <a:xfrm>
              <a:off x="2685233" y="2168033"/>
              <a:ext cx="2918572" cy="640416"/>
              <a:chOff x="2890864" y="2457103"/>
              <a:chExt cx="3307715" cy="725805"/>
            </a:xfrm>
          </p:grpSpPr>
          <p:sp>
            <p:nvSpPr>
              <p:cNvPr id="43" name="object 43"/>
              <p:cNvSpPr/>
              <p:nvPr/>
            </p:nvSpPr>
            <p:spPr>
              <a:xfrm>
                <a:off x="3756003" y="2472343"/>
                <a:ext cx="92710" cy="695325"/>
              </a:xfrm>
              <a:custGeom>
                <a:avLst/>
                <a:gdLst/>
                <a:ahLst/>
                <a:cxnLst/>
                <a:rect l="l" t="t" r="r" b="b"/>
                <a:pathLst>
                  <a:path w="92710" h="695325">
                    <a:moveTo>
                      <a:pt x="92435" y="0"/>
                    </a:moveTo>
                    <a:lnTo>
                      <a:pt x="0" y="0"/>
                    </a:lnTo>
                    <a:lnTo>
                      <a:pt x="0" y="694987"/>
                    </a:lnTo>
                    <a:lnTo>
                      <a:pt x="92435" y="694987"/>
                    </a:lnTo>
                    <a:lnTo>
                      <a:pt x="92435" y="0"/>
                    </a:lnTo>
                    <a:close/>
                  </a:path>
                </a:pathLst>
              </a:custGeom>
              <a:solidFill>
                <a:srgbClr val="00FF00"/>
              </a:solidFill>
            </p:spPr>
            <p:txBody>
              <a:bodyPr wrap="square" lIns="0" tIns="0" rIns="0" bIns="0" rtlCol="0"/>
              <a:lstStyle/>
              <a:p>
                <a:endParaRPr sz="1588"/>
              </a:p>
            </p:txBody>
          </p:sp>
          <p:sp>
            <p:nvSpPr>
              <p:cNvPr id="44" name="object 44"/>
              <p:cNvSpPr/>
              <p:nvPr/>
            </p:nvSpPr>
            <p:spPr>
              <a:xfrm>
                <a:off x="3756003"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45" name="object 45"/>
              <p:cNvSpPr/>
              <p:nvPr/>
            </p:nvSpPr>
            <p:spPr>
              <a:xfrm>
                <a:off x="5463501" y="2472343"/>
                <a:ext cx="92710" cy="695325"/>
              </a:xfrm>
              <a:custGeom>
                <a:avLst/>
                <a:gdLst/>
                <a:ahLst/>
                <a:cxnLst/>
                <a:rect l="l" t="t" r="r" b="b"/>
                <a:pathLst>
                  <a:path w="92710" h="695325">
                    <a:moveTo>
                      <a:pt x="92435" y="0"/>
                    </a:moveTo>
                    <a:lnTo>
                      <a:pt x="0" y="0"/>
                    </a:lnTo>
                    <a:lnTo>
                      <a:pt x="0" y="694987"/>
                    </a:lnTo>
                    <a:lnTo>
                      <a:pt x="92435" y="694987"/>
                    </a:lnTo>
                    <a:lnTo>
                      <a:pt x="92435" y="0"/>
                    </a:lnTo>
                    <a:close/>
                  </a:path>
                </a:pathLst>
              </a:custGeom>
              <a:solidFill>
                <a:srgbClr val="00FF00"/>
              </a:solidFill>
            </p:spPr>
            <p:txBody>
              <a:bodyPr wrap="square" lIns="0" tIns="0" rIns="0" bIns="0" rtlCol="0"/>
              <a:lstStyle/>
              <a:p>
                <a:endParaRPr sz="1588"/>
              </a:p>
            </p:txBody>
          </p:sp>
          <p:sp>
            <p:nvSpPr>
              <p:cNvPr id="46" name="object 46"/>
              <p:cNvSpPr/>
              <p:nvPr/>
            </p:nvSpPr>
            <p:spPr>
              <a:xfrm>
                <a:off x="5463501"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47" name="object 47"/>
              <p:cNvSpPr/>
              <p:nvPr/>
            </p:nvSpPr>
            <p:spPr>
              <a:xfrm>
                <a:off x="2906104" y="2472343"/>
                <a:ext cx="92710" cy="695325"/>
              </a:xfrm>
              <a:custGeom>
                <a:avLst/>
                <a:gdLst/>
                <a:ahLst/>
                <a:cxnLst/>
                <a:rect l="l" t="t" r="r" b="b"/>
                <a:pathLst>
                  <a:path w="92710" h="695325">
                    <a:moveTo>
                      <a:pt x="92436" y="0"/>
                    </a:moveTo>
                    <a:lnTo>
                      <a:pt x="0" y="0"/>
                    </a:lnTo>
                    <a:lnTo>
                      <a:pt x="0" y="694987"/>
                    </a:lnTo>
                    <a:lnTo>
                      <a:pt x="92436" y="694987"/>
                    </a:lnTo>
                    <a:lnTo>
                      <a:pt x="92436" y="0"/>
                    </a:lnTo>
                    <a:close/>
                  </a:path>
                </a:pathLst>
              </a:custGeom>
              <a:solidFill>
                <a:srgbClr val="00FF00"/>
              </a:solidFill>
            </p:spPr>
            <p:txBody>
              <a:bodyPr wrap="square" lIns="0" tIns="0" rIns="0" bIns="0" rtlCol="0"/>
              <a:lstStyle/>
              <a:p>
                <a:endParaRPr sz="1588"/>
              </a:p>
            </p:txBody>
          </p:sp>
          <p:sp>
            <p:nvSpPr>
              <p:cNvPr id="48" name="object 48"/>
              <p:cNvSpPr/>
              <p:nvPr/>
            </p:nvSpPr>
            <p:spPr>
              <a:xfrm>
                <a:off x="2906104" y="2472343"/>
                <a:ext cx="92710" cy="695325"/>
              </a:xfrm>
              <a:custGeom>
                <a:avLst/>
                <a:gdLst/>
                <a:ahLst/>
                <a:cxnLst/>
                <a:rect l="l" t="t" r="r" b="b"/>
                <a:pathLst>
                  <a:path w="92710" h="695325">
                    <a:moveTo>
                      <a:pt x="0" y="0"/>
                    </a:moveTo>
                    <a:lnTo>
                      <a:pt x="92436" y="0"/>
                    </a:lnTo>
                    <a:lnTo>
                      <a:pt x="9243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49" name="object 49"/>
              <p:cNvSpPr/>
              <p:nvPr/>
            </p:nvSpPr>
            <p:spPr>
              <a:xfrm>
                <a:off x="4609752" y="2476425"/>
                <a:ext cx="91440" cy="685800"/>
              </a:xfrm>
              <a:custGeom>
                <a:avLst/>
                <a:gdLst/>
                <a:ahLst/>
                <a:cxnLst/>
                <a:rect l="l" t="t" r="r" b="b"/>
                <a:pathLst>
                  <a:path w="91439" h="685800">
                    <a:moveTo>
                      <a:pt x="91152" y="0"/>
                    </a:moveTo>
                    <a:lnTo>
                      <a:pt x="0" y="0"/>
                    </a:lnTo>
                    <a:lnTo>
                      <a:pt x="0" y="685802"/>
                    </a:lnTo>
                    <a:lnTo>
                      <a:pt x="91152" y="685802"/>
                    </a:lnTo>
                    <a:lnTo>
                      <a:pt x="91152" y="0"/>
                    </a:lnTo>
                    <a:close/>
                  </a:path>
                </a:pathLst>
              </a:custGeom>
              <a:solidFill>
                <a:srgbClr val="00FF00"/>
              </a:solidFill>
            </p:spPr>
            <p:txBody>
              <a:bodyPr wrap="square" lIns="0" tIns="0" rIns="0" bIns="0" rtlCol="0"/>
              <a:lstStyle/>
              <a:p>
                <a:endParaRPr sz="1588"/>
              </a:p>
            </p:txBody>
          </p:sp>
          <p:sp>
            <p:nvSpPr>
              <p:cNvPr id="50" name="object 50"/>
              <p:cNvSpPr/>
              <p:nvPr/>
            </p:nvSpPr>
            <p:spPr>
              <a:xfrm>
                <a:off x="4609752" y="2476425"/>
                <a:ext cx="91440" cy="685800"/>
              </a:xfrm>
              <a:custGeom>
                <a:avLst/>
                <a:gdLst/>
                <a:ahLst/>
                <a:cxnLst/>
                <a:rect l="l" t="t" r="r" b="b"/>
                <a:pathLst>
                  <a:path w="91439" h="685800">
                    <a:moveTo>
                      <a:pt x="0" y="0"/>
                    </a:moveTo>
                    <a:lnTo>
                      <a:pt x="91151" y="0"/>
                    </a:lnTo>
                    <a:lnTo>
                      <a:pt x="91151"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51" name="object 51"/>
              <p:cNvSpPr/>
              <p:nvPr/>
            </p:nvSpPr>
            <p:spPr>
              <a:xfrm>
                <a:off x="5721422" y="2623632"/>
                <a:ext cx="231140" cy="363220"/>
              </a:xfrm>
              <a:custGeom>
                <a:avLst/>
                <a:gdLst/>
                <a:ahLst/>
                <a:cxnLst/>
                <a:rect l="l" t="t" r="r" b="b"/>
                <a:pathLst>
                  <a:path w="231139" h="363219">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52" name="object 52"/>
              <p:cNvSpPr/>
              <p:nvPr/>
            </p:nvSpPr>
            <p:spPr>
              <a:xfrm>
                <a:off x="5721422" y="2623632"/>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53" name="object 53"/>
            <p:cNvSpPr txBox="1"/>
            <p:nvPr/>
          </p:nvSpPr>
          <p:spPr>
            <a:xfrm>
              <a:off x="5268664" y="2355477"/>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54" name="object 54"/>
            <p:cNvGrpSpPr/>
            <p:nvPr/>
          </p:nvGrpSpPr>
          <p:grpSpPr>
            <a:xfrm>
              <a:off x="3709679" y="3058146"/>
              <a:ext cx="430306" cy="351304"/>
              <a:chOff x="4051903" y="3465898"/>
              <a:chExt cx="487680" cy="398145"/>
            </a:xfrm>
          </p:grpSpPr>
          <p:sp>
            <p:nvSpPr>
              <p:cNvPr id="55" name="object 55"/>
              <p:cNvSpPr/>
              <p:nvPr/>
            </p:nvSpPr>
            <p:spPr>
              <a:xfrm>
                <a:off x="4295720" y="3481138"/>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56" name="object 56"/>
              <p:cNvSpPr/>
              <p:nvPr/>
            </p:nvSpPr>
            <p:spPr>
              <a:xfrm>
                <a:off x="4067143" y="3481138"/>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57" name="object 57"/>
            <p:cNvSpPr txBox="1"/>
            <p:nvPr/>
          </p:nvSpPr>
          <p:spPr>
            <a:xfrm>
              <a:off x="3805469" y="3111201"/>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58" name="object 58"/>
            <p:cNvGrpSpPr/>
            <p:nvPr/>
          </p:nvGrpSpPr>
          <p:grpSpPr>
            <a:xfrm>
              <a:off x="4114876" y="2961862"/>
              <a:ext cx="755837" cy="542925"/>
              <a:chOff x="4511126" y="3356776"/>
              <a:chExt cx="856615" cy="615315"/>
            </a:xfrm>
          </p:grpSpPr>
          <p:sp>
            <p:nvSpPr>
              <p:cNvPr id="59" name="object 59"/>
              <p:cNvSpPr/>
              <p:nvPr/>
            </p:nvSpPr>
            <p:spPr>
              <a:xfrm>
                <a:off x="4526366" y="3555208"/>
                <a:ext cx="504825" cy="219075"/>
              </a:xfrm>
              <a:custGeom>
                <a:avLst/>
                <a:gdLst/>
                <a:ahLst/>
                <a:cxnLst/>
                <a:rect l="l" t="t" r="r" b="b"/>
                <a:pathLst>
                  <a:path w="504825" h="219075">
                    <a:moveTo>
                      <a:pt x="176510" y="0"/>
                    </a:moveTo>
                    <a:lnTo>
                      <a:pt x="504730" y="0"/>
                    </a:lnTo>
                  </a:path>
                  <a:path w="504825" h="219075">
                    <a:moveTo>
                      <a:pt x="0" y="0"/>
                    </a:moveTo>
                    <a:lnTo>
                      <a:pt x="83943" y="0"/>
                    </a:lnTo>
                  </a:path>
                  <a:path w="504825" h="219075">
                    <a:moveTo>
                      <a:pt x="0" y="219055"/>
                    </a:moveTo>
                    <a:lnTo>
                      <a:pt x="83943" y="219055"/>
                    </a:lnTo>
                  </a:path>
                  <a:path w="504825" h="219075">
                    <a:moveTo>
                      <a:pt x="176510" y="219055"/>
                    </a:moveTo>
                    <a:lnTo>
                      <a:pt x="504730" y="219055"/>
                    </a:lnTo>
                  </a:path>
                </a:pathLst>
              </a:custGeom>
              <a:ln w="30481">
                <a:solidFill>
                  <a:srgbClr val="000000"/>
                </a:solidFill>
              </a:ln>
            </p:spPr>
            <p:txBody>
              <a:bodyPr wrap="square" lIns="0" tIns="0" rIns="0" bIns="0" rtlCol="0"/>
              <a:lstStyle/>
              <a:p>
                <a:endParaRPr sz="1588"/>
              </a:p>
            </p:txBody>
          </p:sp>
          <p:sp>
            <p:nvSpPr>
              <p:cNvPr id="60" name="object 60"/>
              <p:cNvSpPr/>
              <p:nvPr/>
            </p:nvSpPr>
            <p:spPr>
              <a:xfrm>
                <a:off x="4965878" y="3372017"/>
                <a:ext cx="386715" cy="584835"/>
              </a:xfrm>
              <a:custGeom>
                <a:avLst/>
                <a:gdLst/>
                <a:ahLst/>
                <a:cxnLst/>
                <a:rect l="l" t="t" r="r" b="b"/>
                <a:pathLst>
                  <a:path w="386714" h="584835">
                    <a:moveTo>
                      <a:pt x="0" y="0"/>
                    </a:moveTo>
                    <a:lnTo>
                      <a:pt x="0" y="584671"/>
                    </a:lnTo>
                    <a:lnTo>
                      <a:pt x="386417" y="438503"/>
                    </a:lnTo>
                    <a:lnTo>
                      <a:pt x="386417" y="146166"/>
                    </a:lnTo>
                    <a:lnTo>
                      <a:pt x="0" y="0"/>
                    </a:lnTo>
                    <a:close/>
                  </a:path>
                </a:pathLst>
              </a:custGeom>
              <a:solidFill>
                <a:srgbClr val="FFFFFF"/>
              </a:solidFill>
            </p:spPr>
            <p:txBody>
              <a:bodyPr wrap="square" lIns="0" tIns="0" rIns="0" bIns="0" rtlCol="0"/>
              <a:lstStyle/>
              <a:p>
                <a:endParaRPr sz="1588"/>
              </a:p>
            </p:txBody>
          </p:sp>
          <p:sp>
            <p:nvSpPr>
              <p:cNvPr id="61" name="object 61"/>
              <p:cNvSpPr/>
              <p:nvPr/>
            </p:nvSpPr>
            <p:spPr>
              <a:xfrm>
                <a:off x="4965878" y="3372016"/>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62" name="object 62"/>
              <p:cNvSpPr/>
              <p:nvPr/>
            </p:nvSpPr>
            <p:spPr>
              <a:xfrm>
                <a:off x="4940078" y="3570334"/>
                <a:ext cx="207010" cy="189230"/>
              </a:xfrm>
              <a:custGeom>
                <a:avLst/>
                <a:gdLst/>
                <a:ahLst/>
                <a:cxnLst/>
                <a:rect l="l" t="t" r="r" b="b"/>
                <a:pathLst>
                  <a:path w="207010" h="189229">
                    <a:moveTo>
                      <a:pt x="0" y="0"/>
                    </a:moveTo>
                    <a:lnTo>
                      <a:pt x="0" y="188799"/>
                    </a:lnTo>
                    <a:lnTo>
                      <a:pt x="206395" y="94399"/>
                    </a:lnTo>
                    <a:lnTo>
                      <a:pt x="0" y="0"/>
                    </a:lnTo>
                    <a:close/>
                  </a:path>
                </a:pathLst>
              </a:custGeom>
              <a:solidFill>
                <a:srgbClr val="FFFFFF"/>
              </a:solidFill>
            </p:spPr>
            <p:txBody>
              <a:bodyPr wrap="square" lIns="0" tIns="0" rIns="0" bIns="0" rtlCol="0"/>
              <a:lstStyle/>
              <a:p>
                <a:endParaRPr sz="1588"/>
              </a:p>
            </p:txBody>
          </p:sp>
          <p:sp>
            <p:nvSpPr>
              <p:cNvPr id="63" name="object 63"/>
              <p:cNvSpPr/>
              <p:nvPr/>
            </p:nvSpPr>
            <p:spPr>
              <a:xfrm>
                <a:off x="4965877" y="3581373"/>
                <a:ext cx="159385" cy="166370"/>
              </a:xfrm>
              <a:custGeom>
                <a:avLst/>
                <a:gdLst/>
                <a:ahLst/>
                <a:cxnLst/>
                <a:rect l="l" t="t" r="r" b="b"/>
                <a:pathLst>
                  <a:path w="159385"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64" name="object 64"/>
            <p:cNvSpPr txBox="1"/>
            <p:nvPr/>
          </p:nvSpPr>
          <p:spPr>
            <a:xfrm>
              <a:off x="4646159" y="3072400"/>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65" name="object 65"/>
            <p:cNvGrpSpPr/>
            <p:nvPr/>
          </p:nvGrpSpPr>
          <p:grpSpPr>
            <a:xfrm>
              <a:off x="4846783" y="3059536"/>
              <a:ext cx="1116666" cy="349624"/>
              <a:chOff x="5340620" y="3467474"/>
              <a:chExt cx="1265555" cy="396240"/>
            </a:xfrm>
          </p:grpSpPr>
          <p:sp>
            <p:nvSpPr>
              <p:cNvPr id="66" name="object 66"/>
              <p:cNvSpPr/>
              <p:nvPr/>
            </p:nvSpPr>
            <p:spPr>
              <a:xfrm>
                <a:off x="5355860" y="3665522"/>
                <a:ext cx="1235075" cy="0"/>
              </a:xfrm>
              <a:custGeom>
                <a:avLst/>
                <a:gdLst/>
                <a:ahLst/>
                <a:cxnLst/>
                <a:rect l="l" t="t" r="r" b="b"/>
                <a:pathLst>
                  <a:path w="1235075">
                    <a:moveTo>
                      <a:pt x="199405" y="0"/>
                    </a:moveTo>
                    <a:lnTo>
                      <a:pt x="372009" y="0"/>
                    </a:lnTo>
                  </a:path>
                  <a:path w="1235075">
                    <a:moveTo>
                      <a:pt x="0" y="0"/>
                    </a:moveTo>
                    <a:lnTo>
                      <a:pt x="108123" y="0"/>
                    </a:lnTo>
                  </a:path>
                  <a:path w="1235075">
                    <a:moveTo>
                      <a:pt x="1131506" y="0"/>
                    </a:moveTo>
                    <a:lnTo>
                      <a:pt x="1234934" y="0"/>
                    </a:lnTo>
                  </a:path>
                  <a:path w="1235075">
                    <a:moveTo>
                      <a:pt x="875003" y="0"/>
                    </a:moveTo>
                    <a:lnTo>
                      <a:pt x="1038938" y="0"/>
                    </a:lnTo>
                  </a:path>
                </a:pathLst>
              </a:custGeom>
              <a:ln w="30481">
                <a:solidFill>
                  <a:srgbClr val="000000"/>
                </a:solidFill>
              </a:ln>
            </p:spPr>
            <p:txBody>
              <a:bodyPr wrap="square" lIns="0" tIns="0" rIns="0" bIns="0" rtlCol="0"/>
              <a:lstStyle/>
              <a:p>
                <a:endParaRPr sz="1588"/>
              </a:p>
            </p:txBody>
          </p:sp>
          <p:sp>
            <p:nvSpPr>
              <p:cNvPr id="67" name="object 67"/>
              <p:cNvSpPr/>
              <p:nvPr/>
            </p:nvSpPr>
            <p:spPr>
              <a:xfrm>
                <a:off x="5727870" y="3482714"/>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68" name="object 68"/>
            <p:cNvSpPr txBox="1"/>
            <p:nvPr/>
          </p:nvSpPr>
          <p:spPr>
            <a:xfrm>
              <a:off x="5182108" y="3113891"/>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69" name="object 69"/>
            <p:cNvGrpSpPr/>
            <p:nvPr/>
          </p:nvGrpSpPr>
          <p:grpSpPr>
            <a:xfrm>
              <a:off x="3325896" y="3123501"/>
              <a:ext cx="2456890" cy="381559"/>
              <a:chOff x="3616948" y="3539968"/>
              <a:chExt cx="2784475" cy="432434"/>
            </a:xfrm>
          </p:grpSpPr>
          <p:sp>
            <p:nvSpPr>
              <p:cNvPr id="70" name="object 70"/>
              <p:cNvSpPr/>
              <p:nvPr/>
            </p:nvSpPr>
            <p:spPr>
              <a:xfrm>
                <a:off x="5678556" y="3665522"/>
                <a:ext cx="708025" cy="292100"/>
              </a:xfrm>
              <a:custGeom>
                <a:avLst/>
                <a:gdLst/>
                <a:ahLst/>
                <a:cxnLst/>
                <a:rect l="l" t="t" r="r" b="b"/>
                <a:pathLst>
                  <a:path w="708025" h="292100">
                    <a:moveTo>
                      <a:pt x="0" y="0"/>
                    </a:moveTo>
                    <a:lnTo>
                      <a:pt x="0" y="291547"/>
                    </a:lnTo>
                    <a:lnTo>
                      <a:pt x="624220" y="291547"/>
                    </a:lnTo>
                    <a:lnTo>
                      <a:pt x="624220" y="109330"/>
                    </a:lnTo>
                    <a:lnTo>
                      <a:pt x="707449" y="109330"/>
                    </a:lnTo>
                  </a:path>
                </a:pathLst>
              </a:custGeom>
              <a:ln w="30479">
                <a:solidFill>
                  <a:srgbClr val="000000"/>
                </a:solidFill>
              </a:ln>
            </p:spPr>
            <p:txBody>
              <a:bodyPr wrap="square" lIns="0" tIns="0" rIns="0" bIns="0" rtlCol="0"/>
              <a:lstStyle/>
              <a:p>
                <a:endParaRPr sz="1588"/>
              </a:p>
            </p:txBody>
          </p:sp>
          <p:sp>
            <p:nvSpPr>
              <p:cNvPr id="71" name="object 71"/>
              <p:cNvSpPr/>
              <p:nvPr/>
            </p:nvSpPr>
            <p:spPr>
              <a:xfrm>
                <a:off x="3632188" y="3555208"/>
                <a:ext cx="434975" cy="220979"/>
              </a:xfrm>
              <a:custGeom>
                <a:avLst/>
                <a:gdLst/>
                <a:ahLst/>
                <a:cxnLst/>
                <a:rect l="l" t="t" r="r" b="b"/>
                <a:pathLst>
                  <a:path w="434975" h="220979">
                    <a:moveTo>
                      <a:pt x="0" y="220630"/>
                    </a:moveTo>
                    <a:lnTo>
                      <a:pt x="130876" y="220630"/>
                    </a:lnTo>
                  </a:path>
                  <a:path w="434975" h="220979">
                    <a:moveTo>
                      <a:pt x="223443" y="220630"/>
                    </a:moveTo>
                    <a:lnTo>
                      <a:pt x="434955" y="220630"/>
                    </a:lnTo>
                  </a:path>
                  <a:path w="434975" h="220979">
                    <a:moveTo>
                      <a:pt x="223443" y="0"/>
                    </a:moveTo>
                    <a:lnTo>
                      <a:pt x="432886" y="0"/>
                    </a:lnTo>
                  </a:path>
                  <a:path w="434975" h="220979">
                    <a:moveTo>
                      <a:pt x="0" y="0"/>
                    </a:moveTo>
                    <a:lnTo>
                      <a:pt x="130876" y="0"/>
                    </a:lnTo>
                  </a:path>
                </a:pathLst>
              </a:custGeom>
              <a:ln w="30481">
                <a:solidFill>
                  <a:srgbClr val="000000"/>
                </a:solidFill>
              </a:ln>
            </p:spPr>
            <p:txBody>
              <a:bodyPr wrap="square" lIns="0" tIns="0" rIns="0" bIns="0" rtlCol="0"/>
              <a:lstStyle/>
              <a:p>
                <a:endParaRPr sz="1588"/>
              </a:p>
            </p:txBody>
          </p:sp>
        </p:grpSp>
        <p:sp>
          <p:nvSpPr>
            <p:cNvPr id="72" name="object 72"/>
            <p:cNvSpPr txBox="1"/>
            <p:nvPr/>
          </p:nvSpPr>
          <p:spPr>
            <a:xfrm>
              <a:off x="2933304" y="3072983"/>
              <a:ext cx="406213" cy="215609"/>
            </a:xfrm>
            <a:prstGeom prst="rect">
              <a:avLst/>
            </a:prstGeom>
            <a:ln w="30479">
              <a:solidFill>
                <a:srgbClr val="000000"/>
              </a:solidFill>
            </a:ln>
          </p:spPr>
          <p:txBody>
            <a:bodyPr vert="horz" wrap="square" lIns="0" tIns="52107" rIns="0" bIns="0" rtlCol="0">
              <a:spAutoFit/>
            </a:bodyPr>
            <a:lstStyle/>
            <a:p>
              <a:pPr marL="39223">
                <a:spcBef>
                  <a:spcPts val="410"/>
                </a:spcBef>
              </a:pPr>
              <a:r>
                <a:rPr sz="1059" b="1" spc="-9" dirty="0">
                  <a:latin typeface="Times New Roman"/>
                  <a:cs typeface="Times New Roman"/>
                </a:rPr>
                <a:t>Ifetch</a:t>
              </a:r>
              <a:endParaRPr sz="1059">
                <a:latin typeface="Times New Roman"/>
                <a:cs typeface="Times New Roman"/>
              </a:endParaRPr>
            </a:p>
          </p:txBody>
        </p:sp>
        <p:grpSp>
          <p:nvGrpSpPr>
            <p:cNvPr id="73" name="object 73"/>
            <p:cNvGrpSpPr/>
            <p:nvPr/>
          </p:nvGrpSpPr>
          <p:grpSpPr>
            <a:xfrm>
              <a:off x="3441374" y="2913531"/>
              <a:ext cx="2929217" cy="640416"/>
              <a:chOff x="3747824" y="3302001"/>
              <a:chExt cx="3319779" cy="725805"/>
            </a:xfrm>
          </p:grpSpPr>
          <p:sp>
            <p:nvSpPr>
              <p:cNvPr id="74" name="object 74"/>
              <p:cNvSpPr/>
              <p:nvPr/>
            </p:nvSpPr>
            <p:spPr>
              <a:xfrm>
                <a:off x="4610309"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75" name="object 75"/>
              <p:cNvSpPr/>
              <p:nvPr/>
            </p:nvSpPr>
            <p:spPr>
              <a:xfrm>
                <a:off x="4610309"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76" name="object 76"/>
              <p:cNvSpPr/>
              <p:nvPr/>
            </p:nvSpPr>
            <p:spPr>
              <a:xfrm>
                <a:off x="6394799"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77" name="object 77"/>
              <p:cNvSpPr/>
              <p:nvPr/>
            </p:nvSpPr>
            <p:spPr>
              <a:xfrm>
                <a:off x="6394799"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78" name="object 78"/>
              <p:cNvSpPr/>
              <p:nvPr/>
            </p:nvSpPr>
            <p:spPr>
              <a:xfrm>
                <a:off x="3763064" y="3317241"/>
                <a:ext cx="92710" cy="695325"/>
              </a:xfrm>
              <a:custGeom>
                <a:avLst/>
                <a:gdLst/>
                <a:ahLst/>
                <a:cxnLst/>
                <a:rect l="l" t="t" r="r" b="b"/>
                <a:pathLst>
                  <a:path w="92710" h="695325">
                    <a:moveTo>
                      <a:pt x="92567" y="0"/>
                    </a:moveTo>
                    <a:lnTo>
                      <a:pt x="0" y="0"/>
                    </a:lnTo>
                    <a:lnTo>
                      <a:pt x="0" y="694987"/>
                    </a:lnTo>
                    <a:lnTo>
                      <a:pt x="92567" y="694987"/>
                    </a:lnTo>
                    <a:lnTo>
                      <a:pt x="92567" y="0"/>
                    </a:lnTo>
                    <a:close/>
                  </a:path>
                </a:pathLst>
              </a:custGeom>
              <a:solidFill>
                <a:srgbClr val="00FF00"/>
              </a:solidFill>
            </p:spPr>
            <p:txBody>
              <a:bodyPr wrap="square" lIns="0" tIns="0" rIns="0" bIns="0" rtlCol="0"/>
              <a:lstStyle/>
              <a:p>
                <a:endParaRPr sz="1588"/>
              </a:p>
            </p:txBody>
          </p:sp>
          <p:sp>
            <p:nvSpPr>
              <p:cNvPr id="79" name="object 79"/>
              <p:cNvSpPr/>
              <p:nvPr/>
            </p:nvSpPr>
            <p:spPr>
              <a:xfrm>
                <a:off x="3763064" y="3317241"/>
                <a:ext cx="92710" cy="695325"/>
              </a:xfrm>
              <a:custGeom>
                <a:avLst/>
                <a:gdLst/>
                <a:ahLst/>
                <a:cxnLst/>
                <a:rect l="l" t="t" r="r" b="b"/>
                <a:pathLst>
                  <a:path w="92710" h="695325">
                    <a:moveTo>
                      <a:pt x="0" y="0"/>
                    </a:moveTo>
                    <a:lnTo>
                      <a:pt x="92567" y="0"/>
                    </a:lnTo>
                    <a:lnTo>
                      <a:pt x="92567"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80" name="object 80"/>
              <p:cNvSpPr/>
              <p:nvPr/>
            </p:nvSpPr>
            <p:spPr>
              <a:xfrm>
                <a:off x="5463984" y="3321322"/>
                <a:ext cx="91440" cy="685800"/>
              </a:xfrm>
              <a:custGeom>
                <a:avLst/>
                <a:gdLst/>
                <a:ahLst/>
                <a:cxnLst/>
                <a:rect l="l" t="t" r="r" b="b"/>
                <a:pathLst>
                  <a:path w="91439" h="685800">
                    <a:moveTo>
                      <a:pt x="91281" y="0"/>
                    </a:moveTo>
                    <a:lnTo>
                      <a:pt x="0" y="0"/>
                    </a:lnTo>
                    <a:lnTo>
                      <a:pt x="0" y="685802"/>
                    </a:lnTo>
                    <a:lnTo>
                      <a:pt x="91281" y="685802"/>
                    </a:lnTo>
                    <a:lnTo>
                      <a:pt x="91281" y="0"/>
                    </a:lnTo>
                    <a:close/>
                  </a:path>
                </a:pathLst>
              </a:custGeom>
              <a:solidFill>
                <a:srgbClr val="00FF00"/>
              </a:solidFill>
            </p:spPr>
            <p:txBody>
              <a:bodyPr wrap="square" lIns="0" tIns="0" rIns="0" bIns="0" rtlCol="0"/>
              <a:lstStyle/>
              <a:p>
                <a:endParaRPr sz="1588"/>
              </a:p>
            </p:txBody>
          </p:sp>
          <p:sp>
            <p:nvSpPr>
              <p:cNvPr id="81" name="object 81"/>
              <p:cNvSpPr/>
              <p:nvPr/>
            </p:nvSpPr>
            <p:spPr>
              <a:xfrm>
                <a:off x="5463984" y="3321322"/>
                <a:ext cx="91440" cy="685800"/>
              </a:xfrm>
              <a:custGeom>
                <a:avLst/>
                <a:gdLst/>
                <a:ahLst/>
                <a:cxnLst/>
                <a:rect l="l" t="t" r="r" b="b"/>
                <a:pathLst>
                  <a:path w="91439" h="685800">
                    <a:moveTo>
                      <a:pt x="0" y="0"/>
                    </a:moveTo>
                    <a:lnTo>
                      <a:pt x="91281" y="0"/>
                    </a:lnTo>
                    <a:lnTo>
                      <a:pt x="91281"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82" name="object 82"/>
              <p:cNvSpPr/>
              <p:nvPr/>
            </p:nvSpPr>
            <p:spPr>
              <a:xfrm>
                <a:off x="6590794" y="3468530"/>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83" name="object 83"/>
              <p:cNvSpPr/>
              <p:nvPr/>
            </p:nvSpPr>
            <p:spPr>
              <a:xfrm>
                <a:off x="6590794" y="3468529"/>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84" name="object 84"/>
            <p:cNvSpPr txBox="1"/>
            <p:nvPr/>
          </p:nvSpPr>
          <p:spPr>
            <a:xfrm>
              <a:off x="6035756" y="310044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85" name="object 85"/>
            <p:cNvGrpSpPr/>
            <p:nvPr/>
          </p:nvGrpSpPr>
          <p:grpSpPr>
            <a:xfrm>
              <a:off x="4462515" y="3792347"/>
              <a:ext cx="430306" cy="351304"/>
              <a:chOff x="4905117" y="4297993"/>
              <a:chExt cx="487680" cy="398145"/>
            </a:xfrm>
          </p:grpSpPr>
          <p:sp>
            <p:nvSpPr>
              <p:cNvPr id="86" name="object 86"/>
              <p:cNvSpPr/>
              <p:nvPr/>
            </p:nvSpPr>
            <p:spPr>
              <a:xfrm>
                <a:off x="5148934" y="4313233"/>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87" name="object 87"/>
              <p:cNvSpPr/>
              <p:nvPr/>
            </p:nvSpPr>
            <p:spPr>
              <a:xfrm>
                <a:off x="4920357" y="4313233"/>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88" name="object 88"/>
            <p:cNvSpPr txBox="1"/>
            <p:nvPr/>
          </p:nvSpPr>
          <p:spPr>
            <a:xfrm>
              <a:off x="4558305" y="3845411"/>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89" name="object 89"/>
            <p:cNvGrpSpPr/>
            <p:nvPr/>
          </p:nvGrpSpPr>
          <p:grpSpPr>
            <a:xfrm>
              <a:off x="4867710" y="3696063"/>
              <a:ext cx="755837" cy="542925"/>
              <a:chOff x="5364338" y="4188871"/>
              <a:chExt cx="856615" cy="615315"/>
            </a:xfrm>
          </p:grpSpPr>
          <p:sp>
            <p:nvSpPr>
              <p:cNvPr id="90" name="object 90"/>
              <p:cNvSpPr/>
              <p:nvPr/>
            </p:nvSpPr>
            <p:spPr>
              <a:xfrm>
                <a:off x="5379578" y="4387301"/>
                <a:ext cx="504825" cy="219075"/>
              </a:xfrm>
              <a:custGeom>
                <a:avLst/>
                <a:gdLst/>
                <a:ahLst/>
                <a:cxnLst/>
                <a:rect l="l" t="t" r="r" b="b"/>
                <a:pathLst>
                  <a:path w="504825" h="219075">
                    <a:moveTo>
                      <a:pt x="175571" y="0"/>
                    </a:moveTo>
                    <a:lnTo>
                      <a:pt x="504730" y="0"/>
                    </a:lnTo>
                  </a:path>
                  <a:path w="504825" h="219075">
                    <a:moveTo>
                      <a:pt x="0" y="0"/>
                    </a:moveTo>
                    <a:lnTo>
                      <a:pt x="83117" y="0"/>
                    </a:lnTo>
                  </a:path>
                  <a:path w="504825" h="219075">
                    <a:moveTo>
                      <a:pt x="175571" y="219055"/>
                    </a:moveTo>
                    <a:lnTo>
                      <a:pt x="504730" y="219055"/>
                    </a:lnTo>
                  </a:path>
                  <a:path w="504825" h="219075">
                    <a:moveTo>
                      <a:pt x="0" y="219055"/>
                    </a:moveTo>
                    <a:lnTo>
                      <a:pt x="83117" y="219055"/>
                    </a:lnTo>
                  </a:path>
                </a:pathLst>
              </a:custGeom>
              <a:ln w="30481">
                <a:solidFill>
                  <a:srgbClr val="000000"/>
                </a:solidFill>
              </a:ln>
            </p:spPr>
            <p:txBody>
              <a:bodyPr wrap="square" lIns="0" tIns="0" rIns="0" bIns="0" rtlCol="0"/>
              <a:lstStyle/>
              <a:p>
                <a:endParaRPr sz="1588"/>
              </a:p>
            </p:txBody>
          </p:sp>
          <p:sp>
            <p:nvSpPr>
              <p:cNvPr id="91" name="object 91"/>
              <p:cNvSpPr/>
              <p:nvPr/>
            </p:nvSpPr>
            <p:spPr>
              <a:xfrm>
                <a:off x="5819092" y="4204111"/>
                <a:ext cx="386715" cy="584835"/>
              </a:xfrm>
              <a:custGeom>
                <a:avLst/>
                <a:gdLst/>
                <a:ahLst/>
                <a:cxnLst/>
                <a:rect l="l" t="t" r="r" b="b"/>
                <a:pathLst>
                  <a:path w="386714" h="584835">
                    <a:moveTo>
                      <a:pt x="0" y="0"/>
                    </a:moveTo>
                    <a:lnTo>
                      <a:pt x="0" y="584672"/>
                    </a:lnTo>
                    <a:lnTo>
                      <a:pt x="386417" y="438504"/>
                    </a:lnTo>
                    <a:lnTo>
                      <a:pt x="386417" y="146168"/>
                    </a:lnTo>
                    <a:lnTo>
                      <a:pt x="0" y="0"/>
                    </a:lnTo>
                    <a:close/>
                  </a:path>
                </a:pathLst>
              </a:custGeom>
              <a:solidFill>
                <a:srgbClr val="FFFFFF"/>
              </a:solidFill>
            </p:spPr>
            <p:txBody>
              <a:bodyPr wrap="square" lIns="0" tIns="0" rIns="0" bIns="0" rtlCol="0"/>
              <a:lstStyle/>
              <a:p>
                <a:endParaRPr sz="1588"/>
              </a:p>
            </p:txBody>
          </p:sp>
          <p:sp>
            <p:nvSpPr>
              <p:cNvPr id="92" name="object 92"/>
              <p:cNvSpPr/>
              <p:nvPr/>
            </p:nvSpPr>
            <p:spPr>
              <a:xfrm>
                <a:off x="5819092" y="4204111"/>
                <a:ext cx="386715" cy="584835"/>
              </a:xfrm>
              <a:custGeom>
                <a:avLst/>
                <a:gdLst/>
                <a:ahLst/>
                <a:cxnLst/>
                <a:rect l="l" t="t" r="r" b="b"/>
                <a:pathLst>
                  <a:path w="386714"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93" name="object 93"/>
              <p:cNvSpPr/>
              <p:nvPr/>
            </p:nvSpPr>
            <p:spPr>
              <a:xfrm>
                <a:off x="5793292" y="4402429"/>
                <a:ext cx="207010" cy="189230"/>
              </a:xfrm>
              <a:custGeom>
                <a:avLst/>
                <a:gdLst/>
                <a:ahLst/>
                <a:cxnLst/>
                <a:rect l="l" t="t" r="r" b="b"/>
                <a:pathLst>
                  <a:path w="207010" h="189229">
                    <a:moveTo>
                      <a:pt x="0" y="0"/>
                    </a:moveTo>
                    <a:lnTo>
                      <a:pt x="0" y="188799"/>
                    </a:lnTo>
                    <a:lnTo>
                      <a:pt x="206395" y="94399"/>
                    </a:lnTo>
                    <a:lnTo>
                      <a:pt x="0" y="0"/>
                    </a:lnTo>
                    <a:close/>
                  </a:path>
                </a:pathLst>
              </a:custGeom>
              <a:solidFill>
                <a:srgbClr val="FFFFFF"/>
              </a:solidFill>
            </p:spPr>
            <p:txBody>
              <a:bodyPr wrap="square" lIns="0" tIns="0" rIns="0" bIns="0" rtlCol="0"/>
              <a:lstStyle/>
              <a:p>
                <a:endParaRPr sz="1588"/>
              </a:p>
            </p:txBody>
          </p:sp>
          <p:sp>
            <p:nvSpPr>
              <p:cNvPr id="94" name="object 94"/>
              <p:cNvSpPr/>
              <p:nvPr/>
            </p:nvSpPr>
            <p:spPr>
              <a:xfrm>
                <a:off x="5819091" y="4413468"/>
                <a:ext cx="159385" cy="166370"/>
              </a:xfrm>
              <a:custGeom>
                <a:avLst/>
                <a:gdLst/>
                <a:ahLst/>
                <a:cxnLst/>
                <a:rect l="l" t="t" r="r" b="b"/>
                <a:pathLst>
                  <a:path w="159385"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95" name="object 95"/>
            <p:cNvSpPr txBox="1"/>
            <p:nvPr/>
          </p:nvSpPr>
          <p:spPr>
            <a:xfrm>
              <a:off x="5398989" y="380660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96" name="object 96"/>
            <p:cNvGrpSpPr/>
            <p:nvPr/>
          </p:nvGrpSpPr>
          <p:grpSpPr>
            <a:xfrm>
              <a:off x="5599619" y="3793736"/>
              <a:ext cx="1116666" cy="349624"/>
              <a:chOff x="6193834" y="4299568"/>
              <a:chExt cx="1265555" cy="396240"/>
            </a:xfrm>
          </p:grpSpPr>
          <p:sp>
            <p:nvSpPr>
              <p:cNvPr id="97" name="object 97"/>
              <p:cNvSpPr/>
              <p:nvPr/>
            </p:nvSpPr>
            <p:spPr>
              <a:xfrm>
                <a:off x="6209074" y="4497617"/>
                <a:ext cx="1235075" cy="0"/>
              </a:xfrm>
              <a:custGeom>
                <a:avLst/>
                <a:gdLst/>
                <a:ahLst/>
                <a:cxnLst/>
                <a:rect l="l" t="t" r="r" b="b"/>
                <a:pathLst>
                  <a:path w="1235075">
                    <a:moveTo>
                      <a:pt x="0" y="0"/>
                    </a:moveTo>
                    <a:lnTo>
                      <a:pt x="183290" y="0"/>
                    </a:lnTo>
                  </a:path>
                  <a:path w="1235075">
                    <a:moveTo>
                      <a:pt x="274459" y="0"/>
                    </a:moveTo>
                    <a:lnTo>
                      <a:pt x="372009" y="0"/>
                    </a:lnTo>
                  </a:path>
                  <a:path w="1235075">
                    <a:moveTo>
                      <a:pt x="1123231" y="0"/>
                    </a:moveTo>
                    <a:lnTo>
                      <a:pt x="1234934" y="0"/>
                    </a:lnTo>
                  </a:path>
                  <a:path w="1235075">
                    <a:moveTo>
                      <a:pt x="830145" y="0"/>
                    </a:moveTo>
                    <a:lnTo>
                      <a:pt x="1030777" y="0"/>
                    </a:lnTo>
                  </a:path>
                </a:pathLst>
              </a:custGeom>
              <a:ln w="30481">
                <a:solidFill>
                  <a:srgbClr val="000000"/>
                </a:solidFill>
              </a:ln>
            </p:spPr>
            <p:txBody>
              <a:bodyPr wrap="square" lIns="0" tIns="0" rIns="0" bIns="0" rtlCol="0"/>
              <a:lstStyle/>
              <a:p>
                <a:endParaRPr sz="1588"/>
              </a:p>
            </p:txBody>
          </p:sp>
          <p:sp>
            <p:nvSpPr>
              <p:cNvPr id="98" name="object 98"/>
              <p:cNvSpPr/>
              <p:nvPr/>
            </p:nvSpPr>
            <p:spPr>
              <a:xfrm>
                <a:off x="6581084" y="4314808"/>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99" name="object 99"/>
            <p:cNvSpPr txBox="1"/>
            <p:nvPr/>
          </p:nvSpPr>
          <p:spPr>
            <a:xfrm>
              <a:off x="5934944" y="3848099"/>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100" name="object 100"/>
            <p:cNvGrpSpPr/>
            <p:nvPr/>
          </p:nvGrpSpPr>
          <p:grpSpPr>
            <a:xfrm>
              <a:off x="4078732" y="3857701"/>
              <a:ext cx="2438960" cy="381559"/>
              <a:chOff x="4470162" y="4372061"/>
              <a:chExt cx="2764155" cy="432434"/>
            </a:xfrm>
          </p:grpSpPr>
          <p:sp>
            <p:nvSpPr>
              <p:cNvPr id="101" name="object 101"/>
              <p:cNvSpPr/>
              <p:nvPr/>
            </p:nvSpPr>
            <p:spPr>
              <a:xfrm>
                <a:off x="6531771" y="4497617"/>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102" name="object 102"/>
              <p:cNvSpPr/>
              <p:nvPr/>
            </p:nvSpPr>
            <p:spPr>
              <a:xfrm>
                <a:off x="4485402" y="4387301"/>
                <a:ext cx="434975" cy="220979"/>
              </a:xfrm>
              <a:custGeom>
                <a:avLst/>
                <a:gdLst/>
                <a:ahLst/>
                <a:cxnLst/>
                <a:rect l="l" t="t" r="r" b="b"/>
                <a:pathLst>
                  <a:path w="434975" h="220979">
                    <a:moveTo>
                      <a:pt x="0" y="220632"/>
                    </a:moveTo>
                    <a:lnTo>
                      <a:pt x="124669" y="220632"/>
                    </a:lnTo>
                  </a:path>
                  <a:path w="434975" h="220979">
                    <a:moveTo>
                      <a:pt x="217123" y="220632"/>
                    </a:moveTo>
                    <a:lnTo>
                      <a:pt x="434955" y="220632"/>
                    </a:lnTo>
                  </a:path>
                  <a:path w="434975" h="220979">
                    <a:moveTo>
                      <a:pt x="217123" y="0"/>
                    </a:moveTo>
                    <a:lnTo>
                      <a:pt x="432886" y="0"/>
                    </a:lnTo>
                  </a:path>
                  <a:path w="434975" h="220979">
                    <a:moveTo>
                      <a:pt x="0" y="0"/>
                    </a:moveTo>
                    <a:lnTo>
                      <a:pt x="124669" y="0"/>
                    </a:lnTo>
                  </a:path>
                </a:pathLst>
              </a:custGeom>
              <a:ln w="30481">
                <a:solidFill>
                  <a:srgbClr val="000000"/>
                </a:solidFill>
              </a:ln>
            </p:spPr>
            <p:txBody>
              <a:bodyPr wrap="square" lIns="0" tIns="0" rIns="0" bIns="0" rtlCol="0"/>
              <a:lstStyle/>
              <a:p>
                <a:endParaRPr sz="1588"/>
              </a:p>
            </p:txBody>
          </p:sp>
        </p:grpSp>
        <p:sp>
          <p:nvSpPr>
            <p:cNvPr id="103" name="object 103"/>
            <p:cNvSpPr txBox="1"/>
            <p:nvPr/>
          </p:nvSpPr>
          <p:spPr>
            <a:xfrm>
              <a:off x="3686140" y="3807184"/>
              <a:ext cx="406213" cy="215609"/>
            </a:xfrm>
            <a:prstGeom prst="rect">
              <a:avLst/>
            </a:prstGeom>
            <a:ln w="30479">
              <a:solidFill>
                <a:srgbClr val="000000"/>
              </a:solidFill>
            </a:ln>
          </p:spPr>
          <p:txBody>
            <a:bodyPr vert="horz" wrap="square" lIns="0" tIns="52107" rIns="0" bIns="0" rtlCol="0">
              <a:spAutoFit/>
            </a:bodyPr>
            <a:lstStyle/>
            <a:p>
              <a:pPr marL="39223">
                <a:spcBef>
                  <a:spcPts val="410"/>
                </a:spcBef>
              </a:pPr>
              <a:r>
                <a:rPr sz="1059" b="1" spc="-9" dirty="0">
                  <a:latin typeface="Times New Roman"/>
                  <a:cs typeface="Times New Roman"/>
                </a:rPr>
                <a:t>Ifetch</a:t>
              </a:r>
              <a:endParaRPr sz="1059">
                <a:latin typeface="Times New Roman"/>
                <a:cs typeface="Times New Roman"/>
              </a:endParaRPr>
            </a:p>
          </p:txBody>
        </p:sp>
        <p:grpSp>
          <p:nvGrpSpPr>
            <p:cNvPr id="104" name="object 104"/>
            <p:cNvGrpSpPr/>
            <p:nvPr/>
          </p:nvGrpSpPr>
          <p:grpSpPr>
            <a:xfrm>
              <a:off x="4188734" y="3647732"/>
              <a:ext cx="2934820" cy="640416"/>
              <a:chOff x="4594831" y="4134096"/>
              <a:chExt cx="3326129" cy="725805"/>
            </a:xfrm>
          </p:grpSpPr>
          <p:sp>
            <p:nvSpPr>
              <p:cNvPr id="105" name="object 105"/>
              <p:cNvSpPr/>
              <p:nvPr/>
            </p:nvSpPr>
            <p:spPr>
              <a:xfrm>
                <a:off x="5462696" y="4149336"/>
                <a:ext cx="92710" cy="695325"/>
              </a:xfrm>
              <a:custGeom>
                <a:avLst/>
                <a:gdLst/>
                <a:ahLst/>
                <a:cxnLst/>
                <a:rect l="l" t="t" r="r" b="b"/>
                <a:pathLst>
                  <a:path w="92710"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106" name="object 106"/>
              <p:cNvSpPr/>
              <p:nvPr/>
            </p:nvSpPr>
            <p:spPr>
              <a:xfrm>
                <a:off x="5462696" y="4149336"/>
                <a:ext cx="92710" cy="695325"/>
              </a:xfrm>
              <a:custGeom>
                <a:avLst/>
                <a:gdLst/>
                <a:ahLst/>
                <a:cxnLst/>
                <a:rect l="l" t="t" r="r" b="b"/>
                <a:pathLst>
                  <a:path w="92710"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07" name="object 107"/>
              <p:cNvSpPr/>
              <p:nvPr/>
            </p:nvSpPr>
            <p:spPr>
              <a:xfrm>
                <a:off x="7239852" y="4149336"/>
                <a:ext cx="92710" cy="695325"/>
              </a:xfrm>
              <a:custGeom>
                <a:avLst/>
                <a:gdLst/>
                <a:ahLst/>
                <a:cxnLst/>
                <a:rect l="l" t="t" r="r" b="b"/>
                <a:pathLst>
                  <a:path w="92709"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108" name="object 108"/>
              <p:cNvSpPr/>
              <p:nvPr/>
            </p:nvSpPr>
            <p:spPr>
              <a:xfrm>
                <a:off x="7239852" y="4149336"/>
                <a:ext cx="92710" cy="695325"/>
              </a:xfrm>
              <a:custGeom>
                <a:avLst/>
                <a:gdLst/>
                <a:ahLst/>
                <a:cxnLst/>
                <a:rect l="l" t="t" r="r" b="b"/>
                <a:pathLst>
                  <a:path w="92709"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09" name="object 109"/>
              <p:cNvSpPr/>
              <p:nvPr/>
            </p:nvSpPr>
            <p:spPr>
              <a:xfrm>
                <a:off x="4610071" y="4149336"/>
                <a:ext cx="92710" cy="695325"/>
              </a:xfrm>
              <a:custGeom>
                <a:avLst/>
                <a:gdLst/>
                <a:ahLst/>
                <a:cxnLst/>
                <a:rect l="l" t="t" r="r" b="b"/>
                <a:pathLst>
                  <a:path w="92710" h="695325">
                    <a:moveTo>
                      <a:pt x="92453" y="0"/>
                    </a:moveTo>
                    <a:lnTo>
                      <a:pt x="0" y="0"/>
                    </a:lnTo>
                    <a:lnTo>
                      <a:pt x="0" y="694987"/>
                    </a:lnTo>
                    <a:lnTo>
                      <a:pt x="92453" y="694987"/>
                    </a:lnTo>
                    <a:lnTo>
                      <a:pt x="92453" y="0"/>
                    </a:lnTo>
                    <a:close/>
                  </a:path>
                </a:pathLst>
              </a:custGeom>
              <a:solidFill>
                <a:srgbClr val="00FF00"/>
              </a:solidFill>
            </p:spPr>
            <p:txBody>
              <a:bodyPr wrap="square" lIns="0" tIns="0" rIns="0" bIns="0" rtlCol="0"/>
              <a:lstStyle/>
              <a:p>
                <a:endParaRPr sz="1588"/>
              </a:p>
            </p:txBody>
          </p:sp>
          <p:sp>
            <p:nvSpPr>
              <p:cNvPr id="110" name="object 110"/>
              <p:cNvSpPr/>
              <p:nvPr/>
            </p:nvSpPr>
            <p:spPr>
              <a:xfrm>
                <a:off x="4610071" y="4149336"/>
                <a:ext cx="92710" cy="695325"/>
              </a:xfrm>
              <a:custGeom>
                <a:avLst/>
                <a:gdLst/>
                <a:ahLst/>
                <a:cxnLst/>
                <a:rect l="l" t="t" r="r" b="b"/>
                <a:pathLst>
                  <a:path w="92710" h="695325">
                    <a:moveTo>
                      <a:pt x="0" y="0"/>
                    </a:moveTo>
                    <a:lnTo>
                      <a:pt x="92453" y="0"/>
                    </a:lnTo>
                    <a:lnTo>
                      <a:pt x="9245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11" name="object 111"/>
              <p:cNvSpPr/>
              <p:nvPr/>
            </p:nvSpPr>
            <p:spPr>
              <a:xfrm>
                <a:off x="6392364" y="4153418"/>
                <a:ext cx="91440" cy="685800"/>
              </a:xfrm>
              <a:custGeom>
                <a:avLst/>
                <a:gdLst/>
                <a:ahLst/>
                <a:cxnLst/>
                <a:rect l="l" t="t" r="r" b="b"/>
                <a:pathLst>
                  <a:path w="91439" h="685800">
                    <a:moveTo>
                      <a:pt x="91169" y="0"/>
                    </a:moveTo>
                    <a:lnTo>
                      <a:pt x="0" y="0"/>
                    </a:lnTo>
                    <a:lnTo>
                      <a:pt x="0" y="685802"/>
                    </a:lnTo>
                    <a:lnTo>
                      <a:pt x="91169" y="685802"/>
                    </a:lnTo>
                    <a:lnTo>
                      <a:pt x="91169" y="0"/>
                    </a:lnTo>
                    <a:close/>
                  </a:path>
                </a:pathLst>
              </a:custGeom>
              <a:solidFill>
                <a:srgbClr val="00FF00"/>
              </a:solidFill>
            </p:spPr>
            <p:txBody>
              <a:bodyPr wrap="square" lIns="0" tIns="0" rIns="0" bIns="0" rtlCol="0"/>
              <a:lstStyle/>
              <a:p>
                <a:endParaRPr sz="1588"/>
              </a:p>
            </p:txBody>
          </p:sp>
          <p:sp>
            <p:nvSpPr>
              <p:cNvPr id="112" name="object 112"/>
              <p:cNvSpPr/>
              <p:nvPr/>
            </p:nvSpPr>
            <p:spPr>
              <a:xfrm>
                <a:off x="6392364" y="4153418"/>
                <a:ext cx="91440" cy="685800"/>
              </a:xfrm>
              <a:custGeom>
                <a:avLst/>
                <a:gdLst/>
                <a:ahLst/>
                <a:cxnLst/>
                <a:rect l="l" t="t" r="r" b="b"/>
                <a:pathLst>
                  <a:path w="91439" h="685800">
                    <a:moveTo>
                      <a:pt x="0" y="0"/>
                    </a:moveTo>
                    <a:lnTo>
                      <a:pt x="91169" y="0"/>
                    </a:lnTo>
                    <a:lnTo>
                      <a:pt x="91169"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13" name="object 113"/>
              <p:cNvSpPr/>
              <p:nvPr/>
            </p:nvSpPr>
            <p:spPr>
              <a:xfrm>
                <a:off x="7444008" y="4300625"/>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114" name="object 114"/>
              <p:cNvSpPr/>
              <p:nvPr/>
            </p:nvSpPr>
            <p:spPr>
              <a:xfrm>
                <a:off x="7444008" y="4300625"/>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115" name="object 115"/>
            <p:cNvSpPr txBox="1"/>
            <p:nvPr/>
          </p:nvSpPr>
          <p:spPr>
            <a:xfrm>
              <a:off x="6788592" y="383465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16" name="object 116"/>
            <p:cNvSpPr txBox="1"/>
            <p:nvPr/>
          </p:nvSpPr>
          <p:spPr>
            <a:xfrm>
              <a:off x="2086144"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1</a:t>
              </a:r>
              <a:endParaRPr sz="1324">
                <a:latin typeface="Times New Roman"/>
                <a:cs typeface="Times New Roman"/>
              </a:endParaRPr>
            </a:p>
          </p:txBody>
        </p:sp>
        <p:sp>
          <p:nvSpPr>
            <p:cNvPr id="117" name="object 117"/>
            <p:cNvSpPr txBox="1"/>
            <p:nvPr/>
          </p:nvSpPr>
          <p:spPr>
            <a:xfrm>
              <a:off x="5915907"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6</a:t>
              </a:r>
              <a:endParaRPr sz="1324">
                <a:latin typeface="Times New Roman"/>
                <a:cs typeface="Times New Roman"/>
              </a:endParaRPr>
            </a:p>
          </p:txBody>
        </p:sp>
        <p:sp>
          <p:nvSpPr>
            <p:cNvPr id="118" name="object 118"/>
            <p:cNvSpPr txBox="1"/>
            <p:nvPr/>
          </p:nvSpPr>
          <p:spPr>
            <a:xfrm>
              <a:off x="6669455"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7</a:t>
              </a:r>
              <a:endParaRPr sz="1324">
                <a:latin typeface="Times New Roman"/>
                <a:cs typeface="Times New Roman"/>
              </a:endParaRPr>
            </a:p>
          </p:txBody>
        </p:sp>
        <p:sp>
          <p:nvSpPr>
            <p:cNvPr id="119" name="object 119"/>
            <p:cNvSpPr txBox="1"/>
            <p:nvPr/>
          </p:nvSpPr>
          <p:spPr>
            <a:xfrm>
              <a:off x="2819017" y="1291813"/>
              <a:ext cx="2824443" cy="756712"/>
            </a:xfrm>
            <a:prstGeom prst="rect">
              <a:avLst/>
            </a:prstGeom>
          </p:spPr>
          <p:txBody>
            <a:bodyPr vert="horz" wrap="square" lIns="0" tIns="11206" rIns="0" bIns="0" rtlCol="0">
              <a:spAutoFit/>
            </a:bodyPr>
            <a:lstStyle/>
            <a:p>
              <a:pPr marL="876907">
                <a:spcBef>
                  <a:spcPts val="88"/>
                </a:spcBef>
              </a:pPr>
              <a:r>
                <a:rPr sz="1853" i="1" dirty="0">
                  <a:latin typeface="Times New Roman"/>
                  <a:cs typeface="Times New Roman"/>
                </a:rPr>
                <a:t>Time</a:t>
              </a:r>
              <a:r>
                <a:rPr sz="1853" i="1" spc="-18" dirty="0">
                  <a:latin typeface="Times New Roman"/>
                  <a:cs typeface="Times New Roman"/>
                </a:rPr>
                <a:t> </a:t>
              </a:r>
              <a:r>
                <a:rPr sz="1853" i="1" dirty="0">
                  <a:latin typeface="Times New Roman"/>
                  <a:cs typeface="Times New Roman"/>
                </a:rPr>
                <a:t>(clock</a:t>
              </a:r>
              <a:r>
                <a:rPr sz="1853" i="1" spc="-13" dirty="0">
                  <a:latin typeface="Times New Roman"/>
                  <a:cs typeface="Times New Roman"/>
                </a:rPr>
                <a:t> </a:t>
              </a:r>
              <a:r>
                <a:rPr sz="1853" i="1" spc="-9" dirty="0">
                  <a:latin typeface="Times New Roman"/>
                  <a:cs typeface="Times New Roman"/>
                </a:rPr>
                <a:t>cycles)</a:t>
              </a:r>
              <a:endParaRPr sz="1853">
                <a:latin typeface="Times New Roman"/>
                <a:cs typeface="Times New Roman"/>
              </a:endParaRPr>
            </a:p>
            <a:p>
              <a:pPr marL="11206">
                <a:spcBef>
                  <a:spcPts val="2012"/>
                </a:spcBef>
                <a:tabLst>
                  <a:tab pos="787816" algn="l"/>
                  <a:tab pos="1550977" algn="l"/>
                  <a:tab pos="2286682" algn="l"/>
                </a:tabLst>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2</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3</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4</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5</a:t>
              </a:r>
              <a:endParaRPr sz="1324">
                <a:latin typeface="Times New Roman"/>
                <a:cs typeface="Times New Roman"/>
              </a:endParaRPr>
            </a:p>
          </p:txBody>
        </p:sp>
        <p:grpSp>
          <p:nvGrpSpPr>
            <p:cNvPr id="120" name="object 120"/>
            <p:cNvGrpSpPr/>
            <p:nvPr/>
          </p:nvGrpSpPr>
          <p:grpSpPr>
            <a:xfrm>
              <a:off x="6037991" y="5258179"/>
              <a:ext cx="430306" cy="351304"/>
              <a:chOff x="6690657" y="5959269"/>
              <a:chExt cx="487680" cy="398145"/>
            </a:xfrm>
          </p:grpSpPr>
          <p:sp>
            <p:nvSpPr>
              <p:cNvPr id="121" name="object 121"/>
              <p:cNvSpPr/>
              <p:nvPr/>
            </p:nvSpPr>
            <p:spPr>
              <a:xfrm>
                <a:off x="6934474" y="5974509"/>
                <a:ext cx="228600" cy="363220"/>
              </a:xfrm>
              <a:custGeom>
                <a:avLst/>
                <a:gdLst/>
                <a:ahLst/>
                <a:cxnLst/>
                <a:rect l="l" t="t" r="r" b="b"/>
                <a:pathLst>
                  <a:path w="228600" h="363220">
                    <a:moveTo>
                      <a:pt x="228577" y="0"/>
                    </a:moveTo>
                    <a:lnTo>
                      <a:pt x="0" y="0"/>
                    </a:lnTo>
                    <a:lnTo>
                      <a:pt x="0" y="362943"/>
                    </a:lnTo>
                    <a:lnTo>
                      <a:pt x="228577" y="362943"/>
                    </a:lnTo>
                    <a:lnTo>
                      <a:pt x="228577" y="0"/>
                    </a:lnTo>
                    <a:close/>
                  </a:path>
                </a:pathLst>
              </a:custGeom>
              <a:solidFill>
                <a:srgbClr val="0099FF"/>
              </a:solidFill>
            </p:spPr>
            <p:txBody>
              <a:bodyPr wrap="square" lIns="0" tIns="0" rIns="0" bIns="0" rtlCol="0"/>
              <a:lstStyle/>
              <a:p>
                <a:endParaRPr sz="1588"/>
              </a:p>
            </p:txBody>
          </p:sp>
          <p:sp>
            <p:nvSpPr>
              <p:cNvPr id="122" name="object 122"/>
              <p:cNvSpPr/>
              <p:nvPr/>
            </p:nvSpPr>
            <p:spPr>
              <a:xfrm>
                <a:off x="6705897" y="5974509"/>
                <a:ext cx="457200" cy="367665"/>
              </a:xfrm>
              <a:custGeom>
                <a:avLst/>
                <a:gdLst/>
                <a:ahLst/>
                <a:cxnLst/>
                <a:rect l="l" t="t" r="r" b="b"/>
                <a:pathLst>
                  <a:path w="457200" h="367664">
                    <a:moveTo>
                      <a:pt x="0" y="0"/>
                    </a:moveTo>
                    <a:lnTo>
                      <a:pt x="457153" y="0"/>
                    </a:lnTo>
                    <a:lnTo>
                      <a:pt x="457153"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23" name="object 123"/>
            <p:cNvSpPr txBox="1"/>
            <p:nvPr/>
          </p:nvSpPr>
          <p:spPr>
            <a:xfrm>
              <a:off x="6133782" y="5311139"/>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24" name="object 124"/>
            <p:cNvGrpSpPr/>
            <p:nvPr/>
          </p:nvGrpSpPr>
          <p:grpSpPr>
            <a:xfrm>
              <a:off x="6443189" y="5161895"/>
              <a:ext cx="755837" cy="542925"/>
              <a:chOff x="7149880" y="5850147"/>
              <a:chExt cx="856615" cy="615315"/>
            </a:xfrm>
          </p:grpSpPr>
          <p:sp>
            <p:nvSpPr>
              <p:cNvPr id="125" name="object 125"/>
              <p:cNvSpPr/>
              <p:nvPr/>
            </p:nvSpPr>
            <p:spPr>
              <a:xfrm>
                <a:off x="7165120" y="6048578"/>
                <a:ext cx="504825" cy="219075"/>
              </a:xfrm>
              <a:custGeom>
                <a:avLst/>
                <a:gdLst/>
                <a:ahLst/>
                <a:cxnLst/>
                <a:rect l="l" t="t" r="r" b="b"/>
                <a:pathLst>
                  <a:path w="504825" h="219075">
                    <a:moveTo>
                      <a:pt x="0" y="0"/>
                    </a:moveTo>
                    <a:lnTo>
                      <a:pt x="81988" y="0"/>
                    </a:lnTo>
                  </a:path>
                  <a:path w="504825" h="219075">
                    <a:moveTo>
                      <a:pt x="174459" y="0"/>
                    </a:moveTo>
                    <a:lnTo>
                      <a:pt x="504730" y="0"/>
                    </a:lnTo>
                  </a:path>
                  <a:path w="504825" h="219075">
                    <a:moveTo>
                      <a:pt x="0" y="219054"/>
                    </a:moveTo>
                    <a:lnTo>
                      <a:pt x="81988" y="219054"/>
                    </a:lnTo>
                  </a:path>
                  <a:path w="504825" h="219075">
                    <a:moveTo>
                      <a:pt x="174459" y="219054"/>
                    </a:moveTo>
                    <a:lnTo>
                      <a:pt x="504730" y="219054"/>
                    </a:lnTo>
                  </a:path>
                </a:pathLst>
              </a:custGeom>
              <a:ln w="30481">
                <a:solidFill>
                  <a:srgbClr val="000000"/>
                </a:solidFill>
              </a:ln>
            </p:spPr>
            <p:txBody>
              <a:bodyPr wrap="square" lIns="0" tIns="0" rIns="0" bIns="0" rtlCol="0"/>
              <a:lstStyle/>
              <a:p>
                <a:endParaRPr sz="1588"/>
              </a:p>
            </p:txBody>
          </p:sp>
          <p:sp>
            <p:nvSpPr>
              <p:cNvPr id="126" name="object 126"/>
              <p:cNvSpPr/>
              <p:nvPr/>
            </p:nvSpPr>
            <p:spPr>
              <a:xfrm>
                <a:off x="7604633" y="5865388"/>
                <a:ext cx="386715" cy="584835"/>
              </a:xfrm>
              <a:custGeom>
                <a:avLst/>
                <a:gdLst/>
                <a:ahLst/>
                <a:cxnLst/>
                <a:rect l="l" t="t" r="r" b="b"/>
                <a:pathLst>
                  <a:path w="386715" h="584835">
                    <a:moveTo>
                      <a:pt x="0" y="0"/>
                    </a:moveTo>
                    <a:lnTo>
                      <a:pt x="0" y="584671"/>
                    </a:lnTo>
                    <a:lnTo>
                      <a:pt x="386417" y="438503"/>
                    </a:lnTo>
                    <a:lnTo>
                      <a:pt x="386417" y="146166"/>
                    </a:lnTo>
                    <a:lnTo>
                      <a:pt x="0" y="0"/>
                    </a:lnTo>
                    <a:close/>
                  </a:path>
                </a:pathLst>
              </a:custGeom>
              <a:solidFill>
                <a:srgbClr val="FFFFFF"/>
              </a:solidFill>
            </p:spPr>
            <p:txBody>
              <a:bodyPr wrap="square" lIns="0" tIns="0" rIns="0" bIns="0" rtlCol="0"/>
              <a:lstStyle/>
              <a:p>
                <a:endParaRPr sz="1588"/>
              </a:p>
            </p:txBody>
          </p:sp>
          <p:sp>
            <p:nvSpPr>
              <p:cNvPr id="127" name="object 127"/>
              <p:cNvSpPr/>
              <p:nvPr/>
            </p:nvSpPr>
            <p:spPr>
              <a:xfrm>
                <a:off x="7604633" y="5865387"/>
                <a:ext cx="386715" cy="584835"/>
              </a:xfrm>
              <a:custGeom>
                <a:avLst/>
                <a:gdLst/>
                <a:ahLst/>
                <a:cxnLst/>
                <a:rect l="l" t="t" r="r" b="b"/>
                <a:pathLst>
                  <a:path w="386715" h="584835">
                    <a:moveTo>
                      <a:pt x="0" y="584671"/>
                    </a:moveTo>
                    <a:lnTo>
                      <a:pt x="386418" y="438503"/>
                    </a:lnTo>
                    <a:lnTo>
                      <a:pt x="386418"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128" name="object 128"/>
              <p:cNvSpPr/>
              <p:nvPr/>
            </p:nvSpPr>
            <p:spPr>
              <a:xfrm>
                <a:off x="7578833" y="6063705"/>
                <a:ext cx="207010" cy="189230"/>
              </a:xfrm>
              <a:custGeom>
                <a:avLst/>
                <a:gdLst/>
                <a:ahLst/>
                <a:cxnLst/>
                <a:rect l="l" t="t" r="r" b="b"/>
                <a:pathLst>
                  <a:path w="207009" h="189229">
                    <a:moveTo>
                      <a:pt x="0" y="0"/>
                    </a:moveTo>
                    <a:lnTo>
                      <a:pt x="0" y="188799"/>
                    </a:lnTo>
                    <a:lnTo>
                      <a:pt x="206395" y="94400"/>
                    </a:lnTo>
                    <a:lnTo>
                      <a:pt x="0" y="0"/>
                    </a:lnTo>
                    <a:close/>
                  </a:path>
                </a:pathLst>
              </a:custGeom>
              <a:solidFill>
                <a:srgbClr val="FFFFFF"/>
              </a:solidFill>
            </p:spPr>
            <p:txBody>
              <a:bodyPr wrap="square" lIns="0" tIns="0" rIns="0" bIns="0" rtlCol="0"/>
              <a:lstStyle/>
              <a:p>
                <a:endParaRPr sz="1588"/>
              </a:p>
            </p:txBody>
          </p:sp>
          <p:sp>
            <p:nvSpPr>
              <p:cNvPr id="129" name="object 129"/>
              <p:cNvSpPr/>
              <p:nvPr/>
            </p:nvSpPr>
            <p:spPr>
              <a:xfrm>
                <a:off x="7604632" y="6074744"/>
                <a:ext cx="159385" cy="166370"/>
              </a:xfrm>
              <a:custGeom>
                <a:avLst/>
                <a:gdLst/>
                <a:ahLst/>
                <a:cxnLst/>
                <a:rect l="l" t="t" r="r" b="b"/>
                <a:pathLst>
                  <a:path w="159384" h="166370">
                    <a:moveTo>
                      <a:pt x="0" y="0"/>
                    </a:moveTo>
                    <a:lnTo>
                      <a:pt x="159383" y="82980"/>
                    </a:lnTo>
                    <a:lnTo>
                      <a:pt x="0" y="165961"/>
                    </a:lnTo>
                  </a:path>
                </a:pathLst>
              </a:custGeom>
              <a:ln w="30479">
                <a:solidFill>
                  <a:srgbClr val="000000"/>
                </a:solidFill>
              </a:ln>
            </p:spPr>
            <p:txBody>
              <a:bodyPr wrap="square" lIns="0" tIns="0" rIns="0" bIns="0" rtlCol="0"/>
              <a:lstStyle/>
              <a:p>
                <a:endParaRPr sz="1588"/>
              </a:p>
            </p:txBody>
          </p:sp>
        </p:grpSp>
        <p:sp>
          <p:nvSpPr>
            <p:cNvPr id="130" name="object 130"/>
            <p:cNvSpPr txBox="1"/>
            <p:nvPr/>
          </p:nvSpPr>
          <p:spPr>
            <a:xfrm>
              <a:off x="6974469" y="527233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31" name="object 131"/>
            <p:cNvGrpSpPr/>
            <p:nvPr/>
          </p:nvGrpSpPr>
          <p:grpSpPr>
            <a:xfrm>
              <a:off x="7175095" y="5259567"/>
              <a:ext cx="1116666" cy="349624"/>
              <a:chOff x="7979374" y="5960843"/>
              <a:chExt cx="1265555" cy="396240"/>
            </a:xfrm>
          </p:grpSpPr>
          <p:sp>
            <p:nvSpPr>
              <p:cNvPr id="132" name="object 132"/>
              <p:cNvSpPr/>
              <p:nvPr/>
            </p:nvSpPr>
            <p:spPr>
              <a:xfrm>
                <a:off x="7994614" y="6158893"/>
                <a:ext cx="1235075" cy="0"/>
              </a:xfrm>
              <a:custGeom>
                <a:avLst/>
                <a:gdLst/>
                <a:ahLst/>
                <a:cxnLst/>
                <a:rect l="l" t="t" r="r" b="b"/>
                <a:pathLst>
                  <a:path w="1235075">
                    <a:moveTo>
                      <a:pt x="0" y="0"/>
                    </a:moveTo>
                    <a:lnTo>
                      <a:pt x="107843" y="0"/>
                    </a:lnTo>
                  </a:path>
                  <a:path w="1235075">
                    <a:moveTo>
                      <a:pt x="199029" y="0"/>
                    </a:moveTo>
                    <a:lnTo>
                      <a:pt x="372009" y="0"/>
                    </a:lnTo>
                  </a:path>
                  <a:path w="1235075">
                    <a:moveTo>
                      <a:pt x="875003" y="0"/>
                    </a:moveTo>
                    <a:lnTo>
                      <a:pt x="1028693" y="0"/>
                    </a:lnTo>
                  </a:path>
                  <a:path w="1235075">
                    <a:moveTo>
                      <a:pt x="1121163" y="0"/>
                    </a:moveTo>
                    <a:lnTo>
                      <a:pt x="1234934" y="0"/>
                    </a:lnTo>
                  </a:path>
                </a:pathLst>
              </a:custGeom>
              <a:ln w="30481">
                <a:solidFill>
                  <a:srgbClr val="000000"/>
                </a:solidFill>
              </a:ln>
            </p:spPr>
            <p:txBody>
              <a:bodyPr wrap="square" lIns="0" tIns="0" rIns="0" bIns="0" rtlCol="0"/>
              <a:lstStyle/>
              <a:p>
                <a:endParaRPr sz="1588"/>
              </a:p>
            </p:txBody>
          </p:sp>
          <p:sp>
            <p:nvSpPr>
              <p:cNvPr id="133" name="object 133"/>
              <p:cNvSpPr/>
              <p:nvPr/>
            </p:nvSpPr>
            <p:spPr>
              <a:xfrm>
                <a:off x="8366623" y="5976083"/>
                <a:ext cx="458470" cy="365760"/>
              </a:xfrm>
              <a:custGeom>
                <a:avLst/>
                <a:gdLst/>
                <a:ahLst/>
                <a:cxnLst/>
                <a:rect l="l" t="t" r="r" b="b"/>
                <a:pathLst>
                  <a:path w="458470" h="365760">
                    <a:moveTo>
                      <a:pt x="0" y="0"/>
                    </a:moveTo>
                    <a:lnTo>
                      <a:pt x="458136" y="0"/>
                    </a:lnTo>
                    <a:lnTo>
                      <a:pt x="458136"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34" name="object 134"/>
            <p:cNvSpPr txBox="1"/>
            <p:nvPr/>
          </p:nvSpPr>
          <p:spPr>
            <a:xfrm>
              <a:off x="7510421" y="5313830"/>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135" name="object 135"/>
            <p:cNvGrpSpPr/>
            <p:nvPr/>
          </p:nvGrpSpPr>
          <p:grpSpPr>
            <a:xfrm>
              <a:off x="5654208" y="5323534"/>
              <a:ext cx="2438960" cy="381559"/>
              <a:chOff x="6255702" y="6033338"/>
              <a:chExt cx="2764155" cy="432434"/>
            </a:xfrm>
          </p:grpSpPr>
          <p:sp>
            <p:nvSpPr>
              <p:cNvPr id="136" name="object 136"/>
              <p:cNvSpPr/>
              <p:nvPr/>
            </p:nvSpPr>
            <p:spPr>
              <a:xfrm>
                <a:off x="8317311" y="6158892"/>
                <a:ext cx="687070" cy="292100"/>
              </a:xfrm>
              <a:custGeom>
                <a:avLst/>
                <a:gdLst/>
                <a:ahLst/>
                <a:cxnLst/>
                <a:rect l="l" t="t" r="r" b="b"/>
                <a:pathLst>
                  <a:path w="687070" h="292100">
                    <a:moveTo>
                      <a:pt x="0" y="0"/>
                    </a:moveTo>
                    <a:lnTo>
                      <a:pt x="0" y="291547"/>
                    </a:lnTo>
                    <a:lnTo>
                      <a:pt x="605967" y="291547"/>
                    </a:lnTo>
                    <a:lnTo>
                      <a:pt x="605967" y="109330"/>
                    </a:lnTo>
                    <a:lnTo>
                      <a:pt x="686763" y="109330"/>
                    </a:lnTo>
                  </a:path>
                </a:pathLst>
              </a:custGeom>
              <a:ln w="30479">
                <a:solidFill>
                  <a:srgbClr val="000000"/>
                </a:solidFill>
              </a:ln>
            </p:spPr>
            <p:txBody>
              <a:bodyPr wrap="square" lIns="0" tIns="0" rIns="0" bIns="0" rtlCol="0"/>
              <a:lstStyle/>
              <a:p>
                <a:endParaRPr sz="1588"/>
              </a:p>
            </p:txBody>
          </p:sp>
          <p:sp>
            <p:nvSpPr>
              <p:cNvPr id="137" name="object 137"/>
              <p:cNvSpPr/>
              <p:nvPr/>
            </p:nvSpPr>
            <p:spPr>
              <a:xfrm>
                <a:off x="6270942" y="6048578"/>
                <a:ext cx="434975" cy="220979"/>
              </a:xfrm>
              <a:custGeom>
                <a:avLst/>
                <a:gdLst/>
                <a:ahLst/>
                <a:cxnLst/>
                <a:rect l="l" t="t" r="r" b="b"/>
                <a:pathLst>
                  <a:path w="434975" h="220979">
                    <a:moveTo>
                      <a:pt x="217140" y="220630"/>
                    </a:moveTo>
                    <a:lnTo>
                      <a:pt x="434955" y="220630"/>
                    </a:lnTo>
                  </a:path>
                  <a:path w="434975" h="220979">
                    <a:moveTo>
                      <a:pt x="0" y="220630"/>
                    </a:moveTo>
                    <a:lnTo>
                      <a:pt x="124669" y="220630"/>
                    </a:lnTo>
                  </a:path>
                  <a:path w="434975" h="220979">
                    <a:moveTo>
                      <a:pt x="217140" y="0"/>
                    </a:moveTo>
                    <a:lnTo>
                      <a:pt x="432886" y="0"/>
                    </a:lnTo>
                  </a:path>
                  <a:path w="434975" h="220979">
                    <a:moveTo>
                      <a:pt x="0" y="0"/>
                    </a:moveTo>
                    <a:lnTo>
                      <a:pt x="124669" y="0"/>
                    </a:lnTo>
                  </a:path>
                </a:pathLst>
              </a:custGeom>
              <a:ln w="30481">
                <a:solidFill>
                  <a:srgbClr val="000000"/>
                </a:solidFill>
              </a:ln>
            </p:spPr>
            <p:txBody>
              <a:bodyPr wrap="square" lIns="0" tIns="0" rIns="0" bIns="0" rtlCol="0"/>
              <a:lstStyle/>
              <a:p>
                <a:endParaRPr sz="1588"/>
              </a:p>
            </p:txBody>
          </p:sp>
        </p:grpSp>
        <p:sp>
          <p:nvSpPr>
            <p:cNvPr id="138" name="object 138"/>
            <p:cNvSpPr txBox="1"/>
            <p:nvPr/>
          </p:nvSpPr>
          <p:spPr>
            <a:xfrm>
              <a:off x="5261617" y="5273015"/>
              <a:ext cx="406213" cy="215608"/>
            </a:xfrm>
            <a:prstGeom prst="rect">
              <a:avLst/>
            </a:prstGeom>
            <a:ln w="30479">
              <a:solidFill>
                <a:srgbClr val="000000"/>
              </a:solidFill>
            </a:ln>
          </p:spPr>
          <p:txBody>
            <a:bodyPr vert="horz" wrap="square" lIns="0" tIns="52106" rIns="0" bIns="0" rtlCol="0">
              <a:spAutoFit/>
            </a:bodyPr>
            <a:lstStyle/>
            <a:p>
              <a:pPr marL="39223">
                <a:spcBef>
                  <a:spcPts val="409"/>
                </a:spcBef>
              </a:pPr>
              <a:r>
                <a:rPr sz="1059" b="1" spc="-9" dirty="0">
                  <a:latin typeface="Times New Roman"/>
                  <a:cs typeface="Times New Roman"/>
                </a:rPr>
                <a:t>Ifetch</a:t>
              </a:r>
              <a:endParaRPr sz="1059">
                <a:latin typeface="Times New Roman"/>
                <a:cs typeface="Times New Roman"/>
              </a:endParaRPr>
            </a:p>
          </p:txBody>
        </p:sp>
        <p:grpSp>
          <p:nvGrpSpPr>
            <p:cNvPr id="139" name="object 139"/>
            <p:cNvGrpSpPr/>
            <p:nvPr/>
          </p:nvGrpSpPr>
          <p:grpSpPr>
            <a:xfrm>
              <a:off x="5764211" y="5113563"/>
              <a:ext cx="2934820" cy="640416"/>
              <a:chOff x="6380372" y="5795371"/>
              <a:chExt cx="3326129" cy="725805"/>
            </a:xfrm>
          </p:grpSpPr>
          <p:sp>
            <p:nvSpPr>
              <p:cNvPr id="140" name="object 140"/>
              <p:cNvSpPr/>
              <p:nvPr/>
            </p:nvSpPr>
            <p:spPr>
              <a:xfrm>
                <a:off x="7247109" y="5810611"/>
                <a:ext cx="92710" cy="695325"/>
              </a:xfrm>
              <a:custGeom>
                <a:avLst/>
                <a:gdLst/>
                <a:ahLst/>
                <a:cxnLst/>
                <a:rect l="l" t="t" r="r" b="b"/>
                <a:pathLst>
                  <a:path w="92709" h="695325">
                    <a:moveTo>
                      <a:pt x="92471" y="0"/>
                    </a:moveTo>
                    <a:lnTo>
                      <a:pt x="0" y="0"/>
                    </a:lnTo>
                    <a:lnTo>
                      <a:pt x="0" y="694987"/>
                    </a:lnTo>
                    <a:lnTo>
                      <a:pt x="92471" y="694987"/>
                    </a:lnTo>
                    <a:lnTo>
                      <a:pt x="92471" y="0"/>
                    </a:lnTo>
                    <a:close/>
                  </a:path>
                </a:pathLst>
              </a:custGeom>
              <a:solidFill>
                <a:srgbClr val="00FF00"/>
              </a:solidFill>
            </p:spPr>
            <p:txBody>
              <a:bodyPr wrap="square" lIns="0" tIns="0" rIns="0" bIns="0" rtlCol="0"/>
              <a:lstStyle/>
              <a:p>
                <a:endParaRPr sz="1588"/>
              </a:p>
            </p:txBody>
          </p:sp>
          <p:sp>
            <p:nvSpPr>
              <p:cNvPr id="141" name="object 141"/>
              <p:cNvSpPr/>
              <p:nvPr/>
            </p:nvSpPr>
            <p:spPr>
              <a:xfrm>
                <a:off x="7247109" y="5810611"/>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42" name="object 142"/>
              <p:cNvSpPr/>
              <p:nvPr/>
            </p:nvSpPr>
            <p:spPr>
              <a:xfrm>
                <a:off x="9023308" y="5810611"/>
                <a:ext cx="92710" cy="695325"/>
              </a:xfrm>
              <a:custGeom>
                <a:avLst/>
                <a:gdLst/>
                <a:ahLst/>
                <a:cxnLst/>
                <a:rect l="l" t="t" r="r" b="b"/>
                <a:pathLst>
                  <a:path w="92709" h="695325">
                    <a:moveTo>
                      <a:pt x="92469" y="0"/>
                    </a:moveTo>
                    <a:lnTo>
                      <a:pt x="0" y="0"/>
                    </a:lnTo>
                    <a:lnTo>
                      <a:pt x="0" y="694987"/>
                    </a:lnTo>
                    <a:lnTo>
                      <a:pt x="92469" y="694987"/>
                    </a:lnTo>
                    <a:lnTo>
                      <a:pt x="92469" y="0"/>
                    </a:lnTo>
                    <a:close/>
                  </a:path>
                </a:pathLst>
              </a:custGeom>
              <a:solidFill>
                <a:srgbClr val="00FF00"/>
              </a:solidFill>
            </p:spPr>
            <p:txBody>
              <a:bodyPr wrap="square" lIns="0" tIns="0" rIns="0" bIns="0" rtlCol="0"/>
              <a:lstStyle/>
              <a:p>
                <a:endParaRPr sz="1588"/>
              </a:p>
            </p:txBody>
          </p:sp>
          <p:sp>
            <p:nvSpPr>
              <p:cNvPr id="143" name="object 143"/>
              <p:cNvSpPr/>
              <p:nvPr/>
            </p:nvSpPr>
            <p:spPr>
              <a:xfrm>
                <a:off x="9023308" y="5810611"/>
                <a:ext cx="92710" cy="695325"/>
              </a:xfrm>
              <a:custGeom>
                <a:avLst/>
                <a:gdLst/>
                <a:ahLst/>
                <a:cxnLst/>
                <a:rect l="l" t="t" r="r" b="b"/>
                <a:pathLst>
                  <a:path w="92709"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44" name="object 144"/>
              <p:cNvSpPr/>
              <p:nvPr/>
            </p:nvSpPr>
            <p:spPr>
              <a:xfrm>
                <a:off x="6395612" y="5810611"/>
                <a:ext cx="92710" cy="695325"/>
              </a:xfrm>
              <a:custGeom>
                <a:avLst/>
                <a:gdLst/>
                <a:ahLst/>
                <a:cxnLst/>
                <a:rect l="l" t="t" r="r" b="b"/>
                <a:pathLst>
                  <a:path w="92710" h="695325">
                    <a:moveTo>
                      <a:pt x="92471" y="0"/>
                    </a:moveTo>
                    <a:lnTo>
                      <a:pt x="0" y="0"/>
                    </a:lnTo>
                    <a:lnTo>
                      <a:pt x="0" y="694987"/>
                    </a:lnTo>
                    <a:lnTo>
                      <a:pt x="92471" y="694987"/>
                    </a:lnTo>
                    <a:lnTo>
                      <a:pt x="92471" y="0"/>
                    </a:lnTo>
                    <a:close/>
                  </a:path>
                </a:pathLst>
              </a:custGeom>
              <a:solidFill>
                <a:srgbClr val="00FF00"/>
              </a:solidFill>
            </p:spPr>
            <p:txBody>
              <a:bodyPr wrap="square" lIns="0" tIns="0" rIns="0" bIns="0" rtlCol="0"/>
              <a:lstStyle/>
              <a:p>
                <a:endParaRPr sz="1588"/>
              </a:p>
            </p:txBody>
          </p:sp>
          <p:sp>
            <p:nvSpPr>
              <p:cNvPr id="145" name="object 145"/>
              <p:cNvSpPr/>
              <p:nvPr/>
            </p:nvSpPr>
            <p:spPr>
              <a:xfrm>
                <a:off x="6395612" y="5810611"/>
                <a:ext cx="92710" cy="695325"/>
              </a:xfrm>
              <a:custGeom>
                <a:avLst/>
                <a:gdLst/>
                <a:ahLst/>
                <a:cxnLst/>
                <a:rect l="l" t="t" r="r" b="b"/>
                <a:pathLst>
                  <a:path w="92710" h="695325">
                    <a:moveTo>
                      <a:pt x="0" y="0"/>
                    </a:moveTo>
                    <a:lnTo>
                      <a:pt x="92470" y="0"/>
                    </a:lnTo>
                    <a:lnTo>
                      <a:pt x="9247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46" name="object 146"/>
              <p:cNvSpPr/>
              <p:nvPr/>
            </p:nvSpPr>
            <p:spPr>
              <a:xfrm>
                <a:off x="8102457" y="5814693"/>
                <a:ext cx="91440" cy="685800"/>
              </a:xfrm>
              <a:custGeom>
                <a:avLst/>
                <a:gdLst/>
                <a:ahLst/>
                <a:cxnLst/>
                <a:rect l="l" t="t" r="r" b="b"/>
                <a:pathLst>
                  <a:path w="91440" h="685800">
                    <a:moveTo>
                      <a:pt x="91185" y="0"/>
                    </a:moveTo>
                    <a:lnTo>
                      <a:pt x="0" y="0"/>
                    </a:lnTo>
                    <a:lnTo>
                      <a:pt x="0" y="685802"/>
                    </a:lnTo>
                    <a:lnTo>
                      <a:pt x="91185" y="685802"/>
                    </a:lnTo>
                    <a:lnTo>
                      <a:pt x="91185" y="0"/>
                    </a:lnTo>
                    <a:close/>
                  </a:path>
                </a:pathLst>
              </a:custGeom>
              <a:solidFill>
                <a:srgbClr val="00FF00"/>
              </a:solidFill>
            </p:spPr>
            <p:txBody>
              <a:bodyPr wrap="square" lIns="0" tIns="0" rIns="0" bIns="0" rtlCol="0"/>
              <a:lstStyle/>
              <a:p>
                <a:endParaRPr sz="1588"/>
              </a:p>
            </p:txBody>
          </p:sp>
          <p:sp>
            <p:nvSpPr>
              <p:cNvPr id="147" name="object 147"/>
              <p:cNvSpPr/>
              <p:nvPr/>
            </p:nvSpPr>
            <p:spPr>
              <a:xfrm>
                <a:off x="8102457" y="5814693"/>
                <a:ext cx="91440" cy="685800"/>
              </a:xfrm>
              <a:custGeom>
                <a:avLst/>
                <a:gdLst/>
                <a:ahLst/>
                <a:cxnLst/>
                <a:rect l="l" t="t" r="r" b="b"/>
                <a:pathLst>
                  <a:path w="91440" h="685800">
                    <a:moveTo>
                      <a:pt x="0" y="0"/>
                    </a:moveTo>
                    <a:lnTo>
                      <a:pt x="91186" y="0"/>
                    </a:lnTo>
                    <a:lnTo>
                      <a:pt x="91186"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48" name="object 148"/>
              <p:cNvSpPr/>
              <p:nvPr/>
            </p:nvSpPr>
            <p:spPr>
              <a:xfrm>
                <a:off x="9229548" y="5961900"/>
                <a:ext cx="231140" cy="363220"/>
              </a:xfrm>
              <a:custGeom>
                <a:avLst/>
                <a:gdLst/>
                <a:ahLst/>
                <a:cxnLst/>
                <a:rect l="l" t="t" r="r" b="b"/>
                <a:pathLst>
                  <a:path w="231140" h="363220">
                    <a:moveTo>
                      <a:pt x="230645" y="0"/>
                    </a:moveTo>
                    <a:lnTo>
                      <a:pt x="0" y="0"/>
                    </a:lnTo>
                    <a:lnTo>
                      <a:pt x="0" y="362942"/>
                    </a:lnTo>
                    <a:lnTo>
                      <a:pt x="230645" y="362942"/>
                    </a:lnTo>
                    <a:lnTo>
                      <a:pt x="230645" y="0"/>
                    </a:lnTo>
                    <a:close/>
                  </a:path>
                </a:pathLst>
              </a:custGeom>
              <a:solidFill>
                <a:srgbClr val="0099FF"/>
              </a:solidFill>
            </p:spPr>
            <p:txBody>
              <a:bodyPr wrap="square" lIns="0" tIns="0" rIns="0" bIns="0" rtlCol="0"/>
              <a:lstStyle/>
              <a:p>
                <a:endParaRPr sz="1588"/>
              </a:p>
            </p:txBody>
          </p:sp>
          <p:sp>
            <p:nvSpPr>
              <p:cNvPr id="149" name="object 149"/>
              <p:cNvSpPr/>
              <p:nvPr/>
            </p:nvSpPr>
            <p:spPr>
              <a:xfrm>
                <a:off x="9229548" y="5961900"/>
                <a:ext cx="461645" cy="367665"/>
              </a:xfrm>
              <a:custGeom>
                <a:avLst/>
                <a:gdLst/>
                <a:ahLst/>
                <a:cxnLst/>
                <a:rect l="l" t="t" r="r" b="b"/>
                <a:pathLst>
                  <a:path w="461645" h="367664">
                    <a:moveTo>
                      <a:pt x="461290" y="0"/>
                    </a:moveTo>
                    <a:lnTo>
                      <a:pt x="0" y="0"/>
                    </a:lnTo>
                    <a:lnTo>
                      <a:pt x="0" y="367192"/>
                    </a:lnTo>
                    <a:lnTo>
                      <a:pt x="461290" y="367192"/>
                    </a:lnTo>
                    <a:lnTo>
                      <a:pt x="461290" y="0"/>
                    </a:lnTo>
                    <a:close/>
                  </a:path>
                </a:pathLst>
              </a:custGeom>
              <a:ln w="30479">
                <a:solidFill>
                  <a:srgbClr val="000000"/>
                </a:solidFill>
              </a:ln>
            </p:spPr>
            <p:txBody>
              <a:bodyPr wrap="square" lIns="0" tIns="0" rIns="0" bIns="0" rtlCol="0"/>
              <a:lstStyle/>
              <a:p>
                <a:endParaRPr sz="1588"/>
              </a:p>
            </p:txBody>
          </p:sp>
        </p:grpSp>
        <p:sp>
          <p:nvSpPr>
            <p:cNvPr id="150" name="object 150"/>
            <p:cNvSpPr txBox="1"/>
            <p:nvPr/>
          </p:nvSpPr>
          <p:spPr>
            <a:xfrm>
              <a:off x="8364068" y="530038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51" name="object 151"/>
            <p:cNvGrpSpPr/>
            <p:nvPr/>
          </p:nvGrpSpPr>
          <p:grpSpPr>
            <a:xfrm>
              <a:off x="1967598" y="1634066"/>
              <a:ext cx="6177802" cy="4677335"/>
              <a:chOff x="2077544" y="1851941"/>
              <a:chExt cx="7001509" cy="5300980"/>
            </a:xfrm>
          </p:grpSpPr>
          <p:sp>
            <p:nvSpPr>
              <p:cNvPr id="152" name="object 152"/>
              <p:cNvSpPr/>
              <p:nvPr/>
            </p:nvSpPr>
            <p:spPr>
              <a:xfrm>
                <a:off x="2945997"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53" name="object 153"/>
              <p:cNvSpPr/>
              <p:nvPr/>
            </p:nvSpPr>
            <p:spPr>
              <a:xfrm>
                <a:off x="3799211"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54" name="object 154"/>
              <p:cNvSpPr/>
              <p:nvPr/>
            </p:nvSpPr>
            <p:spPr>
              <a:xfrm>
                <a:off x="4652423"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55" name="object 155"/>
              <p:cNvSpPr/>
              <p:nvPr/>
            </p:nvSpPr>
            <p:spPr>
              <a:xfrm>
                <a:off x="6436414"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56" name="object 156"/>
              <p:cNvSpPr/>
              <p:nvPr/>
            </p:nvSpPr>
            <p:spPr>
              <a:xfrm>
                <a:off x="5505636"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57" name="object 157"/>
              <p:cNvSpPr/>
              <p:nvPr/>
            </p:nvSpPr>
            <p:spPr>
              <a:xfrm>
                <a:off x="7289627"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58" name="object 158"/>
              <p:cNvSpPr/>
              <p:nvPr/>
            </p:nvSpPr>
            <p:spPr>
              <a:xfrm>
                <a:off x="8142841"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59" name="object 159"/>
              <p:cNvSpPr/>
              <p:nvPr/>
            </p:nvSpPr>
            <p:spPr>
              <a:xfrm>
                <a:off x="2092784" y="1867181"/>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60" name="object 160"/>
              <p:cNvSpPr/>
              <p:nvPr/>
            </p:nvSpPr>
            <p:spPr>
              <a:xfrm>
                <a:off x="9063412" y="1878893"/>
                <a:ext cx="0" cy="5259070"/>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61" name="object 161"/>
              <p:cNvSpPr/>
              <p:nvPr/>
            </p:nvSpPr>
            <p:spPr>
              <a:xfrm>
                <a:off x="4694509" y="5026393"/>
                <a:ext cx="731520" cy="649605"/>
              </a:xfrm>
              <a:custGeom>
                <a:avLst/>
                <a:gdLst/>
                <a:ahLst/>
                <a:cxnLst/>
                <a:rect l="l" t="t" r="r" b="b"/>
                <a:pathLst>
                  <a:path w="731520" h="649604">
                    <a:moveTo>
                      <a:pt x="451055" y="0"/>
                    </a:moveTo>
                    <a:lnTo>
                      <a:pt x="422960" y="4464"/>
                    </a:lnTo>
                    <a:lnTo>
                      <a:pt x="398297" y="21356"/>
                    </a:lnTo>
                    <a:lnTo>
                      <a:pt x="380257" y="49385"/>
                    </a:lnTo>
                    <a:lnTo>
                      <a:pt x="375439" y="44042"/>
                    </a:lnTo>
                    <a:lnTo>
                      <a:pt x="370322" y="39141"/>
                    </a:lnTo>
                    <a:lnTo>
                      <a:pt x="364926" y="34701"/>
                    </a:lnTo>
                    <a:lnTo>
                      <a:pt x="359271" y="30739"/>
                    </a:lnTo>
                    <a:lnTo>
                      <a:pt x="324899" y="18357"/>
                    </a:lnTo>
                    <a:lnTo>
                      <a:pt x="290470" y="22749"/>
                    </a:lnTo>
                    <a:lnTo>
                      <a:pt x="259913" y="42458"/>
                    </a:lnTo>
                    <a:lnTo>
                      <a:pt x="237156" y="76026"/>
                    </a:lnTo>
                    <a:lnTo>
                      <a:pt x="219966" y="66070"/>
                    </a:lnTo>
                    <a:lnTo>
                      <a:pt x="201775" y="59736"/>
                    </a:lnTo>
                    <a:lnTo>
                      <a:pt x="182970" y="57119"/>
                    </a:lnTo>
                    <a:lnTo>
                      <a:pt x="163936" y="58312"/>
                    </a:lnTo>
                    <a:lnTo>
                      <a:pt x="121044" y="76341"/>
                    </a:lnTo>
                    <a:lnTo>
                      <a:pt x="88331" y="111641"/>
                    </a:lnTo>
                    <a:lnTo>
                      <a:pt x="68947" y="159204"/>
                    </a:lnTo>
                    <a:lnTo>
                      <a:pt x="66042" y="214020"/>
                    </a:lnTo>
                    <a:lnTo>
                      <a:pt x="65426" y="216046"/>
                    </a:lnTo>
                    <a:lnTo>
                      <a:pt x="19942" y="243027"/>
                    </a:lnTo>
                    <a:lnTo>
                      <a:pt x="0" y="293447"/>
                    </a:lnTo>
                    <a:lnTo>
                      <a:pt x="1788" y="327682"/>
                    </a:lnTo>
                    <a:lnTo>
                      <a:pt x="14001" y="358604"/>
                    </a:lnTo>
                    <a:lnTo>
                      <a:pt x="35792" y="382274"/>
                    </a:lnTo>
                    <a:lnTo>
                      <a:pt x="26135" y="397822"/>
                    </a:lnTo>
                    <a:lnTo>
                      <a:pt x="19560" y="415314"/>
                    </a:lnTo>
                    <a:lnTo>
                      <a:pt x="16245" y="434100"/>
                    </a:lnTo>
                    <a:lnTo>
                      <a:pt x="16367" y="453529"/>
                    </a:lnTo>
                    <a:lnTo>
                      <a:pt x="25479" y="487149"/>
                    </a:lnTo>
                    <a:lnTo>
                      <a:pt x="43929" y="513045"/>
                    </a:lnTo>
                    <a:lnTo>
                      <a:pt x="69081" y="528704"/>
                    </a:lnTo>
                    <a:lnTo>
                      <a:pt x="98299" y="531614"/>
                    </a:lnTo>
                    <a:lnTo>
                      <a:pt x="99681" y="534473"/>
                    </a:lnTo>
                    <a:lnTo>
                      <a:pt x="126681" y="573294"/>
                    </a:lnTo>
                    <a:lnTo>
                      <a:pt x="161075" y="599024"/>
                    </a:lnTo>
                    <a:lnTo>
                      <a:pt x="199908" y="610767"/>
                    </a:lnTo>
                    <a:lnTo>
                      <a:pt x="240225" y="607632"/>
                    </a:lnTo>
                    <a:lnTo>
                      <a:pt x="279072" y="588724"/>
                    </a:lnTo>
                    <a:lnTo>
                      <a:pt x="291389" y="607374"/>
                    </a:lnTo>
                    <a:lnTo>
                      <a:pt x="306048" y="623077"/>
                    </a:lnTo>
                    <a:lnTo>
                      <a:pt x="322698" y="635521"/>
                    </a:lnTo>
                    <a:lnTo>
                      <a:pt x="340991" y="644390"/>
                    </a:lnTo>
                    <a:lnTo>
                      <a:pt x="386189" y="649604"/>
                    </a:lnTo>
                    <a:lnTo>
                      <a:pt x="428072" y="633931"/>
                    </a:lnTo>
                    <a:lnTo>
                      <a:pt x="462055" y="600348"/>
                    </a:lnTo>
                    <a:lnTo>
                      <a:pt x="483551" y="551834"/>
                    </a:lnTo>
                    <a:lnTo>
                      <a:pt x="495460" y="559497"/>
                    </a:lnTo>
                    <a:lnTo>
                      <a:pt x="508067" y="565089"/>
                    </a:lnTo>
                    <a:lnTo>
                      <a:pt x="521189" y="568543"/>
                    </a:lnTo>
                    <a:lnTo>
                      <a:pt x="534640" y="569797"/>
                    </a:lnTo>
                    <a:lnTo>
                      <a:pt x="572831" y="560862"/>
                    </a:lnTo>
                    <a:lnTo>
                      <a:pt x="604136" y="535787"/>
                    </a:lnTo>
                    <a:lnTo>
                      <a:pt x="625379" y="498353"/>
                    </a:lnTo>
                    <a:lnTo>
                      <a:pt x="633383" y="452337"/>
                    </a:lnTo>
                    <a:lnTo>
                      <a:pt x="647801" y="448688"/>
                    </a:lnTo>
                    <a:lnTo>
                      <a:pt x="687024" y="425018"/>
                    </a:lnTo>
                    <a:lnTo>
                      <a:pt x="716947" y="383464"/>
                    </a:lnTo>
                    <a:lnTo>
                      <a:pt x="730892" y="333007"/>
                    </a:lnTo>
                    <a:lnTo>
                      <a:pt x="728178" y="279907"/>
                    </a:lnTo>
                    <a:lnTo>
                      <a:pt x="708127" y="230423"/>
                    </a:lnTo>
                    <a:lnTo>
                      <a:pt x="709780" y="225751"/>
                    </a:lnTo>
                    <a:lnTo>
                      <a:pt x="711161" y="220946"/>
                    </a:lnTo>
                    <a:lnTo>
                      <a:pt x="712263" y="216042"/>
                    </a:lnTo>
                    <a:lnTo>
                      <a:pt x="714650" y="172667"/>
                    </a:lnTo>
                    <a:lnTo>
                      <a:pt x="703518" y="132929"/>
                    </a:lnTo>
                    <a:lnTo>
                      <a:pt x="680907" y="101150"/>
                    </a:lnTo>
                    <a:lnTo>
                      <a:pt x="648855" y="81655"/>
                    </a:lnTo>
                    <a:lnTo>
                      <a:pt x="645137" y="65101"/>
                    </a:lnTo>
                    <a:lnTo>
                      <a:pt x="621092" y="23529"/>
                    </a:lnTo>
                    <a:lnTo>
                      <a:pt x="561153" y="322"/>
                    </a:lnTo>
                    <a:lnTo>
                      <a:pt x="530804" y="10636"/>
                    </a:lnTo>
                    <a:lnTo>
                      <a:pt x="505174" y="35067"/>
                    </a:lnTo>
                    <a:lnTo>
                      <a:pt x="499677" y="27304"/>
                    </a:lnTo>
                    <a:lnTo>
                      <a:pt x="493505" y="20372"/>
                    </a:lnTo>
                    <a:lnTo>
                      <a:pt x="486722" y="14334"/>
                    </a:lnTo>
                    <a:lnTo>
                      <a:pt x="479393" y="9255"/>
                    </a:lnTo>
                    <a:lnTo>
                      <a:pt x="451055" y="0"/>
                    </a:lnTo>
                    <a:close/>
                  </a:path>
                </a:pathLst>
              </a:custGeom>
              <a:solidFill>
                <a:srgbClr val="0FEFEA"/>
              </a:solidFill>
            </p:spPr>
            <p:txBody>
              <a:bodyPr wrap="square" lIns="0" tIns="0" rIns="0" bIns="0" rtlCol="0"/>
              <a:lstStyle/>
              <a:p>
                <a:endParaRPr sz="1588"/>
              </a:p>
            </p:txBody>
          </p:sp>
          <p:pic>
            <p:nvPicPr>
              <p:cNvPr id="162" name="object 162"/>
              <p:cNvPicPr/>
              <p:nvPr/>
            </p:nvPicPr>
            <p:blipFill>
              <a:blip r:embed="rId3" cstate="print"/>
              <a:stretch>
                <a:fillRect/>
              </a:stretch>
            </p:blipFill>
            <p:spPr>
              <a:xfrm>
                <a:off x="5275695" y="5525184"/>
                <a:ext cx="110802" cy="108372"/>
              </a:xfrm>
              <a:prstGeom prst="rect">
                <a:avLst/>
              </a:prstGeom>
            </p:spPr>
          </p:pic>
          <p:sp>
            <p:nvSpPr>
              <p:cNvPr id="163" name="object 163"/>
              <p:cNvSpPr/>
              <p:nvPr/>
            </p:nvSpPr>
            <p:spPr>
              <a:xfrm>
                <a:off x="4694509" y="5026393"/>
                <a:ext cx="731520" cy="649605"/>
              </a:xfrm>
              <a:custGeom>
                <a:avLst/>
                <a:gdLst/>
                <a:ahLst/>
                <a:cxnLst/>
                <a:rect l="l" t="t" r="r" b="b"/>
                <a:pathLst>
                  <a:path w="731520" h="649604">
                    <a:moveTo>
                      <a:pt x="66042" y="214021"/>
                    </a:moveTo>
                    <a:lnTo>
                      <a:pt x="68947" y="159204"/>
                    </a:lnTo>
                    <a:lnTo>
                      <a:pt x="88331" y="111641"/>
                    </a:lnTo>
                    <a:lnTo>
                      <a:pt x="121044" y="76341"/>
                    </a:lnTo>
                    <a:lnTo>
                      <a:pt x="163937" y="58312"/>
                    </a:lnTo>
                    <a:lnTo>
                      <a:pt x="182970" y="57119"/>
                    </a:lnTo>
                    <a:lnTo>
                      <a:pt x="201775" y="59736"/>
                    </a:lnTo>
                    <a:lnTo>
                      <a:pt x="219966" y="66070"/>
                    </a:lnTo>
                    <a:lnTo>
                      <a:pt x="237156" y="76026"/>
                    </a:lnTo>
                    <a:lnTo>
                      <a:pt x="259913" y="42458"/>
                    </a:lnTo>
                    <a:lnTo>
                      <a:pt x="290470" y="22749"/>
                    </a:lnTo>
                    <a:lnTo>
                      <a:pt x="324899" y="18357"/>
                    </a:lnTo>
                    <a:lnTo>
                      <a:pt x="359271" y="30739"/>
                    </a:lnTo>
                    <a:lnTo>
                      <a:pt x="364925" y="34701"/>
                    </a:lnTo>
                    <a:lnTo>
                      <a:pt x="370322" y="39141"/>
                    </a:lnTo>
                    <a:lnTo>
                      <a:pt x="375439" y="44042"/>
                    </a:lnTo>
                    <a:lnTo>
                      <a:pt x="380257" y="49385"/>
                    </a:lnTo>
                    <a:lnTo>
                      <a:pt x="398297" y="21356"/>
                    </a:lnTo>
                    <a:lnTo>
                      <a:pt x="422959" y="4463"/>
                    </a:lnTo>
                    <a:lnTo>
                      <a:pt x="451054" y="0"/>
                    </a:lnTo>
                    <a:lnTo>
                      <a:pt x="479392" y="9255"/>
                    </a:lnTo>
                    <a:lnTo>
                      <a:pt x="486722" y="14334"/>
                    </a:lnTo>
                    <a:lnTo>
                      <a:pt x="493505" y="20372"/>
                    </a:lnTo>
                    <a:lnTo>
                      <a:pt x="499676" y="27304"/>
                    </a:lnTo>
                    <a:lnTo>
                      <a:pt x="505173" y="35067"/>
                    </a:lnTo>
                    <a:lnTo>
                      <a:pt x="530803" y="10636"/>
                    </a:lnTo>
                    <a:lnTo>
                      <a:pt x="561152" y="322"/>
                    </a:lnTo>
                    <a:lnTo>
                      <a:pt x="592492" y="4496"/>
                    </a:lnTo>
                    <a:lnTo>
                      <a:pt x="621092" y="23529"/>
                    </a:lnTo>
                    <a:lnTo>
                      <a:pt x="631098" y="35708"/>
                    </a:lnTo>
                    <a:lnTo>
                      <a:pt x="639165" y="49675"/>
                    </a:lnTo>
                    <a:lnTo>
                      <a:pt x="645137" y="65101"/>
                    </a:lnTo>
                    <a:lnTo>
                      <a:pt x="648855" y="81655"/>
                    </a:lnTo>
                    <a:lnTo>
                      <a:pt x="680906" y="101150"/>
                    </a:lnTo>
                    <a:lnTo>
                      <a:pt x="703518" y="132929"/>
                    </a:lnTo>
                    <a:lnTo>
                      <a:pt x="714650" y="172667"/>
                    </a:lnTo>
                    <a:lnTo>
                      <a:pt x="712263" y="216042"/>
                    </a:lnTo>
                    <a:lnTo>
                      <a:pt x="711161" y="220946"/>
                    </a:lnTo>
                    <a:lnTo>
                      <a:pt x="709779" y="225752"/>
                    </a:lnTo>
                    <a:lnTo>
                      <a:pt x="708127" y="230423"/>
                    </a:lnTo>
                    <a:lnTo>
                      <a:pt x="728178" y="279907"/>
                    </a:lnTo>
                    <a:lnTo>
                      <a:pt x="730892" y="333007"/>
                    </a:lnTo>
                    <a:lnTo>
                      <a:pt x="716947" y="383464"/>
                    </a:lnTo>
                    <a:lnTo>
                      <a:pt x="687024" y="425018"/>
                    </a:lnTo>
                    <a:lnTo>
                      <a:pt x="647801" y="448688"/>
                    </a:lnTo>
                    <a:lnTo>
                      <a:pt x="633382" y="452337"/>
                    </a:lnTo>
                    <a:lnTo>
                      <a:pt x="625378" y="498353"/>
                    </a:lnTo>
                    <a:lnTo>
                      <a:pt x="604136" y="535787"/>
                    </a:lnTo>
                    <a:lnTo>
                      <a:pt x="572831" y="560861"/>
                    </a:lnTo>
                    <a:lnTo>
                      <a:pt x="534640" y="569797"/>
                    </a:lnTo>
                    <a:lnTo>
                      <a:pt x="521188" y="568543"/>
                    </a:lnTo>
                    <a:lnTo>
                      <a:pt x="508067" y="565088"/>
                    </a:lnTo>
                    <a:lnTo>
                      <a:pt x="495460" y="559497"/>
                    </a:lnTo>
                    <a:lnTo>
                      <a:pt x="483550" y="551834"/>
                    </a:lnTo>
                    <a:lnTo>
                      <a:pt x="462054" y="600348"/>
                    </a:lnTo>
                    <a:lnTo>
                      <a:pt x="428072" y="633931"/>
                    </a:lnTo>
                    <a:lnTo>
                      <a:pt x="386188" y="649604"/>
                    </a:lnTo>
                    <a:lnTo>
                      <a:pt x="340990" y="644391"/>
                    </a:lnTo>
                    <a:lnTo>
                      <a:pt x="322698" y="635521"/>
                    </a:lnTo>
                    <a:lnTo>
                      <a:pt x="306048" y="623077"/>
                    </a:lnTo>
                    <a:lnTo>
                      <a:pt x="291389" y="607374"/>
                    </a:lnTo>
                    <a:lnTo>
                      <a:pt x="279071" y="588724"/>
                    </a:lnTo>
                    <a:lnTo>
                      <a:pt x="240224" y="607632"/>
                    </a:lnTo>
                    <a:lnTo>
                      <a:pt x="199907" y="610768"/>
                    </a:lnTo>
                    <a:lnTo>
                      <a:pt x="161074" y="599024"/>
                    </a:lnTo>
                    <a:lnTo>
                      <a:pt x="126680" y="573294"/>
                    </a:lnTo>
                    <a:lnTo>
                      <a:pt x="99681" y="534473"/>
                    </a:lnTo>
                    <a:lnTo>
                      <a:pt x="98299" y="531615"/>
                    </a:lnTo>
                    <a:lnTo>
                      <a:pt x="69081" y="528704"/>
                    </a:lnTo>
                    <a:lnTo>
                      <a:pt x="43929" y="513045"/>
                    </a:lnTo>
                    <a:lnTo>
                      <a:pt x="25479" y="487149"/>
                    </a:lnTo>
                    <a:lnTo>
                      <a:pt x="16367" y="453529"/>
                    </a:lnTo>
                    <a:lnTo>
                      <a:pt x="16244" y="434101"/>
                    </a:lnTo>
                    <a:lnTo>
                      <a:pt x="19559" y="415314"/>
                    </a:lnTo>
                    <a:lnTo>
                      <a:pt x="26134" y="397822"/>
                    </a:lnTo>
                    <a:lnTo>
                      <a:pt x="35791" y="382274"/>
                    </a:lnTo>
                    <a:lnTo>
                      <a:pt x="14000" y="358604"/>
                    </a:lnTo>
                    <a:lnTo>
                      <a:pt x="1787" y="327682"/>
                    </a:lnTo>
                    <a:lnTo>
                      <a:pt x="0" y="293447"/>
                    </a:lnTo>
                    <a:lnTo>
                      <a:pt x="9483" y="259837"/>
                    </a:lnTo>
                    <a:lnTo>
                      <a:pt x="19942" y="243027"/>
                    </a:lnTo>
                    <a:lnTo>
                      <a:pt x="33152" y="229812"/>
                    </a:lnTo>
                    <a:lnTo>
                      <a:pt x="48513" y="220662"/>
                    </a:lnTo>
                    <a:lnTo>
                      <a:pt x="65426" y="216046"/>
                    </a:lnTo>
                    <a:lnTo>
                      <a:pt x="66042" y="214021"/>
                    </a:lnTo>
                    <a:close/>
                  </a:path>
                  <a:path w="731520" h="649604">
                    <a:moveTo>
                      <a:pt x="642460" y="541638"/>
                    </a:moveTo>
                    <a:lnTo>
                      <a:pt x="641041" y="548669"/>
                    </a:lnTo>
                    <a:lnTo>
                      <a:pt x="637170" y="554410"/>
                    </a:lnTo>
                    <a:lnTo>
                      <a:pt x="631429" y="558281"/>
                    </a:lnTo>
                    <a:lnTo>
                      <a:pt x="624398" y="559701"/>
                    </a:lnTo>
                    <a:lnTo>
                      <a:pt x="617367" y="558281"/>
                    </a:lnTo>
                    <a:lnTo>
                      <a:pt x="611626" y="554410"/>
                    </a:lnTo>
                    <a:lnTo>
                      <a:pt x="607755" y="548669"/>
                    </a:lnTo>
                    <a:lnTo>
                      <a:pt x="606336" y="541638"/>
                    </a:lnTo>
                    <a:lnTo>
                      <a:pt x="607755" y="534608"/>
                    </a:lnTo>
                    <a:lnTo>
                      <a:pt x="611626" y="528866"/>
                    </a:lnTo>
                    <a:lnTo>
                      <a:pt x="617367" y="524995"/>
                    </a:lnTo>
                    <a:lnTo>
                      <a:pt x="624398" y="523576"/>
                    </a:lnTo>
                    <a:lnTo>
                      <a:pt x="631429" y="524995"/>
                    </a:lnTo>
                    <a:lnTo>
                      <a:pt x="637170" y="528866"/>
                    </a:lnTo>
                    <a:lnTo>
                      <a:pt x="641041" y="534608"/>
                    </a:lnTo>
                    <a:lnTo>
                      <a:pt x="642460" y="541638"/>
                    </a:lnTo>
                    <a:close/>
                  </a:path>
                  <a:path w="731520" h="649604">
                    <a:moveTo>
                      <a:pt x="653435" y="535642"/>
                    </a:moveTo>
                    <a:lnTo>
                      <a:pt x="650596" y="549704"/>
                    </a:lnTo>
                    <a:lnTo>
                      <a:pt x="642854" y="561186"/>
                    </a:lnTo>
                    <a:lnTo>
                      <a:pt x="631371" y="568928"/>
                    </a:lnTo>
                    <a:lnTo>
                      <a:pt x="617310" y="571767"/>
                    </a:lnTo>
                    <a:lnTo>
                      <a:pt x="603249" y="568928"/>
                    </a:lnTo>
                    <a:lnTo>
                      <a:pt x="591766" y="561186"/>
                    </a:lnTo>
                    <a:lnTo>
                      <a:pt x="584024" y="549704"/>
                    </a:lnTo>
                    <a:lnTo>
                      <a:pt x="581185" y="535642"/>
                    </a:lnTo>
                    <a:lnTo>
                      <a:pt x="584024" y="521581"/>
                    </a:lnTo>
                    <a:lnTo>
                      <a:pt x="591766" y="510098"/>
                    </a:lnTo>
                    <a:lnTo>
                      <a:pt x="603249" y="502356"/>
                    </a:lnTo>
                    <a:lnTo>
                      <a:pt x="617310" y="499518"/>
                    </a:lnTo>
                    <a:lnTo>
                      <a:pt x="631371" y="502356"/>
                    </a:lnTo>
                    <a:lnTo>
                      <a:pt x="642854" y="510098"/>
                    </a:lnTo>
                    <a:lnTo>
                      <a:pt x="650596" y="521581"/>
                    </a:lnTo>
                    <a:lnTo>
                      <a:pt x="653435" y="535642"/>
                    </a:lnTo>
                    <a:close/>
                  </a:path>
                  <a:path w="731520" h="649604">
                    <a:moveTo>
                      <a:pt x="691988" y="552977"/>
                    </a:moveTo>
                    <a:lnTo>
                      <a:pt x="687730" y="574069"/>
                    </a:lnTo>
                    <a:lnTo>
                      <a:pt x="676117" y="591292"/>
                    </a:lnTo>
                    <a:lnTo>
                      <a:pt x="658894" y="602905"/>
                    </a:lnTo>
                    <a:lnTo>
                      <a:pt x="637802" y="607163"/>
                    </a:lnTo>
                    <a:lnTo>
                      <a:pt x="616710" y="602905"/>
                    </a:lnTo>
                    <a:lnTo>
                      <a:pt x="599486" y="591292"/>
                    </a:lnTo>
                    <a:lnTo>
                      <a:pt x="587874" y="574069"/>
                    </a:lnTo>
                    <a:lnTo>
                      <a:pt x="583616" y="552977"/>
                    </a:lnTo>
                    <a:lnTo>
                      <a:pt x="587874" y="531885"/>
                    </a:lnTo>
                    <a:lnTo>
                      <a:pt x="599486" y="514661"/>
                    </a:lnTo>
                    <a:lnTo>
                      <a:pt x="616710" y="503049"/>
                    </a:lnTo>
                    <a:lnTo>
                      <a:pt x="637802" y="498790"/>
                    </a:lnTo>
                    <a:lnTo>
                      <a:pt x="658894" y="503049"/>
                    </a:lnTo>
                    <a:lnTo>
                      <a:pt x="676117" y="514661"/>
                    </a:lnTo>
                    <a:lnTo>
                      <a:pt x="687730" y="531885"/>
                    </a:lnTo>
                    <a:lnTo>
                      <a:pt x="691988" y="552977"/>
                    </a:lnTo>
                    <a:close/>
                  </a:path>
                  <a:path w="731520" h="649604">
                    <a:moveTo>
                      <a:pt x="79470" y="391738"/>
                    </a:moveTo>
                    <a:lnTo>
                      <a:pt x="68275" y="391759"/>
                    </a:lnTo>
                    <a:lnTo>
                      <a:pt x="57268" y="389732"/>
                    </a:lnTo>
                    <a:lnTo>
                      <a:pt x="46639" y="385709"/>
                    </a:lnTo>
                    <a:lnTo>
                      <a:pt x="36576" y="379742"/>
                    </a:lnTo>
                  </a:path>
                  <a:path w="731520" h="649604">
                    <a:moveTo>
                      <a:pt x="117316" y="523020"/>
                    </a:moveTo>
                    <a:lnTo>
                      <a:pt x="111296" y="525920"/>
                    </a:lnTo>
                    <a:lnTo>
                      <a:pt x="104986" y="527850"/>
                    </a:lnTo>
                    <a:lnTo>
                      <a:pt x="98549" y="528762"/>
                    </a:lnTo>
                  </a:path>
                  <a:path w="731520" h="649604">
                    <a:moveTo>
                      <a:pt x="279029" y="586102"/>
                    </a:moveTo>
                    <a:lnTo>
                      <a:pt x="275773" y="579837"/>
                    </a:lnTo>
                    <a:lnTo>
                      <a:pt x="272799" y="573374"/>
                    </a:lnTo>
                    <a:lnTo>
                      <a:pt x="270113" y="566728"/>
                    </a:lnTo>
                    <a:lnTo>
                      <a:pt x="267722" y="559912"/>
                    </a:lnTo>
                  </a:path>
                  <a:path w="731520" h="649604">
                    <a:moveTo>
                      <a:pt x="488139" y="520792"/>
                    </a:moveTo>
                    <a:lnTo>
                      <a:pt x="487481" y="528078"/>
                    </a:lnTo>
                    <a:lnTo>
                      <a:pt x="486508" y="535306"/>
                    </a:lnTo>
                    <a:lnTo>
                      <a:pt x="485221" y="542462"/>
                    </a:lnTo>
                    <a:lnTo>
                      <a:pt x="483624" y="549530"/>
                    </a:lnTo>
                  </a:path>
                  <a:path w="731520" h="649604">
                    <a:moveTo>
                      <a:pt x="577920" y="343226"/>
                    </a:moveTo>
                    <a:lnTo>
                      <a:pt x="600884" y="362022"/>
                    </a:lnTo>
                    <a:lnTo>
                      <a:pt x="618290" y="387309"/>
                    </a:lnTo>
                    <a:lnTo>
                      <a:pt x="629275" y="417406"/>
                    </a:lnTo>
                    <a:lnTo>
                      <a:pt x="632977" y="450630"/>
                    </a:lnTo>
                  </a:path>
                  <a:path w="731520" h="649604">
                    <a:moveTo>
                      <a:pt x="707781" y="228832"/>
                    </a:moveTo>
                    <a:lnTo>
                      <a:pt x="703126" y="240141"/>
                    </a:lnTo>
                    <a:lnTo>
                      <a:pt x="697448" y="250690"/>
                    </a:lnTo>
                    <a:lnTo>
                      <a:pt x="690807" y="260379"/>
                    </a:lnTo>
                    <a:lnTo>
                      <a:pt x="683266" y="269106"/>
                    </a:lnTo>
                  </a:path>
                  <a:path w="731520" h="649604">
                    <a:moveTo>
                      <a:pt x="648955" y="79397"/>
                    </a:moveTo>
                    <a:lnTo>
                      <a:pt x="649892" y="85672"/>
                    </a:lnTo>
                    <a:lnTo>
                      <a:pt x="650325" y="92042"/>
                    </a:lnTo>
                    <a:lnTo>
                      <a:pt x="650249" y="98417"/>
                    </a:lnTo>
                  </a:path>
                  <a:path w="731520" h="649604">
                    <a:moveTo>
                      <a:pt x="492389" y="57211"/>
                    </a:moveTo>
                    <a:lnTo>
                      <a:pt x="494977" y="50747"/>
                    </a:lnTo>
                    <a:lnTo>
                      <a:pt x="497941" y="44533"/>
                    </a:lnTo>
                    <a:lnTo>
                      <a:pt x="501269" y="38594"/>
                    </a:lnTo>
                    <a:lnTo>
                      <a:pt x="504949" y="32954"/>
                    </a:lnTo>
                  </a:path>
                  <a:path w="731520" h="649604">
                    <a:moveTo>
                      <a:pt x="374923" y="68770"/>
                    </a:moveTo>
                    <a:lnTo>
                      <a:pt x="376226" y="61519"/>
                    </a:lnTo>
                    <a:lnTo>
                      <a:pt x="378269" y="54492"/>
                    </a:lnTo>
                    <a:lnTo>
                      <a:pt x="381006" y="47851"/>
                    </a:lnTo>
                  </a:path>
                  <a:path w="731520" h="649604">
                    <a:moveTo>
                      <a:pt x="237069" y="75875"/>
                    </a:moveTo>
                    <a:lnTo>
                      <a:pt x="242946" y="80335"/>
                    </a:lnTo>
                    <a:lnTo>
                      <a:pt x="248584" y="85214"/>
                    </a:lnTo>
                    <a:lnTo>
                      <a:pt x="253967" y="90497"/>
                    </a:lnTo>
                    <a:lnTo>
                      <a:pt x="259080" y="96170"/>
                    </a:lnTo>
                  </a:path>
                  <a:path w="731520" h="649604">
                    <a:moveTo>
                      <a:pt x="69886" y="235379"/>
                    </a:moveTo>
                    <a:lnTo>
                      <a:pt x="68142" y="228395"/>
                    </a:lnTo>
                    <a:lnTo>
                      <a:pt x="66857" y="221255"/>
                    </a:lnTo>
                    <a:lnTo>
                      <a:pt x="66045" y="214026"/>
                    </a:lnTo>
                  </a:path>
                </a:pathLst>
              </a:custGeom>
              <a:ln w="30479">
                <a:solidFill>
                  <a:srgbClr val="000000"/>
                </a:solidFill>
              </a:ln>
            </p:spPr>
            <p:txBody>
              <a:bodyPr wrap="square" lIns="0" tIns="0" rIns="0" bIns="0" rtlCol="0"/>
              <a:lstStyle/>
              <a:p>
                <a:endParaRPr sz="1588"/>
              </a:p>
            </p:txBody>
          </p:sp>
        </p:grpSp>
        <p:sp>
          <p:nvSpPr>
            <p:cNvPr id="164" name="object 164"/>
            <p:cNvSpPr txBox="1"/>
            <p:nvPr/>
          </p:nvSpPr>
          <p:spPr>
            <a:xfrm>
              <a:off x="7428845"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8</a:t>
              </a:r>
              <a:endParaRPr sz="1324">
                <a:latin typeface="Times New Roman"/>
                <a:cs typeface="Times New Roman"/>
              </a:endParaRPr>
            </a:p>
          </p:txBody>
        </p:sp>
        <p:sp>
          <p:nvSpPr>
            <p:cNvPr id="165" name="object 165"/>
            <p:cNvSpPr txBox="1"/>
            <p:nvPr/>
          </p:nvSpPr>
          <p:spPr>
            <a:xfrm>
              <a:off x="4309766" y="4583653"/>
              <a:ext cx="533400" cy="215089"/>
            </a:xfrm>
            <a:prstGeom prst="rect">
              <a:avLst/>
            </a:prstGeom>
          </p:spPr>
          <p:txBody>
            <a:bodyPr vert="horz" wrap="square" lIns="0" tIns="11206" rIns="0" bIns="0" rtlCol="0">
              <a:spAutoFit/>
            </a:bodyPr>
            <a:lstStyle/>
            <a:p>
              <a:pPr marL="11206">
                <a:spcBef>
                  <a:spcPts val="88"/>
                </a:spcBef>
              </a:pPr>
              <a:r>
                <a:rPr sz="1324" b="1" spc="-9" dirty="0">
                  <a:latin typeface="Times New Roman"/>
                  <a:cs typeface="Times New Roman"/>
                </a:rPr>
                <a:t>Bubble</a:t>
              </a:r>
              <a:endParaRPr sz="1324">
                <a:latin typeface="Times New Roman"/>
                <a:cs typeface="Times New Roman"/>
              </a:endParaRPr>
            </a:p>
          </p:txBody>
        </p:sp>
        <p:grpSp>
          <p:nvGrpSpPr>
            <p:cNvPr id="166" name="object 166"/>
            <p:cNvGrpSpPr/>
            <p:nvPr/>
          </p:nvGrpSpPr>
          <p:grpSpPr>
            <a:xfrm>
              <a:off x="5061694" y="4421606"/>
              <a:ext cx="672353" cy="600075"/>
              <a:chOff x="5584186" y="5011153"/>
              <a:chExt cx="762000" cy="680085"/>
            </a:xfrm>
          </p:grpSpPr>
          <p:sp>
            <p:nvSpPr>
              <p:cNvPr id="167" name="object 167"/>
              <p:cNvSpPr/>
              <p:nvPr/>
            </p:nvSpPr>
            <p:spPr>
              <a:xfrm>
                <a:off x="5599427" y="5026393"/>
                <a:ext cx="731520" cy="649605"/>
              </a:xfrm>
              <a:custGeom>
                <a:avLst/>
                <a:gdLst/>
                <a:ahLst/>
                <a:cxnLst/>
                <a:rect l="l" t="t" r="r" b="b"/>
                <a:pathLst>
                  <a:path w="731520" h="649604">
                    <a:moveTo>
                      <a:pt x="451054" y="0"/>
                    </a:moveTo>
                    <a:lnTo>
                      <a:pt x="422959" y="4464"/>
                    </a:lnTo>
                    <a:lnTo>
                      <a:pt x="398297" y="21356"/>
                    </a:lnTo>
                    <a:lnTo>
                      <a:pt x="380257" y="49385"/>
                    </a:lnTo>
                    <a:lnTo>
                      <a:pt x="375439" y="44042"/>
                    </a:lnTo>
                    <a:lnTo>
                      <a:pt x="370321" y="39141"/>
                    </a:lnTo>
                    <a:lnTo>
                      <a:pt x="364925" y="34701"/>
                    </a:lnTo>
                    <a:lnTo>
                      <a:pt x="359270" y="30739"/>
                    </a:lnTo>
                    <a:lnTo>
                      <a:pt x="324898" y="18357"/>
                    </a:lnTo>
                    <a:lnTo>
                      <a:pt x="290469" y="22749"/>
                    </a:lnTo>
                    <a:lnTo>
                      <a:pt x="259912" y="42458"/>
                    </a:lnTo>
                    <a:lnTo>
                      <a:pt x="237155" y="76026"/>
                    </a:lnTo>
                    <a:lnTo>
                      <a:pt x="219965" y="66070"/>
                    </a:lnTo>
                    <a:lnTo>
                      <a:pt x="201775" y="59736"/>
                    </a:lnTo>
                    <a:lnTo>
                      <a:pt x="182969" y="57119"/>
                    </a:lnTo>
                    <a:lnTo>
                      <a:pt x="163936" y="58312"/>
                    </a:lnTo>
                    <a:lnTo>
                      <a:pt x="121043" y="76341"/>
                    </a:lnTo>
                    <a:lnTo>
                      <a:pt x="88330" y="111641"/>
                    </a:lnTo>
                    <a:lnTo>
                      <a:pt x="68946" y="159204"/>
                    </a:lnTo>
                    <a:lnTo>
                      <a:pt x="66041" y="214020"/>
                    </a:lnTo>
                    <a:lnTo>
                      <a:pt x="65425" y="216046"/>
                    </a:lnTo>
                    <a:lnTo>
                      <a:pt x="19942" y="243027"/>
                    </a:lnTo>
                    <a:lnTo>
                      <a:pt x="0" y="293447"/>
                    </a:lnTo>
                    <a:lnTo>
                      <a:pt x="1787" y="327682"/>
                    </a:lnTo>
                    <a:lnTo>
                      <a:pt x="14000" y="358604"/>
                    </a:lnTo>
                    <a:lnTo>
                      <a:pt x="35791" y="382274"/>
                    </a:lnTo>
                    <a:lnTo>
                      <a:pt x="26134" y="397822"/>
                    </a:lnTo>
                    <a:lnTo>
                      <a:pt x="19559" y="415314"/>
                    </a:lnTo>
                    <a:lnTo>
                      <a:pt x="16244" y="434100"/>
                    </a:lnTo>
                    <a:lnTo>
                      <a:pt x="16366" y="453529"/>
                    </a:lnTo>
                    <a:lnTo>
                      <a:pt x="25479" y="487149"/>
                    </a:lnTo>
                    <a:lnTo>
                      <a:pt x="43929" y="513045"/>
                    </a:lnTo>
                    <a:lnTo>
                      <a:pt x="69081" y="528704"/>
                    </a:lnTo>
                    <a:lnTo>
                      <a:pt x="98299" y="531614"/>
                    </a:lnTo>
                    <a:lnTo>
                      <a:pt x="99681" y="534473"/>
                    </a:lnTo>
                    <a:lnTo>
                      <a:pt x="126680" y="573294"/>
                    </a:lnTo>
                    <a:lnTo>
                      <a:pt x="161074" y="599024"/>
                    </a:lnTo>
                    <a:lnTo>
                      <a:pt x="199907" y="610767"/>
                    </a:lnTo>
                    <a:lnTo>
                      <a:pt x="240224" y="607632"/>
                    </a:lnTo>
                    <a:lnTo>
                      <a:pt x="279071" y="588724"/>
                    </a:lnTo>
                    <a:lnTo>
                      <a:pt x="291389" y="607374"/>
                    </a:lnTo>
                    <a:lnTo>
                      <a:pt x="306048" y="623077"/>
                    </a:lnTo>
                    <a:lnTo>
                      <a:pt x="322698" y="635521"/>
                    </a:lnTo>
                    <a:lnTo>
                      <a:pt x="340990" y="644390"/>
                    </a:lnTo>
                    <a:lnTo>
                      <a:pt x="386188" y="649604"/>
                    </a:lnTo>
                    <a:lnTo>
                      <a:pt x="428071" y="633931"/>
                    </a:lnTo>
                    <a:lnTo>
                      <a:pt x="462054" y="600348"/>
                    </a:lnTo>
                    <a:lnTo>
                      <a:pt x="483550" y="551834"/>
                    </a:lnTo>
                    <a:lnTo>
                      <a:pt x="495459" y="559497"/>
                    </a:lnTo>
                    <a:lnTo>
                      <a:pt x="508066" y="565089"/>
                    </a:lnTo>
                    <a:lnTo>
                      <a:pt x="521187" y="568543"/>
                    </a:lnTo>
                    <a:lnTo>
                      <a:pt x="534639" y="569797"/>
                    </a:lnTo>
                    <a:lnTo>
                      <a:pt x="572830" y="560862"/>
                    </a:lnTo>
                    <a:lnTo>
                      <a:pt x="604135" y="535787"/>
                    </a:lnTo>
                    <a:lnTo>
                      <a:pt x="625378" y="498353"/>
                    </a:lnTo>
                    <a:lnTo>
                      <a:pt x="633382" y="452337"/>
                    </a:lnTo>
                    <a:lnTo>
                      <a:pt x="647801" y="448688"/>
                    </a:lnTo>
                    <a:lnTo>
                      <a:pt x="687024" y="425018"/>
                    </a:lnTo>
                    <a:lnTo>
                      <a:pt x="716947" y="383464"/>
                    </a:lnTo>
                    <a:lnTo>
                      <a:pt x="730891" y="333007"/>
                    </a:lnTo>
                    <a:lnTo>
                      <a:pt x="728177" y="279907"/>
                    </a:lnTo>
                    <a:lnTo>
                      <a:pt x="708126" y="230423"/>
                    </a:lnTo>
                    <a:lnTo>
                      <a:pt x="709779" y="225751"/>
                    </a:lnTo>
                    <a:lnTo>
                      <a:pt x="711160" y="220946"/>
                    </a:lnTo>
                    <a:lnTo>
                      <a:pt x="712263" y="216042"/>
                    </a:lnTo>
                    <a:lnTo>
                      <a:pt x="714650" y="172667"/>
                    </a:lnTo>
                    <a:lnTo>
                      <a:pt x="703518" y="132929"/>
                    </a:lnTo>
                    <a:lnTo>
                      <a:pt x="680906" y="101150"/>
                    </a:lnTo>
                    <a:lnTo>
                      <a:pt x="648854" y="81655"/>
                    </a:lnTo>
                    <a:lnTo>
                      <a:pt x="645136" y="65101"/>
                    </a:lnTo>
                    <a:lnTo>
                      <a:pt x="621091" y="23529"/>
                    </a:lnTo>
                    <a:lnTo>
                      <a:pt x="561152" y="322"/>
                    </a:lnTo>
                    <a:lnTo>
                      <a:pt x="530803" y="10636"/>
                    </a:lnTo>
                    <a:lnTo>
                      <a:pt x="505173" y="35067"/>
                    </a:lnTo>
                    <a:lnTo>
                      <a:pt x="499676" y="27304"/>
                    </a:lnTo>
                    <a:lnTo>
                      <a:pt x="493504" y="20372"/>
                    </a:lnTo>
                    <a:lnTo>
                      <a:pt x="486722" y="14334"/>
                    </a:lnTo>
                    <a:lnTo>
                      <a:pt x="479392" y="9255"/>
                    </a:lnTo>
                    <a:lnTo>
                      <a:pt x="451054" y="0"/>
                    </a:lnTo>
                    <a:close/>
                  </a:path>
                </a:pathLst>
              </a:custGeom>
              <a:solidFill>
                <a:srgbClr val="0FEFEA"/>
              </a:solidFill>
            </p:spPr>
            <p:txBody>
              <a:bodyPr wrap="square" lIns="0" tIns="0" rIns="0" bIns="0" rtlCol="0"/>
              <a:lstStyle/>
              <a:p>
                <a:endParaRPr sz="1588"/>
              </a:p>
            </p:txBody>
          </p:sp>
          <p:pic>
            <p:nvPicPr>
              <p:cNvPr id="168" name="object 168"/>
              <p:cNvPicPr/>
              <p:nvPr/>
            </p:nvPicPr>
            <p:blipFill>
              <a:blip r:embed="rId4" cstate="print"/>
              <a:stretch>
                <a:fillRect/>
              </a:stretch>
            </p:blipFill>
            <p:spPr>
              <a:xfrm>
                <a:off x="6180612" y="5525184"/>
                <a:ext cx="110803" cy="108372"/>
              </a:xfrm>
              <a:prstGeom prst="rect">
                <a:avLst/>
              </a:prstGeom>
            </p:spPr>
          </p:pic>
          <p:sp>
            <p:nvSpPr>
              <p:cNvPr id="169" name="object 169"/>
              <p:cNvSpPr/>
              <p:nvPr/>
            </p:nvSpPr>
            <p:spPr>
              <a:xfrm>
                <a:off x="5599426" y="5026393"/>
                <a:ext cx="731520" cy="649605"/>
              </a:xfrm>
              <a:custGeom>
                <a:avLst/>
                <a:gdLst/>
                <a:ahLst/>
                <a:cxnLst/>
                <a:rect l="l" t="t" r="r" b="b"/>
                <a:pathLst>
                  <a:path w="731520" h="649604">
                    <a:moveTo>
                      <a:pt x="66042" y="214021"/>
                    </a:moveTo>
                    <a:lnTo>
                      <a:pt x="68947" y="159204"/>
                    </a:lnTo>
                    <a:lnTo>
                      <a:pt x="88331" y="111641"/>
                    </a:lnTo>
                    <a:lnTo>
                      <a:pt x="121044" y="76341"/>
                    </a:lnTo>
                    <a:lnTo>
                      <a:pt x="163937" y="58312"/>
                    </a:lnTo>
                    <a:lnTo>
                      <a:pt x="182970" y="57119"/>
                    </a:lnTo>
                    <a:lnTo>
                      <a:pt x="201775" y="59736"/>
                    </a:lnTo>
                    <a:lnTo>
                      <a:pt x="219966" y="66070"/>
                    </a:lnTo>
                    <a:lnTo>
                      <a:pt x="237156" y="76026"/>
                    </a:lnTo>
                    <a:lnTo>
                      <a:pt x="259913" y="42458"/>
                    </a:lnTo>
                    <a:lnTo>
                      <a:pt x="290470" y="22749"/>
                    </a:lnTo>
                    <a:lnTo>
                      <a:pt x="324899" y="18357"/>
                    </a:lnTo>
                    <a:lnTo>
                      <a:pt x="359271" y="30739"/>
                    </a:lnTo>
                    <a:lnTo>
                      <a:pt x="364925" y="34701"/>
                    </a:lnTo>
                    <a:lnTo>
                      <a:pt x="370322" y="39141"/>
                    </a:lnTo>
                    <a:lnTo>
                      <a:pt x="375439" y="44042"/>
                    </a:lnTo>
                    <a:lnTo>
                      <a:pt x="380257" y="49385"/>
                    </a:lnTo>
                    <a:lnTo>
                      <a:pt x="398297" y="21356"/>
                    </a:lnTo>
                    <a:lnTo>
                      <a:pt x="422959" y="4463"/>
                    </a:lnTo>
                    <a:lnTo>
                      <a:pt x="451054" y="0"/>
                    </a:lnTo>
                    <a:lnTo>
                      <a:pt x="479392" y="9255"/>
                    </a:lnTo>
                    <a:lnTo>
                      <a:pt x="486722" y="14334"/>
                    </a:lnTo>
                    <a:lnTo>
                      <a:pt x="493505" y="20372"/>
                    </a:lnTo>
                    <a:lnTo>
                      <a:pt x="499676" y="27304"/>
                    </a:lnTo>
                    <a:lnTo>
                      <a:pt x="505173" y="35067"/>
                    </a:lnTo>
                    <a:lnTo>
                      <a:pt x="530803" y="10636"/>
                    </a:lnTo>
                    <a:lnTo>
                      <a:pt x="561152" y="322"/>
                    </a:lnTo>
                    <a:lnTo>
                      <a:pt x="592492" y="4496"/>
                    </a:lnTo>
                    <a:lnTo>
                      <a:pt x="621092" y="23529"/>
                    </a:lnTo>
                    <a:lnTo>
                      <a:pt x="631098" y="35708"/>
                    </a:lnTo>
                    <a:lnTo>
                      <a:pt x="639165" y="49675"/>
                    </a:lnTo>
                    <a:lnTo>
                      <a:pt x="645137" y="65101"/>
                    </a:lnTo>
                    <a:lnTo>
                      <a:pt x="648855" y="81655"/>
                    </a:lnTo>
                    <a:lnTo>
                      <a:pt x="680906" y="101150"/>
                    </a:lnTo>
                    <a:lnTo>
                      <a:pt x="703518" y="132929"/>
                    </a:lnTo>
                    <a:lnTo>
                      <a:pt x="714650" y="172667"/>
                    </a:lnTo>
                    <a:lnTo>
                      <a:pt x="712263" y="216042"/>
                    </a:lnTo>
                    <a:lnTo>
                      <a:pt x="711161" y="220946"/>
                    </a:lnTo>
                    <a:lnTo>
                      <a:pt x="709779" y="225752"/>
                    </a:lnTo>
                    <a:lnTo>
                      <a:pt x="708127" y="230423"/>
                    </a:lnTo>
                    <a:lnTo>
                      <a:pt x="728178" y="279907"/>
                    </a:lnTo>
                    <a:lnTo>
                      <a:pt x="730892" y="333007"/>
                    </a:lnTo>
                    <a:lnTo>
                      <a:pt x="716947" y="383464"/>
                    </a:lnTo>
                    <a:lnTo>
                      <a:pt x="687024" y="425018"/>
                    </a:lnTo>
                    <a:lnTo>
                      <a:pt x="647801" y="448688"/>
                    </a:lnTo>
                    <a:lnTo>
                      <a:pt x="633382" y="452337"/>
                    </a:lnTo>
                    <a:lnTo>
                      <a:pt x="625378" y="498353"/>
                    </a:lnTo>
                    <a:lnTo>
                      <a:pt x="604136" y="535787"/>
                    </a:lnTo>
                    <a:lnTo>
                      <a:pt x="572831" y="560861"/>
                    </a:lnTo>
                    <a:lnTo>
                      <a:pt x="534640" y="569797"/>
                    </a:lnTo>
                    <a:lnTo>
                      <a:pt x="521188" y="568543"/>
                    </a:lnTo>
                    <a:lnTo>
                      <a:pt x="508067" y="565088"/>
                    </a:lnTo>
                    <a:lnTo>
                      <a:pt x="495460" y="559497"/>
                    </a:lnTo>
                    <a:lnTo>
                      <a:pt x="483550" y="551834"/>
                    </a:lnTo>
                    <a:lnTo>
                      <a:pt x="462054" y="600348"/>
                    </a:lnTo>
                    <a:lnTo>
                      <a:pt x="428072" y="633931"/>
                    </a:lnTo>
                    <a:lnTo>
                      <a:pt x="386188" y="649604"/>
                    </a:lnTo>
                    <a:lnTo>
                      <a:pt x="340990" y="644391"/>
                    </a:lnTo>
                    <a:lnTo>
                      <a:pt x="322698" y="635521"/>
                    </a:lnTo>
                    <a:lnTo>
                      <a:pt x="306048" y="623077"/>
                    </a:lnTo>
                    <a:lnTo>
                      <a:pt x="291389" y="607374"/>
                    </a:lnTo>
                    <a:lnTo>
                      <a:pt x="279071" y="588724"/>
                    </a:lnTo>
                    <a:lnTo>
                      <a:pt x="240224" y="607632"/>
                    </a:lnTo>
                    <a:lnTo>
                      <a:pt x="199907" y="610768"/>
                    </a:lnTo>
                    <a:lnTo>
                      <a:pt x="161074" y="599024"/>
                    </a:lnTo>
                    <a:lnTo>
                      <a:pt x="126680" y="573294"/>
                    </a:lnTo>
                    <a:lnTo>
                      <a:pt x="99681" y="534473"/>
                    </a:lnTo>
                    <a:lnTo>
                      <a:pt x="98299" y="531615"/>
                    </a:lnTo>
                    <a:lnTo>
                      <a:pt x="69081" y="528704"/>
                    </a:lnTo>
                    <a:lnTo>
                      <a:pt x="43929" y="513045"/>
                    </a:lnTo>
                    <a:lnTo>
                      <a:pt x="25479" y="487149"/>
                    </a:lnTo>
                    <a:lnTo>
                      <a:pt x="16367" y="453529"/>
                    </a:lnTo>
                    <a:lnTo>
                      <a:pt x="16244" y="434101"/>
                    </a:lnTo>
                    <a:lnTo>
                      <a:pt x="19559" y="415314"/>
                    </a:lnTo>
                    <a:lnTo>
                      <a:pt x="26134" y="397822"/>
                    </a:lnTo>
                    <a:lnTo>
                      <a:pt x="35791" y="382274"/>
                    </a:lnTo>
                    <a:lnTo>
                      <a:pt x="14000" y="358604"/>
                    </a:lnTo>
                    <a:lnTo>
                      <a:pt x="1787" y="327682"/>
                    </a:lnTo>
                    <a:lnTo>
                      <a:pt x="0" y="293447"/>
                    </a:lnTo>
                    <a:lnTo>
                      <a:pt x="9483" y="259837"/>
                    </a:lnTo>
                    <a:lnTo>
                      <a:pt x="19942" y="243027"/>
                    </a:lnTo>
                    <a:lnTo>
                      <a:pt x="33152" y="229812"/>
                    </a:lnTo>
                    <a:lnTo>
                      <a:pt x="48513" y="220662"/>
                    </a:lnTo>
                    <a:lnTo>
                      <a:pt x="65426" y="216046"/>
                    </a:lnTo>
                    <a:lnTo>
                      <a:pt x="66042" y="214021"/>
                    </a:lnTo>
                    <a:close/>
                  </a:path>
                  <a:path w="731520" h="649604">
                    <a:moveTo>
                      <a:pt x="642460" y="541638"/>
                    </a:moveTo>
                    <a:lnTo>
                      <a:pt x="641041" y="548669"/>
                    </a:lnTo>
                    <a:lnTo>
                      <a:pt x="637170" y="554410"/>
                    </a:lnTo>
                    <a:lnTo>
                      <a:pt x="631429" y="558281"/>
                    </a:lnTo>
                    <a:lnTo>
                      <a:pt x="624398" y="559701"/>
                    </a:lnTo>
                    <a:lnTo>
                      <a:pt x="617367" y="558281"/>
                    </a:lnTo>
                    <a:lnTo>
                      <a:pt x="611626" y="554410"/>
                    </a:lnTo>
                    <a:lnTo>
                      <a:pt x="607755" y="548669"/>
                    </a:lnTo>
                    <a:lnTo>
                      <a:pt x="606335" y="541638"/>
                    </a:lnTo>
                    <a:lnTo>
                      <a:pt x="607755" y="534608"/>
                    </a:lnTo>
                    <a:lnTo>
                      <a:pt x="611626" y="528866"/>
                    </a:lnTo>
                    <a:lnTo>
                      <a:pt x="617367" y="524995"/>
                    </a:lnTo>
                    <a:lnTo>
                      <a:pt x="624398" y="523576"/>
                    </a:lnTo>
                    <a:lnTo>
                      <a:pt x="631429" y="524995"/>
                    </a:lnTo>
                    <a:lnTo>
                      <a:pt x="637170" y="528866"/>
                    </a:lnTo>
                    <a:lnTo>
                      <a:pt x="641041" y="534608"/>
                    </a:lnTo>
                    <a:lnTo>
                      <a:pt x="642460" y="541638"/>
                    </a:lnTo>
                    <a:close/>
                  </a:path>
                  <a:path w="731520" h="649604">
                    <a:moveTo>
                      <a:pt x="653435" y="535642"/>
                    </a:moveTo>
                    <a:lnTo>
                      <a:pt x="650596" y="549704"/>
                    </a:lnTo>
                    <a:lnTo>
                      <a:pt x="642854" y="561186"/>
                    </a:lnTo>
                    <a:lnTo>
                      <a:pt x="631371" y="568928"/>
                    </a:lnTo>
                    <a:lnTo>
                      <a:pt x="617310" y="571767"/>
                    </a:lnTo>
                    <a:lnTo>
                      <a:pt x="603249" y="568928"/>
                    </a:lnTo>
                    <a:lnTo>
                      <a:pt x="591766" y="561186"/>
                    </a:lnTo>
                    <a:lnTo>
                      <a:pt x="584024" y="549704"/>
                    </a:lnTo>
                    <a:lnTo>
                      <a:pt x="581185" y="535642"/>
                    </a:lnTo>
                    <a:lnTo>
                      <a:pt x="584024" y="521581"/>
                    </a:lnTo>
                    <a:lnTo>
                      <a:pt x="591766" y="510098"/>
                    </a:lnTo>
                    <a:lnTo>
                      <a:pt x="603249" y="502356"/>
                    </a:lnTo>
                    <a:lnTo>
                      <a:pt x="617310" y="499518"/>
                    </a:lnTo>
                    <a:lnTo>
                      <a:pt x="631371" y="502356"/>
                    </a:lnTo>
                    <a:lnTo>
                      <a:pt x="642854" y="510098"/>
                    </a:lnTo>
                    <a:lnTo>
                      <a:pt x="650596" y="521581"/>
                    </a:lnTo>
                    <a:lnTo>
                      <a:pt x="653435" y="535642"/>
                    </a:lnTo>
                    <a:close/>
                  </a:path>
                  <a:path w="731520" h="649604">
                    <a:moveTo>
                      <a:pt x="691988" y="552977"/>
                    </a:moveTo>
                    <a:lnTo>
                      <a:pt x="687730" y="574069"/>
                    </a:lnTo>
                    <a:lnTo>
                      <a:pt x="676117" y="591292"/>
                    </a:lnTo>
                    <a:lnTo>
                      <a:pt x="658894" y="602905"/>
                    </a:lnTo>
                    <a:lnTo>
                      <a:pt x="637802" y="607163"/>
                    </a:lnTo>
                    <a:lnTo>
                      <a:pt x="616710" y="602905"/>
                    </a:lnTo>
                    <a:lnTo>
                      <a:pt x="599486" y="591292"/>
                    </a:lnTo>
                    <a:lnTo>
                      <a:pt x="587874" y="574069"/>
                    </a:lnTo>
                    <a:lnTo>
                      <a:pt x="583615" y="552977"/>
                    </a:lnTo>
                    <a:lnTo>
                      <a:pt x="587874" y="531885"/>
                    </a:lnTo>
                    <a:lnTo>
                      <a:pt x="599486" y="514661"/>
                    </a:lnTo>
                    <a:lnTo>
                      <a:pt x="616710" y="503049"/>
                    </a:lnTo>
                    <a:lnTo>
                      <a:pt x="637802" y="498790"/>
                    </a:lnTo>
                    <a:lnTo>
                      <a:pt x="658894" y="503049"/>
                    </a:lnTo>
                    <a:lnTo>
                      <a:pt x="676117" y="514661"/>
                    </a:lnTo>
                    <a:lnTo>
                      <a:pt x="687730" y="531885"/>
                    </a:lnTo>
                    <a:lnTo>
                      <a:pt x="691988" y="552977"/>
                    </a:lnTo>
                    <a:close/>
                  </a:path>
                  <a:path w="731520" h="649604">
                    <a:moveTo>
                      <a:pt x="79470" y="391738"/>
                    </a:moveTo>
                    <a:lnTo>
                      <a:pt x="68275" y="391759"/>
                    </a:lnTo>
                    <a:lnTo>
                      <a:pt x="57268" y="389732"/>
                    </a:lnTo>
                    <a:lnTo>
                      <a:pt x="46639" y="385709"/>
                    </a:lnTo>
                    <a:lnTo>
                      <a:pt x="36576" y="379742"/>
                    </a:lnTo>
                  </a:path>
                  <a:path w="731520" h="649604">
                    <a:moveTo>
                      <a:pt x="117316" y="523020"/>
                    </a:moveTo>
                    <a:lnTo>
                      <a:pt x="111296" y="525920"/>
                    </a:lnTo>
                    <a:lnTo>
                      <a:pt x="104986" y="527850"/>
                    </a:lnTo>
                    <a:lnTo>
                      <a:pt x="98549" y="528762"/>
                    </a:lnTo>
                  </a:path>
                  <a:path w="731520" h="649604">
                    <a:moveTo>
                      <a:pt x="279029" y="586102"/>
                    </a:moveTo>
                    <a:lnTo>
                      <a:pt x="275773" y="579837"/>
                    </a:lnTo>
                    <a:lnTo>
                      <a:pt x="272799" y="573374"/>
                    </a:lnTo>
                    <a:lnTo>
                      <a:pt x="270113" y="566728"/>
                    </a:lnTo>
                    <a:lnTo>
                      <a:pt x="267722" y="559912"/>
                    </a:lnTo>
                  </a:path>
                  <a:path w="731520" h="649604">
                    <a:moveTo>
                      <a:pt x="488139" y="520792"/>
                    </a:moveTo>
                    <a:lnTo>
                      <a:pt x="487481" y="528078"/>
                    </a:lnTo>
                    <a:lnTo>
                      <a:pt x="486508" y="535306"/>
                    </a:lnTo>
                    <a:lnTo>
                      <a:pt x="485221" y="542462"/>
                    </a:lnTo>
                    <a:lnTo>
                      <a:pt x="483624" y="549530"/>
                    </a:lnTo>
                  </a:path>
                  <a:path w="731520" h="649604">
                    <a:moveTo>
                      <a:pt x="577920" y="343226"/>
                    </a:moveTo>
                    <a:lnTo>
                      <a:pt x="600884" y="362022"/>
                    </a:lnTo>
                    <a:lnTo>
                      <a:pt x="618290" y="387309"/>
                    </a:lnTo>
                    <a:lnTo>
                      <a:pt x="629275" y="417406"/>
                    </a:lnTo>
                    <a:lnTo>
                      <a:pt x="632977" y="450630"/>
                    </a:lnTo>
                  </a:path>
                  <a:path w="731520" h="649604">
                    <a:moveTo>
                      <a:pt x="707781" y="228832"/>
                    </a:moveTo>
                    <a:lnTo>
                      <a:pt x="703126" y="240141"/>
                    </a:lnTo>
                    <a:lnTo>
                      <a:pt x="697448" y="250690"/>
                    </a:lnTo>
                    <a:lnTo>
                      <a:pt x="690807" y="260379"/>
                    </a:lnTo>
                    <a:lnTo>
                      <a:pt x="683266" y="269106"/>
                    </a:lnTo>
                  </a:path>
                  <a:path w="731520" h="649604">
                    <a:moveTo>
                      <a:pt x="648955" y="79397"/>
                    </a:moveTo>
                    <a:lnTo>
                      <a:pt x="649892" y="85672"/>
                    </a:lnTo>
                    <a:lnTo>
                      <a:pt x="650325" y="92042"/>
                    </a:lnTo>
                    <a:lnTo>
                      <a:pt x="650249" y="98417"/>
                    </a:lnTo>
                  </a:path>
                  <a:path w="731520" h="649604">
                    <a:moveTo>
                      <a:pt x="492389" y="57211"/>
                    </a:moveTo>
                    <a:lnTo>
                      <a:pt x="494977" y="50747"/>
                    </a:lnTo>
                    <a:lnTo>
                      <a:pt x="497941" y="44533"/>
                    </a:lnTo>
                    <a:lnTo>
                      <a:pt x="501269" y="38594"/>
                    </a:lnTo>
                    <a:lnTo>
                      <a:pt x="504949" y="32954"/>
                    </a:lnTo>
                  </a:path>
                  <a:path w="731520" h="649604">
                    <a:moveTo>
                      <a:pt x="374923" y="68770"/>
                    </a:moveTo>
                    <a:lnTo>
                      <a:pt x="376226" y="61519"/>
                    </a:lnTo>
                    <a:lnTo>
                      <a:pt x="378269" y="54492"/>
                    </a:lnTo>
                    <a:lnTo>
                      <a:pt x="381006" y="47851"/>
                    </a:lnTo>
                  </a:path>
                  <a:path w="731520" h="649604">
                    <a:moveTo>
                      <a:pt x="237069" y="75875"/>
                    </a:moveTo>
                    <a:lnTo>
                      <a:pt x="242946" y="80335"/>
                    </a:lnTo>
                    <a:lnTo>
                      <a:pt x="248584" y="85214"/>
                    </a:lnTo>
                    <a:lnTo>
                      <a:pt x="253967" y="90497"/>
                    </a:lnTo>
                    <a:lnTo>
                      <a:pt x="259080" y="96170"/>
                    </a:lnTo>
                  </a:path>
                  <a:path w="731520" h="649604">
                    <a:moveTo>
                      <a:pt x="69886" y="235379"/>
                    </a:moveTo>
                    <a:lnTo>
                      <a:pt x="68142" y="228395"/>
                    </a:lnTo>
                    <a:lnTo>
                      <a:pt x="66857" y="221255"/>
                    </a:lnTo>
                    <a:lnTo>
                      <a:pt x="66045" y="214026"/>
                    </a:lnTo>
                  </a:path>
                </a:pathLst>
              </a:custGeom>
              <a:ln w="30479">
                <a:solidFill>
                  <a:srgbClr val="000000"/>
                </a:solidFill>
              </a:ln>
            </p:spPr>
            <p:txBody>
              <a:bodyPr wrap="square" lIns="0" tIns="0" rIns="0" bIns="0" rtlCol="0"/>
              <a:lstStyle/>
              <a:p>
                <a:endParaRPr sz="1588"/>
              </a:p>
            </p:txBody>
          </p:sp>
        </p:grpSp>
        <p:sp>
          <p:nvSpPr>
            <p:cNvPr id="170" name="object 170"/>
            <p:cNvSpPr txBox="1"/>
            <p:nvPr/>
          </p:nvSpPr>
          <p:spPr>
            <a:xfrm>
              <a:off x="5108223" y="4583653"/>
              <a:ext cx="533400" cy="215089"/>
            </a:xfrm>
            <a:prstGeom prst="rect">
              <a:avLst/>
            </a:prstGeom>
          </p:spPr>
          <p:txBody>
            <a:bodyPr vert="horz" wrap="square" lIns="0" tIns="11206" rIns="0" bIns="0" rtlCol="0">
              <a:spAutoFit/>
            </a:bodyPr>
            <a:lstStyle/>
            <a:p>
              <a:pPr marL="11206">
                <a:spcBef>
                  <a:spcPts val="88"/>
                </a:spcBef>
              </a:pPr>
              <a:r>
                <a:rPr sz="1324" b="1" spc="-9" dirty="0">
                  <a:latin typeface="Times New Roman"/>
                  <a:cs typeface="Times New Roman"/>
                </a:rPr>
                <a:t>Bubble</a:t>
              </a:r>
              <a:endParaRPr sz="1324">
                <a:latin typeface="Times New Roman"/>
                <a:cs typeface="Times New Roman"/>
              </a:endParaRPr>
            </a:p>
          </p:txBody>
        </p:sp>
        <p:grpSp>
          <p:nvGrpSpPr>
            <p:cNvPr id="171" name="object 171"/>
            <p:cNvGrpSpPr/>
            <p:nvPr/>
          </p:nvGrpSpPr>
          <p:grpSpPr>
            <a:xfrm>
              <a:off x="5841026" y="4421606"/>
              <a:ext cx="672353" cy="600075"/>
              <a:chOff x="6467429" y="5011153"/>
              <a:chExt cx="762000" cy="680085"/>
            </a:xfrm>
          </p:grpSpPr>
          <p:sp>
            <p:nvSpPr>
              <p:cNvPr id="172" name="object 172"/>
              <p:cNvSpPr/>
              <p:nvPr/>
            </p:nvSpPr>
            <p:spPr>
              <a:xfrm>
                <a:off x="6482669" y="5026393"/>
                <a:ext cx="731520" cy="649605"/>
              </a:xfrm>
              <a:custGeom>
                <a:avLst/>
                <a:gdLst/>
                <a:ahLst/>
                <a:cxnLst/>
                <a:rect l="l" t="t" r="r" b="b"/>
                <a:pathLst>
                  <a:path w="731520" h="649604">
                    <a:moveTo>
                      <a:pt x="451054" y="0"/>
                    </a:moveTo>
                    <a:lnTo>
                      <a:pt x="422959" y="4464"/>
                    </a:lnTo>
                    <a:lnTo>
                      <a:pt x="398297" y="21356"/>
                    </a:lnTo>
                    <a:lnTo>
                      <a:pt x="380257" y="49385"/>
                    </a:lnTo>
                    <a:lnTo>
                      <a:pt x="375439" y="44042"/>
                    </a:lnTo>
                    <a:lnTo>
                      <a:pt x="370321" y="39141"/>
                    </a:lnTo>
                    <a:lnTo>
                      <a:pt x="364925" y="34701"/>
                    </a:lnTo>
                    <a:lnTo>
                      <a:pt x="359271" y="30739"/>
                    </a:lnTo>
                    <a:lnTo>
                      <a:pt x="324899" y="18357"/>
                    </a:lnTo>
                    <a:lnTo>
                      <a:pt x="290470" y="22749"/>
                    </a:lnTo>
                    <a:lnTo>
                      <a:pt x="259912" y="42458"/>
                    </a:lnTo>
                    <a:lnTo>
                      <a:pt x="237156" y="76026"/>
                    </a:lnTo>
                    <a:lnTo>
                      <a:pt x="219966" y="66070"/>
                    </a:lnTo>
                    <a:lnTo>
                      <a:pt x="201775" y="59736"/>
                    </a:lnTo>
                    <a:lnTo>
                      <a:pt x="182970" y="57119"/>
                    </a:lnTo>
                    <a:lnTo>
                      <a:pt x="163936" y="58312"/>
                    </a:lnTo>
                    <a:lnTo>
                      <a:pt x="121043" y="76341"/>
                    </a:lnTo>
                    <a:lnTo>
                      <a:pt x="88330" y="111641"/>
                    </a:lnTo>
                    <a:lnTo>
                      <a:pt x="68947" y="159204"/>
                    </a:lnTo>
                    <a:lnTo>
                      <a:pt x="66042" y="214020"/>
                    </a:lnTo>
                    <a:lnTo>
                      <a:pt x="65426" y="216046"/>
                    </a:lnTo>
                    <a:lnTo>
                      <a:pt x="19942" y="243027"/>
                    </a:lnTo>
                    <a:lnTo>
                      <a:pt x="0" y="293447"/>
                    </a:lnTo>
                    <a:lnTo>
                      <a:pt x="1787" y="327682"/>
                    </a:lnTo>
                    <a:lnTo>
                      <a:pt x="14000" y="358604"/>
                    </a:lnTo>
                    <a:lnTo>
                      <a:pt x="35791" y="382274"/>
                    </a:lnTo>
                    <a:lnTo>
                      <a:pt x="26134" y="397822"/>
                    </a:lnTo>
                    <a:lnTo>
                      <a:pt x="19560" y="415314"/>
                    </a:lnTo>
                    <a:lnTo>
                      <a:pt x="16245" y="434100"/>
                    </a:lnTo>
                    <a:lnTo>
                      <a:pt x="16367" y="453529"/>
                    </a:lnTo>
                    <a:lnTo>
                      <a:pt x="25479" y="487149"/>
                    </a:lnTo>
                    <a:lnTo>
                      <a:pt x="43929" y="513045"/>
                    </a:lnTo>
                    <a:lnTo>
                      <a:pt x="69081" y="528704"/>
                    </a:lnTo>
                    <a:lnTo>
                      <a:pt x="98299" y="531614"/>
                    </a:lnTo>
                    <a:lnTo>
                      <a:pt x="99681" y="534473"/>
                    </a:lnTo>
                    <a:lnTo>
                      <a:pt x="126681" y="573294"/>
                    </a:lnTo>
                    <a:lnTo>
                      <a:pt x="161074" y="599024"/>
                    </a:lnTo>
                    <a:lnTo>
                      <a:pt x="199907" y="610767"/>
                    </a:lnTo>
                    <a:lnTo>
                      <a:pt x="240224" y="607632"/>
                    </a:lnTo>
                    <a:lnTo>
                      <a:pt x="279071" y="588724"/>
                    </a:lnTo>
                    <a:lnTo>
                      <a:pt x="291389" y="607374"/>
                    </a:lnTo>
                    <a:lnTo>
                      <a:pt x="306048" y="623077"/>
                    </a:lnTo>
                    <a:lnTo>
                      <a:pt x="322698" y="635521"/>
                    </a:lnTo>
                    <a:lnTo>
                      <a:pt x="340990" y="644390"/>
                    </a:lnTo>
                    <a:lnTo>
                      <a:pt x="386188" y="649604"/>
                    </a:lnTo>
                    <a:lnTo>
                      <a:pt x="428071" y="633931"/>
                    </a:lnTo>
                    <a:lnTo>
                      <a:pt x="462054" y="600348"/>
                    </a:lnTo>
                    <a:lnTo>
                      <a:pt x="483551" y="551834"/>
                    </a:lnTo>
                    <a:lnTo>
                      <a:pt x="495460" y="559497"/>
                    </a:lnTo>
                    <a:lnTo>
                      <a:pt x="508067" y="565089"/>
                    </a:lnTo>
                    <a:lnTo>
                      <a:pt x="521189" y="568543"/>
                    </a:lnTo>
                    <a:lnTo>
                      <a:pt x="534640" y="569797"/>
                    </a:lnTo>
                    <a:lnTo>
                      <a:pt x="572831" y="560862"/>
                    </a:lnTo>
                    <a:lnTo>
                      <a:pt x="604136" y="535787"/>
                    </a:lnTo>
                    <a:lnTo>
                      <a:pt x="625378" y="498353"/>
                    </a:lnTo>
                    <a:lnTo>
                      <a:pt x="633382" y="452337"/>
                    </a:lnTo>
                    <a:lnTo>
                      <a:pt x="647801" y="448688"/>
                    </a:lnTo>
                    <a:lnTo>
                      <a:pt x="687024" y="425018"/>
                    </a:lnTo>
                    <a:lnTo>
                      <a:pt x="716947" y="383464"/>
                    </a:lnTo>
                    <a:lnTo>
                      <a:pt x="730892" y="333007"/>
                    </a:lnTo>
                    <a:lnTo>
                      <a:pt x="728178" y="279907"/>
                    </a:lnTo>
                    <a:lnTo>
                      <a:pt x="708126" y="230423"/>
                    </a:lnTo>
                    <a:lnTo>
                      <a:pt x="709778" y="225751"/>
                    </a:lnTo>
                    <a:lnTo>
                      <a:pt x="711162" y="220946"/>
                    </a:lnTo>
                    <a:lnTo>
                      <a:pt x="712263" y="216042"/>
                    </a:lnTo>
                    <a:lnTo>
                      <a:pt x="714650" y="172667"/>
                    </a:lnTo>
                    <a:lnTo>
                      <a:pt x="703518" y="132929"/>
                    </a:lnTo>
                    <a:lnTo>
                      <a:pt x="680907" y="101150"/>
                    </a:lnTo>
                    <a:lnTo>
                      <a:pt x="648855" y="81655"/>
                    </a:lnTo>
                    <a:lnTo>
                      <a:pt x="645137" y="65101"/>
                    </a:lnTo>
                    <a:lnTo>
                      <a:pt x="621092" y="23529"/>
                    </a:lnTo>
                    <a:lnTo>
                      <a:pt x="561153" y="322"/>
                    </a:lnTo>
                    <a:lnTo>
                      <a:pt x="530803" y="10636"/>
                    </a:lnTo>
                    <a:lnTo>
                      <a:pt x="505173" y="35067"/>
                    </a:lnTo>
                    <a:lnTo>
                      <a:pt x="499676" y="27304"/>
                    </a:lnTo>
                    <a:lnTo>
                      <a:pt x="493505" y="20372"/>
                    </a:lnTo>
                    <a:lnTo>
                      <a:pt x="486722" y="14334"/>
                    </a:lnTo>
                    <a:lnTo>
                      <a:pt x="479392" y="9255"/>
                    </a:lnTo>
                    <a:lnTo>
                      <a:pt x="451054" y="0"/>
                    </a:lnTo>
                    <a:close/>
                  </a:path>
                </a:pathLst>
              </a:custGeom>
              <a:solidFill>
                <a:srgbClr val="0FEFEA"/>
              </a:solidFill>
            </p:spPr>
            <p:txBody>
              <a:bodyPr wrap="square" lIns="0" tIns="0" rIns="0" bIns="0" rtlCol="0"/>
              <a:lstStyle/>
              <a:p>
                <a:endParaRPr sz="1588"/>
              </a:p>
            </p:txBody>
          </p:sp>
          <p:pic>
            <p:nvPicPr>
              <p:cNvPr id="173" name="object 173"/>
              <p:cNvPicPr/>
              <p:nvPr/>
            </p:nvPicPr>
            <p:blipFill>
              <a:blip r:embed="rId4" cstate="print"/>
              <a:stretch>
                <a:fillRect/>
              </a:stretch>
            </p:blipFill>
            <p:spPr>
              <a:xfrm>
                <a:off x="7063854" y="5525184"/>
                <a:ext cx="110803" cy="108372"/>
              </a:xfrm>
              <a:prstGeom prst="rect">
                <a:avLst/>
              </a:prstGeom>
            </p:spPr>
          </p:pic>
          <p:sp>
            <p:nvSpPr>
              <p:cNvPr id="174" name="object 174"/>
              <p:cNvSpPr/>
              <p:nvPr/>
            </p:nvSpPr>
            <p:spPr>
              <a:xfrm>
                <a:off x="6482669" y="5026393"/>
                <a:ext cx="731520" cy="649605"/>
              </a:xfrm>
              <a:custGeom>
                <a:avLst/>
                <a:gdLst/>
                <a:ahLst/>
                <a:cxnLst/>
                <a:rect l="l" t="t" r="r" b="b"/>
                <a:pathLst>
                  <a:path w="731520" h="649604">
                    <a:moveTo>
                      <a:pt x="66042" y="214021"/>
                    </a:moveTo>
                    <a:lnTo>
                      <a:pt x="68947" y="159204"/>
                    </a:lnTo>
                    <a:lnTo>
                      <a:pt x="88331" y="111641"/>
                    </a:lnTo>
                    <a:lnTo>
                      <a:pt x="121044" y="76341"/>
                    </a:lnTo>
                    <a:lnTo>
                      <a:pt x="163937" y="58312"/>
                    </a:lnTo>
                    <a:lnTo>
                      <a:pt x="182970" y="57119"/>
                    </a:lnTo>
                    <a:lnTo>
                      <a:pt x="201775" y="59736"/>
                    </a:lnTo>
                    <a:lnTo>
                      <a:pt x="219966" y="66070"/>
                    </a:lnTo>
                    <a:lnTo>
                      <a:pt x="237156" y="76026"/>
                    </a:lnTo>
                    <a:lnTo>
                      <a:pt x="259913" y="42458"/>
                    </a:lnTo>
                    <a:lnTo>
                      <a:pt x="290470" y="22749"/>
                    </a:lnTo>
                    <a:lnTo>
                      <a:pt x="324899" y="18357"/>
                    </a:lnTo>
                    <a:lnTo>
                      <a:pt x="359271" y="30739"/>
                    </a:lnTo>
                    <a:lnTo>
                      <a:pt x="364925" y="34701"/>
                    </a:lnTo>
                    <a:lnTo>
                      <a:pt x="370322" y="39141"/>
                    </a:lnTo>
                    <a:lnTo>
                      <a:pt x="375439" y="44042"/>
                    </a:lnTo>
                    <a:lnTo>
                      <a:pt x="380257" y="49385"/>
                    </a:lnTo>
                    <a:lnTo>
                      <a:pt x="398297" y="21356"/>
                    </a:lnTo>
                    <a:lnTo>
                      <a:pt x="422959" y="4463"/>
                    </a:lnTo>
                    <a:lnTo>
                      <a:pt x="451054" y="0"/>
                    </a:lnTo>
                    <a:lnTo>
                      <a:pt x="479392" y="9255"/>
                    </a:lnTo>
                    <a:lnTo>
                      <a:pt x="486722" y="14334"/>
                    </a:lnTo>
                    <a:lnTo>
                      <a:pt x="493505" y="20372"/>
                    </a:lnTo>
                    <a:lnTo>
                      <a:pt x="499676" y="27304"/>
                    </a:lnTo>
                    <a:lnTo>
                      <a:pt x="505173" y="35067"/>
                    </a:lnTo>
                    <a:lnTo>
                      <a:pt x="530803" y="10636"/>
                    </a:lnTo>
                    <a:lnTo>
                      <a:pt x="561152" y="322"/>
                    </a:lnTo>
                    <a:lnTo>
                      <a:pt x="592492" y="4496"/>
                    </a:lnTo>
                    <a:lnTo>
                      <a:pt x="621092" y="23529"/>
                    </a:lnTo>
                    <a:lnTo>
                      <a:pt x="631098" y="35708"/>
                    </a:lnTo>
                    <a:lnTo>
                      <a:pt x="639165" y="49675"/>
                    </a:lnTo>
                    <a:lnTo>
                      <a:pt x="645137" y="65101"/>
                    </a:lnTo>
                    <a:lnTo>
                      <a:pt x="648855" y="81655"/>
                    </a:lnTo>
                    <a:lnTo>
                      <a:pt x="680906" y="101150"/>
                    </a:lnTo>
                    <a:lnTo>
                      <a:pt x="703518" y="132929"/>
                    </a:lnTo>
                    <a:lnTo>
                      <a:pt x="714650" y="172667"/>
                    </a:lnTo>
                    <a:lnTo>
                      <a:pt x="712263" y="216042"/>
                    </a:lnTo>
                    <a:lnTo>
                      <a:pt x="711161" y="220946"/>
                    </a:lnTo>
                    <a:lnTo>
                      <a:pt x="709779" y="225752"/>
                    </a:lnTo>
                    <a:lnTo>
                      <a:pt x="708127" y="230423"/>
                    </a:lnTo>
                    <a:lnTo>
                      <a:pt x="728178" y="279907"/>
                    </a:lnTo>
                    <a:lnTo>
                      <a:pt x="730892" y="333007"/>
                    </a:lnTo>
                    <a:lnTo>
                      <a:pt x="716947" y="383464"/>
                    </a:lnTo>
                    <a:lnTo>
                      <a:pt x="687024" y="425018"/>
                    </a:lnTo>
                    <a:lnTo>
                      <a:pt x="647801" y="448688"/>
                    </a:lnTo>
                    <a:lnTo>
                      <a:pt x="633382" y="452337"/>
                    </a:lnTo>
                    <a:lnTo>
                      <a:pt x="625378" y="498353"/>
                    </a:lnTo>
                    <a:lnTo>
                      <a:pt x="604136" y="535787"/>
                    </a:lnTo>
                    <a:lnTo>
                      <a:pt x="572831" y="560861"/>
                    </a:lnTo>
                    <a:lnTo>
                      <a:pt x="534640" y="569797"/>
                    </a:lnTo>
                    <a:lnTo>
                      <a:pt x="521188" y="568543"/>
                    </a:lnTo>
                    <a:lnTo>
                      <a:pt x="508067" y="565088"/>
                    </a:lnTo>
                    <a:lnTo>
                      <a:pt x="495460" y="559497"/>
                    </a:lnTo>
                    <a:lnTo>
                      <a:pt x="483550" y="551834"/>
                    </a:lnTo>
                    <a:lnTo>
                      <a:pt x="462054" y="600348"/>
                    </a:lnTo>
                    <a:lnTo>
                      <a:pt x="428072" y="633931"/>
                    </a:lnTo>
                    <a:lnTo>
                      <a:pt x="386188" y="649604"/>
                    </a:lnTo>
                    <a:lnTo>
                      <a:pt x="340990" y="644391"/>
                    </a:lnTo>
                    <a:lnTo>
                      <a:pt x="322698" y="635521"/>
                    </a:lnTo>
                    <a:lnTo>
                      <a:pt x="306048" y="623077"/>
                    </a:lnTo>
                    <a:lnTo>
                      <a:pt x="291389" y="607374"/>
                    </a:lnTo>
                    <a:lnTo>
                      <a:pt x="279071" y="588724"/>
                    </a:lnTo>
                    <a:lnTo>
                      <a:pt x="240224" y="607632"/>
                    </a:lnTo>
                    <a:lnTo>
                      <a:pt x="199907" y="610768"/>
                    </a:lnTo>
                    <a:lnTo>
                      <a:pt x="161074" y="599024"/>
                    </a:lnTo>
                    <a:lnTo>
                      <a:pt x="126680" y="573294"/>
                    </a:lnTo>
                    <a:lnTo>
                      <a:pt x="99681" y="534473"/>
                    </a:lnTo>
                    <a:lnTo>
                      <a:pt x="98299" y="531615"/>
                    </a:lnTo>
                    <a:lnTo>
                      <a:pt x="69081" y="528704"/>
                    </a:lnTo>
                    <a:lnTo>
                      <a:pt x="43929" y="513045"/>
                    </a:lnTo>
                    <a:lnTo>
                      <a:pt x="25479" y="487149"/>
                    </a:lnTo>
                    <a:lnTo>
                      <a:pt x="16367" y="453529"/>
                    </a:lnTo>
                    <a:lnTo>
                      <a:pt x="16244" y="434101"/>
                    </a:lnTo>
                    <a:lnTo>
                      <a:pt x="19559" y="415314"/>
                    </a:lnTo>
                    <a:lnTo>
                      <a:pt x="26134" y="397822"/>
                    </a:lnTo>
                    <a:lnTo>
                      <a:pt x="35791" y="382274"/>
                    </a:lnTo>
                    <a:lnTo>
                      <a:pt x="14000" y="358604"/>
                    </a:lnTo>
                    <a:lnTo>
                      <a:pt x="1787" y="327682"/>
                    </a:lnTo>
                    <a:lnTo>
                      <a:pt x="0" y="293447"/>
                    </a:lnTo>
                    <a:lnTo>
                      <a:pt x="9483" y="259837"/>
                    </a:lnTo>
                    <a:lnTo>
                      <a:pt x="19942" y="243027"/>
                    </a:lnTo>
                    <a:lnTo>
                      <a:pt x="33152" y="229812"/>
                    </a:lnTo>
                    <a:lnTo>
                      <a:pt x="48513" y="220662"/>
                    </a:lnTo>
                    <a:lnTo>
                      <a:pt x="65426" y="216046"/>
                    </a:lnTo>
                    <a:lnTo>
                      <a:pt x="66042" y="214021"/>
                    </a:lnTo>
                    <a:close/>
                  </a:path>
                  <a:path w="731520" h="649604">
                    <a:moveTo>
                      <a:pt x="642460" y="541638"/>
                    </a:moveTo>
                    <a:lnTo>
                      <a:pt x="641041" y="548669"/>
                    </a:lnTo>
                    <a:lnTo>
                      <a:pt x="637170" y="554410"/>
                    </a:lnTo>
                    <a:lnTo>
                      <a:pt x="631429" y="558281"/>
                    </a:lnTo>
                    <a:lnTo>
                      <a:pt x="624398" y="559701"/>
                    </a:lnTo>
                    <a:lnTo>
                      <a:pt x="617367" y="558281"/>
                    </a:lnTo>
                    <a:lnTo>
                      <a:pt x="611626" y="554410"/>
                    </a:lnTo>
                    <a:lnTo>
                      <a:pt x="607755" y="548669"/>
                    </a:lnTo>
                    <a:lnTo>
                      <a:pt x="606336" y="541638"/>
                    </a:lnTo>
                    <a:lnTo>
                      <a:pt x="607755" y="534608"/>
                    </a:lnTo>
                    <a:lnTo>
                      <a:pt x="611626" y="528866"/>
                    </a:lnTo>
                    <a:lnTo>
                      <a:pt x="617367" y="524995"/>
                    </a:lnTo>
                    <a:lnTo>
                      <a:pt x="624398" y="523576"/>
                    </a:lnTo>
                    <a:lnTo>
                      <a:pt x="631429" y="524995"/>
                    </a:lnTo>
                    <a:lnTo>
                      <a:pt x="637170" y="528866"/>
                    </a:lnTo>
                    <a:lnTo>
                      <a:pt x="641041" y="534608"/>
                    </a:lnTo>
                    <a:lnTo>
                      <a:pt x="642460" y="541638"/>
                    </a:lnTo>
                    <a:close/>
                  </a:path>
                  <a:path w="731520" h="649604">
                    <a:moveTo>
                      <a:pt x="653435" y="535642"/>
                    </a:moveTo>
                    <a:lnTo>
                      <a:pt x="650596" y="549704"/>
                    </a:lnTo>
                    <a:lnTo>
                      <a:pt x="642854" y="561186"/>
                    </a:lnTo>
                    <a:lnTo>
                      <a:pt x="631371" y="568928"/>
                    </a:lnTo>
                    <a:lnTo>
                      <a:pt x="617310" y="571767"/>
                    </a:lnTo>
                    <a:lnTo>
                      <a:pt x="603249" y="568928"/>
                    </a:lnTo>
                    <a:lnTo>
                      <a:pt x="591766" y="561186"/>
                    </a:lnTo>
                    <a:lnTo>
                      <a:pt x="584024" y="549704"/>
                    </a:lnTo>
                    <a:lnTo>
                      <a:pt x="581185" y="535642"/>
                    </a:lnTo>
                    <a:lnTo>
                      <a:pt x="584024" y="521581"/>
                    </a:lnTo>
                    <a:lnTo>
                      <a:pt x="591766" y="510098"/>
                    </a:lnTo>
                    <a:lnTo>
                      <a:pt x="603249" y="502356"/>
                    </a:lnTo>
                    <a:lnTo>
                      <a:pt x="617310" y="499518"/>
                    </a:lnTo>
                    <a:lnTo>
                      <a:pt x="631371" y="502356"/>
                    </a:lnTo>
                    <a:lnTo>
                      <a:pt x="642854" y="510098"/>
                    </a:lnTo>
                    <a:lnTo>
                      <a:pt x="650596" y="521581"/>
                    </a:lnTo>
                    <a:lnTo>
                      <a:pt x="653435" y="535642"/>
                    </a:lnTo>
                    <a:close/>
                  </a:path>
                  <a:path w="731520" h="649604">
                    <a:moveTo>
                      <a:pt x="691988" y="552977"/>
                    </a:moveTo>
                    <a:lnTo>
                      <a:pt x="687730" y="574069"/>
                    </a:lnTo>
                    <a:lnTo>
                      <a:pt x="676117" y="591292"/>
                    </a:lnTo>
                    <a:lnTo>
                      <a:pt x="658894" y="602905"/>
                    </a:lnTo>
                    <a:lnTo>
                      <a:pt x="637802" y="607163"/>
                    </a:lnTo>
                    <a:lnTo>
                      <a:pt x="616710" y="602905"/>
                    </a:lnTo>
                    <a:lnTo>
                      <a:pt x="599486" y="591292"/>
                    </a:lnTo>
                    <a:lnTo>
                      <a:pt x="587874" y="574069"/>
                    </a:lnTo>
                    <a:lnTo>
                      <a:pt x="583616" y="552977"/>
                    </a:lnTo>
                    <a:lnTo>
                      <a:pt x="587874" y="531885"/>
                    </a:lnTo>
                    <a:lnTo>
                      <a:pt x="599486" y="514661"/>
                    </a:lnTo>
                    <a:lnTo>
                      <a:pt x="616710" y="503049"/>
                    </a:lnTo>
                    <a:lnTo>
                      <a:pt x="637802" y="498790"/>
                    </a:lnTo>
                    <a:lnTo>
                      <a:pt x="658894" y="503049"/>
                    </a:lnTo>
                    <a:lnTo>
                      <a:pt x="676117" y="514661"/>
                    </a:lnTo>
                    <a:lnTo>
                      <a:pt x="687730" y="531885"/>
                    </a:lnTo>
                    <a:lnTo>
                      <a:pt x="691988" y="552977"/>
                    </a:lnTo>
                    <a:close/>
                  </a:path>
                  <a:path w="731520" h="649604">
                    <a:moveTo>
                      <a:pt x="79470" y="391738"/>
                    </a:moveTo>
                    <a:lnTo>
                      <a:pt x="68275" y="391759"/>
                    </a:lnTo>
                    <a:lnTo>
                      <a:pt x="57268" y="389732"/>
                    </a:lnTo>
                    <a:lnTo>
                      <a:pt x="46639" y="385709"/>
                    </a:lnTo>
                    <a:lnTo>
                      <a:pt x="36576" y="379742"/>
                    </a:lnTo>
                  </a:path>
                  <a:path w="731520" h="649604">
                    <a:moveTo>
                      <a:pt x="117316" y="523020"/>
                    </a:moveTo>
                    <a:lnTo>
                      <a:pt x="111296" y="525920"/>
                    </a:lnTo>
                    <a:lnTo>
                      <a:pt x="104986" y="527850"/>
                    </a:lnTo>
                    <a:lnTo>
                      <a:pt x="98549" y="528762"/>
                    </a:lnTo>
                  </a:path>
                  <a:path w="731520" h="649604">
                    <a:moveTo>
                      <a:pt x="279029" y="586102"/>
                    </a:moveTo>
                    <a:lnTo>
                      <a:pt x="275773" y="579837"/>
                    </a:lnTo>
                    <a:lnTo>
                      <a:pt x="272799" y="573374"/>
                    </a:lnTo>
                    <a:lnTo>
                      <a:pt x="270113" y="566728"/>
                    </a:lnTo>
                    <a:lnTo>
                      <a:pt x="267722" y="559912"/>
                    </a:lnTo>
                  </a:path>
                  <a:path w="731520" h="649604">
                    <a:moveTo>
                      <a:pt x="488139" y="520792"/>
                    </a:moveTo>
                    <a:lnTo>
                      <a:pt x="487481" y="528078"/>
                    </a:lnTo>
                    <a:lnTo>
                      <a:pt x="486508" y="535306"/>
                    </a:lnTo>
                    <a:lnTo>
                      <a:pt x="485221" y="542462"/>
                    </a:lnTo>
                    <a:lnTo>
                      <a:pt x="483624" y="549530"/>
                    </a:lnTo>
                  </a:path>
                  <a:path w="731520" h="649604">
                    <a:moveTo>
                      <a:pt x="577920" y="343226"/>
                    </a:moveTo>
                    <a:lnTo>
                      <a:pt x="600884" y="362022"/>
                    </a:lnTo>
                    <a:lnTo>
                      <a:pt x="618290" y="387309"/>
                    </a:lnTo>
                    <a:lnTo>
                      <a:pt x="629275" y="417406"/>
                    </a:lnTo>
                    <a:lnTo>
                      <a:pt x="632977" y="450630"/>
                    </a:lnTo>
                  </a:path>
                  <a:path w="731520" h="649604">
                    <a:moveTo>
                      <a:pt x="707781" y="228832"/>
                    </a:moveTo>
                    <a:lnTo>
                      <a:pt x="703126" y="240141"/>
                    </a:lnTo>
                    <a:lnTo>
                      <a:pt x="697448" y="250690"/>
                    </a:lnTo>
                    <a:lnTo>
                      <a:pt x="690807" y="260379"/>
                    </a:lnTo>
                    <a:lnTo>
                      <a:pt x="683266" y="269106"/>
                    </a:lnTo>
                  </a:path>
                  <a:path w="731520" h="649604">
                    <a:moveTo>
                      <a:pt x="648955" y="79397"/>
                    </a:moveTo>
                    <a:lnTo>
                      <a:pt x="649892" y="85672"/>
                    </a:lnTo>
                    <a:lnTo>
                      <a:pt x="650325" y="92042"/>
                    </a:lnTo>
                    <a:lnTo>
                      <a:pt x="650249" y="98417"/>
                    </a:lnTo>
                  </a:path>
                  <a:path w="731520" h="649604">
                    <a:moveTo>
                      <a:pt x="492389" y="57211"/>
                    </a:moveTo>
                    <a:lnTo>
                      <a:pt x="494977" y="50747"/>
                    </a:lnTo>
                    <a:lnTo>
                      <a:pt x="497941" y="44533"/>
                    </a:lnTo>
                    <a:lnTo>
                      <a:pt x="501269" y="38594"/>
                    </a:lnTo>
                    <a:lnTo>
                      <a:pt x="504949" y="32954"/>
                    </a:lnTo>
                  </a:path>
                  <a:path w="731520" h="649604">
                    <a:moveTo>
                      <a:pt x="374923" y="68770"/>
                    </a:moveTo>
                    <a:lnTo>
                      <a:pt x="376226" y="61519"/>
                    </a:lnTo>
                    <a:lnTo>
                      <a:pt x="378269" y="54492"/>
                    </a:lnTo>
                    <a:lnTo>
                      <a:pt x="381006" y="47851"/>
                    </a:lnTo>
                  </a:path>
                  <a:path w="731520" h="649604">
                    <a:moveTo>
                      <a:pt x="237069" y="75875"/>
                    </a:moveTo>
                    <a:lnTo>
                      <a:pt x="242946" y="80335"/>
                    </a:lnTo>
                    <a:lnTo>
                      <a:pt x="248584" y="85214"/>
                    </a:lnTo>
                    <a:lnTo>
                      <a:pt x="253967" y="90497"/>
                    </a:lnTo>
                    <a:lnTo>
                      <a:pt x="259080" y="96170"/>
                    </a:lnTo>
                  </a:path>
                  <a:path w="731520" h="649604">
                    <a:moveTo>
                      <a:pt x="69886" y="235379"/>
                    </a:moveTo>
                    <a:lnTo>
                      <a:pt x="68142" y="228395"/>
                    </a:lnTo>
                    <a:lnTo>
                      <a:pt x="66857" y="221255"/>
                    </a:lnTo>
                    <a:lnTo>
                      <a:pt x="66045" y="214026"/>
                    </a:lnTo>
                  </a:path>
                </a:pathLst>
              </a:custGeom>
              <a:ln w="30479">
                <a:solidFill>
                  <a:srgbClr val="000000"/>
                </a:solidFill>
              </a:ln>
            </p:spPr>
            <p:txBody>
              <a:bodyPr wrap="square" lIns="0" tIns="0" rIns="0" bIns="0" rtlCol="0"/>
              <a:lstStyle/>
              <a:p>
                <a:endParaRPr sz="1588"/>
              </a:p>
            </p:txBody>
          </p:sp>
        </p:grpSp>
        <p:sp>
          <p:nvSpPr>
            <p:cNvPr id="175" name="object 175"/>
            <p:cNvSpPr txBox="1"/>
            <p:nvPr/>
          </p:nvSpPr>
          <p:spPr>
            <a:xfrm>
              <a:off x="5887555" y="4583653"/>
              <a:ext cx="533400" cy="215089"/>
            </a:xfrm>
            <a:prstGeom prst="rect">
              <a:avLst/>
            </a:prstGeom>
          </p:spPr>
          <p:txBody>
            <a:bodyPr vert="horz" wrap="square" lIns="0" tIns="11206" rIns="0" bIns="0" rtlCol="0">
              <a:spAutoFit/>
            </a:bodyPr>
            <a:lstStyle/>
            <a:p>
              <a:pPr marL="11206">
                <a:spcBef>
                  <a:spcPts val="88"/>
                </a:spcBef>
              </a:pPr>
              <a:r>
                <a:rPr sz="1324" b="1" spc="-9" dirty="0">
                  <a:latin typeface="Times New Roman"/>
                  <a:cs typeface="Times New Roman"/>
                </a:rPr>
                <a:t>Bubble</a:t>
              </a:r>
              <a:endParaRPr sz="1324">
                <a:latin typeface="Times New Roman"/>
                <a:cs typeface="Times New Roman"/>
              </a:endParaRPr>
            </a:p>
          </p:txBody>
        </p:sp>
        <p:grpSp>
          <p:nvGrpSpPr>
            <p:cNvPr id="176" name="object 176"/>
            <p:cNvGrpSpPr/>
            <p:nvPr/>
          </p:nvGrpSpPr>
          <p:grpSpPr>
            <a:xfrm>
              <a:off x="6610795" y="4421606"/>
              <a:ext cx="672353" cy="600075"/>
              <a:chOff x="7339834" y="5011153"/>
              <a:chExt cx="762000" cy="680085"/>
            </a:xfrm>
          </p:grpSpPr>
          <p:sp>
            <p:nvSpPr>
              <p:cNvPr id="177" name="object 177"/>
              <p:cNvSpPr/>
              <p:nvPr/>
            </p:nvSpPr>
            <p:spPr>
              <a:xfrm>
                <a:off x="7355073" y="5026393"/>
                <a:ext cx="731520" cy="649605"/>
              </a:xfrm>
              <a:custGeom>
                <a:avLst/>
                <a:gdLst/>
                <a:ahLst/>
                <a:cxnLst/>
                <a:rect l="l" t="t" r="r" b="b"/>
                <a:pathLst>
                  <a:path w="731520" h="649604">
                    <a:moveTo>
                      <a:pt x="451055" y="0"/>
                    </a:moveTo>
                    <a:lnTo>
                      <a:pt x="422960" y="4464"/>
                    </a:lnTo>
                    <a:lnTo>
                      <a:pt x="398298" y="21356"/>
                    </a:lnTo>
                    <a:lnTo>
                      <a:pt x="380258" y="49385"/>
                    </a:lnTo>
                    <a:lnTo>
                      <a:pt x="375440" y="44042"/>
                    </a:lnTo>
                    <a:lnTo>
                      <a:pt x="370322" y="39141"/>
                    </a:lnTo>
                    <a:lnTo>
                      <a:pt x="364926" y="34701"/>
                    </a:lnTo>
                    <a:lnTo>
                      <a:pt x="359271" y="30739"/>
                    </a:lnTo>
                    <a:lnTo>
                      <a:pt x="324899" y="18357"/>
                    </a:lnTo>
                    <a:lnTo>
                      <a:pt x="290470" y="22749"/>
                    </a:lnTo>
                    <a:lnTo>
                      <a:pt x="259913" y="42458"/>
                    </a:lnTo>
                    <a:lnTo>
                      <a:pt x="237156" y="76026"/>
                    </a:lnTo>
                    <a:lnTo>
                      <a:pt x="219966" y="66070"/>
                    </a:lnTo>
                    <a:lnTo>
                      <a:pt x="201775" y="59736"/>
                    </a:lnTo>
                    <a:lnTo>
                      <a:pt x="182970" y="57119"/>
                    </a:lnTo>
                    <a:lnTo>
                      <a:pt x="163938" y="58312"/>
                    </a:lnTo>
                    <a:lnTo>
                      <a:pt x="121044" y="76341"/>
                    </a:lnTo>
                    <a:lnTo>
                      <a:pt x="88331" y="111641"/>
                    </a:lnTo>
                    <a:lnTo>
                      <a:pt x="68947" y="159204"/>
                    </a:lnTo>
                    <a:lnTo>
                      <a:pt x="66042" y="214020"/>
                    </a:lnTo>
                    <a:lnTo>
                      <a:pt x="65426" y="216046"/>
                    </a:lnTo>
                    <a:lnTo>
                      <a:pt x="19942" y="243027"/>
                    </a:lnTo>
                    <a:lnTo>
                      <a:pt x="0" y="293447"/>
                    </a:lnTo>
                    <a:lnTo>
                      <a:pt x="1788" y="327682"/>
                    </a:lnTo>
                    <a:lnTo>
                      <a:pt x="14001" y="358604"/>
                    </a:lnTo>
                    <a:lnTo>
                      <a:pt x="35792" y="382274"/>
                    </a:lnTo>
                    <a:lnTo>
                      <a:pt x="26135" y="397822"/>
                    </a:lnTo>
                    <a:lnTo>
                      <a:pt x="19560" y="415314"/>
                    </a:lnTo>
                    <a:lnTo>
                      <a:pt x="16245" y="434100"/>
                    </a:lnTo>
                    <a:lnTo>
                      <a:pt x="16367" y="453529"/>
                    </a:lnTo>
                    <a:lnTo>
                      <a:pt x="25479" y="487149"/>
                    </a:lnTo>
                    <a:lnTo>
                      <a:pt x="43929" y="513045"/>
                    </a:lnTo>
                    <a:lnTo>
                      <a:pt x="69081" y="528704"/>
                    </a:lnTo>
                    <a:lnTo>
                      <a:pt x="98299" y="531614"/>
                    </a:lnTo>
                    <a:lnTo>
                      <a:pt x="99681" y="534473"/>
                    </a:lnTo>
                    <a:lnTo>
                      <a:pt x="126681" y="573294"/>
                    </a:lnTo>
                    <a:lnTo>
                      <a:pt x="161075" y="599024"/>
                    </a:lnTo>
                    <a:lnTo>
                      <a:pt x="199908" y="610767"/>
                    </a:lnTo>
                    <a:lnTo>
                      <a:pt x="240225" y="607632"/>
                    </a:lnTo>
                    <a:lnTo>
                      <a:pt x="279072" y="588724"/>
                    </a:lnTo>
                    <a:lnTo>
                      <a:pt x="291389" y="607374"/>
                    </a:lnTo>
                    <a:lnTo>
                      <a:pt x="306048" y="623077"/>
                    </a:lnTo>
                    <a:lnTo>
                      <a:pt x="322698" y="635521"/>
                    </a:lnTo>
                    <a:lnTo>
                      <a:pt x="340991" y="644390"/>
                    </a:lnTo>
                    <a:lnTo>
                      <a:pt x="386189" y="649604"/>
                    </a:lnTo>
                    <a:lnTo>
                      <a:pt x="428072" y="633931"/>
                    </a:lnTo>
                    <a:lnTo>
                      <a:pt x="462055" y="600348"/>
                    </a:lnTo>
                    <a:lnTo>
                      <a:pt x="483551" y="551834"/>
                    </a:lnTo>
                    <a:lnTo>
                      <a:pt x="495460" y="559497"/>
                    </a:lnTo>
                    <a:lnTo>
                      <a:pt x="508067" y="565089"/>
                    </a:lnTo>
                    <a:lnTo>
                      <a:pt x="521189" y="568543"/>
                    </a:lnTo>
                    <a:lnTo>
                      <a:pt x="534640" y="569797"/>
                    </a:lnTo>
                    <a:lnTo>
                      <a:pt x="572831" y="560862"/>
                    </a:lnTo>
                    <a:lnTo>
                      <a:pt x="604136" y="535787"/>
                    </a:lnTo>
                    <a:lnTo>
                      <a:pt x="625379" y="498353"/>
                    </a:lnTo>
                    <a:lnTo>
                      <a:pt x="633383" y="452337"/>
                    </a:lnTo>
                    <a:lnTo>
                      <a:pt x="647801" y="448688"/>
                    </a:lnTo>
                    <a:lnTo>
                      <a:pt x="687024" y="425018"/>
                    </a:lnTo>
                    <a:lnTo>
                      <a:pt x="716947" y="383464"/>
                    </a:lnTo>
                    <a:lnTo>
                      <a:pt x="730892" y="333007"/>
                    </a:lnTo>
                    <a:lnTo>
                      <a:pt x="728178" y="279907"/>
                    </a:lnTo>
                    <a:lnTo>
                      <a:pt x="708127" y="230423"/>
                    </a:lnTo>
                    <a:lnTo>
                      <a:pt x="709780" y="225751"/>
                    </a:lnTo>
                    <a:lnTo>
                      <a:pt x="711161" y="220946"/>
                    </a:lnTo>
                    <a:lnTo>
                      <a:pt x="712263" y="216042"/>
                    </a:lnTo>
                    <a:lnTo>
                      <a:pt x="714650" y="172667"/>
                    </a:lnTo>
                    <a:lnTo>
                      <a:pt x="703518" y="132929"/>
                    </a:lnTo>
                    <a:lnTo>
                      <a:pt x="680907" y="101150"/>
                    </a:lnTo>
                    <a:lnTo>
                      <a:pt x="648855" y="81655"/>
                    </a:lnTo>
                    <a:lnTo>
                      <a:pt x="645137" y="65101"/>
                    </a:lnTo>
                    <a:lnTo>
                      <a:pt x="621092" y="23529"/>
                    </a:lnTo>
                    <a:lnTo>
                      <a:pt x="561153" y="322"/>
                    </a:lnTo>
                    <a:lnTo>
                      <a:pt x="530804" y="10636"/>
                    </a:lnTo>
                    <a:lnTo>
                      <a:pt x="505174" y="35067"/>
                    </a:lnTo>
                    <a:lnTo>
                      <a:pt x="499677" y="27304"/>
                    </a:lnTo>
                    <a:lnTo>
                      <a:pt x="493505" y="20372"/>
                    </a:lnTo>
                    <a:lnTo>
                      <a:pt x="486722" y="14334"/>
                    </a:lnTo>
                    <a:lnTo>
                      <a:pt x="479393" y="9255"/>
                    </a:lnTo>
                    <a:lnTo>
                      <a:pt x="451055" y="0"/>
                    </a:lnTo>
                    <a:close/>
                  </a:path>
                </a:pathLst>
              </a:custGeom>
              <a:solidFill>
                <a:srgbClr val="0FEFEA"/>
              </a:solidFill>
            </p:spPr>
            <p:txBody>
              <a:bodyPr wrap="square" lIns="0" tIns="0" rIns="0" bIns="0" rtlCol="0"/>
              <a:lstStyle/>
              <a:p>
                <a:endParaRPr sz="1588"/>
              </a:p>
            </p:txBody>
          </p:sp>
          <p:pic>
            <p:nvPicPr>
              <p:cNvPr id="178" name="object 178"/>
              <p:cNvPicPr/>
              <p:nvPr/>
            </p:nvPicPr>
            <p:blipFill>
              <a:blip r:embed="rId5" cstate="print"/>
              <a:stretch>
                <a:fillRect/>
              </a:stretch>
            </p:blipFill>
            <p:spPr>
              <a:xfrm>
                <a:off x="7936260" y="5525184"/>
                <a:ext cx="110802" cy="108372"/>
              </a:xfrm>
              <a:prstGeom prst="rect">
                <a:avLst/>
              </a:prstGeom>
            </p:spPr>
          </p:pic>
          <p:sp>
            <p:nvSpPr>
              <p:cNvPr id="179" name="object 179"/>
              <p:cNvSpPr/>
              <p:nvPr/>
            </p:nvSpPr>
            <p:spPr>
              <a:xfrm>
                <a:off x="7355074" y="5026393"/>
                <a:ext cx="731520" cy="649605"/>
              </a:xfrm>
              <a:custGeom>
                <a:avLst/>
                <a:gdLst/>
                <a:ahLst/>
                <a:cxnLst/>
                <a:rect l="l" t="t" r="r" b="b"/>
                <a:pathLst>
                  <a:path w="731520" h="649604">
                    <a:moveTo>
                      <a:pt x="66042" y="214021"/>
                    </a:moveTo>
                    <a:lnTo>
                      <a:pt x="68947" y="159204"/>
                    </a:lnTo>
                    <a:lnTo>
                      <a:pt x="88331" y="111641"/>
                    </a:lnTo>
                    <a:lnTo>
                      <a:pt x="121044" y="76341"/>
                    </a:lnTo>
                    <a:lnTo>
                      <a:pt x="163937" y="58312"/>
                    </a:lnTo>
                    <a:lnTo>
                      <a:pt x="182970" y="57119"/>
                    </a:lnTo>
                    <a:lnTo>
                      <a:pt x="201775" y="59736"/>
                    </a:lnTo>
                    <a:lnTo>
                      <a:pt x="219966" y="66070"/>
                    </a:lnTo>
                    <a:lnTo>
                      <a:pt x="237156" y="76026"/>
                    </a:lnTo>
                    <a:lnTo>
                      <a:pt x="259913" y="42458"/>
                    </a:lnTo>
                    <a:lnTo>
                      <a:pt x="290470" y="22749"/>
                    </a:lnTo>
                    <a:lnTo>
                      <a:pt x="324899" y="18357"/>
                    </a:lnTo>
                    <a:lnTo>
                      <a:pt x="359271" y="30739"/>
                    </a:lnTo>
                    <a:lnTo>
                      <a:pt x="364925" y="34701"/>
                    </a:lnTo>
                    <a:lnTo>
                      <a:pt x="370322" y="39141"/>
                    </a:lnTo>
                    <a:lnTo>
                      <a:pt x="375439" y="44042"/>
                    </a:lnTo>
                    <a:lnTo>
                      <a:pt x="380257" y="49385"/>
                    </a:lnTo>
                    <a:lnTo>
                      <a:pt x="398297" y="21356"/>
                    </a:lnTo>
                    <a:lnTo>
                      <a:pt x="422959" y="4463"/>
                    </a:lnTo>
                    <a:lnTo>
                      <a:pt x="451054" y="0"/>
                    </a:lnTo>
                    <a:lnTo>
                      <a:pt x="479392" y="9255"/>
                    </a:lnTo>
                    <a:lnTo>
                      <a:pt x="486722" y="14334"/>
                    </a:lnTo>
                    <a:lnTo>
                      <a:pt x="493505" y="20372"/>
                    </a:lnTo>
                    <a:lnTo>
                      <a:pt x="499676" y="27304"/>
                    </a:lnTo>
                    <a:lnTo>
                      <a:pt x="505173" y="35067"/>
                    </a:lnTo>
                    <a:lnTo>
                      <a:pt x="530803" y="10636"/>
                    </a:lnTo>
                    <a:lnTo>
                      <a:pt x="561152" y="322"/>
                    </a:lnTo>
                    <a:lnTo>
                      <a:pt x="592492" y="4496"/>
                    </a:lnTo>
                    <a:lnTo>
                      <a:pt x="621092" y="23529"/>
                    </a:lnTo>
                    <a:lnTo>
                      <a:pt x="631098" y="35708"/>
                    </a:lnTo>
                    <a:lnTo>
                      <a:pt x="639165" y="49675"/>
                    </a:lnTo>
                    <a:lnTo>
                      <a:pt x="645137" y="65101"/>
                    </a:lnTo>
                    <a:lnTo>
                      <a:pt x="648855" y="81655"/>
                    </a:lnTo>
                    <a:lnTo>
                      <a:pt x="680906" y="101150"/>
                    </a:lnTo>
                    <a:lnTo>
                      <a:pt x="703518" y="132929"/>
                    </a:lnTo>
                    <a:lnTo>
                      <a:pt x="714650" y="172667"/>
                    </a:lnTo>
                    <a:lnTo>
                      <a:pt x="712263" y="216042"/>
                    </a:lnTo>
                    <a:lnTo>
                      <a:pt x="711161" y="220946"/>
                    </a:lnTo>
                    <a:lnTo>
                      <a:pt x="709779" y="225752"/>
                    </a:lnTo>
                    <a:lnTo>
                      <a:pt x="708127" y="230423"/>
                    </a:lnTo>
                    <a:lnTo>
                      <a:pt x="728178" y="279907"/>
                    </a:lnTo>
                    <a:lnTo>
                      <a:pt x="730892" y="333007"/>
                    </a:lnTo>
                    <a:lnTo>
                      <a:pt x="716947" y="383464"/>
                    </a:lnTo>
                    <a:lnTo>
                      <a:pt x="687024" y="425018"/>
                    </a:lnTo>
                    <a:lnTo>
                      <a:pt x="647801" y="448688"/>
                    </a:lnTo>
                    <a:lnTo>
                      <a:pt x="633382" y="452337"/>
                    </a:lnTo>
                    <a:lnTo>
                      <a:pt x="625378" y="498353"/>
                    </a:lnTo>
                    <a:lnTo>
                      <a:pt x="604136" y="535787"/>
                    </a:lnTo>
                    <a:lnTo>
                      <a:pt x="572831" y="560861"/>
                    </a:lnTo>
                    <a:lnTo>
                      <a:pt x="534640" y="569797"/>
                    </a:lnTo>
                    <a:lnTo>
                      <a:pt x="521188" y="568543"/>
                    </a:lnTo>
                    <a:lnTo>
                      <a:pt x="508067" y="565088"/>
                    </a:lnTo>
                    <a:lnTo>
                      <a:pt x="495460" y="559497"/>
                    </a:lnTo>
                    <a:lnTo>
                      <a:pt x="483550" y="551834"/>
                    </a:lnTo>
                    <a:lnTo>
                      <a:pt x="462054" y="600348"/>
                    </a:lnTo>
                    <a:lnTo>
                      <a:pt x="428072" y="633931"/>
                    </a:lnTo>
                    <a:lnTo>
                      <a:pt x="386188" y="649604"/>
                    </a:lnTo>
                    <a:lnTo>
                      <a:pt x="340990" y="644391"/>
                    </a:lnTo>
                    <a:lnTo>
                      <a:pt x="322698" y="635521"/>
                    </a:lnTo>
                    <a:lnTo>
                      <a:pt x="306048" y="623077"/>
                    </a:lnTo>
                    <a:lnTo>
                      <a:pt x="291389" y="607374"/>
                    </a:lnTo>
                    <a:lnTo>
                      <a:pt x="279071" y="588724"/>
                    </a:lnTo>
                    <a:lnTo>
                      <a:pt x="240224" y="607632"/>
                    </a:lnTo>
                    <a:lnTo>
                      <a:pt x="199907" y="610768"/>
                    </a:lnTo>
                    <a:lnTo>
                      <a:pt x="161074" y="599024"/>
                    </a:lnTo>
                    <a:lnTo>
                      <a:pt x="126680" y="573294"/>
                    </a:lnTo>
                    <a:lnTo>
                      <a:pt x="99681" y="534473"/>
                    </a:lnTo>
                    <a:lnTo>
                      <a:pt x="98299" y="531615"/>
                    </a:lnTo>
                    <a:lnTo>
                      <a:pt x="69081" y="528704"/>
                    </a:lnTo>
                    <a:lnTo>
                      <a:pt x="43929" y="513045"/>
                    </a:lnTo>
                    <a:lnTo>
                      <a:pt x="25479" y="487149"/>
                    </a:lnTo>
                    <a:lnTo>
                      <a:pt x="16367" y="453529"/>
                    </a:lnTo>
                    <a:lnTo>
                      <a:pt x="16244" y="434101"/>
                    </a:lnTo>
                    <a:lnTo>
                      <a:pt x="19559" y="415314"/>
                    </a:lnTo>
                    <a:lnTo>
                      <a:pt x="26134" y="397822"/>
                    </a:lnTo>
                    <a:lnTo>
                      <a:pt x="35791" y="382274"/>
                    </a:lnTo>
                    <a:lnTo>
                      <a:pt x="14000" y="358604"/>
                    </a:lnTo>
                    <a:lnTo>
                      <a:pt x="1787" y="327682"/>
                    </a:lnTo>
                    <a:lnTo>
                      <a:pt x="0" y="293447"/>
                    </a:lnTo>
                    <a:lnTo>
                      <a:pt x="9483" y="259837"/>
                    </a:lnTo>
                    <a:lnTo>
                      <a:pt x="19942" y="243027"/>
                    </a:lnTo>
                    <a:lnTo>
                      <a:pt x="33152" y="229812"/>
                    </a:lnTo>
                    <a:lnTo>
                      <a:pt x="48513" y="220662"/>
                    </a:lnTo>
                    <a:lnTo>
                      <a:pt x="65426" y="216046"/>
                    </a:lnTo>
                    <a:lnTo>
                      <a:pt x="66042" y="214021"/>
                    </a:lnTo>
                    <a:close/>
                  </a:path>
                  <a:path w="731520" h="649604">
                    <a:moveTo>
                      <a:pt x="642460" y="541638"/>
                    </a:moveTo>
                    <a:lnTo>
                      <a:pt x="641041" y="548669"/>
                    </a:lnTo>
                    <a:lnTo>
                      <a:pt x="637170" y="554410"/>
                    </a:lnTo>
                    <a:lnTo>
                      <a:pt x="631429" y="558281"/>
                    </a:lnTo>
                    <a:lnTo>
                      <a:pt x="624398" y="559701"/>
                    </a:lnTo>
                    <a:lnTo>
                      <a:pt x="617367" y="558281"/>
                    </a:lnTo>
                    <a:lnTo>
                      <a:pt x="611626" y="554410"/>
                    </a:lnTo>
                    <a:lnTo>
                      <a:pt x="607755" y="548669"/>
                    </a:lnTo>
                    <a:lnTo>
                      <a:pt x="606336" y="541638"/>
                    </a:lnTo>
                    <a:lnTo>
                      <a:pt x="607755" y="534608"/>
                    </a:lnTo>
                    <a:lnTo>
                      <a:pt x="611626" y="528866"/>
                    </a:lnTo>
                    <a:lnTo>
                      <a:pt x="617367" y="524995"/>
                    </a:lnTo>
                    <a:lnTo>
                      <a:pt x="624398" y="523576"/>
                    </a:lnTo>
                    <a:lnTo>
                      <a:pt x="631429" y="524995"/>
                    </a:lnTo>
                    <a:lnTo>
                      <a:pt x="637170" y="528866"/>
                    </a:lnTo>
                    <a:lnTo>
                      <a:pt x="641041" y="534608"/>
                    </a:lnTo>
                    <a:lnTo>
                      <a:pt x="642460" y="541638"/>
                    </a:lnTo>
                    <a:close/>
                  </a:path>
                  <a:path w="731520" h="649604">
                    <a:moveTo>
                      <a:pt x="653435" y="535642"/>
                    </a:moveTo>
                    <a:lnTo>
                      <a:pt x="650596" y="549704"/>
                    </a:lnTo>
                    <a:lnTo>
                      <a:pt x="642854" y="561186"/>
                    </a:lnTo>
                    <a:lnTo>
                      <a:pt x="631371" y="568928"/>
                    </a:lnTo>
                    <a:lnTo>
                      <a:pt x="617310" y="571767"/>
                    </a:lnTo>
                    <a:lnTo>
                      <a:pt x="603249" y="568928"/>
                    </a:lnTo>
                    <a:lnTo>
                      <a:pt x="591766" y="561186"/>
                    </a:lnTo>
                    <a:lnTo>
                      <a:pt x="584024" y="549704"/>
                    </a:lnTo>
                    <a:lnTo>
                      <a:pt x="581185" y="535642"/>
                    </a:lnTo>
                    <a:lnTo>
                      <a:pt x="584024" y="521581"/>
                    </a:lnTo>
                    <a:lnTo>
                      <a:pt x="591766" y="510098"/>
                    </a:lnTo>
                    <a:lnTo>
                      <a:pt x="603249" y="502356"/>
                    </a:lnTo>
                    <a:lnTo>
                      <a:pt x="617310" y="499518"/>
                    </a:lnTo>
                    <a:lnTo>
                      <a:pt x="631371" y="502356"/>
                    </a:lnTo>
                    <a:lnTo>
                      <a:pt x="642854" y="510098"/>
                    </a:lnTo>
                    <a:lnTo>
                      <a:pt x="650596" y="521581"/>
                    </a:lnTo>
                    <a:lnTo>
                      <a:pt x="653435" y="535642"/>
                    </a:lnTo>
                    <a:close/>
                  </a:path>
                  <a:path w="731520" h="649604">
                    <a:moveTo>
                      <a:pt x="691988" y="552977"/>
                    </a:moveTo>
                    <a:lnTo>
                      <a:pt x="687730" y="574069"/>
                    </a:lnTo>
                    <a:lnTo>
                      <a:pt x="676117" y="591292"/>
                    </a:lnTo>
                    <a:lnTo>
                      <a:pt x="658894" y="602905"/>
                    </a:lnTo>
                    <a:lnTo>
                      <a:pt x="637802" y="607163"/>
                    </a:lnTo>
                    <a:lnTo>
                      <a:pt x="616710" y="602905"/>
                    </a:lnTo>
                    <a:lnTo>
                      <a:pt x="599486" y="591292"/>
                    </a:lnTo>
                    <a:lnTo>
                      <a:pt x="587874" y="574069"/>
                    </a:lnTo>
                    <a:lnTo>
                      <a:pt x="583616" y="552977"/>
                    </a:lnTo>
                    <a:lnTo>
                      <a:pt x="587874" y="531885"/>
                    </a:lnTo>
                    <a:lnTo>
                      <a:pt x="599486" y="514661"/>
                    </a:lnTo>
                    <a:lnTo>
                      <a:pt x="616710" y="503049"/>
                    </a:lnTo>
                    <a:lnTo>
                      <a:pt x="637802" y="498790"/>
                    </a:lnTo>
                    <a:lnTo>
                      <a:pt x="658894" y="503049"/>
                    </a:lnTo>
                    <a:lnTo>
                      <a:pt x="676117" y="514661"/>
                    </a:lnTo>
                    <a:lnTo>
                      <a:pt x="687730" y="531885"/>
                    </a:lnTo>
                    <a:lnTo>
                      <a:pt x="691988" y="552977"/>
                    </a:lnTo>
                    <a:close/>
                  </a:path>
                  <a:path w="731520" h="649604">
                    <a:moveTo>
                      <a:pt x="79470" y="391738"/>
                    </a:moveTo>
                    <a:lnTo>
                      <a:pt x="68275" y="391759"/>
                    </a:lnTo>
                    <a:lnTo>
                      <a:pt x="57268" y="389732"/>
                    </a:lnTo>
                    <a:lnTo>
                      <a:pt x="46639" y="385709"/>
                    </a:lnTo>
                    <a:lnTo>
                      <a:pt x="36576" y="379742"/>
                    </a:lnTo>
                  </a:path>
                  <a:path w="731520" h="649604">
                    <a:moveTo>
                      <a:pt x="117316" y="523020"/>
                    </a:moveTo>
                    <a:lnTo>
                      <a:pt x="111296" y="525920"/>
                    </a:lnTo>
                    <a:lnTo>
                      <a:pt x="104986" y="527850"/>
                    </a:lnTo>
                    <a:lnTo>
                      <a:pt x="98549" y="528762"/>
                    </a:lnTo>
                  </a:path>
                  <a:path w="731520" h="649604">
                    <a:moveTo>
                      <a:pt x="279029" y="586102"/>
                    </a:moveTo>
                    <a:lnTo>
                      <a:pt x="275773" y="579837"/>
                    </a:lnTo>
                    <a:lnTo>
                      <a:pt x="272799" y="573374"/>
                    </a:lnTo>
                    <a:lnTo>
                      <a:pt x="270113" y="566728"/>
                    </a:lnTo>
                    <a:lnTo>
                      <a:pt x="267722" y="559912"/>
                    </a:lnTo>
                  </a:path>
                  <a:path w="731520" h="649604">
                    <a:moveTo>
                      <a:pt x="488139" y="520792"/>
                    </a:moveTo>
                    <a:lnTo>
                      <a:pt x="487481" y="528078"/>
                    </a:lnTo>
                    <a:lnTo>
                      <a:pt x="486508" y="535306"/>
                    </a:lnTo>
                    <a:lnTo>
                      <a:pt x="485221" y="542462"/>
                    </a:lnTo>
                    <a:lnTo>
                      <a:pt x="483624" y="549530"/>
                    </a:lnTo>
                  </a:path>
                  <a:path w="731520" h="649604">
                    <a:moveTo>
                      <a:pt x="577920" y="343226"/>
                    </a:moveTo>
                    <a:lnTo>
                      <a:pt x="600884" y="362022"/>
                    </a:lnTo>
                    <a:lnTo>
                      <a:pt x="618290" y="387309"/>
                    </a:lnTo>
                    <a:lnTo>
                      <a:pt x="629275" y="417406"/>
                    </a:lnTo>
                    <a:lnTo>
                      <a:pt x="632977" y="450630"/>
                    </a:lnTo>
                  </a:path>
                  <a:path w="731520" h="649604">
                    <a:moveTo>
                      <a:pt x="707781" y="228832"/>
                    </a:moveTo>
                    <a:lnTo>
                      <a:pt x="703126" y="240141"/>
                    </a:lnTo>
                    <a:lnTo>
                      <a:pt x="697448" y="250690"/>
                    </a:lnTo>
                    <a:lnTo>
                      <a:pt x="690807" y="260379"/>
                    </a:lnTo>
                    <a:lnTo>
                      <a:pt x="683266" y="269106"/>
                    </a:lnTo>
                  </a:path>
                  <a:path w="731520" h="649604">
                    <a:moveTo>
                      <a:pt x="648955" y="79397"/>
                    </a:moveTo>
                    <a:lnTo>
                      <a:pt x="649892" y="85672"/>
                    </a:lnTo>
                    <a:lnTo>
                      <a:pt x="650325" y="92042"/>
                    </a:lnTo>
                    <a:lnTo>
                      <a:pt x="650249" y="98417"/>
                    </a:lnTo>
                  </a:path>
                  <a:path w="731520" h="649604">
                    <a:moveTo>
                      <a:pt x="492389" y="57211"/>
                    </a:moveTo>
                    <a:lnTo>
                      <a:pt x="494977" y="50747"/>
                    </a:lnTo>
                    <a:lnTo>
                      <a:pt x="497941" y="44533"/>
                    </a:lnTo>
                    <a:lnTo>
                      <a:pt x="501269" y="38594"/>
                    </a:lnTo>
                    <a:lnTo>
                      <a:pt x="504949" y="32954"/>
                    </a:lnTo>
                  </a:path>
                  <a:path w="731520" h="649604">
                    <a:moveTo>
                      <a:pt x="374923" y="68770"/>
                    </a:moveTo>
                    <a:lnTo>
                      <a:pt x="376226" y="61519"/>
                    </a:lnTo>
                    <a:lnTo>
                      <a:pt x="378269" y="54492"/>
                    </a:lnTo>
                    <a:lnTo>
                      <a:pt x="381006" y="47851"/>
                    </a:lnTo>
                  </a:path>
                  <a:path w="731520" h="649604">
                    <a:moveTo>
                      <a:pt x="237069" y="75875"/>
                    </a:moveTo>
                    <a:lnTo>
                      <a:pt x="242946" y="80335"/>
                    </a:lnTo>
                    <a:lnTo>
                      <a:pt x="248584" y="85214"/>
                    </a:lnTo>
                    <a:lnTo>
                      <a:pt x="253967" y="90497"/>
                    </a:lnTo>
                    <a:lnTo>
                      <a:pt x="259080" y="96170"/>
                    </a:lnTo>
                  </a:path>
                  <a:path w="731520" h="649604">
                    <a:moveTo>
                      <a:pt x="69886" y="235379"/>
                    </a:moveTo>
                    <a:lnTo>
                      <a:pt x="68142" y="228395"/>
                    </a:lnTo>
                    <a:lnTo>
                      <a:pt x="66857" y="221255"/>
                    </a:lnTo>
                    <a:lnTo>
                      <a:pt x="66045" y="214026"/>
                    </a:lnTo>
                  </a:path>
                </a:pathLst>
              </a:custGeom>
              <a:ln w="30479">
                <a:solidFill>
                  <a:srgbClr val="000000"/>
                </a:solidFill>
              </a:ln>
            </p:spPr>
            <p:txBody>
              <a:bodyPr wrap="square" lIns="0" tIns="0" rIns="0" bIns="0" rtlCol="0"/>
              <a:lstStyle/>
              <a:p>
                <a:endParaRPr sz="1588"/>
              </a:p>
            </p:txBody>
          </p:sp>
        </p:grpSp>
        <p:sp>
          <p:nvSpPr>
            <p:cNvPr id="180" name="object 180"/>
            <p:cNvSpPr txBox="1"/>
            <p:nvPr/>
          </p:nvSpPr>
          <p:spPr>
            <a:xfrm>
              <a:off x="6657324" y="4583653"/>
              <a:ext cx="533400" cy="215089"/>
            </a:xfrm>
            <a:prstGeom prst="rect">
              <a:avLst/>
            </a:prstGeom>
          </p:spPr>
          <p:txBody>
            <a:bodyPr vert="horz" wrap="square" lIns="0" tIns="11206" rIns="0" bIns="0" rtlCol="0">
              <a:spAutoFit/>
            </a:bodyPr>
            <a:lstStyle/>
            <a:p>
              <a:pPr marL="11206">
                <a:spcBef>
                  <a:spcPts val="88"/>
                </a:spcBef>
              </a:pPr>
              <a:r>
                <a:rPr sz="1324" b="1" spc="-9" dirty="0">
                  <a:latin typeface="Times New Roman"/>
                  <a:cs typeface="Times New Roman"/>
                </a:rPr>
                <a:t>Bubble</a:t>
              </a:r>
              <a:endParaRPr sz="1324">
                <a:latin typeface="Times New Roman"/>
                <a:cs typeface="Times New Roman"/>
              </a:endParaRPr>
            </a:p>
          </p:txBody>
        </p:sp>
        <p:grpSp>
          <p:nvGrpSpPr>
            <p:cNvPr id="181" name="object 181"/>
            <p:cNvGrpSpPr/>
            <p:nvPr/>
          </p:nvGrpSpPr>
          <p:grpSpPr>
            <a:xfrm>
              <a:off x="7390127" y="4421606"/>
              <a:ext cx="672353" cy="600075"/>
              <a:chOff x="8223077" y="5011153"/>
              <a:chExt cx="762000" cy="680085"/>
            </a:xfrm>
          </p:grpSpPr>
          <p:sp>
            <p:nvSpPr>
              <p:cNvPr id="182" name="object 182"/>
              <p:cNvSpPr/>
              <p:nvPr/>
            </p:nvSpPr>
            <p:spPr>
              <a:xfrm>
                <a:off x="8238316" y="5026393"/>
                <a:ext cx="731520" cy="649605"/>
              </a:xfrm>
              <a:custGeom>
                <a:avLst/>
                <a:gdLst/>
                <a:ahLst/>
                <a:cxnLst/>
                <a:rect l="l" t="t" r="r" b="b"/>
                <a:pathLst>
                  <a:path w="731520" h="649604">
                    <a:moveTo>
                      <a:pt x="451054" y="0"/>
                    </a:moveTo>
                    <a:lnTo>
                      <a:pt x="422959" y="4464"/>
                    </a:lnTo>
                    <a:lnTo>
                      <a:pt x="398297" y="21356"/>
                    </a:lnTo>
                    <a:lnTo>
                      <a:pt x="380257" y="49385"/>
                    </a:lnTo>
                    <a:lnTo>
                      <a:pt x="375439" y="44042"/>
                    </a:lnTo>
                    <a:lnTo>
                      <a:pt x="370321" y="39141"/>
                    </a:lnTo>
                    <a:lnTo>
                      <a:pt x="364925" y="34701"/>
                    </a:lnTo>
                    <a:lnTo>
                      <a:pt x="359271" y="30739"/>
                    </a:lnTo>
                    <a:lnTo>
                      <a:pt x="324899" y="18357"/>
                    </a:lnTo>
                    <a:lnTo>
                      <a:pt x="290470" y="22749"/>
                    </a:lnTo>
                    <a:lnTo>
                      <a:pt x="259912" y="42458"/>
                    </a:lnTo>
                    <a:lnTo>
                      <a:pt x="237156" y="76026"/>
                    </a:lnTo>
                    <a:lnTo>
                      <a:pt x="219966" y="66070"/>
                    </a:lnTo>
                    <a:lnTo>
                      <a:pt x="201775" y="59736"/>
                    </a:lnTo>
                    <a:lnTo>
                      <a:pt x="182970" y="57119"/>
                    </a:lnTo>
                    <a:lnTo>
                      <a:pt x="163936" y="58312"/>
                    </a:lnTo>
                    <a:lnTo>
                      <a:pt x="121043" y="76341"/>
                    </a:lnTo>
                    <a:lnTo>
                      <a:pt x="88330" y="111641"/>
                    </a:lnTo>
                    <a:lnTo>
                      <a:pt x="68947" y="159204"/>
                    </a:lnTo>
                    <a:lnTo>
                      <a:pt x="66042" y="214020"/>
                    </a:lnTo>
                    <a:lnTo>
                      <a:pt x="65426" y="216046"/>
                    </a:lnTo>
                    <a:lnTo>
                      <a:pt x="19942" y="243027"/>
                    </a:lnTo>
                    <a:lnTo>
                      <a:pt x="0" y="293447"/>
                    </a:lnTo>
                    <a:lnTo>
                      <a:pt x="1787" y="327682"/>
                    </a:lnTo>
                    <a:lnTo>
                      <a:pt x="14000" y="358604"/>
                    </a:lnTo>
                    <a:lnTo>
                      <a:pt x="35791" y="382274"/>
                    </a:lnTo>
                    <a:lnTo>
                      <a:pt x="26134" y="397822"/>
                    </a:lnTo>
                    <a:lnTo>
                      <a:pt x="19560" y="415314"/>
                    </a:lnTo>
                    <a:lnTo>
                      <a:pt x="16244" y="434100"/>
                    </a:lnTo>
                    <a:lnTo>
                      <a:pt x="16366" y="453529"/>
                    </a:lnTo>
                    <a:lnTo>
                      <a:pt x="25479" y="487149"/>
                    </a:lnTo>
                    <a:lnTo>
                      <a:pt x="43929" y="513045"/>
                    </a:lnTo>
                    <a:lnTo>
                      <a:pt x="69081" y="528704"/>
                    </a:lnTo>
                    <a:lnTo>
                      <a:pt x="98299" y="531614"/>
                    </a:lnTo>
                    <a:lnTo>
                      <a:pt x="99681" y="534473"/>
                    </a:lnTo>
                    <a:lnTo>
                      <a:pt x="126681" y="573294"/>
                    </a:lnTo>
                    <a:lnTo>
                      <a:pt x="161074" y="599024"/>
                    </a:lnTo>
                    <a:lnTo>
                      <a:pt x="199907" y="610767"/>
                    </a:lnTo>
                    <a:lnTo>
                      <a:pt x="240224" y="607632"/>
                    </a:lnTo>
                    <a:lnTo>
                      <a:pt x="279071" y="588724"/>
                    </a:lnTo>
                    <a:lnTo>
                      <a:pt x="291389" y="607374"/>
                    </a:lnTo>
                    <a:lnTo>
                      <a:pt x="306048" y="623077"/>
                    </a:lnTo>
                    <a:lnTo>
                      <a:pt x="322698" y="635521"/>
                    </a:lnTo>
                    <a:lnTo>
                      <a:pt x="340990" y="644390"/>
                    </a:lnTo>
                    <a:lnTo>
                      <a:pt x="386188" y="649604"/>
                    </a:lnTo>
                    <a:lnTo>
                      <a:pt x="428071" y="633931"/>
                    </a:lnTo>
                    <a:lnTo>
                      <a:pt x="462054" y="600348"/>
                    </a:lnTo>
                    <a:lnTo>
                      <a:pt x="483551" y="551834"/>
                    </a:lnTo>
                    <a:lnTo>
                      <a:pt x="495460" y="559497"/>
                    </a:lnTo>
                    <a:lnTo>
                      <a:pt x="508067" y="565089"/>
                    </a:lnTo>
                    <a:lnTo>
                      <a:pt x="521189" y="568543"/>
                    </a:lnTo>
                    <a:lnTo>
                      <a:pt x="534640" y="569797"/>
                    </a:lnTo>
                    <a:lnTo>
                      <a:pt x="572831" y="560862"/>
                    </a:lnTo>
                    <a:lnTo>
                      <a:pt x="604136" y="535787"/>
                    </a:lnTo>
                    <a:lnTo>
                      <a:pt x="625378" y="498353"/>
                    </a:lnTo>
                    <a:lnTo>
                      <a:pt x="633382" y="452337"/>
                    </a:lnTo>
                    <a:lnTo>
                      <a:pt x="647801" y="448688"/>
                    </a:lnTo>
                    <a:lnTo>
                      <a:pt x="687024" y="425018"/>
                    </a:lnTo>
                    <a:lnTo>
                      <a:pt x="716947" y="383464"/>
                    </a:lnTo>
                    <a:lnTo>
                      <a:pt x="730892" y="333007"/>
                    </a:lnTo>
                    <a:lnTo>
                      <a:pt x="728178" y="279907"/>
                    </a:lnTo>
                    <a:lnTo>
                      <a:pt x="708126" y="230423"/>
                    </a:lnTo>
                    <a:lnTo>
                      <a:pt x="709778" y="225751"/>
                    </a:lnTo>
                    <a:lnTo>
                      <a:pt x="711162" y="220946"/>
                    </a:lnTo>
                    <a:lnTo>
                      <a:pt x="712263" y="216042"/>
                    </a:lnTo>
                    <a:lnTo>
                      <a:pt x="714650" y="172667"/>
                    </a:lnTo>
                    <a:lnTo>
                      <a:pt x="703518" y="132929"/>
                    </a:lnTo>
                    <a:lnTo>
                      <a:pt x="680907" y="101150"/>
                    </a:lnTo>
                    <a:lnTo>
                      <a:pt x="648855" y="81655"/>
                    </a:lnTo>
                    <a:lnTo>
                      <a:pt x="645137" y="65101"/>
                    </a:lnTo>
                    <a:lnTo>
                      <a:pt x="621092" y="23529"/>
                    </a:lnTo>
                    <a:lnTo>
                      <a:pt x="561152" y="322"/>
                    </a:lnTo>
                    <a:lnTo>
                      <a:pt x="530803" y="10636"/>
                    </a:lnTo>
                    <a:lnTo>
                      <a:pt x="505173" y="35067"/>
                    </a:lnTo>
                    <a:lnTo>
                      <a:pt x="499676" y="27304"/>
                    </a:lnTo>
                    <a:lnTo>
                      <a:pt x="493505" y="20372"/>
                    </a:lnTo>
                    <a:lnTo>
                      <a:pt x="486722" y="14334"/>
                    </a:lnTo>
                    <a:lnTo>
                      <a:pt x="479392" y="9255"/>
                    </a:lnTo>
                    <a:lnTo>
                      <a:pt x="451054" y="0"/>
                    </a:lnTo>
                    <a:close/>
                  </a:path>
                </a:pathLst>
              </a:custGeom>
              <a:solidFill>
                <a:srgbClr val="0FEFEA"/>
              </a:solidFill>
            </p:spPr>
            <p:txBody>
              <a:bodyPr wrap="square" lIns="0" tIns="0" rIns="0" bIns="0" rtlCol="0"/>
              <a:lstStyle/>
              <a:p>
                <a:endParaRPr sz="1588"/>
              </a:p>
            </p:txBody>
          </p:sp>
          <p:pic>
            <p:nvPicPr>
              <p:cNvPr id="183" name="object 183"/>
              <p:cNvPicPr/>
              <p:nvPr/>
            </p:nvPicPr>
            <p:blipFill>
              <a:blip r:embed="rId4" cstate="print"/>
              <a:stretch>
                <a:fillRect/>
              </a:stretch>
            </p:blipFill>
            <p:spPr>
              <a:xfrm>
                <a:off x="8819502" y="5525184"/>
                <a:ext cx="110803" cy="108372"/>
              </a:xfrm>
              <a:prstGeom prst="rect">
                <a:avLst/>
              </a:prstGeom>
            </p:spPr>
          </p:pic>
          <p:sp>
            <p:nvSpPr>
              <p:cNvPr id="184" name="object 184"/>
              <p:cNvSpPr/>
              <p:nvPr/>
            </p:nvSpPr>
            <p:spPr>
              <a:xfrm>
                <a:off x="8238317" y="5026393"/>
                <a:ext cx="731520" cy="649605"/>
              </a:xfrm>
              <a:custGeom>
                <a:avLst/>
                <a:gdLst/>
                <a:ahLst/>
                <a:cxnLst/>
                <a:rect l="l" t="t" r="r" b="b"/>
                <a:pathLst>
                  <a:path w="731520" h="649604">
                    <a:moveTo>
                      <a:pt x="66042" y="214021"/>
                    </a:moveTo>
                    <a:lnTo>
                      <a:pt x="68947" y="159204"/>
                    </a:lnTo>
                    <a:lnTo>
                      <a:pt x="88331" y="111641"/>
                    </a:lnTo>
                    <a:lnTo>
                      <a:pt x="121044" y="76341"/>
                    </a:lnTo>
                    <a:lnTo>
                      <a:pt x="163937" y="58312"/>
                    </a:lnTo>
                    <a:lnTo>
                      <a:pt x="182970" y="57119"/>
                    </a:lnTo>
                    <a:lnTo>
                      <a:pt x="201775" y="59736"/>
                    </a:lnTo>
                    <a:lnTo>
                      <a:pt x="219966" y="66070"/>
                    </a:lnTo>
                    <a:lnTo>
                      <a:pt x="237156" y="76026"/>
                    </a:lnTo>
                    <a:lnTo>
                      <a:pt x="259913" y="42458"/>
                    </a:lnTo>
                    <a:lnTo>
                      <a:pt x="290470" y="22749"/>
                    </a:lnTo>
                    <a:lnTo>
                      <a:pt x="324899" y="18357"/>
                    </a:lnTo>
                    <a:lnTo>
                      <a:pt x="359271" y="30739"/>
                    </a:lnTo>
                    <a:lnTo>
                      <a:pt x="364925" y="34701"/>
                    </a:lnTo>
                    <a:lnTo>
                      <a:pt x="370322" y="39141"/>
                    </a:lnTo>
                    <a:lnTo>
                      <a:pt x="375439" y="44042"/>
                    </a:lnTo>
                    <a:lnTo>
                      <a:pt x="380257" y="49385"/>
                    </a:lnTo>
                    <a:lnTo>
                      <a:pt x="398297" y="21356"/>
                    </a:lnTo>
                    <a:lnTo>
                      <a:pt x="422959" y="4463"/>
                    </a:lnTo>
                    <a:lnTo>
                      <a:pt x="451054" y="0"/>
                    </a:lnTo>
                    <a:lnTo>
                      <a:pt x="479392" y="9255"/>
                    </a:lnTo>
                    <a:lnTo>
                      <a:pt x="486722" y="14334"/>
                    </a:lnTo>
                    <a:lnTo>
                      <a:pt x="493505" y="20372"/>
                    </a:lnTo>
                    <a:lnTo>
                      <a:pt x="499676" y="27304"/>
                    </a:lnTo>
                    <a:lnTo>
                      <a:pt x="505173" y="35067"/>
                    </a:lnTo>
                    <a:lnTo>
                      <a:pt x="530803" y="10636"/>
                    </a:lnTo>
                    <a:lnTo>
                      <a:pt x="561152" y="322"/>
                    </a:lnTo>
                    <a:lnTo>
                      <a:pt x="592492" y="4496"/>
                    </a:lnTo>
                    <a:lnTo>
                      <a:pt x="621092" y="23529"/>
                    </a:lnTo>
                    <a:lnTo>
                      <a:pt x="631098" y="35708"/>
                    </a:lnTo>
                    <a:lnTo>
                      <a:pt x="639165" y="49675"/>
                    </a:lnTo>
                    <a:lnTo>
                      <a:pt x="645137" y="65101"/>
                    </a:lnTo>
                    <a:lnTo>
                      <a:pt x="648855" y="81655"/>
                    </a:lnTo>
                    <a:lnTo>
                      <a:pt x="680906" y="101150"/>
                    </a:lnTo>
                    <a:lnTo>
                      <a:pt x="703518" y="132929"/>
                    </a:lnTo>
                    <a:lnTo>
                      <a:pt x="714650" y="172667"/>
                    </a:lnTo>
                    <a:lnTo>
                      <a:pt x="712263" y="216042"/>
                    </a:lnTo>
                    <a:lnTo>
                      <a:pt x="711161" y="220946"/>
                    </a:lnTo>
                    <a:lnTo>
                      <a:pt x="709779" y="225752"/>
                    </a:lnTo>
                    <a:lnTo>
                      <a:pt x="708127" y="230423"/>
                    </a:lnTo>
                    <a:lnTo>
                      <a:pt x="728178" y="279907"/>
                    </a:lnTo>
                    <a:lnTo>
                      <a:pt x="730892" y="333007"/>
                    </a:lnTo>
                    <a:lnTo>
                      <a:pt x="716947" y="383464"/>
                    </a:lnTo>
                    <a:lnTo>
                      <a:pt x="687024" y="425018"/>
                    </a:lnTo>
                    <a:lnTo>
                      <a:pt x="647801" y="448688"/>
                    </a:lnTo>
                    <a:lnTo>
                      <a:pt x="633382" y="452337"/>
                    </a:lnTo>
                    <a:lnTo>
                      <a:pt x="625378" y="498353"/>
                    </a:lnTo>
                    <a:lnTo>
                      <a:pt x="604136" y="535787"/>
                    </a:lnTo>
                    <a:lnTo>
                      <a:pt x="572831" y="560861"/>
                    </a:lnTo>
                    <a:lnTo>
                      <a:pt x="534640" y="569797"/>
                    </a:lnTo>
                    <a:lnTo>
                      <a:pt x="521188" y="568543"/>
                    </a:lnTo>
                    <a:lnTo>
                      <a:pt x="508067" y="565088"/>
                    </a:lnTo>
                    <a:lnTo>
                      <a:pt x="495460" y="559497"/>
                    </a:lnTo>
                    <a:lnTo>
                      <a:pt x="483550" y="551834"/>
                    </a:lnTo>
                    <a:lnTo>
                      <a:pt x="462054" y="600348"/>
                    </a:lnTo>
                    <a:lnTo>
                      <a:pt x="428072" y="633931"/>
                    </a:lnTo>
                    <a:lnTo>
                      <a:pt x="386188" y="649604"/>
                    </a:lnTo>
                    <a:lnTo>
                      <a:pt x="340990" y="644391"/>
                    </a:lnTo>
                    <a:lnTo>
                      <a:pt x="322698" y="635521"/>
                    </a:lnTo>
                    <a:lnTo>
                      <a:pt x="306048" y="623077"/>
                    </a:lnTo>
                    <a:lnTo>
                      <a:pt x="291389" y="607374"/>
                    </a:lnTo>
                    <a:lnTo>
                      <a:pt x="279071" y="588724"/>
                    </a:lnTo>
                    <a:lnTo>
                      <a:pt x="240224" y="607632"/>
                    </a:lnTo>
                    <a:lnTo>
                      <a:pt x="199907" y="610768"/>
                    </a:lnTo>
                    <a:lnTo>
                      <a:pt x="161074" y="599024"/>
                    </a:lnTo>
                    <a:lnTo>
                      <a:pt x="126680" y="573294"/>
                    </a:lnTo>
                    <a:lnTo>
                      <a:pt x="99681" y="534473"/>
                    </a:lnTo>
                    <a:lnTo>
                      <a:pt x="98299" y="531615"/>
                    </a:lnTo>
                    <a:lnTo>
                      <a:pt x="69081" y="528704"/>
                    </a:lnTo>
                    <a:lnTo>
                      <a:pt x="43929" y="513045"/>
                    </a:lnTo>
                    <a:lnTo>
                      <a:pt x="25479" y="487149"/>
                    </a:lnTo>
                    <a:lnTo>
                      <a:pt x="16367" y="453529"/>
                    </a:lnTo>
                    <a:lnTo>
                      <a:pt x="16244" y="434101"/>
                    </a:lnTo>
                    <a:lnTo>
                      <a:pt x="19559" y="415314"/>
                    </a:lnTo>
                    <a:lnTo>
                      <a:pt x="26134" y="397822"/>
                    </a:lnTo>
                    <a:lnTo>
                      <a:pt x="35791" y="382274"/>
                    </a:lnTo>
                    <a:lnTo>
                      <a:pt x="14000" y="358604"/>
                    </a:lnTo>
                    <a:lnTo>
                      <a:pt x="1787" y="327682"/>
                    </a:lnTo>
                    <a:lnTo>
                      <a:pt x="0" y="293447"/>
                    </a:lnTo>
                    <a:lnTo>
                      <a:pt x="9483" y="259837"/>
                    </a:lnTo>
                    <a:lnTo>
                      <a:pt x="19942" y="243027"/>
                    </a:lnTo>
                    <a:lnTo>
                      <a:pt x="33152" y="229812"/>
                    </a:lnTo>
                    <a:lnTo>
                      <a:pt x="48513" y="220662"/>
                    </a:lnTo>
                    <a:lnTo>
                      <a:pt x="65426" y="216046"/>
                    </a:lnTo>
                    <a:lnTo>
                      <a:pt x="66042" y="214021"/>
                    </a:lnTo>
                    <a:close/>
                  </a:path>
                  <a:path w="731520" h="649604">
                    <a:moveTo>
                      <a:pt x="642460" y="541638"/>
                    </a:moveTo>
                    <a:lnTo>
                      <a:pt x="641041" y="548669"/>
                    </a:lnTo>
                    <a:lnTo>
                      <a:pt x="637170" y="554410"/>
                    </a:lnTo>
                    <a:lnTo>
                      <a:pt x="631429" y="558281"/>
                    </a:lnTo>
                    <a:lnTo>
                      <a:pt x="624398" y="559701"/>
                    </a:lnTo>
                    <a:lnTo>
                      <a:pt x="617367" y="558281"/>
                    </a:lnTo>
                    <a:lnTo>
                      <a:pt x="611626" y="554410"/>
                    </a:lnTo>
                    <a:lnTo>
                      <a:pt x="607755" y="548669"/>
                    </a:lnTo>
                    <a:lnTo>
                      <a:pt x="606336" y="541638"/>
                    </a:lnTo>
                    <a:lnTo>
                      <a:pt x="607755" y="534608"/>
                    </a:lnTo>
                    <a:lnTo>
                      <a:pt x="611626" y="528866"/>
                    </a:lnTo>
                    <a:lnTo>
                      <a:pt x="617367" y="524995"/>
                    </a:lnTo>
                    <a:lnTo>
                      <a:pt x="624398" y="523576"/>
                    </a:lnTo>
                    <a:lnTo>
                      <a:pt x="631429" y="524995"/>
                    </a:lnTo>
                    <a:lnTo>
                      <a:pt x="637170" y="528866"/>
                    </a:lnTo>
                    <a:lnTo>
                      <a:pt x="641041" y="534608"/>
                    </a:lnTo>
                    <a:lnTo>
                      <a:pt x="642460" y="541638"/>
                    </a:lnTo>
                    <a:close/>
                  </a:path>
                  <a:path w="731520" h="649604">
                    <a:moveTo>
                      <a:pt x="653435" y="535642"/>
                    </a:moveTo>
                    <a:lnTo>
                      <a:pt x="650596" y="549704"/>
                    </a:lnTo>
                    <a:lnTo>
                      <a:pt x="642854" y="561186"/>
                    </a:lnTo>
                    <a:lnTo>
                      <a:pt x="631371" y="568928"/>
                    </a:lnTo>
                    <a:lnTo>
                      <a:pt x="617310" y="571767"/>
                    </a:lnTo>
                    <a:lnTo>
                      <a:pt x="603249" y="568928"/>
                    </a:lnTo>
                    <a:lnTo>
                      <a:pt x="591766" y="561186"/>
                    </a:lnTo>
                    <a:lnTo>
                      <a:pt x="584024" y="549704"/>
                    </a:lnTo>
                    <a:lnTo>
                      <a:pt x="581185" y="535642"/>
                    </a:lnTo>
                    <a:lnTo>
                      <a:pt x="584024" y="521581"/>
                    </a:lnTo>
                    <a:lnTo>
                      <a:pt x="591766" y="510098"/>
                    </a:lnTo>
                    <a:lnTo>
                      <a:pt x="603249" y="502356"/>
                    </a:lnTo>
                    <a:lnTo>
                      <a:pt x="617310" y="499518"/>
                    </a:lnTo>
                    <a:lnTo>
                      <a:pt x="631371" y="502356"/>
                    </a:lnTo>
                    <a:lnTo>
                      <a:pt x="642854" y="510098"/>
                    </a:lnTo>
                    <a:lnTo>
                      <a:pt x="650596" y="521581"/>
                    </a:lnTo>
                    <a:lnTo>
                      <a:pt x="653435" y="535642"/>
                    </a:lnTo>
                    <a:close/>
                  </a:path>
                  <a:path w="731520" h="649604">
                    <a:moveTo>
                      <a:pt x="691988" y="552977"/>
                    </a:moveTo>
                    <a:lnTo>
                      <a:pt x="687730" y="574069"/>
                    </a:lnTo>
                    <a:lnTo>
                      <a:pt x="676117" y="591292"/>
                    </a:lnTo>
                    <a:lnTo>
                      <a:pt x="658894" y="602905"/>
                    </a:lnTo>
                    <a:lnTo>
                      <a:pt x="637802" y="607163"/>
                    </a:lnTo>
                    <a:lnTo>
                      <a:pt x="616710" y="602905"/>
                    </a:lnTo>
                    <a:lnTo>
                      <a:pt x="599486" y="591292"/>
                    </a:lnTo>
                    <a:lnTo>
                      <a:pt x="587874" y="574069"/>
                    </a:lnTo>
                    <a:lnTo>
                      <a:pt x="583616" y="552977"/>
                    </a:lnTo>
                    <a:lnTo>
                      <a:pt x="587874" y="531885"/>
                    </a:lnTo>
                    <a:lnTo>
                      <a:pt x="599486" y="514661"/>
                    </a:lnTo>
                    <a:lnTo>
                      <a:pt x="616710" y="503049"/>
                    </a:lnTo>
                    <a:lnTo>
                      <a:pt x="637802" y="498790"/>
                    </a:lnTo>
                    <a:lnTo>
                      <a:pt x="658894" y="503049"/>
                    </a:lnTo>
                    <a:lnTo>
                      <a:pt x="676117" y="514661"/>
                    </a:lnTo>
                    <a:lnTo>
                      <a:pt x="687730" y="531885"/>
                    </a:lnTo>
                    <a:lnTo>
                      <a:pt x="691988" y="552977"/>
                    </a:lnTo>
                    <a:close/>
                  </a:path>
                  <a:path w="731520" h="649604">
                    <a:moveTo>
                      <a:pt x="79470" y="391738"/>
                    </a:moveTo>
                    <a:lnTo>
                      <a:pt x="68275" y="391759"/>
                    </a:lnTo>
                    <a:lnTo>
                      <a:pt x="57268" y="389732"/>
                    </a:lnTo>
                    <a:lnTo>
                      <a:pt x="46639" y="385709"/>
                    </a:lnTo>
                    <a:lnTo>
                      <a:pt x="36576" y="379742"/>
                    </a:lnTo>
                  </a:path>
                  <a:path w="731520" h="649604">
                    <a:moveTo>
                      <a:pt x="117316" y="523020"/>
                    </a:moveTo>
                    <a:lnTo>
                      <a:pt x="111296" y="525920"/>
                    </a:lnTo>
                    <a:lnTo>
                      <a:pt x="104986" y="527850"/>
                    </a:lnTo>
                    <a:lnTo>
                      <a:pt x="98549" y="528762"/>
                    </a:lnTo>
                  </a:path>
                  <a:path w="731520" h="649604">
                    <a:moveTo>
                      <a:pt x="279029" y="586102"/>
                    </a:moveTo>
                    <a:lnTo>
                      <a:pt x="275773" y="579837"/>
                    </a:lnTo>
                    <a:lnTo>
                      <a:pt x="272799" y="573374"/>
                    </a:lnTo>
                    <a:lnTo>
                      <a:pt x="270113" y="566728"/>
                    </a:lnTo>
                    <a:lnTo>
                      <a:pt x="267722" y="559912"/>
                    </a:lnTo>
                  </a:path>
                  <a:path w="731520" h="649604">
                    <a:moveTo>
                      <a:pt x="488139" y="520792"/>
                    </a:moveTo>
                    <a:lnTo>
                      <a:pt x="487481" y="528078"/>
                    </a:lnTo>
                    <a:lnTo>
                      <a:pt x="486508" y="535306"/>
                    </a:lnTo>
                    <a:lnTo>
                      <a:pt x="485221" y="542462"/>
                    </a:lnTo>
                    <a:lnTo>
                      <a:pt x="483624" y="549530"/>
                    </a:lnTo>
                  </a:path>
                  <a:path w="731520" h="649604">
                    <a:moveTo>
                      <a:pt x="577920" y="343226"/>
                    </a:moveTo>
                    <a:lnTo>
                      <a:pt x="600884" y="362022"/>
                    </a:lnTo>
                    <a:lnTo>
                      <a:pt x="618290" y="387309"/>
                    </a:lnTo>
                    <a:lnTo>
                      <a:pt x="629275" y="417406"/>
                    </a:lnTo>
                    <a:lnTo>
                      <a:pt x="632977" y="450630"/>
                    </a:lnTo>
                  </a:path>
                  <a:path w="731520" h="649604">
                    <a:moveTo>
                      <a:pt x="707781" y="228832"/>
                    </a:moveTo>
                    <a:lnTo>
                      <a:pt x="703126" y="240141"/>
                    </a:lnTo>
                    <a:lnTo>
                      <a:pt x="697448" y="250690"/>
                    </a:lnTo>
                    <a:lnTo>
                      <a:pt x="690807" y="260379"/>
                    </a:lnTo>
                    <a:lnTo>
                      <a:pt x="683266" y="269106"/>
                    </a:lnTo>
                  </a:path>
                  <a:path w="731520" h="649604">
                    <a:moveTo>
                      <a:pt x="648955" y="79397"/>
                    </a:moveTo>
                    <a:lnTo>
                      <a:pt x="649892" y="85672"/>
                    </a:lnTo>
                    <a:lnTo>
                      <a:pt x="650325" y="92042"/>
                    </a:lnTo>
                    <a:lnTo>
                      <a:pt x="650249" y="98417"/>
                    </a:lnTo>
                  </a:path>
                  <a:path w="731520" h="649604">
                    <a:moveTo>
                      <a:pt x="492389" y="57211"/>
                    </a:moveTo>
                    <a:lnTo>
                      <a:pt x="494977" y="50747"/>
                    </a:lnTo>
                    <a:lnTo>
                      <a:pt x="497941" y="44533"/>
                    </a:lnTo>
                    <a:lnTo>
                      <a:pt x="501269" y="38594"/>
                    </a:lnTo>
                    <a:lnTo>
                      <a:pt x="504949" y="32954"/>
                    </a:lnTo>
                  </a:path>
                  <a:path w="731520" h="649604">
                    <a:moveTo>
                      <a:pt x="374923" y="68770"/>
                    </a:moveTo>
                    <a:lnTo>
                      <a:pt x="376226" y="61519"/>
                    </a:lnTo>
                    <a:lnTo>
                      <a:pt x="378269" y="54492"/>
                    </a:lnTo>
                    <a:lnTo>
                      <a:pt x="381006" y="47851"/>
                    </a:lnTo>
                  </a:path>
                  <a:path w="731520" h="649604">
                    <a:moveTo>
                      <a:pt x="237069" y="75875"/>
                    </a:moveTo>
                    <a:lnTo>
                      <a:pt x="242946" y="80335"/>
                    </a:lnTo>
                    <a:lnTo>
                      <a:pt x="248584" y="85214"/>
                    </a:lnTo>
                    <a:lnTo>
                      <a:pt x="253967" y="90497"/>
                    </a:lnTo>
                    <a:lnTo>
                      <a:pt x="259080" y="96170"/>
                    </a:lnTo>
                  </a:path>
                  <a:path w="731520" h="649604">
                    <a:moveTo>
                      <a:pt x="69886" y="235379"/>
                    </a:moveTo>
                    <a:lnTo>
                      <a:pt x="68142" y="228395"/>
                    </a:lnTo>
                    <a:lnTo>
                      <a:pt x="66857" y="221255"/>
                    </a:lnTo>
                    <a:lnTo>
                      <a:pt x="66045" y="214026"/>
                    </a:lnTo>
                  </a:path>
                </a:pathLst>
              </a:custGeom>
              <a:ln w="30479">
                <a:solidFill>
                  <a:srgbClr val="000000"/>
                </a:solidFill>
              </a:ln>
            </p:spPr>
            <p:txBody>
              <a:bodyPr wrap="square" lIns="0" tIns="0" rIns="0" bIns="0" rtlCol="0"/>
              <a:lstStyle/>
              <a:p>
                <a:endParaRPr sz="1588"/>
              </a:p>
            </p:txBody>
          </p:sp>
        </p:grpSp>
        <p:sp>
          <p:nvSpPr>
            <p:cNvPr id="185" name="object 185"/>
            <p:cNvSpPr txBox="1"/>
            <p:nvPr/>
          </p:nvSpPr>
          <p:spPr>
            <a:xfrm>
              <a:off x="7436656" y="4583653"/>
              <a:ext cx="533400" cy="215089"/>
            </a:xfrm>
            <a:prstGeom prst="rect">
              <a:avLst/>
            </a:prstGeom>
          </p:spPr>
          <p:txBody>
            <a:bodyPr vert="horz" wrap="square" lIns="0" tIns="11206" rIns="0" bIns="0" rtlCol="0">
              <a:spAutoFit/>
            </a:bodyPr>
            <a:lstStyle/>
            <a:p>
              <a:pPr marL="11206">
                <a:spcBef>
                  <a:spcPts val="88"/>
                </a:spcBef>
              </a:pPr>
              <a:r>
                <a:rPr sz="1324" b="1" spc="-9" dirty="0">
                  <a:latin typeface="Times New Roman"/>
                  <a:cs typeface="Times New Roman"/>
                </a:rPr>
                <a:t>Bubble</a:t>
              </a:r>
              <a:endParaRPr sz="1324">
                <a:latin typeface="Times New Roman"/>
                <a:cs typeface="Times New Roman"/>
              </a:endParaRPr>
            </a:p>
          </p:txBody>
        </p:sp>
        <p:sp>
          <p:nvSpPr>
            <p:cNvPr id="186" name="object 186"/>
            <p:cNvSpPr txBox="1"/>
            <p:nvPr/>
          </p:nvSpPr>
          <p:spPr>
            <a:xfrm>
              <a:off x="1119243" y="6318624"/>
              <a:ext cx="3249706" cy="296458"/>
            </a:xfrm>
            <a:prstGeom prst="rect">
              <a:avLst/>
            </a:prstGeom>
          </p:spPr>
          <p:txBody>
            <a:bodyPr vert="horz" wrap="square" lIns="0" tIns="11206" rIns="0" bIns="0" rtlCol="0">
              <a:spAutoFit/>
            </a:bodyPr>
            <a:lstStyle/>
            <a:p>
              <a:pPr marL="11206">
                <a:spcBef>
                  <a:spcPts val="88"/>
                </a:spcBef>
              </a:pPr>
              <a:r>
                <a:rPr sz="1853" b="1" dirty="0">
                  <a:solidFill>
                    <a:srgbClr val="FF0000"/>
                  </a:solidFill>
                  <a:latin typeface="Times New Roman"/>
                  <a:cs typeface="Times New Roman"/>
                </a:rPr>
                <a:t>How</a:t>
              </a:r>
              <a:r>
                <a:rPr sz="1853" b="1" spc="66" dirty="0">
                  <a:solidFill>
                    <a:srgbClr val="FF0000"/>
                  </a:solidFill>
                  <a:latin typeface="Times New Roman"/>
                  <a:cs typeface="Times New Roman"/>
                </a:rPr>
                <a:t> </a:t>
              </a:r>
              <a:r>
                <a:rPr sz="1853" b="1" dirty="0">
                  <a:solidFill>
                    <a:srgbClr val="FF0000"/>
                  </a:solidFill>
                  <a:latin typeface="Times New Roman"/>
                  <a:cs typeface="Times New Roman"/>
                </a:rPr>
                <a:t>do</a:t>
              </a:r>
              <a:r>
                <a:rPr sz="1853" b="1" spc="62" dirty="0">
                  <a:solidFill>
                    <a:srgbClr val="FF0000"/>
                  </a:solidFill>
                  <a:latin typeface="Times New Roman"/>
                  <a:cs typeface="Times New Roman"/>
                </a:rPr>
                <a:t> </a:t>
              </a:r>
              <a:r>
                <a:rPr sz="1853" b="1" dirty="0">
                  <a:solidFill>
                    <a:srgbClr val="FF0000"/>
                  </a:solidFill>
                  <a:latin typeface="Times New Roman"/>
                  <a:cs typeface="Times New Roman"/>
                </a:rPr>
                <a:t>you</a:t>
              </a:r>
              <a:r>
                <a:rPr sz="1853" b="1" spc="53" dirty="0">
                  <a:solidFill>
                    <a:srgbClr val="FF0000"/>
                  </a:solidFill>
                  <a:latin typeface="Times New Roman"/>
                  <a:cs typeface="Times New Roman"/>
                </a:rPr>
                <a:t> </a:t>
              </a:r>
              <a:r>
                <a:rPr sz="2713" baseline="1355" dirty="0">
                  <a:solidFill>
                    <a:srgbClr val="FF0000"/>
                  </a:solidFill>
                  <a:latin typeface="MS PGothic"/>
                  <a:cs typeface="MS PGothic"/>
                </a:rPr>
                <a:t>“</a:t>
              </a:r>
              <a:r>
                <a:rPr sz="1853" b="1" dirty="0">
                  <a:solidFill>
                    <a:srgbClr val="FF0000"/>
                  </a:solidFill>
                  <a:latin typeface="Times New Roman"/>
                  <a:cs typeface="Times New Roman"/>
                </a:rPr>
                <a:t>bubble</a:t>
              </a:r>
              <a:r>
                <a:rPr sz="2713" baseline="1355" dirty="0">
                  <a:solidFill>
                    <a:srgbClr val="FF0000"/>
                  </a:solidFill>
                  <a:latin typeface="MS PGothic"/>
                  <a:cs typeface="MS PGothic"/>
                </a:rPr>
                <a:t>”</a:t>
              </a:r>
              <a:r>
                <a:rPr sz="2713" spc="19" baseline="1355" dirty="0">
                  <a:solidFill>
                    <a:srgbClr val="FF0000"/>
                  </a:solidFill>
                  <a:latin typeface="MS PGothic"/>
                  <a:cs typeface="MS PGothic"/>
                </a:rPr>
                <a:t> </a:t>
              </a:r>
              <a:r>
                <a:rPr sz="1853" b="1" dirty="0">
                  <a:solidFill>
                    <a:srgbClr val="FF0000"/>
                  </a:solidFill>
                  <a:latin typeface="Times New Roman"/>
                  <a:cs typeface="Times New Roman"/>
                </a:rPr>
                <a:t>the</a:t>
              </a:r>
              <a:r>
                <a:rPr sz="1853" b="1" spc="53" dirty="0">
                  <a:solidFill>
                    <a:srgbClr val="FF0000"/>
                  </a:solidFill>
                  <a:latin typeface="Times New Roman"/>
                  <a:cs typeface="Times New Roman"/>
                </a:rPr>
                <a:t> </a:t>
              </a:r>
              <a:r>
                <a:rPr sz="1853" b="1" spc="-9" dirty="0">
                  <a:solidFill>
                    <a:srgbClr val="FF0000"/>
                  </a:solidFill>
                  <a:latin typeface="Times New Roman"/>
                  <a:cs typeface="Times New Roman"/>
                </a:rPr>
                <a:t>pipe?</a:t>
              </a:r>
              <a:endParaRPr sz="1853" dirty="0">
                <a:latin typeface="Times New Roman"/>
                <a:cs typeface="Times New Roman"/>
              </a:endParaRPr>
            </a:p>
          </p:txBody>
        </p:sp>
      </p:grpSp>
      <p:sp>
        <p:nvSpPr>
          <p:cNvPr id="189" name="TextBox 188">
            <a:extLst>
              <a:ext uri="{FF2B5EF4-FFF2-40B4-BE49-F238E27FC236}">
                <a16:creationId xmlns:a16="http://schemas.microsoft.com/office/drawing/2014/main" id="{64FB5DF4-484E-391F-3D32-4EFA81AB817B}"/>
              </a:ext>
            </a:extLst>
          </p:cNvPr>
          <p:cNvSpPr txBox="1"/>
          <p:nvPr/>
        </p:nvSpPr>
        <p:spPr>
          <a:xfrm>
            <a:off x="750652" y="1226612"/>
            <a:ext cx="2045584" cy="350865"/>
          </a:xfrm>
          <a:prstGeom prst="rect">
            <a:avLst/>
          </a:prstGeom>
          <a:noFill/>
        </p:spPr>
        <p:txBody>
          <a:bodyPr wrap="square">
            <a:spAutoFit/>
          </a:bodyPr>
          <a:lstStyle/>
          <a:p>
            <a:r>
              <a:rPr lang="en-US" sz="1680" dirty="0">
                <a:solidFill>
                  <a:srgbClr val="002060"/>
                </a:solidFill>
              </a:rPr>
              <a:t>Similar</a:t>
            </a:r>
            <a:r>
              <a:rPr lang="en-US" sz="1680" spc="9" dirty="0">
                <a:solidFill>
                  <a:srgbClr val="002060"/>
                </a:solidFill>
              </a:rPr>
              <a:t> </a:t>
            </a:r>
            <a:r>
              <a:rPr lang="en-US" sz="1680" dirty="0">
                <a:solidFill>
                  <a:srgbClr val="002060"/>
                </a:solidFill>
              </a:rPr>
              <a:t>to</a:t>
            </a:r>
            <a:r>
              <a:rPr lang="en-US" sz="1680" spc="18" dirty="0">
                <a:solidFill>
                  <a:srgbClr val="002060"/>
                </a:solidFill>
              </a:rPr>
              <a:t> </a:t>
            </a:r>
            <a:r>
              <a:rPr lang="en-US" sz="1680" dirty="0">
                <a:solidFill>
                  <a:srgbClr val="002060"/>
                </a:solidFill>
              </a:rPr>
              <a:t>Figure</a:t>
            </a:r>
            <a:r>
              <a:rPr lang="en-US" sz="1680" spc="13" dirty="0">
                <a:solidFill>
                  <a:srgbClr val="002060"/>
                </a:solidFill>
              </a:rPr>
              <a:t> </a:t>
            </a:r>
            <a:r>
              <a:rPr lang="en-US" sz="1680" spc="-22" dirty="0">
                <a:solidFill>
                  <a:srgbClr val="002060"/>
                </a:solidFill>
              </a:rPr>
              <a:t>C.5</a:t>
            </a:r>
            <a:endParaRPr lang="en-US" sz="1680" dirty="0">
              <a:solidFill>
                <a:srgbClr val="00206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7240" y="612100"/>
            <a:ext cx="6820775" cy="589755"/>
          </a:xfrm>
          <a:prstGeom prst="rect">
            <a:avLst/>
          </a:prstGeom>
        </p:spPr>
        <p:txBody>
          <a:bodyPr vert="horz" wrap="square" lIns="0" tIns="126851" rIns="0" bIns="0" rtlCol="0" anchor="ctr">
            <a:spAutoFit/>
          </a:bodyPr>
          <a:lstStyle/>
          <a:p>
            <a:pPr marL="11206">
              <a:lnSpc>
                <a:spcPct val="100000"/>
              </a:lnSpc>
              <a:spcBef>
                <a:spcPts val="88"/>
              </a:spcBef>
            </a:pPr>
            <a:r>
              <a:rPr dirty="0"/>
              <a:t>Code</a:t>
            </a:r>
            <a:r>
              <a:rPr spc="-13" dirty="0"/>
              <a:t> </a:t>
            </a:r>
            <a:r>
              <a:rPr dirty="0"/>
              <a:t>Speed Up Equation for</a:t>
            </a:r>
            <a:r>
              <a:rPr spc="-9" dirty="0"/>
              <a:t> Pipelining</a:t>
            </a:r>
          </a:p>
        </p:txBody>
      </p:sp>
      <p:sp>
        <p:nvSpPr>
          <p:cNvPr id="23" name="Slide Number Placeholder 22">
            <a:extLst>
              <a:ext uri="{FF2B5EF4-FFF2-40B4-BE49-F238E27FC236}">
                <a16:creationId xmlns:a16="http://schemas.microsoft.com/office/drawing/2014/main" id="{66D5291E-73F1-49BD-9B9A-481064F5CEF0}"/>
              </a:ext>
            </a:extLst>
          </p:cNvPr>
          <p:cNvSpPr>
            <a:spLocks noGrp="1"/>
          </p:cNvSpPr>
          <p:nvPr>
            <p:ph type="sldNum" sz="quarter" idx="7"/>
          </p:nvPr>
        </p:nvSpPr>
        <p:spPr/>
        <p:txBody>
          <a:bodyPr/>
          <a:lstStyle/>
          <a:p>
            <a:fld id="{4FE321F0-2018-4E50-8BB3-A5631EBD98DD}" type="slidenum">
              <a:rPr lang="en-US" smtClean="0"/>
              <a:t>38</a:t>
            </a:fld>
            <a:endParaRPr lang="en-US"/>
          </a:p>
        </p:txBody>
      </p:sp>
      <p:grpSp>
        <p:nvGrpSpPr>
          <p:cNvPr id="22" name="Group 21">
            <a:extLst>
              <a:ext uri="{FF2B5EF4-FFF2-40B4-BE49-F238E27FC236}">
                <a16:creationId xmlns:a16="http://schemas.microsoft.com/office/drawing/2014/main" id="{CBC40222-1D2A-5232-E53E-FCE7271AB63C}"/>
              </a:ext>
            </a:extLst>
          </p:cNvPr>
          <p:cNvGrpSpPr/>
          <p:nvPr/>
        </p:nvGrpSpPr>
        <p:grpSpPr>
          <a:xfrm>
            <a:off x="845125" y="3028277"/>
            <a:ext cx="7301691" cy="782363"/>
            <a:chOff x="845125" y="3028277"/>
            <a:chExt cx="7301691" cy="782363"/>
          </a:xfrm>
        </p:grpSpPr>
        <p:sp>
          <p:nvSpPr>
            <p:cNvPr id="3" name="object 3"/>
            <p:cNvSpPr txBox="1"/>
            <p:nvPr/>
          </p:nvSpPr>
          <p:spPr>
            <a:xfrm>
              <a:off x="845125" y="3247410"/>
              <a:ext cx="1241612" cy="343470"/>
            </a:xfrm>
            <a:prstGeom prst="rect">
              <a:avLst/>
            </a:prstGeom>
          </p:spPr>
          <p:txBody>
            <a:bodyPr vert="horz" wrap="square" lIns="0" tIns="10646" rIns="0" bIns="0" rtlCol="0">
              <a:spAutoFit/>
            </a:bodyPr>
            <a:lstStyle/>
            <a:p>
              <a:pPr marL="11206">
                <a:spcBef>
                  <a:spcPts val="84"/>
                </a:spcBef>
                <a:tabLst>
                  <a:tab pos="1079744" algn="l"/>
                </a:tabLst>
              </a:pPr>
              <a:r>
                <a:rPr sz="2162" spc="-9" dirty="0">
                  <a:latin typeface="Times New Roman"/>
                  <a:cs typeface="Times New Roman"/>
                </a:rPr>
                <a:t>Speedup</a:t>
              </a:r>
              <a:r>
                <a:rPr sz="2162" dirty="0">
                  <a:latin typeface="Times New Roman"/>
                  <a:cs typeface="Times New Roman"/>
                </a:rPr>
                <a:t>	</a:t>
              </a:r>
              <a:r>
                <a:rPr sz="2162" spc="-44" dirty="0">
                  <a:latin typeface="Symbol"/>
                  <a:cs typeface="Symbol"/>
                </a:rPr>
                <a:t></a:t>
              </a:r>
              <a:endParaRPr sz="2162" dirty="0">
                <a:latin typeface="Symbol"/>
                <a:cs typeface="Symbol"/>
              </a:endParaRPr>
            </a:p>
          </p:txBody>
        </p:sp>
        <p:sp>
          <p:nvSpPr>
            <p:cNvPr id="4" name="object 4"/>
            <p:cNvSpPr txBox="1"/>
            <p:nvPr/>
          </p:nvSpPr>
          <p:spPr>
            <a:xfrm>
              <a:off x="5743375" y="3247410"/>
              <a:ext cx="172571" cy="343470"/>
            </a:xfrm>
            <a:prstGeom prst="rect">
              <a:avLst/>
            </a:prstGeom>
          </p:spPr>
          <p:txBody>
            <a:bodyPr vert="horz" wrap="square" lIns="0" tIns="10646" rIns="0" bIns="0" rtlCol="0">
              <a:spAutoFit/>
            </a:bodyPr>
            <a:lstStyle/>
            <a:p>
              <a:pPr marL="11206">
                <a:spcBef>
                  <a:spcPts val="84"/>
                </a:spcBef>
              </a:pPr>
              <a:r>
                <a:rPr sz="2162" spc="-44" dirty="0">
                  <a:latin typeface="Symbol"/>
                  <a:cs typeface="Symbol"/>
                </a:rPr>
                <a:t></a:t>
              </a:r>
              <a:endParaRPr sz="2162">
                <a:latin typeface="Symbol"/>
                <a:cs typeface="Symbol"/>
              </a:endParaRPr>
            </a:p>
          </p:txBody>
        </p:sp>
        <p:sp>
          <p:nvSpPr>
            <p:cNvPr id="5" name="object 5"/>
            <p:cNvSpPr txBox="1"/>
            <p:nvPr/>
          </p:nvSpPr>
          <p:spPr>
            <a:xfrm>
              <a:off x="6041576" y="3123292"/>
              <a:ext cx="2098862" cy="343470"/>
            </a:xfrm>
            <a:prstGeom prst="rect">
              <a:avLst/>
            </a:prstGeom>
          </p:spPr>
          <p:txBody>
            <a:bodyPr vert="horz" wrap="square" lIns="0" tIns="10646" rIns="0" bIns="0" rtlCol="0">
              <a:spAutoFit/>
            </a:bodyPr>
            <a:lstStyle/>
            <a:p>
              <a:pPr marL="33619">
                <a:spcBef>
                  <a:spcPts val="84"/>
                </a:spcBef>
              </a:pPr>
              <a:r>
                <a:rPr sz="3243" baseline="13605" dirty="0">
                  <a:latin typeface="Times New Roman"/>
                  <a:cs typeface="Times New Roman"/>
                </a:rPr>
                <a:t>Cycle</a:t>
              </a:r>
              <a:r>
                <a:rPr sz="3243" spc="-139" baseline="13605" dirty="0">
                  <a:latin typeface="Times New Roman"/>
                  <a:cs typeface="Times New Roman"/>
                </a:rPr>
                <a:t> </a:t>
              </a:r>
              <a:r>
                <a:rPr sz="3243" spc="-13" baseline="13605" dirty="0">
                  <a:latin typeface="Times New Roman"/>
                  <a:cs typeface="Times New Roman"/>
                </a:rPr>
                <a:t>Time</a:t>
              </a:r>
              <a:r>
                <a:rPr sz="1235" spc="-9" dirty="0">
                  <a:latin typeface="Times New Roman"/>
                  <a:cs typeface="Times New Roman"/>
                </a:rPr>
                <a:t>unpipelined</a:t>
              </a:r>
              <a:endParaRPr sz="1235">
                <a:latin typeface="Times New Roman"/>
                <a:cs typeface="Times New Roman"/>
              </a:endParaRPr>
            </a:p>
          </p:txBody>
        </p:sp>
        <p:sp>
          <p:nvSpPr>
            <p:cNvPr id="6" name="object 6"/>
            <p:cNvSpPr txBox="1"/>
            <p:nvPr/>
          </p:nvSpPr>
          <p:spPr>
            <a:xfrm>
              <a:off x="2214886" y="3028277"/>
              <a:ext cx="5858434" cy="782363"/>
            </a:xfrm>
            <a:prstGeom prst="rect">
              <a:avLst/>
            </a:prstGeom>
          </p:spPr>
          <p:txBody>
            <a:bodyPr vert="horz" wrap="square" lIns="0" tIns="64994" rIns="0" bIns="0" rtlCol="0">
              <a:spAutoFit/>
            </a:bodyPr>
            <a:lstStyle/>
            <a:p>
              <a:pPr marL="33619">
                <a:spcBef>
                  <a:spcPts val="512"/>
                </a:spcBef>
                <a:tabLst>
                  <a:tab pos="220206" algn="l"/>
                  <a:tab pos="1630543" algn="l"/>
                  <a:tab pos="3382676" algn="l"/>
                </a:tabLst>
              </a:pPr>
              <a:r>
                <a:rPr sz="2162" u="sng" dirty="0">
                  <a:uFill>
                    <a:solidFill>
                      <a:srgbClr val="000000"/>
                    </a:solidFill>
                  </a:uFill>
                  <a:latin typeface="Times New Roman"/>
                  <a:cs typeface="Times New Roman"/>
                </a:rPr>
                <a:t>	Ideal</a:t>
              </a:r>
              <a:r>
                <a:rPr sz="2162" u="sng" spc="-57" dirty="0">
                  <a:uFill>
                    <a:solidFill>
                      <a:srgbClr val="000000"/>
                    </a:solidFill>
                  </a:uFill>
                  <a:latin typeface="Times New Roman"/>
                  <a:cs typeface="Times New Roman"/>
                </a:rPr>
                <a:t> </a:t>
              </a:r>
              <a:r>
                <a:rPr sz="2162" u="sng" dirty="0">
                  <a:uFill>
                    <a:solidFill>
                      <a:srgbClr val="000000"/>
                    </a:solidFill>
                  </a:uFill>
                  <a:latin typeface="Times New Roman"/>
                  <a:cs typeface="Times New Roman"/>
                </a:rPr>
                <a:t>CPI</a:t>
              </a:r>
              <a:r>
                <a:rPr sz="2162" u="sng" spc="260" dirty="0">
                  <a:uFill>
                    <a:solidFill>
                      <a:srgbClr val="000000"/>
                    </a:solidFill>
                  </a:uFill>
                  <a:latin typeface="Times New Roman"/>
                  <a:cs typeface="Times New Roman"/>
                </a:rPr>
                <a:t> </a:t>
              </a:r>
              <a:r>
                <a:rPr sz="2162" u="sng" spc="-44" dirty="0">
                  <a:uFill>
                    <a:solidFill>
                      <a:srgbClr val="000000"/>
                    </a:solidFill>
                  </a:uFill>
                  <a:latin typeface="Symbol"/>
                  <a:cs typeface="Symbol"/>
                </a:rPr>
                <a:t></a:t>
              </a:r>
              <a:r>
                <a:rPr sz="2162" u="sng" dirty="0">
                  <a:uFill>
                    <a:solidFill>
                      <a:srgbClr val="000000"/>
                    </a:solidFill>
                  </a:uFill>
                  <a:latin typeface="Times New Roman"/>
                  <a:cs typeface="Times New Roman"/>
                </a:rPr>
                <a:t>	Pipeline</a:t>
              </a:r>
              <a:r>
                <a:rPr sz="2162" u="sng" spc="-106" dirty="0">
                  <a:uFill>
                    <a:solidFill>
                      <a:srgbClr val="000000"/>
                    </a:solidFill>
                  </a:uFill>
                  <a:latin typeface="Times New Roman"/>
                  <a:cs typeface="Times New Roman"/>
                </a:rPr>
                <a:t> </a:t>
              </a:r>
              <a:r>
                <a:rPr sz="2162" u="sng" spc="-9" dirty="0">
                  <a:uFill>
                    <a:solidFill>
                      <a:srgbClr val="000000"/>
                    </a:solidFill>
                  </a:uFill>
                  <a:latin typeface="Times New Roman"/>
                  <a:cs typeface="Times New Roman"/>
                </a:rPr>
                <a:t>depth</a:t>
              </a:r>
              <a:r>
                <a:rPr sz="2162" u="sng" dirty="0">
                  <a:uFill>
                    <a:solidFill>
                      <a:srgbClr val="000000"/>
                    </a:solidFill>
                  </a:uFill>
                  <a:latin typeface="Times New Roman"/>
                  <a:cs typeface="Times New Roman"/>
                </a:rPr>
                <a:t>	</a:t>
              </a:r>
              <a:endParaRPr sz="2162" dirty="0">
                <a:latin typeface="Times New Roman"/>
                <a:cs typeface="Times New Roman"/>
              </a:endParaRPr>
            </a:p>
            <a:p>
              <a:pPr marL="50989">
                <a:spcBef>
                  <a:spcPts val="419"/>
                </a:spcBef>
                <a:tabLst>
                  <a:tab pos="1199093" algn="l"/>
                  <a:tab pos="1465247" algn="l"/>
                  <a:tab pos="3939078" algn="l"/>
                </a:tabLst>
              </a:pPr>
              <a:r>
                <a:rPr sz="2162" dirty="0">
                  <a:latin typeface="Times New Roman"/>
                  <a:cs typeface="Times New Roman"/>
                </a:rPr>
                <a:t>Ideal</a:t>
              </a:r>
              <a:r>
                <a:rPr sz="2162" spc="-93" dirty="0">
                  <a:latin typeface="Times New Roman"/>
                  <a:cs typeface="Times New Roman"/>
                </a:rPr>
                <a:t> </a:t>
              </a:r>
              <a:r>
                <a:rPr sz="2162" spc="-22" dirty="0">
                  <a:latin typeface="Times New Roman"/>
                  <a:cs typeface="Times New Roman"/>
                </a:rPr>
                <a:t>CPI</a:t>
              </a:r>
              <a:r>
                <a:rPr sz="2162" dirty="0">
                  <a:latin typeface="Times New Roman"/>
                  <a:cs typeface="Times New Roman"/>
                </a:rPr>
                <a:t>	</a:t>
              </a:r>
              <a:r>
                <a:rPr sz="2162" spc="-44" dirty="0">
                  <a:latin typeface="Symbol"/>
                  <a:cs typeface="Symbol"/>
                </a:rPr>
                <a:t></a:t>
              </a:r>
              <a:r>
                <a:rPr sz="2162" dirty="0">
                  <a:latin typeface="Times New Roman"/>
                  <a:cs typeface="Times New Roman"/>
                </a:rPr>
                <a:t>	Pipeline</a:t>
              </a:r>
              <a:r>
                <a:rPr sz="2162" spc="-84" dirty="0">
                  <a:latin typeface="Times New Roman"/>
                  <a:cs typeface="Times New Roman"/>
                </a:rPr>
                <a:t> </a:t>
              </a:r>
              <a:r>
                <a:rPr sz="2162" dirty="0">
                  <a:latin typeface="Times New Roman"/>
                  <a:cs typeface="Times New Roman"/>
                </a:rPr>
                <a:t>stall</a:t>
              </a:r>
              <a:r>
                <a:rPr sz="2162" spc="-75" dirty="0">
                  <a:latin typeface="Times New Roman"/>
                  <a:cs typeface="Times New Roman"/>
                </a:rPr>
                <a:t> </a:t>
              </a:r>
              <a:r>
                <a:rPr sz="2162" spc="-22" dirty="0">
                  <a:latin typeface="Times New Roman"/>
                  <a:cs typeface="Times New Roman"/>
                </a:rPr>
                <a:t>CPI</a:t>
              </a:r>
              <a:r>
                <a:rPr sz="2162" dirty="0">
                  <a:latin typeface="Times New Roman"/>
                  <a:cs typeface="Times New Roman"/>
                </a:rPr>
                <a:t>	Cycle</a:t>
              </a:r>
              <a:r>
                <a:rPr sz="2162" spc="-93" dirty="0">
                  <a:latin typeface="Times New Roman"/>
                  <a:cs typeface="Times New Roman"/>
                </a:rPr>
                <a:t> </a:t>
              </a:r>
              <a:r>
                <a:rPr sz="2162" spc="-9" dirty="0">
                  <a:latin typeface="Times New Roman"/>
                  <a:cs typeface="Times New Roman"/>
                </a:rPr>
                <a:t>Time</a:t>
              </a:r>
              <a:r>
                <a:rPr sz="1853" spc="-13" baseline="-23809" dirty="0">
                  <a:latin typeface="Times New Roman"/>
                  <a:cs typeface="Times New Roman"/>
                </a:rPr>
                <a:t>pipelined</a:t>
              </a:r>
              <a:endParaRPr sz="1853" baseline="-23809" dirty="0">
                <a:latin typeface="Times New Roman"/>
                <a:cs typeface="Times New Roman"/>
              </a:endParaRPr>
            </a:p>
          </p:txBody>
        </p:sp>
        <p:sp>
          <p:nvSpPr>
            <p:cNvPr id="7" name="object 7"/>
            <p:cNvSpPr/>
            <p:nvPr/>
          </p:nvSpPr>
          <p:spPr>
            <a:xfrm>
              <a:off x="6063082" y="3473684"/>
              <a:ext cx="2083734" cy="0"/>
            </a:xfrm>
            <a:custGeom>
              <a:avLst/>
              <a:gdLst/>
              <a:ahLst/>
              <a:cxnLst/>
              <a:rect l="l" t="t" r="r" b="b"/>
              <a:pathLst>
                <a:path w="2361565">
                  <a:moveTo>
                    <a:pt x="0" y="0"/>
                  </a:moveTo>
                  <a:lnTo>
                    <a:pt x="2361039" y="0"/>
                  </a:lnTo>
                </a:path>
              </a:pathLst>
            </a:custGeom>
            <a:ln w="15360">
              <a:solidFill>
                <a:srgbClr val="000000"/>
              </a:solidFill>
            </a:ln>
          </p:spPr>
          <p:txBody>
            <a:bodyPr wrap="square" lIns="0" tIns="0" rIns="0" bIns="0" rtlCol="0"/>
            <a:lstStyle/>
            <a:p>
              <a:endParaRPr sz="1588"/>
            </a:p>
          </p:txBody>
        </p:sp>
      </p:grpSp>
      <p:grpSp>
        <p:nvGrpSpPr>
          <p:cNvPr id="24" name="Group 23">
            <a:extLst>
              <a:ext uri="{FF2B5EF4-FFF2-40B4-BE49-F238E27FC236}">
                <a16:creationId xmlns:a16="http://schemas.microsoft.com/office/drawing/2014/main" id="{BA555780-4CAB-1328-0807-7BCED94A340C}"/>
              </a:ext>
            </a:extLst>
          </p:cNvPr>
          <p:cNvGrpSpPr/>
          <p:nvPr/>
        </p:nvGrpSpPr>
        <p:grpSpPr>
          <a:xfrm>
            <a:off x="846010" y="4059888"/>
            <a:ext cx="6549265" cy="798091"/>
            <a:chOff x="846010" y="4059888"/>
            <a:chExt cx="6549265" cy="798091"/>
          </a:xfrm>
        </p:grpSpPr>
        <p:sp>
          <p:nvSpPr>
            <p:cNvPr id="8" name="object 8"/>
            <p:cNvSpPr txBox="1"/>
            <p:nvPr/>
          </p:nvSpPr>
          <p:spPr>
            <a:xfrm>
              <a:off x="846010" y="4284571"/>
              <a:ext cx="1274669" cy="351333"/>
            </a:xfrm>
            <a:prstGeom prst="rect">
              <a:avLst/>
            </a:prstGeom>
          </p:spPr>
          <p:txBody>
            <a:bodyPr vert="horz" wrap="square" lIns="0" tIns="11766" rIns="0" bIns="0" rtlCol="0">
              <a:spAutoFit/>
            </a:bodyPr>
            <a:lstStyle/>
            <a:p>
              <a:pPr marL="11206">
                <a:spcBef>
                  <a:spcPts val="93"/>
                </a:spcBef>
                <a:tabLst>
                  <a:tab pos="1108321" algn="l"/>
                </a:tabLst>
              </a:pPr>
              <a:r>
                <a:rPr sz="2206" spc="-9" dirty="0">
                  <a:latin typeface="Times New Roman"/>
                  <a:cs typeface="Times New Roman"/>
                </a:rPr>
                <a:t>Speedup</a:t>
              </a:r>
              <a:r>
                <a:rPr sz="2206" dirty="0">
                  <a:latin typeface="Times New Roman"/>
                  <a:cs typeface="Times New Roman"/>
                </a:rPr>
                <a:t>	</a:t>
              </a:r>
              <a:r>
                <a:rPr sz="2206" spc="-44" dirty="0">
                  <a:latin typeface="Symbol"/>
                  <a:cs typeface="Symbol"/>
                </a:rPr>
                <a:t></a:t>
              </a:r>
              <a:endParaRPr sz="2206" dirty="0">
                <a:latin typeface="Symbol"/>
                <a:cs typeface="Symbol"/>
              </a:endParaRPr>
            </a:p>
          </p:txBody>
        </p:sp>
        <p:sp>
          <p:nvSpPr>
            <p:cNvPr id="9" name="object 9"/>
            <p:cNvSpPr txBox="1"/>
            <p:nvPr/>
          </p:nvSpPr>
          <p:spPr>
            <a:xfrm>
              <a:off x="4927476" y="4284571"/>
              <a:ext cx="177053" cy="351333"/>
            </a:xfrm>
            <a:prstGeom prst="rect">
              <a:avLst/>
            </a:prstGeom>
          </p:spPr>
          <p:txBody>
            <a:bodyPr vert="horz" wrap="square" lIns="0" tIns="11766" rIns="0" bIns="0" rtlCol="0">
              <a:spAutoFit/>
            </a:bodyPr>
            <a:lstStyle/>
            <a:p>
              <a:pPr marL="11206">
                <a:spcBef>
                  <a:spcPts val="93"/>
                </a:spcBef>
              </a:pPr>
              <a:r>
                <a:rPr sz="2206" spc="-44" dirty="0">
                  <a:latin typeface="Symbol"/>
                  <a:cs typeface="Symbol"/>
                </a:rPr>
                <a:t></a:t>
              </a:r>
              <a:endParaRPr sz="2206">
                <a:latin typeface="Symbol"/>
                <a:cs typeface="Symbol"/>
              </a:endParaRPr>
            </a:p>
          </p:txBody>
        </p:sp>
        <p:sp>
          <p:nvSpPr>
            <p:cNvPr id="10" name="object 10"/>
            <p:cNvSpPr txBox="1"/>
            <p:nvPr/>
          </p:nvSpPr>
          <p:spPr>
            <a:xfrm>
              <a:off x="5234333" y="4157310"/>
              <a:ext cx="2153771" cy="351333"/>
            </a:xfrm>
            <a:prstGeom prst="rect">
              <a:avLst/>
            </a:prstGeom>
          </p:spPr>
          <p:txBody>
            <a:bodyPr vert="horz" wrap="square" lIns="0" tIns="11766" rIns="0" bIns="0" rtlCol="0">
              <a:spAutoFit/>
            </a:bodyPr>
            <a:lstStyle/>
            <a:p>
              <a:pPr marL="33619">
                <a:spcBef>
                  <a:spcPts val="93"/>
                </a:spcBef>
              </a:pPr>
              <a:r>
                <a:rPr sz="3309" baseline="14444" dirty="0">
                  <a:latin typeface="Times New Roman"/>
                  <a:cs typeface="Times New Roman"/>
                </a:rPr>
                <a:t>Cycle</a:t>
              </a:r>
              <a:r>
                <a:rPr sz="3309" spc="-72" baseline="14444" dirty="0">
                  <a:latin typeface="Times New Roman"/>
                  <a:cs typeface="Times New Roman"/>
                </a:rPr>
                <a:t> </a:t>
              </a:r>
              <a:r>
                <a:rPr sz="3309" spc="-13" baseline="14444" dirty="0">
                  <a:latin typeface="Times New Roman"/>
                  <a:cs typeface="Times New Roman"/>
                </a:rPr>
                <a:t>Time</a:t>
              </a:r>
              <a:r>
                <a:rPr sz="1279" spc="-9" dirty="0">
                  <a:latin typeface="Times New Roman"/>
                  <a:cs typeface="Times New Roman"/>
                </a:rPr>
                <a:t>unpipelined</a:t>
              </a:r>
              <a:endParaRPr sz="1279">
                <a:latin typeface="Times New Roman"/>
                <a:cs typeface="Times New Roman"/>
              </a:endParaRPr>
            </a:p>
          </p:txBody>
        </p:sp>
        <p:sp>
          <p:nvSpPr>
            <p:cNvPr id="11" name="object 11"/>
            <p:cNvSpPr txBox="1"/>
            <p:nvPr/>
          </p:nvSpPr>
          <p:spPr>
            <a:xfrm>
              <a:off x="2242380" y="4059888"/>
              <a:ext cx="5076265" cy="798091"/>
            </a:xfrm>
            <a:prstGeom prst="rect">
              <a:avLst/>
            </a:prstGeom>
          </p:spPr>
          <p:txBody>
            <a:bodyPr vert="horz" wrap="square" lIns="0" tIns="67235" rIns="0" bIns="0" rtlCol="0">
              <a:spAutoFit/>
            </a:bodyPr>
            <a:lstStyle/>
            <a:p>
              <a:pPr marL="44266">
                <a:spcBef>
                  <a:spcPts val="529"/>
                </a:spcBef>
                <a:tabLst>
                  <a:tab pos="486361" algn="l"/>
                  <a:tab pos="2534906" algn="l"/>
                </a:tabLst>
              </a:pPr>
              <a:r>
                <a:rPr sz="2206" u="sng" dirty="0">
                  <a:uFill>
                    <a:solidFill>
                      <a:srgbClr val="000000"/>
                    </a:solidFill>
                  </a:uFill>
                  <a:latin typeface="Times New Roman"/>
                  <a:cs typeface="Times New Roman"/>
                </a:rPr>
                <a:t>	Pipeline</a:t>
              </a:r>
              <a:r>
                <a:rPr sz="2206" u="sng" spc="-71" dirty="0">
                  <a:uFill>
                    <a:solidFill>
                      <a:srgbClr val="000000"/>
                    </a:solidFill>
                  </a:uFill>
                  <a:latin typeface="Times New Roman"/>
                  <a:cs typeface="Times New Roman"/>
                </a:rPr>
                <a:t> </a:t>
              </a:r>
              <a:r>
                <a:rPr sz="2206" u="sng" spc="-18" dirty="0">
                  <a:uFill>
                    <a:solidFill>
                      <a:srgbClr val="000000"/>
                    </a:solidFill>
                  </a:uFill>
                  <a:latin typeface="Times New Roman"/>
                  <a:cs typeface="Times New Roman"/>
                </a:rPr>
                <a:t>depth</a:t>
              </a:r>
              <a:r>
                <a:rPr sz="2206" u="sng" dirty="0">
                  <a:uFill>
                    <a:solidFill>
                      <a:srgbClr val="000000"/>
                    </a:solidFill>
                  </a:uFill>
                  <a:latin typeface="Times New Roman"/>
                  <a:cs typeface="Times New Roman"/>
                </a:rPr>
                <a:t>	</a:t>
              </a:r>
              <a:endParaRPr sz="2206">
                <a:latin typeface="Times New Roman"/>
                <a:cs typeface="Times New Roman"/>
              </a:endParaRPr>
            </a:p>
            <a:p>
              <a:pPr marL="33619">
                <a:spcBef>
                  <a:spcPts val="446"/>
                </a:spcBef>
                <a:tabLst>
                  <a:tab pos="292489" algn="l"/>
                  <a:tab pos="565927" algn="l"/>
                  <a:tab pos="3106436" algn="l"/>
                </a:tabLst>
              </a:pPr>
              <a:r>
                <a:rPr sz="2206" spc="-44" dirty="0">
                  <a:latin typeface="Times New Roman"/>
                  <a:cs typeface="Times New Roman"/>
                </a:rPr>
                <a:t>1</a:t>
              </a:r>
              <a:r>
                <a:rPr sz="2206" dirty="0">
                  <a:latin typeface="Times New Roman"/>
                  <a:cs typeface="Times New Roman"/>
                </a:rPr>
                <a:t>	</a:t>
              </a:r>
              <a:r>
                <a:rPr sz="2206" spc="-44" dirty="0">
                  <a:latin typeface="Symbol"/>
                  <a:cs typeface="Symbol"/>
                </a:rPr>
                <a:t></a:t>
              </a:r>
              <a:r>
                <a:rPr sz="2206" dirty="0">
                  <a:latin typeface="Times New Roman"/>
                  <a:cs typeface="Times New Roman"/>
                </a:rPr>
                <a:t>	Pipeline</a:t>
              </a:r>
              <a:r>
                <a:rPr sz="2206" spc="-66" dirty="0">
                  <a:latin typeface="Times New Roman"/>
                  <a:cs typeface="Times New Roman"/>
                </a:rPr>
                <a:t> </a:t>
              </a:r>
              <a:r>
                <a:rPr sz="2206" dirty="0">
                  <a:latin typeface="Times New Roman"/>
                  <a:cs typeface="Times New Roman"/>
                </a:rPr>
                <a:t>stall</a:t>
              </a:r>
              <a:r>
                <a:rPr sz="2206" spc="-57" dirty="0">
                  <a:latin typeface="Times New Roman"/>
                  <a:cs typeface="Times New Roman"/>
                </a:rPr>
                <a:t> </a:t>
              </a:r>
              <a:r>
                <a:rPr sz="2206" spc="-22" dirty="0">
                  <a:latin typeface="Times New Roman"/>
                  <a:cs typeface="Times New Roman"/>
                </a:rPr>
                <a:t>CPI</a:t>
              </a:r>
              <a:r>
                <a:rPr sz="2206" dirty="0">
                  <a:latin typeface="Times New Roman"/>
                  <a:cs typeface="Times New Roman"/>
                </a:rPr>
                <a:t>	Cycle</a:t>
              </a:r>
              <a:r>
                <a:rPr sz="2206" spc="-49" dirty="0">
                  <a:latin typeface="Times New Roman"/>
                  <a:cs typeface="Times New Roman"/>
                </a:rPr>
                <a:t> </a:t>
              </a:r>
              <a:r>
                <a:rPr sz="2206" spc="-9" dirty="0">
                  <a:latin typeface="Times New Roman"/>
                  <a:cs typeface="Times New Roman"/>
                </a:rPr>
                <a:t>Time</a:t>
              </a:r>
              <a:r>
                <a:rPr sz="1919" spc="-13" baseline="-24904" dirty="0">
                  <a:latin typeface="Times New Roman"/>
                  <a:cs typeface="Times New Roman"/>
                </a:rPr>
                <a:t>pipelined</a:t>
              </a:r>
              <a:endParaRPr sz="1919" baseline="-24904">
                <a:latin typeface="Times New Roman"/>
                <a:cs typeface="Times New Roman"/>
              </a:endParaRPr>
            </a:p>
          </p:txBody>
        </p:sp>
        <p:sp>
          <p:nvSpPr>
            <p:cNvPr id="12" name="object 12"/>
            <p:cNvSpPr/>
            <p:nvPr/>
          </p:nvSpPr>
          <p:spPr>
            <a:xfrm>
              <a:off x="5255512" y="4516288"/>
              <a:ext cx="2139763" cy="0"/>
            </a:xfrm>
            <a:custGeom>
              <a:avLst/>
              <a:gdLst/>
              <a:ahLst/>
              <a:cxnLst/>
              <a:rect l="l" t="t" r="r" b="b"/>
              <a:pathLst>
                <a:path w="2425065">
                  <a:moveTo>
                    <a:pt x="0" y="0"/>
                  </a:moveTo>
                  <a:lnTo>
                    <a:pt x="2424782" y="0"/>
                  </a:lnTo>
                </a:path>
              </a:pathLst>
            </a:custGeom>
            <a:ln w="15749">
              <a:solidFill>
                <a:srgbClr val="000000"/>
              </a:solidFill>
            </a:ln>
          </p:spPr>
          <p:txBody>
            <a:bodyPr wrap="square" lIns="0" tIns="0" rIns="0" bIns="0" rtlCol="0"/>
            <a:lstStyle/>
            <a:p>
              <a:endParaRPr sz="1588"/>
            </a:p>
          </p:txBody>
        </p:sp>
      </p:grpSp>
      <p:grpSp>
        <p:nvGrpSpPr>
          <p:cNvPr id="26" name="Group 25">
            <a:extLst>
              <a:ext uri="{FF2B5EF4-FFF2-40B4-BE49-F238E27FC236}">
                <a16:creationId xmlns:a16="http://schemas.microsoft.com/office/drawing/2014/main" id="{2BDB2F62-F413-7B76-2107-BB5D87E1968B}"/>
              </a:ext>
            </a:extLst>
          </p:cNvPr>
          <p:cNvGrpSpPr/>
          <p:nvPr/>
        </p:nvGrpSpPr>
        <p:grpSpPr>
          <a:xfrm>
            <a:off x="827240" y="1815832"/>
            <a:ext cx="6208030" cy="417722"/>
            <a:chOff x="827240" y="1815832"/>
            <a:chExt cx="6208030" cy="417722"/>
          </a:xfrm>
        </p:grpSpPr>
        <p:sp>
          <p:nvSpPr>
            <p:cNvPr id="13" name="object 13"/>
            <p:cNvSpPr txBox="1"/>
            <p:nvPr/>
          </p:nvSpPr>
          <p:spPr>
            <a:xfrm>
              <a:off x="827240" y="1885558"/>
              <a:ext cx="1113865" cy="347996"/>
            </a:xfrm>
            <a:prstGeom prst="rect">
              <a:avLst/>
            </a:prstGeom>
          </p:spPr>
          <p:txBody>
            <a:bodyPr vert="horz" wrap="square" lIns="0" tIns="15128" rIns="0" bIns="0" rtlCol="0">
              <a:spAutoFit/>
            </a:bodyPr>
            <a:lstStyle/>
            <a:p>
              <a:pPr marL="33619">
                <a:spcBef>
                  <a:spcPts val="119"/>
                </a:spcBef>
              </a:pPr>
              <a:r>
                <a:rPr sz="3243" spc="-13" baseline="13605" dirty="0">
                  <a:latin typeface="Times New Roman"/>
                  <a:cs typeface="Times New Roman"/>
                </a:rPr>
                <a:t>CPI</a:t>
              </a:r>
              <a:r>
                <a:rPr sz="1235" spc="-9" dirty="0">
                  <a:latin typeface="Times New Roman"/>
                  <a:cs typeface="Times New Roman"/>
                </a:rPr>
                <a:t>pipelined</a:t>
              </a:r>
              <a:endParaRPr sz="1235">
                <a:latin typeface="Times New Roman"/>
                <a:cs typeface="Times New Roman"/>
              </a:endParaRPr>
            </a:p>
          </p:txBody>
        </p:sp>
        <p:sp>
          <p:nvSpPr>
            <p:cNvPr id="14" name="object 14"/>
            <p:cNvSpPr txBox="1"/>
            <p:nvPr/>
          </p:nvSpPr>
          <p:spPr>
            <a:xfrm>
              <a:off x="2071064" y="1815832"/>
              <a:ext cx="4964206" cy="347996"/>
            </a:xfrm>
            <a:prstGeom prst="rect">
              <a:avLst/>
            </a:prstGeom>
          </p:spPr>
          <p:txBody>
            <a:bodyPr vert="horz" wrap="square" lIns="0" tIns="15128" rIns="0" bIns="0" rtlCol="0">
              <a:spAutoFit/>
            </a:bodyPr>
            <a:lstStyle/>
            <a:p>
              <a:pPr marL="11206">
                <a:spcBef>
                  <a:spcPts val="119"/>
                </a:spcBef>
                <a:tabLst>
                  <a:tab pos="298092" algn="l"/>
                  <a:tab pos="1476454" algn="l"/>
                  <a:tab pos="1750451" algn="l"/>
                </a:tabLst>
              </a:pPr>
              <a:r>
                <a:rPr sz="2162" spc="-44" dirty="0">
                  <a:latin typeface="Symbol"/>
                  <a:cs typeface="Symbol"/>
                </a:rPr>
                <a:t></a:t>
              </a:r>
              <a:r>
                <a:rPr sz="2162" dirty="0">
                  <a:latin typeface="Times New Roman"/>
                  <a:cs typeface="Times New Roman"/>
                </a:rPr>
                <a:t>	Ideal</a:t>
              </a:r>
              <a:r>
                <a:rPr sz="2162" spc="35" dirty="0">
                  <a:latin typeface="Times New Roman"/>
                  <a:cs typeface="Times New Roman"/>
                </a:rPr>
                <a:t> </a:t>
              </a:r>
              <a:r>
                <a:rPr sz="2162" spc="-22" dirty="0">
                  <a:latin typeface="Times New Roman"/>
                  <a:cs typeface="Times New Roman"/>
                </a:rPr>
                <a:t>CPI</a:t>
              </a:r>
              <a:r>
                <a:rPr sz="2162" dirty="0">
                  <a:latin typeface="Times New Roman"/>
                  <a:cs typeface="Times New Roman"/>
                </a:rPr>
                <a:t>	</a:t>
              </a:r>
              <a:r>
                <a:rPr sz="2162" spc="-44" dirty="0">
                  <a:latin typeface="Symbol"/>
                  <a:cs typeface="Symbol"/>
                </a:rPr>
                <a:t></a:t>
              </a:r>
              <a:r>
                <a:rPr sz="2162" dirty="0">
                  <a:latin typeface="Times New Roman"/>
                  <a:cs typeface="Times New Roman"/>
                </a:rPr>
                <a:t>	Average</a:t>
              </a:r>
              <a:r>
                <a:rPr sz="2162" spc="40" dirty="0">
                  <a:latin typeface="Times New Roman"/>
                  <a:cs typeface="Times New Roman"/>
                </a:rPr>
                <a:t> </a:t>
              </a:r>
              <a:r>
                <a:rPr sz="2162" dirty="0">
                  <a:latin typeface="Times New Roman"/>
                  <a:cs typeface="Times New Roman"/>
                </a:rPr>
                <a:t>Stall</a:t>
              </a:r>
              <a:r>
                <a:rPr sz="2162" spc="57" dirty="0">
                  <a:latin typeface="Times New Roman"/>
                  <a:cs typeface="Times New Roman"/>
                </a:rPr>
                <a:t> </a:t>
              </a:r>
              <a:r>
                <a:rPr sz="2162" dirty="0">
                  <a:latin typeface="Times New Roman"/>
                  <a:cs typeface="Times New Roman"/>
                </a:rPr>
                <a:t>cycles</a:t>
              </a:r>
              <a:r>
                <a:rPr sz="2162" spc="66" dirty="0">
                  <a:latin typeface="Times New Roman"/>
                  <a:cs typeface="Times New Roman"/>
                </a:rPr>
                <a:t> </a:t>
              </a:r>
              <a:r>
                <a:rPr sz="2162" dirty="0">
                  <a:latin typeface="Times New Roman"/>
                  <a:cs typeface="Times New Roman"/>
                </a:rPr>
                <a:t>per</a:t>
              </a:r>
              <a:r>
                <a:rPr sz="2162" spc="49" dirty="0">
                  <a:latin typeface="Times New Roman"/>
                  <a:cs typeface="Times New Roman"/>
                </a:rPr>
                <a:t> </a:t>
              </a:r>
              <a:r>
                <a:rPr sz="2162" spc="-18" dirty="0">
                  <a:latin typeface="Times New Roman"/>
                  <a:cs typeface="Times New Roman"/>
                </a:rPr>
                <a:t>Inst</a:t>
              </a:r>
              <a:endParaRPr sz="2162">
                <a:latin typeface="Times New Roman"/>
                <a:cs typeface="Times New Roman"/>
              </a:endParaRPr>
            </a:p>
          </p:txBody>
        </p:sp>
      </p:grpSp>
      <p:sp>
        <p:nvSpPr>
          <p:cNvPr id="15" name="object 15"/>
          <p:cNvSpPr txBox="1"/>
          <p:nvPr/>
        </p:nvSpPr>
        <p:spPr>
          <a:xfrm>
            <a:off x="871705" y="1267473"/>
            <a:ext cx="4764741" cy="364361"/>
          </a:xfrm>
          <a:prstGeom prst="rect">
            <a:avLst/>
          </a:prstGeom>
        </p:spPr>
        <p:txBody>
          <a:bodyPr vert="horz" wrap="square" lIns="0" tIns="11206" rIns="0" bIns="0" rtlCol="0">
            <a:spAutoFit/>
          </a:bodyPr>
          <a:lstStyle/>
          <a:p>
            <a:pPr marL="11206">
              <a:spcBef>
                <a:spcPts val="88"/>
              </a:spcBef>
            </a:pPr>
            <a:r>
              <a:rPr sz="2294" dirty="0">
                <a:solidFill>
                  <a:srgbClr val="FF0000"/>
                </a:solidFill>
                <a:latin typeface="Times New Roman"/>
                <a:cs typeface="Times New Roman"/>
              </a:rPr>
              <a:t>For</a:t>
            </a:r>
            <a:r>
              <a:rPr sz="2294" spc="-97" dirty="0">
                <a:solidFill>
                  <a:srgbClr val="FF0000"/>
                </a:solidFill>
                <a:latin typeface="Times New Roman"/>
                <a:cs typeface="Times New Roman"/>
              </a:rPr>
              <a:t> </a:t>
            </a:r>
            <a:r>
              <a:rPr sz="2294" spc="-9" dirty="0">
                <a:solidFill>
                  <a:srgbClr val="FF0000"/>
                </a:solidFill>
                <a:latin typeface="Times New Roman"/>
                <a:cs typeface="Times New Roman"/>
              </a:rPr>
              <a:t>simple</a:t>
            </a:r>
            <a:r>
              <a:rPr sz="2294" spc="-106" dirty="0">
                <a:solidFill>
                  <a:srgbClr val="FF0000"/>
                </a:solidFill>
                <a:latin typeface="Times New Roman"/>
                <a:cs typeface="Times New Roman"/>
              </a:rPr>
              <a:t> </a:t>
            </a:r>
            <a:r>
              <a:rPr sz="2294" dirty="0">
                <a:solidFill>
                  <a:srgbClr val="FF0000"/>
                </a:solidFill>
                <a:latin typeface="Times New Roman"/>
                <a:cs typeface="Times New Roman"/>
              </a:rPr>
              <a:t>RISC</a:t>
            </a:r>
            <a:r>
              <a:rPr sz="2294" spc="-110" dirty="0">
                <a:solidFill>
                  <a:srgbClr val="FF0000"/>
                </a:solidFill>
                <a:latin typeface="Times New Roman"/>
                <a:cs typeface="Times New Roman"/>
              </a:rPr>
              <a:t> </a:t>
            </a:r>
            <a:r>
              <a:rPr sz="2294" spc="-9" dirty="0">
                <a:solidFill>
                  <a:srgbClr val="FF0000"/>
                </a:solidFill>
                <a:latin typeface="Times New Roman"/>
                <a:cs typeface="Times New Roman"/>
              </a:rPr>
              <a:t>pipeline,</a:t>
            </a:r>
            <a:r>
              <a:rPr sz="2294" spc="-110" dirty="0">
                <a:solidFill>
                  <a:srgbClr val="FF0000"/>
                </a:solidFill>
                <a:latin typeface="Times New Roman"/>
                <a:cs typeface="Times New Roman"/>
              </a:rPr>
              <a:t> </a:t>
            </a:r>
            <a:r>
              <a:rPr sz="2294" b="1" dirty="0">
                <a:solidFill>
                  <a:srgbClr val="FF0000"/>
                </a:solidFill>
                <a:latin typeface="Times New Roman"/>
                <a:cs typeface="Times New Roman"/>
              </a:rPr>
              <a:t>Ideal</a:t>
            </a:r>
            <a:r>
              <a:rPr sz="2294" b="1" spc="-106" dirty="0">
                <a:solidFill>
                  <a:srgbClr val="FF0000"/>
                </a:solidFill>
                <a:latin typeface="Times New Roman"/>
                <a:cs typeface="Times New Roman"/>
              </a:rPr>
              <a:t> </a:t>
            </a:r>
            <a:r>
              <a:rPr sz="2294" dirty="0">
                <a:solidFill>
                  <a:srgbClr val="FF0000"/>
                </a:solidFill>
                <a:latin typeface="Times New Roman"/>
                <a:cs typeface="Times New Roman"/>
              </a:rPr>
              <a:t>CPI</a:t>
            </a:r>
            <a:r>
              <a:rPr sz="2294" spc="-97" dirty="0">
                <a:solidFill>
                  <a:srgbClr val="FF0000"/>
                </a:solidFill>
                <a:latin typeface="Times New Roman"/>
                <a:cs typeface="Times New Roman"/>
              </a:rPr>
              <a:t> </a:t>
            </a:r>
            <a:r>
              <a:rPr sz="2294" dirty="0">
                <a:solidFill>
                  <a:srgbClr val="FF0000"/>
                </a:solidFill>
                <a:latin typeface="Times New Roman"/>
                <a:cs typeface="Times New Roman"/>
              </a:rPr>
              <a:t>=</a:t>
            </a:r>
            <a:r>
              <a:rPr sz="2294" spc="-115" dirty="0">
                <a:solidFill>
                  <a:srgbClr val="FF0000"/>
                </a:solidFill>
                <a:latin typeface="Times New Roman"/>
                <a:cs typeface="Times New Roman"/>
              </a:rPr>
              <a:t> </a:t>
            </a:r>
            <a:r>
              <a:rPr sz="2294" spc="-22" dirty="0">
                <a:solidFill>
                  <a:srgbClr val="FF0000"/>
                </a:solidFill>
                <a:latin typeface="Times New Roman"/>
                <a:cs typeface="Times New Roman"/>
              </a:rPr>
              <a:t>1,</a:t>
            </a:r>
            <a:endParaRPr sz="2294" dirty="0">
              <a:latin typeface="Times New Roman"/>
              <a:cs typeface="Times New Roman"/>
            </a:endParaRPr>
          </a:p>
        </p:txBody>
      </p:sp>
      <p:sp>
        <p:nvSpPr>
          <p:cNvPr id="16" name="object 16"/>
          <p:cNvSpPr txBox="1"/>
          <p:nvPr/>
        </p:nvSpPr>
        <p:spPr>
          <a:xfrm>
            <a:off x="871704" y="5091953"/>
            <a:ext cx="7318001" cy="296458"/>
          </a:xfrm>
          <a:prstGeom prst="rect">
            <a:avLst/>
          </a:prstGeom>
        </p:spPr>
        <p:txBody>
          <a:bodyPr vert="horz" wrap="square" lIns="0" tIns="11206" rIns="0" bIns="0" rtlCol="0">
            <a:spAutoFit/>
          </a:bodyPr>
          <a:lstStyle/>
          <a:p>
            <a:pPr marL="11206">
              <a:spcBef>
                <a:spcPts val="88"/>
              </a:spcBef>
            </a:pPr>
            <a:r>
              <a:rPr sz="1853" dirty="0">
                <a:solidFill>
                  <a:srgbClr val="FF0000"/>
                </a:solidFill>
                <a:latin typeface="Times New Roman"/>
                <a:cs typeface="Times New Roman"/>
              </a:rPr>
              <a:t>Assume</a:t>
            </a:r>
            <a:r>
              <a:rPr sz="1853" spc="31" dirty="0">
                <a:solidFill>
                  <a:srgbClr val="FF0000"/>
                </a:solidFill>
                <a:latin typeface="Times New Roman"/>
                <a:cs typeface="Times New Roman"/>
              </a:rPr>
              <a:t> </a:t>
            </a:r>
            <a:r>
              <a:rPr sz="1853" dirty="0">
                <a:solidFill>
                  <a:srgbClr val="FF0000"/>
                </a:solidFill>
                <a:latin typeface="Times New Roman"/>
                <a:cs typeface="Times New Roman"/>
              </a:rPr>
              <a:t>stages</a:t>
            </a:r>
            <a:r>
              <a:rPr sz="1853" spc="26" dirty="0">
                <a:solidFill>
                  <a:srgbClr val="FF0000"/>
                </a:solidFill>
                <a:latin typeface="Times New Roman"/>
                <a:cs typeface="Times New Roman"/>
              </a:rPr>
              <a:t> </a:t>
            </a:r>
            <a:r>
              <a:rPr sz="1853" dirty="0">
                <a:solidFill>
                  <a:srgbClr val="FF0000"/>
                </a:solidFill>
                <a:latin typeface="Times New Roman"/>
                <a:cs typeface="Times New Roman"/>
              </a:rPr>
              <a:t>are</a:t>
            </a:r>
            <a:r>
              <a:rPr sz="1853" spc="35" dirty="0">
                <a:solidFill>
                  <a:srgbClr val="FF0000"/>
                </a:solidFill>
                <a:latin typeface="Times New Roman"/>
                <a:cs typeface="Times New Roman"/>
              </a:rPr>
              <a:t> </a:t>
            </a:r>
            <a:r>
              <a:rPr sz="1853" dirty="0">
                <a:solidFill>
                  <a:srgbClr val="FF0000"/>
                </a:solidFill>
                <a:latin typeface="Times New Roman"/>
                <a:cs typeface="Times New Roman"/>
              </a:rPr>
              <a:t>perfectly</a:t>
            </a:r>
            <a:r>
              <a:rPr sz="1853" spc="31" dirty="0">
                <a:solidFill>
                  <a:srgbClr val="FF0000"/>
                </a:solidFill>
                <a:latin typeface="Times New Roman"/>
                <a:cs typeface="Times New Roman"/>
              </a:rPr>
              <a:t> </a:t>
            </a:r>
            <a:r>
              <a:rPr sz="1853" dirty="0">
                <a:solidFill>
                  <a:srgbClr val="FF0000"/>
                </a:solidFill>
                <a:latin typeface="Times New Roman"/>
                <a:cs typeface="Times New Roman"/>
              </a:rPr>
              <a:t>balanced</a:t>
            </a:r>
            <a:r>
              <a:rPr sz="1853" spc="31" dirty="0">
                <a:solidFill>
                  <a:srgbClr val="FF0000"/>
                </a:solidFill>
                <a:latin typeface="Times New Roman"/>
                <a:cs typeface="Times New Roman"/>
              </a:rPr>
              <a:t> </a:t>
            </a:r>
            <a:r>
              <a:rPr sz="1853" dirty="0">
                <a:solidFill>
                  <a:srgbClr val="FF0000"/>
                </a:solidFill>
                <a:latin typeface="Times New Roman"/>
                <a:cs typeface="Times New Roman"/>
              </a:rPr>
              <a:t>and</a:t>
            </a:r>
            <a:r>
              <a:rPr sz="1853" spc="35" dirty="0">
                <a:solidFill>
                  <a:srgbClr val="FF0000"/>
                </a:solidFill>
                <a:latin typeface="Times New Roman"/>
                <a:cs typeface="Times New Roman"/>
              </a:rPr>
              <a:t> </a:t>
            </a:r>
            <a:r>
              <a:rPr sz="1853" dirty="0">
                <a:solidFill>
                  <a:srgbClr val="FF0000"/>
                </a:solidFill>
                <a:latin typeface="Times New Roman"/>
                <a:cs typeface="Times New Roman"/>
              </a:rPr>
              <a:t>ignore</a:t>
            </a:r>
            <a:r>
              <a:rPr sz="1853" spc="31" dirty="0">
                <a:solidFill>
                  <a:srgbClr val="FF0000"/>
                </a:solidFill>
                <a:latin typeface="Times New Roman"/>
                <a:cs typeface="Times New Roman"/>
              </a:rPr>
              <a:t> </a:t>
            </a:r>
            <a:r>
              <a:rPr sz="1853" dirty="0">
                <a:solidFill>
                  <a:srgbClr val="FF0000"/>
                </a:solidFill>
                <a:latin typeface="Times New Roman"/>
                <a:cs typeface="Times New Roman"/>
              </a:rPr>
              <a:t>cycle</a:t>
            </a:r>
            <a:r>
              <a:rPr sz="1853" spc="35" dirty="0">
                <a:solidFill>
                  <a:srgbClr val="FF0000"/>
                </a:solidFill>
                <a:latin typeface="Times New Roman"/>
                <a:cs typeface="Times New Roman"/>
              </a:rPr>
              <a:t> </a:t>
            </a:r>
            <a:r>
              <a:rPr sz="1853" dirty="0">
                <a:solidFill>
                  <a:srgbClr val="FF0000"/>
                </a:solidFill>
                <a:latin typeface="Times New Roman"/>
                <a:cs typeface="Times New Roman"/>
              </a:rPr>
              <a:t>time</a:t>
            </a:r>
            <a:r>
              <a:rPr sz="1853" spc="31" dirty="0">
                <a:solidFill>
                  <a:srgbClr val="FF0000"/>
                </a:solidFill>
                <a:latin typeface="Times New Roman"/>
                <a:cs typeface="Times New Roman"/>
              </a:rPr>
              <a:t> </a:t>
            </a:r>
            <a:r>
              <a:rPr sz="1853" dirty="0">
                <a:solidFill>
                  <a:srgbClr val="FF0000"/>
                </a:solidFill>
                <a:latin typeface="Times New Roman"/>
                <a:cs typeface="Times New Roman"/>
              </a:rPr>
              <a:t>overhead.</a:t>
            </a:r>
            <a:r>
              <a:rPr sz="1853" spc="-9" dirty="0">
                <a:solidFill>
                  <a:srgbClr val="FF0000"/>
                </a:solidFill>
                <a:latin typeface="Times New Roman"/>
                <a:cs typeface="Times New Roman"/>
              </a:rPr>
              <a:t> Then,</a:t>
            </a:r>
            <a:endParaRPr sz="1853" dirty="0">
              <a:latin typeface="Times New Roman"/>
              <a:cs typeface="Times New Roman"/>
            </a:endParaRPr>
          </a:p>
        </p:txBody>
      </p:sp>
      <p:grpSp>
        <p:nvGrpSpPr>
          <p:cNvPr id="25" name="Group 24">
            <a:extLst>
              <a:ext uri="{FF2B5EF4-FFF2-40B4-BE49-F238E27FC236}">
                <a16:creationId xmlns:a16="http://schemas.microsoft.com/office/drawing/2014/main" id="{73EFD9C0-8009-B1D1-7C31-DDDAC66EFC83}"/>
              </a:ext>
            </a:extLst>
          </p:cNvPr>
          <p:cNvGrpSpPr/>
          <p:nvPr/>
        </p:nvGrpSpPr>
        <p:grpSpPr>
          <a:xfrm>
            <a:off x="846008" y="5526852"/>
            <a:ext cx="3931961" cy="744391"/>
            <a:chOff x="846008" y="5526852"/>
            <a:chExt cx="3931961" cy="744391"/>
          </a:xfrm>
        </p:grpSpPr>
        <p:sp>
          <p:nvSpPr>
            <p:cNvPr id="17" name="object 17"/>
            <p:cNvSpPr txBox="1"/>
            <p:nvPr/>
          </p:nvSpPr>
          <p:spPr>
            <a:xfrm>
              <a:off x="846008" y="5695933"/>
              <a:ext cx="1274669" cy="351333"/>
            </a:xfrm>
            <a:prstGeom prst="rect">
              <a:avLst/>
            </a:prstGeom>
          </p:spPr>
          <p:txBody>
            <a:bodyPr vert="horz" wrap="square" lIns="0" tIns="11766" rIns="0" bIns="0" rtlCol="0">
              <a:spAutoFit/>
            </a:bodyPr>
            <a:lstStyle/>
            <a:p>
              <a:pPr marL="11206">
                <a:spcBef>
                  <a:spcPts val="93"/>
                </a:spcBef>
                <a:tabLst>
                  <a:tab pos="1108321" algn="l"/>
                </a:tabLst>
              </a:pPr>
              <a:r>
                <a:rPr sz="2206" spc="-9" dirty="0">
                  <a:latin typeface="Times New Roman"/>
                  <a:cs typeface="Times New Roman"/>
                </a:rPr>
                <a:t>Speedup</a:t>
              </a:r>
              <a:r>
                <a:rPr sz="2206" dirty="0">
                  <a:latin typeface="Times New Roman"/>
                  <a:cs typeface="Times New Roman"/>
                </a:rPr>
                <a:t>	</a:t>
              </a:r>
              <a:r>
                <a:rPr sz="2206" spc="-44" dirty="0">
                  <a:latin typeface="Symbol"/>
                  <a:cs typeface="Symbol"/>
                </a:rPr>
                <a:t></a:t>
              </a:r>
              <a:endParaRPr sz="2206" dirty="0">
                <a:latin typeface="Symbol"/>
                <a:cs typeface="Symbol"/>
              </a:endParaRPr>
            </a:p>
          </p:txBody>
        </p:sp>
        <p:sp>
          <p:nvSpPr>
            <p:cNvPr id="18" name="object 18"/>
            <p:cNvSpPr txBox="1"/>
            <p:nvPr/>
          </p:nvSpPr>
          <p:spPr>
            <a:xfrm>
              <a:off x="2717625" y="5526852"/>
              <a:ext cx="1629895" cy="351333"/>
            </a:xfrm>
            <a:prstGeom prst="rect">
              <a:avLst/>
            </a:prstGeom>
          </p:spPr>
          <p:txBody>
            <a:bodyPr vert="horz" wrap="square" lIns="0" tIns="11766" rIns="0" bIns="0" rtlCol="0">
              <a:spAutoFit/>
            </a:bodyPr>
            <a:lstStyle/>
            <a:p>
              <a:pPr marL="11206">
                <a:spcBef>
                  <a:spcPts val="93"/>
                </a:spcBef>
              </a:pPr>
              <a:r>
                <a:rPr sz="2206" dirty="0">
                  <a:latin typeface="Times New Roman"/>
                  <a:cs typeface="Times New Roman"/>
                </a:rPr>
                <a:t>Pipeline</a:t>
              </a:r>
              <a:r>
                <a:rPr sz="2206" spc="-71" dirty="0">
                  <a:latin typeface="Times New Roman"/>
                  <a:cs typeface="Times New Roman"/>
                </a:rPr>
                <a:t> </a:t>
              </a:r>
              <a:r>
                <a:rPr sz="2206" spc="-18" dirty="0">
                  <a:latin typeface="Times New Roman"/>
                  <a:cs typeface="Times New Roman"/>
                </a:rPr>
                <a:t>depth</a:t>
              </a:r>
              <a:endParaRPr sz="2206">
                <a:latin typeface="Times New Roman"/>
                <a:cs typeface="Times New Roman"/>
              </a:endParaRPr>
            </a:p>
          </p:txBody>
        </p:sp>
        <p:sp>
          <p:nvSpPr>
            <p:cNvPr id="19" name="object 19"/>
            <p:cNvSpPr txBox="1"/>
            <p:nvPr/>
          </p:nvSpPr>
          <p:spPr>
            <a:xfrm>
              <a:off x="2264720" y="5919910"/>
              <a:ext cx="2512359" cy="351333"/>
            </a:xfrm>
            <a:prstGeom prst="rect">
              <a:avLst/>
            </a:prstGeom>
          </p:spPr>
          <p:txBody>
            <a:bodyPr vert="horz" wrap="square" lIns="0" tIns="11766" rIns="0" bIns="0" rtlCol="0">
              <a:spAutoFit/>
            </a:bodyPr>
            <a:lstStyle/>
            <a:p>
              <a:pPr marL="11206">
                <a:spcBef>
                  <a:spcPts val="93"/>
                </a:spcBef>
                <a:tabLst>
                  <a:tab pos="270076" algn="l"/>
                  <a:tab pos="543514" algn="l"/>
                </a:tabLst>
              </a:pPr>
              <a:r>
                <a:rPr sz="2206" spc="-44" dirty="0">
                  <a:latin typeface="Times New Roman"/>
                  <a:cs typeface="Times New Roman"/>
                </a:rPr>
                <a:t>1</a:t>
              </a:r>
              <a:r>
                <a:rPr sz="2206" dirty="0">
                  <a:latin typeface="Times New Roman"/>
                  <a:cs typeface="Times New Roman"/>
                </a:rPr>
                <a:t>	</a:t>
              </a:r>
              <a:r>
                <a:rPr sz="2206" spc="-44" dirty="0">
                  <a:latin typeface="Symbol"/>
                  <a:cs typeface="Symbol"/>
                </a:rPr>
                <a:t></a:t>
              </a:r>
              <a:r>
                <a:rPr sz="2206" dirty="0">
                  <a:latin typeface="Times New Roman"/>
                  <a:cs typeface="Times New Roman"/>
                </a:rPr>
                <a:t>	Pipeline</a:t>
              </a:r>
              <a:r>
                <a:rPr sz="2206" spc="-66" dirty="0">
                  <a:latin typeface="Times New Roman"/>
                  <a:cs typeface="Times New Roman"/>
                </a:rPr>
                <a:t> </a:t>
              </a:r>
              <a:r>
                <a:rPr sz="2206" dirty="0">
                  <a:latin typeface="Times New Roman"/>
                  <a:cs typeface="Times New Roman"/>
                </a:rPr>
                <a:t>stall</a:t>
              </a:r>
              <a:r>
                <a:rPr sz="2206" spc="-57" dirty="0">
                  <a:latin typeface="Times New Roman"/>
                  <a:cs typeface="Times New Roman"/>
                </a:rPr>
                <a:t> </a:t>
              </a:r>
              <a:r>
                <a:rPr sz="2206" spc="-22" dirty="0">
                  <a:latin typeface="Times New Roman"/>
                  <a:cs typeface="Times New Roman"/>
                </a:rPr>
                <a:t>CPI</a:t>
              </a:r>
              <a:endParaRPr sz="2206">
                <a:latin typeface="Times New Roman"/>
                <a:cs typeface="Times New Roman"/>
              </a:endParaRPr>
            </a:p>
          </p:txBody>
        </p:sp>
        <p:sp>
          <p:nvSpPr>
            <p:cNvPr id="20" name="object 20"/>
            <p:cNvSpPr/>
            <p:nvPr/>
          </p:nvSpPr>
          <p:spPr>
            <a:xfrm>
              <a:off x="2286901" y="5927823"/>
              <a:ext cx="2491068" cy="0"/>
            </a:xfrm>
            <a:custGeom>
              <a:avLst/>
              <a:gdLst/>
              <a:ahLst/>
              <a:cxnLst/>
              <a:rect l="l" t="t" r="r" b="b"/>
              <a:pathLst>
                <a:path w="2823210">
                  <a:moveTo>
                    <a:pt x="0" y="0"/>
                  </a:moveTo>
                  <a:lnTo>
                    <a:pt x="2822692" y="0"/>
                  </a:lnTo>
                </a:path>
              </a:pathLst>
            </a:custGeom>
            <a:ln w="15761">
              <a:solidFill>
                <a:srgbClr val="000000"/>
              </a:solidFill>
            </a:ln>
          </p:spPr>
          <p:txBody>
            <a:bodyPr wrap="square" lIns="0" tIns="0" rIns="0" bIns="0" rtlCol="0"/>
            <a:lstStyle/>
            <a:p>
              <a:endParaRPr sz="1588"/>
            </a:p>
          </p:txBody>
        </p:sp>
      </p:grpSp>
      <p:sp>
        <p:nvSpPr>
          <p:cNvPr id="21" name="object 21"/>
          <p:cNvSpPr txBox="1"/>
          <p:nvPr/>
        </p:nvSpPr>
        <p:spPr>
          <a:xfrm>
            <a:off x="871704" y="2362199"/>
            <a:ext cx="6368302" cy="581600"/>
          </a:xfrm>
          <a:prstGeom prst="rect">
            <a:avLst/>
          </a:prstGeom>
        </p:spPr>
        <p:txBody>
          <a:bodyPr vert="horz" wrap="square" lIns="0" tIns="11206" rIns="0" bIns="0" rtlCol="0">
            <a:spAutoFit/>
          </a:bodyPr>
          <a:lstStyle/>
          <a:p>
            <a:pPr marL="11206">
              <a:spcBef>
                <a:spcPts val="88"/>
              </a:spcBef>
            </a:pPr>
            <a:r>
              <a:rPr sz="1853" dirty="0">
                <a:solidFill>
                  <a:srgbClr val="FF0000"/>
                </a:solidFill>
                <a:latin typeface="Times New Roman"/>
                <a:cs typeface="Times New Roman"/>
              </a:rPr>
              <a:t>A</a:t>
            </a:r>
            <a:r>
              <a:rPr sz="1853" spc="-57" dirty="0">
                <a:solidFill>
                  <a:srgbClr val="FF0000"/>
                </a:solidFill>
                <a:latin typeface="Times New Roman"/>
                <a:cs typeface="Times New Roman"/>
              </a:rPr>
              <a:t> </a:t>
            </a:r>
            <a:r>
              <a:rPr sz="1853" dirty="0">
                <a:solidFill>
                  <a:srgbClr val="FF0000"/>
                </a:solidFill>
                <a:latin typeface="Times New Roman"/>
                <a:cs typeface="Times New Roman"/>
              </a:rPr>
              <a:t>best</a:t>
            </a:r>
            <a:r>
              <a:rPr sz="1853" spc="31" dirty="0">
                <a:solidFill>
                  <a:srgbClr val="FF0000"/>
                </a:solidFill>
                <a:latin typeface="Times New Roman"/>
                <a:cs typeface="Times New Roman"/>
              </a:rPr>
              <a:t> </a:t>
            </a:r>
            <a:r>
              <a:rPr sz="1853" dirty="0">
                <a:solidFill>
                  <a:srgbClr val="FF0000"/>
                </a:solidFill>
                <a:latin typeface="Times New Roman"/>
                <a:cs typeface="Times New Roman"/>
              </a:rPr>
              <a:t>speedup</a:t>
            </a:r>
            <a:r>
              <a:rPr sz="1853" spc="44" dirty="0">
                <a:solidFill>
                  <a:srgbClr val="FF0000"/>
                </a:solidFill>
                <a:latin typeface="Times New Roman"/>
                <a:cs typeface="Times New Roman"/>
              </a:rPr>
              <a:t> </a:t>
            </a:r>
            <a:r>
              <a:rPr sz="1853" spc="-18" dirty="0">
                <a:solidFill>
                  <a:srgbClr val="FF0000"/>
                </a:solidFill>
                <a:latin typeface="Times New Roman"/>
                <a:cs typeface="Times New Roman"/>
              </a:rPr>
              <a:t>case:</a:t>
            </a:r>
            <a:endParaRPr sz="1853" dirty="0">
              <a:latin typeface="Times New Roman"/>
              <a:cs typeface="Times New Roman"/>
            </a:endParaRPr>
          </a:p>
          <a:p>
            <a:pPr marL="11206"/>
            <a:r>
              <a:rPr sz="1853" dirty="0">
                <a:solidFill>
                  <a:srgbClr val="FF0000"/>
                </a:solidFill>
                <a:latin typeface="Times New Roman"/>
                <a:cs typeface="Times New Roman"/>
              </a:rPr>
              <a:t>Assume</a:t>
            </a:r>
            <a:r>
              <a:rPr sz="1853" spc="26" dirty="0">
                <a:solidFill>
                  <a:srgbClr val="FF0000"/>
                </a:solidFill>
                <a:latin typeface="Times New Roman"/>
                <a:cs typeface="Times New Roman"/>
              </a:rPr>
              <a:t> </a:t>
            </a:r>
            <a:r>
              <a:rPr sz="1853" dirty="0">
                <a:solidFill>
                  <a:srgbClr val="FF0000"/>
                </a:solidFill>
                <a:latin typeface="Times New Roman"/>
                <a:cs typeface="Times New Roman"/>
              </a:rPr>
              <a:t>that</a:t>
            </a:r>
            <a:r>
              <a:rPr sz="1853" spc="18" dirty="0">
                <a:solidFill>
                  <a:srgbClr val="FF0000"/>
                </a:solidFill>
                <a:latin typeface="Times New Roman"/>
                <a:cs typeface="Times New Roman"/>
              </a:rPr>
              <a:t> </a:t>
            </a:r>
            <a:r>
              <a:rPr sz="1853" dirty="0">
                <a:solidFill>
                  <a:srgbClr val="FF0000"/>
                </a:solidFill>
                <a:latin typeface="Times New Roman"/>
                <a:cs typeface="Times New Roman"/>
              </a:rPr>
              <a:t>all</a:t>
            </a:r>
            <a:r>
              <a:rPr sz="1853" spc="18" dirty="0">
                <a:solidFill>
                  <a:srgbClr val="FF0000"/>
                </a:solidFill>
                <a:latin typeface="Times New Roman"/>
                <a:cs typeface="Times New Roman"/>
              </a:rPr>
              <a:t> </a:t>
            </a:r>
            <a:r>
              <a:rPr sz="1853" dirty="0">
                <a:solidFill>
                  <a:srgbClr val="FF0000"/>
                </a:solidFill>
                <a:latin typeface="Times New Roman"/>
                <a:cs typeface="Times New Roman"/>
              </a:rPr>
              <a:t>instructions</a:t>
            </a:r>
            <a:r>
              <a:rPr sz="1853" spc="22" dirty="0">
                <a:solidFill>
                  <a:srgbClr val="FF0000"/>
                </a:solidFill>
                <a:latin typeface="Times New Roman"/>
                <a:cs typeface="Times New Roman"/>
              </a:rPr>
              <a:t> </a:t>
            </a:r>
            <a:r>
              <a:rPr sz="1853" dirty="0">
                <a:solidFill>
                  <a:srgbClr val="FF0000"/>
                </a:solidFill>
                <a:latin typeface="Times New Roman"/>
                <a:cs typeface="Times New Roman"/>
              </a:rPr>
              <a:t>take</a:t>
            </a:r>
            <a:r>
              <a:rPr sz="1853" spc="26" dirty="0">
                <a:solidFill>
                  <a:srgbClr val="FF0000"/>
                </a:solidFill>
                <a:latin typeface="Times New Roman"/>
                <a:cs typeface="Times New Roman"/>
              </a:rPr>
              <a:t> </a:t>
            </a:r>
            <a:r>
              <a:rPr sz="1853" dirty="0">
                <a:solidFill>
                  <a:srgbClr val="FF0000"/>
                </a:solidFill>
                <a:latin typeface="Times New Roman"/>
                <a:cs typeface="Times New Roman"/>
              </a:rPr>
              <a:t>5</a:t>
            </a:r>
            <a:r>
              <a:rPr sz="1853" spc="26" dirty="0">
                <a:solidFill>
                  <a:srgbClr val="FF0000"/>
                </a:solidFill>
                <a:latin typeface="Times New Roman"/>
                <a:cs typeface="Times New Roman"/>
              </a:rPr>
              <a:t> </a:t>
            </a:r>
            <a:r>
              <a:rPr sz="1853" dirty="0">
                <a:solidFill>
                  <a:srgbClr val="FF0000"/>
                </a:solidFill>
                <a:latin typeface="Times New Roman"/>
                <a:cs typeface="Times New Roman"/>
              </a:rPr>
              <a:t>cycles</a:t>
            </a:r>
            <a:r>
              <a:rPr sz="1853" spc="22" dirty="0">
                <a:solidFill>
                  <a:srgbClr val="FF0000"/>
                </a:solidFill>
                <a:latin typeface="Times New Roman"/>
                <a:cs typeface="Times New Roman"/>
              </a:rPr>
              <a:t> </a:t>
            </a:r>
            <a:r>
              <a:rPr sz="1853" dirty="0">
                <a:solidFill>
                  <a:srgbClr val="FF0000"/>
                </a:solidFill>
                <a:latin typeface="Times New Roman"/>
                <a:cs typeface="Times New Roman"/>
              </a:rPr>
              <a:t>in</a:t>
            </a:r>
            <a:r>
              <a:rPr sz="1853" spc="26" dirty="0">
                <a:solidFill>
                  <a:srgbClr val="FF0000"/>
                </a:solidFill>
                <a:latin typeface="Times New Roman"/>
                <a:cs typeface="Times New Roman"/>
              </a:rPr>
              <a:t> </a:t>
            </a:r>
            <a:r>
              <a:rPr sz="1853" dirty="0">
                <a:solidFill>
                  <a:srgbClr val="FF0000"/>
                </a:solidFill>
                <a:latin typeface="Times New Roman"/>
                <a:cs typeface="Times New Roman"/>
              </a:rPr>
              <a:t>the</a:t>
            </a:r>
            <a:r>
              <a:rPr sz="1853" spc="26" dirty="0">
                <a:solidFill>
                  <a:srgbClr val="FF0000"/>
                </a:solidFill>
                <a:latin typeface="Times New Roman"/>
                <a:cs typeface="Times New Roman"/>
              </a:rPr>
              <a:t> </a:t>
            </a:r>
            <a:r>
              <a:rPr sz="1853" dirty="0">
                <a:solidFill>
                  <a:srgbClr val="FF0000"/>
                </a:solidFill>
                <a:latin typeface="Times New Roman"/>
                <a:cs typeface="Times New Roman"/>
              </a:rPr>
              <a:t>multi-cycle</a:t>
            </a:r>
            <a:r>
              <a:rPr sz="1853" spc="26" dirty="0">
                <a:solidFill>
                  <a:srgbClr val="FF0000"/>
                </a:solidFill>
                <a:latin typeface="Times New Roman"/>
                <a:cs typeface="Times New Roman"/>
              </a:rPr>
              <a:t> </a:t>
            </a:r>
            <a:r>
              <a:rPr sz="1853" spc="-9" dirty="0">
                <a:solidFill>
                  <a:srgbClr val="FF0000"/>
                </a:solidFill>
                <a:latin typeface="Times New Roman"/>
                <a:cs typeface="Times New Roman"/>
              </a:rPr>
              <a:t>model</a:t>
            </a:r>
            <a:endParaRPr sz="1853" dirty="0">
              <a:latin typeface="Times New Roman"/>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5504" y="612100"/>
            <a:ext cx="6872511" cy="589755"/>
          </a:xfrm>
          <a:prstGeom prst="rect">
            <a:avLst/>
          </a:prstGeom>
        </p:spPr>
        <p:txBody>
          <a:bodyPr vert="horz" wrap="square" lIns="0" tIns="126851" rIns="0" bIns="0" rtlCol="0" anchor="ctr">
            <a:spAutoFit/>
          </a:bodyPr>
          <a:lstStyle/>
          <a:p>
            <a:pPr marL="11206">
              <a:lnSpc>
                <a:spcPct val="100000"/>
              </a:lnSpc>
              <a:spcBef>
                <a:spcPts val="88"/>
              </a:spcBef>
            </a:pPr>
            <a:r>
              <a:rPr dirty="0"/>
              <a:t>Example:</a:t>
            </a:r>
            <a:r>
              <a:rPr spc="4" dirty="0"/>
              <a:t> </a:t>
            </a:r>
            <a:r>
              <a:rPr dirty="0"/>
              <a:t>Dual-port vs. Single-</a:t>
            </a:r>
            <a:r>
              <a:rPr spc="-18" dirty="0"/>
              <a:t>port</a:t>
            </a:r>
          </a:p>
        </p:txBody>
      </p:sp>
      <p:sp>
        <p:nvSpPr>
          <p:cNvPr id="28" name="Slide Number Placeholder 27">
            <a:extLst>
              <a:ext uri="{FF2B5EF4-FFF2-40B4-BE49-F238E27FC236}">
                <a16:creationId xmlns:a16="http://schemas.microsoft.com/office/drawing/2014/main" id="{C29BC2BC-9C79-6F77-0F9E-00E8304C6E8C}"/>
              </a:ext>
            </a:extLst>
          </p:cNvPr>
          <p:cNvSpPr>
            <a:spLocks noGrp="1"/>
          </p:cNvSpPr>
          <p:nvPr>
            <p:ph type="sldNum" sz="quarter" idx="7"/>
          </p:nvPr>
        </p:nvSpPr>
        <p:spPr/>
        <p:txBody>
          <a:bodyPr/>
          <a:lstStyle/>
          <a:p>
            <a:fld id="{4FE321F0-2018-4E50-8BB3-A5631EBD98DD}" type="slidenum">
              <a:rPr lang="en-US" smtClean="0"/>
              <a:t>39</a:t>
            </a:fld>
            <a:endParaRPr lang="en-US"/>
          </a:p>
        </p:txBody>
      </p:sp>
      <p:sp>
        <p:nvSpPr>
          <p:cNvPr id="3" name="object 3"/>
          <p:cNvSpPr txBox="1"/>
          <p:nvPr/>
        </p:nvSpPr>
        <p:spPr>
          <a:xfrm>
            <a:off x="833377" y="1235785"/>
            <a:ext cx="7535119" cy="2243639"/>
          </a:xfrm>
          <a:prstGeom prst="rect">
            <a:avLst/>
          </a:prstGeom>
        </p:spPr>
        <p:txBody>
          <a:bodyPr vert="horz" wrap="square" lIns="0" tIns="75640" rIns="0" bIns="0" rtlCol="0">
            <a:spAutoFit/>
          </a:bodyPr>
          <a:lstStyle/>
          <a:p>
            <a:pPr marL="279602" indent="-268395">
              <a:spcBef>
                <a:spcPts val="596"/>
              </a:spcBef>
              <a:buChar char="•"/>
              <a:tabLst>
                <a:tab pos="279602" algn="l"/>
              </a:tabLst>
            </a:pPr>
            <a:r>
              <a:rPr sz="2400" spc="-18" dirty="0">
                <a:latin typeface="Calibri"/>
                <a:cs typeface="Calibri"/>
              </a:rPr>
              <a:t>Machine</a:t>
            </a:r>
            <a:r>
              <a:rPr sz="2400" spc="-79" dirty="0">
                <a:latin typeface="Calibri"/>
                <a:cs typeface="Calibri"/>
              </a:rPr>
              <a:t> </a:t>
            </a:r>
            <a:r>
              <a:rPr sz="2400" dirty="0">
                <a:latin typeface="Calibri"/>
                <a:cs typeface="Calibri"/>
              </a:rPr>
              <a:t>A:</a:t>
            </a:r>
            <a:r>
              <a:rPr sz="2400" spc="-79" dirty="0">
                <a:latin typeface="Calibri"/>
                <a:cs typeface="Calibri"/>
              </a:rPr>
              <a:t> </a:t>
            </a:r>
            <a:r>
              <a:rPr sz="2400" dirty="0">
                <a:latin typeface="Calibri"/>
                <a:cs typeface="Calibri"/>
              </a:rPr>
              <a:t>Dual</a:t>
            </a:r>
            <a:r>
              <a:rPr sz="2400" spc="-75" dirty="0">
                <a:latin typeface="Calibri"/>
                <a:cs typeface="Calibri"/>
              </a:rPr>
              <a:t> </a:t>
            </a:r>
            <a:r>
              <a:rPr sz="2400" spc="-9" dirty="0">
                <a:latin typeface="Calibri"/>
                <a:cs typeface="Calibri"/>
              </a:rPr>
              <a:t>ported</a:t>
            </a:r>
            <a:r>
              <a:rPr sz="2400" spc="-84" dirty="0">
                <a:latin typeface="Calibri"/>
                <a:cs typeface="Calibri"/>
              </a:rPr>
              <a:t> </a:t>
            </a:r>
            <a:r>
              <a:rPr sz="2400" spc="-18" dirty="0">
                <a:latin typeface="Calibri"/>
                <a:cs typeface="Calibri"/>
              </a:rPr>
              <a:t>memory</a:t>
            </a:r>
            <a:r>
              <a:rPr sz="2400" spc="-84" dirty="0">
                <a:latin typeface="Calibri"/>
                <a:cs typeface="Calibri"/>
              </a:rPr>
              <a:t> </a:t>
            </a:r>
            <a:r>
              <a:rPr sz="2400" spc="-18" dirty="0">
                <a:latin typeface="Calibri"/>
                <a:cs typeface="Calibri"/>
              </a:rPr>
              <a:t>(“Harvard</a:t>
            </a:r>
            <a:r>
              <a:rPr sz="2400" spc="-79" dirty="0">
                <a:latin typeface="Calibri"/>
                <a:cs typeface="Calibri"/>
              </a:rPr>
              <a:t> </a:t>
            </a:r>
            <a:r>
              <a:rPr sz="2400" spc="-9" dirty="0">
                <a:latin typeface="Calibri"/>
                <a:cs typeface="Calibri"/>
              </a:rPr>
              <a:t>Architecture”)</a:t>
            </a:r>
            <a:endParaRPr sz="2400" dirty="0">
              <a:latin typeface="Calibri"/>
              <a:cs typeface="Calibri"/>
            </a:endParaRPr>
          </a:p>
          <a:p>
            <a:pPr marL="280162" marR="759239" indent="-268956">
              <a:spcBef>
                <a:spcPts val="816"/>
              </a:spcBef>
              <a:spcAft>
                <a:spcPts val="1200"/>
              </a:spcAft>
              <a:buChar char="•"/>
              <a:tabLst>
                <a:tab pos="280162" algn="l"/>
              </a:tabLst>
            </a:pPr>
            <a:r>
              <a:rPr sz="2400" spc="-18" dirty="0">
                <a:latin typeface="Calibri"/>
                <a:cs typeface="Calibri"/>
              </a:rPr>
              <a:t>Machine</a:t>
            </a:r>
            <a:r>
              <a:rPr sz="2400" spc="-75" dirty="0">
                <a:latin typeface="Calibri"/>
                <a:cs typeface="Calibri"/>
              </a:rPr>
              <a:t> </a:t>
            </a:r>
            <a:r>
              <a:rPr sz="2400" dirty="0">
                <a:latin typeface="Calibri"/>
                <a:cs typeface="Calibri"/>
              </a:rPr>
              <a:t>B:</a:t>
            </a:r>
            <a:r>
              <a:rPr sz="2400" spc="-75" dirty="0">
                <a:latin typeface="Calibri"/>
                <a:cs typeface="Calibri"/>
              </a:rPr>
              <a:t> </a:t>
            </a:r>
            <a:r>
              <a:rPr sz="2400" spc="-9" dirty="0">
                <a:latin typeface="Calibri"/>
                <a:cs typeface="Calibri"/>
              </a:rPr>
              <a:t>Single</a:t>
            </a:r>
            <a:r>
              <a:rPr sz="2400" spc="-75" dirty="0">
                <a:latin typeface="Calibri"/>
                <a:cs typeface="Calibri"/>
              </a:rPr>
              <a:t> </a:t>
            </a:r>
            <a:r>
              <a:rPr sz="2400" spc="-9" dirty="0">
                <a:latin typeface="Calibri"/>
                <a:cs typeface="Calibri"/>
              </a:rPr>
              <a:t>ported</a:t>
            </a:r>
            <a:r>
              <a:rPr sz="2400" spc="-75" dirty="0">
                <a:latin typeface="Calibri"/>
                <a:cs typeface="Calibri"/>
              </a:rPr>
              <a:t> </a:t>
            </a:r>
            <a:r>
              <a:rPr sz="2400" spc="-18" dirty="0">
                <a:latin typeface="Calibri"/>
                <a:cs typeface="Calibri"/>
              </a:rPr>
              <a:t>memory,</a:t>
            </a:r>
            <a:r>
              <a:rPr sz="2400" spc="-71" dirty="0">
                <a:latin typeface="Calibri"/>
                <a:cs typeface="Calibri"/>
              </a:rPr>
              <a:t> </a:t>
            </a:r>
            <a:r>
              <a:rPr sz="2400" dirty="0">
                <a:latin typeface="Calibri"/>
                <a:cs typeface="Calibri"/>
              </a:rPr>
              <a:t>but</a:t>
            </a:r>
            <a:r>
              <a:rPr sz="2400" spc="-79" dirty="0">
                <a:latin typeface="Calibri"/>
                <a:cs typeface="Calibri"/>
              </a:rPr>
              <a:t> </a:t>
            </a:r>
            <a:r>
              <a:rPr sz="2400" dirty="0">
                <a:latin typeface="Calibri"/>
                <a:cs typeface="Calibri"/>
              </a:rPr>
              <a:t>its</a:t>
            </a:r>
            <a:r>
              <a:rPr sz="2400" spc="-75" dirty="0">
                <a:latin typeface="Calibri"/>
                <a:cs typeface="Calibri"/>
              </a:rPr>
              <a:t> </a:t>
            </a:r>
            <a:r>
              <a:rPr sz="2400" spc="-9" dirty="0">
                <a:latin typeface="Calibri"/>
                <a:cs typeface="Calibri"/>
              </a:rPr>
              <a:t>pipelined </a:t>
            </a:r>
            <a:r>
              <a:rPr sz="2400" spc="-22" dirty="0">
                <a:latin typeface="Calibri"/>
                <a:cs typeface="Calibri"/>
              </a:rPr>
              <a:t>implementation</a:t>
            </a:r>
            <a:r>
              <a:rPr sz="2400" spc="-88" dirty="0">
                <a:latin typeface="Calibri"/>
                <a:cs typeface="Calibri"/>
              </a:rPr>
              <a:t> </a:t>
            </a:r>
            <a:r>
              <a:rPr sz="2400" dirty="0">
                <a:latin typeface="Calibri"/>
                <a:cs typeface="Calibri"/>
              </a:rPr>
              <a:t>has</a:t>
            </a:r>
            <a:r>
              <a:rPr sz="2400" spc="-84" dirty="0">
                <a:latin typeface="Calibri"/>
                <a:cs typeface="Calibri"/>
              </a:rPr>
              <a:t> </a:t>
            </a:r>
            <a:r>
              <a:rPr sz="2400" dirty="0">
                <a:latin typeface="Calibri"/>
                <a:cs typeface="Calibri"/>
              </a:rPr>
              <a:t>a</a:t>
            </a:r>
            <a:r>
              <a:rPr sz="2400" spc="-84" dirty="0">
                <a:latin typeface="Calibri"/>
                <a:cs typeface="Calibri"/>
              </a:rPr>
              <a:t> </a:t>
            </a:r>
            <a:r>
              <a:rPr sz="2400" dirty="0">
                <a:latin typeface="Calibri"/>
                <a:cs typeface="Calibri"/>
              </a:rPr>
              <a:t>1.05</a:t>
            </a:r>
            <a:r>
              <a:rPr sz="2400" spc="-88" dirty="0">
                <a:latin typeface="Calibri"/>
                <a:cs typeface="Calibri"/>
              </a:rPr>
              <a:t> </a:t>
            </a:r>
            <a:r>
              <a:rPr sz="2400" spc="-9" dirty="0">
                <a:latin typeface="Calibri"/>
                <a:cs typeface="Calibri"/>
              </a:rPr>
              <a:t>times</a:t>
            </a:r>
            <a:r>
              <a:rPr sz="2400" spc="-84" dirty="0">
                <a:latin typeface="Calibri"/>
                <a:cs typeface="Calibri"/>
              </a:rPr>
              <a:t> </a:t>
            </a:r>
            <a:r>
              <a:rPr sz="2400" dirty="0">
                <a:latin typeface="Calibri"/>
                <a:cs typeface="Calibri"/>
              </a:rPr>
              <a:t>faster</a:t>
            </a:r>
            <a:r>
              <a:rPr sz="2400" spc="-79" dirty="0">
                <a:latin typeface="Calibri"/>
                <a:cs typeface="Calibri"/>
              </a:rPr>
              <a:t> </a:t>
            </a:r>
            <a:r>
              <a:rPr sz="2400" spc="-9" dirty="0">
                <a:latin typeface="Calibri"/>
                <a:cs typeface="Calibri"/>
              </a:rPr>
              <a:t>clock</a:t>
            </a:r>
            <a:r>
              <a:rPr sz="2400" spc="-84" dirty="0">
                <a:latin typeface="Calibri"/>
                <a:cs typeface="Calibri"/>
              </a:rPr>
              <a:t> </a:t>
            </a:r>
            <a:r>
              <a:rPr sz="2400" spc="-18" dirty="0">
                <a:latin typeface="Calibri"/>
                <a:cs typeface="Calibri"/>
              </a:rPr>
              <a:t>rate</a:t>
            </a:r>
            <a:endParaRPr sz="2400" dirty="0">
              <a:latin typeface="Calibri"/>
              <a:cs typeface="Calibri"/>
            </a:endParaRPr>
          </a:p>
          <a:p>
            <a:pPr marL="279602" indent="-268395">
              <a:buChar char="•"/>
              <a:tabLst>
                <a:tab pos="279602" algn="l"/>
              </a:tabLst>
            </a:pPr>
            <a:r>
              <a:rPr sz="2400" dirty="0">
                <a:latin typeface="Calibri"/>
                <a:cs typeface="Calibri"/>
              </a:rPr>
              <a:t>Ideal</a:t>
            </a:r>
            <a:r>
              <a:rPr sz="2400" spc="-71" dirty="0">
                <a:latin typeface="Calibri"/>
                <a:cs typeface="Calibri"/>
              </a:rPr>
              <a:t> </a:t>
            </a:r>
            <a:r>
              <a:rPr sz="2400" dirty="0">
                <a:latin typeface="Calibri"/>
                <a:cs typeface="Calibri"/>
              </a:rPr>
              <a:t>CPI</a:t>
            </a:r>
            <a:r>
              <a:rPr sz="2400" spc="-71" dirty="0">
                <a:latin typeface="Calibri"/>
                <a:cs typeface="Calibri"/>
              </a:rPr>
              <a:t> </a:t>
            </a:r>
            <a:r>
              <a:rPr sz="2400" dirty="0">
                <a:latin typeface="Calibri"/>
                <a:cs typeface="Calibri"/>
              </a:rPr>
              <a:t>=</a:t>
            </a:r>
            <a:r>
              <a:rPr sz="2400" spc="-71" dirty="0">
                <a:latin typeface="Calibri"/>
                <a:cs typeface="Calibri"/>
              </a:rPr>
              <a:t> </a:t>
            </a:r>
            <a:r>
              <a:rPr sz="2400" dirty="0">
                <a:latin typeface="Calibri"/>
                <a:cs typeface="Calibri"/>
              </a:rPr>
              <a:t>1</a:t>
            </a:r>
            <a:r>
              <a:rPr sz="2400" spc="-79" dirty="0">
                <a:latin typeface="Calibri"/>
                <a:cs typeface="Calibri"/>
              </a:rPr>
              <a:t> </a:t>
            </a:r>
            <a:r>
              <a:rPr sz="2400" dirty="0">
                <a:latin typeface="Calibri"/>
                <a:cs typeface="Calibri"/>
              </a:rPr>
              <a:t>for</a:t>
            </a:r>
            <a:r>
              <a:rPr sz="2400" spc="-66" dirty="0">
                <a:latin typeface="Calibri"/>
                <a:cs typeface="Calibri"/>
              </a:rPr>
              <a:t> </a:t>
            </a:r>
            <a:r>
              <a:rPr sz="2400" spc="-18" dirty="0">
                <a:latin typeface="Calibri"/>
                <a:cs typeface="Calibri"/>
              </a:rPr>
              <a:t>both</a:t>
            </a:r>
            <a:endParaRPr sz="2400" dirty="0">
              <a:latin typeface="Calibri"/>
              <a:cs typeface="Calibri"/>
            </a:endParaRPr>
          </a:p>
          <a:p>
            <a:pPr marL="279602" indent="-268395">
              <a:spcBef>
                <a:spcPts val="512"/>
              </a:spcBef>
              <a:buChar char="•"/>
              <a:tabLst>
                <a:tab pos="279602" algn="l"/>
              </a:tabLst>
            </a:pPr>
            <a:r>
              <a:rPr sz="2400" spc="-9" dirty="0">
                <a:latin typeface="Calibri"/>
                <a:cs typeface="Calibri"/>
              </a:rPr>
              <a:t>Assume</a:t>
            </a:r>
            <a:r>
              <a:rPr sz="2400" spc="-71" dirty="0">
                <a:latin typeface="Calibri"/>
                <a:cs typeface="Calibri"/>
              </a:rPr>
              <a:t> </a:t>
            </a:r>
            <a:r>
              <a:rPr sz="2400" dirty="0">
                <a:latin typeface="Consolas"/>
                <a:cs typeface="Consolas"/>
              </a:rPr>
              <a:t>load</a:t>
            </a:r>
            <a:r>
              <a:rPr sz="2400" dirty="0">
                <a:latin typeface="Calibri"/>
                <a:cs typeface="Calibri"/>
              </a:rPr>
              <a:t>s</a:t>
            </a:r>
            <a:r>
              <a:rPr sz="2400" spc="-79" dirty="0">
                <a:latin typeface="Calibri"/>
                <a:cs typeface="Calibri"/>
              </a:rPr>
              <a:t> </a:t>
            </a:r>
            <a:r>
              <a:rPr sz="2400" dirty="0">
                <a:latin typeface="Calibri"/>
                <a:cs typeface="Calibri"/>
              </a:rPr>
              <a:t>are</a:t>
            </a:r>
            <a:r>
              <a:rPr sz="2400" spc="-75" dirty="0">
                <a:latin typeface="Calibri"/>
                <a:cs typeface="Calibri"/>
              </a:rPr>
              <a:t> </a:t>
            </a:r>
            <a:r>
              <a:rPr sz="2400" dirty="0">
                <a:latin typeface="Calibri"/>
                <a:cs typeface="Calibri"/>
              </a:rPr>
              <a:t>20%</a:t>
            </a:r>
            <a:r>
              <a:rPr sz="2400" spc="-88" dirty="0">
                <a:latin typeface="Calibri"/>
                <a:cs typeface="Calibri"/>
              </a:rPr>
              <a:t> </a:t>
            </a:r>
            <a:r>
              <a:rPr sz="2400" dirty="0">
                <a:latin typeface="Calibri"/>
                <a:cs typeface="Calibri"/>
              </a:rPr>
              <a:t>of</a:t>
            </a:r>
            <a:r>
              <a:rPr sz="2400" spc="-71" dirty="0">
                <a:latin typeface="Calibri"/>
                <a:cs typeface="Calibri"/>
              </a:rPr>
              <a:t> </a:t>
            </a:r>
            <a:r>
              <a:rPr sz="2400" spc="-22" dirty="0">
                <a:latin typeface="Calibri"/>
                <a:cs typeface="Calibri"/>
              </a:rPr>
              <a:t>instructions</a:t>
            </a:r>
            <a:r>
              <a:rPr sz="2400" spc="-79" dirty="0">
                <a:latin typeface="Calibri"/>
                <a:cs typeface="Calibri"/>
              </a:rPr>
              <a:t> </a:t>
            </a:r>
            <a:r>
              <a:rPr sz="2400" spc="-9" dirty="0">
                <a:latin typeface="Calibri"/>
                <a:cs typeface="Calibri"/>
              </a:rPr>
              <a:t>executed</a:t>
            </a:r>
            <a:endParaRPr sz="2400" dirty="0">
              <a:latin typeface="Calibri"/>
              <a:cs typeface="Calibri"/>
            </a:endParaRPr>
          </a:p>
        </p:txBody>
      </p:sp>
      <p:sp>
        <p:nvSpPr>
          <p:cNvPr id="29" name="TextBox 28">
            <a:extLst>
              <a:ext uri="{FF2B5EF4-FFF2-40B4-BE49-F238E27FC236}">
                <a16:creationId xmlns:a16="http://schemas.microsoft.com/office/drawing/2014/main" id="{345D9EF7-2302-571F-07FA-9393400B7D9F}"/>
              </a:ext>
            </a:extLst>
          </p:cNvPr>
          <p:cNvSpPr txBox="1"/>
          <p:nvPr/>
        </p:nvSpPr>
        <p:spPr>
          <a:xfrm>
            <a:off x="2669220" y="5945561"/>
            <a:ext cx="4572000" cy="300339"/>
          </a:xfrm>
          <a:prstGeom prst="rect">
            <a:avLst/>
          </a:prstGeom>
          <a:noFill/>
        </p:spPr>
        <p:txBody>
          <a:bodyPr wrap="square">
            <a:spAutoFit/>
          </a:bodyPr>
          <a:lstStyle/>
          <a:p>
            <a:pPr marL="119063">
              <a:lnSpc>
                <a:spcPts val="1593"/>
              </a:lnSpc>
            </a:pPr>
            <a:r>
              <a:rPr lang="en-US" sz="1800" b="1" dirty="0">
                <a:solidFill>
                  <a:srgbClr val="FF0000"/>
                </a:solidFill>
                <a:latin typeface="Times New Roman"/>
                <a:cs typeface="Times New Roman"/>
              </a:rPr>
              <a:t>Machine</a:t>
            </a:r>
            <a:r>
              <a:rPr lang="en-US" sz="1800" b="1" spc="-84" dirty="0">
                <a:solidFill>
                  <a:srgbClr val="FF0000"/>
                </a:solidFill>
                <a:latin typeface="Times New Roman"/>
                <a:cs typeface="Times New Roman"/>
              </a:rPr>
              <a:t> </a:t>
            </a:r>
            <a:r>
              <a:rPr lang="en-US" sz="1800" b="1" dirty="0">
                <a:solidFill>
                  <a:srgbClr val="FF0000"/>
                </a:solidFill>
                <a:latin typeface="Times New Roman"/>
                <a:cs typeface="Times New Roman"/>
              </a:rPr>
              <a:t>A</a:t>
            </a:r>
            <a:r>
              <a:rPr lang="en-US" sz="1800" b="1" spc="-84" dirty="0">
                <a:solidFill>
                  <a:srgbClr val="FF0000"/>
                </a:solidFill>
                <a:latin typeface="Times New Roman"/>
                <a:cs typeface="Times New Roman"/>
              </a:rPr>
              <a:t> </a:t>
            </a:r>
            <a:r>
              <a:rPr lang="en-US" sz="1800" b="1" dirty="0">
                <a:solidFill>
                  <a:srgbClr val="FF0000"/>
                </a:solidFill>
                <a:latin typeface="Times New Roman"/>
                <a:cs typeface="Times New Roman"/>
              </a:rPr>
              <a:t>is</a:t>
            </a:r>
            <a:r>
              <a:rPr lang="en-US" sz="1800" b="1" spc="4" dirty="0">
                <a:solidFill>
                  <a:srgbClr val="FF0000"/>
                </a:solidFill>
                <a:latin typeface="Times New Roman"/>
                <a:cs typeface="Times New Roman"/>
              </a:rPr>
              <a:t> </a:t>
            </a:r>
            <a:r>
              <a:rPr lang="en-US" sz="1800" b="1" dirty="0">
                <a:solidFill>
                  <a:srgbClr val="FF0000"/>
                </a:solidFill>
                <a:latin typeface="Times New Roman"/>
                <a:cs typeface="Times New Roman"/>
              </a:rPr>
              <a:t>1.14</a:t>
            </a:r>
            <a:r>
              <a:rPr lang="en-US" sz="1800" b="1" spc="4" dirty="0">
                <a:solidFill>
                  <a:srgbClr val="FF0000"/>
                </a:solidFill>
                <a:latin typeface="Times New Roman"/>
                <a:cs typeface="Times New Roman"/>
              </a:rPr>
              <a:t> </a:t>
            </a:r>
            <a:r>
              <a:rPr lang="en-US" sz="1800" b="1" dirty="0">
                <a:solidFill>
                  <a:srgbClr val="FF0000"/>
                </a:solidFill>
                <a:latin typeface="Times New Roman"/>
                <a:cs typeface="Times New Roman"/>
              </a:rPr>
              <a:t>times</a:t>
            </a:r>
            <a:r>
              <a:rPr lang="en-US" sz="1800" b="1" spc="4" dirty="0">
                <a:solidFill>
                  <a:srgbClr val="FF0000"/>
                </a:solidFill>
                <a:latin typeface="Times New Roman"/>
                <a:cs typeface="Times New Roman"/>
              </a:rPr>
              <a:t> </a:t>
            </a:r>
            <a:r>
              <a:rPr lang="en-US" sz="1800" b="1" spc="-9" dirty="0">
                <a:solidFill>
                  <a:srgbClr val="FF0000"/>
                </a:solidFill>
                <a:latin typeface="Times New Roman"/>
                <a:cs typeface="Times New Roman"/>
              </a:rPr>
              <a:t>faster!!!</a:t>
            </a:r>
            <a:endParaRPr lang="en-US" sz="1800" dirty="0">
              <a:latin typeface="Times New Roman"/>
              <a:cs typeface="Times New Roman"/>
            </a:endParaRP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47D191A-9766-E8DD-ADBC-0306CD2DC7A7}"/>
                  </a:ext>
                </a:extLst>
              </p:cNvPr>
              <p:cNvSpPr txBox="1"/>
              <p:nvPr/>
            </p:nvSpPr>
            <p:spPr>
              <a:xfrm>
                <a:off x="1706072" y="5256290"/>
                <a:ext cx="2513932" cy="489045"/>
              </a:xfrm>
              <a:prstGeom prst="rect">
                <a:avLst/>
              </a:prstGeom>
              <a:noFill/>
            </p:spPr>
            <p:txBody>
              <a:bodyPr wrap="square" lIns="0" tIns="0" rIns="0" bIns="0" rtlCol="0">
                <a:spAutoFit/>
              </a:bodyPr>
              <a:lstStyle/>
              <a:p>
                <a14:m>
                  <m:oMath xmlns:m="http://schemas.openxmlformats.org/officeDocument/2006/math">
                    <m:f>
                      <m:fPr>
                        <m:ctrlPr>
                          <a:rPr lang="en-US" sz="2000" i="1" smtClean="0">
                            <a:latin typeface="Cambria Math" panose="02040503050406030204" pitchFamily="18" charset="0"/>
                          </a:rPr>
                        </m:ctrlPr>
                      </m:fPr>
                      <m:num>
                        <m:r>
                          <m:rPr>
                            <m:sty m:val="p"/>
                          </m:rPr>
                          <a:rPr lang="en-US" sz="2000" b="0" i="0" smtClean="0">
                            <a:latin typeface="Cambria Math" panose="02040503050406030204" pitchFamily="18" charset="0"/>
                          </a:rPr>
                          <m:t>Speedup</m:t>
                        </m:r>
                        <m:r>
                          <m:rPr>
                            <m:sty m:val="p"/>
                          </m:rPr>
                          <a:rPr lang="en-US" sz="2000" b="0" i="0" baseline="-25000" smtClean="0">
                            <a:latin typeface="Cambria Math" panose="02040503050406030204" pitchFamily="18" charset="0"/>
                          </a:rPr>
                          <m:t>A</m:t>
                        </m:r>
                      </m:num>
                      <m:den>
                        <m:r>
                          <m:rPr>
                            <m:sty m:val="p"/>
                          </m:rPr>
                          <a:rPr lang="en-US" sz="2000" b="0" i="0" smtClean="0">
                            <a:latin typeface="Cambria Math" panose="02040503050406030204" pitchFamily="18" charset="0"/>
                          </a:rPr>
                          <m:t>Speedup</m:t>
                        </m:r>
                        <m:r>
                          <m:rPr>
                            <m:sty m:val="p"/>
                          </m:rPr>
                          <a:rPr lang="en-US" sz="2000" b="0" i="0" baseline="-25000" smtClean="0">
                            <a:latin typeface="Cambria Math" panose="02040503050406030204" pitchFamily="18" charset="0"/>
                          </a:rPr>
                          <m:t>B</m:t>
                        </m:r>
                      </m:den>
                    </m:f>
                  </m:oMath>
                </a14:m>
                <a:r>
                  <a:rPr lang="en-US" sz="2000" dirty="0">
                    <a:latin typeface="Times New Roman" panose="02020603050405020304" pitchFamily="18" charset="0"/>
                    <a:cs typeface="Times New Roman" panose="02020603050405020304" pitchFamily="18" charset="0"/>
                  </a:rPr>
                  <a:t> </a:t>
                </a:r>
                <a:r>
                  <a:rPr lang="en-US" sz="2000" dirty="0"/>
                  <a:t>= </a:t>
                </a:r>
                <a14:m>
                  <m:oMath xmlns:m="http://schemas.openxmlformats.org/officeDocument/2006/math">
                    <m:f>
                      <m:fPr>
                        <m:ctrlPr>
                          <a:rPr lang="en-US" sz="2000" i="1">
                            <a:latin typeface="Cambria Math" panose="02040503050406030204" pitchFamily="18" charset="0"/>
                          </a:rPr>
                        </m:ctrlPr>
                      </m:fPr>
                      <m:num>
                        <m:r>
                          <a:rPr lang="en-US" sz="2000" b="0" i="1" smtClean="0">
                            <a:latin typeface="Cambria Math" panose="02040503050406030204" pitchFamily="18" charset="0"/>
                          </a:rPr>
                          <m:t>1.2</m:t>
                        </m:r>
                      </m:num>
                      <m:den>
                        <m:r>
                          <a:rPr lang="en-US" sz="2000" b="0" i="1" smtClean="0">
                            <a:latin typeface="Cambria Math" panose="02040503050406030204" pitchFamily="18" charset="0"/>
                          </a:rPr>
                          <m:t>1.05</m:t>
                        </m:r>
                      </m:den>
                    </m:f>
                  </m:oMath>
                </a14:m>
                <a:r>
                  <a:rPr lang="en-US" sz="2000" dirty="0"/>
                  <a:t> = 1.14</a:t>
                </a:r>
              </a:p>
            </p:txBody>
          </p:sp>
        </mc:Choice>
        <mc:Fallback xmlns="">
          <p:sp>
            <p:nvSpPr>
              <p:cNvPr id="32" name="TextBox 31">
                <a:extLst>
                  <a:ext uri="{FF2B5EF4-FFF2-40B4-BE49-F238E27FC236}">
                    <a16:creationId xmlns:a16="http://schemas.microsoft.com/office/drawing/2014/main" id="{847D191A-9766-E8DD-ADBC-0306CD2DC7A7}"/>
                  </a:ext>
                </a:extLst>
              </p:cNvPr>
              <p:cNvSpPr txBox="1">
                <a:spLocks noRot="1" noChangeAspect="1" noMove="1" noResize="1" noEditPoints="1" noAdjustHandles="1" noChangeArrowheads="1" noChangeShapeType="1" noTextEdit="1"/>
              </p:cNvSpPr>
              <p:nvPr/>
            </p:nvSpPr>
            <p:spPr>
              <a:xfrm>
                <a:off x="1706072" y="5256290"/>
                <a:ext cx="2513932" cy="489045"/>
              </a:xfrm>
              <a:prstGeom prst="rect">
                <a:avLst/>
              </a:prstGeom>
              <a:blipFill>
                <a:blip r:embed="rId3"/>
                <a:stretch>
                  <a:fillRect l="-243" b="-11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8634C1A-4738-4BCF-9E4A-33118FB978B7}"/>
                  </a:ext>
                </a:extLst>
              </p:cNvPr>
              <p:cNvSpPr txBox="1"/>
              <p:nvPr/>
            </p:nvSpPr>
            <p:spPr>
              <a:xfrm>
                <a:off x="1706072" y="3785254"/>
                <a:ext cx="5011374" cy="489942"/>
              </a:xfrm>
              <a:prstGeom prst="rect">
                <a:avLst/>
              </a:prstGeom>
              <a:noFill/>
            </p:spPr>
            <p:txBody>
              <a:bodyPr wrap="square" lIns="0" tIns="0" rIns="0" bIns="0" rtlCol="0">
                <a:spAutoFit/>
              </a:bodyPr>
              <a:lstStyle/>
              <a:p>
                <a14:m>
                  <m:oMath xmlns:m="http://schemas.openxmlformats.org/officeDocument/2006/math">
                    <m:r>
                      <m:rPr>
                        <m:sty m:val="p"/>
                      </m:rPr>
                      <a:rPr lang="en-US" sz="2000" smtClean="0">
                        <a:latin typeface="Cambria Math" panose="02040503050406030204" pitchFamily="18" charset="0"/>
                      </a:rPr>
                      <m:t>Speedup</m:t>
                    </m:r>
                    <m:r>
                      <m:rPr>
                        <m:sty m:val="p"/>
                      </m:rPr>
                      <a:rPr lang="en-US" sz="2000" baseline="-25000">
                        <a:latin typeface="Cambria Math" panose="02040503050406030204" pitchFamily="18" charset="0"/>
                      </a:rPr>
                      <m:t>A</m:t>
                    </m:r>
                    <m:r>
                      <a:rPr lang="en-US" sz="2000" i="1" baseline="-25000">
                        <a:latin typeface="Cambria Math" panose="02040503050406030204" pitchFamily="18" charset="0"/>
                      </a:rPr>
                      <m:t> </m:t>
                    </m:r>
                  </m:oMath>
                </a14:m>
                <a:r>
                  <a:rPr lang="en-US" sz="2000" dirty="0"/>
                  <a:t> = </a:t>
                </a:r>
                <a14:m>
                  <m:oMath xmlns:m="http://schemas.openxmlformats.org/officeDocument/2006/math">
                    <m:f>
                      <m:fPr>
                        <m:ctrlPr>
                          <a:rPr lang="en-US" sz="2000" i="1" smtClean="0">
                            <a:latin typeface="Cambria Math" panose="02040503050406030204" pitchFamily="18" charset="0"/>
                          </a:rPr>
                        </m:ctrlPr>
                      </m:fPr>
                      <m:num>
                        <m:r>
                          <m:rPr>
                            <m:sty m:val="p"/>
                          </m:rPr>
                          <a:rPr lang="en-US" sz="2000" b="0" i="0" smtClean="0">
                            <a:latin typeface="Cambria Math" panose="02040503050406030204" pitchFamily="18" charset="0"/>
                          </a:rPr>
                          <m:t>Pipeline</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depth</m:t>
                        </m:r>
                      </m:num>
                      <m:den>
                        <m:r>
                          <a:rPr lang="en-US" sz="2000" b="0" i="0" smtClean="0">
                            <a:latin typeface="Cambria Math" panose="02040503050406030204" pitchFamily="18" charset="0"/>
                          </a:rPr>
                          <m:t>1</m:t>
                        </m:r>
                        <m:r>
                          <a:rPr lang="en-US" sz="2000" b="0" i="1" smtClean="0">
                            <a:latin typeface="Cambria Math" panose="02040503050406030204" pitchFamily="18" charset="0"/>
                          </a:rPr>
                          <m:t> + 0</m:t>
                        </m:r>
                      </m:den>
                    </m:f>
                  </m:oMath>
                </a14:m>
                <a:r>
                  <a:rPr lang="en-US" sz="2000" dirty="0">
                    <a:latin typeface="Times New Roman" panose="02020603050405020304" pitchFamily="18" charset="0"/>
                    <a:cs typeface="Times New Roman" panose="02020603050405020304" pitchFamily="18" charset="0"/>
                  </a:rPr>
                  <a:t> </a:t>
                </a:r>
                <a:r>
                  <a:rPr lang="en-US" sz="2000" dirty="0"/>
                  <a:t>x </a:t>
                </a:r>
                <a14:m>
                  <m:oMath xmlns:m="http://schemas.openxmlformats.org/officeDocument/2006/math">
                    <m:f>
                      <m:fPr>
                        <m:ctrlPr>
                          <a:rPr lang="en-US" sz="2000" i="1">
                            <a:latin typeface="Cambria Math" panose="02040503050406030204" pitchFamily="18" charset="0"/>
                          </a:rPr>
                        </m:ctrlPr>
                      </m:fPr>
                      <m:num>
                        <m:r>
                          <m:rPr>
                            <m:sty m:val="p"/>
                          </m:rPr>
                          <a:rPr lang="en-US" sz="2000" b="0" i="0" smtClean="0">
                            <a:latin typeface="Cambria Math" panose="02040503050406030204" pitchFamily="18" charset="0"/>
                          </a:rPr>
                          <m:t>Cycle</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Timeunpipelined</m:t>
                        </m:r>
                      </m:num>
                      <m:den>
                        <m:r>
                          <m:rPr>
                            <m:sty m:val="p"/>
                          </m:rPr>
                          <a:rPr lang="en-US" sz="2000" b="0" i="0" smtClean="0">
                            <a:latin typeface="Cambria Math" panose="02040503050406030204" pitchFamily="18" charset="0"/>
                          </a:rPr>
                          <m:t>Cycle</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Timepipelined</m:t>
                        </m:r>
                      </m:den>
                    </m:f>
                  </m:oMath>
                </a14:m>
                <a:endParaRPr lang="en-US" sz="2000" dirty="0"/>
              </a:p>
            </p:txBody>
          </p:sp>
        </mc:Choice>
        <mc:Fallback xmlns="">
          <p:sp>
            <p:nvSpPr>
              <p:cNvPr id="33" name="TextBox 32">
                <a:extLst>
                  <a:ext uri="{FF2B5EF4-FFF2-40B4-BE49-F238E27FC236}">
                    <a16:creationId xmlns:a16="http://schemas.microsoft.com/office/drawing/2014/main" id="{08634C1A-4738-4BCF-9E4A-33118FB978B7}"/>
                  </a:ext>
                </a:extLst>
              </p:cNvPr>
              <p:cNvSpPr txBox="1">
                <a:spLocks noRot="1" noChangeAspect="1" noMove="1" noResize="1" noEditPoints="1" noAdjustHandles="1" noChangeArrowheads="1" noChangeShapeType="1" noTextEdit="1"/>
              </p:cNvSpPr>
              <p:nvPr/>
            </p:nvSpPr>
            <p:spPr>
              <a:xfrm>
                <a:off x="1706072" y="3785254"/>
                <a:ext cx="5011374" cy="489942"/>
              </a:xfrm>
              <a:prstGeom prst="rect">
                <a:avLst/>
              </a:prstGeom>
              <a:blipFill>
                <a:blip r:embed="rId4"/>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2C8FF83-F12F-18A2-B141-37B0DF1DC692}"/>
                  </a:ext>
                </a:extLst>
              </p:cNvPr>
              <p:cNvSpPr txBox="1"/>
              <p:nvPr/>
            </p:nvSpPr>
            <p:spPr>
              <a:xfrm>
                <a:off x="1706072" y="4502947"/>
                <a:ext cx="5011374" cy="602986"/>
              </a:xfrm>
              <a:prstGeom prst="rect">
                <a:avLst/>
              </a:prstGeom>
              <a:noFill/>
            </p:spPr>
            <p:txBody>
              <a:bodyPr wrap="square" lIns="0" tIns="0" rIns="0" bIns="0" rtlCol="0">
                <a:spAutoFit/>
              </a:bodyPr>
              <a:lstStyle/>
              <a:p>
                <a14:m>
                  <m:oMath xmlns:m="http://schemas.openxmlformats.org/officeDocument/2006/math">
                    <m:r>
                      <m:rPr>
                        <m:sty m:val="p"/>
                      </m:rPr>
                      <a:rPr lang="en-US" sz="2000" smtClean="0">
                        <a:latin typeface="Cambria Math" panose="02040503050406030204" pitchFamily="18" charset="0"/>
                      </a:rPr>
                      <m:t>Speedup</m:t>
                    </m:r>
                    <m:r>
                      <m:rPr>
                        <m:sty m:val="p"/>
                      </m:rPr>
                      <a:rPr lang="en-US" sz="2000" b="0" i="0" baseline="-25000" smtClean="0">
                        <a:latin typeface="Cambria Math" panose="02040503050406030204" pitchFamily="18" charset="0"/>
                      </a:rPr>
                      <m:t>B</m:t>
                    </m:r>
                    <m:r>
                      <a:rPr lang="en-US" sz="2000" i="1" baseline="-25000">
                        <a:latin typeface="Cambria Math" panose="02040503050406030204" pitchFamily="18" charset="0"/>
                      </a:rPr>
                      <m:t> </m:t>
                    </m:r>
                  </m:oMath>
                </a14:m>
                <a:r>
                  <a:rPr lang="en-US" sz="2000" dirty="0"/>
                  <a:t> = </a:t>
                </a:r>
                <a14:m>
                  <m:oMath xmlns:m="http://schemas.openxmlformats.org/officeDocument/2006/math">
                    <m:f>
                      <m:fPr>
                        <m:ctrlPr>
                          <a:rPr lang="en-US" sz="2000" i="1" smtClean="0">
                            <a:latin typeface="Cambria Math" panose="02040503050406030204" pitchFamily="18" charset="0"/>
                          </a:rPr>
                        </m:ctrlPr>
                      </m:fPr>
                      <m:num>
                        <m:r>
                          <m:rPr>
                            <m:sty m:val="p"/>
                          </m:rPr>
                          <a:rPr lang="en-US" sz="2000" b="0" i="0" smtClean="0">
                            <a:latin typeface="Cambria Math" panose="02040503050406030204" pitchFamily="18" charset="0"/>
                          </a:rPr>
                          <m:t>Pipeline</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depth</m:t>
                        </m:r>
                      </m:num>
                      <m:den>
                        <m:r>
                          <a:rPr lang="en-US" sz="2000" b="0" i="0" smtClean="0">
                            <a:latin typeface="Cambria Math" panose="02040503050406030204" pitchFamily="18" charset="0"/>
                          </a:rPr>
                          <m:t>1</m:t>
                        </m:r>
                        <m:r>
                          <a:rPr lang="en-US" sz="2000" b="0" i="1" smtClean="0">
                            <a:latin typeface="Cambria Math" panose="02040503050406030204" pitchFamily="18" charset="0"/>
                          </a:rPr>
                          <m:t> + 0.2 </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rPr>
                          <m:t>1</m:t>
                        </m:r>
                      </m:den>
                    </m:f>
                  </m:oMath>
                </a14:m>
                <a:r>
                  <a:rPr lang="en-US" sz="2000" dirty="0">
                    <a:latin typeface="Times New Roman" panose="02020603050405020304" pitchFamily="18" charset="0"/>
                    <a:cs typeface="Times New Roman" panose="02020603050405020304" pitchFamily="18" charset="0"/>
                  </a:rPr>
                  <a:t> </a:t>
                </a:r>
                <a:r>
                  <a:rPr lang="en-US" sz="2000" dirty="0"/>
                  <a:t>x </a:t>
                </a:r>
                <a14:m>
                  <m:oMath xmlns:m="http://schemas.openxmlformats.org/officeDocument/2006/math">
                    <m:f>
                      <m:fPr>
                        <m:ctrlPr>
                          <a:rPr lang="en-US" sz="2000" i="1">
                            <a:latin typeface="Cambria Math" panose="02040503050406030204" pitchFamily="18" charset="0"/>
                          </a:rPr>
                        </m:ctrlPr>
                      </m:fPr>
                      <m:num>
                        <m:r>
                          <m:rPr>
                            <m:sty m:val="p"/>
                          </m:rPr>
                          <a:rPr lang="en-US" sz="2000" b="0" i="0" smtClean="0">
                            <a:latin typeface="Cambria Math" panose="02040503050406030204" pitchFamily="18" charset="0"/>
                          </a:rPr>
                          <m:t>Cycle</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Timeunpipelined</m:t>
                        </m:r>
                      </m:num>
                      <m:den>
                        <m:d>
                          <m:dPr>
                            <m:ctrlPr>
                              <a:rPr lang="en-US" sz="2000" i="1" smtClean="0">
                                <a:latin typeface="Cambria Math" panose="02040503050406030204" pitchFamily="18" charset="0"/>
                              </a:rPr>
                            </m:ctrlPr>
                          </m:dPr>
                          <m:e>
                            <m:f>
                              <m:fPr>
                                <m:ctrlPr>
                                  <a:rPr lang="en-US" sz="2000" i="1">
                                    <a:latin typeface="Cambria Math" panose="02040503050406030204" pitchFamily="18" charset="0"/>
                                  </a:rPr>
                                </m:ctrlPr>
                              </m:fPr>
                              <m:num>
                                <m:r>
                                  <m:rPr>
                                    <m:sty m:val="p"/>
                                  </m:rPr>
                                  <a:rPr lang="en-US" sz="2000" b="0" i="0" smtClean="0">
                                    <a:latin typeface="Cambria Math" panose="02040503050406030204" pitchFamily="18" charset="0"/>
                                  </a:rPr>
                                  <m:t>Cycle</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Timepipelined</m:t>
                                </m:r>
                              </m:num>
                              <m:den>
                                <m:r>
                                  <a:rPr lang="en-US" sz="2000" b="0" i="1" smtClean="0">
                                    <a:latin typeface="Cambria Math" panose="02040503050406030204" pitchFamily="18" charset="0"/>
                                  </a:rPr>
                                  <m:t>1.05</m:t>
                                </m:r>
                              </m:den>
                            </m:f>
                          </m:e>
                        </m:d>
                      </m:den>
                    </m:f>
                  </m:oMath>
                </a14:m>
                <a:endParaRPr lang="en-US" sz="2000" dirty="0"/>
              </a:p>
            </p:txBody>
          </p:sp>
        </mc:Choice>
        <mc:Fallback xmlns="">
          <p:sp>
            <p:nvSpPr>
              <p:cNvPr id="34" name="TextBox 33">
                <a:extLst>
                  <a:ext uri="{FF2B5EF4-FFF2-40B4-BE49-F238E27FC236}">
                    <a16:creationId xmlns:a16="http://schemas.microsoft.com/office/drawing/2014/main" id="{82C8FF83-F12F-18A2-B141-37B0DF1DC692}"/>
                  </a:ext>
                </a:extLst>
              </p:cNvPr>
              <p:cNvSpPr txBox="1">
                <a:spLocks noRot="1" noChangeAspect="1" noMove="1" noResize="1" noEditPoints="1" noAdjustHandles="1" noChangeArrowheads="1" noChangeShapeType="1" noTextEdit="1"/>
              </p:cNvSpPr>
              <p:nvPr/>
            </p:nvSpPr>
            <p:spPr>
              <a:xfrm>
                <a:off x="1706072" y="4502947"/>
                <a:ext cx="5011374" cy="602986"/>
              </a:xfrm>
              <a:prstGeom prst="rect">
                <a:avLst/>
              </a:prstGeom>
              <a:blipFill>
                <a:blip r:embed="rId5"/>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2" grpId="0"/>
      <p:bldP spid="33" grpId="0"/>
      <p:bldP spid="3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3337" y="727440"/>
            <a:ext cx="7622768" cy="729461"/>
          </a:xfrm>
          <a:prstGeom prst="rect">
            <a:avLst/>
          </a:prstGeom>
        </p:spPr>
        <p:txBody>
          <a:bodyPr vert="horz" wrap="square" lIns="0" tIns="11206" rIns="0" bIns="0" rtlCol="0" anchor="ctr">
            <a:spAutoFit/>
          </a:bodyPr>
          <a:lstStyle/>
          <a:p>
            <a:pPr marL="11206">
              <a:lnSpc>
                <a:spcPts val="3565"/>
              </a:lnSpc>
              <a:spcBef>
                <a:spcPts val="88"/>
              </a:spcBef>
            </a:pPr>
            <a:r>
              <a:rPr dirty="0"/>
              <a:t>Data</a:t>
            </a:r>
            <a:r>
              <a:rPr spc="9" dirty="0"/>
              <a:t> </a:t>
            </a:r>
            <a:r>
              <a:rPr dirty="0"/>
              <a:t>Hazard</a:t>
            </a:r>
            <a:r>
              <a:rPr spc="9" dirty="0"/>
              <a:t> </a:t>
            </a:r>
            <a:r>
              <a:rPr dirty="0"/>
              <a:t>on</a:t>
            </a:r>
            <a:r>
              <a:rPr spc="13" dirty="0"/>
              <a:t> </a:t>
            </a:r>
            <a:r>
              <a:rPr dirty="0"/>
              <a:t>Register R1</a:t>
            </a:r>
            <a:r>
              <a:rPr spc="4" dirty="0"/>
              <a:t> </a:t>
            </a:r>
            <a:r>
              <a:rPr dirty="0"/>
              <a:t>(If</a:t>
            </a:r>
            <a:r>
              <a:rPr spc="4" dirty="0"/>
              <a:t> </a:t>
            </a:r>
            <a:r>
              <a:rPr dirty="0"/>
              <a:t>No</a:t>
            </a:r>
            <a:r>
              <a:rPr spc="4" dirty="0"/>
              <a:t> </a:t>
            </a:r>
            <a:r>
              <a:rPr spc="-9" dirty="0"/>
              <a:t>Forwarding)</a:t>
            </a:r>
          </a:p>
          <a:p>
            <a:pPr marL="11206">
              <a:lnSpc>
                <a:spcPts val="1977"/>
              </a:lnSpc>
            </a:pPr>
            <a:r>
              <a:rPr sz="1677" dirty="0"/>
              <a:t>Figure</a:t>
            </a:r>
            <a:r>
              <a:rPr sz="1677" spc="-4" dirty="0"/>
              <a:t> </a:t>
            </a:r>
            <a:r>
              <a:rPr sz="1677" spc="-22" dirty="0"/>
              <a:t>C.6</a:t>
            </a:r>
            <a:endParaRPr sz="1677" dirty="0"/>
          </a:p>
        </p:txBody>
      </p:sp>
      <p:sp>
        <p:nvSpPr>
          <p:cNvPr id="190" name="Slide Number Placeholder 189">
            <a:extLst>
              <a:ext uri="{FF2B5EF4-FFF2-40B4-BE49-F238E27FC236}">
                <a16:creationId xmlns:a16="http://schemas.microsoft.com/office/drawing/2014/main" id="{F57C0FBE-663F-1BBE-0DAB-1ACB86FD3854}"/>
              </a:ext>
            </a:extLst>
          </p:cNvPr>
          <p:cNvSpPr>
            <a:spLocks noGrp="1"/>
          </p:cNvSpPr>
          <p:nvPr>
            <p:ph type="sldNum" sz="quarter" idx="7"/>
          </p:nvPr>
        </p:nvSpPr>
        <p:spPr/>
        <p:txBody>
          <a:bodyPr/>
          <a:lstStyle/>
          <a:p>
            <a:fld id="{4FE321F0-2018-4E50-8BB3-A5631EBD98DD}" type="slidenum">
              <a:rPr lang="en-US" smtClean="0"/>
              <a:t>40</a:t>
            </a:fld>
            <a:endParaRPr lang="en-US"/>
          </a:p>
        </p:txBody>
      </p:sp>
      <p:sp>
        <p:nvSpPr>
          <p:cNvPr id="3" name="object 3"/>
          <p:cNvSpPr txBox="1"/>
          <p:nvPr/>
        </p:nvSpPr>
        <p:spPr>
          <a:xfrm>
            <a:off x="1059230" y="2290482"/>
            <a:ext cx="1072963"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Calibri"/>
                <a:cs typeface="Calibri"/>
              </a:rPr>
              <a:t>add</a:t>
            </a:r>
            <a:r>
              <a:rPr sz="1677" b="1" spc="-4" dirty="0">
                <a:solidFill>
                  <a:srgbClr val="FC0128"/>
                </a:solidFill>
                <a:latin typeface="Calibri"/>
                <a:cs typeface="Calibri"/>
              </a:rPr>
              <a:t> </a:t>
            </a:r>
            <a:r>
              <a:rPr sz="1677" b="1" u="sng" spc="-9" dirty="0">
                <a:solidFill>
                  <a:srgbClr val="FF0000"/>
                </a:solidFill>
                <a:latin typeface="Calibri"/>
                <a:cs typeface="Calibri"/>
              </a:rPr>
              <a:t>r1</a:t>
            </a:r>
            <a:r>
              <a:rPr sz="1677" b="1" spc="-9" dirty="0">
                <a:solidFill>
                  <a:srgbClr val="FC0128"/>
                </a:solidFill>
                <a:latin typeface="Calibri"/>
                <a:cs typeface="Calibri"/>
              </a:rPr>
              <a:t>,r2,r3</a:t>
            </a:r>
            <a:endParaRPr sz="1677" dirty="0">
              <a:latin typeface="Calibri"/>
              <a:cs typeface="Calibri"/>
            </a:endParaRPr>
          </a:p>
        </p:txBody>
      </p:sp>
      <p:sp>
        <p:nvSpPr>
          <p:cNvPr id="4" name="object 4"/>
          <p:cNvSpPr txBox="1"/>
          <p:nvPr/>
        </p:nvSpPr>
        <p:spPr>
          <a:xfrm>
            <a:off x="1059230" y="3043518"/>
            <a:ext cx="1052232"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Calibri"/>
                <a:cs typeface="Calibri"/>
              </a:rPr>
              <a:t>sub</a:t>
            </a:r>
            <a:r>
              <a:rPr sz="1677" b="1" spc="-9" dirty="0">
                <a:solidFill>
                  <a:srgbClr val="FC0128"/>
                </a:solidFill>
                <a:latin typeface="Calibri"/>
                <a:cs typeface="Calibri"/>
              </a:rPr>
              <a:t> r4,</a:t>
            </a:r>
            <a:r>
              <a:rPr sz="1677" b="1" u="sng" spc="-9" dirty="0">
                <a:solidFill>
                  <a:srgbClr val="FF0000"/>
                </a:solidFill>
                <a:latin typeface="Calibri"/>
                <a:cs typeface="Calibri"/>
              </a:rPr>
              <a:t>r1</a:t>
            </a:r>
            <a:r>
              <a:rPr sz="1677" b="1" spc="-9" dirty="0">
                <a:solidFill>
                  <a:srgbClr val="FC0128"/>
                </a:solidFill>
                <a:latin typeface="Calibri"/>
                <a:cs typeface="Calibri"/>
              </a:rPr>
              <a:t>,r5</a:t>
            </a:r>
            <a:endParaRPr sz="1677" dirty="0">
              <a:latin typeface="Calibri"/>
              <a:cs typeface="Calibri"/>
            </a:endParaRPr>
          </a:p>
        </p:txBody>
      </p:sp>
      <p:sp>
        <p:nvSpPr>
          <p:cNvPr id="5" name="object 5"/>
          <p:cNvSpPr txBox="1"/>
          <p:nvPr/>
        </p:nvSpPr>
        <p:spPr>
          <a:xfrm>
            <a:off x="1059230" y="3810000"/>
            <a:ext cx="1072963"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Calibri"/>
                <a:cs typeface="Calibri"/>
              </a:rPr>
              <a:t>and</a:t>
            </a:r>
            <a:r>
              <a:rPr sz="1677" b="1" spc="-4" dirty="0">
                <a:solidFill>
                  <a:srgbClr val="FC0128"/>
                </a:solidFill>
                <a:latin typeface="Calibri"/>
                <a:cs typeface="Calibri"/>
              </a:rPr>
              <a:t> </a:t>
            </a:r>
            <a:r>
              <a:rPr sz="1677" b="1" spc="-9" dirty="0">
                <a:solidFill>
                  <a:srgbClr val="FC0128"/>
                </a:solidFill>
                <a:latin typeface="Calibri"/>
                <a:cs typeface="Calibri"/>
              </a:rPr>
              <a:t>r6,</a:t>
            </a:r>
            <a:r>
              <a:rPr sz="1677" b="1" u="sng" spc="-9" dirty="0">
                <a:solidFill>
                  <a:srgbClr val="FF0000"/>
                </a:solidFill>
                <a:latin typeface="Calibri"/>
                <a:cs typeface="Calibri"/>
              </a:rPr>
              <a:t>r1</a:t>
            </a:r>
            <a:r>
              <a:rPr sz="1677" b="1" spc="-9" dirty="0">
                <a:solidFill>
                  <a:srgbClr val="FC0128"/>
                </a:solidFill>
                <a:latin typeface="Calibri"/>
                <a:cs typeface="Calibri"/>
              </a:rPr>
              <a:t>,r7</a:t>
            </a:r>
            <a:endParaRPr sz="1677" dirty="0">
              <a:latin typeface="Calibri"/>
              <a:cs typeface="Calibri"/>
            </a:endParaRPr>
          </a:p>
        </p:txBody>
      </p:sp>
      <p:sp>
        <p:nvSpPr>
          <p:cNvPr id="6" name="object 6"/>
          <p:cNvSpPr txBox="1"/>
          <p:nvPr/>
        </p:nvSpPr>
        <p:spPr>
          <a:xfrm>
            <a:off x="1059230" y="4584550"/>
            <a:ext cx="977713"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Calibri"/>
                <a:cs typeface="Calibri"/>
              </a:rPr>
              <a:t>or</a:t>
            </a:r>
            <a:r>
              <a:rPr sz="1677" b="1" spc="9" dirty="0">
                <a:solidFill>
                  <a:srgbClr val="FC0128"/>
                </a:solidFill>
                <a:latin typeface="Calibri"/>
                <a:cs typeface="Calibri"/>
              </a:rPr>
              <a:t> </a:t>
            </a:r>
            <a:r>
              <a:rPr sz="1677" b="1" dirty="0">
                <a:solidFill>
                  <a:srgbClr val="FC0128"/>
                </a:solidFill>
                <a:latin typeface="Calibri"/>
                <a:cs typeface="Calibri"/>
              </a:rPr>
              <a:t>r8,</a:t>
            </a:r>
            <a:r>
              <a:rPr sz="1677" b="1" spc="9" dirty="0">
                <a:solidFill>
                  <a:srgbClr val="FC0128"/>
                </a:solidFill>
                <a:latin typeface="Calibri"/>
                <a:cs typeface="Calibri"/>
              </a:rPr>
              <a:t> </a:t>
            </a:r>
            <a:r>
              <a:rPr sz="1677" b="1" u="sng" spc="-9" dirty="0">
                <a:solidFill>
                  <a:srgbClr val="0099FF"/>
                </a:solidFill>
                <a:latin typeface="Calibri"/>
                <a:cs typeface="Calibri"/>
              </a:rPr>
              <a:t>r1</a:t>
            </a:r>
            <a:r>
              <a:rPr sz="1677" b="1" spc="-9" dirty="0">
                <a:solidFill>
                  <a:srgbClr val="FC0128"/>
                </a:solidFill>
                <a:latin typeface="Calibri"/>
                <a:cs typeface="Calibri"/>
              </a:rPr>
              <a:t>,r9</a:t>
            </a:r>
            <a:endParaRPr sz="1677" dirty="0">
              <a:latin typeface="Calibri"/>
              <a:cs typeface="Calibri"/>
            </a:endParaRPr>
          </a:p>
        </p:txBody>
      </p:sp>
      <p:sp>
        <p:nvSpPr>
          <p:cNvPr id="7" name="object 7"/>
          <p:cNvSpPr txBox="1"/>
          <p:nvPr/>
        </p:nvSpPr>
        <p:spPr>
          <a:xfrm>
            <a:off x="1059230" y="5316070"/>
            <a:ext cx="1239931"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Calibri"/>
                <a:cs typeface="Calibri"/>
              </a:rPr>
              <a:t>xor</a:t>
            </a:r>
            <a:r>
              <a:rPr sz="1677" b="1" spc="-40" dirty="0">
                <a:solidFill>
                  <a:srgbClr val="FC0128"/>
                </a:solidFill>
                <a:latin typeface="Calibri"/>
                <a:cs typeface="Calibri"/>
              </a:rPr>
              <a:t> </a:t>
            </a:r>
            <a:r>
              <a:rPr sz="1677" b="1" spc="-9" dirty="0">
                <a:solidFill>
                  <a:srgbClr val="FC0128"/>
                </a:solidFill>
                <a:latin typeface="Calibri"/>
                <a:cs typeface="Calibri"/>
              </a:rPr>
              <a:t>r10,</a:t>
            </a:r>
            <a:r>
              <a:rPr sz="1677" b="1" u="sng" spc="-9" dirty="0">
                <a:solidFill>
                  <a:srgbClr val="008000"/>
                </a:solidFill>
                <a:latin typeface="Calibri"/>
                <a:cs typeface="Calibri"/>
              </a:rPr>
              <a:t>r1</a:t>
            </a:r>
            <a:r>
              <a:rPr sz="1677" b="1" spc="-9" dirty="0">
                <a:solidFill>
                  <a:srgbClr val="FC0128"/>
                </a:solidFill>
                <a:latin typeface="Calibri"/>
                <a:cs typeface="Calibri"/>
              </a:rPr>
              <a:t>,r11</a:t>
            </a:r>
            <a:endParaRPr sz="1677" dirty="0">
              <a:latin typeface="Calibri"/>
              <a:cs typeface="Calibri"/>
            </a:endParaRPr>
          </a:p>
        </p:txBody>
      </p:sp>
      <p:sp>
        <p:nvSpPr>
          <p:cNvPr id="8" name="object 8"/>
          <p:cNvSpPr txBox="1"/>
          <p:nvPr/>
        </p:nvSpPr>
        <p:spPr>
          <a:xfrm>
            <a:off x="518504" y="2246556"/>
            <a:ext cx="149038" cy="1449851"/>
          </a:xfrm>
          <a:prstGeom prst="rect">
            <a:avLst/>
          </a:prstGeom>
        </p:spPr>
        <p:txBody>
          <a:bodyPr vert="horz" wrap="square" lIns="0" tIns="11206" rIns="0" bIns="0" rtlCol="0">
            <a:spAutoFit/>
          </a:bodyPr>
          <a:lstStyle/>
          <a:p>
            <a:pPr marL="44266">
              <a:spcBef>
                <a:spcPts val="88"/>
              </a:spcBef>
            </a:pPr>
            <a:r>
              <a:rPr sz="1853" b="1" i="1" spc="-44" dirty="0">
                <a:latin typeface="Calibri"/>
                <a:cs typeface="Calibri"/>
              </a:rPr>
              <a:t>I</a:t>
            </a:r>
            <a:endParaRPr sz="1853">
              <a:latin typeface="Calibri"/>
              <a:cs typeface="Calibri"/>
            </a:endParaRPr>
          </a:p>
          <a:p>
            <a:pPr marL="11206" marR="4483" indent="2241" algn="just">
              <a:lnSpc>
                <a:spcPct val="101899"/>
              </a:lnSpc>
              <a:spcBef>
                <a:spcPts val="22"/>
              </a:spcBef>
            </a:pPr>
            <a:r>
              <a:rPr sz="1853" b="1" i="1" spc="-44" dirty="0">
                <a:latin typeface="Calibri"/>
                <a:cs typeface="Calibri"/>
              </a:rPr>
              <a:t>n s t </a:t>
            </a:r>
            <a:r>
              <a:rPr sz="1853" b="1" i="1" spc="-93" dirty="0">
                <a:latin typeface="Calibri"/>
                <a:cs typeface="Calibri"/>
              </a:rPr>
              <a:t>r.</a:t>
            </a:r>
            <a:endParaRPr sz="1853">
              <a:latin typeface="Calibri"/>
              <a:cs typeface="Calibri"/>
            </a:endParaRPr>
          </a:p>
        </p:txBody>
      </p:sp>
      <p:sp>
        <p:nvSpPr>
          <p:cNvPr id="9" name="object 9"/>
          <p:cNvSpPr txBox="1"/>
          <p:nvPr/>
        </p:nvSpPr>
        <p:spPr>
          <a:xfrm>
            <a:off x="503862" y="3970469"/>
            <a:ext cx="179854" cy="1449851"/>
          </a:xfrm>
          <a:prstGeom prst="rect">
            <a:avLst/>
          </a:prstGeom>
        </p:spPr>
        <p:txBody>
          <a:bodyPr vert="horz" wrap="square" lIns="0" tIns="11206" rIns="0" bIns="0" rtlCol="0">
            <a:spAutoFit/>
          </a:bodyPr>
          <a:lstStyle/>
          <a:p>
            <a:pPr marL="11206">
              <a:spcBef>
                <a:spcPts val="88"/>
              </a:spcBef>
            </a:pPr>
            <a:r>
              <a:rPr sz="1853" b="1" i="1" spc="-44" dirty="0">
                <a:latin typeface="Calibri"/>
                <a:cs typeface="Calibri"/>
              </a:rPr>
              <a:t>O</a:t>
            </a:r>
            <a:endParaRPr sz="1853">
              <a:latin typeface="Calibri"/>
              <a:cs typeface="Calibri"/>
            </a:endParaRPr>
          </a:p>
          <a:p>
            <a:pPr marL="28016" marR="20172" indent="20732" algn="just">
              <a:lnSpc>
                <a:spcPct val="101600"/>
              </a:lnSpc>
              <a:spcBef>
                <a:spcPts val="49"/>
              </a:spcBef>
            </a:pPr>
            <a:r>
              <a:rPr sz="1853" b="1" i="1" spc="-44" dirty="0">
                <a:latin typeface="Calibri"/>
                <a:cs typeface="Calibri"/>
              </a:rPr>
              <a:t>r d e r</a:t>
            </a:r>
            <a:endParaRPr sz="1853">
              <a:latin typeface="Calibri"/>
              <a:cs typeface="Calibri"/>
            </a:endParaRPr>
          </a:p>
        </p:txBody>
      </p:sp>
      <p:sp>
        <p:nvSpPr>
          <p:cNvPr id="10" name="object 10"/>
          <p:cNvSpPr/>
          <p:nvPr/>
        </p:nvSpPr>
        <p:spPr>
          <a:xfrm>
            <a:off x="875679" y="2300448"/>
            <a:ext cx="71718" cy="2932579"/>
          </a:xfrm>
          <a:custGeom>
            <a:avLst/>
            <a:gdLst/>
            <a:ahLst/>
            <a:cxnLst/>
            <a:rect l="l" t="t" r="r" b="b"/>
            <a:pathLst>
              <a:path w="81280" h="3323590">
                <a:moveTo>
                  <a:pt x="27093" y="3241713"/>
                </a:moveTo>
                <a:lnTo>
                  <a:pt x="0" y="3241713"/>
                </a:lnTo>
                <a:lnTo>
                  <a:pt x="40640" y="3322993"/>
                </a:lnTo>
                <a:lnTo>
                  <a:pt x="74499" y="3255274"/>
                </a:lnTo>
                <a:lnTo>
                  <a:pt x="27093" y="3255274"/>
                </a:lnTo>
                <a:lnTo>
                  <a:pt x="27093" y="3241713"/>
                </a:lnTo>
                <a:close/>
              </a:path>
              <a:path w="81280" h="3323590">
                <a:moveTo>
                  <a:pt x="54185" y="0"/>
                </a:moveTo>
                <a:lnTo>
                  <a:pt x="27092" y="0"/>
                </a:lnTo>
                <a:lnTo>
                  <a:pt x="27093" y="3255274"/>
                </a:lnTo>
                <a:lnTo>
                  <a:pt x="54186" y="3255274"/>
                </a:lnTo>
                <a:lnTo>
                  <a:pt x="54185" y="0"/>
                </a:lnTo>
                <a:close/>
              </a:path>
              <a:path w="81280" h="3323590">
                <a:moveTo>
                  <a:pt x="81280" y="3241713"/>
                </a:moveTo>
                <a:lnTo>
                  <a:pt x="54186" y="3241713"/>
                </a:lnTo>
                <a:lnTo>
                  <a:pt x="54186" y="3255274"/>
                </a:lnTo>
                <a:lnTo>
                  <a:pt x="74499" y="3255274"/>
                </a:lnTo>
                <a:lnTo>
                  <a:pt x="81280" y="3241713"/>
                </a:lnTo>
                <a:close/>
              </a:path>
            </a:pathLst>
          </a:custGeom>
          <a:solidFill>
            <a:srgbClr val="000000"/>
          </a:solidFill>
        </p:spPr>
        <p:txBody>
          <a:bodyPr wrap="square" lIns="0" tIns="0" rIns="0" bIns="0" rtlCol="0"/>
          <a:lstStyle/>
          <a:p>
            <a:endParaRPr sz="1588"/>
          </a:p>
        </p:txBody>
      </p:sp>
      <p:sp>
        <p:nvSpPr>
          <p:cNvPr id="182" name="object 182"/>
          <p:cNvSpPr/>
          <p:nvPr/>
        </p:nvSpPr>
        <p:spPr>
          <a:xfrm>
            <a:off x="4218571" y="2600076"/>
            <a:ext cx="1243853" cy="1316691"/>
          </a:xfrm>
          <a:custGeom>
            <a:avLst/>
            <a:gdLst/>
            <a:ahLst/>
            <a:cxnLst/>
            <a:rect l="l" t="t" r="r" b="b"/>
            <a:pathLst>
              <a:path w="1409700" h="1492250">
                <a:moveTo>
                  <a:pt x="1409611" y="41122"/>
                </a:moveTo>
                <a:lnTo>
                  <a:pt x="1381760" y="28740"/>
                </a:lnTo>
                <a:lnTo>
                  <a:pt x="1371612" y="0"/>
                </a:lnTo>
                <a:lnTo>
                  <a:pt x="162306" y="426808"/>
                </a:lnTo>
                <a:lnTo>
                  <a:pt x="142024" y="369328"/>
                </a:lnTo>
                <a:lnTo>
                  <a:pt x="0" y="516420"/>
                </a:lnTo>
                <a:lnTo>
                  <a:pt x="202882" y="541782"/>
                </a:lnTo>
                <a:lnTo>
                  <a:pt x="186182" y="494436"/>
                </a:lnTo>
                <a:lnTo>
                  <a:pt x="182600" y="484301"/>
                </a:lnTo>
                <a:lnTo>
                  <a:pt x="1325156" y="81038"/>
                </a:lnTo>
                <a:lnTo>
                  <a:pt x="777938" y="1312278"/>
                </a:lnTo>
                <a:lnTo>
                  <a:pt x="722236" y="1287526"/>
                </a:lnTo>
                <a:lnTo>
                  <a:pt x="731520" y="1491780"/>
                </a:lnTo>
                <a:lnTo>
                  <a:pt x="885596" y="1364894"/>
                </a:lnTo>
                <a:lnTo>
                  <a:pt x="889355" y="1361795"/>
                </a:lnTo>
                <a:lnTo>
                  <a:pt x="833640" y="1337043"/>
                </a:lnTo>
                <a:lnTo>
                  <a:pt x="1409611" y="41122"/>
                </a:lnTo>
                <a:close/>
              </a:path>
            </a:pathLst>
          </a:custGeom>
          <a:solidFill>
            <a:srgbClr val="FF0000"/>
          </a:solidFill>
        </p:spPr>
        <p:txBody>
          <a:bodyPr wrap="square" lIns="0" tIns="0" rIns="0" bIns="0" rtlCol="0"/>
          <a:lstStyle/>
          <a:p>
            <a:endParaRPr sz="1588"/>
          </a:p>
        </p:txBody>
      </p:sp>
      <p:grpSp>
        <p:nvGrpSpPr>
          <p:cNvPr id="191" name="Group 190">
            <a:extLst>
              <a:ext uri="{FF2B5EF4-FFF2-40B4-BE49-F238E27FC236}">
                <a16:creationId xmlns:a16="http://schemas.microsoft.com/office/drawing/2014/main" id="{877D53D7-2EA5-BBAA-8513-4E46406A9A8A}"/>
              </a:ext>
            </a:extLst>
          </p:cNvPr>
          <p:cNvGrpSpPr/>
          <p:nvPr/>
        </p:nvGrpSpPr>
        <p:grpSpPr>
          <a:xfrm>
            <a:off x="2060996" y="1291814"/>
            <a:ext cx="6573778" cy="4996265"/>
            <a:chOff x="2060996" y="1291814"/>
            <a:chExt cx="6573778" cy="4996265"/>
          </a:xfrm>
        </p:grpSpPr>
        <p:grpSp>
          <p:nvGrpSpPr>
            <p:cNvPr id="11" name="object 11"/>
            <p:cNvGrpSpPr/>
            <p:nvPr/>
          </p:nvGrpSpPr>
          <p:grpSpPr>
            <a:xfrm>
              <a:off x="2060996" y="1620778"/>
              <a:ext cx="6325721" cy="1033182"/>
              <a:chOff x="2183396" y="1836881"/>
              <a:chExt cx="7169150" cy="1170940"/>
            </a:xfrm>
          </p:grpSpPr>
          <p:sp>
            <p:nvSpPr>
              <p:cNvPr id="12" name="object 12"/>
              <p:cNvSpPr/>
              <p:nvPr/>
            </p:nvSpPr>
            <p:spPr>
              <a:xfrm>
                <a:off x="2183396" y="1836881"/>
                <a:ext cx="7169150" cy="81280"/>
              </a:xfrm>
              <a:custGeom>
                <a:avLst/>
                <a:gdLst/>
                <a:ahLst/>
                <a:cxnLst/>
                <a:rect l="l" t="t" r="r" b="b"/>
                <a:pathLst>
                  <a:path w="7169150" h="81280">
                    <a:moveTo>
                      <a:pt x="7087824" y="0"/>
                    </a:moveTo>
                    <a:lnTo>
                      <a:pt x="7087698" y="40890"/>
                    </a:lnTo>
                    <a:lnTo>
                      <a:pt x="7087574" y="81279"/>
                    </a:lnTo>
                    <a:lnTo>
                      <a:pt x="7142094" y="54228"/>
                    </a:lnTo>
                    <a:lnTo>
                      <a:pt x="7101260" y="54228"/>
                    </a:lnTo>
                    <a:lnTo>
                      <a:pt x="7101343" y="27134"/>
                    </a:lnTo>
                    <a:lnTo>
                      <a:pt x="7141678" y="27134"/>
                    </a:lnTo>
                    <a:lnTo>
                      <a:pt x="7087824" y="0"/>
                    </a:lnTo>
                    <a:close/>
                  </a:path>
                  <a:path w="7169150" h="81280">
                    <a:moveTo>
                      <a:pt x="83" y="5280"/>
                    </a:moveTo>
                    <a:lnTo>
                      <a:pt x="0" y="32373"/>
                    </a:lnTo>
                    <a:lnTo>
                      <a:pt x="7101260" y="54228"/>
                    </a:lnTo>
                    <a:lnTo>
                      <a:pt x="7087657" y="54228"/>
                    </a:lnTo>
                    <a:lnTo>
                      <a:pt x="7087740" y="27134"/>
                    </a:lnTo>
                    <a:lnTo>
                      <a:pt x="7101343" y="27134"/>
                    </a:lnTo>
                    <a:lnTo>
                      <a:pt x="83" y="5280"/>
                    </a:lnTo>
                    <a:close/>
                  </a:path>
                  <a:path w="7169150" h="81280">
                    <a:moveTo>
                      <a:pt x="7141678" y="27134"/>
                    </a:moveTo>
                    <a:lnTo>
                      <a:pt x="7101343" y="27134"/>
                    </a:lnTo>
                    <a:lnTo>
                      <a:pt x="7101260" y="54228"/>
                    </a:lnTo>
                    <a:lnTo>
                      <a:pt x="7142094" y="54228"/>
                    </a:lnTo>
                    <a:lnTo>
                      <a:pt x="7168978" y="40890"/>
                    </a:lnTo>
                    <a:lnTo>
                      <a:pt x="7141678" y="27134"/>
                    </a:lnTo>
                    <a:close/>
                  </a:path>
                </a:pathLst>
              </a:custGeom>
              <a:solidFill>
                <a:srgbClr val="000000"/>
              </a:solidFill>
            </p:spPr>
            <p:txBody>
              <a:bodyPr wrap="square" lIns="0" tIns="0" rIns="0" bIns="0" rtlCol="0"/>
              <a:lstStyle/>
              <a:p>
                <a:endParaRPr sz="1588"/>
              </a:p>
            </p:txBody>
          </p:sp>
          <p:sp>
            <p:nvSpPr>
              <p:cNvPr id="13" name="object 13"/>
              <p:cNvSpPr/>
              <p:nvPr/>
            </p:nvSpPr>
            <p:spPr>
              <a:xfrm>
                <a:off x="3728821" y="2624764"/>
                <a:ext cx="215265" cy="363220"/>
              </a:xfrm>
              <a:custGeom>
                <a:avLst/>
                <a:gdLst/>
                <a:ahLst/>
                <a:cxnLst/>
                <a:rect l="l" t="t" r="r" b="b"/>
                <a:pathLst>
                  <a:path w="215264" h="363219">
                    <a:moveTo>
                      <a:pt x="214887" y="0"/>
                    </a:moveTo>
                    <a:lnTo>
                      <a:pt x="0" y="0"/>
                    </a:lnTo>
                    <a:lnTo>
                      <a:pt x="0" y="362943"/>
                    </a:lnTo>
                    <a:lnTo>
                      <a:pt x="214887" y="362943"/>
                    </a:lnTo>
                    <a:lnTo>
                      <a:pt x="214887" y="0"/>
                    </a:lnTo>
                    <a:close/>
                  </a:path>
                </a:pathLst>
              </a:custGeom>
              <a:solidFill>
                <a:srgbClr val="0099FF"/>
              </a:solidFill>
            </p:spPr>
            <p:txBody>
              <a:bodyPr wrap="square" lIns="0" tIns="0" rIns="0" bIns="0" rtlCol="0"/>
              <a:lstStyle/>
              <a:p>
                <a:endParaRPr sz="1588"/>
              </a:p>
            </p:txBody>
          </p:sp>
          <p:sp>
            <p:nvSpPr>
              <p:cNvPr id="14" name="object 14"/>
              <p:cNvSpPr/>
              <p:nvPr/>
            </p:nvSpPr>
            <p:spPr>
              <a:xfrm>
                <a:off x="3513932" y="2624764"/>
                <a:ext cx="429895" cy="367665"/>
              </a:xfrm>
              <a:custGeom>
                <a:avLst/>
                <a:gdLst/>
                <a:ahLst/>
                <a:cxnLst/>
                <a:rect l="l" t="t" r="r" b="b"/>
                <a:pathLst>
                  <a:path w="429895" h="367664">
                    <a:moveTo>
                      <a:pt x="0" y="0"/>
                    </a:moveTo>
                    <a:lnTo>
                      <a:pt x="429777" y="0"/>
                    </a:lnTo>
                    <a:lnTo>
                      <a:pt x="429777"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5" name="object 15"/>
            <p:cNvSpPr txBox="1"/>
            <p:nvPr/>
          </p:nvSpPr>
          <p:spPr>
            <a:xfrm>
              <a:off x="3305164" y="2355477"/>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6" name="object 16"/>
            <p:cNvGrpSpPr/>
            <p:nvPr/>
          </p:nvGrpSpPr>
          <p:grpSpPr>
            <a:xfrm>
              <a:off x="3602482" y="2206239"/>
              <a:ext cx="712134" cy="542925"/>
              <a:chOff x="3930413" y="2500404"/>
              <a:chExt cx="807085" cy="615315"/>
            </a:xfrm>
          </p:grpSpPr>
          <p:sp>
            <p:nvSpPr>
              <p:cNvPr id="17" name="object 17"/>
              <p:cNvSpPr/>
              <p:nvPr/>
            </p:nvSpPr>
            <p:spPr>
              <a:xfrm>
                <a:off x="3945653" y="2698834"/>
                <a:ext cx="474980" cy="219075"/>
              </a:xfrm>
              <a:custGeom>
                <a:avLst/>
                <a:gdLst/>
                <a:ahLst/>
                <a:cxnLst/>
                <a:rect l="l" t="t" r="r" b="b"/>
                <a:pathLst>
                  <a:path w="474979" h="219075">
                    <a:moveTo>
                      <a:pt x="0" y="0"/>
                    </a:moveTo>
                    <a:lnTo>
                      <a:pt x="93080" y="0"/>
                    </a:lnTo>
                  </a:path>
                  <a:path w="474979" h="219075">
                    <a:moveTo>
                      <a:pt x="179981" y="0"/>
                    </a:moveTo>
                    <a:lnTo>
                      <a:pt x="474504" y="0"/>
                    </a:lnTo>
                  </a:path>
                  <a:path w="474979" h="219075">
                    <a:moveTo>
                      <a:pt x="0" y="219055"/>
                    </a:moveTo>
                    <a:lnTo>
                      <a:pt x="93080" y="219055"/>
                    </a:lnTo>
                  </a:path>
                  <a:path w="474979" h="219075">
                    <a:moveTo>
                      <a:pt x="179981" y="219055"/>
                    </a:moveTo>
                    <a:lnTo>
                      <a:pt x="474504" y="219055"/>
                    </a:lnTo>
                  </a:path>
                </a:pathLst>
              </a:custGeom>
              <a:ln w="30481">
                <a:solidFill>
                  <a:srgbClr val="000000"/>
                </a:solidFill>
              </a:ln>
            </p:spPr>
            <p:txBody>
              <a:bodyPr wrap="square" lIns="0" tIns="0" rIns="0" bIns="0" rtlCol="0"/>
              <a:lstStyle/>
              <a:p>
                <a:endParaRPr sz="1588"/>
              </a:p>
            </p:txBody>
          </p:sp>
          <p:sp>
            <p:nvSpPr>
              <p:cNvPr id="18" name="object 18"/>
              <p:cNvSpPr/>
              <p:nvPr/>
            </p:nvSpPr>
            <p:spPr>
              <a:xfrm>
                <a:off x="4358847" y="2515645"/>
                <a:ext cx="363855" cy="584835"/>
              </a:xfrm>
              <a:custGeom>
                <a:avLst/>
                <a:gdLst/>
                <a:ahLst/>
                <a:cxnLst/>
                <a:rect l="l" t="t" r="r" b="b"/>
                <a:pathLst>
                  <a:path w="363854" h="584835">
                    <a:moveTo>
                      <a:pt x="0" y="0"/>
                    </a:moveTo>
                    <a:lnTo>
                      <a:pt x="0" y="584671"/>
                    </a:lnTo>
                    <a:lnTo>
                      <a:pt x="363278" y="438503"/>
                    </a:lnTo>
                    <a:lnTo>
                      <a:pt x="363278" y="146168"/>
                    </a:lnTo>
                    <a:lnTo>
                      <a:pt x="0" y="0"/>
                    </a:lnTo>
                    <a:close/>
                  </a:path>
                </a:pathLst>
              </a:custGeom>
              <a:solidFill>
                <a:srgbClr val="FFFFFF"/>
              </a:solidFill>
            </p:spPr>
            <p:txBody>
              <a:bodyPr wrap="square" lIns="0" tIns="0" rIns="0" bIns="0" rtlCol="0"/>
              <a:lstStyle/>
              <a:p>
                <a:endParaRPr sz="1588"/>
              </a:p>
            </p:txBody>
          </p:sp>
          <p:sp>
            <p:nvSpPr>
              <p:cNvPr id="19" name="object 19"/>
              <p:cNvSpPr/>
              <p:nvPr/>
            </p:nvSpPr>
            <p:spPr>
              <a:xfrm>
                <a:off x="4358847" y="2515644"/>
                <a:ext cx="363855" cy="584835"/>
              </a:xfrm>
              <a:custGeom>
                <a:avLst/>
                <a:gdLst/>
                <a:ahLst/>
                <a:cxnLst/>
                <a:rect l="l" t="t" r="r" b="b"/>
                <a:pathLst>
                  <a:path w="363854" h="584835">
                    <a:moveTo>
                      <a:pt x="0" y="584671"/>
                    </a:moveTo>
                    <a:lnTo>
                      <a:pt x="363277" y="438503"/>
                    </a:lnTo>
                    <a:lnTo>
                      <a:pt x="363277"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20" name="object 20"/>
              <p:cNvSpPr/>
              <p:nvPr/>
            </p:nvSpPr>
            <p:spPr>
              <a:xfrm>
                <a:off x="4334592" y="2713960"/>
                <a:ext cx="194310" cy="189230"/>
              </a:xfrm>
              <a:custGeom>
                <a:avLst/>
                <a:gdLst/>
                <a:ahLst/>
                <a:cxnLst/>
                <a:rect l="l" t="t" r="r" b="b"/>
                <a:pathLst>
                  <a:path w="194310" h="189230">
                    <a:moveTo>
                      <a:pt x="0" y="0"/>
                    </a:moveTo>
                    <a:lnTo>
                      <a:pt x="0" y="188800"/>
                    </a:lnTo>
                    <a:lnTo>
                      <a:pt x="194035" y="94400"/>
                    </a:lnTo>
                    <a:lnTo>
                      <a:pt x="0" y="0"/>
                    </a:lnTo>
                    <a:close/>
                  </a:path>
                </a:pathLst>
              </a:custGeom>
              <a:solidFill>
                <a:srgbClr val="FFFFFF"/>
              </a:solidFill>
            </p:spPr>
            <p:txBody>
              <a:bodyPr wrap="square" lIns="0" tIns="0" rIns="0" bIns="0" rtlCol="0"/>
              <a:lstStyle/>
              <a:p>
                <a:endParaRPr sz="1588"/>
              </a:p>
            </p:txBody>
          </p:sp>
          <p:sp>
            <p:nvSpPr>
              <p:cNvPr id="21" name="object 21"/>
              <p:cNvSpPr/>
              <p:nvPr/>
            </p:nvSpPr>
            <p:spPr>
              <a:xfrm>
                <a:off x="4358847" y="2724999"/>
                <a:ext cx="149860" cy="166370"/>
              </a:xfrm>
              <a:custGeom>
                <a:avLst/>
                <a:gdLst/>
                <a:ahLst/>
                <a:cxnLst/>
                <a:rect l="l" t="t" r="r" b="b"/>
                <a:pathLst>
                  <a:path w="149860" h="166369">
                    <a:moveTo>
                      <a:pt x="0" y="0"/>
                    </a:moveTo>
                    <a:lnTo>
                      <a:pt x="149838" y="82980"/>
                    </a:lnTo>
                    <a:lnTo>
                      <a:pt x="0" y="165961"/>
                    </a:lnTo>
                  </a:path>
                </a:pathLst>
              </a:custGeom>
              <a:ln w="30479">
                <a:solidFill>
                  <a:srgbClr val="000000"/>
                </a:solidFill>
              </a:ln>
            </p:spPr>
            <p:txBody>
              <a:bodyPr wrap="square" lIns="0" tIns="0" rIns="0" bIns="0" rtlCol="0"/>
              <a:lstStyle/>
              <a:p>
                <a:endParaRPr sz="1588"/>
              </a:p>
            </p:txBody>
          </p:sp>
        </p:grpSp>
        <p:sp>
          <p:nvSpPr>
            <p:cNvPr id="22" name="object 22"/>
            <p:cNvSpPr txBox="1"/>
            <p:nvPr/>
          </p:nvSpPr>
          <p:spPr>
            <a:xfrm>
              <a:off x="4097547" y="2316675"/>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23" name="object 23"/>
            <p:cNvGrpSpPr/>
            <p:nvPr/>
          </p:nvGrpSpPr>
          <p:grpSpPr>
            <a:xfrm>
              <a:off x="4290561" y="2303912"/>
              <a:ext cx="1051672" cy="349624"/>
              <a:chOff x="4710235" y="2611100"/>
              <a:chExt cx="1191895" cy="396240"/>
            </a:xfrm>
          </p:grpSpPr>
          <p:sp>
            <p:nvSpPr>
              <p:cNvPr id="24" name="object 24"/>
              <p:cNvSpPr/>
              <p:nvPr/>
            </p:nvSpPr>
            <p:spPr>
              <a:xfrm>
                <a:off x="4725475" y="2809150"/>
                <a:ext cx="1161415" cy="0"/>
              </a:xfrm>
              <a:custGeom>
                <a:avLst/>
                <a:gdLst/>
                <a:ahLst/>
                <a:cxnLst/>
                <a:rect l="l" t="t" r="r" b="b"/>
                <a:pathLst>
                  <a:path w="1161414">
                    <a:moveTo>
                      <a:pt x="0" y="0"/>
                    </a:moveTo>
                    <a:lnTo>
                      <a:pt x="115882" y="0"/>
                    </a:lnTo>
                  </a:path>
                  <a:path w="1161414">
                    <a:moveTo>
                      <a:pt x="201575" y="0"/>
                    </a:moveTo>
                    <a:lnTo>
                      <a:pt x="349730" y="0"/>
                    </a:lnTo>
                  </a:path>
                  <a:path w="1161414">
                    <a:moveTo>
                      <a:pt x="1005405" y="0"/>
                    </a:moveTo>
                    <a:lnTo>
                      <a:pt x="1160980" y="0"/>
                    </a:lnTo>
                  </a:path>
                  <a:path w="1161414">
                    <a:moveTo>
                      <a:pt x="789545" y="0"/>
                    </a:moveTo>
                    <a:lnTo>
                      <a:pt x="918505" y="0"/>
                    </a:lnTo>
                  </a:path>
                </a:pathLst>
              </a:custGeom>
              <a:ln w="30481">
                <a:solidFill>
                  <a:srgbClr val="000000"/>
                </a:solidFill>
              </a:ln>
            </p:spPr>
            <p:txBody>
              <a:bodyPr wrap="square" lIns="0" tIns="0" rIns="0" bIns="0" rtlCol="0"/>
              <a:lstStyle/>
              <a:p>
                <a:endParaRPr sz="1588"/>
              </a:p>
            </p:txBody>
          </p:sp>
          <p:sp>
            <p:nvSpPr>
              <p:cNvPr id="25" name="object 25"/>
              <p:cNvSpPr/>
              <p:nvPr/>
            </p:nvSpPr>
            <p:spPr>
              <a:xfrm>
                <a:off x="5075205" y="2626340"/>
                <a:ext cx="431165" cy="365760"/>
              </a:xfrm>
              <a:custGeom>
                <a:avLst/>
                <a:gdLst/>
                <a:ahLst/>
                <a:cxnLst/>
                <a:rect l="l" t="t" r="r" b="b"/>
                <a:pathLst>
                  <a:path w="431164" h="365760">
                    <a:moveTo>
                      <a:pt x="0" y="0"/>
                    </a:moveTo>
                    <a:lnTo>
                      <a:pt x="430700" y="0"/>
                    </a:lnTo>
                    <a:lnTo>
                      <a:pt x="430700"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26" name="object 26"/>
            <p:cNvSpPr txBox="1"/>
            <p:nvPr/>
          </p:nvSpPr>
          <p:spPr>
            <a:xfrm>
              <a:off x="4594352" y="2358166"/>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27" name="object 27"/>
            <p:cNvGrpSpPr/>
            <p:nvPr/>
          </p:nvGrpSpPr>
          <p:grpSpPr>
            <a:xfrm>
              <a:off x="2860752" y="2367877"/>
              <a:ext cx="2294404" cy="381559"/>
              <a:chOff x="3089785" y="2683594"/>
              <a:chExt cx="2600325" cy="432434"/>
            </a:xfrm>
          </p:grpSpPr>
          <p:sp>
            <p:nvSpPr>
              <p:cNvPr id="28" name="object 28"/>
              <p:cNvSpPr/>
              <p:nvPr/>
            </p:nvSpPr>
            <p:spPr>
              <a:xfrm>
                <a:off x="5028848" y="2809149"/>
                <a:ext cx="645795" cy="292100"/>
              </a:xfrm>
              <a:custGeom>
                <a:avLst/>
                <a:gdLst/>
                <a:ahLst/>
                <a:cxnLst/>
                <a:rect l="l" t="t" r="r" b="b"/>
                <a:pathLst>
                  <a:path w="645795" h="292100">
                    <a:moveTo>
                      <a:pt x="0" y="0"/>
                    </a:moveTo>
                    <a:lnTo>
                      <a:pt x="0" y="291547"/>
                    </a:lnTo>
                    <a:lnTo>
                      <a:pt x="569679" y="291547"/>
                    </a:lnTo>
                    <a:lnTo>
                      <a:pt x="569679" y="109330"/>
                    </a:lnTo>
                    <a:lnTo>
                      <a:pt x="645637" y="109330"/>
                    </a:lnTo>
                  </a:path>
                </a:pathLst>
              </a:custGeom>
              <a:ln w="30479">
                <a:solidFill>
                  <a:srgbClr val="000000"/>
                </a:solidFill>
              </a:ln>
            </p:spPr>
            <p:txBody>
              <a:bodyPr wrap="square" lIns="0" tIns="0" rIns="0" bIns="0" rtlCol="0"/>
              <a:lstStyle/>
              <a:p>
                <a:endParaRPr sz="1588"/>
              </a:p>
            </p:txBody>
          </p:sp>
          <p:sp>
            <p:nvSpPr>
              <p:cNvPr id="29" name="object 29"/>
              <p:cNvSpPr/>
              <p:nvPr/>
            </p:nvSpPr>
            <p:spPr>
              <a:xfrm>
                <a:off x="3105025" y="2698834"/>
                <a:ext cx="408940" cy="220979"/>
              </a:xfrm>
              <a:custGeom>
                <a:avLst/>
                <a:gdLst/>
                <a:ahLst/>
                <a:cxnLst/>
                <a:rect l="l" t="t" r="r" b="b"/>
                <a:pathLst>
                  <a:path w="408939" h="220980">
                    <a:moveTo>
                      <a:pt x="0" y="220630"/>
                    </a:moveTo>
                    <a:lnTo>
                      <a:pt x="134706" y="220630"/>
                    </a:lnTo>
                  </a:path>
                  <a:path w="408939" h="220980">
                    <a:moveTo>
                      <a:pt x="221607" y="220630"/>
                    </a:moveTo>
                    <a:lnTo>
                      <a:pt x="408907" y="220630"/>
                    </a:lnTo>
                  </a:path>
                  <a:path w="408939" h="220980">
                    <a:moveTo>
                      <a:pt x="221607" y="0"/>
                    </a:moveTo>
                    <a:lnTo>
                      <a:pt x="406962" y="0"/>
                    </a:lnTo>
                  </a:path>
                  <a:path w="408939" h="220980">
                    <a:moveTo>
                      <a:pt x="0" y="0"/>
                    </a:moveTo>
                    <a:lnTo>
                      <a:pt x="134706" y="0"/>
                    </a:lnTo>
                  </a:path>
                </a:pathLst>
              </a:custGeom>
              <a:ln w="30481">
                <a:solidFill>
                  <a:srgbClr val="000000"/>
                </a:solidFill>
              </a:ln>
            </p:spPr>
            <p:txBody>
              <a:bodyPr wrap="square" lIns="0" tIns="0" rIns="0" bIns="0" rtlCol="0"/>
              <a:lstStyle/>
              <a:p>
                <a:endParaRPr sz="1588"/>
              </a:p>
            </p:txBody>
          </p:sp>
        </p:grpSp>
        <p:sp>
          <p:nvSpPr>
            <p:cNvPr id="30" name="object 30"/>
            <p:cNvSpPr txBox="1"/>
            <p:nvPr/>
          </p:nvSpPr>
          <p:spPr>
            <a:xfrm>
              <a:off x="2492475" y="2317359"/>
              <a:ext cx="382121" cy="215608"/>
            </a:xfrm>
            <a:prstGeom prst="rect">
              <a:avLst/>
            </a:prstGeom>
            <a:ln w="30479">
              <a:solidFill>
                <a:srgbClr val="000000"/>
              </a:solidFill>
            </a:ln>
          </p:spPr>
          <p:txBody>
            <a:bodyPr vert="horz" wrap="square" lIns="0" tIns="52106" rIns="0" bIns="0" rtlCol="0">
              <a:spAutoFit/>
            </a:bodyPr>
            <a:lstStyle/>
            <a:p>
              <a:pPr marL="26896">
                <a:spcBef>
                  <a:spcPts val="409"/>
                </a:spcBef>
              </a:pPr>
              <a:r>
                <a:rPr sz="1059" b="1" spc="-9" dirty="0">
                  <a:latin typeface="Times New Roman"/>
                  <a:cs typeface="Times New Roman"/>
                </a:rPr>
                <a:t>Ifetch</a:t>
              </a:r>
              <a:endParaRPr sz="1059">
                <a:latin typeface="Times New Roman"/>
                <a:cs typeface="Times New Roman"/>
              </a:endParaRPr>
            </a:p>
          </p:txBody>
        </p:sp>
        <p:grpSp>
          <p:nvGrpSpPr>
            <p:cNvPr id="31" name="object 31"/>
            <p:cNvGrpSpPr/>
            <p:nvPr/>
          </p:nvGrpSpPr>
          <p:grpSpPr>
            <a:xfrm>
              <a:off x="2979610" y="2157907"/>
              <a:ext cx="2744881" cy="640416"/>
              <a:chOff x="3224491" y="2445627"/>
              <a:chExt cx="3110865" cy="725805"/>
            </a:xfrm>
          </p:grpSpPr>
          <p:sp>
            <p:nvSpPr>
              <p:cNvPr id="32" name="object 32"/>
              <p:cNvSpPr/>
              <p:nvPr/>
            </p:nvSpPr>
            <p:spPr>
              <a:xfrm>
                <a:off x="4038734" y="2460867"/>
                <a:ext cx="86995" cy="695325"/>
              </a:xfrm>
              <a:custGeom>
                <a:avLst/>
                <a:gdLst/>
                <a:ahLst/>
                <a:cxnLst/>
                <a:rect l="l" t="t" r="r" b="b"/>
                <a:pathLst>
                  <a:path w="86995" h="695325">
                    <a:moveTo>
                      <a:pt x="86901" y="0"/>
                    </a:moveTo>
                    <a:lnTo>
                      <a:pt x="0" y="0"/>
                    </a:lnTo>
                    <a:lnTo>
                      <a:pt x="0" y="694987"/>
                    </a:lnTo>
                    <a:lnTo>
                      <a:pt x="86901" y="694987"/>
                    </a:lnTo>
                    <a:lnTo>
                      <a:pt x="86901" y="0"/>
                    </a:lnTo>
                    <a:close/>
                  </a:path>
                </a:pathLst>
              </a:custGeom>
              <a:solidFill>
                <a:srgbClr val="00FF00"/>
              </a:solidFill>
            </p:spPr>
            <p:txBody>
              <a:bodyPr wrap="square" lIns="0" tIns="0" rIns="0" bIns="0" rtlCol="0"/>
              <a:lstStyle/>
              <a:p>
                <a:endParaRPr sz="1588"/>
              </a:p>
            </p:txBody>
          </p:sp>
          <p:sp>
            <p:nvSpPr>
              <p:cNvPr id="33" name="object 33"/>
              <p:cNvSpPr/>
              <p:nvPr/>
            </p:nvSpPr>
            <p:spPr>
              <a:xfrm>
                <a:off x="4038734" y="2460867"/>
                <a:ext cx="86995" cy="695325"/>
              </a:xfrm>
              <a:custGeom>
                <a:avLst/>
                <a:gdLst/>
                <a:ahLst/>
                <a:cxnLst/>
                <a:rect l="l" t="t" r="r" b="b"/>
                <a:pathLst>
                  <a:path w="86995" h="695325">
                    <a:moveTo>
                      <a:pt x="0" y="0"/>
                    </a:moveTo>
                    <a:lnTo>
                      <a:pt x="86900" y="0"/>
                    </a:lnTo>
                    <a:lnTo>
                      <a:pt x="8690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4" name="object 34"/>
              <p:cNvSpPr/>
              <p:nvPr/>
            </p:nvSpPr>
            <p:spPr>
              <a:xfrm>
                <a:off x="5643981" y="2460867"/>
                <a:ext cx="86995" cy="695325"/>
              </a:xfrm>
              <a:custGeom>
                <a:avLst/>
                <a:gdLst/>
                <a:ahLst/>
                <a:cxnLst/>
                <a:rect l="l" t="t" r="r" b="b"/>
                <a:pathLst>
                  <a:path w="86995" h="695325">
                    <a:moveTo>
                      <a:pt x="86899" y="0"/>
                    </a:moveTo>
                    <a:lnTo>
                      <a:pt x="0" y="0"/>
                    </a:lnTo>
                    <a:lnTo>
                      <a:pt x="0" y="694987"/>
                    </a:lnTo>
                    <a:lnTo>
                      <a:pt x="86899" y="694987"/>
                    </a:lnTo>
                    <a:lnTo>
                      <a:pt x="86899" y="0"/>
                    </a:lnTo>
                    <a:close/>
                  </a:path>
                </a:pathLst>
              </a:custGeom>
              <a:solidFill>
                <a:srgbClr val="00FF00"/>
              </a:solidFill>
            </p:spPr>
            <p:txBody>
              <a:bodyPr wrap="square" lIns="0" tIns="0" rIns="0" bIns="0" rtlCol="0"/>
              <a:lstStyle/>
              <a:p>
                <a:endParaRPr sz="1588"/>
              </a:p>
            </p:txBody>
          </p:sp>
          <p:sp>
            <p:nvSpPr>
              <p:cNvPr id="35" name="object 35"/>
              <p:cNvSpPr/>
              <p:nvPr/>
            </p:nvSpPr>
            <p:spPr>
              <a:xfrm>
                <a:off x="5643981" y="2460867"/>
                <a:ext cx="86995" cy="695325"/>
              </a:xfrm>
              <a:custGeom>
                <a:avLst/>
                <a:gdLst/>
                <a:ahLst/>
                <a:cxnLst/>
                <a:rect l="l" t="t" r="r" b="b"/>
                <a:pathLst>
                  <a:path w="86995" h="695325">
                    <a:moveTo>
                      <a:pt x="0" y="0"/>
                    </a:moveTo>
                    <a:lnTo>
                      <a:pt x="86900" y="0"/>
                    </a:lnTo>
                    <a:lnTo>
                      <a:pt x="8690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6" name="object 36"/>
              <p:cNvSpPr/>
              <p:nvPr/>
            </p:nvSpPr>
            <p:spPr>
              <a:xfrm>
                <a:off x="3239731" y="2460867"/>
                <a:ext cx="86995" cy="695325"/>
              </a:xfrm>
              <a:custGeom>
                <a:avLst/>
                <a:gdLst/>
                <a:ahLst/>
                <a:cxnLst/>
                <a:rect l="l" t="t" r="r" b="b"/>
                <a:pathLst>
                  <a:path w="86995" h="695325">
                    <a:moveTo>
                      <a:pt x="86901" y="0"/>
                    </a:moveTo>
                    <a:lnTo>
                      <a:pt x="0" y="0"/>
                    </a:lnTo>
                    <a:lnTo>
                      <a:pt x="0" y="694987"/>
                    </a:lnTo>
                    <a:lnTo>
                      <a:pt x="86901" y="694987"/>
                    </a:lnTo>
                    <a:lnTo>
                      <a:pt x="86901" y="0"/>
                    </a:lnTo>
                    <a:close/>
                  </a:path>
                </a:pathLst>
              </a:custGeom>
              <a:solidFill>
                <a:srgbClr val="00FF00"/>
              </a:solidFill>
            </p:spPr>
            <p:txBody>
              <a:bodyPr wrap="square" lIns="0" tIns="0" rIns="0" bIns="0" rtlCol="0"/>
              <a:lstStyle/>
              <a:p>
                <a:endParaRPr sz="1588"/>
              </a:p>
            </p:txBody>
          </p:sp>
          <p:sp>
            <p:nvSpPr>
              <p:cNvPr id="37" name="object 37"/>
              <p:cNvSpPr/>
              <p:nvPr/>
            </p:nvSpPr>
            <p:spPr>
              <a:xfrm>
                <a:off x="3239731" y="2460867"/>
                <a:ext cx="86995" cy="695325"/>
              </a:xfrm>
              <a:custGeom>
                <a:avLst/>
                <a:gdLst/>
                <a:ahLst/>
                <a:cxnLst/>
                <a:rect l="l" t="t" r="r" b="b"/>
                <a:pathLst>
                  <a:path w="86995" h="695325">
                    <a:moveTo>
                      <a:pt x="0" y="0"/>
                    </a:moveTo>
                    <a:lnTo>
                      <a:pt x="86900" y="0"/>
                    </a:lnTo>
                    <a:lnTo>
                      <a:pt x="8690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8" name="object 38"/>
              <p:cNvSpPr/>
              <p:nvPr/>
            </p:nvSpPr>
            <p:spPr>
              <a:xfrm>
                <a:off x="4841358" y="2464949"/>
                <a:ext cx="85725" cy="685800"/>
              </a:xfrm>
              <a:custGeom>
                <a:avLst/>
                <a:gdLst/>
                <a:ahLst/>
                <a:cxnLst/>
                <a:rect l="l" t="t" r="r" b="b"/>
                <a:pathLst>
                  <a:path w="85725" h="685800">
                    <a:moveTo>
                      <a:pt x="85693" y="0"/>
                    </a:moveTo>
                    <a:lnTo>
                      <a:pt x="0" y="0"/>
                    </a:lnTo>
                    <a:lnTo>
                      <a:pt x="0" y="685802"/>
                    </a:lnTo>
                    <a:lnTo>
                      <a:pt x="85693" y="685802"/>
                    </a:lnTo>
                    <a:lnTo>
                      <a:pt x="85693" y="0"/>
                    </a:lnTo>
                    <a:close/>
                  </a:path>
                </a:pathLst>
              </a:custGeom>
              <a:solidFill>
                <a:srgbClr val="00FF00"/>
              </a:solidFill>
            </p:spPr>
            <p:txBody>
              <a:bodyPr wrap="square" lIns="0" tIns="0" rIns="0" bIns="0" rtlCol="0"/>
              <a:lstStyle/>
              <a:p>
                <a:endParaRPr sz="1588"/>
              </a:p>
            </p:txBody>
          </p:sp>
          <p:sp>
            <p:nvSpPr>
              <p:cNvPr id="39" name="object 39"/>
              <p:cNvSpPr/>
              <p:nvPr/>
            </p:nvSpPr>
            <p:spPr>
              <a:xfrm>
                <a:off x="4841358" y="2464949"/>
                <a:ext cx="85725" cy="685800"/>
              </a:xfrm>
              <a:custGeom>
                <a:avLst/>
                <a:gdLst/>
                <a:ahLst/>
                <a:cxnLst/>
                <a:rect l="l" t="t" r="r" b="b"/>
                <a:pathLst>
                  <a:path w="85725" h="685800">
                    <a:moveTo>
                      <a:pt x="0" y="0"/>
                    </a:moveTo>
                    <a:lnTo>
                      <a:pt x="85693" y="0"/>
                    </a:lnTo>
                    <a:lnTo>
                      <a:pt x="85693"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40" name="object 40"/>
              <p:cNvSpPr/>
              <p:nvPr/>
            </p:nvSpPr>
            <p:spPr>
              <a:xfrm>
                <a:off x="5886456" y="2612157"/>
                <a:ext cx="217170" cy="363220"/>
              </a:xfrm>
              <a:custGeom>
                <a:avLst/>
                <a:gdLst/>
                <a:ahLst/>
                <a:cxnLst/>
                <a:rect l="l" t="t" r="r" b="b"/>
                <a:pathLst>
                  <a:path w="217170" h="363219">
                    <a:moveTo>
                      <a:pt x="216833" y="0"/>
                    </a:moveTo>
                    <a:lnTo>
                      <a:pt x="0" y="0"/>
                    </a:lnTo>
                    <a:lnTo>
                      <a:pt x="0" y="362942"/>
                    </a:lnTo>
                    <a:lnTo>
                      <a:pt x="216833" y="362942"/>
                    </a:lnTo>
                    <a:lnTo>
                      <a:pt x="216833" y="0"/>
                    </a:lnTo>
                    <a:close/>
                  </a:path>
                </a:pathLst>
              </a:custGeom>
              <a:solidFill>
                <a:srgbClr val="0099FF"/>
              </a:solidFill>
            </p:spPr>
            <p:txBody>
              <a:bodyPr wrap="square" lIns="0" tIns="0" rIns="0" bIns="0" rtlCol="0"/>
              <a:lstStyle/>
              <a:p>
                <a:endParaRPr sz="1588"/>
              </a:p>
            </p:txBody>
          </p:sp>
          <p:sp>
            <p:nvSpPr>
              <p:cNvPr id="41" name="object 41"/>
              <p:cNvSpPr/>
              <p:nvPr/>
            </p:nvSpPr>
            <p:spPr>
              <a:xfrm>
                <a:off x="5886455" y="2612157"/>
                <a:ext cx="433705" cy="367665"/>
              </a:xfrm>
              <a:custGeom>
                <a:avLst/>
                <a:gdLst/>
                <a:ahLst/>
                <a:cxnLst/>
                <a:rect l="l" t="t" r="r" b="b"/>
                <a:pathLst>
                  <a:path w="433704" h="367664">
                    <a:moveTo>
                      <a:pt x="433666" y="0"/>
                    </a:moveTo>
                    <a:lnTo>
                      <a:pt x="0" y="0"/>
                    </a:lnTo>
                    <a:lnTo>
                      <a:pt x="0" y="367192"/>
                    </a:lnTo>
                    <a:lnTo>
                      <a:pt x="433666" y="367192"/>
                    </a:lnTo>
                    <a:lnTo>
                      <a:pt x="433666" y="0"/>
                    </a:lnTo>
                    <a:close/>
                  </a:path>
                </a:pathLst>
              </a:custGeom>
              <a:ln w="30479">
                <a:solidFill>
                  <a:srgbClr val="000000"/>
                </a:solidFill>
              </a:ln>
            </p:spPr>
            <p:txBody>
              <a:bodyPr wrap="square" lIns="0" tIns="0" rIns="0" bIns="0" rtlCol="0"/>
              <a:lstStyle/>
              <a:p>
                <a:endParaRPr sz="1588"/>
              </a:p>
            </p:txBody>
          </p:sp>
        </p:grpSp>
        <p:sp>
          <p:nvSpPr>
            <p:cNvPr id="42" name="object 42"/>
            <p:cNvSpPr txBox="1"/>
            <p:nvPr/>
          </p:nvSpPr>
          <p:spPr>
            <a:xfrm>
              <a:off x="5401890" y="2344718"/>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43" name="object 43"/>
            <p:cNvGrpSpPr/>
            <p:nvPr/>
          </p:nvGrpSpPr>
          <p:grpSpPr>
            <a:xfrm>
              <a:off x="3942708" y="3048020"/>
              <a:ext cx="406213" cy="351304"/>
              <a:chOff x="4316002" y="3454422"/>
              <a:chExt cx="460375" cy="398145"/>
            </a:xfrm>
          </p:grpSpPr>
          <p:sp>
            <p:nvSpPr>
              <p:cNvPr id="44" name="object 44"/>
              <p:cNvSpPr/>
              <p:nvPr/>
            </p:nvSpPr>
            <p:spPr>
              <a:xfrm>
                <a:off x="4546131" y="3469662"/>
                <a:ext cx="215265" cy="363220"/>
              </a:xfrm>
              <a:custGeom>
                <a:avLst/>
                <a:gdLst/>
                <a:ahLst/>
                <a:cxnLst/>
                <a:rect l="l" t="t" r="r" b="b"/>
                <a:pathLst>
                  <a:path w="215264" h="363220">
                    <a:moveTo>
                      <a:pt x="214887" y="0"/>
                    </a:moveTo>
                    <a:lnTo>
                      <a:pt x="0" y="0"/>
                    </a:lnTo>
                    <a:lnTo>
                      <a:pt x="0" y="362943"/>
                    </a:lnTo>
                    <a:lnTo>
                      <a:pt x="214887" y="362943"/>
                    </a:lnTo>
                    <a:lnTo>
                      <a:pt x="214887" y="0"/>
                    </a:lnTo>
                    <a:close/>
                  </a:path>
                </a:pathLst>
              </a:custGeom>
              <a:solidFill>
                <a:srgbClr val="0099FF"/>
              </a:solidFill>
            </p:spPr>
            <p:txBody>
              <a:bodyPr wrap="square" lIns="0" tIns="0" rIns="0" bIns="0" rtlCol="0"/>
              <a:lstStyle/>
              <a:p>
                <a:endParaRPr sz="1588"/>
              </a:p>
            </p:txBody>
          </p:sp>
          <p:sp>
            <p:nvSpPr>
              <p:cNvPr id="45" name="object 45"/>
              <p:cNvSpPr/>
              <p:nvPr/>
            </p:nvSpPr>
            <p:spPr>
              <a:xfrm>
                <a:off x="4331242" y="3469662"/>
                <a:ext cx="429895" cy="367665"/>
              </a:xfrm>
              <a:custGeom>
                <a:avLst/>
                <a:gdLst/>
                <a:ahLst/>
                <a:cxnLst/>
                <a:rect l="l" t="t" r="r" b="b"/>
                <a:pathLst>
                  <a:path w="429895" h="367664">
                    <a:moveTo>
                      <a:pt x="0" y="0"/>
                    </a:moveTo>
                    <a:lnTo>
                      <a:pt x="429777" y="0"/>
                    </a:lnTo>
                    <a:lnTo>
                      <a:pt x="429777"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46" name="object 46"/>
            <p:cNvSpPr txBox="1"/>
            <p:nvPr/>
          </p:nvSpPr>
          <p:spPr>
            <a:xfrm>
              <a:off x="4026319" y="310044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47" name="object 47"/>
            <p:cNvGrpSpPr/>
            <p:nvPr/>
          </p:nvGrpSpPr>
          <p:grpSpPr>
            <a:xfrm>
              <a:off x="4323639" y="2951738"/>
              <a:ext cx="712134" cy="542925"/>
              <a:chOff x="4747724" y="3345302"/>
              <a:chExt cx="807085" cy="615315"/>
            </a:xfrm>
          </p:grpSpPr>
          <p:sp>
            <p:nvSpPr>
              <p:cNvPr id="48" name="object 48"/>
              <p:cNvSpPr/>
              <p:nvPr/>
            </p:nvSpPr>
            <p:spPr>
              <a:xfrm>
                <a:off x="4762964" y="3543732"/>
                <a:ext cx="474980" cy="219075"/>
              </a:xfrm>
              <a:custGeom>
                <a:avLst/>
                <a:gdLst/>
                <a:ahLst/>
                <a:cxnLst/>
                <a:rect l="l" t="t" r="r" b="b"/>
                <a:pathLst>
                  <a:path w="474979" h="219075">
                    <a:moveTo>
                      <a:pt x="165943" y="0"/>
                    </a:moveTo>
                    <a:lnTo>
                      <a:pt x="474504" y="0"/>
                    </a:lnTo>
                  </a:path>
                  <a:path w="474979" h="219075">
                    <a:moveTo>
                      <a:pt x="0" y="0"/>
                    </a:moveTo>
                    <a:lnTo>
                      <a:pt x="78919" y="0"/>
                    </a:lnTo>
                  </a:path>
                  <a:path w="474979" h="219075">
                    <a:moveTo>
                      <a:pt x="165943" y="219055"/>
                    </a:moveTo>
                    <a:lnTo>
                      <a:pt x="474504" y="219055"/>
                    </a:lnTo>
                  </a:path>
                  <a:path w="474979" h="219075">
                    <a:moveTo>
                      <a:pt x="0" y="219055"/>
                    </a:moveTo>
                    <a:lnTo>
                      <a:pt x="78919" y="219055"/>
                    </a:lnTo>
                  </a:path>
                </a:pathLst>
              </a:custGeom>
              <a:ln w="30481">
                <a:solidFill>
                  <a:srgbClr val="000000"/>
                </a:solidFill>
              </a:ln>
            </p:spPr>
            <p:txBody>
              <a:bodyPr wrap="square" lIns="0" tIns="0" rIns="0" bIns="0" rtlCol="0"/>
              <a:lstStyle/>
              <a:p>
                <a:endParaRPr sz="1588"/>
              </a:p>
            </p:txBody>
          </p:sp>
          <p:sp>
            <p:nvSpPr>
              <p:cNvPr id="49" name="object 49"/>
              <p:cNvSpPr/>
              <p:nvPr/>
            </p:nvSpPr>
            <p:spPr>
              <a:xfrm>
                <a:off x="5176156" y="3360543"/>
                <a:ext cx="363855" cy="584835"/>
              </a:xfrm>
              <a:custGeom>
                <a:avLst/>
                <a:gdLst/>
                <a:ahLst/>
                <a:cxnLst/>
                <a:rect l="l" t="t" r="r" b="b"/>
                <a:pathLst>
                  <a:path w="363854" h="584835">
                    <a:moveTo>
                      <a:pt x="0" y="0"/>
                    </a:moveTo>
                    <a:lnTo>
                      <a:pt x="0" y="584671"/>
                    </a:lnTo>
                    <a:lnTo>
                      <a:pt x="363278" y="438503"/>
                    </a:lnTo>
                    <a:lnTo>
                      <a:pt x="363278" y="146168"/>
                    </a:lnTo>
                    <a:lnTo>
                      <a:pt x="0" y="0"/>
                    </a:lnTo>
                    <a:close/>
                  </a:path>
                </a:pathLst>
              </a:custGeom>
              <a:solidFill>
                <a:srgbClr val="FFFFFF"/>
              </a:solidFill>
            </p:spPr>
            <p:txBody>
              <a:bodyPr wrap="square" lIns="0" tIns="0" rIns="0" bIns="0" rtlCol="0"/>
              <a:lstStyle/>
              <a:p>
                <a:endParaRPr sz="1588"/>
              </a:p>
            </p:txBody>
          </p:sp>
          <p:sp>
            <p:nvSpPr>
              <p:cNvPr id="50" name="object 50"/>
              <p:cNvSpPr/>
              <p:nvPr/>
            </p:nvSpPr>
            <p:spPr>
              <a:xfrm>
                <a:off x="5176156" y="3360542"/>
                <a:ext cx="363855" cy="584835"/>
              </a:xfrm>
              <a:custGeom>
                <a:avLst/>
                <a:gdLst/>
                <a:ahLst/>
                <a:cxnLst/>
                <a:rect l="l" t="t" r="r" b="b"/>
                <a:pathLst>
                  <a:path w="363854" h="584835">
                    <a:moveTo>
                      <a:pt x="0" y="584671"/>
                    </a:moveTo>
                    <a:lnTo>
                      <a:pt x="363277" y="438503"/>
                    </a:lnTo>
                    <a:lnTo>
                      <a:pt x="363277"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51" name="object 51"/>
              <p:cNvSpPr/>
              <p:nvPr/>
            </p:nvSpPr>
            <p:spPr>
              <a:xfrm>
                <a:off x="5151902" y="3558858"/>
                <a:ext cx="194310" cy="189230"/>
              </a:xfrm>
              <a:custGeom>
                <a:avLst/>
                <a:gdLst/>
                <a:ahLst/>
                <a:cxnLst/>
                <a:rect l="l" t="t" r="r" b="b"/>
                <a:pathLst>
                  <a:path w="194310" h="189229">
                    <a:moveTo>
                      <a:pt x="0" y="0"/>
                    </a:moveTo>
                    <a:lnTo>
                      <a:pt x="0" y="188800"/>
                    </a:lnTo>
                    <a:lnTo>
                      <a:pt x="194035" y="94400"/>
                    </a:lnTo>
                    <a:lnTo>
                      <a:pt x="0" y="0"/>
                    </a:lnTo>
                    <a:close/>
                  </a:path>
                </a:pathLst>
              </a:custGeom>
              <a:solidFill>
                <a:srgbClr val="FFFFFF"/>
              </a:solidFill>
            </p:spPr>
            <p:txBody>
              <a:bodyPr wrap="square" lIns="0" tIns="0" rIns="0" bIns="0" rtlCol="0"/>
              <a:lstStyle/>
              <a:p>
                <a:endParaRPr sz="1588"/>
              </a:p>
            </p:txBody>
          </p:sp>
          <p:sp>
            <p:nvSpPr>
              <p:cNvPr id="52" name="object 52"/>
              <p:cNvSpPr/>
              <p:nvPr/>
            </p:nvSpPr>
            <p:spPr>
              <a:xfrm>
                <a:off x="5176157" y="3569897"/>
                <a:ext cx="149860" cy="166370"/>
              </a:xfrm>
              <a:custGeom>
                <a:avLst/>
                <a:gdLst/>
                <a:ahLst/>
                <a:cxnLst/>
                <a:rect l="l" t="t" r="r" b="b"/>
                <a:pathLst>
                  <a:path w="149860" h="166370">
                    <a:moveTo>
                      <a:pt x="0" y="0"/>
                    </a:moveTo>
                    <a:lnTo>
                      <a:pt x="149838" y="82980"/>
                    </a:lnTo>
                    <a:lnTo>
                      <a:pt x="0" y="165961"/>
                    </a:lnTo>
                  </a:path>
                </a:pathLst>
              </a:custGeom>
              <a:ln w="30479">
                <a:solidFill>
                  <a:srgbClr val="000000"/>
                </a:solidFill>
              </a:ln>
            </p:spPr>
            <p:txBody>
              <a:bodyPr wrap="square" lIns="0" tIns="0" rIns="0" bIns="0" rtlCol="0"/>
              <a:lstStyle/>
              <a:p>
                <a:endParaRPr sz="1588"/>
              </a:p>
            </p:txBody>
          </p:sp>
        </p:grpSp>
        <p:sp>
          <p:nvSpPr>
            <p:cNvPr id="53" name="object 53"/>
            <p:cNvSpPr txBox="1"/>
            <p:nvPr/>
          </p:nvSpPr>
          <p:spPr>
            <a:xfrm>
              <a:off x="4818704" y="3061642"/>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54" name="object 54"/>
            <p:cNvGrpSpPr/>
            <p:nvPr/>
          </p:nvGrpSpPr>
          <p:grpSpPr>
            <a:xfrm>
              <a:off x="5011717" y="3049410"/>
              <a:ext cx="1051672" cy="349624"/>
              <a:chOff x="5527545" y="3455998"/>
              <a:chExt cx="1191895" cy="396240"/>
            </a:xfrm>
          </p:grpSpPr>
          <p:sp>
            <p:nvSpPr>
              <p:cNvPr id="55" name="object 55"/>
              <p:cNvSpPr/>
              <p:nvPr/>
            </p:nvSpPr>
            <p:spPr>
              <a:xfrm>
                <a:off x="5542785" y="3654048"/>
                <a:ext cx="1161415" cy="0"/>
              </a:xfrm>
              <a:custGeom>
                <a:avLst/>
                <a:gdLst/>
                <a:ahLst/>
                <a:cxnLst/>
                <a:rect l="l" t="t" r="r" b="b"/>
                <a:pathLst>
                  <a:path w="1161415">
                    <a:moveTo>
                      <a:pt x="187465" y="0"/>
                    </a:moveTo>
                    <a:lnTo>
                      <a:pt x="349730" y="0"/>
                    </a:lnTo>
                  </a:path>
                  <a:path w="1161415">
                    <a:moveTo>
                      <a:pt x="0" y="0"/>
                    </a:moveTo>
                    <a:lnTo>
                      <a:pt x="101650" y="0"/>
                    </a:lnTo>
                  </a:path>
                  <a:path w="1161415">
                    <a:moveTo>
                      <a:pt x="822604" y="0"/>
                    </a:moveTo>
                    <a:lnTo>
                      <a:pt x="976722" y="0"/>
                    </a:lnTo>
                  </a:path>
                  <a:path w="1161415">
                    <a:moveTo>
                      <a:pt x="1063746" y="0"/>
                    </a:moveTo>
                    <a:lnTo>
                      <a:pt x="1160980" y="0"/>
                    </a:lnTo>
                  </a:path>
                </a:pathLst>
              </a:custGeom>
              <a:ln w="30481">
                <a:solidFill>
                  <a:srgbClr val="000000"/>
                </a:solidFill>
              </a:ln>
            </p:spPr>
            <p:txBody>
              <a:bodyPr wrap="square" lIns="0" tIns="0" rIns="0" bIns="0" rtlCol="0"/>
              <a:lstStyle/>
              <a:p>
                <a:endParaRPr sz="1588"/>
              </a:p>
            </p:txBody>
          </p:sp>
          <p:sp>
            <p:nvSpPr>
              <p:cNvPr id="56" name="object 56"/>
              <p:cNvSpPr/>
              <p:nvPr/>
            </p:nvSpPr>
            <p:spPr>
              <a:xfrm>
                <a:off x="5892515" y="3471238"/>
                <a:ext cx="431165" cy="365760"/>
              </a:xfrm>
              <a:custGeom>
                <a:avLst/>
                <a:gdLst/>
                <a:ahLst/>
                <a:cxnLst/>
                <a:rect l="l" t="t" r="r" b="b"/>
                <a:pathLst>
                  <a:path w="431164" h="365760">
                    <a:moveTo>
                      <a:pt x="0" y="0"/>
                    </a:moveTo>
                    <a:lnTo>
                      <a:pt x="430700" y="0"/>
                    </a:lnTo>
                    <a:lnTo>
                      <a:pt x="430700"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57" name="object 57"/>
            <p:cNvSpPr txBox="1"/>
            <p:nvPr/>
          </p:nvSpPr>
          <p:spPr>
            <a:xfrm>
              <a:off x="5315508" y="3103133"/>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58" name="object 58"/>
            <p:cNvGrpSpPr/>
            <p:nvPr/>
          </p:nvGrpSpPr>
          <p:grpSpPr>
            <a:xfrm>
              <a:off x="3581907" y="3113376"/>
              <a:ext cx="2311774" cy="381559"/>
              <a:chOff x="3907095" y="3528492"/>
              <a:chExt cx="2620010" cy="432434"/>
            </a:xfrm>
          </p:grpSpPr>
          <p:sp>
            <p:nvSpPr>
              <p:cNvPr id="59" name="object 59"/>
              <p:cNvSpPr/>
              <p:nvPr/>
            </p:nvSpPr>
            <p:spPr>
              <a:xfrm>
                <a:off x="5846157" y="3654047"/>
                <a:ext cx="665480" cy="292100"/>
              </a:xfrm>
              <a:custGeom>
                <a:avLst/>
                <a:gdLst/>
                <a:ahLst/>
                <a:cxnLst/>
                <a:rect l="l" t="t" r="r" b="b"/>
                <a:pathLst>
                  <a:path w="665479" h="292100">
                    <a:moveTo>
                      <a:pt x="0" y="0"/>
                    </a:moveTo>
                    <a:lnTo>
                      <a:pt x="0" y="291547"/>
                    </a:lnTo>
                    <a:lnTo>
                      <a:pt x="586839" y="291547"/>
                    </a:lnTo>
                    <a:lnTo>
                      <a:pt x="586839" y="109330"/>
                    </a:lnTo>
                    <a:lnTo>
                      <a:pt x="665084" y="109330"/>
                    </a:lnTo>
                  </a:path>
                </a:pathLst>
              </a:custGeom>
              <a:ln w="30479">
                <a:solidFill>
                  <a:srgbClr val="000000"/>
                </a:solidFill>
              </a:ln>
            </p:spPr>
            <p:txBody>
              <a:bodyPr wrap="square" lIns="0" tIns="0" rIns="0" bIns="0" rtlCol="0"/>
              <a:lstStyle/>
              <a:p>
                <a:endParaRPr sz="1588"/>
              </a:p>
            </p:txBody>
          </p:sp>
          <p:sp>
            <p:nvSpPr>
              <p:cNvPr id="60" name="object 60"/>
              <p:cNvSpPr/>
              <p:nvPr/>
            </p:nvSpPr>
            <p:spPr>
              <a:xfrm>
                <a:off x="3922335" y="3543732"/>
                <a:ext cx="408940" cy="220979"/>
              </a:xfrm>
              <a:custGeom>
                <a:avLst/>
                <a:gdLst/>
                <a:ahLst/>
                <a:cxnLst/>
                <a:rect l="l" t="t" r="r" b="b"/>
                <a:pathLst>
                  <a:path w="408939" h="220979">
                    <a:moveTo>
                      <a:pt x="210063" y="220632"/>
                    </a:moveTo>
                    <a:lnTo>
                      <a:pt x="408907" y="220632"/>
                    </a:lnTo>
                  </a:path>
                  <a:path w="408939" h="220979">
                    <a:moveTo>
                      <a:pt x="0" y="220632"/>
                    </a:moveTo>
                    <a:lnTo>
                      <a:pt x="123038" y="220632"/>
                    </a:lnTo>
                  </a:path>
                  <a:path w="408939" h="220979">
                    <a:moveTo>
                      <a:pt x="210063" y="0"/>
                    </a:moveTo>
                    <a:lnTo>
                      <a:pt x="406962" y="0"/>
                    </a:lnTo>
                  </a:path>
                  <a:path w="408939" h="220979">
                    <a:moveTo>
                      <a:pt x="0" y="0"/>
                    </a:moveTo>
                    <a:lnTo>
                      <a:pt x="123038" y="0"/>
                    </a:lnTo>
                  </a:path>
                </a:pathLst>
              </a:custGeom>
              <a:ln w="30481">
                <a:solidFill>
                  <a:srgbClr val="000000"/>
                </a:solidFill>
              </a:ln>
            </p:spPr>
            <p:txBody>
              <a:bodyPr wrap="square" lIns="0" tIns="0" rIns="0" bIns="0" rtlCol="0"/>
              <a:lstStyle/>
              <a:p>
                <a:endParaRPr sz="1588"/>
              </a:p>
            </p:txBody>
          </p:sp>
        </p:grpSp>
        <p:sp>
          <p:nvSpPr>
            <p:cNvPr id="61" name="object 61"/>
            <p:cNvSpPr txBox="1"/>
            <p:nvPr/>
          </p:nvSpPr>
          <p:spPr>
            <a:xfrm>
              <a:off x="3213630" y="3062858"/>
              <a:ext cx="382121" cy="215043"/>
            </a:xfrm>
            <a:prstGeom prst="rect">
              <a:avLst/>
            </a:prstGeom>
            <a:ln w="30479">
              <a:solidFill>
                <a:srgbClr val="000000"/>
              </a:solidFill>
            </a:ln>
          </p:spPr>
          <p:txBody>
            <a:bodyPr vert="horz" wrap="square" lIns="0" tIns="51546" rIns="0" bIns="0" rtlCol="0">
              <a:spAutoFit/>
            </a:bodyPr>
            <a:lstStyle/>
            <a:p>
              <a:pPr marL="26896">
                <a:spcBef>
                  <a:spcPts val="405"/>
                </a:spcBef>
              </a:pPr>
              <a:r>
                <a:rPr sz="1059" b="1" spc="-9" dirty="0">
                  <a:latin typeface="Times New Roman"/>
                  <a:cs typeface="Times New Roman"/>
                </a:rPr>
                <a:t>Ifetch</a:t>
              </a:r>
              <a:endParaRPr sz="1059">
                <a:latin typeface="Times New Roman"/>
                <a:cs typeface="Times New Roman"/>
              </a:endParaRPr>
            </a:p>
          </p:txBody>
        </p:sp>
        <p:grpSp>
          <p:nvGrpSpPr>
            <p:cNvPr id="62" name="object 62"/>
            <p:cNvGrpSpPr/>
            <p:nvPr/>
          </p:nvGrpSpPr>
          <p:grpSpPr>
            <a:xfrm>
              <a:off x="3690471" y="2903405"/>
              <a:ext cx="2755526" cy="640416"/>
              <a:chOff x="4030134" y="3290525"/>
              <a:chExt cx="3122930" cy="725805"/>
            </a:xfrm>
          </p:grpSpPr>
          <p:sp>
            <p:nvSpPr>
              <p:cNvPr id="63" name="object 63"/>
              <p:cNvSpPr/>
              <p:nvPr/>
            </p:nvSpPr>
            <p:spPr>
              <a:xfrm>
                <a:off x="4841883" y="3305765"/>
                <a:ext cx="87630" cy="695325"/>
              </a:xfrm>
              <a:custGeom>
                <a:avLst/>
                <a:gdLst/>
                <a:ahLst/>
                <a:cxnLst/>
                <a:rect l="l" t="t" r="r" b="b"/>
                <a:pathLst>
                  <a:path w="87629" h="695325">
                    <a:moveTo>
                      <a:pt x="87024" y="0"/>
                    </a:moveTo>
                    <a:lnTo>
                      <a:pt x="0" y="0"/>
                    </a:lnTo>
                    <a:lnTo>
                      <a:pt x="0" y="694988"/>
                    </a:lnTo>
                    <a:lnTo>
                      <a:pt x="87024" y="694988"/>
                    </a:lnTo>
                    <a:lnTo>
                      <a:pt x="87024" y="0"/>
                    </a:lnTo>
                    <a:close/>
                  </a:path>
                </a:pathLst>
              </a:custGeom>
              <a:solidFill>
                <a:srgbClr val="00FF00"/>
              </a:solidFill>
            </p:spPr>
            <p:txBody>
              <a:bodyPr wrap="square" lIns="0" tIns="0" rIns="0" bIns="0" rtlCol="0"/>
              <a:lstStyle/>
              <a:p>
                <a:endParaRPr sz="1588"/>
              </a:p>
            </p:txBody>
          </p:sp>
          <p:sp>
            <p:nvSpPr>
              <p:cNvPr id="64" name="object 64"/>
              <p:cNvSpPr/>
              <p:nvPr/>
            </p:nvSpPr>
            <p:spPr>
              <a:xfrm>
                <a:off x="4841883" y="3305765"/>
                <a:ext cx="87630" cy="695325"/>
              </a:xfrm>
              <a:custGeom>
                <a:avLst/>
                <a:gdLst/>
                <a:ahLst/>
                <a:cxnLst/>
                <a:rect l="l" t="t" r="r" b="b"/>
                <a:pathLst>
                  <a:path w="87629" h="695325">
                    <a:moveTo>
                      <a:pt x="0" y="0"/>
                    </a:moveTo>
                    <a:lnTo>
                      <a:pt x="87023" y="0"/>
                    </a:lnTo>
                    <a:lnTo>
                      <a:pt x="8702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65" name="object 65"/>
              <p:cNvSpPr/>
              <p:nvPr/>
            </p:nvSpPr>
            <p:spPr>
              <a:xfrm>
                <a:off x="6519508" y="3305765"/>
                <a:ext cx="87630" cy="695325"/>
              </a:xfrm>
              <a:custGeom>
                <a:avLst/>
                <a:gdLst/>
                <a:ahLst/>
                <a:cxnLst/>
                <a:rect l="l" t="t" r="r" b="b"/>
                <a:pathLst>
                  <a:path w="87629" h="695325">
                    <a:moveTo>
                      <a:pt x="87024" y="0"/>
                    </a:moveTo>
                    <a:lnTo>
                      <a:pt x="0" y="0"/>
                    </a:lnTo>
                    <a:lnTo>
                      <a:pt x="0" y="694988"/>
                    </a:lnTo>
                    <a:lnTo>
                      <a:pt x="87024" y="694988"/>
                    </a:lnTo>
                    <a:lnTo>
                      <a:pt x="87024" y="0"/>
                    </a:lnTo>
                    <a:close/>
                  </a:path>
                </a:pathLst>
              </a:custGeom>
              <a:solidFill>
                <a:srgbClr val="00FF00"/>
              </a:solidFill>
            </p:spPr>
            <p:txBody>
              <a:bodyPr wrap="square" lIns="0" tIns="0" rIns="0" bIns="0" rtlCol="0"/>
              <a:lstStyle/>
              <a:p>
                <a:endParaRPr sz="1588"/>
              </a:p>
            </p:txBody>
          </p:sp>
          <p:sp>
            <p:nvSpPr>
              <p:cNvPr id="66" name="object 66"/>
              <p:cNvSpPr/>
              <p:nvPr/>
            </p:nvSpPr>
            <p:spPr>
              <a:xfrm>
                <a:off x="6519508" y="3305765"/>
                <a:ext cx="87630" cy="695325"/>
              </a:xfrm>
              <a:custGeom>
                <a:avLst/>
                <a:gdLst/>
                <a:ahLst/>
                <a:cxnLst/>
                <a:rect l="l" t="t" r="r" b="b"/>
                <a:pathLst>
                  <a:path w="87629" h="695325">
                    <a:moveTo>
                      <a:pt x="0" y="0"/>
                    </a:moveTo>
                    <a:lnTo>
                      <a:pt x="87023" y="0"/>
                    </a:lnTo>
                    <a:lnTo>
                      <a:pt x="8702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67" name="object 67"/>
              <p:cNvSpPr/>
              <p:nvPr/>
            </p:nvSpPr>
            <p:spPr>
              <a:xfrm>
                <a:off x="4045374" y="3305765"/>
                <a:ext cx="87630" cy="695325"/>
              </a:xfrm>
              <a:custGeom>
                <a:avLst/>
                <a:gdLst/>
                <a:ahLst/>
                <a:cxnLst/>
                <a:rect l="l" t="t" r="r" b="b"/>
                <a:pathLst>
                  <a:path w="87629" h="695325">
                    <a:moveTo>
                      <a:pt x="87024" y="0"/>
                    </a:moveTo>
                    <a:lnTo>
                      <a:pt x="0" y="0"/>
                    </a:lnTo>
                    <a:lnTo>
                      <a:pt x="0" y="694988"/>
                    </a:lnTo>
                    <a:lnTo>
                      <a:pt x="87024" y="694988"/>
                    </a:lnTo>
                    <a:lnTo>
                      <a:pt x="87024" y="0"/>
                    </a:lnTo>
                    <a:close/>
                  </a:path>
                </a:pathLst>
              </a:custGeom>
              <a:solidFill>
                <a:srgbClr val="00FF00"/>
              </a:solidFill>
            </p:spPr>
            <p:txBody>
              <a:bodyPr wrap="square" lIns="0" tIns="0" rIns="0" bIns="0" rtlCol="0"/>
              <a:lstStyle/>
              <a:p>
                <a:endParaRPr sz="1588"/>
              </a:p>
            </p:txBody>
          </p:sp>
          <p:sp>
            <p:nvSpPr>
              <p:cNvPr id="68" name="object 68"/>
              <p:cNvSpPr/>
              <p:nvPr/>
            </p:nvSpPr>
            <p:spPr>
              <a:xfrm>
                <a:off x="4045374" y="3305765"/>
                <a:ext cx="87630" cy="695325"/>
              </a:xfrm>
              <a:custGeom>
                <a:avLst/>
                <a:gdLst/>
                <a:ahLst/>
                <a:cxnLst/>
                <a:rect l="l" t="t" r="r" b="b"/>
                <a:pathLst>
                  <a:path w="87629" h="695325">
                    <a:moveTo>
                      <a:pt x="0" y="0"/>
                    </a:moveTo>
                    <a:lnTo>
                      <a:pt x="87023" y="0"/>
                    </a:lnTo>
                    <a:lnTo>
                      <a:pt x="8702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69" name="object 69"/>
              <p:cNvSpPr/>
              <p:nvPr/>
            </p:nvSpPr>
            <p:spPr>
              <a:xfrm>
                <a:off x="5644436" y="3309847"/>
                <a:ext cx="86360" cy="685800"/>
              </a:xfrm>
              <a:custGeom>
                <a:avLst/>
                <a:gdLst/>
                <a:ahLst/>
                <a:cxnLst/>
                <a:rect l="l" t="t" r="r" b="b"/>
                <a:pathLst>
                  <a:path w="86360" h="685800">
                    <a:moveTo>
                      <a:pt x="85815" y="0"/>
                    </a:moveTo>
                    <a:lnTo>
                      <a:pt x="0" y="0"/>
                    </a:lnTo>
                    <a:lnTo>
                      <a:pt x="0" y="685803"/>
                    </a:lnTo>
                    <a:lnTo>
                      <a:pt x="85815" y="685803"/>
                    </a:lnTo>
                    <a:lnTo>
                      <a:pt x="85815" y="0"/>
                    </a:lnTo>
                    <a:close/>
                  </a:path>
                </a:pathLst>
              </a:custGeom>
              <a:solidFill>
                <a:srgbClr val="00FF00"/>
              </a:solidFill>
            </p:spPr>
            <p:txBody>
              <a:bodyPr wrap="square" lIns="0" tIns="0" rIns="0" bIns="0" rtlCol="0"/>
              <a:lstStyle/>
              <a:p>
                <a:endParaRPr sz="1588"/>
              </a:p>
            </p:txBody>
          </p:sp>
          <p:sp>
            <p:nvSpPr>
              <p:cNvPr id="70" name="object 70"/>
              <p:cNvSpPr/>
              <p:nvPr/>
            </p:nvSpPr>
            <p:spPr>
              <a:xfrm>
                <a:off x="5644436" y="3309847"/>
                <a:ext cx="86360" cy="685800"/>
              </a:xfrm>
              <a:custGeom>
                <a:avLst/>
                <a:gdLst/>
                <a:ahLst/>
                <a:cxnLst/>
                <a:rect l="l" t="t" r="r" b="b"/>
                <a:pathLst>
                  <a:path w="86360" h="685800">
                    <a:moveTo>
                      <a:pt x="0" y="0"/>
                    </a:moveTo>
                    <a:lnTo>
                      <a:pt x="85815" y="0"/>
                    </a:lnTo>
                    <a:lnTo>
                      <a:pt x="85815"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71" name="object 71"/>
              <p:cNvSpPr/>
              <p:nvPr/>
            </p:nvSpPr>
            <p:spPr>
              <a:xfrm>
                <a:off x="6703766" y="3457055"/>
                <a:ext cx="217170" cy="363220"/>
              </a:xfrm>
              <a:custGeom>
                <a:avLst/>
                <a:gdLst/>
                <a:ahLst/>
                <a:cxnLst/>
                <a:rect l="l" t="t" r="r" b="b"/>
                <a:pathLst>
                  <a:path w="217170" h="363220">
                    <a:moveTo>
                      <a:pt x="216833" y="0"/>
                    </a:moveTo>
                    <a:lnTo>
                      <a:pt x="0" y="0"/>
                    </a:lnTo>
                    <a:lnTo>
                      <a:pt x="0" y="362942"/>
                    </a:lnTo>
                    <a:lnTo>
                      <a:pt x="216833" y="362942"/>
                    </a:lnTo>
                    <a:lnTo>
                      <a:pt x="216833" y="0"/>
                    </a:lnTo>
                    <a:close/>
                  </a:path>
                </a:pathLst>
              </a:custGeom>
              <a:solidFill>
                <a:srgbClr val="0099FF"/>
              </a:solidFill>
            </p:spPr>
            <p:txBody>
              <a:bodyPr wrap="square" lIns="0" tIns="0" rIns="0" bIns="0" rtlCol="0"/>
              <a:lstStyle/>
              <a:p>
                <a:endParaRPr sz="1588"/>
              </a:p>
            </p:txBody>
          </p:sp>
          <p:sp>
            <p:nvSpPr>
              <p:cNvPr id="72" name="object 72"/>
              <p:cNvSpPr/>
              <p:nvPr/>
            </p:nvSpPr>
            <p:spPr>
              <a:xfrm>
                <a:off x="6703765" y="3457055"/>
                <a:ext cx="433705" cy="367665"/>
              </a:xfrm>
              <a:custGeom>
                <a:avLst/>
                <a:gdLst/>
                <a:ahLst/>
                <a:cxnLst/>
                <a:rect l="l" t="t" r="r" b="b"/>
                <a:pathLst>
                  <a:path w="433704" h="367664">
                    <a:moveTo>
                      <a:pt x="433666" y="0"/>
                    </a:moveTo>
                    <a:lnTo>
                      <a:pt x="0" y="0"/>
                    </a:lnTo>
                    <a:lnTo>
                      <a:pt x="0" y="367192"/>
                    </a:lnTo>
                    <a:lnTo>
                      <a:pt x="433666" y="367192"/>
                    </a:lnTo>
                    <a:lnTo>
                      <a:pt x="433666" y="0"/>
                    </a:lnTo>
                    <a:close/>
                  </a:path>
                </a:pathLst>
              </a:custGeom>
              <a:ln w="30479">
                <a:solidFill>
                  <a:srgbClr val="000000"/>
                </a:solidFill>
              </a:ln>
            </p:spPr>
            <p:txBody>
              <a:bodyPr wrap="square" lIns="0" tIns="0" rIns="0" bIns="0" rtlCol="0"/>
              <a:lstStyle/>
              <a:p>
                <a:endParaRPr sz="1588"/>
              </a:p>
            </p:txBody>
          </p:sp>
        </p:grpSp>
        <p:sp>
          <p:nvSpPr>
            <p:cNvPr id="73" name="object 73"/>
            <p:cNvSpPr txBox="1"/>
            <p:nvPr/>
          </p:nvSpPr>
          <p:spPr>
            <a:xfrm>
              <a:off x="6123046" y="3089686"/>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4" name="object 74"/>
            <p:cNvGrpSpPr/>
            <p:nvPr/>
          </p:nvGrpSpPr>
          <p:grpSpPr>
            <a:xfrm>
              <a:off x="4650460" y="3782222"/>
              <a:ext cx="406213" cy="351304"/>
              <a:chOff x="5118121" y="4286517"/>
              <a:chExt cx="460375" cy="398145"/>
            </a:xfrm>
          </p:grpSpPr>
          <p:sp>
            <p:nvSpPr>
              <p:cNvPr id="75" name="object 75"/>
              <p:cNvSpPr/>
              <p:nvPr/>
            </p:nvSpPr>
            <p:spPr>
              <a:xfrm>
                <a:off x="5348250" y="4301757"/>
                <a:ext cx="215265" cy="363220"/>
              </a:xfrm>
              <a:custGeom>
                <a:avLst/>
                <a:gdLst/>
                <a:ahLst/>
                <a:cxnLst/>
                <a:rect l="l" t="t" r="r" b="b"/>
                <a:pathLst>
                  <a:path w="215264" h="363220">
                    <a:moveTo>
                      <a:pt x="214887" y="0"/>
                    </a:moveTo>
                    <a:lnTo>
                      <a:pt x="0" y="0"/>
                    </a:lnTo>
                    <a:lnTo>
                      <a:pt x="0" y="362943"/>
                    </a:lnTo>
                    <a:lnTo>
                      <a:pt x="214887" y="362943"/>
                    </a:lnTo>
                    <a:lnTo>
                      <a:pt x="214887" y="0"/>
                    </a:lnTo>
                    <a:close/>
                  </a:path>
                </a:pathLst>
              </a:custGeom>
              <a:solidFill>
                <a:srgbClr val="0099FF"/>
              </a:solidFill>
            </p:spPr>
            <p:txBody>
              <a:bodyPr wrap="square" lIns="0" tIns="0" rIns="0" bIns="0" rtlCol="0"/>
              <a:lstStyle/>
              <a:p>
                <a:endParaRPr sz="1588"/>
              </a:p>
            </p:txBody>
          </p:sp>
          <p:sp>
            <p:nvSpPr>
              <p:cNvPr id="76" name="object 76"/>
              <p:cNvSpPr/>
              <p:nvPr/>
            </p:nvSpPr>
            <p:spPr>
              <a:xfrm>
                <a:off x="5133361" y="4301757"/>
                <a:ext cx="429895" cy="367665"/>
              </a:xfrm>
              <a:custGeom>
                <a:avLst/>
                <a:gdLst/>
                <a:ahLst/>
                <a:cxnLst/>
                <a:rect l="l" t="t" r="r" b="b"/>
                <a:pathLst>
                  <a:path w="429895" h="367664">
                    <a:moveTo>
                      <a:pt x="0" y="0"/>
                    </a:moveTo>
                    <a:lnTo>
                      <a:pt x="429777" y="0"/>
                    </a:lnTo>
                    <a:lnTo>
                      <a:pt x="429777"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77" name="object 77"/>
            <p:cNvSpPr txBox="1"/>
            <p:nvPr/>
          </p:nvSpPr>
          <p:spPr>
            <a:xfrm>
              <a:off x="4663907" y="3795668"/>
              <a:ext cx="379319" cy="213346"/>
            </a:xfrm>
            <a:prstGeom prst="rect">
              <a:avLst/>
            </a:prstGeom>
            <a:ln w="30479">
              <a:solidFill>
                <a:srgbClr val="000000"/>
              </a:solidFill>
            </a:ln>
          </p:spPr>
          <p:txBody>
            <a:bodyPr vert="horz" wrap="square" lIns="0" tIns="49866" rIns="0" bIns="0" rtlCol="0">
              <a:spAutoFit/>
            </a:bodyPr>
            <a:lstStyle/>
            <a:p>
              <a:pPr marL="81247">
                <a:spcBef>
                  <a:spcPts val="393"/>
                </a:spcBef>
              </a:pPr>
              <a:r>
                <a:rPr sz="1059" b="1" spc="-22" dirty="0">
                  <a:latin typeface="Times New Roman"/>
                  <a:cs typeface="Times New Roman"/>
                </a:rPr>
                <a:t>Reg</a:t>
              </a:r>
              <a:endParaRPr sz="1059">
                <a:latin typeface="Times New Roman"/>
                <a:cs typeface="Times New Roman"/>
              </a:endParaRPr>
            </a:p>
          </p:txBody>
        </p:sp>
        <p:grpSp>
          <p:nvGrpSpPr>
            <p:cNvPr id="78" name="object 78"/>
            <p:cNvGrpSpPr/>
            <p:nvPr/>
          </p:nvGrpSpPr>
          <p:grpSpPr>
            <a:xfrm>
              <a:off x="5031391" y="3685939"/>
              <a:ext cx="712134" cy="542925"/>
              <a:chOff x="5549843" y="4177397"/>
              <a:chExt cx="807085" cy="615315"/>
            </a:xfrm>
          </p:grpSpPr>
          <p:sp>
            <p:nvSpPr>
              <p:cNvPr id="79" name="object 79"/>
              <p:cNvSpPr/>
              <p:nvPr/>
            </p:nvSpPr>
            <p:spPr>
              <a:xfrm>
                <a:off x="5565083" y="4375827"/>
                <a:ext cx="474980" cy="219075"/>
              </a:xfrm>
              <a:custGeom>
                <a:avLst/>
                <a:gdLst/>
                <a:ahLst/>
                <a:cxnLst/>
                <a:rect l="l" t="t" r="r" b="b"/>
                <a:pathLst>
                  <a:path w="474979" h="219075">
                    <a:moveTo>
                      <a:pt x="165056" y="0"/>
                    </a:moveTo>
                    <a:lnTo>
                      <a:pt x="474504" y="0"/>
                    </a:lnTo>
                  </a:path>
                  <a:path w="474979" h="219075">
                    <a:moveTo>
                      <a:pt x="0" y="0"/>
                    </a:moveTo>
                    <a:lnTo>
                      <a:pt x="78140" y="0"/>
                    </a:lnTo>
                  </a:path>
                  <a:path w="474979" h="219075">
                    <a:moveTo>
                      <a:pt x="165056" y="219055"/>
                    </a:moveTo>
                    <a:lnTo>
                      <a:pt x="474504" y="219055"/>
                    </a:lnTo>
                  </a:path>
                  <a:path w="474979" h="219075">
                    <a:moveTo>
                      <a:pt x="0" y="219055"/>
                    </a:moveTo>
                    <a:lnTo>
                      <a:pt x="78140" y="219055"/>
                    </a:lnTo>
                  </a:path>
                </a:pathLst>
              </a:custGeom>
              <a:ln w="30481">
                <a:solidFill>
                  <a:srgbClr val="000000"/>
                </a:solidFill>
              </a:ln>
            </p:spPr>
            <p:txBody>
              <a:bodyPr wrap="square" lIns="0" tIns="0" rIns="0" bIns="0" rtlCol="0"/>
              <a:lstStyle/>
              <a:p>
                <a:endParaRPr sz="1588"/>
              </a:p>
            </p:txBody>
          </p:sp>
          <p:sp>
            <p:nvSpPr>
              <p:cNvPr id="80" name="object 80"/>
              <p:cNvSpPr/>
              <p:nvPr/>
            </p:nvSpPr>
            <p:spPr>
              <a:xfrm>
                <a:off x="5978277" y="4192638"/>
                <a:ext cx="363855" cy="584835"/>
              </a:xfrm>
              <a:custGeom>
                <a:avLst/>
                <a:gdLst/>
                <a:ahLst/>
                <a:cxnLst/>
                <a:rect l="l" t="t" r="r" b="b"/>
                <a:pathLst>
                  <a:path w="363854" h="584835">
                    <a:moveTo>
                      <a:pt x="0" y="0"/>
                    </a:moveTo>
                    <a:lnTo>
                      <a:pt x="0" y="584671"/>
                    </a:lnTo>
                    <a:lnTo>
                      <a:pt x="363277" y="438503"/>
                    </a:lnTo>
                    <a:lnTo>
                      <a:pt x="363277" y="146168"/>
                    </a:lnTo>
                    <a:lnTo>
                      <a:pt x="0" y="0"/>
                    </a:lnTo>
                    <a:close/>
                  </a:path>
                </a:pathLst>
              </a:custGeom>
              <a:solidFill>
                <a:srgbClr val="FFFFFF"/>
              </a:solidFill>
            </p:spPr>
            <p:txBody>
              <a:bodyPr wrap="square" lIns="0" tIns="0" rIns="0" bIns="0" rtlCol="0"/>
              <a:lstStyle/>
              <a:p>
                <a:endParaRPr sz="1588"/>
              </a:p>
            </p:txBody>
          </p:sp>
          <p:sp>
            <p:nvSpPr>
              <p:cNvPr id="81" name="object 81"/>
              <p:cNvSpPr/>
              <p:nvPr/>
            </p:nvSpPr>
            <p:spPr>
              <a:xfrm>
                <a:off x="5978277" y="4192637"/>
                <a:ext cx="363855" cy="584835"/>
              </a:xfrm>
              <a:custGeom>
                <a:avLst/>
                <a:gdLst/>
                <a:ahLst/>
                <a:cxnLst/>
                <a:rect l="l" t="t" r="r" b="b"/>
                <a:pathLst>
                  <a:path w="363854" h="584835">
                    <a:moveTo>
                      <a:pt x="0" y="584671"/>
                    </a:moveTo>
                    <a:lnTo>
                      <a:pt x="363277" y="438503"/>
                    </a:lnTo>
                    <a:lnTo>
                      <a:pt x="363277"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82" name="object 82"/>
              <p:cNvSpPr/>
              <p:nvPr/>
            </p:nvSpPr>
            <p:spPr>
              <a:xfrm>
                <a:off x="5954021" y="4390953"/>
                <a:ext cx="194310" cy="189230"/>
              </a:xfrm>
              <a:custGeom>
                <a:avLst/>
                <a:gdLst/>
                <a:ahLst/>
                <a:cxnLst/>
                <a:rect l="l" t="t" r="r" b="b"/>
                <a:pathLst>
                  <a:path w="194310" h="189229">
                    <a:moveTo>
                      <a:pt x="0" y="0"/>
                    </a:moveTo>
                    <a:lnTo>
                      <a:pt x="0" y="188800"/>
                    </a:lnTo>
                    <a:lnTo>
                      <a:pt x="194035" y="94400"/>
                    </a:lnTo>
                    <a:lnTo>
                      <a:pt x="0" y="0"/>
                    </a:lnTo>
                    <a:close/>
                  </a:path>
                </a:pathLst>
              </a:custGeom>
              <a:solidFill>
                <a:srgbClr val="FFFFFF"/>
              </a:solidFill>
            </p:spPr>
            <p:txBody>
              <a:bodyPr wrap="square" lIns="0" tIns="0" rIns="0" bIns="0" rtlCol="0"/>
              <a:lstStyle/>
              <a:p>
                <a:endParaRPr sz="1588"/>
              </a:p>
            </p:txBody>
          </p:sp>
          <p:sp>
            <p:nvSpPr>
              <p:cNvPr id="83" name="object 83"/>
              <p:cNvSpPr/>
              <p:nvPr/>
            </p:nvSpPr>
            <p:spPr>
              <a:xfrm>
                <a:off x="5978277" y="4401992"/>
                <a:ext cx="149860" cy="166370"/>
              </a:xfrm>
              <a:custGeom>
                <a:avLst/>
                <a:gdLst/>
                <a:ahLst/>
                <a:cxnLst/>
                <a:rect l="l" t="t" r="r" b="b"/>
                <a:pathLst>
                  <a:path w="149860" h="166370">
                    <a:moveTo>
                      <a:pt x="0" y="0"/>
                    </a:moveTo>
                    <a:lnTo>
                      <a:pt x="149838" y="82980"/>
                    </a:lnTo>
                    <a:lnTo>
                      <a:pt x="0" y="165961"/>
                    </a:lnTo>
                  </a:path>
                </a:pathLst>
              </a:custGeom>
              <a:ln w="30479">
                <a:solidFill>
                  <a:srgbClr val="000000"/>
                </a:solidFill>
              </a:ln>
            </p:spPr>
            <p:txBody>
              <a:bodyPr wrap="square" lIns="0" tIns="0" rIns="0" bIns="0" rtlCol="0"/>
              <a:lstStyle/>
              <a:p>
                <a:endParaRPr sz="1588"/>
              </a:p>
            </p:txBody>
          </p:sp>
        </p:grpSp>
        <p:sp>
          <p:nvSpPr>
            <p:cNvPr id="84" name="object 84"/>
            <p:cNvSpPr txBox="1"/>
            <p:nvPr/>
          </p:nvSpPr>
          <p:spPr>
            <a:xfrm>
              <a:off x="5526457" y="3795853"/>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85" name="object 85"/>
            <p:cNvGrpSpPr/>
            <p:nvPr/>
          </p:nvGrpSpPr>
          <p:grpSpPr>
            <a:xfrm>
              <a:off x="5719470" y="3783612"/>
              <a:ext cx="1051672" cy="349624"/>
              <a:chOff x="6329665" y="4288094"/>
              <a:chExt cx="1191895" cy="396240"/>
            </a:xfrm>
          </p:grpSpPr>
          <p:sp>
            <p:nvSpPr>
              <p:cNvPr id="86" name="object 86"/>
              <p:cNvSpPr/>
              <p:nvPr/>
            </p:nvSpPr>
            <p:spPr>
              <a:xfrm>
                <a:off x="6344905" y="4486143"/>
                <a:ext cx="1161415" cy="0"/>
              </a:xfrm>
              <a:custGeom>
                <a:avLst/>
                <a:gdLst/>
                <a:ahLst/>
                <a:cxnLst/>
                <a:rect l="l" t="t" r="r" b="b"/>
                <a:pathLst>
                  <a:path w="1161415">
                    <a:moveTo>
                      <a:pt x="0" y="0"/>
                    </a:moveTo>
                    <a:lnTo>
                      <a:pt x="172313" y="0"/>
                    </a:lnTo>
                  </a:path>
                  <a:path w="1161415">
                    <a:moveTo>
                      <a:pt x="258023" y="0"/>
                    </a:moveTo>
                    <a:lnTo>
                      <a:pt x="349730" y="0"/>
                    </a:lnTo>
                  </a:path>
                  <a:path w="1161415">
                    <a:moveTo>
                      <a:pt x="1055966" y="0"/>
                    </a:moveTo>
                    <a:lnTo>
                      <a:pt x="1160979" y="0"/>
                    </a:lnTo>
                  </a:path>
                  <a:path w="1161415">
                    <a:moveTo>
                      <a:pt x="780430" y="0"/>
                    </a:moveTo>
                    <a:lnTo>
                      <a:pt x="969050" y="0"/>
                    </a:lnTo>
                  </a:path>
                </a:pathLst>
              </a:custGeom>
              <a:ln w="30481">
                <a:solidFill>
                  <a:srgbClr val="000000"/>
                </a:solidFill>
              </a:ln>
            </p:spPr>
            <p:txBody>
              <a:bodyPr wrap="square" lIns="0" tIns="0" rIns="0" bIns="0" rtlCol="0"/>
              <a:lstStyle/>
              <a:p>
                <a:endParaRPr sz="1588"/>
              </a:p>
            </p:txBody>
          </p:sp>
          <p:sp>
            <p:nvSpPr>
              <p:cNvPr id="87" name="object 87"/>
              <p:cNvSpPr/>
              <p:nvPr/>
            </p:nvSpPr>
            <p:spPr>
              <a:xfrm>
                <a:off x="6694636" y="4303334"/>
                <a:ext cx="431165" cy="365760"/>
              </a:xfrm>
              <a:custGeom>
                <a:avLst/>
                <a:gdLst/>
                <a:ahLst/>
                <a:cxnLst/>
                <a:rect l="l" t="t" r="r" b="b"/>
                <a:pathLst>
                  <a:path w="431165" h="365760">
                    <a:moveTo>
                      <a:pt x="0" y="0"/>
                    </a:moveTo>
                    <a:lnTo>
                      <a:pt x="430700" y="0"/>
                    </a:lnTo>
                    <a:lnTo>
                      <a:pt x="430700"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88" name="object 88"/>
            <p:cNvSpPr txBox="1"/>
            <p:nvPr/>
          </p:nvSpPr>
          <p:spPr>
            <a:xfrm>
              <a:off x="6023260" y="3837343"/>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89" name="object 89"/>
            <p:cNvGrpSpPr/>
            <p:nvPr/>
          </p:nvGrpSpPr>
          <p:grpSpPr>
            <a:xfrm>
              <a:off x="4289660" y="3847577"/>
              <a:ext cx="2294404" cy="381559"/>
              <a:chOff x="4709214" y="4360587"/>
              <a:chExt cx="2600325" cy="432434"/>
            </a:xfrm>
          </p:grpSpPr>
          <p:sp>
            <p:nvSpPr>
              <p:cNvPr id="90" name="object 90"/>
              <p:cNvSpPr/>
              <p:nvPr/>
            </p:nvSpPr>
            <p:spPr>
              <a:xfrm>
                <a:off x="6648277" y="4486142"/>
                <a:ext cx="645795" cy="292100"/>
              </a:xfrm>
              <a:custGeom>
                <a:avLst/>
                <a:gdLst/>
                <a:ahLst/>
                <a:cxnLst/>
                <a:rect l="l" t="t" r="r" b="b"/>
                <a:pathLst>
                  <a:path w="645795" h="292100">
                    <a:moveTo>
                      <a:pt x="0" y="0"/>
                    </a:moveTo>
                    <a:lnTo>
                      <a:pt x="0" y="291547"/>
                    </a:lnTo>
                    <a:lnTo>
                      <a:pt x="569679" y="291547"/>
                    </a:lnTo>
                    <a:lnTo>
                      <a:pt x="569679" y="109330"/>
                    </a:lnTo>
                    <a:lnTo>
                      <a:pt x="645637" y="109330"/>
                    </a:lnTo>
                  </a:path>
                </a:pathLst>
              </a:custGeom>
              <a:ln w="30479">
                <a:solidFill>
                  <a:srgbClr val="000000"/>
                </a:solidFill>
              </a:ln>
            </p:spPr>
            <p:txBody>
              <a:bodyPr wrap="square" lIns="0" tIns="0" rIns="0" bIns="0" rtlCol="0"/>
              <a:lstStyle/>
              <a:p>
                <a:endParaRPr sz="1588"/>
              </a:p>
            </p:txBody>
          </p:sp>
          <p:sp>
            <p:nvSpPr>
              <p:cNvPr id="91" name="object 91"/>
              <p:cNvSpPr/>
              <p:nvPr/>
            </p:nvSpPr>
            <p:spPr>
              <a:xfrm>
                <a:off x="4724454" y="4375827"/>
                <a:ext cx="408940" cy="220979"/>
              </a:xfrm>
              <a:custGeom>
                <a:avLst/>
                <a:gdLst/>
                <a:ahLst/>
                <a:cxnLst/>
                <a:rect l="l" t="t" r="r" b="b"/>
                <a:pathLst>
                  <a:path w="408939" h="220979">
                    <a:moveTo>
                      <a:pt x="0" y="220630"/>
                    </a:moveTo>
                    <a:lnTo>
                      <a:pt x="117204" y="220630"/>
                    </a:lnTo>
                  </a:path>
                  <a:path w="408939" h="220979">
                    <a:moveTo>
                      <a:pt x="204120" y="220630"/>
                    </a:moveTo>
                    <a:lnTo>
                      <a:pt x="408907" y="220630"/>
                    </a:lnTo>
                  </a:path>
                  <a:path w="408939" h="220979">
                    <a:moveTo>
                      <a:pt x="204120" y="0"/>
                    </a:moveTo>
                    <a:lnTo>
                      <a:pt x="406962" y="0"/>
                    </a:lnTo>
                  </a:path>
                  <a:path w="408939" h="220979">
                    <a:moveTo>
                      <a:pt x="0" y="0"/>
                    </a:moveTo>
                    <a:lnTo>
                      <a:pt x="117204" y="0"/>
                    </a:lnTo>
                  </a:path>
                </a:pathLst>
              </a:custGeom>
              <a:ln w="30481">
                <a:solidFill>
                  <a:srgbClr val="000000"/>
                </a:solidFill>
              </a:ln>
            </p:spPr>
            <p:txBody>
              <a:bodyPr wrap="square" lIns="0" tIns="0" rIns="0" bIns="0" rtlCol="0"/>
              <a:lstStyle/>
              <a:p>
                <a:endParaRPr sz="1588"/>
              </a:p>
            </p:txBody>
          </p:sp>
        </p:grpSp>
        <p:sp>
          <p:nvSpPr>
            <p:cNvPr id="92" name="object 92"/>
            <p:cNvSpPr txBox="1"/>
            <p:nvPr/>
          </p:nvSpPr>
          <p:spPr>
            <a:xfrm>
              <a:off x="3921383" y="3797060"/>
              <a:ext cx="382121" cy="215043"/>
            </a:xfrm>
            <a:prstGeom prst="rect">
              <a:avLst/>
            </a:prstGeom>
            <a:ln w="30479">
              <a:solidFill>
                <a:srgbClr val="000000"/>
              </a:solidFill>
            </a:ln>
          </p:spPr>
          <p:txBody>
            <a:bodyPr vert="horz" wrap="square" lIns="0" tIns="51546" rIns="0" bIns="0" rtlCol="0">
              <a:spAutoFit/>
            </a:bodyPr>
            <a:lstStyle/>
            <a:p>
              <a:pPr marL="26896">
                <a:spcBef>
                  <a:spcPts val="405"/>
                </a:spcBef>
              </a:pPr>
              <a:r>
                <a:rPr sz="1059" b="1" spc="-9" dirty="0">
                  <a:latin typeface="Times New Roman"/>
                  <a:cs typeface="Times New Roman"/>
                </a:rPr>
                <a:t>Ifetch</a:t>
              </a:r>
              <a:endParaRPr sz="1059">
                <a:latin typeface="Times New Roman"/>
                <a:cs typeface="Times New Roman"/>
              </a:endParaRPr>
            </a:p>
          </p:txBody>
        </p:sp>
        <p:grpSp>
          <p:nvGrpSpPr>
            <p:cNvPr id="93" name="object 93"/>
            <p:cNvGrpSpPr/>
            <p:nvPr/>
          </p:nvGrpSpPr>
          <p:grpSpPr>
            <a:xfrm>
              <a:off x="4393075" y="3637606"/>
              <a:ext cx="2760569" cy="640416"/>
              <a:chOff x="4826418" y="4122620"/>
              <a:chExt cx="3128645" cy="725805"/>
            </a:xfrm>
          </p:grpSpPr>
          <p:sp>
            <p:nvSpPr>
              <p:cNvPr id="94" name="object 94"/>
              <p:cNvSpPr/>
              <p:nvPr/>
            </p:nvSpPr>
            <p:spPr>
              <a:xfrm>
                <a:off x="5643223" y="4137860"/>
                <a:ext cx="86995" cy="695325"/>
              </a:xfrm>
              <a:custGeom>
                <a:avLst/>
                <a:gdLst/>
                <a:ahLst/>
                <a:cxnLst/>
                <a:rect l="l" t="t" r="r" b="b"/>
                <a:pathLst>
                  <a:path w="86995" h="695325">
                    <a:moveTo>
                      <a:pt x="86916" y="0"/>
                    </a:moveTo>
                    <a:lnTo>
                      <a:pt x="0" y="0"/>
                    </a:lnTo>
                    <a:lnTo>
                      <a:pt x="0" y="694988"/>
                    </a:lnTo>
                    <a:lnTo>
                      <a:pt x="86916" y="694988"/>
                    </a:lnTo>
                    <a:lnTo>
                      <a:pt x="86916" y="0"/>
                    </a:lnTo>
                    <a:close/>
                  </a:path>
                </a:pathLst>
              </a:custGeom>
              <a:solidFill>
                <a:srgbClr val="00FF00"/>
              </a:solidFill>
            </p:spPr>
            <p:txBody>
              <a:bodyPr wrap="square" lIns="0" tIns="0" rIns="0" bIns="0" rtlCol="0"/>
              <a:lstStyle/>
              <a:p>
                <a:endParaRPr sz="1588"/>
              </a:p>
            </p:txBody>
          </p:sp>
          <p:sp>
            <p:nvSpPr>
              <p:cNvPr id="95" name="object 95"/>
              <p:cNvSpPr/>
              <p:nvPr/>
            </p:nvSpPr>
            <p:spPr>
              <a:xfrm>
                <a:off x="5643223" y="4137860"/>
                <a:ext cx="86995" cy="695325"/>
              </a:xfrm>
              <a:custGeom>
                <a:avLst/>
                <a:gdLst/>
                <a:ahLst/>
                <a:cxnLst/>
                <a:rect l="l" t="t" r="r" b="b"/>
                <a:pathLst>
                  <a:path w="86995" h="695325">
                    <a:moveTo>
                      <a:pt x="0" y="0"/>
                    </a:moveTo>
                    <a:lnTo>
                      <a:pt x="86916" y="0"/>
                    </a:lnTo>
                    <a:lnTo>
                      <a:pt x="8691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96" name="object 96"/>
              <p:cNvSpPr/>
              <p:nvPr/>
            </p:nvSpPr>
            <p:spPr>
              <a:xfrm>
                <a:off x="7313956" y="4137860"/>
                <a:ext cx="86995" cy="695325"/>
              </a:xfrm>
              <a:custGeom>
                <a:avLst/>
                <a:gdLst/>
                <a:ahLst/>
                <a:cxnLst/>
                <a:rect l="l" t="t" r="r" b="b"/>
                <a:pathLst>
                  <a:path w="86995" h="695325">
                    <a:moveTo>
                      <a:pt x="86916" y="0"/>
                    </a:moveTo>
                    <a:lnTo>
                      <a:pt x="0" y="0"/>
                    </a:lnTo>
                    <a:lnTo>
                      <a:pt x="0" y="694988"/>
                    </a:lnTo>
                    <a:lnTo>
                      <a:pt x="86916" y="694988"/>
                    </a:lnTo>
                    <a:lnTo>
                      <a:pt x="86916" y="0"/>
                    </a:lnTo>
                    <a:close/>
                  </a:path>
                </a:pathLst>
              </a:custGeom>
              <a:solidFill>
                <a:srgbClr val="00FF00"/>
              </a:solidFill>
            </p:spPr>
            <p:txBody>
              <a:bodyPr wrap="square" lIns="0" tIns="0" rIns="0" bIns="0" rtlCol="0"/>
              <a:lstStyle/>
              <a:p>
                <a:endParaRPr sz="1588"/>
              </a:p>
            </p:txBody>
          </p:sp>
          <p:sp>
            <p:nvSpPr>
              <p:cNvPr id="97" name="object 97"/>
              <p:cNvSpPr/>
              <p:nvPr/>
            </p:nvSpPr>
            <p:spPr>
              <a:xfrm>
                <a:off x="7313956" y="4137860"/>
                <a:ext cx="86995" cy="695325"/>
              </a:xfrm>
              <a:custGeom>
                <a:avLst/>
                <a:gdLst/>
                <a:ahLst/>
                <a:cxnLst/>
                <a:rect l="l" t="t" r="r" b="b"/>
                <a:pathLst>
                  <a:path w="86995" h="695325">
                    <a:moveTo>
                      <a:pt x="0" y="0"/>
                    </a:moveTo>
                    <a:lnTo>
                      <a:pt x="86916" y="0"/>
                    </a:lnTo>
                    <a:lnTo>
                      <a:pt x="8691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98" name="object 98"/>
              <p:cNvSpPr/>
              <p:nvPr/>
            </p:nvSpPr>
            <p:spPr>
              <a:xfrm>
                <a:off x="4841658" y="4137860"/>
                <a:ext cx="86995" cy="695325"/>
              </a:xfrm>
              <a:custGeom>
                <a:avLst/>
                <a:gdLst/>
                <a:ahLst/>
                <a:cxnLst/>
                <a:rect l="l" t="t" r="r" b="b"/>
                <a:pathLst>
                  <a:path w="86995" h="695325">
                    <a:moveTo>
                      <a:pt x="86916" y="0"/>
                    </a:moveTo>
                    <a:lnTo>
                      <a:pt x="0" y="0"/>
                    </a:lnTo>
                    <a:lnTo>
                      <a:pt x="0" y="694988"/>
                    </a:lnTo>
                    <a:lnTo>
                      <a:pt x="86916" y="694988"/>
                    </a:lnTo>
                    <a:lnTo>
                      <a:pt x="86916" y="0"/>
                    </a:lnTo>
                    <a:close/>
                  </a:path>
                </a:pathLst>
              </a:custGeom>
              <a:solidFill>
                <a:srgbClr val="00FF00"/>
              </a:solidFill>
            </p:spPr>
            <p:txBody>
              <a:bodyPr wrap="square" lIns="0" tIns="0" rIns="0" bIns="0" rtlCol="0"/>
              <a:lstStyle/>
              <a:p>
                <a:endParaRPr sz="1588"/>
              </a:p>
            </p:txBody>
          </p:sp>
          <p:sp>
            <p:nvSpPr>
              <p:cNvPr id="99" name="object 99"/>
              <p:cNvSpPr/>
              <p:nvPr/>
            </p:nvSpPr>
            <p:spPr>
              <a:xfrm>
                <a:off x="4841658" y="4137860"/>
                <a:ext cx="86995" cy="695325"/>
              </a:xfrm>
              <a:custGeom>
                <a:avLst/>
                <a:gdLst/>
                <a:ahLst/>
                <a:cxnLst/>
                <a:rect l="l" t="t" r="r" b="b"/>
                <a:pathLst>
                  <a:path w="86995" h="695325">
                    <a:moveTo>
                      <a:pt x="0" y="0"/>
                    </a:moveTo>
                    <a:lnTo>
                      <a:pt x="86916" y="0"/>
                    </a:lnTo>
                    <a:lnTo>
                      <a:pt x="8691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00" name="object 100"/>
              <p:cNvSpPr/>
              <p:nvPr/>
            </p:nvSpPr>
            <p:spPr>
              <a:xfrm>
                <a:off x="6517219" y="4141942"/>
                <a:ext cx="85725" cy="685800"/>
              </a:xfrm>
              <a:custGeom>
                <a:avLst/>
                <a:gdLst/>
                <a:ahLst/>
                <a:cxnLst/>
                <a:rect l="l" t="t" r="r" b="b"/>
                <a:pathLst>
                  <a:path w="85725" h="685800">
                    <a:moveTo>
                      <a:pt x="85709" y="0"/>
                    </a:moveTo>
                    <a:lnTo>
                      <a:pt x="0" y="0"/>
                    </a:lnTo>
                    <a:lnTo>
                      <a:pt x="0" y="685802"/>
                    </a:lnTo>
                    <a:lnTo>
                      <a:pt x="85709" y="685802"/>
                    </a:lnTo>
                    <a:lnTo>
                      <a:pt x="85709" y="0"/>
                    </a:lnTo>
                    <a:close/>
                  </a:path>
                </a:pathLst>
              </a:custGeom>
              <a:solidFill>
                <a:srgbClr val="00FF00"/>
              </a:solidFill>
            </p:spPr>
            <p:txBody>
              <a:bodyPr wrap="square" lIns="0" tIns="0" rIns="0" bIns="0" rtlCol="0"/>
              <a:lstStyle/>
              <a:p>
                <a:endParaRPr sz="1588"/>
              </a:p>
            </p:txBody>
          </p:sp>
          <p:sp>
            <p:nvSpPr>
              <p:cNvPr id="101" name="object 101"/>
              <p:cNvSpPr/>
              <p:nvPr/>
            </p:nvSpPr>
            <p:spPr>
              <a:xfrm>
                <a:off x="6517219" y="4141942"/>
                <a:ext cx="85725" cy="685800"/>
              </a:xfrm>
              <a:custGeom>
                <a:avLst/>
                <a:gdLst/>
                <a:ahLst/>
                <a:cxnLst/>
                <a:rect l="l" t="t" r="r" b="b"/>
                <a:pathLst>
                  <a:path w="85725" h="685800">
                    <a:moveTo>
                      <a:pt x="0" y="0"/>
                    </a:moveTo>
                    <a:lnTo>
                      <a:pt x="85709" y="0"/>
                    </a:lnTo>
                    <a:lnTo>
                      <a:pt x="85709"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02" name="object 102"/>
              <p:cNvSpPr/>
              <p:nvPr/>
            </p:nvSpPr>
            <p:spPr>
              <a:xfrm>
                <a:off x="7505885" y="4289149"/>
                <a:ext cx="217170" cy="363220"/>
              </a:xfrm>
              <a:custGeom>
                <a:avLst/>
                <a:gdLst/>
                <a:ahLst/>
                <a:cxnLst/>
                <a:rect l="l" t="t" r="r" b="b"/>
                <a:pathLst>
                  <a:path w="217170" h="363220">
                    <a:moveTo>
                      <a:pt x="216833" y="0"/>
                    </a:moveTo>
                    <a:lnTo>
                      <a:pt x="0" y="0"/>
                    </a:lnTo>
                    <a:lnTo>
                      <a:pt x="0" y="362942"/>
                    </a:lnTo>
                    <a:lnTo>
                      <a:pt x="216833" y="362942"/>
                    </a:lnTo>
                    <a:lnTo>
                      <a:pt x="216833" y="0"/>
                    </a:lnTo>
                    <a:close/>
                  </a:path>
                </a:pathLst>
              </a:custGeom>
              <a:solidFill>
                <a:srgbClr val="0099FF"/>
              </a:solidFill>
            </p:spPr>
            <p:txBody>
              <a:bodyPr wrap="square" lIns="0" tIns="0" rIns="0" bIns="0" rtlCol="0"/>
              <a:lstStyle/>
              <a:p>
                <a:endParaRPr sz="1588"/>
              </a:p>
            </p:txBody>
          </p:sp>
          <p:sp>
            <p:nvSpPr>
              <p:cNvPr id="103" name="object 103"/>
              <p:cNvSpPr/>
              <p:nvPr/>
            </p:nvSpPr>
            <p:spPr>
              <a:xfrm>
                <a:off x="7505884" y="4289150"/>
                <a:ext cx="433705" cy="367665"/>
              </a:xfrm>
              <a:custGeom>
                <a:avLst/>
                <a:gdLst/>
                <a:ahLst/>
                <a:cxnLst/>
                <a:rect l="l" t="t" r="r" b="b"/>
                <a:pathLst>
                  <a:path w="433704" h="367664">
                    <a:moveTo>
                      <a:pt x="433666" y="0"/>
                    </a:moveTo>
                    <a:lnTo>
                      <a:pt x="0" y="0"/>
                    </a:lnTo>
                    <a:lnTo>
                      <a:pt x="0" y="367192"/>
                    </a:lnTo>
                    <a:lnTo>
                      <a:pt x="433666" y="367192"/>
                    </a:lnTo>
                    <a:lnTo>
                      <a:pt x="433666" y="0"/>
                    </a:lnTo>
                    <a:close/>
                  </a:path>
                </a:pathLst>
              </a:custGeom>
              <a:ln w="30479">
                <a:solidFill>
                  <a:srgbClr val="000000"/>
                </a:solidFill>
              </a:ln>
            </p:spPr>
            <p:txBody>
              <a:bodyPr wrap="square" lIns="0" tIns="0" rIns="0" bIns="0" rtlCol="0"/>
              <a:lstStyle/>
              <a:p>
                <a:endParaRPr sz="1588"/>
              </a:p>
            </p:txBody>
          </p:sp>
        </p:grpSp>
        <p:sp>
          <p:nvSpPr>
            <p:cNvPr id="104" name="object 104"/>
            <p:cNvSpPr txBox="1"/>
            <p:nvPr/>
          </p:nvSpPr>
          <p:spPr>
            <a:xfrm>
              <a:off x="6830798" y="3823895"/>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5" name="object 105"/>
            <p:cNvGrpSpPr/>
            <p:nvPr/>
          </p:nvGrpSpPr>
          <p:grpSpPr>
            <a:xfrm>
              <a:off x="5358212" y="4516422"/>
              <a:ext cx="406213" cy="351304"/>
              <a:chOff x="5920240" y="5118611"/>
              <a:chExt cx="460375" cy="398145"/>
            </a:xfrm>
          </p:grpSpPr>
          <p:sp>
            <p:nvSpPr>
              <p:cNvPr id="106" name="object 106"/>
              <p:cNvSpPr/>
              <p:nvPr/>
            </p:nvSpPr>
            <p:spPr>
              <a:xfrm>
                <a:off x="6150368" y="5133851"/>
                <a:ext cx="215265" cy="363220"/>
              </a:xfrm>
              <a:custGeom>
                <a:avLst/>
                <a:gdLst/>
                <a:ahLst/>
                <a:cxnLst/>
                <a:rect l="l" t="t" r="r" b="b"/>
                <a:pathLst>
                  <a:path w="215264" h="363220">
                    <a:moveTo>
                      <a:pt x="214889" y="0"/>
                    </a:moveTo>
                    <a:lnTo>
                      <a:pt x="0" y="0"/>
                    </a:lnTo>
                    <a:lnTo>
                      <a:pt x="0" y="362943"/>
                    </a:lnTo>
                    <a:lnTo>
                      <a:pt x="214889" y="362943"/>
                    </a:lnTo>
                    <a:lnTo>
                      <a:pt x="214889" y="0"/>
                    </a:lnTo>
                    <a:close/>
                  </a:path>
                </a:pathLst>
              </a:custGeom>
              <a:solidFill>
                <a:srgbClr val="0099FF"/>
              </a:solidFill>
            </p:spPr>
            <p:txBody>
              <a:bodyPr wrap="square" lIns="0" tIns="0" rIns="0" bIns="0" rtlCol="0"/>
              <a:lstStyle/>
              <a:p>
                <a:endParaRPr sz="1588"/>
              </a:p>
            </p:txBody>
          </p:sp>
          <p:sp>
            <p:nvSpPr>
              <p:cNvPr id="107" name="object 107"/>
              <p:cNvSpPr/>
              <p:nvPr/>
            </p:nvSpPr>
            <p:spPr>
              <a:xfrm>
                <a:off x="5935480" y="5133851"/>
                <a:ext cx="429895" cy="367665"/>
              </a:xfrm>
              <a:custGeom>
                <a:avLst/>
                <a:gdLst/>
                <a:ahLst/>
                <a:cxnLst/>
                <a:rect l="l" t="t" r="r" b="b"/>
                <a:pathLst>
                  <a:path w="429895" h="367664">
                    <a:moveTo>
                      <a:pt x="0" y="0"/>
                    </a:moveTo>
                    <a:lnTo>
                      <a:pt x="429777" y="0"/>
                    </a:lnTo>
                    <a:lnTo>
                      <a:pt x="429777"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08" name="object 108"/>
            <p:cNvSpPr txBox="1"/>
            <p:nvPr/>
          </p:nvSpPr>
          <p:spPr>
            <a:xfrm>
              <a:off x="5441823" y="456886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9" name="object 109"/>
            <p:cNvGrpSpPr/>
            <p:nvPr/>
          </p:nvGrpSpPr>
          <p:grpSpPr>
            <a:xfrm>
              <a:off x="5739143" y="4420140"/>
              <a:ext cx="712134" cy="542925"/>
              <a:chOff x="6351962" y="5009491"/>
              <a:chExt cx="807085" cy="615315"/>
            </a:xfrm>
          </p:grpSpPr>
          <p:sp>
            <p:nvSpPr>
              <p:cNvPr id="110" name="object 110"/>
              <p:cNvSpPr/>
              <p:nvPr/>
            </p:nvSpPr>
            <p:spPr>
              <a:xfrm>
                <a:off x="6367202" y="5207921"/>
                <a:ext cx="474980" cy="219075"/>
              </a:xfrm>
              <a:custGeom>
                <a:avLst/>
                <a:gdLst/>
                <a:ahLst/>
                <a:cxnLst/>
                <a:rect l="l" t="t" r="r" b="b"/>
                <a:pathLst>
                  <a:path w="474979" h="219075">
                    <a:moveTo>
                      <a:pt x="0" y="0"/>
                    </a:moveTo>
                    <a:lnTo>
                      <a:pt x="150731" y="0"/>
                    </a:lnTo>
                  </a:path>
                  <a:path w="474979" h="219075">
                    <a:moveTo>
                      <a:pt x="237663" y="0"/>
                    </a:moveTo>
                    <a:lnTo>
                      <a:pt x="474504" y="0"/>
                    </a:lnTo>
                  </a:path>
                  <a:path w="474979" h="219075">
                    <a:moveTo>
                      <a:pt x="0" y="219055"/>
                    </a:moveTo>
                    <a:lnTo>
                      <a:pt x="150731" y="219055"/>
                    </a:lnTo>
                  </a:path>
                  <a:path w="474979" h="219075">
                    <a:moveTo>
                      <a:pt x="237663" y="219055"/>
                    </a:moveTo>
                    <a:lnTo>
                      <a:pt x="474504" y="219055"/>
                    </a:lnTo>
                  </a:path>
                </a:pathLst>
              </a:custGeom>
              <a:ln w="30481">
                <a:solidFill>
                  <a:srgbClr val="000000"/>
                </a:solidFill>
              </a:ln>
            </p:spPr>
            <p:txBody>
              <a:bodyPr wrap="square" lIns="0" tIns="0" rIns="0" bIns="0" rtlCol="0"/>
              <a:lstStyle/>
              <a:p>
                <a:endParaRPr sz="1588"/>
              </a:p>
            </p:txBody>
          </p:sp>
          <p:sp>
            <p:nvSpPr>
              <p:cNvPr id="111" name="object 111"/>
              <p:cNvSpPr/>
              <p:nvPr/>
            </p:nvSpPr>
            <p:spPr>
              <a:xfrm>
                <a:off x="6780395" y="5024731"/>
                <a:ext cx="363855" cy="584835"/>
              </a:xfrm>
              <a:custGeom>
                <a:avLst/>
                <a:gdLst/>
                <a:ahLst/>
                <a:cxnLst/>
                <a:rect l="l" t="t" r="r" b="b"/>
                <a:pathLst>
                  <a:path w="363854" h="584835">
                    <a:moveTo>
                      <a:pt x="0" y="0"/>
                    </a:moveTo>
                    <a:lnTo>
                      <a:pt x="0" y="584671"/>
                    </a:lnTo>
                    <a:lnTo>
                      <a:pt x="363277" y="438503"/>
                    </a:lnTo>
                    <a:lnTo>
                      <a:pt x="363277" y="146168"/>
                    </a:lnTo>
                    <a:lnTo>
                      <a:pt x="0" y="0"/>
                    </a:lnTo>
                    <a:close/>
                  </a:path>
                </a:pathLst>
              </a:custGeom>
              <a:solidFill>
                <a:srgbClr val="FFFFFF"/>
              </a:solidFill>
            </p:spPr>
            <p:txBody>
              <a:bodyPr wrap="square" lIns="0" tIns="0" rIns="0" bIns="0" rtlCol="0"/>
              <a:lstStyle/>
              <a:p>
                <a:endParaRPr sz="1588"/>
              </a:p>
            </p:txBody>
          </p:sp>
          <p:sp>
            <p:nvSpPr>
              <p:cNvPr id="112" name="object 112"/>
              <p:cNvSpPr/>
              <p:nvPr/>
            </p:nvSpPr>
            <p:spPr>
              <a:xfrm>
                <a:off x="6780395" y="5024731"/>
                <a:ext cx="363855" cy="584835"/>
              </a:xfrm>
              <a:custGeom>
                <a:avLst/>
                <a:gdLst/>
                <a:ahLst/>
                <a:cxnLst/>
                <a:rect l="l" t="t" r="r" b="b"/>
                <a:pathLst>
                  <a:path w="363854" h="584835">
                    <a:moveTo>
                      <a:pt x="0" y="584671"/>
                    </a:moveTo>
                    <a:lnTo>
                      <a:pt x="363277" y="438503"/>
                    </a:lnTo>
                    <a:lnTo>
                      <a:pt x="363277"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113" name="object 113"/>
              <p:cNvSpPr/>
              <p:nvPr/>
            </p:nvSpPr>
            <p:spPr>
              <a:xfrm>
                <a:off x="6756141" y="5223047"/>
                <a:ext cx="194310" cy="189230"/>
              </a:xfrm>
              <a:custGeom>
                <a:avLst/>
                <a:gdLst/>
                <a:ahLst/>
                <a:cxnLst/>
                <a:rect l="l" t="t" r="r" b="b"/>
                <a:pathLst>
                  <a:path w="194309" h="189229">
                    <a:moveTo>
                      <a:pt x="0" y="0"/>
                    </a:moveTo>
                    <a:lnTo>
                      <a:pt x="0" y="188799"/>
                    </a:lnTo>
                    <a:lnTo>
                      <a:pt x="194034" y="94400"/>
                    </a:lnTo>
                    <a:lnTo>
                      <a:pt x="0" y="0"/>
                    </a:lnTo>
                    <a:close/>
                  </a:path>
                </a:pathLst>
              </a:custGeom>
              <a:solidFill>
                <a:srgbClr val="FFFFFF"/>
              </a:solidFill>
            </p:spPr>
            <p:txBody>
              <a:bodyPr wrap="square" lIns="0" tIns="0" rIns="0" bIns="0" rtlCol="0"/>
              <a:lstStyle/>
              <a:p>
                <a:endParaRPr sz="1588"/>
              </a:p>
            </p:txBody>
          </p:sp>
          <p:sp>
            <p:nvSpPr>
              <p:cNvPr id="114" name="object 114"/>
              <p:cNvSpPr/>
              <p:nvPr/>
            </p:nvSpPr>
            <p:spPr>
              <a:xfrm>
                <a:off x="6780394" y="5234086"/>
                <a:ext cx="149860" cy="166370"/>
              </a:xfrm>
              <a:custGeom>
                <a:avLst/>
                <a:gdLst/>
                <a:ahLst/>
                <a:cxnLst/>
                <a:rect l="l" t="t" r="r" b="b"/>
                <a:pathLst>
                  <a:path w="149859" h="166370">
                    <a:moveTo>
                      <a:pt x="0" y="0"/>
                    </a:moveTo>
                    <a:lnTo>
                      <a:pt x="149838" y="82980"/>
                    </a:lnTo>
                    <a:lnTo>
                      <a:pt x="0" y="165961"/>
                    </a:lnTo>
                  </a:path>
                </a:pathLst>
              </a:custGeom>
              <a:ln w="30479">
                <a:solidFill>
                  <a:srgbClr val="000000"/>
                </a:solidFill>
              </a:ln>
            </p:spPr>
            <p:txBody>
              <a:bodyPr wrap="square" lIns="0" tIns="0" rIns="0" bIns="0" rtlCol="0"/>
              <a:lstStyle/>
              <a:p>
                <a:endParaRPr sz="1588"/>
              </a:p>
            </p:txBody>
          </p:sp>
        </p:grpSp>
        <p:sp>
          <p:nvSpPr>
            <p:cNvPr id="115" name="object 115"/>
            <p:cNvSpPr txBox="1"/>
            <p:nvPr/>
          </p:nvSpPr>
          <p:spPr>
            <a:xfrm>
              <a:off x="6234208" y="4530061"/>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16" name="object 116"/>
            <p:cNvGrpSpPr/>
            <p:nvPr/>
          </p:nvGrpSpPr>
          <p:grpSpPr>
            <a:xfrm>
              <a:off x="6427222" y="4517812"/>
              <a:ext cx="1051672" cy="349624"/>
              <a:chOff x="7131784" y="5120187"/>
              <a:chExt cx="1191895" cy="396240"/>
            </a:xfrm>
          </p:grpSpPr>
          <p:sp>
            <p:nvSpPr>
              <p:cNvPr id="117" name="object 117"/>
              <p:cNvSpPr/>
              <p:nvPr/>
            </p:nvSpPr>
            <p:spPr>
              <a:xfrm>
                <a:off x="7147024" y="5318236"/>
                <a:ext cx="1161415" cy="0"/>
              </a:xfrm>
              <a:custGeom>
                <a:avLst/>
                <a:gdLst/>
                <a:ahLst/>
                <a:cxnLst/>
                <a:rect l="l" t="t" r="r" b="b"/>
                <a:pathLst>
                  <a:path w="1161415">
                    <a:moveTo>
                      <a:pt x="0" y="0"/>
                    </a:moveTo>
                    <a:lnTo>
                      <a:pt x="167792" y="0"/>
                    </a:lnTo>
                  </a:path>
                  <a:path w="1161415">
                    <a:moveTo>
                      <a:pt x="253516" y="0"/>
                    </a:moveTo>
                    <a:lnTo>
                      <a:pt x="349730" y="0"/>
                    </a:lnTo>
                  </a:path>
                  <a:path w="1161415">
                    <a:moveTo>
                      <a:pt x="822603" y="0"/>
                    </a:moveTo>
                    <a:lnTo>
                      <a:pt x="967089" y="0"/>
                    </a:lnTo>
                  </a:path>
                  <a:path w="1161415">
                    <a:moveTo>
                      <a:pt x="1054021" y="0"/>
                    </a:moveTo>
                    <a:lnTo>
                      <a:pt x="1160979" y="0"/>
                    </a:lnTo>
                  </a:path>
                </a:pathLst>
              </a:custGeom>
              <a:ln w="30481">
                <a:solidFill>
                  <a:srgbClr val="000000"/>
                </a:solidFill>
              </a:ln>
            </p:spPr>
            <p:txBody>
              <a:bodyPr wrap="square" lIns="0" tIns="0" rIns="0" bIns="0" rtlCol="0"/>
              <a:lstStyle/>
              <a:p>
                <a:endParaRPr sz="1588"/>
              </a:p>
            </p:txBody>
          </p:sp>
          <p:sp>
            <p:nvSpPr>
              <p:cNvPr id="118" name="object 118"/>
              <p:cNvSpPr/>
              <p:nvPr/>
            </p:nvSpPr>
            <p:spPr>
              <a:xfrm>
                <a:off x="7496754" y="5135427"/>
                <a:ext cx="431165" cy="365760"/>
              </a:xfrm>
              <a:custGeom>
                <a:avLst/>
                <a:gdLst/>
                <a:ahLst/>
                <a:cxnLst/>
                <a:rect l="l" t="t" r="r" b="b"/>
                <a:pathLst>
                  <a:path w="431165" h="365760">
                    <a:moveTo>
                      <a:pt x="0" y="0"/>
                    </a:moveTo>
                    <a:lnTo>
                      <a:pt x="430700" y="0"/>
                    </a:lnTo>
                    <a:lnTo>
                      <a:pt x="430700"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19" name="object 119"/>
            <p:cNvSpPr txBox="1"/>
            <p:nvPr/>
          </p:nvSpPr>
          <p:spPr>
            <a:xfrm>
              <a:off x="6731012" y="4571552"/>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120" name="object 120"/>
            <p:cNvGrpSpPr/>
            <p:nvPr/>
          </p:nvGrpSpPr>
          <p:grpSpPr>
            <a:xfrm>
              <a:off x="4629150" y="4517813"/>
              <a:ext cx="2662518" cy="445993"/>
              <a:chOff x="5093970" y="5120187"/>
              <a:chExt cx="3017520" cy="505459"/>
            </a:xfrm>
          </p:grpSpPr>
          <p:sp>
            <p:nvSpPr>
              <p:cNvPr id="121" name="object 121"/>
              <p:cNvSpPr/>
              <p:nvPr/>
            </p:nvSpPr>
            <p:spPr>
              <a:xfrm>
                <a:off x="7450395" y="5318235"/>
                <a:ext cx="645795" cy="292100"/>
              </a:xfrm>
              <a:custGeom>
                <a:avLst/>
                <a:gdLst/>
                <a:ahLst/>
                <a:cxnLst/>
                <a:rect l="l" t="t" r="r" b="b"/>
                <a:pathLst>
                  <a:path w="645795" h="292100">
                    <a:moveTo>
                      <a:pt x="0" y="0"/>
                    </a:moveTo>
                    <a:lnTo>
                      <a:pt x="0" y="291547"/>
                    </a:lnTo>
                    <a:lnTo>
                      <a:pt x="569679" y="291547"/>
                    </a:lnTo>
                    <a:lnTo>
                      <a:pt x="569679" y="109330"/>
                    </a:lnTo>
                    <a:lnTo>
                      <a:pt x="645637" y="109330"/>
                    </a:lnTo>
                  </a:path>
                </a:pathLst>
              </a:custGeom>
              <a:ln w="30479">
                <a:solidFill>
                  <a:srgbClr val="000000"/>
                </a:solidFill>
              </a:ln>
            </p:spPr>
            <p:txBody>
              <a:bodyPr wrap="square" lIns="0" tIns="0" rIns="0" bIns="0" rtlCol="0"/>
              <a:lstStyle/>
              <a:p>
                <a:endParaRPr sz="1588"/>
              </a:p>
            </p:txBody>
          </p:sp>
          <p:sp>
            <p:nvSpPr>
              <p:cNvPr id="122" name="object 122"/>
              <p:cNvSpPr/>
              <p:nvPr/>
            </p:nvSpPr>
            <p:spPr>
              <a:xfrm>
                <a:off x="5521209" y="5207921"/>
                <a:ext cx="414655" cy="220979"/>
              </a:xfrm>
              <a:custGeom>
                <a:avLst/>
                <a:gdLst/>
                <a:ahLst/>
                <a:cxnLst/>
                <a:rect l="l" t="t" r="r" b="b"/>
                <a:pathLst>
                  <a:path w="414654" h="220979">
                    <a:moveTo>
                      <a:pt x="0" y="220630"/>
                    </a:moveTo>
                    <a:lnTo>
                      <a:pt x="122567" y="220630"/>
                    </a:lnTo>
                  </a:path>
                  <a:path w="414654" h="220979">
                    <a:moveTo>
                      <a:pt x="209500" y="220630"/>
                    </a:moveTo>
                    <a:lnTo>
                      <a:pt x="414270" y="220630"/>
                    </a:lnTo>
                  </a:path>
                  <a:path w="414654" h="220979">
                    <a:moveTo>
                      <a:pt x="209500" y="0"/>
                    </a:moveTo>
                    <a:lnTo>
                      <a:pt x="412326" y="0"/>
                    </a:lnTo>
                  </a:path>
                  <a:path w="414654" h="220979">
                    <a:moveTo>
                      <a:pt x="0" y="0"/>
                    </a:moveTo>
                    <a:lnTo>
                      <a:pt x="122567" y="0"/>
                    </a:lnTo>
                  </a:path>
                </a:pathLst>
              </a:custGeom>
              <a:ln w="30481">
                <a:solidFill>
                  <a:srgbClr val="000000"/>
                </a:solidFill>
              </a:ln>
            </p:spPr>
            <p:txBody>
              <a:bodyPr wrap="square" lIns="0" tIns="0" rIns="0" bIns="0" rtlCol="0"/>
              <a:lstStyle/>
              <a:p>
                <a:endParaRPr sz="1588"/>
              </a:p>
            </p:txBody>
          </p:sp>
          <p:sp>
            <p:nvSpPr>
              <p:cNvPr id="123" name="object 123"/>
              <p:cNvSpPr/>
              <p:nvPr/>
            </p:nvSpPr>
            <p:spPr>
              <a:xfrm>
                <a:off x="5109210" y="5135427"/>
                <a:ext cx="412115" cy="365760"/>
              </a:xfrm>
              <a:custGeom>
                <a:avLst/>
                <a:gdLst/>
                <a:ahLst/>
                <a:cxnLst/>
                <a:rect l="l" t="t" r="r" b="b"/>
                <a:pathLst>
                  <a:path w="412114" h="365760">
                    <a:moveTo>
                      <a:pt x="0" y="0"/>
                    </a:moveTo>
                    <a:lnTo>
                      <a:pt x="411998" y="0"/>
                    </a:lnTo>
                    <a:lnTo>
                      <a:pt x="411998"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24" name="object 124"/>
            <p:cNvSpPr txBox="1"/>
            <p:nvPr/>
          </p:nvSpPr>
          <p:spPr>
            <a:xfrm>
              <a:off x="4645186" y="4571552"/>
              <a:ext cx="351304" cy="174309"/>
            </a:xfrm>
            <a:prstGeom prst="rect">
              <a:avLst/>
            </a:prstGeom>
          </p:spPr>
          <p:txBody>
            <a:bodyPr vert="horz" wrap="square" lIns="0" tIns="11206" rIns="0" bIns="0" rtlCol="0">
              <a:spAutoFit/>
            </a:bodyPr>
            <a:lstStyle/>
            <a:p>
              <a:pPr marL="11206">
                <a:spcBef>
                  <a:spcPts val="88"/>
                </a:spcBef>
              </a:pPr>
              <a:r>
                <a:rPr sz="1059" b="1" spc="-9" dirty="0">
                  <a:latin typeface="Times New Roman"/>
                  <a:cs typeface="Times New Roman"/>
                </a:rPr>
                <a:t>Ifetch</a:t>
              </a:r>
              <a:endParaRPr sz="1059">
                <a:latin typeface="Times New Roman"/>
                <a:cs typeface="Times New Roman"/>
              </a:endParaRPr>
            </a:p>
          </p:txBody>
        </p:sp>
        <p:grpSp>
          <p:nvGrpSpPr>
            <p:cNvPr id="125" name="object 125"/>
            <p:cNvGrpSpPr/>
            <p:nvPr/>
          </p:nvGrpSpPr>
          <p:grpSpPr>
            <a:xfrm>
              <a:off x="5100827" y="4371807"/>
              <a:ext cx="2760569" cy="640416"/>
              <a:chOff x="5628537" y="4954714"/>
              <a:chExt cx="3128645" cy="725805"/>
            </a:xfrm>
          </p:grpSpPr>
          <p:sp>
            <p:nvSpPr>
              <p:cNvPr id="126" name="object 126"/>
              <p:cNvSpPr/>
              <p:nvPr/>
            </p:nvSpPr>
            <p:spPr>
              <a:xfrm>
                <a:off x="6517933" y="4969954"/>
                <a:ext cx="86995" cy="695325"/>
              </a:xfrm>
              <a:custGeom>
                <a:avLst/>
                <a:gdLst/>
                <a:ahLst/>
                <a:cxnLst/>
                <a:rect l="l" t="t" r="r" b="b"/>
                <a:pathLst>
                  <a:path w="86995" h="695325">
                    <a:moveTo>
                      <a:pt x="86932" y="0"/>
                    </a:moveTo>
                    <a:lnTo>
                      <a:pt x="0" y="0"/>
                    </a:lnTo>
                    <a:lnTo>
                      <a:pt x="0" y="694987"/>
                    </a:lnTo>
                    <a:lnTo>
                      <a:pt x="86932" y="694987"/>
                    </a:lnTo>
                    <a:lnTo>
                      <a:pt x="86932" y="0"/>
                    </a:lnTo>
                    <a:close/>
                  </a:path>
                </a:pathLst>
              </a:custGeom>
              <a:solidFill>
                <a:srgbClr val="00FF00"/>
              </a:solidFill>
            </p:spPr>
            <p:txBody>
              <a:bodyPr wrap="square" lIns="0" tIns="0" rIns="0" bIns="0" rtlCol="0"/>
              <a:lstStyle/>
              <a:p>
                <a:endParaRPr sz="1588"/>
              </a:p>
            </p:txBody>
          </p:sp>
          <p:sp>
            <p:nvSpPr>
              <p:cNvPr id="127" name="object 127"/>
              <p:cNvSpPr/>
              <p:nvPr/>
            </p:nvSpPr>
            <p:spPr>
              <a:xfrm>
                <a:off x="6517933" y="4969954"/>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28" name="object 128"/>
              <p:cNvSpPr/>
              <p:nvPr/>
            </p:nvSpPr>
            <p:spPr>
              <a:xfrm>
                <a:off x="8114113" y="4969954"/>
                <a:ext cx="86995" cy="695325"/>
              </a:xfrm>
              <a:custGeom>
                <a:avLst/>
                <a:gdLst/>
                <a:ahLst/>
                <a:cxnLst/>
                <a:rect l="l" t="t" r="r" b="b"/>
                <a:pathLst>
                  <a:path w="86995" h="695325">
                    <a:moveTo>
                      <a:pt x="86931" y="0"/>
                    </a:moveTo>
                    <a:lnTo>
                      <a:pt x="0" y="0"/>
                    </a:lnTo>
                    <a:lnTo>
                      <a:pt x="0" y="694987"/>
                    </a:lnTo>
                    <a:lnTo>
                      <a:pt x="86931" y="694987"/>
                    </a:lnTo>
                    <a:lnTo>
                      <a:pt x="86931" y="0"/>
                    </a:lnTo>
                    <a:close/>
                  </a:path>
                </a:pathLst>
              </a:custGeom>
              <a:solidFill>
                <a:srgbClr val="00FF00"/>
              </a:solidFill>
            </p:spPr>
            <p:txBody>
              <a:bodyPr wrap="square" lIns="0" tIns="0" rIns="0" bIns="0" rtlCol="0"/>
              <a:lstStyle/>
              <a:p>
                <a:endParaRPr sz="1588"/>
              </a:p>
            </p:txBody>
          </p:sp>
          <p:sp>
            <p:nvSpPr>
              <p:cNvPr id="129" name="object 129"/>
              <p:cNvSpPr/>
              <p:nvPr/>
            </p:nvSpPr>
            <p:spPr>
              <a:xfrm>
                <a:off x="8114113" y="4969954"/>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30" name="object 130"/>
              <p:cNvSpPr/>
              <p:nvPr/>
            </p:nvSpPr>
            <p:spPr>
              <a:xfrm>
                <a:off x="5643777" y="4969954"/>
                <a:ext cx="86995" cy="695325"/>
              </a:xfrm>
              <a:custGeom>
                <a:avLst/>
                <a:gdLst/>
                <a:ahLst/>
                <a:cxnLst/>
                <a:rect l="l" t="t" r="r" b="b"/>
                <a:pathLst>
                  <a:path w="86995" h="695325">
                    <a:moveTo>
                      <a:pt x="86932" y="0"/>
                    </a:moveTo>
                    <a:lnTo>
                      <a:pt x="0" y="0"/>
                    </a:lnTo>
                    <a:lnTo>
                      <a:pt x="0" y="694987"/>
                    </a:lnTo>
                    <a:lnTo>
                      <a:pt x="86932" y="694987"/>
                    </a:lnTo>
                    <a:lnTo>
                      <a:pt x="86932" y="0"/>
                    </a:lnTo>
                    <a:close/>
                  </a:path>
                </a:pathLst>
              </a:custGeom>
              <a:solidFill>
                <a:srgbClr val="00FF00"/>
              </a:solidFill>
            </p:spPr>
            <p:txBody>
              <a:bodyPr wrap="square" lIns="0" tIns="0" rIns="0" bIns="0" rtlCol="0"/>
              <a:lstStyle/>
              <a:p>
                <a:endParaRPr sz="1588"/>
              </a:p>
            </p:txBody>
          </p:sp>
          <p:sp>
            <p:nvSpPr>
              <p:cNvPr id="131" name="object 131"/>
              <p:cNvSpPr/>
              <p:nvPr/>
            </p:nvSpPr>
            <p:spPr>
              <a:xfrm>
                <a:off x="5643777" y="4969954"/>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32" name="object 132"/>
              <p:cNvSpPr/>
              <p:nvPr/>
            </p:nvSpPr>
            <p:spPr>
              <a:xfrm>
                <a:off x="7314816" y="4974036"/>
                <a:ext cx="85725" cy="685800"/>
              </a:xfrm>
              <a:custGeom>
                <a:avLst/>
                <a:gdLst/>
                <a:ahLst/>
                <a:cxnLst/>
                <a:rect l="l" t="t" r="r" b="b"/>
                <a:pathLst>
                  <a:path w="85725" h="685800">
                    <a:moveTo>
                      <a:pt x="85723" y="0"/>
                    </a:moveTo>
                    <a:lnTo>
                      <a:pt x="0" y="0"/>
                    </a:lnTo>
                    <a:lnTo>
                      <a:pt x="0" y="685802"/>
                    </a:lnTo>
                    <a:lnTo>
                      <a:pt x="85723" y="685802"/>
                    </a:lnTo>
                    <a:lnTo>
                      <a:pt x="85723" y="0"/>
                    </a:lnTo>
                    <a:close/>
                  </a:path>
                </a:pathLst>
              </a:custGeom>
              <a:solidFill>
                <a:srgbClr val="00FF00"/>
              </a:solidFill>
            </p:spPr>
            <p:txBody>
              <a:bodyPr wrap="square" lIns="0" tIns="0" rIns="0" bIns="0" rtlCol="0"/>
              <a:lstStyle/>
              <a:p>
                <a:endParaRPr sz="1588"/>
              </a:p>
            </p:txBody>
          </p:sp>
          <p:sp>
            <p:nvSpPr>
              <p:cNvPr id="133" name="object 133"/>
              <p:cNvSpPr/>
              <p:nvPr/>
            </p:nvSpPr>
            <p:spPr>
              <a:xfrm>
                <a:off x="7314816" y="4974036"/>
                <a:ext cx="85725" cy="685800"/>
              </a:xfrm>
              <a:custGeom>
                <a:avLst/>
                <a:gdLst/>
                <a:ahLst/>
                <a:cxnLst/>
                <a:rect l="l" t="t" r="r" b="b"/>
                <a:pathLst>
                  <a:path w="85725" h="685800">
                    <a:moveTo>
                      <a:pt x="0" y="0"/>
                    </a:moveTo>
                    <a:lnTo>
                      <a:pt x="85724" y="0"/>
                    </a:lnTo>
                    <a:lnTo>
                      <a:pt x="85724"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34" name="object 134"/>
              <p:cNvSpPr/>
              <p:nvPr/>
            </p:nvSpPr>
            <p:spPr>
              <a:xfrm>
                <a:off x="8308003" y="5121244"/>
                <a:ext cx="217170" cy="363220"/>
              </a:xfrm>
              <a:custGeom>
                <a:avLst/>
                <a:gdLst/>
                <a:ahLst/>
                <a:cxnLst/>
                <a:rect l="l" t="t" r="r" b="b"/>
                <a:pathLst>
                  <a:path w="217170" h="363220">
                    <a:moveTo>
                      <a:pt x="216833" y="0"/>
                    </a:moveTo>
                    <a:lnTo>
                      <a:pt x="0" y="0"/>
                    </a:lnTo>
                    <a:lnTo>
                      <a:pt x="0" y="362942"/>
                    </a:lnTo>
                    <a:lnTo>
                      <a:pt x="216833" y="362942"/>
                    </a:lnTo>
                    <a:lnTo>
                      <a:pt x="216833" y="0"/>
                    </a:lnTo>
                    <a:close/>
                  </a:path>
                </a:pathLst>
              </a:custGeom>
              <a:solidFill>
                <a:srgbClr val="0099FF"/>
              </a:solidFill>
            </p:spPr>
            <p:txBody>
              <a:bodyPr wrap="square" lIns="0" tIns="0" rIns="0" bIns="0" rtlCol="0"/>
              <a:lstStyle/>
              <a:p>
                <a:endParaRPr sz="1588"/>
              </a:p>
            </p:txBody>
          </p:sp>
          <p:sp>
            <p:nvSpPr>
              <p:cNvPr id="135" name="object 135"/>
              <p:cNvSpPr/>
              <p:nvPr/>
            </p:nvSpPr>
            <p:spPr>
              <a:xfrm>
                <a:off x="8308004" y="5121244"/>
                <a:ext cx="433705" cy="367665"/>
              </a:xfrm>
              <a:custGeom>
                <a:avLst/>
                <a:gdLst/>
                <a:ahLst/>
                <a:cxnLst/>
                <a:rect l="l" t="t" r="r" b="b"/>
                <a:pathLst>
                  <a:path w="433704" h="367664">
                    <a:moveTo>
                      <a:pt x="433666" y="0"/>
                    </a:moveTo>
                    <a:lnTo>
                      <a:pt x="0" y="0"/>
                    </a:lnTo>
                    <a:lnTo>
                      <a:pt x="0" y="367192"/>
                    </a:lnTo>
                    <a:lnTo>
                      <a:pt x="433666" y="367192"/>
                    </a:lnTo>
                    <a:lnTo>
                      <a:pt x="433666" y="0"/>
                    </a:lnTo>
                    <a:close/>
                  </a:path>
                </a:pathLst>
              </a:custGeom>
              <a:ln w="30479">
                <a:solidFill>
                  <a:srgbClr val="000000"/>
                </a:solidFill>
              </a:ln>
            </p:spPr>
            <p:txBody>
              <a:bodyPr wrap="square" lIns="0" tIns="0" rIns="0" bIns="0" rtlCol="0"/>
              <a:lstStyle/>
              <a:p>
                <a:endParaRPr sz="1588"/>
              </a:p>
            </p:txBody>
          </p:sp>
        </p:grpSp>
        <p:sp>
          <p:nvSpPr>
            <p:cNvPr id="136" name="object 136"/>
            <p:cNvSpPr txBox="1"/>
            <p:nvPr/>
          </p:nvSpPr>
          <p:spPr>
            <a:xfrm>
              <a:off x="7538550" y="4558105"/>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37" name="object 137"/>
            <p:cNvSpPr txBox="1"/>
            <p:nvPr/>
          </p:nvSpPr>
          <p:spPr>
            <a:xfrm>
              <a:off x="2400785" y="1818939"/>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1</a:t>
              </a:r>
              <a:endParaRPr sz="1324">
                <a:latin typeface="Times New Roman"/>
                <a:cs typeface="Times New Roman"/>
              </a:endParaRPr>
            </a:p>
          </p:txBody>
        </p:sp>
        <p:sp>
          <p:nvSpPr>
            <p:cNvPr id="138" name="object 138"/>
            <p:cNvSpPr txBox="1"/>
            <p:nvPr/>
          </p:nvSpPr>
          <p:spPr>
            <a:xfrm>
              <a:off x="6001205" y="1818939"/>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6</a:t>
              </a:r>
              <a:endParaRPr sz="1324">
                <a:latin typeface="Times New Roman"/>
                <a:cs typeface="Times New Roman"/>
              </a:endParaRPr>
            </a:p>
          </p:txBody>
        </p:sp>
        <p:sp>
          <p:nvSpPr>
            <p:cNvPr id="139" name="object 139"/>
            <p:cNvSpPr txBox="1"/>
            <p:nvPr/>
          </p:nvSpPr>
          <p:spPr>
            <a:xfrm>
              <a:off x="6709625" y="1818939"/>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7</a:t>
              </a:r>
              <a:endParaRPr sz="1324">
                <a:latin typeface="Times New Roman"/>
                <a:cs typeface="Times New Roman"/>
              </a:endParaRPr>
            </a:p>
          </p:txBody>
        </p:sp>
        <p:sp>
          <p:nvSpPr>
            <p:cNvPr id="140" name="object 140"/>
            <p:cNvSpPr txBox="1"/>
            <p:nvPr/>
          </p:nvSpPr>
          <p:spPr>
            <a:xfrm>
              <a:off x="3089771" y="1291814"/>
              <a:ext cx="2688291" cy="743888"/>
            </a:xfrm>
            <a:prstGeom prst="rect">
              <a:avLst/>
            </a:prstGeom>
          </p:spPr>
          <p:txBody>
            <a:bodyPr vert="horz" wrap="square" lIns="0" tIns="11206" rIns="0" bIns="0" rtlCol="0">
              <a:spAutoFit/>
            </a:bodyPr>
            <a:lstStyle/>
            <a:p>
              <a:pPr marL="723938">
                <a:spcBef>
                  <a:spcPts val="88"/>
                </a:spcBef>
              </a:pPr>
              <a:r>
                <a:rPr sz="1853" i="1" dirty="0">
                  <a:latin typeface="Times New Roman"/>
                  <a:cs typeface="Times New Roman"/>
                </a:rPr>
                <a:t>Time</a:t>
              </a:r>
              <a:r>
                <a:rPr sz="1853" i="1" spc="-18" dirty="0">
                  <a:latin typeface="Times New Roman"/>
                  <a:cs typeface="Times New Roman"/>
                </a:rPr>
                <a:t> </a:t>
              </a:r>
              <a:r>
                <a:rPr sz="1853" i="1" dirty="0">
                  <a:latin typeface="Times New Roman"/>
                  <a:cs typeface="Times New Roman"/>
                </a:rPr>
                <a:t>(clock</a:t>
              </a:r>
              <a:r>
                <a:rPr sz="1853" i="1" spc="-13" dirty="0">
                  <a:latin typeface="Times New Roman"/>
                  <a:cs typeface="Times New Roman"/>
                </a:rPr>
                <a:t> </a:t>
              </a:r>
              <a:r>
                <a:rPr sz="1853" i="1" spc="-9" dirty="0">
                  <a:latin typeface="Times New Roman"/>
                  <a:cs typeface="Times New Roman"/>
                </a:rPr>
                <a:t>cycles)</a:t>
              </a:r>
              <a:endParaRPr sz="1853">
                <a:latin typeface="Times New Roman"/>
                <a:cs typeface="Times New Roman"/>
              </a:endParaRPr>
            </a:p>
            <a:p>
              <a:pPr marL="11206">
                <a:spcBef>
                  <a:spcPts val="1928"/>
                </a:spcBef>
                <a:tabLst>
                  <a:tab pos="741309" algn="l"/>
                  <a:tab pos="1458523" algn="l"/>
                  <a:tab pos="2150524" algn="l"/>
                </a:tabLst>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2</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3</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4</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5</a:t>
              </a:r>
              <a:endParaRPr sz="1324">
                <a:latin typeface="Times New Roman"/>
                <a:cs typeface="Times New Roman"/>
              </a:endParaRPr>
            </a:p>
          </p:txBody>
        </p:sp>
        <p:grpSp>
          <p:nvGrpSpPr>
            <p:cNvPr id="141" name="object 141"/>
            <p:cNvGrpSpPr/>
            <p:nvPr/>
          </p:nvGrpSpPr>
          <p:grpSpPr>
            <a:xfrm>
              <a:off x="6131591" y="5248053"/>
              <a:ext cx="406213" cy="351304"/>
              <a:chOff x="6796736" y="5947793"/>
              <a:chExt cx="460375" cy="398145"/>
            </a:xfrm>
          </p:grpSpPr>
          <p:sp>
            <p:nvSpPr>
              <p:cNvPr id="142" name="object 142"/>
              <p:cNvSpPr/>
              <p:nvPr/>
            </p:nvSpPr>
            <p:spPr>
              <a:xfrm>
                <a:off x="7026864" y="5963033"/>
                <a:ext cx="215265" cy="363220"/>
              </a:xfrm>
              <a:custGeom>
                <a:avLst/>
                <a:gdLst/>
                <a:ahLst/>
                <a:cxnLst/>
                <a:rect l="l" t="t" r="r" b="b"/>
                <a:pathLst>
                  <a:path w="215265" h="363220">
                    <a:moveTo>
                      <a:pt x="214889" y="0"/>
                    </a:moveTo>
                    <a:lnTo>
                      <a:pt x="0" y="0"/>
                    </a:lnTo>
                    <a:lnTo>
                      <a:pt x="0" y="362943"/>
                    </a:lnTo>
                    <a:lnTo>
                      <a:pt x="214889" y="362943"/>
                    </a:lnTo>
                    <a:lnTo>
                      <a:pt x="214889" y="0"/>
                    </a:lnTo>
                    <a:close/>
                  </a:path>
                </a:pathLst>
              </a:custGeom>
              <a:solidFill>
                <a:srgbClr val="0099FF"/>
              </a:solidFill>
            </p:spPr>
            <p:txBody>
              <a:bodyPr wrap="square" lIns="0" tIns="0" rIns="0" bIns="0" rtlCol="0"/>
              <a:lstStyle/>
              <a:p>
                <a:endParaRPr sz="1588"/>
              </a:p>
            </p:txBody>
          </p:sp>
          <p:sp>
            <p:nvSpPr>
              <p:cNvPr id="143" name="object 143"/>
              <p:cNvSpPr/>
              <p:nvPr/>
            </p:nvSpPr>
            <p:spPr>
              <a:xfrm>
                <a:off x="6811976" y="5963033"/>
                <a:ext cx="429895" cy="367665"/>
              </a:xfrm>
              <a:custGeom>
                <a:avLst/>
                <a:gdLst/>
                <a:ahLst/>
                <a:cxnLst/>
                <a:rect l="l" t="t" r="r" b="b"/>
                <a:pathLst>
                  <a:path w="429895" h="367664">
                    <a:moveTo>
                      <a:pt x="0" y="0"/>
                    </a:moveTo>
                    <a:lnTo>
                      <a:pt x="429777" y="0"/>
                    </a:lnTo>
                    <a:lnTo>
                      <a:pt x="429777"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44" name="object 144"/>
            <p:cNvSpPr txBox="1"/>
            <p:nvPr/>
          </p:nvSpPr>
          <p:spPr>
            <a:xfrm>
              <a:off x="6215201" y="530038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45" name="object 145"/>
            <p:cNvGrpSpPr/>
            <p:nvPr/>
          </p:nvGrpSpPr>
          <p:grpSpPr>
            <a:xfrm>
              <a:off x="6512522" y="5151771"/>
              <a:ext cx="712134" cy="542925"/>
              <a:chOff x="7228458" y="5838673"/>
              <a:chExt cx="807085" cy="615315"/>
            </a:xfrm>
          </p:grpSpPr>
          <p:sp>
            <p:nvSpPr>
              <p:cNvPr id="146" name="object 146"/>
              <p:cNvSpPr/>
              <p:nvPr/>
            </p:nvSpPr>
            <p:spPr>
              <a:xfrm>
                <a:off x="7243698" y="6037103"/>
                <a:ext cx="474980" cy="219075"/>
              </a:xfrm>
              <a:custGeom>
                <a:avLst/>
                <a:gdLst/>
                <a:ahLst/>
                <a:cxnLst/>
                <a:rect l="l" t="t" r="r" b="b"/>
                <a:pathLst>
                  <a:path w="474979" h="219075">
                    <a:moveTo>
                      <a:pt x="0" y="0"/>
                    </a:moveTo>
                    <a:lnTo>
                      <a:pt x="77078" y="0"/>
                    </a:lnTo>
                  </a:path>
                  <a:path w="474979" h="219075">
                    <a:moveTo>
                      <a:pt x="164011" y="0"/>
                    </a:moveTo>
                    <a:lnTo>
                      <a:pt x="474504" y="0"/>
                    </a:lnTo>
                  </a:path>
                  <a:path w="474979" h="219075">
                    <a:moveTo>
                      <a:pt x="0" y="219055"/>
                    </a:moveTo>
                    <a:lnTo>
                      <a:pt x="77078" y="219055"/>
                    </a:lnTo>
                  </a:path>
                  <a:path w="474979" h="219075">
                    <a:moveTo>
                      <a:pt x="164011" y="219055"/>
                    </a:moveTo>
                    <a:lnTo>
                      <a:pt x="474504" y="219055"/>
                    </a:lnTo>
                  </a:path>
                </a:pathLst>
              </a:custGeom>
              <a:ln w="30481">
                <a:solidFill>
                  <a:srgbClr val="000000"/>
                </a:solidFill>
              </a:ln>
            </p:spPr>
            <p:txBody>
              <a:bodyPr wrap="square" lIns="0" tIns="0" rIns="0" bIns="0" rtlCol="0"/>
              <a:lstStyle/>
              <a:p>
                <a:endParaRPr sz="1588"/>
              </a:p>
            </p:txBody>
          </p:sp>
          <p:sp>
            <p:nvSpPr>
              <p:cNvPr id="147" name="object 147"/>
              <p:cNvSpPr/>
              <p:nvPr/>
            </p:nvSpPr>
            <p:spPr>
              <a:xfrm>
                <a:off x="7656891" y="5853913"/>
                <a:ext cx="363855" cy="584835"/>
              </a:xfrm>
              <a:custGeom>
                <a:avLst/>
                <a:gdLst/>
                <a:ahLst/>
                <a:cxnLst/>
                <a:rect l="l" t="t" r="r" b="b"/>
                <a:pathLst>
                  <a:path w="363854" h="584835">
                    <a:moveTo>
                      <a:pt x="0" y="0"/>
                    </a:moveTo>
                    <a:lnTo>
                      <a:pt x="0" y="584671"/>
                    </a:lnTo>
                    <a:lnTo>
                      <a:pt x="363278" y="438503"/>
                    </a:lnTo>
                    <a:lnTo>
                      <a:pt x="363278" y="146168"/>
                    </a:lnTo>
                    <a:lnTo>
                      <a:pt x="0" y="0"/>
                    </a:lnTo>
                    <a:close/>
                  </a:path>
                </a:pathLst>
              </a:custGeom>
              <a:solidFill>
                <a:srgbClr val="FFFFFF"/>
              </a:solidFill>
            </p:spPr>
            <p:txBody>
              <a:bodyPr wrap="square" lIns="0" tIns="0" rIns="0" bIns="0" rtlCol="0"/>
              <a:lstStyle/>
              <a:p>
                <a:endParaRPr sz="1588"/>
              </a:p>
            </p:txBody>
          </p:sp>
          <p:sp>
            <p:nvSpPr>
              <p:cNvPr id="148" name="object 148"/>
              <p:cNvSpPr/>
              <p:nvPr/>
            </p:nvSpPr>
            <p:spPr>
              <a:xfrm>
                <a:off x="7656891" y="5853913"/>
                <a:ext cx="363855" cy="584835"/>
              </a:xfrm>
              <a:custGeom>
                <a:avLst/>
                <a:gdLst/>
                <a:ahLst/>
                <a:cxnLst/>
                <a:rect l="l" t="t" r="r" b="b"/>
                <a:pathLst>
                  <a:path w="363854" h="584835">
                    <a:moveTo>
                      <a:pt x="0" y="584671"/>
                    </a:moveTo>
                    <a:lnTo>
                      <a:pt x="363277" y="438503"/>
                    </a:lnTo>
                    <a:lnTo>
                      <a:pt x="363277"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149" name="object 149"/>
              <p:cNvSpPr/>
              <p:nvPr/>
            </p:nvSpPr>
            <p:spPr>
              <a:xfrm>
                <a:off x="7632636" y="6052229"/>
                <a:ext cx="194310" cy="189230"/>
              </a:xfrm>
              <a:custGeom>
                <a:avLst/>
                <a:gdLst/>
                <a:ahLst/>
                <a:cxnLst/>
                <a:rect l="l" t="t" r="r" b="b"/>
                <a:pathLst>
                  <a:path w="194309" h="189229">
                    <a:moveTo>
                      <a:pt x="0" y="0"/>
                    </a:moveTo>
                    <a:lnTo>
                      <a:pt x="0" y="188800"/>
                    </a:lnTo>
                    <a:lnTo>
                      <a:pt x="194034" y="94400"/>
                    </a:lnTo>
                    <a:lnTo>
                      <a:pt x="0" y="0"/>
                    </a:lnTo>
                    <a:close/>
                  </a:path>
                </a:pathLst>
              </a:custGeom>
              <a:solidFill>
                <a:srgbClr val="FFFFFF"/>
              </a:solidFill>
            </p:spPr>
            <p:txBody>
              <a:bodyPr wrap="square" lIns="0" tIns="0" rIns="0" bIns="0" rtlCol="0"/>
              <a:lstStyle/>
              <a:p>
                <a:endParaRPr sz="1588"/>
              </a:p>
            </p:txBody>
          </p:sp>
          <p:sp>
            <p:nvSpPr>
              <p:cNvPr id="150" name="object 150"/>
              <p:cNvSpPr/>
              <p:nvPr/>
            </p:nvSpPr>
            <p:spPr>
              <a:xfrm>
                <a:off x="7656891" y="6063268"/>
                <a:ext cx="149860" cy="166370"/>
              </a:xfrm>
              <a:custGeom>
                <a:avLst/>
                <a:gdLst/>
                <a:ahLst/>
                <a:cxnLst/>
                <a:rect l="l" t="t" r="r" b="b"/>
                <a:pathLst>
                  <a:path w="149859" h="166370">
                    <a:moveTo>
                      <a:pt x="0" y="0"/>
                    </a:moveTo>
                    <a:lnTo>
                      <a:pt x="149838" y="82980"/>
                    </a:lnTo>
                    <a:lnTo>
                      <a:pt x="0" y="165961"/>
                    </a:lnTo>
                  </a:path>
                </a:pathLst>
              </a:custGeom>
              <a:ln w="30479">
                <a:solidFill>
                  <a:srgbClr val="000000"/>
                </a:solidFill>
              </a:ln>
            </p:spPr>
            <p:txBody>
              <a:bodyPr wrap="square" lIns="0" tIns="0" rIns="0" bIns="0" rtlCol="0"/>
              <a:lstStyle/>
              <a:p>
                <a:endParaRPr sz="1588"/>
              </a:p>
            </p:txBody>
          </p:sp>
        </p:grpSp>
        <p:sp>
          <p:nvSpPr>
            <p:cNvPr id="151" name="object 151"/>
            <p:cNvSpPr txBox="1"/>
            <p:nvPr/>
          </p:nvSpPr>
          <p:spPr>
            <a:xfrm>
              <a:off x="7007582" y="5261581"/>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52" name="object 152"/>
            <p:cNvGrpSpPr/>
            <p:nvPr/>
          </p:nvGrpSpPr>
          <p:grpSpPr>
            <a:xfrm>
              <a:off x="7200600" y="5249443"/>
              <a:ext cx="1051672" cy="349624"/>
              <a:chOff x="8008279" y="5949369"/>
              <a:chExt cx="1191895" cy="396240"/>
            </a:xfrm>
          </p:grpSpPr>
          <p:sp>
            <p:nvSpPr>
              <p:cNvPr id="153" name="object 153"/>
              <p:cNvSpPr/>
              <p:nvPr/>
            </p:nvSpPr>
            <p:spPr>
              <a:xfrm>
                <a:off x="8023519" y="6147419"/>
                <a:ext cx="1161415" cy="0"/>
              </a:xfrm>
              <a:custGeom>
                <a:avLst/>
                <a:gdLst/>
                <a:ahLst/>
                <a:cxnLst/>
                <a:rect l="l" t="t" r="r" b="b"/>
                <a:pathLst>
                  <a:path w="1161415">
                    <a:moveTo>
                      <a:pt x="0" y="0"/>
                    </a:moveTo>
                    <a:lnTo>
                      <a:pt x="101385" y="0"/>
                    </a:lnTo>
                  </a:path>
                  <a:path w="1161415">
                    <a:moveTo>
                      <a:pt x="187110" y="0"/>
                    </a:moveTo>
                    <a:lnTo>
                      <a:pt x="349730" y="0"/>
                    </a:lnTo>
                  </a:path>
                  <a:path w="1161415">
                    <a:moveTo>
                      <a:pt x="1054022" y="0"/>
                    </a:moveTo>
                    <a:lnTo>
                      <a:pt x="1160980" y="0"/>
                    </a:lnTo>
                  </a:path>
                  <a:path w="1161415">
                    <a:moveTo>
                      <a:pt x="822603" y="0"/>
                    </a:moveTo>
                    <a:lnTo>
                      <a:pt x="967091" y="0"/>
                    </a:lnTo>
                  </a:path>
                </a:pathLst>
              </a:custGeom>
              <a:ln w="30481">
                <a:solidFill>
                  <a:srgbClr val="000000"/>
                </a:solidFill>
              </a:ln>
            </p:spPr>
            <p:txBody>
              <a:bodyPr wrap="square" lIns="0" tIns="0" rIns="0" bIns="0" rtlCol="0"/>
              <a:lstStyle/>
              <a:p>
                <a:endParaRPr sz="1588"/>
              </a:p>
            </p:txBody>
          </p:sp>
          <p:sp>
            <p:nvSpPr>
              <p:cNvPr id="154" name="object 154"/>
              <p:cNvSpPr/>
              <p:nvPr/>
            </p:nvSpPr>
            <p:spPr>
              <a:xfrm>
                <a:off x="8373249" y="5964609"/>
                <a:ext cx="431165" cy="365760"/>
              </a:xfrm>
              <a:custGeom>
                <a:avLst/>
                <a:gdLst/>
                <a:ahLst/>
                <a:cxnLst/>
                <a:rect l="l" t="t" r="r" b="b"/>
                <a:pathLst>
                  <a:path w="431165" h="365760">
                    <a:moveTo>
                      <a:pt x="0" y="0"/>
                    </a:moveTo>
                    <a:lnTo>
                      <a:pt x="430700" y="0"/>
                    </a:lnTo>
                    <a:lnTo>
                      <a:pt x="430700"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55" name="object 155"/>
            <p:cNvSpPr txBox="1"/>
            <p:nvPr/>
          </p:nvSpPr>
          <p:spPr>
            <a:xfrm>
              <a:off x="7515596" y="5303071"/>
              <a:ext cx="389964" cy="174309"/>
            </a:xfrm>
            <a:prstGeom prst="rect">
              <a:avLst/>
            </a:prstGeom>
          </p:spPr>
          <p:txBody>
            <a:bodyPr vert="horz" wrap="square" lIns="0" tIns="11206" rIns="0" bIns="0" rtlCol="0">
              <a:spAutoFit/>
            </a:bodyPr>
            <a:lstStyle/>
            <a:p>
              <a:pPr>
                <a:spcBef>
                  <a:spcPts val="88"/>
                </a:spcBef>
              </a:pPr>
              <a:r>
                <a:rPr sz="1059" b="1" spc="-31" dirty="0">
                  <a:latin typeface="Times New Roman"/>
                  <a:cs typeface="Times New Roman"/>
                </a:rPr>
                <a:t>DMem</a:t>
              </a:r>
              <a:endParaRPr sz="1059">
                <a:latin typeface="Times New Roman"/>
                <a:cs typeface="Times New Roman"/>
              </a:endParaRPr>
            </a:p>
          </p:txBody>
        </p:sp>
        <p:grpSp>
          <p:nvGrpSpPr>
            <p:cNvPr id="156" name="object 156"/>
            <p:cNvGrpSpPr/>
            <p:nvPr/>
          </p:nvGrpSpPr>
          <p:grpSpPr>
            <a:xfrm>
              <a:off x="5770790" y="5313409"/>
              <a:ext cx="2294404" cy="381559"/>
              <a:chOff x="6387828" y="6021863"/>
              <a:chExt cx="2600325" cy="432434"/>
            </a:xfrm>
          </p:grpSpPr>
          <p:sp>
            <p:nvSpPr>
              <p:cNvPr id="157" name="object 157"/>
              <p:cNvSpPr/>
              <p:nvPr/>
            </p:nvSpPr>
            <p:spPr>
              <a:xfrm>
                <a:off x="8326892" y="6147418"/>
                <a:ext cx="645795" cy="292100"/>
              </a:xfrm>
              <a:custGeom>
                <a:avLst/>
                <a:gdLst/>
                <a:ahLst/>
                <a:cxnLst/>
                <a:rect l="l" t="t" r="r" b="b"/>
                <a:pathLst>
                  <a:path w="645795" h="292100">
                    <a:moveTo>
                      <a:pt x="0" y="0"/>
                    </a:moveTo>
                    <a:lnTo>
                      <a:pt x="0" y="291547"/>
                    </a:lnTo>
                    <a:lnTo>
                      <a:pt x="569679" y="291547"/>
                    </a:lnTo>
                    <a:lnTo>
                      <a:pt x="569679" y="109330"/>
                    </a:lnTo>
                    <a:lnTo>
                      <a:pt x="645637" y="109330"/>
                    </a:lnTo>
                  </a:path>
                </a:pathLst>
              </a:custGeom>
              <a:ln w="30479">
                <a:solidFill>
                  <a:srgbClr val="000000"/>
                </a:solidFill>
              </a:ln>
            </p:spPr>
            <p:txBody>
              <a:bodyPr wrap="square" lIns="0" tIns="0" rIns="0" bIns="0" rtlCol="0"/>
              <a:lstStyle/>
              <a:p>
                <a:endParaRPr sz="1588"/>
              </a:p>
            </p:txBody>
          </p:sp>
          <p:sp>
            <p:nvSpPr>
              <p:cNvPr id="158" name="object 158"/>
              <p:cNvSpPr/>
              <p:nvPr/>
            </p:nvSpPr>
            <p:spPr>
              <a:xfrm>
                <a:off x="6403068" y="6037103"/>
                <a:ext cx="408940" cy="220979"/>
              </a:xfrm>
              <a:custGeom>
                <a:avLst/>
                <a:gdLst/>
                <a:ahLst/>
                <a:cxnLst/>
                <a:rect l="l" t="t" r="r" b="b"/>
                <a:pathLst>
                  <a:path w="408940" h="220979">
                    <a:moveTo>
                      <a:pt x="204137" y="220630"/>
                    </a:moveTo>
                    <a:lnTo>
                      <a:pt x="408908" y="220630"/>
                    </a:lnTo>
                  </a:path>
                  <a:path w="408940" h="220979">
                    <a:moveTo>
                      <a:pt x="0" y="220630"/>
                    </a:moveTo>
                    <a:lnTo>
                      <a:pt x="117204" y="220630"/>
                    </a:lnTo>
                  </a:path>
                  <a:path w="408940" h="220979">
                    <a:moveTo>
                      <a:pt x="204137" y="0"/>
                    </a:moveTo>
                    <a:lnTo>
                      <a:pt x="406964" y="0"/>
                    </a:lnTo>
                  </a:path>
                  <a:path w="408940" h="220979">
                    <a:moveTo>
                      <a:pt x="0" y="0"/>
                    </a:moveTo>
                    <a:lnTo>
                      <a:pt x="117204" y="0"/>
                    </a:lnTo>
                  </a:path>
                </a:pathLst>
              </a:custGeom>
              <a:ln w="30481">
                <a:solidFill>
                  <a:srgbClr val="000000"/>
                </a:solidFill>
              </a:ln>
            </p:spPr>
            <p:txBody>
              <a:bodyPr wrap="square" lIns="0" tIns="0" rIns="0" bIns="0" rtlCol="0"/>
              <a:lstStyle/>
              <a:p>
                <a:endParaRPr sz="1588"/>
              </a:p>
            </p:txBody>
          </p:sp>
        </p:grpSp>
        <p:sp>
          <p:nvSpPr>
            <p:cNvPr id="159" name="object 159"/>
            <p:cNvSpPr txBox="1"/>
            <p:nvPr/>
          </p:nvSpPr>
          <p:spPr>
            <a:xfrm>
              <a:off x="5402514" y="5262195"/>
              <a:ext cx="382121" cy="215608"/>
            </a:xfrm>
            <a:prstGeom prst="rect">
              <a:avLst/>
            </a:prstGeom>
            <a:ln w="30479">
              <a:solidFill>
                <a:srgbClr val="000000"/>
              </a:solidFill>
            </a:ln>
          </p:spPr>
          <p:txBody>
            <a:bodyPr vert="horz" wrap="square" lIns="0" tIns="52106" rIns="0" bIns="0" rtlCol="0">
              <a:spAutoFit/>
            </a:bodyPr>
            <a:lstStyle/>
            <a:p>
              <a:pPr marL="26896">
                <a:spcBef>
                  <a:spcPts val="409"/>
                </a:spcBef>
              </a:pPr>
              <a:r>
                <a:rPr sz="1059" b="1" spc="-9" dirty="0">
                  <a:latin typeface="Times New Roman"/>
                  <a:cs typeface="Times New Roman"/>
                </a:rPr>
                <a:t>Ifetch</a:t>
              </a:r>
              <a:endParaRPr sz="1059">
                <a:latin typeface="Times New Roman"/>
                <a:cs typeface="Times New Roman"/>
              </a:endParaRPr>
            </a:p>
          </p:txBody>
        </p:sp>
        <p:grpSp>
          <p:nvGrpSpPr>
            <p:cNvPr id="160" name="object 160"/>
            <p:cNvGrpSpPr/>
            <p:nvPr/>
          </p:nvGrpSpPr>
          <p:grpSpPr>
            <a:xfrm>
              <a:off x="5874205" y="5103438"/>
              <a:ext cx="2760569" cy="640416"/>
              <a:chOff x="6505032" y="5783896"/>
              <a:chExt cx="3128645" cy="725805"/>
            </a:xfrm>
          </p:grpSpPr>
          <p:sp>
            <p:nvSpPr>
              <p:cNvPr id="161" name="object 161"/>
              <p:cNvSpPr/>
              <p:nvPr/>
            </p:nvSpPr>
            <p:spPr>
              <a:xfrm>
                <a:off x="7320776" y="5799136"/>
                <a:ext cx="86995" cy="695325"/>
              </a:xfrm>
              <a:custGeom>
                <a:avLst/>
                <a:gdLst/>
                <a:ahLst/>
                <a:cxnLst/>
                <a:rect l="l" t="t" r="r" b="b"/>
                <a:pathLst>
                  <a:path w="86995" h="695325">
                    <a:moveTo>
                      <a:pt x="86932" y="0"/>
                    </a:moveTo>
                    <a:lnTo>
                      <a:pt x="0" y="0"/>
                    </a:lnTo>
                    <a:lnTo>
                      <a:pt x="0" y="694988"/>
                    </a:lnTo>
                    <a:lnTo>
                      <a:pt x="86932" y="694988"/>
                    </a:lnTo>
                    <a:lnTo>
                      <a:pt x="86932" y="0"/>
                    </a:lnTo>
                    <a:close/>
                  </a:path>
                </a:pathLst>
              </a:custGeom>
              <a:solidFill>
                <a:srgbClr val="00FF00"/>
              </a:solidFill>
            </p:spPr>
            <p:txBody>
              <a:bodyPr wrap="square" lIns="0" tIns="0" rIns="0" bIns="0" rtlCol="0"/>
              <a:lstStyle/>
              <a:p>
                <a:endParaRPr sz="1588"/>
              </a:p>
            </p:txBody>
          </p:sp>
          <p:sp>
            <p:nvSpPr>
              <p:cNvPr id="162" name="object 162"/>
              <p:cNvSpPr/>
              <p:nvPr/>
            </p:nvSpPr>
            <p:spPr>
              <a:xfrm>
                <a:off x="7320776" y="5799136"/>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3" name="object 163"/>
              <p:cNvSpPr/>
              <p:nvPr/>
            </p:nvSpPr>
            <p:spPr>
              <a:xfrm>
                <a:off x="8990610" y="5799136"/>
                <a:ext cx="86995" cy="695325"/>
              </a:xfrm>
              <a:custGeom>
                <a:avLst/>
                <a:gdLst/>
                <a:ahLst/>
                <a:cxnLst/>
                <a:rect l="l" t="t" r="r" b="b"/>
                <a:pathLst>
                  <a:path w="86995" h="695325">
                    <a:moveTo>
                      <a:pt x="86931" y="0"/>
                    </a:moveTo>
                    <a:lnTo>
                      <a:pt x="0" y="0"/>
                    </a:lnTo>
                    <a:lnTo>
                      <a:pt x="0" y="694988"/>
                    </a:lnTo>
                    <a:lnTo>
                      <a:pt x="86931" y="694988"/>
                    </a:lnTo>
                    <a:lnTo>
                      <a:pt x="86931" y="0"/>
                    </a:lnTo>
                    <a:close/>
                  </a:path>
                </a:pathLst>
              </a:custGeom>
              <a:solidFill>
                <a:srgbClr val="00FF00"/>
              </a:solidFill>
            </p:spPr>
            <p:txBody>
              <a:bodyPr wrap="square" lIns="0" tIns="0" rIns="0" bIns="0" rtlCol="0"/>
              <a:lstStyle/>
              <a:p>
                <a:endParaRPr sz="1588"/>
              </a:p>
            </p:txBody>
          </p:sp>
          <p:sp>
            <p:nvSpPr>
              <p:cNvPr id="164" name="object 164"/>
              <p:cNvSpPr/>
              <p:nvPr/>
            </p:nvSpPr>
            <p:spPr>
              <a:xfrm>
                <a:off x="8990610" y="5799136"/>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5" name="object 165"/>
              <p:cNvSpPr/>
              <p:nvPr/>
            </p:nvSpPr>
            <p:spPr>
              <a:xfrm>
                <a:off x="6520272" y="5799136"/>
                <a:ext cx="86995" cy="695325"/>
              </a:xfrm>
              <a:custGeom>
                <a:avLst/>
                <a:gdLst/>
                <a:ahLst/>
                <a:cxnLst/>
                <a:rect l="l" t="t" r="r" b="b"/>
                <a:pathLst>
                  <a:path w="86995" h="695325">
                    <a:moveTo>
                      <a:pt x="86932" y="0"/>
                    </a:moveTo>
                    <a:lnTo>
                      <a:pt x="0" y="0"/>
                    </a:lnTo>
                    <a:lnTo>
                      <a:pt x="0" y="694988"/>
                    </a:lnTo>
                    <a:lnTo>
                      <a:pt x="86932" y="694988"/>
                    </a:lnTo>
                    <a:lnTo>
                      <a:pt x="86932" y="0"/>
                    </a:lnTo>
                    <a:close/>
                  </a:path>
                </a:pathLst>
              </a:custGeom>
              <a:solidFill>
                <a:srgbClr val="00FF00"/>
              </a:solidFill>
            </p:spPr>
            <p:txBody>
              <a:bodyPr wrap="square" lIns="0" tIns="0" rIns="0" bIns="0" rtlCol="0"/>
              <a:lstStyle/>
              <a:p>
                <a:endParaRPr sz="1588"/>
              </a:p>
            </p:txBody>
          </p:sp>
          <p:sp>
            <p:nvSpPr>
              <p:cNvPr id="166" name="object 166"/>
              <p:cNvSpPr/>
              <p:nvPr/>
            </p:nvSpPr>
            <p:spPr>
              <a:xfrm>
                <a:off x="6520272" y="5799136"/>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7" name="object 167"/>
              <p:cNvSpPr/>
              <p:nvPr/>
            </p:nvSpPr>
            <p:spPr>
              <a:xfrm>
                <a:off x="8124904" y="5803217"/>
                <a:ext cx="85725" cy="685800"/>
              </a:xfrm>
              <a:custGeom>
                <a:avLst/>
                <a:gdLst/>
                <a:ahLst/>
                <a:cxnLst/>
                <a:rect l="l" t="t" r="r" b="b"/>
                <a:pathLst>
                  <a:path w="85725" h="685800">
                    <a:moveTo>
                      <a:pt x="85725" y="0"/>
                    </a:moveTo>
                    <a:lnTo>
                      <a:pt x="0" y="0"/>
                    </a:lnTo>
                    <a:lnTo>
                      <a:pt x="0" y="685802"/>
                    </a:lnTo>
                    <a:lnTo>
                      <a:pt x="85725" y="685802"/>
                    </a:lnTo>
                    <a:lnTo>
                      <a:pt x="85725" y="0"/>
                    </a:lnTo>
                    <a:close/>
                  </a:path>
                </a:pathLst>
              </a:custGeom>
              <a:solidFill>
                <a:srgbClr val="00FF00"/>
              </a:solidFill>
            </p:spPr>
            <p:txBody>
              <a:bodyPr wrap="square" lIns="0" tIns="0" rIns="0" bIns="0" rtlCol="0"/>
              <a:lstStyle/>
              <a:p>
                <a:endParaRPr sz="1588"/>
              </a:p>
            </p:txBody>
          </p:sp>
          <p:sp>
            <p:nvSpPr>
              <p:cNvPr id="168" name="object 168"/>
              <p:cNvSpPr/>
              <p:nvPr/>
            </p:nvSpPr>
            <p:spPr>
              <a:xfrm>
                <a:off x="8124904" y="5803217"/>
                <a:ext cx="85725" cy="685800"/>
              </a:xfrm>
              <a:custGeom>
                <a:avLst/>
                <a:gdLst/>
                <a:ahLst/>
                <a:cxnLst/>
                <a:rect l="l" t="t" r="r" b="b"/>
                <a:pathLst>
                  <a:path w="85725" h="685800">
                    <a:moveTo>
                      <a:pt x="0" y="0"/>
                    </a:moveTo>
                    <a:lnTo>
                      <a:pt x="85724" y="0"/>
                    </a:lnTo>
                    <a:lnTo>
                      <a:pt x="85724"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69" name="object 169"/>
              <p:cNvSpPr/>
              <p:nvPr/>
            </p:nvSpPr>
            <p:spPr>
              <a:xfrm>
                <a:off x="9184500" y="5950426"/>
                <a:ext cx="217170" cy="363220"/>
              </a:xfrm>
              <a:custGeom>
                <a:avLst/>
                <a:gdLst/>
                <a:ahLst/>
                <a:cxnLst/>
                <a:rect l="l" t="t" r="r" b="b"/>
                <a:pathLst>
                  <a:path w="217170" h="363220">
                    <a:moveTo>
                      <a:pt x="216833" y="0"/>
                    </a:moveTo>
                    <a:lnTo>
                      <a:pt x="0" y="0"/>
                    </a:lnTo>
                    <a:lnTo>
                      <a:pt x="0" y="362942"/>
                    </a:lnTo>
                    <a:lnTo>
                      <a:pt x="216833" y="362942"/>
                    </a:lnTo>
                    <a:lnTo>
                      <a:pt x="216833" y="0"/>
                    </a:lnTo>
                    <a:close/>
                  </a:path>
                </a:pathLst>
              </a:custGeom>
              <a:solidFill>
                <a:srgbClr val="0099FF"/>
              </a:solidFill>
            </p:spPr>
            <p:txBody>
              <a:bodyPr wrap="square" lIns="0" tIns="0" rIns="0" bIns="0" rtlCol="0"/>
              <a:lstStyle/>
              <a:p>
                <a:endParaRPr sz="1588"/>
              </a:p>
            </p:txBody>
          </p:sp>
          <p:sp>
            <p:nvSpPr>
              <p:cNvPr id="170" name="object 170"/>
              <p:cNvSpPr/>
              <p:nvPr/>
            </p:nvSpPr>
            <p:spPr>
              <a:xfrm>
                <a:off x="9184499" y="5950426"/>
                <a:ext cx="433705" cy="367665"/>
              </a:xfrm>
              <a:custGeom>
                <a:avLst/>
                <a:gdLst/>
                <a:ahLst/>
                <a:cxnLst/>
                <a:rect l="l" t="t" r="r" b="b"/>
                <a:pathLst>
                  <a:path w="433704" h="367664">
                    <a:moveTo>
                      <a:pt x="433666" y="0"/>
                    </a:moveTo>
                    <a:lnTo>
                      <a:pt x="0" y="0"/>
                    </a:lnTo>
                    <a:lnTo>
                      <a:pt x="0" y="367192"/>
                    </a:lnTo>
                    <a:lnTo>
                      <a:pt x="433666" y="367192"/>
                    </a:lnTo>
                    <a:lnTo>
                      <a:pt x="433666" y="0"/>
                    </a:lnTo>
                    <a:close/>
                  </a:path>
                </a:pathLst>
              </a:custGeom>
              <a:ln w="30479">
                <a:solidFill>
                  <a:srgbClr val="000000"/>
                </a:solidFill>
              </a:ln>
            </p:spPr>
            <p:txBody>
              <a:bodyPr wrap="square" lIns="0" tIns="0" rIns="0" bIns="0" rtlCol="0"/>
              <a:lstStyle/>
              <a:p>
                <a:endParaRPr sz="1588"/>
              </a:p>
            </p:txBody>
          </p:sp>
        </p:grpSp>
        <p:sp>
          <p:nvSpPr>
            <p:cNvPr id="171" name="object 171"/>
            <p:cNvSpPr txBox="1"/>
            <p:nvPr/>
          </p:nvSpPr>
          <p:spPr>
            <a:xfrm>
              <a:off x="8311930" y="5289625"/>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73" name="object 173"/>
            <p:cNvSpPr/>
            <p:nvPr/>
          </p:nvSpPr>
          <p:spPr>
            <a:xfrm>
              <a:off x="3026150" y="1637389"/>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4" name="object 174"/>
            <p:cNvSpPr/>
            <p:nvPr/>
          </p:nvSpPr>
          <p:spPr>
            <a:xfrm>
              <a:off x="3733902" y="1637389"/>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5" name="object 175"/>
            <p:cNvSpPr/>
            <p:nvPr/>
          </p:nvSpPr>
          <p:spPr>
            <a:xfrm>
              <a:off x="4441653" y="1637389"/>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6" name="object 176"/>
            <p:cNvSpPr/>
            <p:nvPr/>
          </p:nvSpPr>
          <p:spPr>
            <a:xfrm>
              <a:off x="5921498" y="1637389"/>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7" name="object 177"/>
            <p:cNvSpPr/>
            <p:nvPr/>
          </p:nvSpPr>
          <p:spPr>
            <a:xfrm>
              <a:off x="5149405" y="1637389"/>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8" name="object 178"/>
            <p:cNvSpPr/>
            <p:nvPr/>
          </p:nvSpPr>
          <p:spPr>
            <a:xfrm>
              <a:off x="6629250" y="1637389"/>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9" name="object 179"/>
            <p:cNvSpPr/>
            <p:nvPr/>
          </p:nvSpPr>
          <p:spPr>
            <a:xfrm>
              <a:off x="7337002" y="1637389"/>
              <a:ext cx="0" cy="4640356"/>
            </a:xfrm>
            <a:custGeom>
              <a:avLst/>
              <a:gdLst/>
              <a:ahLst/>
              <a:cxnLst/>
              <a:rect l="l" t="t" r="r" b="b"/>
              <a:pathLst>
                <a:path h="5259070">
                  <a:moveTo>
                    <a:pt x="0" y="2181575"/>
                  </a:moveTo>
                  <a:lnTo>
                    <a:pt x="0" y="5258505"/>
                  </a:lnTo>
                </a:path>
                <a:path h="5259070">
                  <a:moveTo>
                    <a:pt x="0" y="0"/>
                  </a:moveTo>
                  <a:lnTo>
                    <a:pt x="0" y="1032478"/>
                  </a:lnTo>
                </a:path>
              </a:pathLst>
            </a:custGeom>
            <a:ln w="30481">
              <a:solidFill>
                <a:srgbClr val="000000"/>
              </a:solidFill>
            </a:ln>
          </p:spPr>
          <p:txBody>
            <a:bodyPr wrap="square" lIns="0" tIns="0" rIns="0" bIns="0" rtlCol="0"/>
            <a:lstStyle/>
            <a:p>
              <a:endParaRPr sz="1588"/>
            </a:p>
          </p:txBody>
        </p:sp>
        <p:sp>
          <p:nvSpPr>
            <p:cNvPr id="180" name="object 180"/>
            <p:cNvSpPr/>
            <p:nvPr/>
          </p:nvSpPr>
          <p:spPr>
            <a:xfrm>
              <a:off x="2318399" y="1637389"/>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81" name="object 181"/>
            <p:cNvSpPr/>
            <p:nvPr/>
          </p:nvSpPr>
          <p:spPr>
            <a:xfrm>
              <a:off x="8100628" y="1647723"/>
              <a:ext cx="0" cy="4640356"/>
            </a:xfrm>
            <a:custGeom>
              <a:avLst/>
              <a:gdLst/>
              <a:ahLst/>
              <a:cxnLst/>
              <a:rect l="l" t="t" r="r" b="b"/>
              <a:pathLst>
                <a:path h="5259070">
                  <a:moveTo>
                    <a:pt x="0" y="2169863"/>
                  </a:moveTo>
                  <a:lnTo>
                    <a:pt x="0" y="5258505"/>
                  </a:lnTo>
                </a:path>
                <a:path h="5259070">
                  <a:moveTo>
                    <a:pt x="0" y="0"/>
                  </a:moveTo>
                  <a:lnTo>
                    <a:pt x="0" y="1020766"/>
                  </a:lnTo>
                </a:path>
              </a:pathLst>
            </a:custGeom>
            <a:ln w="30481">
              <a:solidFill>
                <a:srgbClr val="000000"/>
              </a:solidFill>
            </a:ln>
          </p:spPr>
          <p:txBody>
            <a:bodyPr wrap="square" lIns="0" tIns="0" rIns="0" bIns="0" rtlCol="0"/>
            <a:lstStyle/>
            <a:p>
              <a:endParaRPr sz="1588"/>
            </a:p>
          </p:txBody>
        </p:sp>
        <p:sp>
          <p:nvSpPr>
            <p:cNvPr id="187" name="object 187"/>
            <p:cNvSpPr txBox="1"/>
            <p:nvPr/>
          </p:nvSpPr>
          <p:spPr>
            <a:xfrm>
              <a:off x="7423542" y="1821627"/>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8</a:t>
              </a:r>
              <a:endParaRPr sz="1324">
                <a:latin typeface="Times New Roman"/>
                <a:cs typeface="Times New Roman"/>
              </a:endParaRPr>
            </a:p>
          </p:txBody>
        </p:sp>
      </p:grpSp>
      <p:grpSp>
        <p:nvGrpSpPr>
          <p:cNvPr id="189" name="Group 188">
            <a:extLst>
              <a:ext uri="{FF2B5EF4-FFF2-40B4-BE49-F238E27FC236}">
                <a16:creationId xmlns:a16="http://schemas.microsoft.com/office/drawing/2014/main" id="{F37BD228-7E52-4A21-A6E5-50C8B61AB524}"/>
              </a:ext>
            </a:extLst>
          </p:cNvPr>
          <p:cNvGrpSpPr/>
          <p:nvPr/>
        </p:nvGrpSpPr>
        <p:grpSpPr>
          <a:xfrm>
            <a:off x="5452133" y="2516775"/>
            <a:ext cx="3205219" cy="2035878"/>
            <a:chOff x="5422799" y="2530478"/>
            <a:chExt cx="3205219" cy="2035878"/>
          </a:xfrm>
        </p:grpSpPr>
        <p:sp>
          <p:nvSpPr>
            <p:cNvPr id="184" name="object 184"/>
            <p:cNvSpPr/>
            <p:nvPr/>
          </p:nvSpPr>
          <p:spPr>
            <a:xfrm>
              <a:off x="5422799" y="2629980"/>
              <a:ext cx="161365" cy="1936376"/>
            </a:xfrm>
            <a:custGeom>
              <a:avLst/>
              <a:gdLst/>
              <a:ahLst/>
              <a:cxnLst/>
              <a:rect l="l" t="t" r="r" b="b"/>
              <a:pathLst>
                <a:path w="182879" h="2194560">
                  <a:moveTo>
                    <a:pt x="60960" y="2011680"/>
                  </a:moveTo>
                  <a:lnTo>
                    <a:pt x="0" y="2011680"/>
                  </a:lnTo>
                  <a:lnTo>
                    <a:pt x="91439" y="2194560"/>
                  </a:lnTo>
                  <a:lnTo>
                    <a:pt x="167639" y="2042161"/>
                  </a:lnTo>
                  <a:lnTo>
                    <a:pt x="60960" y="2042161"/>
                  </a:lnTo>
                  <a:lnTo>
                    <a:pt x="60960" y="2011680"/>
                  </a:lnTo>
                  <a:close/>
                </a:path>
                <a:path w="182879" h="2194560">
                  <a:moveTo>
                    <a:pt x="121921" y="0"/>
                  </a:moveTo>
                  <a:lnTo>
                    <a:pt x="60961" y="0"/>
                  </a:lnTo>
                  <a:lnTo>
                    <a:pt x="60960" y="2042161"/>
                  </a:lnTo>
                  <a:lnTo>
                    <a:pt x="121919" y="2042161"/>
                  </a:lnTo>
                  <a:lnTo>
                    <a:pt x="121921" y="0"/>
                  </a:lnTo>
                  <a:close/>
                </a:path>
                <a:path w="182879" h="2194560">
                  <a:moveTo>
                    <a:pt x="182879" y="2011680"/>
                  </a:moveTo>
                  <a:lnTo>
                    <a:pt x="121920" y="2011680"/>
                  </a:lnTo>
                  <a:lnTo>
                    <a:pt x="121919" y="2042161"/>
                  </a:lnTo>
                  <a:lnTo>
                    <a:pt x="167639" y="2042161"/>
                  </a:lnTo>
                  <a:lnTo>
                    <a:pt x="182879" y="2011680"/>
                  </a:lnTo>
                  <a:close/>
                </a:path>
              </a:pathLst>
            </a:custGeom>
            <a:solidFill>
              <a:srgbClr val="0099FF"/>
            </a:solidFill>
          </p:spPr>
          <p:txBody>
            <a:bodyPr wrap="square" lIns="0" tIns="0" rIns="0" bIns="0" rtlCol="0"/>
            <a:lstStyle/>
            <a:p>
              <a:endParaRPr sz="1588"/>
            </a:p>
          </p:txBody>
        </p:sp>
        <p:sp>
          <p:nvSpPr>
            <p:cNvPr id="185" name="object 185"/>
            <p:cNvSpPr/>
            <p:nvPr/>
          </p:nvSpPr>
          <p:spPr>
            <a:xfrm>
              <a:off x="6722682" y="2548399"/>
              <a:ext cx="1864659" cy="1014132"/>
            </a:xfrm>
            <a:custGeom>
              <a:avLst/>
              <a:gdLst/>
              <a:ahLst/>
              <a:cxnLst/>
              <a:rect l="l" t="t" r="r" b="b"/>
              <a:pathLst>
                <a:path w="2113279" h="1149350">
                  <a:moveTo>
                    <a:pt x="2113279" y="0"/>
                  </a:moveTo>
                  <a:lnTo>
                    <a:pt x="0" y="0"/>
                  </a:lnTo>
                  <a:lnTo>
                    <a:pt x="0" y="1149097"/>
                  </a:lnTo>
                  <a:lnTo>
                    <a:pt x="2113279" y="1149097"/>
                  </a:lnTo>
                  <a:lnTo>
                    <a:pt x="2113279" y="0"/>
                  </a:lnTo>
                  <a:close/>
                </a:path>
              </a:pathLst>
            </a:custGeom>
            <a:solidFill>
              <a:srgbClr val="BCFFBC"/>
            </a:solidFill>
          </p:spPr>
          <p:txBody>
            <a:bodyPr wrap="square" lIns="0" tIns="0" rIns="0" bIns="0" rtlCol="0"/>
            <a:lstStyle/>
            <a:p>
              <a:endParaRPr sz="1588"/>
            </a:p>
          </p:txBody>
        </p:sp>
        <p:sp>
          <p:nvSpPr>
            <p:cNvPr id="186" name="object 186"/>
            <p:cNvSpPr/>
            <p:nvPr/>
          </p:nvSpPr>
          <p:spPr>
            <a:xfrm>
              <a:off x="5532132" y="2530478"/>
              <a:ext cx="3073213" cy="1118347"/>
            </a:xfrm>
            <a:custGeom>
              <a:avLst/>
              <a:gdLst/>
              <a:ahLst/>
              <a:cxnLst/>
              <a:rect l="l" t="t" r="r" b="b"/>
              <a:pathLst>
                <a:path w="3482975" h="1267460">
                  <a:moveTo>
                    <a:pt x="1308303" y="1042530"/>
                  </a:moveTo>
                  <a:lnTo>
                    <a:pt x="1302054" y="1002372"/>
                  </a:lnTo>
                  <a:lnTo>
                    <a:pt x="117348" y="1186802"/>
                  </a:lnTo>
                  <a:lnTo>
                    <a:pt x="111086" y="1146644"/>
                  </a:lnTo>
                  <a:lnTo>
                    <a:pt x="0" y="1225638"/>
                  </a:lnTo>
                  <a:lnTo>
                    <a:pt x="129844" y="1267117"/>
                  </a:lnTo>
                  <a:lnTo>
                    <a:pt x="124079" y="1230083"/>
                  </a:lnTo>
                  <a:lnTo>
                    <a:pt x="123596" y="1226959"/>
                  </a:lnTo>
                  <a:lnTo>
                    <a:pt x="1308303" y="1042530"/>
                  </a:lnTo>
                  <a:close/>
                </a:path>
                <a:path w="3482975" h="1267460">
                  <a:moveTo>
                    <a:pt x="3482886" y="20320"/>
                  </a:moveTo>
                  <a:lnTo>
                    <a:pt x="3481286" y="12407"/>
                  </a:lnTo>
                  <a:lnTo>
                    <a:pt x="3476929" y="5943"/>
                  </a:lnTo>
                  <a:lnTo>
                    <a:pt x="3470478" y="1587"/>
                  </a:lnTo>
                  <a:lnTo>
                    <a:pt x="3462566" y="0"/>
                  </a:lnTo>
                  <a:lnTo>
                    <a:pt x="3442246" y="0"/>
                  </a:lnTo>
                  <a:lnTo>
                    <a:pt x="3442246" y="40640"/>
                  </a:lnTo>
                  <a:lnTo>
                    <a:pt x="3442246" y="1149096"/>
                  </a:lnTo>
                  <a:lnTo>
                    <a:pt x="1369606" y="1149096"/>
                  </a:lnTo>
                  <a:lnTo>
                    <a:pt x="1369606" y="40640"/>
                  </a:lnTo>
                  <a:lnTo>
                    <a:pt x="3442246" y="40640"/>
                  </a:lnTo>
                  <a:lnTo>
                    <a:pt x="3442246" y="0"/>
                  </a:lnTo>
                  <a:lnTo>
                    <a:pt x="1349286" y="0"/>
                  </a:lnTo>
                  <a:lnTo>
                    <a:pt x="1341374" y="1587"/>
                  </a:lnTo>
                  <a:lnTo>
                    <a:pt x="1334922" y="5943"/>
                  </a:lnTo>
                  <a:lnTo>
                    <a:pt x="1330566" y="12407"/>
                  </a:lnTo>
                  <a:lnTo>
                    <a:pt x="1328966" y="20320"/>
                  </a:lnTo>
                  <a:lnTo>
                    <a:pt x="1328966" y="1169416"/>
                  </a:lnTo>
                  <a:lnTo>
                    <a:pt x="1330566" y="1177328"/>
                  </a:lnTo>
                  <a:lnTo>
                    <a:pt x="1334922" y="1183779"/>
                  </a:lnTo>
                  <a:lnTo>
                    <a:pt x="1341374" y="1188135"/>
                  </a:lnTo>
                  <a:lnTo>
                    <a:pt x="1349286" y="1189736"/>
                  </a:lnTo>
                  <a:lnTo>
                    <a:pt x="3462566" y="1189736"/>
                  </a:lnTo>
                  <a:lnTo>
                    <a:pt x="3470478" y="1188135"/>
                  </a:lnTo>
                  <a:lnTo>
                    <a:pt x="3476929" y="1183779"/>
                  </a:lnTo>
                  <a:lnTo>
                    <a:pt x="3481286" y="1177328"/>
                  </a:lnTo>
                  <a:lnTo>
                    <a:pt x="3482886" y="1169416"/>
                  </a:lnTo>
                  <a:lnTo>
                    <a:pt x="3482886" y="1149096"/>
                  </a:lnTo>
                  <a:lnTo>
                    <a:pt x="3482886" y="40640"/>
                  </a:lnTo>
                  <a:lnTo>
                    <a:pt x="3482886" y="20320"/>
                  </a:lnTo>
                  <a:close/>
                </a:path>
              </a:pathLst>
            </a:custGeom>
            <a:solidFill>
              <a:srgbClr val="0099FF"/>
            </a:solidFill>
          </p:spPr>
          <p:txBody>
            <a:bodyPr wrap="square" lIns="0" tIns="0" rIns="0" bIns="0" rtlCol="0"/>
            <a:lstStyle/>
            <a:p>
              <a:endParaRPr sz="1588"/>
            </a:p>
          </p:txBody>
        </p:sp>
        <p:sp>
          <p:nvSpPr>
            <p:cNvPr id="188" name="object 188"/>
            <p:cNvSpPr txBox="1"/>
            <p:nvPr/>
          </p:nvSpPr>
          <p:spPr>
            <a:xfrm>
              <a:off x="6775125" y="2573767"/>
              <a:ext cx="1852893" cy="939873"/>
            </a:xfrm>
            <a:prstGeom prst="rect">
              <a:avLst/>
            </a:prstGeom>
          </p:spPr>
          <p:txBody>
            <a:bodyPr vert="horz" wrap="square" lIns="0" tIns="9525" rIns="0" bIns="0" rtlCol="0">
              <a:spAutoFit/>
            </a:bodyPr>
            <a:lstStyle/>
            <a:p>
              <a:pPr marL="33619" marR="26896">
                <a:lnSpc>
                  <a:spcPct val="100600"/>
                </a:lnSpc>
                <a:spcBef>
                  <a:spcPts val="75"/>
                </a:spcBef>
              </a:pPr>
              <a:r>
                <a:rPr sz="1500" b="1" dirty="0">
                  <a:solidFill>
                    <a:srgbClr val="660066"/>
                  </a:solidFill>
                  <a:latin typeface="Calibri"/>
                  <a:cs typeface="Calibri"/>
                </a:rPr>
                <a:t>No</a:t>
              </a:r>
              <a:r>
                <a:rPr sz="1500" b="1" spc="-26" dirty="0">
                  <a:solidFill>
                    <a:srgbClr val="660066"/>
                  </a:solidFill>
                  <a:latin typeface="Calibri"/>
                  <a:cs typeface="Calibri"/>
                </a:rPr>
                <a:t> </a:t>
              </a:r>
              <a:r>
                <a:rPr sz="1500" b="1" dirty="0">
                  <a:solidFill>
                    <a:srgbClr val="660066"/>
                  </a:solidFill>
                  <a:latin typeface="Calibri"/>
                  <a:cs typeface="Calibri"/>
                </a:rPr>
                <a:t>forwarding</a:t>
              </a:r>
              <a:r>
                <a:rPr sz="1500" b="1" spc="-22" dirty="0">
                  <a:solidFill>
                    <a:srgbClr val="660066"/>
                  </a:solidFill>
                  <a:latin typeface="Calibri"/>
                  <a:cs typeface="Calibri"/>
                </a:rPr>
                <a:t> </a:t>
              </a:r>
              <a:r>
                <a:rPr sz="1500" b="1" spc="-9" dirty="0">
                  <a:solidFill>
                    <a:srgbClr val="660066"/>
                  </a:solidFill>
                  <a:latin typeface="Calibri"/>
                  <a:cs typeface="Calibri"/>
                </a:rPr>
                <a:t>needed </a:t>
              </a:r>
              <a:r>
                <a:rPr sz="1500" b="1" dirty="0">
                  <a:solidFill>
                    <a:srgbClr val="660066"/>
                  </a:solidFill>
                  <a:latin typeface="Calibri"/>
                  <a:cs typeface="Calibri"/>
                </a:rPr>
                <a:t>since</a:t>
              </a:r>
              <a:r>
                <a:rPr sz="1500" b="1" spc="-13" dirty="0">
                  <a:solidFill>
                    <a:srgbClr val="660066"/>
                  </a:solidFill>
                  <a:latin typeface="Calibri"/>
                  <a:cs typeface="Calibri"/>
                </a:rPr>
                <a:t> </a:t>
              </a:r>
              <a:r>
                <a:rPr sz="1500" b="1" dirty="0">
                  <a:solidFill>
                    <a:srgbClr val="660066"/>
                  </a:solidFill>
                  <a:latin typeface="Calibri"/>
                  <a:cs typeface="Calibri"/>
                </a:rPr>
                <a:t>write</a:t>
              </a:r>
              <a:r>
                <a:rPr sz="1500" b="1" spc="-13" dirty="0">
                  <a:solidFill>
                    <a:srgbClr val="660066"/>
                  </a:solidFill>
                  <a:latin typeface="Calibri"/>
                  <a:cs typeface="Calibri"/>
                </a:rPr>
                <a:t> </a:t>
              </a:r>
              <a:r>
                <a:rPr sz="1500" b="1" dirty="0">
                  <a:solidFill>
                    <a:srgbClr val="660066"/>
                  </a:solidFill>
                  <a:latin typeface="Calibri"/>
                  <a:cs typeface="Calibri"/>
                </a:rPr>
                <a:t>reg.</a:t>
              </a:r>
              <a:r>
                <a:rPr sz="1500" b="1" spc="-13" dirty="0">
                  <a:solidFill>
                    <a:srgbClr val="660066"/>
                  </a:solidFill>
                  <a:latin typeface="Calibri"/>
                  <a:cs typeface="Calibri"/>
                </a:rPr>
                <a:t> </a:t>
              </a:r>
              <a:r>
                <a:rPr sz="1500" b="1" dirty="0">
                  <a:solidFill>
                    <a:srgbClr val="660066"/>
                  </a:solidFill>
                  <a:latin typeface="Calibri"/>
                  <a:cs typeface="Calibri"/>
                </a:rPr>
                <a:t>in</a:t>
              </a:r>
              <a:r>
                <a:rPr sz="1500" b="1" spc="-4" dirty="0">
                  <a:solidFill>
                    <a:srgbClr val="660066"/>
                  </a:solidFill>
                  <a:latin typeface="Calibri"/>
                  <a:cs typeface="Calibri"/>
                </a:rPr>
                <a:t> </a:t>
              </a:r>
              <a:r>
                <a:rPr sz="1500" b="1" spc="-22" dirty="0">
                  <a:solidFill>
                    <a:srgbClr val="660066"/>
                  </a:solidFill>
                  <a:latin typeface="Calibri"/>
                  <a:cs typeface="Calibri"/>
                </a:rPr>
                <a:t>1</a:t>
              </a:r>
              <a:r>
                <a:rPr sz="1456" b="1" spc="-33" baseline="25252" dirty="0">
                  <a:solidFill>
                    <a:srgbClr val="660066"/>
                  </a:solidFill>
                  <a:latin typeface="Calibri"/>
                  <a:cs typeface="Calibri"/>
                </a:rPr>
                <a:t>st </a:t>
              </a:r>
              <a:r>
                <a:rPr sz="1500" b="1" dirty="0">
                  <a:solidFill>
                    <a:srgbClr val="660066"/>
                  </a:solidFill>
                  <a:latin typeface="Calibri"/>
                  <a:cs typeface="Calibri"/>
                </a:rPr>
                <a:t>half</a:t>
              </a:r>
              <a:r>
                <a:rPr sz="1500" b="1" spc="-9" dirty="0">
                  <a:solidFill>
                    <a:srgbClr val="660066"/>
                  </a:solidFill>
                  <a:latin typeface="Calibri"/>
                  <a:cs typeface="Calibri"/>
                </a:rPr>
                <a:t> </a:t>
              </a:r>
              <a:r>
                <a:rPr sz="1500" b="1" dirty="0">
                  <a:solidFill>
                    <a:srgbClr val="660066"/>
                  </a:solidFill>
                  <a:latin typeface="Calibri"/>
                  <a:cs typeface="Calibri"/>
                </a:rPr>
                <a:t>cycle,</a:t>
              </a:r>
              <a:r>
                <a:rPr sz="1500" b="1" spc="-13" dirty="0">
                  <a:solidFill>
                    <a:srgbClr val="660066"/>
                  </a:solidFill>
                  <a:latin typeface="Calibri"/>
                  <a:cs typeface="Calibri"/>
                </a:rPr>
                <a:t> </a:t>
              </a:r>
              <a:r>
                <a:rPr sz="1500" b="1" dirty="0">
                  <a:solidFill>
                    <a:srgbClr val="660066"/>
                  </a:solidFill>
                  <a:latin typeface="Calibri"/>
                  <a:cs typeface="Calibri"/>
                </a:rPr>
                <a:t>read</a:t>
              </a:r>
              <a:r>
                <a:rPr sz="1500" b="1" spc="-13" dirty="0">
                  <a:solidFill>
                    <a:srgbClr val="660066"/>
                  </a:solidFill>
                  <a:latin typeface="Calibri"/>
                  <a:cs typeface="Calibri"/>
                </a:rPr>
                <a:t> </a:t>
              </a:r>
              <a:r>
                <a:rPr sz="1500" b="1" spc="-18" dirty="0">
                  <a:solidFill>
                    <a:srgbClr val="660066"/>
                  </a:solidFill>
                  <a:latin typeface="Calibri"/>
                  <a:cs typeface="Calibri"/>
                </a:rPr>
                <a:t>reg.</a:t>
              </a:r>
              <a:endParaRPr sz="1500">
                <a:latin typeface="Calibri"/>
                <a:cs typeface="Calibri"/>
              </a:endParaRPr>
            </a:p>
            <a:p>
              <a:pPr marL="33619">
                <a:spcBef>
                  <a:spcPts val="44"/>
                </a:spcBef>
              </a:pPr>
              <a:r>
                <a:rPr sz="1500" b="1" dirty="0">
                  <a:solidFill>
                    <a:srgbClr val="660066"/>
                  </a:solidFill>
                  <a:latin typeface="Calibri"/>
                  <a:cs typeface="Calibri"/>
                </a:rPr>
                <a:t>in</a:t>
              </a:r>
              <a:r>
                <a:rPr sz="1500" b="1" spc="9" dirty="0">
                  <a:solidFill>
                    <a:srgbClr val="660066"/>
                  </a:solidFill>
                  <a:latin typeface="Calibri"/>
                  <a:cs typeface="Calibri"/>
                </a:rPr>
                <a:t> </a:t>
              </a:r>
              <a:r>
                <a:rPr sz="1500" b="1" dirty="0">
                  <a:solidFill>
                    <a:srgbClr val="660066"/>
                  </a:solidFill>
                  <a:latin typeface="Calibri"/>
                  <a:cs typeface="Calibri"/>
                </a:rPr>
                <a:t>2</a:t>
              </a:r>
              <a:r>
                <a:rPr sz="1456" b="1" baseline="25252" dirty="0">
                  <a:solidFill>
                    <a:srgbClr val="660066"/>
                  </a:solidFill>
                  <a:latin typeface="Calibri"/>
                  <a:cs typeface="Calibri"/>
                </a:rPr>
                <a:t>nd</a:t>
              </a:r>
              <a:r>
                <a:rPr sz="1456" b="1" spc="218" baseline="25252" dirty="0">
                  <a:solidFill>
                    <a:srgbClr val="660066"/>
                  </a:solidFill>
                  <a:latin typeface="Calibri"/>
                  <a:cs typeface="Calibri"/>
                </a:rPr>
                <a:t> </a:t>
              </a:r>
              <a:r>
                <a:rPr sz="1500" b="1" dirty="0">
                  <a:solidFill>
                    <a:srgbClr val="660066"/>
                  </a:solidFill>
                  <a:latin typeface="Calibri"/>
                  <a:cs typeface="Calibri"/>
                </a:rPr>
                <a:t>half</a:t>
              </a:r>
              <a:r>
                <a:rPr sz="1500" b="1" spc="13" dirty="0">
                  <a:solidFill>
                    <a:srgbClr val="660066"/>
                  </a:solidFill>
                  <a:latin typeface="Calibri"/>
                  <a:cs typeface="Calibri"/>
                </a:rPr>
                <a:t> </a:t>
              </a:r>
              <a:r>
                <a:rPr sz="1500" b="1" spc="-9" dirty="0">
                  <a:solidFill>
                    <a:srgbClr val="660066"/>
                  </a:solidFill>
                  <a:latin typeface="Calibri"/>
                  <a:cs typeface="Calibri"/>
                </a:rPr>
                <a:t>cycle.</a:t>
              </a:r>
              <a:endParaRPr sz="1500">
                <a:latin typeface="Calibri"/>
                <a:cs typeface="Calibri"/>
              </a:endParaRPr>
            </a:p>
          </p:txBody>
        </p:sp>
      </p:grpSp>
      <p:sp>
        <p:nvSpPr>
          <p:cNvPr id="183" name="object 183"/>
          <p:cNvSpPr/>
          <p:nvPr/>
        </p:nvSpPr>
        <p:spPr>
          <a:xfrm>
            <a:off x="5597925" y="2626868"/>
            <a:ext cx="846044" cy="2661397"/>
          </a:xfrm>
          <a:custGeom>
            <a:avLst/>
            <a:gdLst/>
            <a:ahLst/>
            <a:cxnLst/>
            <a:rect l="l" t="t" r="r" b="b"/>
            <a:pathLst>
              <a:path w="958850" h="3016250">
                <a:moveTo>
                  <a:pt x="841964" y="2849434"/>
                </a:moveTo>
                <a:lnTo>
                  <a:pt x="783532" y="2866806"/>
                </a:lnTo>
                <a:lnTo>
                  <a:pt x="923296" y="3016045"/>
                </a:lnTo>
                <a:lnTo>
                  <a:pt x="947542" y="2878653"/>
                </a:lnTo>
                <a:lnTo>
                  <a:pt x="850651" y="2878653"/>
                </a:lnTo>
                <a:lnTo>
                  <a:pt x="841964" y="2849434"/>
                </a:lnTo>
                <a:close/>
              </a:path>
              <a:path w="958850" h="3016250">
                <a:moveTo>
                  <a:pt x="900397" y="2832062"/>
                </a:moveTo>
                <a:lnTo>
                  <a:pt x="841964" y="2849434"/>
                </a:lnTo>
                <a:lnTo>
                  <a:pt x="850651" y="2878653"/>
                </a:lnTo>
                <a:lnTo>
                  <a:pt x="909083" y="2861280"/>
                </a:lnTo>
                <a:lnTo>
                  <a:pt x="900397" y="2832062"/>
                </a:lnTo>
                <a:close/>
              </a:path>
              <a:path w="958850" h="3016250">
                <a:moveTo>
                  <a:pt x="958829" y="2814690"/>
                </a:moveTo>
                <a:lnTo>
                  <a:pt x="900397" y="2832062"/>
                </a:lnTo>
                <a:lnTo>
                  <a:pt x="909083" y="2861280"/>
                </a:lnTo>
                <a:lnTo>
                  <a:pt x="850651" y="2878653"/>
                </a:lnTo>
                <a:lnTo>
                  <a:pt x="947542" y="2878653"/>
                </a:lnTo>
                <a:lnTo>
                  <a:pt x="958829" y="2814690"/>
                </a:lnTo>
                <a:close/>
              </a:path>
              <a:path w="958850" h="3016250">
                <a:moveTo>
                  <a:pt x="58432" y="0"/>
                </a:moveTo>
                <a:lnTo>
                  <a:pt x="0" y="17372"/>
                </a:lnTo>
                <a:lnTo>
                  <a:pt x="841964" y="2849434"/>
                </a:lnTo>
                <a:lnTo>
                  <a:pt x="900397" y="2832062"/>
                </a:lnTo>
                <a:lnTo>
                  <a:pt x="58432" y="0"/>
                </a:lnTo>
                <a:close/>
              </a:path>
            </a:pathLst>
          </a:custGeom>
          <a:solidFill>
            <a:srgbClr val="008000"/>
          </a:solidFill>
        </p:spPr>
        <p:txBody>
          <a:bodyPr wrap="square" lIns="0" tIns="0" rIns="0" bIns="0" rtlCol="0"/>
          <a:lstStyle/>
          <a:p>
            <a:endParaRPr sz="1588"/>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fade">
                                      <p:cBhvr>
                                        <p:cTn id="7" dur="500"/>
                                        <p:tgtEl>
                                          <p:spTgt spid="1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9"/>
                                        </p:tgtEl>
                                        <p:attrNameLst>
                                          <p:attrName>style.visibility</p:attrName>
                                        </p:attrNameLst>
                                      </p:cBhvr>
                                      <p:to>
                                        <p:strVal val="visible"/>
                                      </p:to>
                                    </p:set>
                                    <p:animEffect transition="in" filter="fade">
                                      <p:cBhvr>
                                        <p:cTn id="12" dur="500"/>
                                        <p:tgtEl>
                                          <p:spTgt spid="1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3"/>
                                        </p:tgtEl>
                                        <p:attrNameLst>
                                          <p:attrName>style.visibility</p:attrName>
                                        </p:attrNameLst>
                                      </p:cBhvr>
                                      <p:to>
                                        <p:strVal val="visible"/>
                                      </p:to>
                                    </p:set>
                                    <p:animEffect transition="in" filter="fade">
                                      <p:cBhvr>
                                        <p:cTn id="17"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animBg="1"/>
      <p:bldP spid="18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4912" y="612100"/>
            <a:ext cx="6958853" cy="589755"/>
          </a:xfrm>
          <a:prstGeom prst="rect">
            <a:avLst/>
          </a:prstGeom>
        </p:spPr>
        <p:txBody>
          <a:bodyPr vert="horz" wrap="square" lIns="0" tIns="126851" rIns="0" bIns="0" rtlCol="0" anchor="ctr">
            <a:spAutoFit/>
          </a:bodyPr>
          <a:lstStyle/>
          <a:p>
            <a:pPr marL="11206">
              <a:lnSpc>
                <a:spcPct val="100000"/>
              </a:lnSpc>
              <a:spcBef>
                <a:spcPts val="88"/>
              </a:spcBef>
            </a:pPr>
            <a:r>
              <a:rPr dirty="0"/>
              <a:t>Three</a:t>
            </a:r>
            <a:r>
              <a:rPr spc="4" dirty="0"/>
              <a:t> </a:t>
            </a:r>
            <a:r>
              <a:rPr dirty="0"/>
              <a:t>Generic</a:t>
            </a:r>
            <a:r>
              <a:rPr spc="4" dirty="0"/>
              <a:t> </a:t>
            </a:r>
            <a:r>
              <a:rPr dirty="0"/>
              <a:t>Data</a:t>
            </a:r>
            <a:r>
              <a:rPr spc="18" dirty="0"/>
              <a:t> </a:t>
            </a:r>
            <a:r>
              <a:rPr dirty="0"/>
              <a:t>Hazards</a:t>
            </a:r>
            <a:r>
              <a:rPr spc="4" dirty="0"/>
              <a:t> </a:t>
            </a:r>
            <a:r>
              <a:rPr spc="-9" dirty="0"/>
              <a:t>(1/3)</a:t>
            </a:r>
          </a:p>
        </p:txBody>
      </p:sp>
      <p:sp>
        <p:nvSpPr>
          <p:cNvPr id="7" name="Slide Number Placeholder 6">
            <a:extLst>
              <a:ext uri="{FF2B5EF4-FFF2-40B4-BE49-F238E27FC236}">
                <a16:creationId xmlns:a16="http://schemas.microsoft.com/office/drawing/2014/main" id="{F38C908A-E40F-4EA5-FBE0-ADF31A0DF7C9}"/>
              </a:ext>
            </a:extLst>
          </p:cNvPr>
          <p:cNvSpPr>
            <a:spLocks noGrp="1"/>
          </p:cNvSpPr>
          <p:nvPr>
            <p:ph type="sldNum" sz="quarter" idx="7"/>
          </p:nvPr>
        </p:nvSpPr>
        <p:spPr/>
        <p:txBody>
          <a:bodyPr/>
          <a:lstStyle/>
          <a:p>
            <a:fld id="{4FE321F0-2018-4E50-8BB3-A5631EBD98DD}" type="slidenum">
              <a:rPr lang="en-US" smtClean="0"/>
              <a:t>41</a:t>
            </a:fld>
            <a:endParaRPr lang="en-US"/>
          </a:p>
        </p:txBody>
      </p:sp>
      <p:sp>
        <p:nvSpPr>
          <p:cNvPr id="3" name="object 3"/>
          <p:cNvSpPr/>
          <p:nvPr/>
        </p:nvSpPr>
        <p:spPr>
          <a:xfrm>
            <a:off x="2859741" y="3396040"/>
            <a:ext cx="2287681" cy="358588"/>
          </a:xfrm>
          <a:custGeom>
            <a:avLst/>
            <a:gdLst/>
            <a:ahLst/>
            <a:cxnLst/>
            <a:rect l="l" t="t" r="r" b="b"/>
            <a:pathLst>
              <a:path w="2592704" h="406400">
                <a:moveTo>
                  <a:pt x="2592453" y="0"/>
                </a:moveTo>
                <a:lnTo>
                  <a:pt x="0" y="0"/>
                </a:lnTo>
                <a:lnTo>
                  <a:pt x="0" y="406400"/>
                </a:lnTo>
                <a:lnTo>
                  <a:pt x="2592453" y="406400"/>
                </a:lnTo>
                <a:lnTo>
                  <a:pt x="2592453" y="0"/>
                </a:lnTo>
                <a:close/>
              </a:path>
            </a:pathLst>
          </a:custGeom>
          <a:solidFill>
            <a:srgbClr val="FFFF00"/>
          </a:solidFill>
        </p:spPr>
        <p:txBody>
          <a:bodyPr wrap="square" lIns="0" tIns="0" rIns="0" bIns="0" rtlCol="0"/>
          <a:lstStyle/>
          <a:p>
            <a:endParaRPr sz="1588"/>
          </a:p>
        </p:txBody>
      </p:sp>
      <p:sp>
        <p:nvSpPr>
          <p:cNvPr id="4" name="object 4"/>
          <p:cNvSpPr txBox="1"/>
          <p:nvPr/>
        </p:nvSpPr>
        <p:spPr>
          <a:xfrm>
            <a:off x="934571" y="1300331"/>
            <a:ext cx="6888816" cy="3053238"/>
          </a:xfrm>
          <a:prstGeom prst="rect">
            <a:avLst/>
          </a:prstGeom>
        </p:spPr>
        <p:txBody>
          <a:bodyPr vert="horz" wrap="square" lIns="0" tIns="11206" rIns="0" bIns="0" rtlCol="0">
            <a:spAutoFit/>
          </a:bodyPr>
          <a:lstStyle/>
          <a:p>
            <a:pPr marL="346841" indent="-268395">
              <a:lnSpc>
                <a:spcPts val="2616"/>
              </a:lnSpc>
              <a:spcBef>
                <a:spcPts val="88"/>
              </a:spcBef>
              <a:buChar char="•"/>
              <a:tabLst>
                <a:tab pos="346841" algn="l"/>
              </a:tabLst>
            </a:pPr>
            <a:r>
              <a:rPr sz="2294" dirty="0">
                <a:solidFill>
                  <a:srgbClr val="FF0000"/>
                </a:solidFill>
                <a:latin typeface="Calibri"/>
                <a:cs typeface="Calibri"/>
              </a:rPr>
              <a:t>Read</a:t>
            </a:r>
            <a:r>
              <a:rPr sz="2294" spc="-115" dirty="0">
                <a:solidFill>
                  <a:srgbClr val="FF0000"/>
                </a:solidFill>
                <a:latin typeface="Calibri"/>
                <a:cs typeface="Calibri"/>
              </a:rPr>
              <a:t> </a:t>
            </a:r>
            <a:r>
              <a:rPr sz="2294" dirty="0">
                <a:solidFill>
                  <a:srgbClr val="FF0000"/>
                </a:solidFill>
                <a:latin typeface="Calibri"/>
                <a:cs typeface="Calibri"/>
              </a:rPr>
              <a:t>After</a:t>
            </a:r>
            <a:r>
              <a:rPr sz="2294" spc="-106" dirty="0">
                <a:solidFill>
                  <a:srgbClr val="FF0000"/>
                </a:solidFill>
                <a:latin typeface="Calibri"/>
                <a:cs typeface="Calibri"/>
              </a:rPr>
              <a:t> </a:t>
            </a:r>
            <a:r>
              <a:rPr sz="2294" dirty="0">
                <a:solidFill>
                  <a:srgbClr val="FF0000"/>
                </a:solidFill>
                <a:latin typeface="Calibri"/>
                <a:cs typeface="Calibri"/>
              </a:rPr>
              <a:t>Write</a:t>
            </a:r>
            <a:r>
              <a:rPr sz="2294" spc="-106" dirty="0">
                <a:solidFill>
                  <a:srgbClr val="FF0000"/>
                </a:solidFill>
                <a:latin typeface="Calibri"/>
                <a:cs typeface="Calibri"/>
              </a:rPr>
              <a:t> </a:t>
            </a:r>
            <a:r>
              <a:rPr sz="2294" spc="-18" dirty="0">
                <a:solidFill>
                  <a:srgbClr val="FF0000"/>
                </a:solidFill>
                <a:latin typeface="Calibri"/>
                <a:cs typeface="Calibri"/>
              </a:rPr>
              <a:t>(RAW)</a:t>
            </a:r>
            <a:endParaRPr sz="2294" dirty="0">
              <a:latin typeface="Calibri"/>
              <a:cs typeface="Calibri"/>
            </a:endParaRPr>
          </a:p>
          <a:p>
            <a:pPr marL="347401">
              <a:lnSpc>
                <a:spcPts val="2616"/>
              </a:lnSpc>
            </a:pPr>
            <a:r>
              <a:rPr sz="2294" dirty="0">
                <a:latin typeface="Calibri"/>
                <a:cs typeface="Calibri"/>
              </a:rPr>
              <a:t>Instr</a:t>
            </a:r>
            <a:r>
              <a:rPr sz="2250" baseline="-16339" dirty="0">
                <a:latin typeface="Calibri"/>
                <a:cs typeface="Calibri"/>
              </a:rPr>
              <a:t>J</a:t>
            </a:r>
            <a:r>
              <a:rPr sz="2250" spc="125" baseline="-16339" dirty="0">
                <a:latin typeface="Calibri"/>
                <a:cs typeface="Calibri"/>
              </a:rPr>
              <a:t> </a:t>
            </a:r>
            <a:r>
              <a:rPr sz="2294" dirty="0">
                <a:latin typeface="Calibri"/>
                <a:cs typeface="Calibri"/>
              </a:rPr>
              <a:t>tries</a:t>
            </a:r>
            <a:r>
              <a:rPr sz="2294" spc="-106" dirty="0">
                <a:latin typeface="Calibri"/>
                <a:cs typeface="Calibri"/>
              </a:rPr>
              <a:t> </a:t>
            </a:r>
            <a:r>
              <a:rPr sz="2294" dirty="0">
                <a:latin typeface="Calibri"/>
                <a:cs typeface="Calibri"/>
              </a:rPr>
              <a:t>to</a:t>
            </a:r>
            <a:r>
              <a:rPr sz="2294" spc="-110" dirty="0">
                <a:latin typeface="Calibri"/>
                <a:cs typeface="Calibri"/>
              </a:rPr>
              <a:t> </a:t>
            </a:r>
            <a:r>
              <a:rPr sz="2294" dirty="0">
                <a:latin typeface="Calibri"/>
                <a:cs typeface="Calibri"/>
              </a:rPr>
              <a:t>read</a:t>
            </a:r>
            <a:r>
              <a:rPr sz="2294" spc="-106" dirty="0">
                <a:latin typeface="Calibri"/>
                <a:cs typeface="Calibri"/>
              </a:rPr>
              <a:t> </a:t>
            </a:r>
            <a:r>
              <a:rPr sz="2294" spc="-9" dirty="0">
                <a:latin typeface="Calibri"/>
                <a:cs typeface="Calibri"/>
              </a:rPr>
              <a:t>operand</a:t>
            </a:r>
            <a:r>
              <a:rPr sz="2294" spc="-110" dirty="0">
                <a:latin typeface="Calibri"/>
                <a:cs typeface="Calibri"/>
              </a:rPr>
              <a:t> </a:t>
            </a:r>
            <a:r>
              <a:rPr sz="2294" dirty="0">
                <a:latin typeface="Calibri"/>
                <a:cs typeface="Calibri"/>
              </a:rPr>
              <a:t>before</a:t>
            </a:r>
            <a:r>
              <a:rPr sz="2294" spc="-101" dirty="0">
                <a:latin typeface="Calibri"/>
                <a:cs typeface="Calibri"/>
              </a:rPr>
              <a:t> </a:t>
            </a:r>
            <a:r>
              <a:rPr sz="2294" dirty="0">
                <a:latin typeface="Calibri"/>
                <a:cs typeface="Calibri"/>
              </a:rPr>
              <a:t>Instr</a:t>
            </a:r>
            <a:r>
              <a:rPr sz="2250" baseline="-16339" dirty="0">
                <a:latin typeface="Calibri"/>
                <a:cs typeface="Calibri"/>
              </a:rPr>
              <a:t>I</a:t>
            </a:r>
            <a:r>
              <a:rPr sz="2250" spc="125" baseline="-16339" dirty="0">
                <a:latin typeface="Calibri"/>
                <a:cs typeface="Calibri"/>
              </a:rPr>
              <a:t> </a:t>
            </a:r>
            <a:r>
              <a:rPr sz="2294" spc="-9" dirty="0">
                <a:latin typeface="Calibri"/>
                <a:cs typeface="Calibri"/>
              </a:rPr>
              <a:t>writes</a:t>
            </a:r>
            <a:r>
              <a:rPr sz="2294" spc="-110" dirty="0">
                <a:latin typeface="Calibri"/>
                <a:cs typeface="Calibri"/>
              </a:rPr>
              <a:t> </a:t>
            </a:r>
            <a:r>
              <a:rPr sz="2294" spc="-22" dirty="0">
                <a:latin typeface="Calibri"/>
                <a:cs typeface="Calibri"/>
              </a:rPr>
              <a:t>it</a:t>
            </a:r>
            <a:endParaRPr sz="2294" dirty="0">
              <a:latin typeface="Calibri"/>
              <a:cs typeface="Calibri"/>
            </a:endParaRPr>
          </a:p>
          <a:p>
            <a:pPr>
              <a:spcBef>
                <a:spcPts val="1037"/>
              </a:spcBef>
            </a:pPr>
            <a:endParaRPr sz="2294" dirty="0">
              <a:latin typeface="Calibri"/>
              <a:cs typeface="Calibri"/>
            </a:endParaRPr>
          </a:p>
          <a:p>
            <a:pPr marL="2288363" marR="2016046">
              <a:lnSpc>
                <a:spcPts val="2647"/>
              </a:lnSpc>
            </a:pPr>
            <a:r>
              <a:rPr sz="2294" b="1" dirty="0">
                <a:latin typeface="Courier New"/>
                <a:cs typeface="Courier New"/>
              </a:rPr>
              <a:t>I:</a:t>
            </a:r>
            <a:r>
              <a:rPr sz="2294" b="1" spc="-124" dirty="0">
                <a:latin typeface="Courier New"/>
                <a:cs typeface="Courier New"/>
              </a:rPr>
              <a:t> </a:t>
            </a:r>
            <a:r>
              <a:rPr sz="2294" b="1" dirty="0">
                <a:latin typeface="Courier New"/>
                <a:cs typeface="Courier New"/>
              </a:rPr>
              <a:t>add</a:t>
            </a:r>
            <a:r>
              <a:rPr sz="2294" b="1" spc="-124" dirty="0">
                <a:latin typeface="Courier New"/>
                <a:cs typeface="Courier New"/>
              </a:rPr>
              <a:t> </a:t>
            </a:r>
            <a:r>
              <a:rPr sz="2294" b="1" spc="-26" dirty="0">
                <a:solidFill>
                  <a:srgbClr val="FF0000"/>
                </a:solidFill>
                <a:latin typeface="Courier New"/>
                <a:cs typeface="Courier New"/>
              </a:rPr>
              <a:t>r1</a:t>
            </a:r>
            <a:r>
              <a:rPr sz="2294" b="1" spc="-26" dirty="0">
                <a:latin typeface="Courier New"/>
                <a:cs typeface="Courier New"/>
              </a:rPr>
              <a:t>,r2,r3 </a:t>
            </a:r>
            <a:r>
              <a:rPr sz="2294" b="1" dirty="0">
                <a:latin typeface="Courier New"/>
                <a:cs typeface="Courier New"/>
              </a:rPr>
              <a:t>J:</a:t>
            </a:r>
            <a:r>
              <a:rPr sz="2294" b="1" spc="-124" dirty="0">
                <a:latin typeface="Courier New"/>
                <a:cs typeface="Courier New"/>
              </a:rPr>
              <a:t> </a:t>
            </a:r>
            <a:r>
              <a:rPr sz="2294" b="1" dirty="0">
                <a:latin typeface="Courier New"/>
                <a:cs typeface="Courier New"/>
              </a:rPr>
              <a:t>sub</a:t>
            </a:r>
            <a:r>
              <a:rPr sz="2294" b="1" spc="-124" dirty="0">
                <a:latin typeface="Courier New"/>
                <a:cs typeface="Courier New"/>
              </a:rPr>
              <a:t> </a:t>
            </a:r>
            <a:r>
              <a:rPr sz="2294" b="1" spc="-26" dirty="0">
                <a:latin typeface="Courier New"/>
                <a:cs typeface="Courier New"/>
              </a:rPr>
              <a:t>r4,</a:t>
            </a:r>
            <a:r>
              <a:rPr sz="2294" b="1" spc="-26" dirty="0">
                <a:solidFill>
                  <a:srgbClr val="FF0000"/>
                </a:solidFill>
                <a:latin typeface="Courier New"/>
                <a:cs typeface="Courier New"/>
              </a:rPr>
              <a:t>r1</a:t>
            </a:r>
            <a:r>
              <a:rPr sz="2294" b="1" spc="-26" dirty="0">
                <a:latin typeface="Courier New"/>
                <a:cs typeface="Courier New"/>
              </a:rPr>
              <a:t>,r3</a:t>
            </a:r>
            <a:endParaRPr sz="2294" dirty="0">
              <a:latin typeface="Courier New"/>
              <a:cs typeface="Courier New"/>
            </a:endParaRPr>
          </a:p>
          <a:p>
            <a:pPr marL="347401" marR="26896" indent="-268956">
              <a:lnSpc>
                <a:spcPct val="88100"/>
              </a:lnSpc>
              <a:spcBef>
                <a:spcPts val="2290"/>
              </a:spcBef>
              <a:buChar char="•"/>
              <a:tabLst>
                <a:tab pos="347401" algn="l"/>
                <a:tab pos="2273795" algn="l"/>
              </a:tabLst>
            </a:pPr>
            <a:r>
              <a:rPr sz="2294" spc="-9" dirty="0">
                <a:latin typeface="Calibri"/>
                <a:cs typeface="Calibri"/>
              </a:rPr>
              <a:t>Caused</a:t>
            </a:r>
            <a:r>
              <a:rPr sz="2294" spc="-71" dirty="0">
                <a:latin typeface="Calibri"/>
                <a:cs typeface="Calibri"/>
              </a:rPr>
              <a:t> </a:t>
            </a:r>
            <a:r>
              <a:rPr sz="2294" dirty="0">
                <a:latin typeface="Calibri"/>
                <a:cs typeface="Calibri"/>
              </a:rPr>
              <a:t>by</a:t>
            </a:r>
            <a:r>
              <a:rPr sz="2294" spc="-66" dirty="0">
                <a:latin typeface="Calibri"/>
                <a:cs typeface="Calibri"/>
              </a:rPr>
              <a:t> </a:t>
            </a:r>
            <a:r>
              <a:rPr sz="2294" dirty="0">
                <a:latin typeface="Calibri"/>
                <a:cs typeface="Calibri"/>
              </a:rPr>
              <a:t>a</a:t>
            </a:r>
            <a:r>
              <a:rPr sz="2294" spc="-71" dirty="0">
                <a:latin typeface="Calibri"/>
                <a:cs typeface="Calibri"/>
              </a:rPr>
              <a:t> </a:t>
            </a:r>
            <a:r>
              <a:rPr sz="2294" spc="-18" dirty="0">
                <a:latin typeface="Calibri"/>
                <a:cs typeface="Calibri"/>
              </a:rPr>
              <a:t>“</a:t>
            </a:r>
            <a:r>
              <a:rPr sz="2294" b="1" spc="-18" dirty="0">
                <a:latin typeface="Calibri"/>
                <a:cs typeface="Calibri"/>
              </a:rPr>
              <a:t>(True)</a:t>
            </a:r>
            <a:r>
              <a:rPr sz="2294" b="1" spc="-57" dirty="0">
                <a:latin typeface="Calibri"/>
                <a:cs typeface="Calibri"/>
              </a:rPr>
              <a:t> </a:t>
            </a:r>
            <a:r>
              <a:rPr sz="2294" b="1" spc="-22" dirty="0">
                <a:latin typeface="Calibri"/>
                <a:cs typeface="Calibri"/>
              </a:rPr>
              <a:t>Dependence</a:t>
            </a:r>
            <a:r>
              <a:rPr sz="2294" spc="-22" dirty="0">
                <a:latin typeface="Calibri"/>
                <a:cs typeface="Calibri"/>
              </a:rPr>
              <a:t>”</a:t>
            </a:r>
            <a:r>
              <a:rPr sz="2294" spc="-75" dirty="0">
                <a:latin typeface="Calibri"/>
                <a:cs typeface="Calibri"/>
              </a:rPr>
              <a:t> </a:t>
            </a:r>
            <a:r>
              <a:rPr sz="2294" dirty="0">
                <a:latin typeface="Calibri"/>
                <a:cs typeface="Calibri"/>
              </a:rPr>
              <a:t>(in</a:t>
            </a:r>
            <a:r>
              <a:rPr sz="2294" spc="-71" dirty="0">
                <a:latin typeface="Calibri"/>
                <a:cs typeface="Calibri"/>
              </a:rPr>
              <a:t> </a:t>
            </a:r>
            <a:r>
              <a:rPr sz="2294" spc="-9" dirty="0">
                <a:latin typeface="Calibri"/>
                <a:cs typeface="Calibri"/>
              </a:rPr>
              <a:t>compiler nomenclature).</a:t>
            </a:r>
            <a:r>
              <a:rPr sz="2294" dirty="0">
                <a:latin typeface="Calibri"/>
                <a:cs typeface="Calibri"/>
              </a:rPr>
              <a:t>	This</a:t>
            </a:r>
            <a:r>
              <a:rPr sz="2294" spc="-101" dirty="0">
                <a:latin typeface="Calibri"/>
                <a:cs typeface="Calibri"/>
              </a:rPr>
              <a:t> </a:t>
            </a:r>
            <a:r>
              <a:rPr sz="2294" dirty="0">
                <a:latin typeface="Calibri"/>
                <a:cs typeface="Calibri"/>
              </a:rPr>
              <a:t>hazard</a:t>
            </a:r>
            <a:r>
              <a:rPr sz="2294" spc="-106" dirty="0">
                <a:latin typeface="Calibri"/>
                <a:cs typeface="Calibri"/>
              </a:rPr>
              <a:t> </a:t>
            </a:r>
            <a:r>
              <a:rPr sz="2294" dirty="0">
                <a:latin typeface="Calibri"/>
                <a:cs typeface="Calibri"/>
              </a:rPr>
              <a:t>results</a:t>
            </a:r>
            <a:r>
              <a:rPr sz="2294" spc="-97" dirty="0">
                <a:latin typeface="Calibri"/>
                <a:cs typeface="Calibri"/>
              </a:rPr>
              <a:t> </a:t>
            </a:r>
            <a:r>
              <a:rPr sz="2294" dirty="0">
                <a:latin typeface="Calibri"/>
                <a:cs typeface="Calibri"/>
              </a:rPr>
              <a:t>from</a:t>
            </a:r>
            <a:r>
              <a:rPr sz="2294" spc="-115" dirty="0">
                <a:latin typeface="Calibri"/>
                <a:cs typeface="Calibri"/>
              </a:rPr>
              <a:t> </a:t>
            </a:r>
            <a:r>
              <a:rPr sz="2294" dirty="0">
                <a:latin typeface="Calibri"/>
                <a:cs typeface="Calibri"/>
              </a:rPr>
              <a:t>an</a:t>
            </a:r>
            <a:r>
              <a:rPr sz="2294" spc="-106" dirty="0">
                <a:latin typeface="Calibri"/>
                <a:cs typeface="Calibri"/>
              </a:rPr>
              <a:t> </a:t>
            </a:r>
            <a:r>
              <a:rPr sz="2294" spc="-9" dirty="0">
                <a:latin typeface="Calibri"/>
                <a:cs typeface="Calibri"/>
              </a:rPr>
              <a:t>actual</a:t>
            </a:r>
            <a:r>
              <a:rPr sz="2294" spc="-93" dirty="0">
                <a:latin typeface="Calibri"/>
                <a:cs typeface="Calibri"/>
              </a:rPr>
              <a:t> </a:t>
            </a:r>
            <a:r>
              <a:rPr sz="2294" spc="-18" dirty="0">
                <a:latin typeface="Calibri"/>
                <a:cs typeface="Calibri"/>
              </a:rPr>
              <a:t>need </a:t>
            </a:r>
            <a:r>
              <a:rPr sz="2294" dirty="0">
                <a:latin typeface="Calibri"/>
                <a:cs typeface="Calibri"/>
              </a:rPr>
              <a:t>for</a:t>
            </a:r>
            <a:r>
              <a:rPr sz="2294" spc="-66" dirty="0">
                <a:latin typeface="Calibri"/>
                <a:cs typeface="Calibri"/>
              </a:rPr>
              <a:t> </a:t>
            </a:r>
            <a:r>
              <a:rPr sz="2294" spc="-26" dirty="0">
                <a:latin typeface="Calibri"/>
                <a:cs typeface="Calibri"/>
              </a:rPr>
              <a:t>communicating</a:t>
            </a:r>
            <a:r>
              <a:rPr sz="2294" spc="-71" dirty="0">
                <a:latin typeface="Calibri"/>
                <a:cs typeface="Calibri"/>
              </a:rPr>
              <a:t> </a:t>
            </a:r>
            <a:r>
              <a:rPr sz="2294" dirty="0">
                <a:latin typeface="Calibri"/>
                <a:cs typeface="Calibri"/>
              </a:rPr>
              <a:t>a</a:t>
            </a:r>
            <a:r>
              <a:rPr sz="2294" spc="-66" dirty="0">
                <a:latin typeface="Calibri"/>
                <a:cs typeface="Calibri"/>
              </a:rPr>
              <a:t> </a:t>
            </a:r>
            <a:r>
              <a:rPr sz="2294" dirty="0">
                <a:latin typeface="Calibri"/>
                <a:cs typeface="Calibri"/>
              </a:rPr>
              <a:t>new</a:t>
            </a:r>
            <a:r>
              <a:rPr sz="2294" spc="-79" dirty="0">
                <a:latin typeface="Calibri"/>
                <a:cs typeface="Calibri"/>
              </a:rPr>
              <a:t> </a:t>
            </a:r>
            <a:r>
              <a:rPr sz="2294" dirty="0">
                <a:latin typeface="Calibri"/>
                <a:cs typeface="Calibri"/>
              </a:rPr>
              <a:t>data</a:t>
            </a:r>
            <a:r>
              <a:rPr sz="2294" spc="-71" dirty="0">
                <a:latin typeface="Calibri"/>
                <a:cs typeface="Calibri"/>
              </a:rPr>
              <a:t> </a:t>
            </a:r>
            <a:r>
              <a:rPr sz="2294" spc="-9" dirty="0">
                <a:latin typeface="Calibri"/>
                <a:cs typeface="Calibri"/>
              </a:rPr>
              <a:t>value.</a:t>
            </a:r>
            <a:endParaRPr sz="2294" dirty="0">
              <a:latin typeface="Calibri"/>
              <a:cs typeface="Calibri"/>
            </a:endParaRPr>
          </a:p>
        </p:txBody>
      </p:sp>
      <p:sp>
        <p:nvSpPr>
          <p:cNvPr id="5" name="object 5"/>
          <p:cNvSpPr/>
          <p:nvPr/>
        </p:nvSpPr>
        <p:spPr>
          <a:xfrm>
            <a:off x="2693908" y="2564140"/>
            <a:ext cx="454398" cy="483534"/>
          </a:xfrm>
          <a:custGeom>
            <a:avLst/>
            <a:gdLst/>
            <a:ahLst/>
            <a:cxnLst/>
            <a:rect l="l" t="t" r="r" b="b"/>
            <a:pathLst>
              <a:path w="514985" h="548004">
                <a:moveTo>
                  <a:pt x="422663" y="456321"/>
                </a:moveTo>
                <a:lnTo>
                  <a:pt x="424032" y="547751"/>
                </a:lnTo>
                <a:lnTo>
                  <a:pt x="483207" y="517047"/>
                </a:lnTo>
                <a:lnTo>
                  <a:pt x="438509" y="517047"/>
                </a:lnTo>
                <a:lnTo>
                  <a:pt x="438601" y="498692"/>
                </a:lnTo>
                <a:lnTo>
                  <a:pt x="438663" y="486567"/>
                </a:lnTo>
                <a:lnTo>
                  <a:pt x="485490" y="486567"/>
                </a:lnTo>
                <a:lnTo>
                  <a:pt x="422663" y="456321"/>
                </a:lnTo>
                <a:close/>
              </a:path>
              <a:path w="514985" h="548004">
                <a:moveTo>
                  <a:pt x="454628" y="0"/>
                </a:moveTo>
                <a:lnTo>
                  <a:pt x="408800" y="1306"/>
                </a:lnTo>
                <a:lnTo>
                  <a:pt x="364263" y="5100"/>
                </a:lnTo>
                <a:lnTo>
                  <a:pt x="321233" y="11261"/>
                </a:lnTo>
                <a:lnTo>
                  <a:pt x="279923" y="19672"/>
                </a:lnTo>
                <a:lnTo>
                  <a:pt x="240543" y="30222"/>
                </a:lnTo>
                <a:lnTo>
                  <a:pt x="203307" y="42800"/>
                </a:lnTo>
                <a:lnTo>
                  <a:pt x="136113" y="73643"/>
                </a:lnTo>
                <a:lnTo>
                  <a:pt x="80068" y="111484"/>
                </a:lnTo>
                <a:lnTo>
                  <a:pt x="37070" y="155765"/>
                </a:lnTo>
                <a:lnTo>
                  <a:pt x="9980" y="204283"/>
                </a:lnTo>
                <a:lnTo>
                  <a:pt x="571" y="245831"/>
                </a:lnTo>
                <a:lnTo>
                  <a:pt x="56" y="258378"/>
                </a:lnTo>
                <a:lnTo>
                  <a:pt x="0" y="259768"/>
                </a:lnTo>
                <a:lnTo>
                  <a:pt x="9690" y="313075"/>
                </a:lnTo>
                <a:lnTo>
                  <a:pt x="38339" y="364048"/>
                </a:lnTo>
                <a:lnTo>
                  <a:pt x="81266" y="407653"/>
                </a:lnTo>
                <a:lnTo>
                  <a:pt x="137191" y="445108"/>
                </a:lnTo>
                <a:lnTo>
                  <a:pt x="204279" y="475716"/>
                </a:lnTo>
                <a:lnTo>
                  <a:pt x="241475" y="488212"/>
                </a:lnTo>
                <a:lnTo>
                  <a:pt x="280824" y="498692"/>
                </a:lnTo>
                <a:lnTo>
                  <a:pt x="322113" y="507044"/>
                </a:lnTo>
                <a:lnTo>
                  <a:pt x="365130" y="513153"/>
                </a:lnTo>
                <a:lnTo>
                  <a:pt x="411725" y="517047"/>
                </a:lnTo>
                <a:lnTo>
                  <a:pt x="423572" y="517047"/>
                </a:lnTo>
                <a:lnTo>
                  <a:pt x="423141" y="488212"/>
                </a:lnTo>
                <a:lnTo>
                  <a:pt x="423116" y="486567"/>
                </a:lnTo>
                <a:lnTo>
                  <a:pt x="411834" y="486567"/>
                </a:lnTo>
                <a:lnTo>
                  <a:pt x="367700" y="482781"/>
                </a:lnTo>
                <a:lnTo>
                  <a:pt x="326415" y="476869"/>
                </a:lnTo>
                <a:lnTo>
                  <a:pt x="286886" y="468821"/>
                </a:lnTo>
                <a:lnTo>
                  <a:pt x="249340" y="458764"/>
                </a:lnTo>
                <a:lnTo>
                  <a:pt x="181121" y="433158"/>
                </a:lnTo>
                <a:lnTo>
                  <a:pt x="123597" y="401171"/>
                </a:lnTo>
                <a:lnTo>
                  <a:pt x="78582" y="364048"/>
                </a:lnTo>
                <a:lnTo>
                  <a:pt x="49010" y="325174"/>
                </a:lnTo>
                <a:lnTo>
                  <a:pt x="48823" y="325174"/>
                </a:lnTo>
                <a:lnTo>
                  <a:pt x="48364" y="324183"/>
                </a:lnTo>
                <a:lnTo>
                  <a:pt x="47716" y="323190"/>
                </a:lnTo>
                <a:lnTo>
                  <a:pt x="47903" y="323190"/>
                </a:lnTo>
                <a:lnTo>
                  <a:pt x="39083" y="304172"/>
                </a:lnTo>
                <a:lnTo>
                  <a:pt x="38853" y="304172"/>
                </a:lnTo>
                <a:lnTo>
                  <a:pt x="38516" y="302949"/>
                </a:lnTo>
                <a:lnTo>
                  <a:pt x="37985" y="301805"/>
                </a:lnTo>
                <a:lnTo>
                  <a:pt x="38201" y="301805"/>
                </a:lnTo>
                <a:lnTo>
                  <a:pt x="32188" y="279961"/>
                </a:lnTo>
                <a:lnTo>
                  <a:pt x="30894" y="269551"/>
                </a:lnTo>
                <a:lnTo>
                  <a:pt x="30503" y="259768"/>
                </a:lnTo>
                <a:lnTo>
                  <a:pt x="30448" y="258378"/>
                </a:lnTo>
                <a:lnTo>
                  <a:pt x="31019" y="247220"/>
                </a:lnTo>
                <a:lnTo>
                  <a:pt x="32593" y="236213"/>
                </a:lnTo>
                <a:lnTo>
                  <a:pt x="38186" y="216344"/>
                </a:lnTo>
                <a:lnTo>
                  <a:pt x="37984" y="216344"/>
                </a:lnTo>
                <a:lnTo>
                  <a:pt x="38498" y="215235"/>
                </a:lnTo>
                <a:lnTo>
                  <a:pt x="38853" y="213977"/>
                </a:lnTo>
                <a:lnTo>
                  <a:pt x="39082" y="213977"/>
                </a:lnTo>
                <a:lnTo>
                  <a:pt x="47903" y="194961"/>
                </a:lnTo>
                <a:lnTo>
                  <a:pt x="47716" y="194961"/>
                </a:lnTo>
                <a:lnTo>
                  <a:pt x="48344" y="194010"/>
                </a:lnTo>
                <a:lnTo>
                  <a:pt x="48823" y="192976"/>
                </a:lnTo>
                <a:lnTo>
                  <a:pt x="49026" y="192976"/>
                </a:lnTo>
                <a:lnTo>
                  <a:pt x="62506" y="172558"/>
                </a:lnTo>
                <a:lnTo>
                  <a:pt x="100614" y="133998"/>
                </a:lnTo>
                <a:lnTo>
                  <a:pt x="151985" y="99664"/>
                </a:lnTo>
                <a:lnTo>
                  <a:pt x="214980" y="70957"/>
                </a:lnTo>
                <a:lnTo>
                  <a:pt x="287788" y="49119"/>
                </a:lnTo>
                <a:lnTo>
                  <a:pt x="327295" y="41131"/>
                </a:lnTo>
                <a:lnTo>
                  <a:pt x="368566" y="35275"/>
                </a:lnTo>
                <a:lnTo>
                  <a:pt x="411370" y="31678"/>
                </a:lnTo>
                <a:lnTo>
                  <a:pt x="455480" y="30467"/>
                </a:lnTo>
                <a:lnTo>
                  <a:pt x="496687" y="30467"/>
                </a:lnTo>
                <a:lnTo>
                  <a:pt x="497361" y="5100"/>
                </a:lnTo>
                <a:lnTo>
                  <a:pt x="497467" y="1116"/>
                </a:lnTo>
                <a:lnTo>
                  <a:pt x="454628" y="0"/>
                </a:lnTo>
                <a:close/>
              </a:path>
              <a:path w="514985" h="548004">
                <a:moveTo>
                  <a:pt x="485490" y="486567"/>
                </a:moveTo>
                <a:lnTo>
                  <a:pt x="438663" y="486567"/>
                </a:lnTo>
                <a:lnTo>
                  <a:pt x="438601" y="498692"/>
                </a:lnTo>
                <a:lnTo>
                  <a:pt x="438509" y="517047"/>
                </a:lnTo>
                <a:lnTo>
                  <a:pt x="483207" y="517047"/>
                </a:lnTo>
                <a:lnTo>
                  <a:pt x="514777" y="500667"/>
                </a:lnTo>
                <a:lnTo>
                  <a:pt x="485490" y="486567"/>
                </a:lnTo>
                <a:close/>
              </a:path>
              <a:path w="514985" h="548004">
                <a:moveTo>
                  <a:pt x="48364" y="324183"/>
                </a:moveTo>
                <a:lnTo>
                  <a:pt x="48823" y="325174"/>
                </a:lnTo>
                <a:lnTo>
                  <a:pt x="49010" y="325174"/>
                </a:lnTo>
                <a:lnTo>
                  <a:pt x="48364" y="324183"/>
                </a:lnTo>
                <a:close/>
              </a:path>
              <a:path w="514985" h="548004">
                <a:moveTo>
                  <a:pt x="47903" y="323190"/>
                </a:moveTo>
                <a:lnTo>
                  <a:pt x="47716" y="323190"/>
                </a:lnTo>
                <a:lnTo>
                  <a:pt x="48364" y="324183"/>
                </a:lnTo>
                <a:lnTo>
                  <a:pt x="47903" y="323190"/>
                </a:lnTo>
                <a:close/>
              </a:path>
              <a:path w="514985" h="548004">
                <a:moveTo>
                  <a:pt x="38516" y="302949"/>
                </a:moveTo>
                <a:lnTo>
                  <a:pt x="38853" y="304172"/>
                </a:lnTo>
                <a:lnTo>
                  <a:pt x="39083" y="304172"/>
                </a:lnTo>
                <a:lnTo>
                  <a:pt x="38516" y="302949"/>
                </a:lnTo>
                <a:close/>
              </a:path>
              <a:path w="514985" h="548004">
                <a:moveTo>
                  <a:pt x="38201" y="301805"/>
                </a:moveTo>
                <a:lnTo>
                  <a:pt x="37985" y="301805"/>
                </a:lnTo>
                <a:lnTo>
                  <a:pt x="38516" y="302949"/>
                </a:lnTo>
                <a:lnTo>
                  <a:pt x="38201" y="301805"/>
                </a:lnTo>
                <a:close/>
              </a:path>
              <a:path w="514985" h="548004">
                <a:moveTo>
                  <a:pt x="38498" y="215235"/>
                </a:moveTo>
                <a:lnTo>
                  <a:pt x="37984" y="216344"/>
                </a:lnTo>
                <a:lnTo>
                  <a:pt x="38186" y="216344"/>
                </a:lnTo>
                <a:lnTo>
                  <a:pt x="38498" y="215235"/>
                </a:lnTo>
                <a:close/>
              </a:path>
              <a:path w="514985" h="548004">
                <a:moveTo>
                  <a:pt x="39082" y="213977"/>
                </a:moveTo>
                <a:lnTo>
                  <a:pt x="38853" y="213977"/>
                </a:lnTo>
                <a:lnTo>
                  <a:pt x="38498" y="215235"/>
                </a:lnTo>
                <a:lnTo>
                  <a:pt x="39082" y="213977"/>
                </a:lnTo>
                <a:close/>
              </a:path>
              <a:path w="514985" h="548004">
                <a:moveTo>
                  <a:pt x="48344" y="194010"/>
                </a:moveTo>
                <a:lnTo>
                  <a:pt x="47716" y="194961"/>
                </a:lnTo>
                <a:lnTo>
                  <a:pt x="47903" y="194961"/>
                </a:lnTo>
                <a:lnTo>
                  <a:pt x="48344" y="194010"/>
                </a:lnTo>
                <a:close/>
              </a:path>
              <a:path w="514985" h="548004">
                <a:moveTo>
                  <a:pt x="49026" y="192976"/>
                </a:moveTo>
                <a:lnTo>
                  <a:pt x="48823" y="192976"/>
                </a:lnTo>
                <a:lnTo>
                  <a:pt x="48344" y="194010"/>
                </a:lnTo>
                <a:lnTo>
                  <a:pt x="49026" y="192976"/>
                </a:lnTo>
                <a:close/>
              </a:path>
              <a:path w="514985" h="548004">
                <a:moveTo>
                  <a:pt x="496687" y="30467"/>
                </a:moveTo>
                <a:lnTo>
                  <a:pt x="455480" y="30467"/>
                </a:lnTo>
                <a:lnTo>
                  <a:pt x="500069" y="31678"/>
                </a:lnTo>
                <a:lnTo>
                  <a:pt x="496655" y="31678"/>
                </a:lnTo>
                <a:lnTo>
                  <a:pt x="496687" y="30467"/>
                </a:lnTo>
                <a:close/>
              </a:path>
            </a:pathLst>
          </a:custGeom>
          <a:solidFill>
            <a:srgbClr val="000000"/>
          </a:solidFill>
        </p:spPr>
        <p:txBody>
          <a:bodyPr wrap="square" lIns="0" tIns="0" rIns="0" bIns="0" rtlCol="0"/>
          <a:lstStyle/>
          <a:p>
            <a:endParaRPr sz="1588"/>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4912" y="165824"/>
            <a:ext cx="6958853" cy="1482307"/>
          </a:xfrm>
          <a:prstGeom prst="rect">
            <a:avLst/>
          </a:prstGeom>
        </p:spPr>
        <p:txBody>
          <a:bodyPr vert="horz" wrap="square" lIns="0" tIns="126851" rIns="0" bIns="0" rtlCol="0" anchor="ctr">
            <a:spAutoFit/>
          </a:bodyPr>
          <a:lstStyle/>
          <a:p>
            <a:pPr marL="11206">
              <a:lnSpc>
                <a:spcPct val="100000"/>
              </a:lnSpc>
              <a:spcBef>
                <a:spcPts val="88"/>
              </a:spcBef>
            </a:pPr>
            <a:r>
              <a:rPr dirty="0"/>
              <a:t>Three</a:t>
            </a:r>
            <a:r>
              <a:rPr spc="4" dirty="0"/>
              <a:t> </a:t>
            </a:r>
            <a:r>
              <a:rPr dirty="0"/>
              <a:t>Generic</a:t>
            </a:r>
            <a:r>
              <a:rPr spc="4" dirty="0"/>
              <a:t> </a:t>
            </a:r>
            <a:r>
              <a:rPr dirty="0"/>
              <a:t>Data</a:t>
            </a:r>
            <a:r>
              <a:rPr spc="18" dirty="0"/>
              <a:t> </a:t>
            </a:r>
            <a:r>
              <a:rPr dirty="0"/>
              <a:t>Hazards</a:t>
            </a:r>
            <a:r>
              <a:rPr spc="4" dirty="0"/>
              <a:t> </a:t>
            </a:r>
            <a:r>
              <a:rPr spc="-9" dirty="0"/>
              <a:t>(2/3)</a:t>
            </a:r>
          </a:p>
        </p:txBody>
      </p:sp>
      <p:sp>
        <p:nvSpPr>
          <p:cNvPr id="7" name="Slide Number Placeholder 6">
            <a:extLst>
              <a:ext uri="{FF2B5EF4-FFF2-40B4-BE49-F238E27FC236}">
                <a16:creationId xmlns:a16="http://schemas.microsoft.com/office/drawing/2014/main" id="{B62DC144-8CC7-3763-9D9A-B4AEA05B1472}"/>
              </a:ext>
            </a:extLst>
          </p:cNvPr>
          <p:cNvSpPr>
            <a:spLocks noGrp="1"/>
          </p:cNvSpPr>
          <p:nvPr>
            <p:ph type="sldNum" sz="quarter" idx="7"/>
          </p:nvPr>
        </p:nvSpPr>
        <p:spPr/>
        <p:txBody>
          <a:bodyPr/>
          <a:lstStyle/>
          <a:p>
            <a:fld id="{4FE321F0-2018-4E50-8BB3-A5631EBD98DD}" type="slidenum">
              <a:rPr lang="en-US" smtClean="0"/>
              <a:t>42</a:t>
            </a:fld>
            <a:endParaRPr lang="en-US"/>
          </a:p>
        </p:txBody>
      </p:sp>
      <p:sp>
        <p:nvSpPr>
          <p:cNvPr id="3" name="object 3"/>
          <p:cNvSpPr/>
          <p:nvPr/>
        </p:nvSpPr>
        <p:spPr>
          <a:xfrm>
            <a:off x="2534020" y="3810605"/>
            <a:ext cx="2027144" cy="358588"/>
          </a:xfrm>
          <a:custGeom>
            <a:avLst/>
            <a:gdLst/>
            <a:ahLst/>
            <a:cxnLst/>
            <a:rect l="l" t="t" r="r" b="b"/>
            <a:pathLst>
              <a:path w="2297429" h="406400">
                <a:moveTo>
                  <a:pt x="2297112" y="0"/>
                </a:moveTo>
                <a:lnTo>
                  <a:pt x="2297112" y="0"/>
                </a:lnTo>
                <a:lnTo>
                  <a:pt x="0" y="0"/>
                </a:lnTo>
                <a:lnTo>
                  <a:pt x="0" y="406400"/>
                </a:lnTo>
                <a:lnTo>
                  <a:pt x="2297112" y="406400"/>
                </a:lnTo>
                <a:lnTo>
                  <a:pt x="2297112" y="0"/>
                </a:lnTo>
                <a:close/>
              </a:path>
            </a:pathLst>
          </a:custGeom>
          <a:solidFill>
            <a:srgbClr val="FFFF00"/>
          </a:solidFill>
        </p:spPr>
        <p:txBody>
          <a:bodyPr wrap="square" lIns="0" tIns="0" rIns="0" bIns="0" rtlCol="0"/>
          <a:lstStyle/>
          <a:p>
            <a:endParaRPr sz="1588"/>
          </a:p>
        </p:txBody>
      </p:sp>
      <p:sp>
        <p:nvSpPr>
          <p:cNvPr id="4" name="object 4"/>
          <p:cNvSpPr txBox="1"/>
          <p:nvPr/>
        </p:nvSpPr>
        <p:spPr>
          <a:xfrm>
            <a:off x="923365" y="1300331"/>
            <a:ext cx="6739218" cy="4877199"/>
          </a:xfrm>
          <a:prstGeom prst="rect">
            <a:avLst/>
          </a:prstGeom>
        </p:spPr>
        <p:txBody>
          <a:bodyPr vert="horz" wrap="square" lIns="0" tIns="11206" rIns="0" bIns="0" rtlCol="0">
            <a:spAutoFit/>
          </a:bodyPr>
          <a:lstStyle/>
          <a:p>
            <a:pPr marL="358047" indent="-268395">
              <a:lnSpc>
                <a:spcPts val="2616"/>
              </a:lnSpc>
              <a:spcBef>
                <a:spcPts val="88"/>
              </a:spcBef>
              <a:buChar char="•"/>
              <a:tabLst>
                <a:tab pos="358047" algn="l"/>
              </a:tabLst>
            </a:pPr>
            <a:r>
              <a:rPr sz="2294" spc="-9" dirty="0">
                <a:solidFill>
                  <a:srgbClr val="FF0000"/>
                </a:solidFill>
                <a:latin typeface="Calibri"/>
                <a:cs typeface="Calibri"/>
              </a:rPr>
              <a:t>Write</a:t>
            </a:r>
            <a:r>
              <a:rPr sz="2294" spc="-106" dirty="0">
                <a:solidFill>
                  <a:srgbClr val="FF0000"/>
                </a:solidFill>
                <a:latin typeface="Calibri"/>
                <a:cs typeface="Calibri"/>
              </a:rPr>
              <a:t> </a:t>
            </a:r>
            <a:r>
              <a:rPr sz="2294" dirty="0">
                <a:solidFill>
                  <a:srgbClr val="FF0000"/>
                </a:solidFill>
                <a:latin typeface="Calibri"/>
                <a:cs typeface="Calibri"/>
              </a:rPr>
              <a:t>After</a:t>
            </a:r>
            <a:r>
              <a:rPr sz="2294" spc="-101" dirty="0">
                <a:solidFill>
                  <a:srgbClr val="FF0000"/>
                </a:solidFill>
                <a:latin typeface="Calibri"/>
                <a:cs typeface="Calibri"/>
              </a:rPr>
              <a:t> </a:t>
            </a:r>
            <a:r>
              <a:rPr sz="2294" dirty="0">
                <a:solidFill>
                  <a:srgbClr val="FF0000"/>
                </a:solidFill>
                <a:latin typeface="Calibri"/>
                <a:cs typeface="Calibri"/>
              </a:rPr>
              <a:t>Read</a:t>
            </a:r>
            <a:r>
              <a:rPr sz="2294" spc="-110" dirty="0">
                <a:solidFill>
                  <a:srgbClr val="FF0000"/>
                </a:solidFill>
                <a:latin typeface="Calibri"/>
                <a:cs typeface="Calibri"/>
              </a:rPr>
              <a:t> </a:t>
            </a:r>
            <a:r>
              <a:rPr sz="2294" spc="-18" dirty="0">
                <a:solidFill>
                  <a:srgbClr val="FF0000"/>
                </a:solidFill>
                <a:latin typeface="Calibri"/>
                <a:cs typeface="Calibri"/>
              </a:rPr>
              <a:t>(WAR)</a:t>
            </a:r>
            <a:endParaRPr sz="2294" dirty="0">
              <a:latin typeface="Calibri"/>
              <a:cs typeface="Calibri"/>
            </a:endParaRPr>
          </a:p>
          <a:p>
            <a:pPr marL="358607">
              <a:lnSpc>
                <a:spcPts val="2616"/>
              </a:lnSpc>
            </a:pPr>
            <a:r>
              <a:rPr sz="2294" dirty="0">
                <a:latin typeface="Calibri"/>
                <a:cs typeface="Calibri"/>
              </a:rPr>
              <a:t>Instr</a:t>
            </a:r>
            <a:r>
              <a:rPr sz="2250" baseline="-16339" dirty="0">
                <a:latin typeface="Calibri"/>
                <a:cs typeface="Calibri"/>
              </a:rPr>
              <a:t>J</a:t>
            </a:r>
            <a:r>
              <a:rPr sz="2250" spc="119" baseline="-16339" dirty="0">
                <a:latin typeface="Calibri"/>
                <a:cs typeface="Calibri"/>
              </a:rPr>
              <a:t> </a:t>
            </a:r>
            <a:r>
              <a:rPr sz="2294" spc="-9" dirty="0">
                <a:latin typeface="Calibri"/>
                <a:cs typeface="Calibri"/>
              </a:rPr>
              <a:t>writes</a:t>
            </a:r>
            <a:r>
              <a:rPr sz="2294" spc="-115" dirty="0">
                <a:latin typeface="Calibri"/>
                <a:cs typeface="Calibri"/>
              </a:rPr>
              <a:t> </a:t>
            </a:r>
            <a:r>
              <a:rPr sz="2294" spc="-9" dirty="0">
                <a:latin typeface="Calibri"/>
                <a:cs typeface="Calibri"/>
              </a:rPr>
              <a:t>operand</a:t>
            </a:r>
            <a:r>
              <a:rPr sz="2294" spc="-115" dirty="0">
                <a:latin typeface="Calibri"/>
                <a:cs typeface="Calibri"/>
              </a:rPr>
              <a:t> </a:t>
            </a:r>
            <a:r>
              <a:rPr sz="2294" spc="-9" dirty="0">
                <a:latin typeface="Calibri"/>
                <a:cs typeface="Calibri"/>
              </a:rPr>
              <a:t>before</a:t>
            </a:r>
            <a:r>
              <a:rPr sz="2294" spc="-110" dirty="0">
                <a:latin typeface="Calibri"/>
                <a:cs typeface="Calibri"/>
              </a:rPr>
              <a:t> </a:t>
            </a:r>
            <a:r>
              <a:rPr sz="2294" dirty="0">
                <a:latin typeface="Calibri"/>
                <a:cs typeface="Calibri"/>
              </a:rPr>
              <a:t>Instr</a:t>
            </a:r>
            <a:r>
              <a:rPr sz="2250" baseline="-16339" dirty="0">
                <a:latin typeface="Calibri"/>
                <a:cs typeface="Calibri"/>
              </a:rPr>
              <a:t>I</a:t>
            </a:r>
            <a:r>
              <a:rPr sz="2250" spc="119" baseline="-16339" dirty="0">
                <a:latin typeface="Calibri"/>
                <a:cs typeface="Calibri"/>
              </a:rPr>
              <a:t> </a:t>
            </a:r>
            <a:r>
              <a:rPr sz="2294" dirty="0">
                <a:latin typeface="Calibri"/>
                <a:cs typeface="Calibri"/>
              </a:rPr>
              <a:t>reads</a:t>
            </a:r>
            <a:r>
              <a:rPr sz="2294" spc="-115" dirty="0">
                <a:latin typeface="Calibri"/>
                <a:cs typeface="Calibri"/>
              </a:rPr>
              <a:t> </a:t>
            </a:r>
            <a:r>
              <a:rPr sz="2294" spc="-22" dirty="0">
                <a:latin typeface="Calibri"/>
                <a:cs typeface="Calibri"/>
              </a:rPr>
              <a:t>it</a:t>
            </a:r>
            <a:endParaRPr sz="2294" dirty="0">
              <a:latin typeface="Calibri"/>
              <a:cs typeface="Calibri"/>
            </a:endParaRPr>
          </a:p>
          <a:p>
            <a:pPr>
              <a:spcBef>
                <a:spcPts val="119"/>
              </a:spcBef>
            </a:pPr>
            <a:endParaRPr sz="2294" dirty="0">
              <a:latin typeface="Calibri"/>
              <a:cs typeface="Calibri"/>
            </a:endParaRPr>
          </a:p>
          <a:p>
            <a:pPr marL="2145481" marR="2009322" algn="just">
              <a:lnSpc>
                <a:spcPct val="97700"/>
              </a:lnSpc>
            </a:pPr>
            <a:r>
              <a:rPr sz="2294" b="1" dirty="0">
                <a:latin typeface="Courier New"/>
                <a:cs typeface="Courier New"/>
              </a:rPr>
              <a:t>I:</a:t>
            </a:r>
            <a:r>
              <a:rPr sz="2294" b="1" spc="-124" dirty="0">
                <a:latin typeface="Courier New"/>
                <a:cs typeface="Courier New"/>
              </a:rPr>
              <a:t> </a:t>
            </a:r>
            <a:r>
              <a:rPr sz="2294" b="1" dirty="0">
                <a:latin typeface="Courier New"/>
                <a:cs typeface="Courier New"/>
              </a:rPr>
              <a:t>sub</a:t>
            </a:r>
            <a:r>
              <a:rPr sz="2294" b="1" spc="-124" dirty="0">
                <a:latin typeface="Courier New"/>
                <a:cs typeface="Courier New"/>
              </a:rPr>
              <a:t> </a:t>
            </a:r>
            <a:r>
              <a:rPr sz="2294" b="1" spc="-26" dirty="0">
                <a:latin typeface="Courier New"/>
                <a:cs typeface="Courier New"/>
              </a:rPr>
              <a:t>r4,</a:t>
            </a:r>
            <a:r>
              <a:rPr sz="2294" b="1" spc="-26" dirty="0">
                <a:solidFill>
                  <a:srgbClr val="FF0000"/>
                </a:solidFill>
                <a:latin typeface="Courier New"/>
                <a:cs typeface="Courier New"/>
              </a:rPr>
              <a:t>r1</a:t>
            </a:r>
            <a:r>
              <a:rPr sz="2294" b="1" spc="-26" dirty="0">
                <a:latin typeface="Courier New"/>
                <a:cs typeface="Courier New"/>
              </a:rPr>
              <a:t>,r3 </a:t>
            </a:r>
            <a:r>
              <a:rPr sz="2294" b="1" dirty="0">
                <a:latin typeface="Courier New"/>
                <a:cs typeface="Courier New"/>
              </a:rPr>
              <a:t>J:</a:t>
            </a:r>
            <a:r>
              <a:rPr sz="2294" b="1" spc="-124" dirty="0">
                <a:latin typeface="Courier New"/>
                <a:cs typeface="Courier New"/>
              </a:rPr>
              <a:t> </a:t>
            </a:r>
            <a:r>
              <a:rPr sz="2294" b="1" dirty="0">
                <a:latin typeface="Courier New"/>
                <a:cs typeface="Courier New"/>
              </a:rPr>
              <a:t>add</a:t>
            </a:r>
            <a:r>
              <a:rPr sz="2294" b="1" spc="-124" dirty="0">
                <a:latin typeface="Courier New"/>
                <a:cs typeface="Courier New"/>
              </a:rPr>
              <a:t> </a:t>
            </a:r>
            <a:r>
              <a:rPr sz="2294" b="1" spc="-26" dirty="0">
                <a:solidFill>
                  <a:srgbClr val="FF0000"/>
                </a:solidFill>
                <a:latin typeface="Courier New"/>
                <a:cs typeface="Courier New"/>
              </a:rPr>
              <a:t>r1</a:t>
            </a:r>
            <a:r>
              <a:rPr sz="2294" b="1" spc="-26" dirty="0">
                <a:latin typeface="Courier New"/>
                <a:cs typeface="Courier New"/>
              </a:rPr>
              <a:t>,r2,r3 </a:t>
            </a:r>
            <a:r>
              <a:rPr sz="2294" b="1" dirty="0">
                <a:latin typeface="Courier New"/>
                <a:cs typeface="Courier New"/>
              </a:rPr>
              <a:t>K:</a:t>
            </a:r>
            <a:r>
              <a:rPr sz="2294" b="1" spc="-124" dirty="0">
                <a:latin typeface="Courier New"/>
                <a:cs typeface="Courier New"/>
              </a:rPr>
              <a:t> </a:t>
            </a:r>
            <a:r>
              <a:rPr sz="2294" b="1" dirty="0">
                <a:latin typeface="Courier New"/>
                <a:cs typeface="Courier New"/>
              </a:rPr>
              <a:t>mul</a:t>
            </a:r>
            <a:r>
              <a:rPr sz="2294" b="1" spc="-124" dirty="0">
                <a:latin typeface="Courier New"/>
                <a:cs typeface="Courier New"/>
              </a:rPr>
              <a:t> </a:t>
            </a:r>
            <a:r>
              <a:rPr sz="2294" b="1" spc="-26" dirty="0">
                <a:latin typeface="Courier New"/>
                <a:cs typeface="Courier New"/>
              </a:rPr>
              <a:t>r6,r1,r7</a:t>
            </a:r>
            <a:endParaRPr sz="2294" dirty="0">
              <a:latin typeface="Courier New"/>
              <a:cs typeface="Courier New"/>
            </a:endParaRPr>
          </a:p>
          <a:p>
            <a:pPr>
              <a:spcBef>
                <a:spcPts val="1152"/>
              </a:spcBef>
            </a:pPr>
            <a:endParaRPr sz="2294" dirty="0">
              <a:latin typeface="Courier New"/>
              <a:cs typeface="Courier New"/>
            </a:endParaRPr>
          </a:p>
          <a:p>
            <a:pPr marL="358607" marR="49309" indent="-268956">
              <a:lnSpc>
                <a:spcPts val="2391"/>
              </a:lnSpc>
              <a:buChar char="•"/>
              <a:tabLst>
                <a:tab pos="358607" algn="l"/>
              </a:tabLst>
            </a:pPr>
            <a:r>
              <a:rPr sz="2294" spc="-9" dirty="0">
                <a:latin typeface="Calibri"/>
                <a:cs typeface="Calibri"/>
              </a:rPr>
              <a:t>Called</a:t>
            </a:r>
            <a:r>
              <a:rPr sz="2294" spc="-75" dirty="0">
                <a:latin typeface="Calibri"/>
                <a:cs typeface="Calibri"/>
              </a:rPr>
              <a:t> </a:t>
            </a:r>
            <a:r>
              <a:rPr sz="2294" dirty="0">
                <a:latin typeface="Calibri"/>
                <a:cs typeface="Calibri"/>
              </a:rPr>
              <a:t>an</a:t>
            </a:r>
            <a:r>
              <a:rPr sz="2294" spc="-79" dirty="0">
                <a:latin typeface="Calibri"/>
                <a:cs typeface="Calibri"/>
              </a:rPr>
              <a:t> </a:t>
            </a:r>
            <a:r>
              <a:rPr sz="2294" spc="-26" dirty="0">
                <a:latin typeface="Calibri"/>
                <a:cs typeface="Calibri"/>
              </a:rPr>
              <a:t>“</a:t>
            </a:r>
            <a:r>
              <a:rPr sz="2294" b="1" spc="-26" dirty="0">
                <a:latin typeface="Calibri"/>
                <a:cs typeface="Calibri"/>
              </a:rPr>
              <a:t>anti-dependence</a:t>
            </a:r>
            <a:r>
              <a:rPr sz="2294" spc="-26" dirty="0">
                <a:latin typeface="Calibri"/>
                <a:cs typeface="Calibri"/>
              </a:rPr>
              <a:t>”</a:t>
            </a:r>
            <a:r>
              <a:rPr sz="2294" spc="-79" dirty="0">
                <a:latin typeface="Calibri"/>
                <a:cs typeface="Calibri"/>
              </a:rPr>
              <a:t> </a:t>
            </a:r>
            <a:r>
              <a:rPr sz="2294" dirty="0">
                <a:latin typeface="Calibri"/>
                <a:cs typeface="Calibri"/>
              </a:rPr>
              <a:t>by</a:t>
            </a:r>
            <a:r>
              <a:rPr sz="2294" spc="-75" dirty="0">
                <a:latin typeface="Calibri"/>
                <a:cs typeface="Calibri"/>
              </a:rPr>
              <a:t> </a:t>
            </a:r>
            <a:r>
              <a:rPr sz="2294" spc="-9" dirty="0">
                <a:latin typeface="Calibri"/>
                <a:cs typeface="Calibri"/>
              </a:rPr>
              <a:t>compiler</a:t>
            </a:r>
            <a:r>
              <a:rPr sz="2294" spc="-71" dirty="0">
                <a:latin typeface="Calibri"/>
                <a:cs typeface="Calibri"/>
              </a:rPr>
              <a:t> </a:t>
            </a:r>
            <a:r>
              <a:rPr sz="2294" spc="-9" dirty="0">
                <a:latin typeface="Calibri"/>
                <a:cs typeface="Calibri"/>
              </a:rPr>
              <a:t>writers.</a:t>
            </a:r>
            <a:r>
              <a:rPr sz="2294" spc="-75" dirty="0">
                <a:latin typeface="Calibri"/>
                <a:cs typeface="Calibri"/>
              </a:rPr>
              <a:t> </a:t>
            </a:r>
            <a:r>
              <a:rPr sz="2294" spc="-18" dirty="0">
                <a:latin typeface="Calibri"/>
                <a:cs typeface="Calibri"/>
              </a:rPr>
              <a:t>This </a:t>
            </a:r>
            <a:r>
              <a:rPr sz="2294" spc="-9" dirty="0">
                <a:latin typeface="Calibri"/>
                <a:cs typeface="Calibri"/>
              </a:rPr>
              <a:t>results</a:t>
            </a:r>
            <a:r>
              <a:rPr sz="2294" spc="-93" dirty="0">
                <a:latin typeface="Calibri"/>
                <a:cs typeface="Calibri"/>
              </a:rPr>
              <a:t> </a:t>
            </a:r>
            <a:r>
              <a:rPr sz="2294" dirty="0">
                <a:latin typeface="Calibri"/>
                <a:cs typeface="Calibri"/>
              </a:rPr>
              <a:t>from</a:t>
            </a:r>
            <a:r>
              <a:rPr sz="2294" spc="-106" dirty="0">
                <a:latin typeface="Calibri"/>
                <a:cs typeface="Calibri"/>
              </a:rPr>
              <a:t> </a:t>
            </a:r>
            <a:r>
              <a:rPr sz="2294" dirty="0">
                <a:latin typeface="Calibri"/>
                <a:cs typeface="Calibri"/>
              </a:rPr>
              <a:t>reuse</a:t>
            </a:r>
            <a:r>
              <a:rPr sz="2294" spc="-88" dirty="0">
                <a:latin typeface="Calibri"/>
                <a:cs typeface="Calibri"/>
              </a:rPr>
              <a:t> </a:t>
            </a:r>
            <a:r>
              <a:rPr sz="2294" dirty="0">
                <a:latin typeface="Calibri"/>
                <a:cs typeface="Calibri"/>
              </a:rPr>
              <a:t>of</a:t>
            </a:r>
            <a:r>
              <a:rPr sz="2294" spc="-84" dirty="0">
                <a:latin typeface="Calibri"/>
                <a:cs typeface="Calibri"/>
              </a:rPr>
              <a:t> </a:t>
            </a:r>
            <a:r>
              <a:rPr sz="2294" dirty="0">
                <a:latin typeface="Calibri"/>
                <a:cs typeface="Calibri"/>
              </a:rPr>
              <a:t>the</a:t>
            </a:r>
            <a:r>
              <a:rPr sz="2294" spc="-88" dirty="0">
                <a:latin typeface="Calibri"/>
                <a:cs typeface="Calibri"/>
              </a:rPr>
              <a:t> </a:t>
            </a:r>
            <a:r>
              <a:rPr sz="2294" dirty="0">
                <a:latin typeface="Calibri"/>
                <a:cs typeface="Calibri"/>
              </a:rPr>
              <a:t>name</a:t>
            </a:r>
            <a:r>
              <a:rPr sz="2294" spc="-79" dirty="0">
                <a:latin typeface="Calibri"/>
                <a:cs typeface="Calibri"/>
              </a:rPr>
              <a:t> </a:t>
            </a:r>
            <a:r>
              <a:rPr sz="2294" spc="-9" dirty="0">
                <a:latin typeface="Calibri"/>
                <a:cs typeface="Calibri"/>
              </a:rPr>
              <a:t>“r1”.</a:t>
            </a:r>
            <a:endParaRPr sz="2294" dirty="0">
              <a:latin typeface="Calibri"/>
              <a:cs typeface="Calibri"/>
            </a:endParaRPr>
          </a:p>
          <a:p>
            <a:pPr>
              <a:spcBef>
                <a:spcPts val="146"/>
              </a:spcBef>
              <a:buFont typeface="Calibri"/>
              <a:buChar char="•"/>
            </a:pPr>
            <a:endParaRPr sz="2294" dirty="0">
              <a:latin typeface="Calibri"/>
              <a:cs typeface="Calibri"/>
            </a:endParaRPr>
          </a:p>
          <a:p>
            <a:pPr marL="358047" indent="-268395">
              <a:buChar char="•"/>
              <a:tabLst>
                <a:tab pos="358047" algn="l"/>
              </a:tabLst>
            </a:pPr>
            <a:r>
              <a:rPr sz="2294" u="heavy" spc="-18" dirty="0">
                <a:uFill>
                  <a:solidFill>
                    <a:srgbClr val="000000"/>
                  </a:solidFill>
                </a:uFill>
                <a:latin typeface="Calibri"/>
                <a:cs typeface="Calibri"/>
              </a:rPr>
              <a:t>Cannot</a:t>
            </a:r>
            <a:r>
              <a:rPr sz="2294" u="heavy" spc="-79" dirty="0">
                <a:uFill>
                  <a:solidFill>
                    <a:srgbClr val="000000"/>
                  </a:solidFill>
                </a:uFill>
                <a:latin typeface="Calibri"/>
                <a:cs typeface="Calibri"/>
              </a:rPr>
              <a:t> </a:t>
            </a:r>
            <a:r>
              <a:rPr sz="2294" u="heavy" dirty="0">
                <a:uFill>
                  <a:solidFill>
                    <a:srgbClr val="000000"/>
                  </a:solidFill>
                </a:uFill>
                <a:latin typeface="Calibri"/>
                <a:cs typeface="Calibri"/>
              </a:rPr>
              <a:t>happen</a:t>
            </a:r>
            <a:r>
              <a:rPr sz="2294" u="heavy" spc="-75" dirty="0">
                <a:uFill>
                  <a:solidFill>
                    <a:srgbClr val="000000"/>
                  </a:solidFill>
                </a:uFill>
                <a:latin typeface="Calibri"/>
                <a:cs typeface="Calibri"/>
              </a:rPr>
              <a:t> </a:t>
            </a:r>
            <a:r>
              <a:rPr sz="2294" u="heavy" dirty="0">
                <a:uFill>
                  <a:solidFill>
                    <a:srgbClr val="000000"/>
                  </a:solidFill>
                </a:uFill>
                <a:latin typeface="Calibri"/>
                <a:cs typeface="Calibri"/>
              </a:rPr>
              <a:t>in</a:t>
            </a:r>
            <a:r>
              <a:rPr sz="2294" u="heavy" spc="-75" dirty="0">
                <a:uFill>
                  <a:solidFill>
                    <a:srgbClr val="000000"/>
                  </a:solidFill>
                </a:uFill>
                <a:latin typeface="Calibri"/>
                <a:cs typeface="Calibri"/>
              </a:rPr>
              <a:t> </a:t>
            </a:r>
            <a:r>
              <a:rPr sz="2294" u="heavy" spc="-9" dirty="0">
                <a:uFill>
                  <a:solidFill>
                    <a:srgbClr val="000000"/>
                  </a:solidFill>
                </a:uFill>
                <a:latin typeface="Calibri"/>
                <a:cs typeface="Calibri"/>
              </a:rPr>
              <a:t>MIPS</a:t>
            </a:r>
            <a:r>
              <a:rPr sz="2294" u="heavy" spc="-79" dirty="0">
                <a:uFill>
                  <a:solidFill>
                    <a:srgbClr val="000000"/>
                  </a:solidFill>
                </a:uFill>
                <a:latin typeface="Calibri"/>
                <a:cs typeface="Calibri"/>
              </a:rPr>
              <a:t> </a:t>
            </a:r>
            <a:r>
              <a:rPr sz="2294" u="heavy" dirty="0">
                <a:uFill>
                  <a:solidFill>
                    <a:srgbClr val="000000"/>
                  </a:solidFill>
                </a:uFill>
                <a:latin typeface="Calibri"/>
                <a:cs typeface="Calibri"/>
              </a:rPr>
              <a:t>5</a:t>
            </a:r>
            <a:r>
              <a:rPr sz="2294" u="heavy" spc="-88" dirty="0">
                <a:uFill>
                  <a:solidFill>
                    <a:srgbClr val="000000"/>
                  </a:solidFill>
                </a:uFill>
                <a:latin typeface="Calibri"/>
                <a:cs typeface="Calibri"/>
              </a:rPr>
              <a:t> </a:t>
            </a:r>
            <a:r>
              <a:rPr sz="2294" u="heavy" spc="-9" dirty="0">
                <a:uFill>
                  <a:solidFill>
                    <a:srgbClr val="000000"/>
                  </a:solidFill>
                </a:uFill>
                <a:latin typeface="Calibri"/>
                <a:cs typeface="Calibri"/>
              </a:rPr>
              <a:t>stage</a:t>
            </a:r>
            <a:r>
              <a:rPr sz="2294" u="heavy" spc="-71" dirty="0">
                <a:uFill>
                  <a:solidFill>
                    <a:srgbClr val="000000"/>
                  </a:solidFill>
                </a:uFill>
                <a:latin typeface="Calibri"/>
                <a:cs typeface="Calibri"/>
              </a:rPr>
              <a:t> </a:t>
            </a:r>
            <a:r>
              <a:rPr sz="2294" u="heavy" spc="-9" dirty="0">
                <a:uFill>
                  <a:solidFill>
                    <a:srgbClr val="000000"/>
                  </a:solidFill>
                </a:uFill>
                <a:latin typeface="Calibri"/>
                <a:cs typeface="Calibri"/>
              </a:rPr>
              <a:t>pipeline</a:t>
            </a:r>
            <a:r>
              <a:rPr sz="2294" spc="-75" dirty="0">
                <a:latin typeface="Calibri"/>
                <a:cs typeface="Calibri"/>
              </a:rPr>
              <a:t> </a:t>
            </a:r>
            <a:r>
              <a:rPr sz="2294" spc="-9" dirty="0">
                <a:latin typeface="Calibri"/>
                <a:cs typeface="Calibri"/>
              </a:rPr>
              <a:t>because:</a:t>
            </a:r>
            <a:endParaRPr sz="2294" dirty="0">
              <a:latin typeface="Calibri"/>
              <a:cs typeface="Calibri"/>
            </a:endParaRPr>
          </a:p>
          <a:p>
            <a:pPr marL="783893" lvl="1" indent="-264473">
              <a:spcBef>
                <a:spcPts val="512"/>
              </a:spcBef>
              <a:buChar char="–"/>
              <a:tabLst>
                <a:tab pos="783893" algn="l"/>
              </a:tabLst>
            </a:pPr>
            <a:r>
              <a:rPr sz="1677" dirty="0">
                <a:latin typeface="Calibri"/>
                <a:cs typeface="Calibri"/>
              </a:rPr>
              <a:t>All instructions</a:t>
            </a:r>
            <a:r>
              <a:rPr sz="1677" spc="4" dirty="0">
                <a:latin typeface="Calibri"/>
                <a:cs typeface="Calibri"/>
              </a:rPr>
              <a:t> </a:t>
            </a:r>
            <a:r>
              <a:rPr sz="1677" dirty="0">
                <a:latin typeface="Calibri"/>
                <a:cs typeface="Calibri"/>
              </a:rPr>
              <a:t>take</a:t>
            </a:r>
            <a:r>
              <a:rPr sz="1677" spc="18" dirty="0">
                <a:latin typeface="Calibri"/>
                <a:cs typeface="Calibri"/>
              </a:rPr>
              <a:t> </a:t>
            </a:r>
            <a:r>
              <a:rPr sz="1677" dirty="0">
                <a:latin typeface="Calibri"/>
                <a:cs typeface="Calibri"/>
              </a:rPr>
              <a:t>5</a:t>
            </a:r>
            <a:r>
              <a:rPr sz="1677" spc="13" dirty="0">
                <a:latin typeface="Calibri"/>
                <a:cs typeface="Calibri"/>
              </a:rPr>
              <a:t> </a:t>
            </a:r>
            <a:r>
              <a:rPr sz="1677" dirty="0">
                <a:latin typeface="Calibri"/>
                <a:cs typeface="Calibri"/>
              </a:rPr>
              <a:t>stages,</a:t>
            </a:r>
            <a:r>
              <a:rPr sz="1677" spc="9" dirty="0">
                <a:latin typeface="Calibri"/>
                <a:cs typeface="Calibri"/>
              </a:rPr>
              <a:t> </a:t>
            </a:r>
            <a:r>
              <a:rPr sz="1677" spc="-22" dirty="0">
                <a:latin typeface="Calibri"/>
                <a:cs typeface="Calibri"/>
              </a:rPr>
              <a:t>and</a:t>
            </a:r>
            <a:endParaRPr sz="1677" dirty="0">
              <a:latin typeface="Calibri"/>
              <a:cs typeface="Calibri"/>
            </a:endParaRPr>
          </a:p>
          <a:p>
            <a:pPr marL="783893" lvl="1" indent="-264473">
              <a:spcBef>
                <a:spcPts val="379"/>
              </a:spcBef>
              <a:buChar char="–"/>
              <a:tabLst>
                <a:tab pos="783893" algn="l"/>
              </a:tabLst>
            </a:pPr>
            <a:r>
              <a:rPr sz="1677" dirty="0">
                <a:latin typeface="Calibri"/>
                <a:cs typeface="Calibri"/>
              </a:rPr>
              <a:t>Register reads are</a:t>
            </a:r>
            <a:r>
              <a:rPr sz="1677" spc="13" dirty="0">
                <a:latin typeface="Calibri"/>
                <a:cs typeface="Calibri"/>
              </a:rPr>
              <a:t> </a:t>
            </a:r>
            <a:r>
              <a:rPr sz="1677" dirty="0">
                <a:latin typeface="Calibri"/>
                <a:cs typeface="Calibri"/>
              </a:rPr>
              <a:t>always in</a:t>
            </a:r>
            <a:r>
              <a:rPr sz="1677" spc="13" dirty="0">
                <a:latin typeface="Calibri"/>
                <a:cs typeface="Calibri"/>
              </a:rPr>
              <a:t> </a:t>
            </a:r>
            <a:r>
              <a:rPr sz="1677" dirty="0">
                <a:latin typeface="Calibri"/>
                <a:cs typeface="Calibri"/>
              </a:rPr>
              <a:t>stage</a:t>
            </a:r>
            <a:r>
              <a:rPr sz="1677" spc="13" dirty="0">
                <a:latin typeface="Calibri"/>
                <a:cs typeface="Calibri"/>
              </a:rPr>
              <a:t> </a:t>
            </a:r>
            <a:r>
              <a:rPr sz="1677" dirty="0">
                <a:latin typeface="Calibri"/>
                <a:cs typeface="Calibri"/>
              </a:rPr>
              <a:t>2,</a:t>
            </a:r>
            <a:r>
              <a:rPr sz="1677" spc="4" dirty="0">
                <a:latin typeface="Calibri"/>
                <a:cs typeface="Calibri"/>
              </a:rPr>
              <a:t> </a:t>
            </a:r>
            <a:r>
              <a:rPr sz="1677" spc="-22" dirty="0">
                <a:latin typeface="Calibri"/>
                <a:cs typeface="Calibri"/>
              </a:rPr>
              <a:t>and</a:t>
            </a:r>
            <a:endParaRPr sz="1677" dirty="0">
              <a:latin typeface="Calibri"/>
              <a:cs typeface="Calibri"/>
            </a:endParaRPr>
          </a:p>
          <a:p>
            <a:pPr marL="783893" lvl="1" indent="-264473">
              <a:spcBef>
                <a:spcPts val="468"/>
              </a:spcBef>
              <a:buChar char="–"/>
              <a:tabLst>
                <a:tab pos="783893" algn="l"/>
              </a:tabLst>
            </a:pPr>
            <a:r>
              <a:rPr sz="1677" dirty="0">
                <a:latin typeface="Calibri"/>
                <a:cs typeface="Calibri"/>
              </a:rPr>
              <a:t>Register</a:t>
            </a:r>
            <a:r>
              <a:rPr sz="1677" spc="-9" dirty="0">
                <a:latin typeface="Calibri"/>
                <a:cs typeface="Calibri"/>
              </a:rPr>
              <a:t> </a:t>
            </a:r>
            <a:r>
              <a:rPr sz="1677" dirty="0">
                <a:latin typeface="Calibri"/>
                <a:cs typeface="Calibri"/>
              </a:rPr>
              <a:t>writes</a:t>
            </a:r>
            <a:r>
              <a:rPr sz="1677" spc="-4" dirty="0">
                <a:latin typeface="Calibri"/>
                <a:cs typeface="Calibri"/>
              </a:rPr>
              <a:t> </a:t>
            </a:r>
            <a:r>
              <a:rPr sz="1677" dirty="0">
                <a:latin typeface="Calibri"/>
                <a:cs typeface="Calibri"/>
              </a:rPr>
              <a:t>are</a:t>
            </a:r>
            <a:r>
              <a:rPr sz="1677" spc="9" dirty="0">
                <a:latin typeface="Calibri"/>
                <a:cs typeface="Calibri"/>
              </a:rPr>
              <a:t> </a:t>
            </a:r>
            <a:r>
              <a:rPr sz="1677" dirty="0">
                <a:latin typeface="Calibri"/>
                <a:cs typeface="Calibri"/>
              </a:rPr>
              <a:t>always</a:t>
            </a:r>
            <a:r>
              <a:rPr sz="1677" spc="-4" dirty="0">
                <a:latin typeface="Calibri"/>
                <a:cs typeface="Calibri"/>
              </a:rPr>
              <a:t> </a:t>
            </a:r>
            <a:r>
              <a:rPr sz="1677" dirty="0">
                <a:latin typeface="Calibri"/>
                <a:cs typeface="Calibri"/>
              </a:rPr>
              <a:t>in</a:t>
            </a:r>
            <a:r>
              <a:rPr sz="1677" spc="9" dirty="0">
                <a:latin typeface="Calibri"/>
                <a:cs typeface="Calibri"/>
              </a:rPr>
              <a:t> </a:t>
            </a:r>
            <a:r>
              <a:rPr sz="1677" dirty="0">
                <a:latin typeface="Calibri"/>
                <a:cs typeface="Calibri"/>
              </a:rPr>
              <a:t>stage</a:t>
            </a:r>
            <a:r>
              <a:rPr sz="1677" spc="9" dirty="0">
                <a:latin typeface="Calibri"/>
                <a:cs typeface="Calibri"/>
              </a:rPr>
              <a:t> </a:t>
            </a:r>
            <a:r>
              <a:rPr sz="1677" spc="-44" dirty="0">
                <a:latin typeface="Calibri"/>
                <a:cs typeface="Calibri"/>
              </a:rPr>
              <a:t>5</a:t>
            </a:r>
            <a:endParaRPr sz="1677" dirty="0">
              <a:latin typeface="Calibri"/>
              <a:cs typeface="Calibri"/>
            </a:endParaRPr>
          </a:p>
        </p:txBody>
      </p:sp>
      <p:sp>
        <p:nvSpPr>
          <p:cNvPr id="5" name="object 5"/>
          <p:cNvSpPr/>
          <p:nvPr/>
        </p:nvSpPr>
        <p:spPr>
          <a:xfrm>
            <a:off x="2540013" y="2489626"/>
            <a:ext cx="454959" cy="482974"/>
          </a:xfrm>
          <a:custGeom>
            <a:avLst/>
            <a:gdLst/>
            <a:ahLst/>
            <a:cxnLst/>
            <a:rect l="l" t="t" r="r" b="b"/>
            <a:pathLst>
              <a:path w="515619" h="547370">
                <a:moveTo>
                  <a:pt x="405542" y="31332"/>
                </a:moveTo>
                <a:lnTo>
                  <a:pt x="364263" y="33948"/>
                </a:lnTo>
                <a:lnTo>
                  <a:pt x="321233" y="40109"/>
                </a:lnTo>
                <a:lnTo>
                  <a:pt x="279923" y="48521"/>
                </a:lnTo>
                <a:lnTo>
                  <a:pt x="240544" y="59070"/>
                </a:lnTo>
                <a:lnTo>
                  <a:pt x="203307" y="71649"/>
                </a:lnTo>
                <a:lnTo>
                  <a:pt x="136113" y="102492"/>
                </a:lnTo>
                <a:lnTo>
                  <a:pt x="80068" y="140333"/>
                </a:lnTo>
                <a:lnTo>
                  <a:pt x="37070" y="184613"/>
                </a:lnTo>
                <a:lnTo>
                  <a:pt x="9980" y="233131"/>
                </a:lnTo>
                <a:lnTo>
                  <a:pt x="571" y="274680"/>
                </a:lnTo>
                <a:lnTo>
                  <a:pt x="0" y="288616"/>
                </a:lnTo>
                <a:lnTo>
                  <a:pt x="697" y="302541"/>
                </a:lnTo>
                <a:lnTo>
                  <a:pt x="9690" y="341924"/>
                </a:lnTo>
                <a:lnTo>
                  <a:pt x="38339" y="392897"/>
                </a:lnTo>
                <a:lnTo>
                  <a:pt x="81266" y="436501"/>
                </a:lnTo>
                <a:lnTo>
                  <a:pt x="137191" y="473957"/>
                </a:lnTo>
                <a:lnTo>
                  <a:pt x="204279" y="504565"/>
                </a:lnTo>
                <a:lnTo>
                  <a:pt x="241475" y="517061"/>
                </a:lnTo>
                <a:lnTo>
                  <a:pt x="280824" y="527541"/>
                </a:lnTo>
                <a:lnTo>
                  <a:pt x="322113" y="535894"/>
                </a:lnTo>
                <a:lnTo>
                  <a:pt x="365130" y="542001"/>
                </a:lnTo>
                <a:lnTo>
                  <a:pt x="409658" y="545746"/>
                </a:lnTo>
                <a:lnTo>
                  <a:pt x="455630" y="547002"/>
                </a:lnTo>
                <a:lnTo>
                  <a:pt x="515353" y="544744"/>
                </a:lnTo>
                <a:lnTo>
                  <a:pt x="514307" y="517061"/>
                </a:lnTo>
                <a:lnTo>
                  <a:pt x="514287" y="516544"/>
                </a:lnTo>
                <a:lnTo>
                  <a:pt x="454478" y="516544"/>
                </a:lnTo>
                <a:lnTo>
                  <a:pt x="410512" y="515278"/>
                </a:lnTo>
                <a:lnTo>
                  <a:pt x="367700" y="511630"/>
                </a:lnTo>
                <a:lnTo>
                  <a:pt x="326416" y="505719"/>
                </a:lnTo>
                <a:lnTo>
                  <a:pt x="286886" y="497669"/>
                </a:lnTo>
                <a:lnTo>
                  <a:pt x="249340" y="487613"/>
                </a:lnTo>
                <a:lnTo>
                  <a:pt x="181121" y="462006"/>
                </a:lnTo>
                <a:lnTo>
                  <a:pt x="123597" y="430020"/>
                </a:lnTo>
                <a:lnTo>
                  <a:pt x="78583" y="392897"/>
                </a:lnTo>
                <a:lnTo>
                  <a:pt x="49011" y="354023"/>
                </a:lnTo>
                <a:lnTo>
                  <a:pt x="48823" y="354023"/>
                </a:lnTo>
                <a:lnTo>
                  <a:pt x="48362" y="353028"/>
                </a:lnTo>
                <a:lnTo>
                  <a:pt x="47716" y="352038"/>
                </a:lnTo>
                <a:lnTo>
                  <a:pt x="47903" y="352038"/>
                </a:lnTo>
                <a:lnTo>
                  <a:pt x="39083" y="333021"/>
                </a:lnTo>
                <a:lnTo>
                  <a:pt x="38853" y="333021"/>
                </a:lnTo>
                <a:lnTo>
                  <a:pt x="38516" y="331799"/>
                </a:lnTo>
                <a:lnTo>
                  <a:pt x="37985" y="330654"/>
                </a:lnTo>
                <a:lnTo>
                  <a:pt x="38201" y="330654"/>
                </a:lnTo>
                <a:lnTo>
                  <a:pt x="32188" y="308809"/>
                </a:lnTo>
                <a:lnTo>
                  <a:pt x="30895" y="298400"/>
                </a:lnTo>
                <a:lnTo>
                  <a:pt x="30503" y="288616"/>
                </a:lnTo>
                <a:lnTo>
                  <a:pt x="30448" y="287228"/>
                </a:lnTo>
                <a:lnTo>
                  <a:pt x="31019" y="276068"/>
                </a:lnTo>
                <a:lnTo>
                  <a:pt x="32593" y="265062"/>
                </a:lnTo>
                <a:lnTo>
                  <a:pt x="38186" y="245193"/>
                </a:lnTo>
                <a:lnTo>
                  <a:pt x="37985" y="245193"/>
                </a:lnTo>
                <a:lnTo>
                  <a:pt x="38497" y="244091"/>
                </a:lnTo>
                <a:lnTo>
                  <a:pt x="38853" y="242826"/>
                </a:lnTo>
                <a:lnTo>
                  <a:pt x="39083" y="242826"/>
                </a:lnTo>
                <a:lnTo>
                  <a:pt x="47903" y="223809"/>
                </a:lnTo>
                <a:lnTo>
                  <a:pt x="47716" y="223809"/>
                </a:lnTo>
                <a:lnTo>
                  <a:pt x="48346" y="222855"/>
                </a:lnTo>
                <a:lnTo>
                  <a:pt x="48823" y="221825"/>
                </a:lnTo>
                <a:lnTo>
                  <a:pt x="49026" y="221825"/>
                </a:lnTo>
                <a:lnTo>
                  <a:pt x="62506" y="201406"/>
                </a:lnTo>
                <a:lnTo>
                  <a:pt x="100614" y="162848"/>
                </a:lnTo>
                <a:lnTo>
                  <a:pt x="151985" y="128513"/>
                </a:lnTo>
                <a:lnTo>
                  <a:pt x="214980" y="99805"/>
                </a:lnTo>
                <a:lnTo>
                  <a:pt x="287788" y="77969"/>
                </a:lnTo>
                <a:lnTo>
                  <a:pt x="327295" y="69980"/>
                </a:lnTo>
                <a:lnTo>
                  <a:pt x="368566" y="64123"/>
                </a:lnTo>
                <a:lnTo>
                  <a:pt x="405715" y="61835"/>
                </a:lnTo>
                <a:lnTo>
                  <a:pt x="405592" y="40109"/>
                </a:lnTo>
                <a:lnTo>
                  <a:pt x="405542" y="31332"/>
                </a:lnTo>
                <a:close/>
              </a:path>
              <a:path w="515619" h="547370">
                <a:moveTo>
                  <a:pt x="514202" y="514286"/>
                </a:moveTo>
                <a:lnTo>
                  <a:pt x="454478" y="516544"/>
                </a:lnTo>
                <a:lnTo>
                  <a:pt x="514287" y="516544"/>
                </a:lnTo>
                <a:lnTo>
                  <a:pt x="514202" y="514286"/>
                </a:lnTo>
                <a:close/>
              </a:path>
              <a:path w="515619" h="547370">
                <a:moveTo>
                  <a:pt x="48362" y="353028"/>
                </a:moveTo>
                <a:lnTo>
                  <a:pt x="48823" y="354023"/>
                </a:lnTo>
                <a:lnTo>
                  <a:pt x="49011" y="354023"/>
                </a:lnTo>
                <a:lnTo>
                  <a:pt x="48362" y="353028"/>
                </a:lnTo>
                <a:close/>
              </a:path>
              <a:path w="515619" h="547370">
                <a:moveTo>
                  <a:pt x="47903" y="352038"/>
                </a:moveTo>
                <a:lnTo>
                  <a:pt x="47716" y="352038"/>
                </a:lnTo>
                <a:lnTo>
                  <a:pt x="48362" y="353028"/>
                </a:lnTo>
                <a:lnTo>
                  <a:pt x="47903" y="352038"/>
                </a:lnTo>
                <a:close/>
              </a:path>
              <a:path w="515619" h="547370">
                <a:moveTo>
                  <a:pt x="38516" y="331799"/>
                </a:moveTo>
                <a:lnTo>
                  <a:pt x="38853" y="333021"/>
                </a:lnTo>
                <a:lnTo>
                  <a:pt x="39083" y="333021"/>
                </a:lnTo>
                <a:lnTo>
                  <a:pt x="38516" y="331799"/>
                </a:lnTo>
                <a:close/>
              </a:path>
              <a:path w="515619" h="547370">
                <a:moveTo>
                  <a:pt x="38201" y="330654"/>
                </a:moveTo>
                <a:lnTo>
                  <a:pt x="37985" y="330654"/>
                </a:lnTo>
                <a:lnTo>
                  <a:pt x="38516" y="331799"/>
                </a:lnTo>
                <a:lnTo>
                  <a:pt x="38201" y="330654"/>
                </a:lnTo>
                <a:close/>
              </a:path>
              <a:path w="515619" h="547370">
                <a:moveTo>
                  <a:pt x="38497" y="244091"/>
                </a:moveTo>
                <a:lnTo>
                  <a:pt x="37985" y="245193"/>
                </a:lnTo>
                <a:lnTo>
                  <a:pt x="38186" y="245193"/>
                </a:lnTo>
                <a:lnTo>
                  <a:pt x="38497" y="244091"/>
                </a:lnTo>
                <a:close/>
              </a:path>
              <a:path w="515619" h="547370">
                <a:moveTo>
                  <a:pt x="39083" y="242826"/>
                </a:moveTo>
                <a:lnTo>
                  <a:pt x="38853" y="242826"/>
                </a:lnTo>
                <a:lnTo>
                  <a:pt x="38497" y="244091"/>
                </a:lnTo>
                <a:lnTo>
                  <a:pt x="39083" y="242826"/>
                </a:lnTo>
                <a:close/>
              </a:path>
              <a:path w="515619" h="547370">
                <a:moveTo>
                  <a:pt x="48346" y="222855"/>
                </a:moveTo>
                <a:lnTo>
                  <a:pt x="47716" y="223809"/>
                </a:lnTo>
                <a:lnTo>
                  <a:pt x="47903" y="223809"/>
                </a:lnTo>
                <a:lnTo>
                  <a:pt x="48346" y="222855"/>
                </a:lnTo>
                <a:close/>
              </a:path>
              <a:path w="515619" h="547370">
                <a:moveTo>
                  <a:pt x="49026" y="221825"/>
                </a:moveTo>
                <a:lnTo>
                  <a:pt x="48823" y="221825"/>
                </a:lnTo>
                <a:lnTo>
                  <a:pt x="48346" y="222855"/>
                </a:lnTo>
                <a:lnTo>
                  <a:pt x="49026" y="221825"/>
                </a:lnTo>
                <a:close/>
              </a:path>
              <a:path w="515619" h="547370">
                <a:moveTo>
                  <a:pt x="467082" y="30421"/>
                </a:moveTo>
                <a:lnTo>
                  <a:pt x="419912" y="30421"/>
                </a:lnTo>
                <a:lnTo>
                  <a:pt x="421704" y="59070"/>
                </a:lnTo>
                <a:lnTo>
                  <a:pt x="421815" y="60843"/>
                </a:lnTo>
                <a:lnTo>
                  <a:pt x="405715" y="61835"/>
                </a:lnTo>
                <a:lnTo>
                  <a:pt x="405761" y="69980"/>
                </a:lnTo>
                <a:lnTo>
                  <a:pt x="405883" y="91437"/>
                </a:lnTo>
                <a:lnTo>
                  <a:pt x="497062" y="45199"/>
                </a:lnTo>
                <a:lnTo>
                  <a:pt x="467082" y="30421"/>
                </a:lnTo>
                <a:close/>
              </a:path>
              <a:path w="515619" h="547370">
                <a:moveTo>
                  <a:pt x="419912" y="30421"/>
                </a:moveTo>
                <a:lnTo>
                  <a:pt x="405542" y="31332"/>
                </a:lnTo>
                <a:lnTo>
                  <a:pt x="405592" y="40109"/>
                </a:lnTo>
                <a:lnTo>
                  <a:pt x="405715" y="61835"/>
                </a:lnTo>
                <a:lnTo>
                  <a:pt x="421815" y="60843"/>
                </a:lnTo>
                <a:lnTo>
                  <a:pt x="419969" y="31332"/>
                </a:lnTo>
                <a:lnTo>
                  <a:pt x="419912" y="30421"/>
                </a:lnTo>
                <a:close/>
              </a:path>
              <a:path w="515619" h="547370">
                <a:moveTo>
                  <a:pt x="405364" y="0"/>
                </a:moveTo>
                <a:lnTo>
                  <a:pt x="405537" y="30421"/>
                </a:lnTo>
                <a:lnTo>
                  <a:pt x="405542" y="31332"/>
                </a:lnTo>
                <a:lnTo>
                  <a:pt x="419912" y="30421"/>
                </a:lnTo>
                <a:lnTo>
                  <a:pt x="467082" y="30421"/>
                </a:lnTo>
                <a:lnTo>
                  <a:pt x="405364" y="0"/>
                </a:lnTo>
                <a:close/>
              </a:path>
            </a:pathLst>
          </a:custGeom>
          <a:solidFill>
            <a:srgbClr val="000000"/>
          </a:solidFill>
        </p:spPr>
        <p:txBody>
          <a:bodyPr wrap="square" lIns="0" tIns="0" rIns="0" bIns="0" rtlCol="0"/>
          <a:lstStyle/>
          <a:p>
            <a:endParaRPr sz="1588"/>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4912" y="165824"/>
            <a:ext cx="6958853" cy="1482307"/>
          </a:xfrm>
          <a:prstGeom prst="rect">
            <a:avLst/>
          </a:prstGeom>
        </p:spPr>
        <p:txBody>
          <a:bodyPr vert="horz" wrap="square" lIns="0" tIns="126851" rIns="0" bIns="0" rtlCol="0" anchor="ctr">
            <a:spAutoFit/>
          </a:bodyPr>
          <a:lstStyle/>
          <a:p>
            <a:pPr marL="11206">
              <a:lnSpc>
                <a:spcPct val="100000"/>
              </a:lnSpc>
              <a:spcBef>
                <a:spcPts val="88"/>
              </a:spcBef>
            </a:pPr>
            <a:r>
              <a:rPr dirty="0"/>
              <a:t>Three</a:t>
            </a:r>
            <a:r>
              <a:rPr spc="4" dirty="0"/>
              <a:t> </a:t>
            </a:r>
            <a:r>
              <a:rPr dirty="0"/>
              <a:t>Generic</a:t>
            </a:r>
            <a:r>
              <a:rPr spc="4" dirty="0"/>
              <a:t> </a:t>
            </a:r>
            <a:r>
              <a:rPr dirty="0"/>
              <a:t>Data</a:t>
            </a:r>
            <a:r>
              <a:rPr spc="18" dirty="0"/>
              <a:t> </a:t>
            </a:r>
            <a:r>
              <a:rPr dirty="0"/>
              <a:t>Hazards</a:t>
            </a:r>
            <a:r>
              <a:rPr spc="4" dirty="0"/>
              <a:t> </a:t>
            </a:r>
            <a:r>
              <a:rPr spc="-9" dirty="0"/>
              <a:t>(3/3)</a:t>
            </a:r>
          </a:p>
        </p:txBody>
      </p:sp>
      <p:sp>
        <p:nvSpPr>
          <p:cNvPr id="7" name="Slide Number Placeholder 6">
            <a:extLst>
              <a:ext uri="{FF2B5EF4-FFF2-40B4-BE49-F238E27FC236}">
                <a16:creationId xmlns:a16="http://schemas.microsoft.com/office/drawing/2014/main" id="{282CB740-A202-0533-D012-54F2CC733F4A}"/>
              </a:ext>
            </a:extLst>
          </p:cNvPr>
          <p:cNvSpPr>
            <a:spLocks noGrp="1"/>
          </p:cNvSpPr>
          <p:nvPr>
            <p:ph type="sldNum" sz="quarter" idx="7"/>
          </p:nvPr>
        </p:nvSpPr>
        <p:spPr/>
        <p:txBody>
          <a:bodyPr/>
          <a:lstStyle/>
          <a:p>
            <a:fld id="{4FE321F0-2018-4E50-8BB3-A5631EBD98DD}" type="slidenum">
              <a:rPr lang="en-US" smtClean="0"/>
              <a:t>43</a:t>
            </a:fld>
            <a:endParaRPr lang="en-US"/>
          </a:p>
        </p:txBody>
      </p:sp>
      <p:sp>
        <p:nvSpPr>
          <p:cNvPr id="3" name="object 3"/>
          <p:cNvSpPr/>
          <p:nvPr/>
        </p:nvSpPr>
        <p:spPr>
          <a:xfrm>
            <a:off x="2534023" y="3698540"/>
            <a:ext cx="2354916" cy="358588"/>
          </a:xfrm>
          <a:custGeom>
            <a:avLst/>
            <a:gdLst/>
            <a:ahLst/>
            <a:cxnLst/>
            <a:rect l="l" t="t" r="r" b="b"/>
            <a:pathLst>
              <a:path w="2668904" h="406400">
                <a:moveTo>
                  <a:pt x="2668852" y="0"/>
                </a:moveTo>
                <a:lnTo>
                  <a:pt x="0" y="0"/>
                </a:lnTo>
                <a:lnTo>
                  <a:pt x="0" y="406400"/>
                </a:lnTo>
                <a:lnTo>
                  <a:pt x="2668852" y="406400"/>
                </a:lnTo>
                <a:lnTo>
                  <a:pt x="2668852" y="0"/>
                </a:lnTo>
                <a:close/>
              </a:path>
            </a:pathLst>
          </a:custGeom>
          <a:solidFill>
            <a:srgbClr val="FFFF00"/>
          </a:solidFill>
        </p:spPr>
        <p:txBody>
          <a:bodyPr wrap="square" lIns="0" tIns="0" rIns="0" bIns="0" rtlCol="0"/>
          <a:lstStyle/>
          <a:p>
            <a:endParaRPr sz="1588"/>
          </a:p>
        </p:txBody>
      </p:sp>
      <p:sp>
        <p:nvSpPr>
          <p:cNvPr id="4" name="object 4"/>
          <p:cNvSpPr txBox="1"/>
          <p:nvPr/>
        </p:nvSpPr>
        <p:spPr>
          <a:xfrm>
            <a:off x="912159" y="1300331"/>
            <a:ext cx="6482043" cy="4978188"/>
          </a:xfrm>
          <a:prstGeom prst="rect">
            <a:avLst/>
          </a:prstGeom>
        </p:spPr>
        <p:txBody>
          <a:bodyPr vert="horz" wrap="square" lIns="0" tIns="11206" rIns="0" bIns="0" rtlCol="0">
            <a:spAutoFit/>
          </a:bodyPr>
          <a:lstStyle/>
          <a:p>
            <a:pPr marL="369254" indent="-268395">
              <a:lnSpc>
                <a:spcPts val="2616"/>
              </a:lnSpc>
              <a:spcBef>
                <a:spcPts val="88"/>
              </a:spcBef>
              <a:buChar char="•"/>
              <a:tabLst>
                <a:tab pos="369254" algn="l"/>
              </a:tabLst>
            </a:pPr>
            <a:r>
              <a:rPr sz="2294" spc="-9" dirty="0">
                <a:solidFill>
                  <a:srgbClr val="FF0000"/>
                </a:solidFill>
                <a:latin typeface="Calibri"/>
                <a:cs typeface="Calibri"/>
              </a:rPr>
              <a:t>Write</a:t>
            </a:r>
            <a:r>
              <a:rPr sz="2294" spc="-101" dirty="0">
                <a:solidFill>
                  <a:srgbClr val="FF0000"/>
                </a:solidFill>
                <a:latin typeface="Calibri"/>
                <a:cs typeface="Calibri"/>
              </a:rPr>
              <a:t> </a:t>
            </a:r>
            <a:r>
              <a:rPr sz="2294" dirty="0">
                <a:solidFill>
                  <a:srgbClr val="FF0000"/>
                </a:solidFill>
                <a:latin typeface="Calibri"/>
                <a:cs typeface="Calibri"/>
              </a:rPr>
              <a:t>After</a:t>
            </a:r>
            <a:r>
              <a:rPr sz="2294" spc="-97" dirty="0">
                <a:solidFill>
                  <a:srgbClr val="FF0000"/>
                </a:solidFill>
                <a:latin typeface="Calibri"/>
                <a:cs typeface="Calibri"/>
              </a:rPr>
              <a:t> </a:t>
            </a:r>
            <a:r>
              <a:rPr sz="2294" spc="-9" dirty="0">
                <a:solidFill>
                  <a:srgbClr val="FF0000"/>
                </a:solidFill>
                <a:latin typeface="Calibri"/>
                <a:cs typeface="Calibri"/>
              </a:rPr>
              <a:t>Write</a:t>
            </a:r>
            <a:r>
              <a:rPr sz="2294" spc="-101" dirty="0">
                <a:solidFill>
                  <a:srgbClr val="FF0000"/>
                </a:solidFill>
                <a:latin typeface="Calibri"/>
                <a:cs typeface="Calibri"/>
              </a:rPr>
              <a:t> </a:t>
            </a:r>
            <a:r>
              <a:rPr sz="2294" spc="-9" dirty="0">
                <a:solidFill>
                  <a:srgbClr val="FF0000"/>
                </a:solidFill>
                <a:latin typeface="Calibri"/>
                <a:cs typeface="Calibri"/>
              </a:rPr>
              <a:t>(WAW)</a:t>
            </a:r>
            <a:endParaRPr sz="2294">
              <a:latin typeface="Calibri"/>
              <a:cs typeface="Calibri"/>
            </a:endParaRPr>
          </a:p>
          <a:p>
            <a:pPr marL="369814">
              <a:lnSpc>
                <a:spcPts val="2616"/>
              </a:lnSpc>
            </a:pPr>
            <a:r>
              <a:rPr sz="2294" dirty="0">
                <a:latin typeface="Calibri"/>
                <a:cs typeface="Calibri"/>
              </a:rPr>
              <a:t>Instr</a:t>
            </a:r>
            <a:r>
              <a:rPr sz="2250" baseline="-16339" dirty="0">
                <a:latin typeface="Calibri"/>
                <a:cs typeface="Calibri"/>
              </a:rPr>
              <a:t>J</a:t>
            </a:r>
            <a:r>
              <a:rPr sz="2250" spc="125" baseline="-16339" dirty="0">
                <a:latin typeface="Calibri"/>
                <a:cs typeface="Calibri"/>
              </a:rPr>
              <a:t> </a:t>
            </a:r>
            <a:r>
              <a:rPr sz="2294" spc="-9" dirty="0">
                <a:latin typeface="Calibri"/>
                <a:cs typeface="Calibri"/>
              </a:rPr>
              <a:t>writes</a:t>
            </a:r>
            <a:r>
              <a:rPr sz="2294" spc="-110" dirty="0">
                <a:latin typeface="Calibri"/>
                <a:cs typeface="Calibri"/>
              </a:rPr>
              <a:t> </a:t>
            </a:r>
            <a:r>
              <a:rPr sz="2294" spc="-9" dirty="0">
                <a:latin typeface="Calibri"/>
                <a:cs typeface="Calibri"/>
              </a:rPr>
              <a:t>operand</a:t>
            </a:r>
            <a:r>
              <a:rPr sz="2294" spc="-110" dirty="0">
                <a:latin typeface="Calibri"/>
                <a:cs typeface="Calibri"/>
              </a:rPr>
              <a:t> </a:t>
            </a:r>
            <a:r>
              <a:rPr sz="2294" spc="-9" dirty="0">
                <a:latin typeface="Calibri"/>
                <a:cs typeface="Calibri"/>
              </a:rPr>
              <a:t>before</a:t>
            </a:r>
            <a:r>
              <a:rPr sz="2294" spc="-106" dirty="0">
                <a:latin typeface="Calibri"/>
                <a:cs typeface="Calibri"/>
              </a:rPr>
              <a:t> </a:t>
            </a:r>
            <a:r>
              <a:rPr sz="2294" dirty="0">
                <a:latin typeface="Calibri"/>
                <a:cs typeface="Calibri"/>
              </a:rPr>
              <a:t>Instr</a:t>
            </a:r>
            <a:r>
              <a:rPr sz="2250" baseline="-16339" dirty="0">
                <a:latin typeface="Calibri"/>
                <a:cs typeface="Calibri"/>
              </a:rPr>
              <a:t>I</a:t>
            </a:r>
            <a:r>
              <a:rPr sz="2250" spc="125" baseline="-16339" dirty="0">
                <a:latin typeface="Calibri"/>
                <a:cs typeface="Calibri"/>
              </a:rPr>
              <a:t> </a:t>
            </a:r>
            <a:r>
              <a:rPr sz="2294" spc="-9" dirty="0">
                <a:latin typeface="Calibri"/>
                <a:cs typeface="Calibri"/>
              </a:rPr>
              <a:t>writes</a:t>
            </a:r>
            <a:r>
              <a:rPr sz="2294" spc="-110" dirty="0">
                <a:latin typeface="Calibri"/>
                <a:cs typeface="Calibri"/>
              </a:rPr>
              <a:t> </a:t>
            </a:r>
            <a:r>
              <a:rPr sz="2294" spc="-22" dirty="0">
                <a:latin typeface="Calibri"/>
                <a:cs typeface="Calibri"/>
              </a:rPr>
              <a:t>it.</a:t>
            </a:r>
            <a:endParaRPr sz="2294">
              <a:latin typeface="Calibri"/>
              <a:cs typeface="Calibri"/>
            </a:endParaRPr>
          </a:p>
          <a:p>
            <a:pPr marL="2156687" marR="1740927" algn="just">
              <a:lnSpc>
                <a:spcPct val="97700"/>
              </a:lnSpc>
              <a:spcBef>
                <a:spcPts val="2625"/>
              </a:spcBef>
            </a:pPr>
            <a:r>
              <a:rPr sz="2294" b="1" dirty="0">
                <a:latin typeface="Courier New"/>
                <a:cs typeface="Courier New"/>
              </a:rPr>
              <a:t>I:</a:t>
            </a:r>
            <a:r>
              <a:rPr sz="2294" b="1" spc="-124" dirty="0">
                <a:latin typeface="Courier New"/>
                <a:cs typeface="Courier New"/>
              </a:rPr>
              <a:t> </a:t>
            </a:r>
            <a:r>
              <a:rPr sz="2294" b="1" dirty="0">
                <a:latin typeface="Courier New"/>
                <a:cs typeface="Courier New"/>
              </a:rPr>
              <a:t>sub</a:t>
            </a:r>
            <a:r>
              <a:rPr sz="2294" b="1" spc="-124" dirty="0">
                <a:latin typeface="Courier New"/>
                <a:cs typeface="Courier New"/>
              </a:rPr>
              <a:t> </a:t>
            </a:r>
            <a:r>
              <a:rPr sz="2294" b="1" spc="-26" dirty="0">
                <a:solidFill>
                  <a:srgbClr val="FF0000"/>
                </a:solidFill>
                <a:latin typeface="Courier New"/>
                <a:cs typeface="Courier New"/>
              </a:rPr>
              <a:t>r1</a:t>
            </a:r>
            <a:r>
              <a:rPr sz="2294" b="1" spc="-26" dirty="0">
                <a:latin typeface="Courier New"/>
                <a:cs typeface="Courier New"/>
              </a:rPr>
              <a:t>,r4,r3 </a:t>
            </a:r>
            <a:r>
              <a:rPr sz="2294" b="1" dirty="0">
                <a:latin typeface="Courier New"/>
                <a:cs typeface="Courier New"/>
              </a:rPr>
              <a:t>J:</a:t>
            </a:r>
            <a:r>
              <a:rPr sz="2294" b="1" spc="-124" dirty="0">
                <a:latin typeface="Courier New"/>
                <a:cs typeface="Courier New"/>
              </a:rPr>
              <a:t> </a:t>
            </a:r>
            <a:r>
              <a:rPr sz="2294" b="1" dirty="0">
                <a:latin typeface="Courier New"/>
                <a:cs typeface="Courier New"/>
              </a:rPr>
              <a:t>add</a:t>
            </a:r>
            <a:r>
              <a:rPr sz="2294" b="1" spc="-124" dirty="0">
                <a:latin typeface="Courier New"/>
                <a:cs typeface="Courier New"/>
              </a:rPr>
              <a:t> </a:t>
            </a:r>
            <a:r>
              <a:rPr sz="2294" b="1" spc="-26" dirty="0">
                <a:solidFill>
                  <a:srgbClr val="FF0000"/>
                </a:solidFill>
                <a:latin typeface="Courier New"/>
                <a:cs typeface="Courier New"/>
              </a:rPr>
              <a:t>r1</a:t>
            </a:r>
            <a:r>
              <a:rPr sz="2294" b="1" spc="-26" dirty="0">
                <a:latin typeface="Courier New"/>
                <a:cs typeface="Courier New"/>
              </a:rPr>
              <a:t>,r2,r3 </a:t>
            </a:r>
            <a:r>
              <a:rPr sz="2294" b="1" dirty="0">
                <a:latin typeface="Courier New"/>
                <a:cs typeface="Courier New"/>
              </a:rPr>
              <a:t>K:</a:t>
            </a:r>
            <a:r>
              <a:rPr sz="2294" b="1" spc="-124" dirty="0">
                <a:latin typeface="Courier New"/>
                <a:cs typeface="Courier New"/>
              </a:rPr>
              <a:t> </a:t>
            </a:r>
            <a:r>
              <a:rPr sz="2294" b="1" dirty="0">
                <a:latin typeface="Courier New"/>
                <a:cs typeface="Courier New"/>
              </a:rPr>
              <a:t>mul</a:t>
            </a:r>
            <a:r>
              <a:rPr sz="2294" b="1" spc="-124" dirty="0">
                <a:latin typeface="Courier New"/>
                <a:cs typeface="Courier New"/>
              </a:rPr>
              <a:t> </a:t>
            </a:r>
            <a:r>
              <a:rPr sz="2294" b="1" spc="-26" dirty="0">
                <a:latin typeface="Courier New"/>
                <a:cs typeface="Courier New"/>
              </a:rPr>
              <a:t>r6,r1,r7</a:t>
            </a:r>
            <a:endParaRPr sz="2294">
              <a:latin typeface="Courier New"/>
              <a:cs typeface="Courier New"/>
            </a:endParaRPr>
          </a:p>
          <a:p>
            <a:pPr>
              <a:spcBef>
                <a:spcPts val="485"/>
              </a:spcBef>
            </a:pPr>
            <a:endParaRPr sz="2294">
              <a:latin typeface="Courier New"/>
              <a:cs typeface="Courier New"/>
            </a:endParaRPr>
          </a:p>
          <a:p>
            <a:pPr marL="369814" marR="60515" indent="-268956">
              <a:lnSpc>
                <a:spcPts val="2480"/>
              </a:lnSpc>
              <a:buChar char="•"/>
              <a:tabLst>
                <a:tab pos="369814" algn="l"/>
              </a:tabLst>
            </a:pPr>
            <a:r>
              <a:rPr sz="2294" spc="-9" dirty="0">
                <a:latin typeface="Calibri"/>
                <a:cs typeface="Calibri"/>
              </a:rPr>
              <a:t>Called</a:t>
            </a:r>
            <a:r>
              <a:rPr sz="2294" spc="-75" dirty="0">
                <a:latin typeface="Calibri"/>
                <a:cs typeface="Calibri"/>
              </a:rPr>
              <a:t> </a:t>
            </a:r>
            <a:r>
              <a:rPr sz="2294" dirty="0">
                <a:latin typeface="Calibri"/>
                <a:cs typeface="Calibri"/>
              </a:rPr>
              <a:t>an</a:t>
            </a:r>
            <a:r>
              <a:rPr sz="2294" spc="-79" dirty="0">
                <a:latin typeface="Calibri"/>
                <a:cs typeface="Calibri"/>
              </a:rPr>
              <a:t> </a:t>
            </a:r>
            <a:r>
              <a:rPr sz="2294" spc="-18" dirty="0">
                <a:latin typeface="Calibri"/>
                <a:cs typeface="Calibri"/>
              </a:rPr>
              <a:t>“</a:t>
            </a:r>
            <a:r>
              <a:rPr sz="2294" b="1" spc="-18" dirty="0">
                <a:latin typeface="Calibri"/>
                <a:cs typeface="Calibri"/>
              </a:rPr>
              <a:t>output</a:t>
            </a:r>
            <a:r>
              <a:rPr sz="2294" b="1" spc="-62" dirty="0">
                <a:latin typeface="Calibri"/>
                <a:cs typeface="Calibri"/>
              </a:rPr>
              <a:t> </a:t>
            </a:r>
            <a:r>
              <a:rPr sz="2294" b="1" spc="-26" dirty="0">
                <a:latin typeface="Calibri"/>
                <a:cs typeface="Calibri"/>
              </a:rPr>
              <a:t>dependence</a:t>
            </a:r>
            <a:r>
              <a:rPr sz="2294" spc="-26" dirty="0">
                <a:latin typeface="Calibri"/>
                <a:cs typeface="Calibri"/>
              </a:rPr>
              <a:t>”</a:t>
            </a:r>
            <a:r>
              <a:rPr sz="2294" spc="-79" dirty="0">
                <a:latin typeface="Calibri"/>
                <a:cs typeface="Calibri"/>
              </a:rPr>
              <a:t> </a:t>
            </a:r>
            <a:r>
              <a:rPr sz="2294" dirty="0">
                <a:latin typeface="Calibri"/>
                <a:cs typeface="Calibri"/>
              </a:rPr>
              <a:t>by</a:t>
            </a:r>
            <a:r>
              <a:rPr sz="2294" spc="-75" dirty="0">
                <a:latin typeface="Calibri"/>
                <a:cs typeface="Calibri"/>
              </a:rPr>
              <a:t> </a:t>
            </a:r>
            <a:r>
              <a:rPr sz="2294" spc="-9" dirty="0">
                <a:latin typeface="Calibri"/>
                <a:cs typeface="Calibri"/>
              </a:rPr>
              <a:t>compiler</a:t>
            </a:r>
            <a:r>
              <a:rPr sz="2294" spc="-66" dirty="0">
                <a:latin typeface="Calibri"/>
                <a:cs typeface="Calibri"/>
              </a:rPr>
              <a:t> </a:t>
            </a:r>
            <a:r>
              <a:rPr sz="2294" spc="-9" dirty="0">
                <a:latin typeface="Calibri"/>
                <a:cs typeface="Calibri"/>
              </a:rPr>
              <a:t>writers </a:t>
            </a:r>
            <a:r>
              <a:rPr sz="2294" dirty="0">
                <a:latin typeface="Calibri"/>
                <a:cs typeface="Calibri"/>
              </a:rPr>
              <a:t>This</a:t>
            </a:r>
            <a:r>
              <a:rPr sz="2294" spc="-88" dirty="0">
                <a:latin typeface="Calibri"/>
                <a:cs typeface="Calibri"/>
              </a:rPr>
              <a:t> </a:t>
            </a:r>
            <a:r>
              <a:rPr sz="2294" dirty="0">
                <a:latin typeface="Calibri"/>
                <a:cs typeface="Calibri"/>
              </a:rPr>
              <a:t>also</a:t>
            </a:r>
            <a:r>
              <a:rPr sz="2294" spc="-93" dirty="0">
                <a:latin typeface="Calibri"/>
                <a:cs typeface="Calibri"/>
              </a:rPr>
              <a:t> </a:t>
            </a:r>
            <a:r>
              <a:rPr sz="2294" spc="-9" dirty="0">
                <a:latin typeface="Calibri"/>
                <a:cs typeface="Calibri"/>
              </a:rPr>
              <a:t>results</a:t>
            </a:r>
            <a:r>
              <a:rPr sz="2294" spc="-88" dirty="0">
                <a:latin typeface="Calibri"/>
                <a:cs typeface="Calibri"/>
              </a:rPr>
              <a:t> </a:t>
            </a:r>
            <a:r>
              <a:rPr sz="2294" dirty="0">
                <a:latin typeface="Calibri"/>
                <a:cs typeface="Calibri"/>
              </a:rPr>
              <a:t>from</a:t>
            </a:r>
            <a:r>
              <a:rPr sz="2294" spc="-106" dirty="0">
                <a:latin typeface="Calibri"/>
                <a:cs typeface="Calibri"/>
              </a:rPr>
              <a:t> </a:t>
            </a:r>
            <a:r>
              <a:rPr sz="2294" dirty="0">
                <a:latin typeface="Calibri"/>
                <a:cs typeface="Calibri"/>
              </a:rPr>
              <a:t>the</a:t>
            </a:r>
            <a:r>
              <a:rPr sz="2294" spc="-84" dirty="0">
                <a:latin typeface="Calibri"/>
                <a:cs typeface="Calibri"/>
              </a:rPr>
              <a:t> </a:t>
            </a:r>
            <a:r>
              <a:rPr sz="2294" dirty="0">
                <a:latin typeface="Calibri"/>
                <a:cs typeface="Calibri"/>
              </a:rPr>
              <a:t>reuse</a:t>
            </a:r>
            <a:r>
              <a:rPr sz="2294" spc="-84" dirty="0">
                <a:latin typeface="Calibri"/>
                <a:cs typeface="Calibri"/>
              </a:rPr>
              <a:t> </a:t>
            </a:r>
            <a:r>
              <a:rPr sz="2294" dirty="0">
                <a:latin typeface="Calibri"/>
                <a:cs typeface="Calibri"/>
              </a:rPr>
              <a:t>of</a:t>
            </a:r>
            <a:r>
              <a:rPr sz="2294" spc="-79" dirty="0">
                <a:latin typeface="Calibri"/>
                <a:cs typeface="Calibri"/>
              </a:rPr>
              <a:t> </a:t>
            </a:r>
            <a:r>
              <a:rPr sz="2294" dirty="0">
                <a:latin typeface="Calibri"/>
                <a:cs typeface="Calibri"/>
              </a:rPr>
              <a:t>name</a:t>
            </a:r>
            <a:r>
              <a:rPr sz="2294" spc="-75" dirty="0">
                <a:latin typeface="Calibri"/>
                <a:cs typeface="Calibri"/>
              </a:rPr>
              <a:t> </a:t>
            </a:r>
            <a:r>
              <a:rPr sz="2294" spc="-9" dirty="0">
                <a:latin typeface="Calibri"/>
                <a:cs typeface="Calibri"/>
              </a:rPr>
              <a:t>“r1”.</a:t>
            </a:r>
            <a:endParaRPr sz="2294">
              <a:latin typeface="Calibri"/>
              <a:cs typeface="Calibri"/>
            </a:endParaRPr>
          </a:p>
          <a:p>
            <a:pPr>
              <a:spcBef>
                <a:spcPts val="931"/>
              </a:spcBef>
              <a:buFont typeface="Calibri"/>
              <a:buChar char="•"/>
            </a:pPr>
            <a:endParaRPr sz="2294">
              <a:latin typeface="Calibri"/>
              <a:cs typeface="Calibri"/>
            </a:endParaRPr>
          </a:p>
          <a:p>
            <a:pPr marL="369254" indent="-268395">
              <a:buChar char="•"/>
              <a:tabLst>
                <a:tab pos="369254" algn="l"/>
              </a:tabLst>
            </a:pPr>
            <a:r>
              <a:rPr sz="2294" u="heavy" spc="-18" dirty="0">
                <a:uFill>
                  <a:solidFill>
                    <a:srgbClr val="000000"/>
                  </a:solidFill>
                </a:uFill>
                <a:latin typeface="Calibri"/>
                <a:cs typeface="Calibri"/>
              </a:rPr>
              <a:t>Cannot</a:t>
            </a:r>
            <a:r>
              <a:rPr sz="2294" u="heavy" spc="-84" dirty="0">
                <a:uFill>
                  <a:solidFill>
                    <a:srgbClr val="000000"/>
                  </a:solidFill>
                </a:uFill>
                <a:latin typeface="Calibri"/>
                <a:cs typeface="Calibri"/>
              </a:rPr>
              <a:t> </a:t>
            </a:r>
            <a:r>
              <a:rPr sz="2294" u="heavy" dirty="0">
                <a:uFill>
                  <a:solidFill>
                    <a:srgbClr val="000000"/>
                  </a:solidFill>
                </a:uFill>
                <a:latin typeface="Calibri"/>
                <a:cs typeface="Calibri"/>
              </a:rPr>
              <a:t>happen</a:t>
            </a:r>
            <a:r>
              <a:rPr sz="2294" u="heavy" spc="-79" dirty="0">
                <a:uFill>
                  <a:solidFill>
                    <a:srgbClr val="000000"/>
                  </a:solidFill>
                </a:uFill>
                <a:latin typeface="Calibri"/>
                <a:cs typeface="Calibri"/>
              </a:rPr>
              <a:t> </a:t>
            </a:r>
            <a:r>
              <a:rPr sz="2294" u="heavy" dirty="0">
                <a:uFill>
                  <a:solidFill>
                    <a:srgbClr val="000000"/>
                  </a:solidFill>
                </a:uFill>
                <a:latin typeface="Calibri"/>
                <a:cs typeface="Calibri"/>
              </a:rPr>
              <a:t>in</a:t>
            </a:r>
            <a:r>
              <a:rPr sz="2294" u="heavy" spc="-79" dirty="0">
                <a:uFill>
                  <a:solidFill>
                    <a:srgbClr val="000000"/>
                  </a:solidFill>
                </a:uFill>
                <a:latin typeface="Calibri"/>
                <a:cs typeface="Calibri"/>
              </a:rPr>
              <a:t> </a:t>
            </a:r>
            <a:r>
              <a:rPr sz="2294" u="heavy" spc="-9" dirty="0">
                <a:uFill>
                  <a:solidFill>
                    <a:srgbClr val="000000"/>
                  </a:solidFill>
                </a:uFill>
                <a:latin typeface="Calibri"/>
                <a:cs typeface="Calibri"/>
              </a:rPr>
              <a:t>MIPS</a:t>
            </a:r>
            <a:r>
              <a:rPr sz="2294" u="heavy" spc="-84" dirty="0">
                <a:uFill>
                  <a:solidFill>
                    <a:srgbClr val="000000"/>
                  </a:solidFill>
                </a:uFill>
                <a:latin typeface="Calibri"/>
                <a:cs typeface="Calibri"/>
              </a:rPr>
              <a:t> </a:t>
            </a:r>
            <a:r>
              <a:rPr sz="2294" u="heavy" dirty="0">
                <a:uFill>
                  <a:solidFill>
                    <a:srgbClr val="000000"/>
                  </a:solidFill>
                </a:uFill>
                <a:latin typeface="Calibri"/>
                <a:cs typeface="Calibri"/>
              </a:rPr>
              <a:t>5</a:t>
            </a:r>
            <a:r>
              <a:rPr sz="2294" u="heavy" spc="-88" dirty="0">
                <a:uFill>
                  <a:solidFill>
                    <a:srgbClr val="000000"/>
                  </a:solidFill>
                </a:uFill>
                <a:latin typeface="Calibri"/>
                <a:cs typeface="Calibri"/>
              </a:rPr>
              <a:t> </a:t>
            </a:r>
            <a:r>
              <a:rPr sz="2294" u="heavy" dirty="0">
                <a:uFill>
                  <a:solidFill>
                    <a:srgbClr val="000000"/>
                  </a:solidFill>
                </a:uFill>
                <a:latin typeface="Calibri"/>
                <a:cs typeface="Calibri"/>
              </a:rPr>
              <a:t>stage</a:t>
            </a:r>
            <a:r>
              <a:rPr sz="2294" spc="-53" dirty="0">
                <a:latin typeface="Calibri"/>
                <a:cs typeface="Calibri"/>
              </a:rPr>
              <a:t> </a:t>
            </a:r>
            <a:r>
              <a:rPr sz="2294" spc="-9" dirty="0">
                <a:latin typeface="Calibri"/>
                <a:cs typeface="Calibri"/>
              </a:rPr>
              <a:t>pipeline</a:t>
            </a:r>
            <a:r>
              <a:rPr sz="2294" spc="-75" dirty="0">
                <a:latin typeface="Calibri"/>
                <a:cs typeface="Calibri"/>
              </a:rPr>
              <a:t> </a:t>
            </a:r>
            <a:r>
              <a:rPr sz="2294" spc="-9" dirty="0">
                <a:latin typeface="Calibri"/>
                <a:cs typeface="Calibri"/>
              </a:rPr>
              <a:t>because:</a:t>
            </a:r>
            <a:endParaRPr sz="2294">
              <a:latin typeface="Calibri"/>
              <a:cs typeface="Calibri"/>
            </a:endParaRPr>
          </a:p>
          <a:p>
            <a:pPr marL="795100" lvl="1" indent="-264473">
              <a:spcBef>
                <a:spcPts val="512"/>
              </a:spcBef>
              <a:buChar char="–"/>
              <a:tabLst>
                <a:tab pos="795100" algn="l"/>
              </a:tabLst>
            </a:pPr>
            <a:r>
              <a:rPr sz="1677" dirty="0">
                <a:latin typeface="Calibri"/>
                <a:cs typeface="Calibri"/>
              </a:rPr>
              <a:t>All instructions</a:t>
            </a:r>
            <a:r>
              <a:rPr sz="1677" spc="4" dirty="0">
                <a:latin typeface="Calibri"/>
                <a:cs typeface="Calibri"/>
              </a:rPr>
              <a:t> </a:t>
            </a:r>
            <a:r>
              <a:rPr sz="1677" dirty="0">
                <a:latin typeface="Calibri"/>
                <a:cs typeface="Calibri"/>
              </a:rPr>
              <a:t>take</a:t>
            </a:r>
            <a:r>
              <a:rPr sz="1677" spc="18" dirty="0">
                <a:latin typeface="Calibri"/>
                <a:cs typeface="Calibri"/>
              </a:rPr>
              <a:t> </a:t>
            </a:r>
            <a:r>
              <a:rPr sz="1677" dirty="0">
                <a:latin typeface="Calibri"/>
                <a:cs typeface="Calibri"/>
              </a:rPr>
              <a:t>5</a:t>
            </a:r>
            <a:r>
              <a:rPr sz="1677" spc="13" dirty="0">
                <a:latin typeface="Calibri"/>
                <a:cs typeface="Calibri"/>
              </a:rPr>
              <a:t> </a:t>
            </a:r>
            <a:r>
              <a:rPr sz="1677" dirty="0">
                <a:latin typeface="Calibri"/>
                <a:cs typeface="Calibri"/>
              </a:rPr>
              <a:t>stages,</a:t>
            </a:r>
            <a:r>
              <a:rPr sz="1677" spc="9" dirty="0">
                <a:latin typeface="Calibri"/>
                <a:cs typeface="Calibri"/>
              </a:rPr>
              <a:t> </a:t>
            </a:r>
            <a:r>
              <a:rPr sz="1677" spc="-22" dirty="0">
                <a:latin typeface="Calibri"/>
                <a:cs typeface="Calibri"/>
              </a:rPr>
              <a:t>and</a:t>
            </a:r>
            <a:endParaRPr sz="1677">
              <a:latin typeface="Calibri"/>
              <a:cs typeface="Calibri"/>
            </a:endParaRPr>
          </a:p>
          <a:p>
            <a:pPr marL="795100" lvl="1" indent="-264473">
              <a:spcBef>
                <a:spcPts val="379"/>
              </a:spcBef>
              <a:buChar char="–"/>
              <a:tabLst>
                <a:tab pos="795100" algn="l"/>
              </a:tabLst>
            </a:pPr>
            <a:r>
              <a:rPr sz="1677" dirty="0">
                <a:latin typeface="Calibri"/>
                <a:cs typeface="Calibri"/>
              </a:rPr>
              <a:t>Register</a:t>
            </a:r>
            <a:r>
              <a:rPr sz="1677" spc="-9" dirty="0">
                <a:latin typeface="Calibri"/>
                <a:cs typeface="Calibri"/>
              </a:rPr>
              <a:t> </a:t>
            </a:r>
            <a:r>
              <a:rPr sz="1677" dirty="0">
                <a:latin typeface="Calibri"/>
                <a:cs typeface="Calibri"/>
              </a:rPr>
              <a:t>writes</a:t>
            </a:r>
            <a:r>
              <a:rPr sz="1677" spc="-4" dirty="0">
                <a:latin typeface="Calibri"/>
                <a:cs typeface="Calibri"/>
              </a:rPr>
              <a:t> </a:t>
            </a:r>
            <a:r>
              <a:rPr sz="1677" dirty="0">
                <a:latin typeface="Calibri"/>
                <a:cs typeface="Calibri"/>
              </a:rPr>
              <a:t>are</a:t>
            </a:r>
            <a:r>
              <a:rPr sz="1677" spc="9" dirty="0">
                <a:latin typeface="Calibri"/>
                <a:cs typeface="Calibri"/>
              </a:rPr>
              <a:t> </a:t>
            </a:r>
            <a:r>
              <a:rPr sz="1677" dirty="0">
                <a:latin typeface="Calibri"/>
                <a:cs typeface="Calibri"/>
              </a:rPr>
              <a:t>always</a:t>
            </a:r>
            <a:r>
              <a:rPr sz="1677" spc="-4" dirty="0">
                <a:latin typeface="Calibri"/>
                <a:cs typeface="Calibri"/>
              </a:rPr>
              <a:t> </a:t>
            </a:r>
            <a:r>
              <a:rPr sz="1677" dirty="0">
                <a:latin typeface="Calibri"/>
                <a:cs typeface="Calibri"/>
              </a:rPr>
              <a:t>in</a:t>
            </a:r>
            <a:r>
              <a:rPr sz="1677" spc="9" dirty="0">
                <a:latin typeface="Calibri"/>
                <a:cs typeface="Calibri"/>
              </a:rPr>
              <a:t> </a:t>
            </a:r>
            <a:r>
              <a:rPr sz="1677" dirty="0">
                <a:latin typeface="Calibri"/>
                <a:cs typeface="Calibri"/>
              </a:rPr>
              <a:t>stage</a:t>
            </a:r>
            <a:r>
              <a:rPr sz="1677" spc="9" dirty="0">
                <a:latin typeface="Calibri"/>
                <a:cs typeface="Calibri"/>
              </a:rPr>
              <a:t> </a:t>
            </a:r>
            <a:r>
              <a:rPr sz="1677" spc="-44" dirty="0">
                <a:latin typeface="Calibri"/>
                <a:cs typeface="Calibri"/>
              </a:rPr>
              <a:t>5</a:t>
            </a:r>
            <a:endParaRPr sz="1677">
              <a:latin typeface="Calibri"/>
              <a:cs typeface="Calibri"/>
            </a:endParaRPr>
          </a:p>
          <a:p>
            <a:pPr marL="369254" indent="-268395">
              <a:spcBef>
                <a:spcPts val="547"/>
              </a:spcBef>
              <a:buChar char="•"/>
              <a:tabLst>
                <a:tab pos="369254" algn="l"/>
              </a:tabLst>
            </a:pPr>
            <a:r>
              <a:rPr sz="2294" dirty="0">
                <a:latin typeface="Calibri"/>
                <a:cs typeface="Calibri"/>
              </a:rPr>
              <a:t>Will</a:t>
            </a:r>
            <a:r>
              <a:rPr sz="2294" spc="-79" dirty="0">
                <a:latin typeface="Calibri"/>
                <a:cs typeface="Calibri"/>
              </a:rPr>
              <a:t> </a:t>
            </a:r>
            <a:r>
              <a:rPr sz="2294" dirty="0">
                <a:latin typeface="Calibri"/>
                <a:cs typeface="Calibri"/>
              </a:rPr>
              <a:t>see</a:t>
            </a:r>
            <a:r>
              <a:rPr sz="2294" spc="-84" dirty="0">
                <a:latin typeface="Calibri"/>
                <a:cs typeface="Calibri"/>
              </a:rPr>
              <a:t> </a:t>
            </a:r>
            <a:r>
              <a:rPr sz="2294" dirty="0">
                <a:latin typeface="Calibri"/>
                <a:cs typeface="Calibri"/>
              </a:rPr>
              <a:t>WAR</a:t>
            </a:r>
            <a:r>
              <a:rPr sz="2294" spc="-88" dirty="0">
                <a:latin typeface="Calibri"/>
                <a:cs typeface="Calibri"/>
              </a:rPr>
              <a:t> </a:t>
            </a:r>
            <a:r>
              <a:rPr sz="2294" dirty="0">
                <a:latin typeface="Calibri"/>
                <a:cs typeface="Calibri"/>
              </a:rPr>
              <a:t>and</a:t>
            </a:r>
            <a:r>
              <a:rPr sz="2294" spc="-88" dirty="0">
                <a:latin typeface="Calibri"/>
                <a:cs typeface="Calibri"/>
              </a:rPr>
              <a:t> </a:t>
            </a:r>
            <a:r>
              <a:rPr sz="2294" dirty="0">
                <a:latin typeface="Calibri"/>
                <a:cs typeface="Calibri"/>
              </a:rPr>
              <a:t>WAW</a:t>
            </a:r>
            <a:r>
              <a:rPr sz="2294" spc="-97" dirty="0">
                <a:latin typeface="Calibri"/>
                <a:cs typeface="Calibri"/>
              </a:rPr>
              <a:t> </a:t>
            </a:r>
            <a:r>
              <a:rPr sz="2294" dirty="0">
                <a:latin typeface="Calibri"/>
                <a:cs typeface="Calibri"/>
              </a:rPr>
              <a:t>in</a:t>
            </a:r>
            <a:r>
              <a:rPr sz="2294" spc="-84" dirty="0">
                <a:latin typeface="Calibri"/>
                <a:cs typeface="Calibri"/>
              </a:rPr>
              <a:t> </a:t>
            </a:r>
            <a:r>
              <a:rPr sz="2294" dirty="0">
                <a:latin typeface="Calibri"/>
                <a:cs typeface="Calibri"/>
              </a:rPr>
              <a:t>more</a:t>
            </a:r>
            <a:r>
              <a:rPr sz="2294" spc="-84" dirty="0">
                <a:latin typeface="Calibri"/>
                <a:cs typeface="Calibri"/>
              </a:rPr>
              <a:t> </a:t>
            </a:r>
            <a:r>
              <a:rPr sz="2294" spc="-18" dirty="0">
                <a:latin typeface="Calibri"/>
                <a:cs typeface="Calibri"/>
              </a:rPr>
              <a:t>complicated</a:t>
            </a:r>
            <a:r>
              <a:rPr sz="2294" spc="-88" dirty="0">
                <a:latin typeface="Calibri"/>
                <a:cs typeface="Calibri"/>
              </a:rPr>
              <a:t> </a:t>
            </a:r>
            <a:r>
              <a:rPr sz="2294" spc="-9" dirty="0">
                <a:latin typeface="Calibri"/>
                <a:cs typeface="Calibri"/>
              </a:rPr>
              <a:t>pipes</a:t>
            </a:r>
            <a:endParaRPr sz="2294">
              <a:latin typeface="Calibri"/>
              <a:cs typeface="Calibri"/>
            </a:endParaRPr>
          </a:p>
        </p:txBody>
      </p:sp>
      <p:sp>
        <p:nvSpPr>
          <p:cNvPr id="5" name="object 5"/>
          <p:cNvSpPr/>
          <p:nvPr/>
        </p:nvSpPr>
        <p:spPr>
          <a:xfrm>
            <a:off x="2540013" y="2397024"/>
            <a:ext cx="454398" cy="509307"/>
          </a:xfrm>
          <a:custGeom>
            <a:avLst/>
            <a:gdLst/>
            <a:ahLst/>
            <a:cxnLst/>
            <a:rect l="l" t="t" r="r" b="b"/>
            <a:pathLst>
              <a:path w="514985" h="577214">
                <a:moveTo>
                  <a:pt x="422663" y="485170"/>
                </a:moveTo>
                <a:lnTo>
                  <a:pt x="424032" y="576600"/>
                </a:lnTo>
                <a:lnTo>
                  <a:pt x="483207" y="545896"/>
                </a:lnTo>
                <a:lnTo>
                  <a:pt x="438509" y="545896"/>
                </a:lnTo>
                <a:lnTo>
                  <a:pt x="438601" y="527542"/>
                </a:lnTo>
                <a:lnTo>
                  <a:pt x="438663" y="515418"/>
                </a:lnTo>
                <a:lnTo>
                  <a:pt x="485493" y="515418"/>
                </a:lnTo>
                <a:lnTo>
                  <a:pt x="422663" y="485170"/>
                </a:lnTo>
                <a:close/>
              </a:path>
              <a:path w="514985" h="577214">
                <a:moveTo>
                  <a:pt x="405542" y="31333"/>
                </a:moveTo>
                <a:lnTo>
                  <a:pt x="364263" y="33949"/>
                </a:lnTo>
                <a:lnTo>
                  <a:pt x="321233" y="40110"/>
                </a:lnTo>
                <a:lnTo>
                  <a:pt x="279923" y="48521"/>
                </a:lnTo>
                <a:lnTo>
                  <a:pt x="240544" y="59071"/>
                </a:lnTo>
                <a:lnTo>
                  <a:pt x="203307" y="71649"/>
                </a:lnTo>
                <a:lnTo>
                  <a:pt x="136113" y="102492"/>
                </a:lnTo>
                <a:lnTo>
                  <a:pt x="80068" y="140333"/>
                </a:lnTo>
                <a:lnTo>
                  <a:pt x="37070" y="184614"/>
                </a:lnTo>
                <a:lnTo>
                  <a:pt x="9980" y="233132"/>
                </a:lnTo>
                <a:lnTo>
                  <a:pt x="571" y="274680"/>
                </a:lnTo>
                <a:lnTo>
                  <a:pt x="56" y="287228"/>
                </a:lnTo>
                <a:lnTo>
                  <a:pt x="0" y="288617"/>
                </a:lnTo>
                <a:lnTo>
                  <a:pt x="9690" y="341924"/>
                </a:lnTo>
                <a:lnTo>
                  <a:pt x="38339" y="392898"/>
                </a:lnTo>
                <a:lnTo>
                  <a:pt x="81266" y="436502"/>
                </a:lnTo>
                <a:lnTo>
                  <a:pt x="137191" y="473957"/>
                </a:lnTo>
                <a:lnTo>
                  <a:pt x="204279" y="504565"/>
                </a:lnTo>
                <a:lnTo>
                  <a:pt x="241475" y="517061"/>
                </a:lnTo>
                <a:lnTo>
                  <a:pt x="280824" y="527542"/>
                </a:lnTo>
                <a:lnTo>
                  <a:pt x="322113" y="535894"/>
                </a:lnTo>
                <a:lnTo>
                  <a:pt x="365130" y="542002"/>
                </a:lnTo>
                <a:lnTo>
                  <a:pt x="411726" y="545896"/>
                </a:lnTo>
                <a:lnTo>
                  <a:pt x="423572" y="545896"/>
                </a:lnTo>
                <a:lnTo>
                  <a:pt x="423141" y="517061"/>
                </a:lnTo>
                <a:lnTo>
                  <a:pt x="423116" y="515418"/>
                </a:lnTo>
                <a:lnTo>
                  <a:pt x="411850" y="515418"/>
                </a:lnTo>
                <a:lnTo>
                  <a:pt x="367700" y="511630"/>
                </a:lnTo>
                <a:lnTo>
                  <a:pt x="326416" y="505720"/>
                </a:lnTo>
                <a:lnTo>
                  <a:pt x="286886" y="497671"/>
                </a:lnTo>
                <a:lnTo>
                  <a:pt x="249340" y="487613"/>
                </a:lnTo>
                <a:lnTo>
                  <a:pt x="181121" y="462008"/>
                </a:lnTo>
                <a:lnTo>
                  <a:pt x="123597" y="430022"/>
                </a:lnTo>
                <a:lnTo>
                  <a:pt x="78583" y="392898"/>
                </a:lnTo>
                <a:lnTo>
                  <a:pt x="49010" y="354023"/>
                </a:lnTo>
                <a:lnTo>
                  <a:pt x="48823" y="354023"/>
                </a:lnTo>
                <a:lnTo>
                  <a:pt x="48364" y="353032"/>
                </a:lnTo>
                <a:lnTo>
                  <a:pt x="47716" y="352040"/>
                </a:lnTo>
                <a:lnTo>
                  <a:pt x="47903" y="352040"/>
                </a:lnTo>
                <a:lnTo>
                  <a:pt x="39083" y="333021"/>
                </a:lnTo>
                <a:lnTo>
                  <a:pt x="38853" y="333021"/>
                </a:lnTo>
                <a:lnTo>
                  <a:pt x="38517" y="331802"/>
                </a:lnTo>
                <a:lnTo>
                  <a:pt x="37985" y="330655"/>
                </a:lnTo>
                <a:lnTo>
                  <a:pt x="38201" y="330655"/>
                </a:lnTo>
                <a:lnTo>
                  <a:pt x="32188" y="308810"/>
                </a:lnTo>
                <a:lnTo>
                  <a:pt x="30895" y="298400"/>
                </a:lnTo>
                <a:lnTo>
                  <a:pt x="30503" y="288617"/>
                </a:lnTo>
                <a:lnTo>
                  <a:pt x="30448" y="287228"/>
                </a:lnTo>
                <a:lnTo>
                  <a:pt x="31019" y="276070"/>
                </a:lnTo>
                <a:lnTo>
                  <a:pt x="32593" y="265062"/>
                </a:lnTo>
                <a:lnTo>
                  <a:pt x="38186" y="245193"/>
                </a:lnTo>
                <a:lnTo>
                  <a:pt x="37985" y="245193"/>
                </a:lnTo>
                <a:lnTo>
                  <a:pt x="38497" y="244091"/>
                </a:lnTo>
                <a:lnTo>
                  <a:pt x="38853" y="242826"/>
                </a:lnTo>
                <a:lnTo>
                  <a:pt x="39083" y="242826"/>
                </a:lnTo>
                <a:lnTo>
                  <a:pt x="47903" y="223810"/>
                </a:lnTo>
                <a:lnTo>
                  <a:pt x="47716" y="223810"/>
                </a:lnTo>
                <a:lnTo>
                  <a:pt x="48344" y="222859"/>
                </a:lnTo>
                <a:lnTo>
                  <a:pt x="48823" y="221825"/>
                </a:lnTo>
                <a:lnTo>
                  <a:pt x="49026" y="221825"/>
                </a:lnTo>
                <a:lnTo>
                  <a:pt x="62506" y="201408"/>
                </a:lnTo>
                <a:lnTo>
                  <a:pt x="100614" y="162848"/>
                </a:lnTo>
                <a:lnTo>
                  <a:pt x="151985" y="128513"/>
                </a:lnTo>
                <a:lnTo>
                  <a:pt x="214980" y="99806"/>
                </a:lnTo>
                <a:lnTo>
                  <a:pt x="287788" y="77969"/>
                </a:lnTo>
                <a:lnTo>
                  <a:pt x="327295" y="69982"/>
                </a:lnTo>
                <a:lnTo>
                  <a:pt x="368566" y="64124"/>
                </a:lnTo>
                <a:lnTo>
                  <a:pt x="405715" y="61835"/>
                </a:lnTo>
                <a:lnTo>
                  <a:pt x="405592" y="40110"/>
                </a:lnTo>
                <a:lnTo>
                  <a:pt x="405542" y="31333"/>
                </a:lnTo>
                <a:close/>
              </a:path>
              <a:path w="514985" h="577214">
                <a:moveTo>
                  <a:pt x="485493" y="515418"/>
                </a:moveTo>
                <a:lnTo>
                  <a:pt x="438663" y="515418"/>
                </a:lnTo>
                <a:lnTo>
                  <a:pt x="438601" y="527542"/>
                </a:lnTo>
                <a:lnTo>
                  <a:pt x="438509" y="545896"/>
                </a:lnTo>
                <a:lnTo>
                  <a:pt x="483207" y="545896"/>
                </a:lnTo>
                <a:lnTo>
                  <a:pt x="514777" y="529516"/>
                </a:lnTo>
                <a:lnTo>
                  <a:pt x="485493" y="515418"/>
                </a:lnTo>
                <a:close/>
              </a:path>
              <a:path w="514985" h="577214">
                <a:moveTo>
                  <a:pt x="48364" y="353032"/>
                </a:moveTo>
                <a:lnTo>
                  <a:pt x="48823" y="354023"/>
                </a:lnTo>
                <a:lnTo>
                  <a:pt x="49010" y="354023"/>
                </a:lnTo>
                <a:lnTo>
                  <a:pt x="48364" y="353032"/>
                </a:lnTo>
                <a:close/>
              </a:path>
              <a:path w="514985" h="577214">
                <a:moveTo>
                  <a:pt x="47903" y="352040"/>
                </a:moveTo>
                <a:lnTo>
                  <a:pt x="47716" y="352040"/>
                </a:lnTo>
                <a:lnTo>
                  <a:pt x="48364" y="353032"/>
                </a:lnTo>
                <a:lnTo>
                  <a:pt x="47903" y="352040"/>
                </a:lnTo>
                <a:close/>
              </a:path>
              <a:path w="514985" h="577214">
                <a:moveTo>
                  <a:pt x="38517" y="331802"/>
                </a:moveTo>
                <a:lnTo>
                  <a:pt x="38853" y="333021"/>
                </a:lnTo>
                <a:lnTo>
                  <a:pt x="39083" y="333021"/>
                </a:lnTo>
                <a:lnTo>
                  <a:pt x="38517" y="331802"/>
                </a:lnTo>
                <a:close/>
              </a:path>
              <a:path w="514985" h="577214">
                <a:moveTo>
                  <a:pt x="38201" y="330655"/>
                </a:moveTo>
                <a:lnTo>
                  <a:pt x="37985" y="330655"/>
                </a:lnTo>
                <a:lnTo>
                  <a:pt x="38517" y="331802"/>
                </a:lnTo>
                <a:lnTo>
                  <a:pt x="38201" y="330655"/>
                </a:lnTo>
                <a:close/>
              </a:path>
              <a:path w="514985" h="577214">
                <a:moveTo>
                  <a:pt x="38497" y="244091"/>
                </a:moveTo>
                <a:lnTo>
                  <a:pt x="37985" y="245193"/>
                </a:lnTo>
                <a:lnTo>
                  <a:pt x="38186" y="245193"/>
                </a:lnTo>
                <a:lnTo>
                  <a:pt x="38497" y="244091"/>
                </a:lnTo>
                <a:close/>
              </a:path>
              <a:path w="514985" h="577214">
                <a:moveTo>
                  <a:pt x="39083" y="242826"/>
                </a:moveTo>
                <a:lnTo>
                  <a:pt x="38853" y="242826"/>
                </a:lnTo>
                <a:lnTo>
                  <a:pt x="38497" y="244091"/>
                </a:lnTo>
                <a:lnTo>
                  <a:pt x="39083" y="242826"/>
                </a:lnTo>
                <a:close/>
              </a:path>
              <a:path w="514985" h="577214">
                <a:moveTo>
                  <a:pt x="48344" y="222859"/>
                </a:moveTo>
                <a:lnTo>
                  <a:pt x="47716" y="223810"/>
                </a:lnTo>
                <a:lnTo>
                  <a:pt x="47903" y="223810"/>
                </a:lnTo>
                <a:lnTo>
                  <a:pt x="48344" y="222859"/>
                </a:lnTo>
                <a:close/>
              </a:path>
              <a:path w="514985" h="577214">
                <a:moveTo>
                  <a:pt x="49026" y="221825"/>
                </a:moveTo>
                <a:lnTo>
                  <a:pt x="48823" y="221825"/>
                </a:lnTo>
                <a:lnTo>
                  <a:pt x="48344" y="222859"/>
                </a:lnTo>
                <a:lnTo>
                  <a:pt x="49026" y="221825"/>
                </a:lnTo>
                <a:close/>
              </a:path>
              <a:path w="514985" h="577214">
                <a:moveTo>
                  <a:pt x="467083" y="30422"/>
                </a:moveTo>
                <a:lnTo>
                  <a:pt x="419912" y="30422"/>
                </a:lnTo>
                <a:lnTo>
                  <a:pt x="421704" y="59071"/>
                </a:lnTo>
                <a:lnTo>
                  <a:pt x="421815" y="60843"/>
                </a:lnTo>
                <a:lnTo>
                  <a:pt x="405715" y="61835"/>
                </a:lnTo>
                <a:lnTo>
                  <a:pt x="405761" y="69982"/>
                </a:lnTo>
                <a:lnTo>
                  <a:pt x="405883" y="91438"/>
                </a:lnTo>
                <a:lnTo>
                  <a:pt x="497062" y="45200"/>
                </a:lnTo>
                <a:lnTo>
                  <a:pt x="467083" y="30422"/>
                </a:lnTo>
                <a:close/>
              </a:path>
              <a:path w="514985" h="577214">
                <a:moveTo>
                  <a:pt x="419912" y="30422"/>
                </a:moveTo>
                <a:lnTo>
                  <a:pt x="405542" y="31333"/>
                </a:lnTo>
                <a:lnTo>
                  <a:pt x="405592" y="40110"/>
                </a:lnTo>
                <a:lnTo>
                  <a:pt x="405715" y="61835"/>
                </a:lnTo>
                <a:lnTo>
                  <a:pt x="421815" y="60843"/>
                </a:lnTo>
                <a:lnTo>
                  <a:pt x="419969" y="31333"/>
                </a:lnTo>
                <a:lnTo>
                  <a:pt x="419912" y="30422"/>
                </a:lnTo>
                <a:close/>
              </a:path>
              <a:path w="514985" h="577214">
                <a:moveTo>
                  <a:pt x="405364" y="0"/>
                </a:moveTo>
                <a:lnTo>
                  <a:pt x="405537" y="30422"/>
                </a:lnTo>
                <a:lnTo>
                  <a:pt x="405542" y="31333"/>
                </a:lnTo>
                <a:lnTo>
                  <a:pt x="419912" y="30422"/>
                </a:lnTo>
                <a:lnTo>
                  <a:pt x="467083" y="30422"/>
                </a:lnTo>
                <a:lnTo>
                  <a:pt x="405364" y="0"/>
                </a:lnTo>
                <a:close/>
              </a:path>
            </a:pathLst>
          </a:custGeom>
          <a:solidFill>
            <a:srgbClr val="000000"/>
          </a:solidFill>
        </p:spPr>
        <p:txBody>
          <a:bodyPr wrap="square" lIns="0" tIns="0" rIns="0" bIns="0" rtlCol="0"/>
          <a:lstStyle/>
          <a:p>
            <a:endParaRPr sz="1588"/>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9853" y="-109024"/>
            <a:ext cx="5220260" cy="1365532"/>
          </a:xfrm>
          <a:prstGeom prst="rect">
            <a:avLst/>
          </a:prstGeom>
        </p:spPr>
        <p:txBody>
          <a:bodyPr vert="horz" wrap="square" lIns="0" tIns="11206" rIns="0" bIns="0" rtlCol="0" anchor="ctr">
            <a:spAutoFit/>
          </a:bodyPr>
          <a:lstStyle/>
          <a:p>
            <a:pPr marL="11206">
              <a:lnSpc>
                <a:spcPct val="100000"/>
              </a:lnSpc>
              <a:spcBef>
                <a:spcPts val="88"/>
              </a:spcBef>
            </a:pPr>
            <a:r>
              <a:rPr b="1" dirty="0">
                <a:solidFill>
                  <a:srgbClr val="FF0000"/>
                </a:solidFill>
                <a:latin typeface="Calibri"/>
                <a:cs typeface="Calibri"/>
              </a:rPr>
              <a:t>Forwarding</a:t>
            </a:r>
            <a:r>
              <a:rPr b="1" spc="-13" dirty="0">
                <a:solidFill>
                  <a:srgbClr val="FF0000"/>
                </a:solidFill>
                <a:latin typeface="Calibri"/>
                <a:cs typeface="Calibri"/>
              </a:rPr>
              <a:t> </a:t>
            </a:r>
            <a:r>
              <a:rPr dirty="0"/>
              <a:t>to</a:t>
            </a:r>
            <a:r>
              <a:rPr spc="-9" dirty="0"/>
              <a:t> </a:t>
            </a:r>
            <a:r>
              <a:rPr dirty="0"/>
              <a:t>Avoid</a:t>
            </a:r>
            <a:r>
              <a:rPr spc="-4" dirty="0"/>
              <a:t> </a:t>
            </a:r>
            <a:r>
              <a:rPr dirty="0"/>
              <a:t>Data</a:t>
            </a:r>
            <a:r>
              <a:rPr spc="-4" dirty="0"/>
              <a:t> </a:t>
            </a:r>
            <a:r>
              <a:rPr spc="-9" dirty="0"/>
              <a:t>Hazard</a:t>
            </a:r>
          </a:p>
        </p:txBody>
      </p:sp>
      <p:sp>
        <p:nvSpPr>
          <p:cNvPr id="205" name="Slide Number Placeholder 204">
            <a:extLst>
              <a:ext uri="{FF2B5EF4-FFF2-40B4-BE49-F238E27FC236}">
                <a16:creationId xmlns:a16="http://schemas.microsoft.com/office/drawing/2014/main" id="{0533C350-E798-B746-A1D5-3DDCE4CE7A30}"/>
              </a:ext>
            </a:extLst>
          </p:cNvPr>
          <p:cNvSpPr>
            <a:spLocks noGrp="1"/>
          </p:cNvSpPr>
          <p:nvPr>
            <p:ph type="sldNum" sz="quarter" idx="7"/>
          </p:nvPr>
        </p:nvSpPr>
        <p:spPr/>
        <p:txBody>
          <a:bodyPr/>
          <a:lstStyle/>
          <a:p>
            <a:fld id="{4FE321F0-2018-4E50-8BB3-A5631EBD98DD}" type="slidenum">
              <a:rPr lang="en-US" smtClean="0"/>
              <a:t>44</a:t>
            </a:fld>
            <a:endParaRPr lang="en-US"/>
          </a:p>
        </p:txBody>
      </p:sp>
      <p:sp>
        <p:nvSpPr>
          <p:cNvPr id="3" name="object 3"/>
          <p:cNvSpPr txBox="1"/>
          <p:nvPr/>
        </p:nvSpPr>
        <p:spPr>
          <a:xfrm>
            <a:off x="989853" y="781723"/>
            <a:ext cx="893669" cy="269399"/>
          </a:xfrm>
          <a:prstGeom prst="rect">
            <a:avLst/>
          </a:prstGeom>
        </p:spPr>
        <p:txBody>
          <a:bodyPr vert="horz" wrap="square" lIns="0" tIns="11206" rIns="0" bIns="0" rtlCol="0">
            <a:spAutoFit/>
          </a:bodyPr>
          <a:lstStyle/>
          <a:p>
            <a:pPr marL="11206">
              <a:spcBef>
                <a:spcPts val="88"/>
              </a:spcBef>
            </a:pPr>
            <a:r>
              <a:rPr sz="1677" dirty="0">
                <a:solidFill>
                  <a:srgbClr val="0332B7"/>
                </a:solidFill>
                <a:latin typeface="Calibri"/>
                <a:cs typeface="Calibri"/>
              </a:rPr>
              <a:t>Figure</a:t>
            </a:r>
            <a:r>
              <a:rPr sz="1677" spc="-4" dirty="0">
                <a:solidFill>
                  <a:srgbClr val="0332B7"/>
                </a:solidFill>
                <a:latin typeface="Calibri"/>
                <a:cs typeface="Calibri"/>
              </a:rPr>
              <a:t> </a:t>
            </a:r>
            <a:r>
              <a:rPr sz="1677" spc="-22" dirty="0">
                <a:solidFill>
                  <a:srgbClr val="0332B7"/>
                </a:solidFill>
                <a:latin typeface="Calibri"/>
                <a:cs typeface="Calibri"/>
              </a:rPr>
              <a:t>C.7</a:t>
            </a:r>
            <a:endParaRPr sz="1677">
              <a:latin typeface="Calibri"/>
              <a:cs typeface="Calibri"/>
            </a:endParaRPr>
          </a:p>
        </p:txBody>
      </p:sp>
      <p:sp>
        <p:nvSpPr>
          <p:cNvPr id="4" name="object 4"/>
          <p:cNvSpPr txBox="1"/>
          <p:nvPr/>
        </p:nvSpPr>
        <p:spPr>
          <a:xfrm>
            <a:off x="1241483" y="2311998"/>
            <a:ext cx="1139078"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add</a:t>
            </a:r>
            <a:r>
              <a:rPr sz="1677" b="1" spc="-9" dirty="0">
                <a:solidFill>
                  <a:srgbClr val="FC0128"/>
                </a:solidFill>
                <a:latin typeface="Times New Roman"/>
                <a:cs typeface="Times New Roman"/>
              </a:rPr>
              <a:t> </a:t>
            </a:r>
            <a:r>
              <a:rPr sz="1677" b="1" u="sng" spc="-9" dirty="0">
                <a:solidFill>
                  <a:srgbClr val="FF0000"/>
                </a:solidFill>
                <a:latin typeface="Times New Roman"/>
                <a:cs typeface="Times New Roman"/>
              </a:rPr>
              <a:t>r1</a:t>
            </a:r>
            <a:r>
              <a:rPr sz="1677" b="1" spc="-9" dirty="0">
                <a:solidFill>
                  <a:srgbClr val="FC0128"/>
                </a:solidFill>
                <a:latin typeface="Times New Roman"/>
                <a:cs typeface="Times New Roman"/>
              </a:rPr>
              <a:t>,r2,r3</a:t>
            </a:r>
            <a:endParaRPr sz="1677" dirty="0">
              <a:latin typeface="Times New Roman"/>
              <a:cs typeface="Times New Roman"/>
            </a:endParaRPr>
          </a:p>
        </p:txBody>
      </p:sp>
      <p:sp>
        <p:nvSpPr>
          <p:cNvPr id="5" name="object 5"/>
          <p:cNvSpPr txBox="1"/>
          <p:nvPr/>
        </p:nvSpPr>
        <p:spPr>
          <a:xfrm>
            <a:off x="1241483" y="3065032"/>
            <a:ext cx="1114985"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sub</a:t>
            </a:r>
            <a:r>
              <a:rPr sz="1677" b="1" spc="-9" dirty="0">
                <a:solidFill>
                  <a:srgbClr val="FC0128"/>
                </a:solidFill>
                <a:latin typeface="Times New Roman"/>
                <a:cs typeface="Times New Roman"/>
              </a:rPr>
              <a:t> r4,</a:t>
            </a:r>
            <a:r>
              <a:rPr sz="1677" b="1" u="sng" spc="-9" dirty="0">
                <a:solidFill>
                  <a:srgbClr val="FF0000"/>
                </a:solidFill>
                <a:latin typeface="Times New Roman"/>
                <a:cs typeface="Times New Roman"/>
              </a:rPr>
              <a:t>r1</a:t>
            </a:r>
            <a:r>
              <a:rPr sz="1677" b="1" spc="-9" dirty="0">
                <a:solidFill>
                  <a:srgbClr val="FC0128"/>
                </a:solidFill>
                <a:latin typeface="Times New Roman"/>
                <a:cs typeface="Times New Roman"/>
              </a:rPr>
              <a:t>,r3</a:t>
            </a:r>
            <a:endParaRPr sz="1677" dirty="0">
              <a:latin typeface="Times New Roman"/>
              <a:cs typeface="Times New Roman"/>
            </a:endParaRPr>
          </a:p>
        </p:txBody>
      </p:sp>
      <p:sp>
        <p:nvSpPr>
          <p:cNvPr id="6" name="object 6"/>
          <p:cNvSpPr txBox="1"/>
          <p:nvPr/>
        </p:nvSpPr>
        <p:spPr>
          <a:xfrm>
            <a:off x="1241483" y="3831516"/>
            <a:ext cx="1139078"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and</a:t>
            </a:r>
            <a:r>
              <a:rPr sz="1677" b="1" spc="-13" dirty="0">
                <a:solidFill>
                  <a:srgbClr val="FC0128"/>
                </a:solidFill>
                <a:latin typeface="Times New Roman"/>
                <a:cs typeface="Times New Roman"/>
              </a:rPr>
              <a:t> </a:t>
            </a:r>
            <a:r>
              <a:rPr sz="1677" b="1" spc="-9" dirty="0">
                <a:solidFill>
                  <a:srgbClr val="FC0128"/>
                </a:solidFill>
                <a:latin typeface="Times New Roman"/>
                <a:cs typeface="Times New Roman"/>
              </a:rPr>
              <a:t>r6,</a:t>
            </a:r>
            <a:r>
              <a:rPr sz="1677" b="1" u="sng" spc="-9" dirty="0">
                <a:solidFill>
                  <a:srgbClr val="FF0000"/>
                </a:solidFill>
                <a:latin typeface="Times New Roman"/>
                <a:cs typeface="Times New Roman"/>
              </a:rPr>
              <a:t>r1</a:t>
            </a:r>
            <a:r>
              <a:rPr sz="1677" b="1" spc="-9" dirty="0">
                <a:solidFill>
                  <a:srgbClr val="FC0128"/>
                </a:solidFill>
                <a:latin typeface="Times New Roman"/>
                <a:cs typeface="Times New Roman"/>
              </a:rPr>
              <a:t>,r7</a:t>
            </a:r>
            <a:endParaRPr sz="1677" dirty="0">
              <a:latin typeface="Times New Roman"/>
              <a:cs typeface="Times New Roman"/>
            </a:endParaRPr>
          </a:p>
        </p:txBody>
      </p:sp>
      <p:sp>
        <p:nvSpPr>
          <p:cNvPr id="7" name="object 7"/>
          <p:cNvSpPr txBox="1"/>
          <p:nvPr/>
        </p:nvSpPr>
        <p:spPr>
          <a:xfrm>
            <a:off x="1241483" y="4606066"/>
            <a:ext cx="1045509"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or</a:t>
            </a:r>
            <a:r>
              <a:rPr sz="1677" b="1" spc="-18" dirty="0">
                <a:solidFill>
                  <a:srgbClr val="FC0128"/>
                </a:solidFill>
                <a:latin typeface="Times New Roman"/>
                <a:cs typeface="Times New Roman"/>
              </a:rPr>
              <a:t> </a:t>
            </a:r>
            <a:r>
              <a:rPr sz="1677" b="1" dirty="0">
                <a:solidFill>
                  <a:srgbClr val="FC0128"/>
                </a:solidFill>
                <a:latin typeface="Times New Roman"/>
                <a:cs typeface="Times New Roman"/>
              </a:rPr>
              <a:t>r8,</a:t>
            </a:r>
            <a:r>
              <a:rPr sz="1677" b="1" spc="22" dirty="0">
                <a:solidFill>
                  <a:srgbClr val="FC0128"/>
                </a:solidFill>
                <a:latin typeface="Times New Roman"/>
                <a:cs typeface="Times New Roman"/>
              </a:rPr>
              <a:t> </a:t>
            </a:r>
            <a:r>
              <a:rPr sz="1677" b="1" u="sng" spc="-18" dirty="0">
                <a:solidFill>
                  <a:srgbClr val="0099FF"/>
                </a:solidFill>
                <a:latin typeface="Times New Roman"/>
                <a:cs typeface="Times New Roman"/>
              </a:rPr>
              <a:t>r1</a:t>
            </a:r>
            <a:r>
              <a:rPr sz="1677" b="1" spc="-18" dirty="0">
                <a:solidFill>
                  <a:srgbClr val="FC0128"/>
                </a:solidFill>
                <a:latin typeface="Times New Roman"/>
                <a:cs typeface="Times New Roman"/>
              </a:rPr>
              <a:t>,r9</a:t>
            </a:r>
            <a:endParaRPr sz="1677" dirty="0">
              <a:latin typeface="Times New Roman"/>
              <a:cs typeface="Times New Roman"/>
            </a:endParaRPr>
          </a:p>
        </p:txBody>
      </p:sp>
      <p:sp>
        <p:nvSpPr>
          <p:cNvPr id="8" name="object 8"/>
          <p:cNvSpPr txBox="1"/>
          <p:nvPr/>
        </p:nvSpPr>
        <p:spPr>
          <a:xfrm>
            <a:off x="1241483" y="5337586"/>
            <a:ext cx="1302684"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xor</a:t>
            </a:r>
            <a:r>
              <a:rPr sz="1677" b="1" spc="-4" dirty="0">
                <a:solidFill>
                  <a:srgbClr val="FC0128"/>
                </a:solidFill>
                <a:latin typeface="Times New Roman"/>
                <a:cs typeface="Times New Roman"/>
              </a:rPr>
              <a:t> </a:t>
            </a:r>
            <a:r>
              <a:rPr sz="1677" b="1" spc="-9" dirty="0">
                <a:solidFill>
                  <a:srgbClr val="FC0128"/>
                </a:solidFill>
                <a:latin typeface="Times New Roman"/>
                <a:cs typeface="Times New Roman"/>
              </a:rPr>
              <a:t>r10,</a:t>
            </a:r>
            <a:r>
              <a:rPr sz="1677" b="1" u="sng" spc="-9" dirty="0">
                <a:solidFill>
                  <a:srgbClr val="008000"/>
                </a:solidFill>
                <a:latin typeface="Times New Roman"/>
                <a:cs typeface="Times New Roman"/>
              </a:rPr>
              <a:t>r1</a:t>
            </a:r>
            <a:r>
              <a:rPr sz="1677" b="1" spc="-9" dirty="0">
                <a:solidFill>
                  <a:srgbClr val="FC0128"/>
                </a:solidFill>
                <a:latin typeface="Times New Roman"/>
                <a:cs typeface="Times New Roman"/>
              </a:rPr>
              <a:t>,r11</a:t>
            </a:r>
            <a:endParaRPr sz="1677" dirty="0">
              <a:latin typeface="Times New Roman"/>
              <a:cs typeface="Times New Roman"/>
            </a:endParaRPr>
          </a:p>
        </p:txBody>
      </p:sp>
      <p:sp>
        <p:nvSpPr>
          <p:cNvPr id="9" name="object 9"/>
          <p:cNvSpPr txBox="1"/>
          <p:nvPr/>
        </p:nvSpPr>
        <p:spPr>
          <a:xfrm>
            <a:off x="696485" y="2265381"/>
            <a:ext cx="156882" cy="1463444"/>
          </a:xfrm>
          <a:prstGeom prst="rect">
            <a:avLst/>
          </a:prstGeom>
        </p:spPr>
        <p:txBody>
          <a:bodyPr vert="horz" wrap="square" lIns="0" tIns="11206" rIns="0" bIns="0" rtlCol="0">
            <a:spAutoFit/>
          </a:bodyPr>
          <a:lstStyle/>
          <a:p>
            <a:pPr marL="34180">
              <a:spcBef>
                <a:spcPts val="88"/>
              </a:spcBef>
            </a:pPr>
            <a:r>
              <a:rPr sz="1853" b="1" i="1" spc="-44" dirty="0">
                <a:latin typeface="Times New Roman"/>
                <a:cs typeface="Times New Roman"/>
              </a:rPr>
              <a:t>I</a:t>
            </a:r>
            <a:endParaRPr sz="1853">
              <a:latin typeface="Times New Roman"/>
              <a:cs typeface="Times New Roman"/>
            </a:endParaRPr>
          </a:p>
          <a:p>
            <a:pPr marL="34180" marR="4483" indent="-20172">
              <a:lnSpc>
                <a:spcPts val="2285"/>
              </a:lnSpc>
              <a:spcBef>
                <a:spcPts val="22"/>
              </a:spcBef>
            </a:pPr>
            <a:r>
              <a:rPr sz="1853" b="1" i="1" spc="-44" dirty="0">
                <a:latin typeface="Times New Roman"/>
                <a:cs typeface="Times New Roman"/>
              </a:rPr>
              <a:t>n s</a:t>
            </a:r>
            <a:endParaRPr sz="1853">
              <a:latin typeface="Times New Roman"/>
              <a:cs typeface="Times New Roman"/>
            </a:endParaRPr>
          </a:p>
          <a:p>
            <a:pPr marL="11206" marR="11767" indent="36421">
              <a:lnSpc>
                <a:spcPts val="2224"/>
              </a:lnSpc>
              <a:spcBef>
                <a:spcPts val="53"/>
              </a:spcBef>
            </a:pPr>
            <a:r>
              <a:rPr sz="1853" b="1" i="1" spc="-44" dirty="0">
                <a:latin typeface="Times New Roman"/>
                <a:cs typeface="Times New Roman"/>
              </a:rPr>
              <a:t>t </a:t>
            </a:r>
            <a:r>
              <a:rPr sz="1853" b="1" i="1" spc="-115" dirty="0">
                <a:latin typeface="Times New Roman"/>
                <a:cs typeface="Times New Roman"/>
              </a:rPr>
              <a:t>r.</a:t>
            </a:r>
            <a:endParaRPr sz="1853">
              <a:latin typeface="Times New Roman"/>
              <a:cs typeface="Times New Roman"/>
            </a:endParaRPr>
          </a:p>
        </p:txBody>
      </p:sp>
      <p:sp>
        <p:nvSpPr>
          <p:cNvPr id="10" name="object 10"/>
          <p:cNvSpPr txBox="1"/>
          <p:nvPr/>
        </p:nvSpPr>
        <p:spPr>
          <a:xfrm>
            <a:off x="679392" y="3991983"/>
            <a:ext cx="192741" cy="1436064"/>
          </a:xfrm>
          <a:prstGeom prst="rect">
            <a:avLst/>
          </a:prstGeom>
        </p:spPr>
        <p:txBody>
          <a:bodyPr vert="horz" wrap="square" lIns="0" tIns="11206" rIns="0" bIns="0" rtlCol="0">
            <a:spAutoFit/>
          </a:bodyPr>
          <a:lstStyle/>
          <a:p>
            <a:pPr marL="11206">
              <a:lnSpc>
                <a:spcPts val="2215"/>
              </a:lnSpc>
              <a:spcBef>
                <a:spcPts val="88"/>
              </a:spcBef>
            </a:pPr>
            <a:r>
              <a:rPr sz="1853" b="1" i="1" spc="-44" dirty="0">
                <a:latin typeface="Times New Roman"/>
                <a:cs typeface="Times New Roman"/>
              </a:rPr>
              <a:t>O</a:t>
            </a:r>
            <a:endParaRPr sz="1853">
              <a:latin typeface="Times New Roman"/>
              <a:cs typeface="Times New Roman"/>
            </a:endParaRPr>
          </a:p>
          <a:p>
            <a:pPr marL="51549">
              <a:lnSpc>
                <a:spcPts val="2215"/>
              </a:lnSpc>
            </a:pPr>
            <a:r>
              <a:rPr sz="1853" b="1" i="1" spc="-44" dirty="0">
                <a:latin typeface="Times New Roman"/>
                <a:cs typeface="Times New Roman"/>
              </a:rPr>
              <a:t>r</a:t>
            </a:r>
            <a:endParaRPr sz="1853">
              <a:latin typeface="Times New Roman"/>
              <a:cs typeface="Times New Roman"/>
            </a:endParaRPr>
          </a:p>
          <a:p>
            <a:pPr marL="44826" marR="29697" indent="-7284" algn="just">
              <a:lnSpc>
                <a:spcPct val="101000"/>
              </a:lnSpc>
              <a:spcBef>
                <a:spcPts val="62"/>
              </a:spcBef>
            </a:pPr>
            <a:r>
              <a:rPr sz="1853" b="1" i="1" spc="-44" dirty="0">
                <a:latin typeface="Times New Roman"/>
                <a:cs typeface="Times New Roman"/>
              </a:rPr>
              <a:t>d e r</a:t>
            </a:r>
            <a:endParaRPr sz="1853">
              <a:latin typeface="Times New Roman"/>
              <a:cs typeface="Times New Roman"/>
            </a:endParaRPr>
          </a:p>
        </p:txBody>
      </p:sp>
      <p:sp>
        <p:nvSpPr>
          <p:cNvPr id="11" name="object 11"/>
          <p:cNvSpPr/>
          <p:nvPr/>
        </p:nvSpPr>
        <p:spPr>
          <a:xfrm>
            <a:off x="1057931" y="2310572"/>
            <a:ext cx="71718" cy="2932579"/>
          </a:xfrm>
          <a:custGeom>
            <a:avLst/>
            <a:gdLst/>
            <a:ahLst/>
            <a:cxnLst/>
            <a:rect l="l" t="t" r="r" b="b"/>
            <a:pathLst>
              <a:path w="81280" h="3323590">
                <a:moveTo>
                  <a:pt x="27093" y="3241714"/>
                </a:moveTo>
                <a:lnTo>
                  <a:pt x="0" y="3241714"/>
                </a:lnTo>
                <a:lnTo>
                  <a:pt x="40639" y="3322994"/>
                </a:lnTo>
                <a:lnTo>
                  <a:pt x="74499" y="3255275"/>
                </a:lnTo>
                <a:lnTo>
                  <a:pt x="27093" y="3255275"/>
                </a:lnTo>
                <a:lnTo>
                  <a:pt x="27093" y="3241714"/>
                </a:lnTo>
                <a:close/>
              </a:path>
              <a:path w="81280" h="3323590">
                <a:moveTo>
                  <a:pt x="54185" y="0"/>
                </a:moveTo>
                <a:lnTo>
                  <a:pt x="27092" y="0"/>
                </a:lnTo>
                <a:lnTo>
                  <a:pt x="27093" y="3255275"/>
                </a:lnTo>
                <a:lnTo>
                  <a:pt x="54186" y="3255275"/>
                </a:lnTo>
                <a:lnTo>
                  <a:pt x="54185" y="0"/>
                </a:lnTo>
                <a:close/>
              </a:path>
              <a:path w="81280" h="3323590">
                <a:moveTo>
                  <a:pt x="81279" y="3241714"/>
                </a:moveTo>
                <a:lnTo>
                  <a:pt x="54186" y="3241714"/>
                </a:lnTo>
                <a:lnTo>
                  <a:pt x="54186" y="3255275"/>
                </a:lnTo>
                <a:lnTo>
                  <a:pt x="74499" y="3255275"/>
                </a:lnTo>
                <a:lnTo>
                  <a:pt x="81279" y="3241714"/>
                </a:lnTo>
                <a:close/>
              </a:path>
            </a:pathLst>
          </a:custGeom>
          <a:solidFill>
            <a:srgbClr val="000000"/>
          </a:solidFill>
        </p:spPr>
        <p:txBody>
          <a:bodyPr wrap="square" lIns="0" tIns="0" rIns="0" bIns="0" rtlCol="0"/>
          <a:lstStyle/>
          <a:p>
            <a:endParaRPr sz="1588"/>
          </a:p>
        </p:txBody>
      </p:sp>
      <p:grpSp>
        <p:nvGrpSpPr>
          <p:cNvPr id="209" name="Group 208">
            <a:extLst>
              <a:ext uri="{FF2B5EF4-FFF2-40B4-BE49-F238E27FC236}">
                <a16:creationId xmlns:a16="http://schemas.microsoft.com/office/drawing/2014/main" id="{0E35F310-4198-529B-0354-789A5F013788}"/>
              </a:ext>
            </a:extLst>
          </p:cNvPr>
          <p:cNvGrpSpPr/>
          <p:nvPr/>
        </p:nvGrpSpPr>
        <p:grpSpPr>
          <a:xfrm>
            <a:off x="2243250" y="1328643"/>
            <a:ext cx="6573778" cy="4969560"/>
            <a:chOff x="2243250" y="1328643"/>
            <a:chExt cx="6573778" cy="4969560"/>
          </a:xfrm>
        </p:grpSpPr>
        <p:sp>
          <p:nvSpPr>
            <p:cNvPr id="12" name="object 12"/>
            <p:cNvSpPr txBox="1"/>
            <p:nvPr/>
          </p:nvSpPr>
          <p:spPr>
            <a:xfrm>
              <a:off x="3814059" y="1328643"/>
              <a:ext cx="1106581" cy="256480"/>
            </a:xfrm>
            <a:prstGeom prst="rect">
              <a:avLst/>
            </a:prstGeom>
          </p:spPr>
          <p:txBody>
            <a:bodyPr vert="horz" wrap="square" lIns="0" tIns="0" rIns="0" bIns="0" rtlCol="0">
              <a:spAutoFit/>
            </a:bodyPr>
            <a:lstStyle/>
            <a:p>
              <a:pPr>
                <a:lnSpc>
                  <a:spcPts val="2021"/>
                </a:lnSpc>
              </a:pPr>
              <a:r>
                <a:rPr sz="1853" i="1" dirty="0">
                  <a:latin typeface="Times New Roman"/>
                  <a:cs typeface="Times New Roman"/>
                </a:rPr>
                <a:t>Time</a:t>
              </a:r>
              <a:r>
                <a:rPr sz="1853" i="1" spc="-53" dirty="0">
                  <a:latin typeface="Times New Roman"/>
                  <a:cs typeface="Times New Roman"/>
                </a:rPr>
                <a:t> </a:t>
              </a:r>
              <a:r>
                <a:rPr sz="1853" i="1" spc="-9" dirty="0">
                  <a:latin typeface="Times New Roman"/>
                  <a:cs typeface="Times New Roman"/>
                </a:rPr>
                <a:t>(clock</a:t>
              </a:r>
              <a:endParaRPr sz="1853" dirty="0">
                <a:latin typeface="Times New Roman"/>
                <a:cs typeface="Times New Roman"/>
              </a:endParaRPr>
            </a:p>
          </p:txBody>
        </p:sp>
        <p:sp>
          <p:nvSpPr>
            <p:cNvPr id="13" name="object 13"/>
            <p:cNvSpPr txBox="1"/>
            <p:nvPr/>
          </p:nvSpPr>
          <p:spPr>
            <a:xfrm>
              <a:off x="4916325" y="1328643"/>
              <a:ext cx="726631" cy="256480"/>
            </a:xfrm>
            <a:prstGeom prst="rect">
              <a:avLst/>
            </a:prstGeom>
          </p:spPr>
          <p:txBody>
            <a:bodyPr vert="horz" wrap="square" lIns="0" tIns="0" rIns="0" bIns="0" rtlCol="0">
              <a:spAutoFit/>
            </a:bodyPr>
            <a:lstStyle/>
            <a:p>
              <a:pPr>
                <a:lnSpc>
                  <a:spcPts val="2021"/>
                </a:lnSpc>
              </a:pPr>
              <a:r>
                <a:rPr lang="en-US" sz="1853" i="1" spc="-9" dirty="0">
                  <a:latin typeface="Times New Roman"/>
                  <a:cs typeface="Times New Roman"/>
                </a:rPr>
                <a:t>c</a:t>
              </a:r>
              <a:r>
                <a:rPr sz="1853" i="1" spc="-9" dirty="0">
                  <a:latin typeface="Times New Roman"/>
                  <a:cs typeface="Times New Roman"/>
                </a:rPr>
                <a:t>ycles)</a:t>
              </a:r>
              <a:endParaRPr sz="1853" dirty="0">
                <a:latin typeface="Times New Roman"/>
                <a:cs typeface="Times New Roman"/>
              </a:endParaRPr>
            </a:p>
          </p:txBody>
        </p:sp>
        <p:grpSp>
          <p:nvGrpSpPr>
            <p:cNvPr id="14" name="object 14"/>
            <p:cNvGrpSpPr/>
            <p:nvPr/>
          </p:nvGrpSpPr>
          <p:grpSpPr>
            <a:xfrm>
              <a:off x="2243250" y="1630903"/>
              <a:ext cx="6325721" cy="1033182"/>
              <a:chOff x="2389950" y="1848356"/>
              <a:chExt cx="7169150" cy="1170940"/>
            </a:xfrm>
          </p:grpSpPr>
          <p:sp>
            <p:nvSpPr>
              <p:cNvPr id="15" name="object 15"/>
              <p:cNvSpPr/>
              <p:nvPr/>
            </p:nvSpPr>
            <p:spPr>
              <a:xfrm>
                <a:off x="2389950" y="1848356"/>
                <a:ext cx="7169150" cy="81280"/>
              </a:xfrm>
              <a:custGeom>
                <a:avLst/>
                <a:gdLst/>
                <a:ahLst/>
                <a:cxnLst/>
                <a:rect l="l" t="t" r="r" b="b"/>
                <a:pathLst>
                  <a:path w="7169150" h="81280">
                    <a:moveTo>
                      <a:pt x="7087823" y="0"/>
                    </a:moveTo>
                    <a:lnTo>
                      <a:pt x="7087697" y="40890"/>
                    </a:lnTo>
                    <a:lnTo>
                      <a:pt x="7087572" y="81278"/>
                    </a:lnTo>
                    <a:lnTo>
                      <a:pt x="7142095" y="54227"/>
                    </a:lnTo>
                    <a:lnTo>
                      <a:pt x="7101259" y="54227"/>
                    </a:lnTo>
                    <a:lnTo>
                      <a:pt x="7101343" y="27134"/>
                    </a:lnTo>
                    <a:lnTo>
                      <a:pt x="7141677" y="27134"/>
                    </a:lnTo>
                    <a:lnTo>
                      <a:pt x="7087823" y="0"/>
                    </a:lnTo>
                    <a:close/>
                  </a:path>
                  <a:path w="7169150" h="81280">
                    <a:moveTo>
                      <a:pt x="83" y="5280"/>
                    </a:moveTo>
                    <a:lnTo>
                      <a:pt x="0" y="32373"/>
                    </a:lnTo>
                    <a:lnTo>
                      <a:pt x="7101259" y="54227"/>
                    </a:lnTo>
                    <a:lnTo>
                      <a:pt x="7087656" y="54227"/>
                    </a:lnTo>
                    <a:lnTo>
                      <a:pt x="7087739" y="27134"/>
                    </a:lnTo>
                    <a:lnTo>
                      <a:pt x="7101343" y="27134"/>
                    </a:lnTo>
                    <a:lnTo>
                      <a:pt x="83" y="5280"/>
                    </a:lnTo>
                    <a:close/>
                  </a:path>
                  <a:path w="7169150" h="81280">
                    <a:moveTo>
                      <a:pt x="7141677" y="27134"/>
                    </a:moveTo>
                    <a:lnTo>
                      <a:pt x="7101343" y="27134"/>
                    </a:lnTo>
                    <a:lnTo>
                      <a:pt x="7101259" y="54227"/>
                    </a:lnTo>
                    <a:lnTo>
                      <a:pt x="7142095" y="54227"/>
                    </a:lnTo>
                    <a:lnTo>
                      <a:pt x="7168977" y="40890"/>
                    </a:lnTo>
                    <a:lnTo>
                      <a:pt x="7141677" y="27134"/>
                    </a:lnTo>
                    <a:close/>
                  </a:path>
                </a:pathLst>
              </a:custGeom>
              <a:solidFill>
                <a:srgbClr val="000000"/>
              </a:solidFill>
            </p:spPr>
            <p:txBody>
              <a:bodyPr wrap="square" lIns="0" tIns="0" rIns="0" bIns="0" rtlCol="0"/>
              <a:lstStyle/>
              <a:p>
                <a:endParaRPr sz="1588"/>
              </a:p>
            </p:txBody>
          </p:sp>
          <p:sp>
            <p:nvSpPr>
              <p:cNvPr id="16" name="object 16"/>
              <p:cNvSpPr/>
              <p:nvPr/>
            </p:nvSpPr>
            <p:spPr>
              <a:xfrm>
                <a:off x="3935374" y="2636240"/>
                <a:ext cx="215265" cy="363220"/>
              </a:xfrm>
              <a:custGeom>
                <a:avLst/>
                <a:gdLst/>
                <a:ahLst/>
                <a:cxnLst/>
                <a:rect l="l" t="t" r="r" b="b"/>
                <a:pathLst>
                  <a:path w="215264" h="363219">
                    <a:moveTo>
                      <a:pt x="214889" y="0"/>
                    </a:moveTo>
                    <a:lnTo>
                      <a:pt x="0" y="0"/>
                    </a:lnTo>
                    <a:lnTo>
                      <a:pt x="0" y="362943"/>
                    </a:lnTo>
                    <a:lnTo>
                      <a:pt x="214889" y="362943"/>
                    </a:lnTo>
                    <a:lnTo>
                      <a:pt x="214889" y="0"/>
                    </a:lnTo>
                    <a:close/>
                  </a:path>
                </a:pathLst>
              </a:custGeom>
              <a:solidFill>
                <a:srgbClr val="0099FF"/>
              </a:solidFill>
            </p:spPr>
            <p:txBody>
              <a:bodyPr wrap="square" lIns="0" tIns="0" rIns="0" bIns="0" rtlCol="0"/>
              <a:lstStyle/>
              <a:p>
                <a:endParaRPr sz="1588"/>
              </a:p>
            </p:txBody>
          </p:sp>
          <p:sp>
            <p:nvSpPr>
              <p:cNvPr id="17" name="object 17"/>
              <p:cNvSpPr/>
              <p:nvPr/>
            </p:nvSpPr>
            <p:spPr>
              <a:xfrm>
                <a:off x="3720486" y="2636240"/>
                <a:ext cx="429895" cy="367665"/>
              </a:xfrm>
              <a:custGeom>
                <a:avLst/>
                <a:gdLst/>
                <a:ahLst/>
                <a:cxnLst/>
                <a:rect l="l" t="t" r="r" b="b"/>
                <a:pathLst>
                  <a:path w="429895" h="367664">
                    <a:moveTo>
                      <a:pt x="0" y="0"/>
                    </a:moveTo>
                    <a:lnTo>
                      <a:pt x="429777" y="0"/>
                    </a:lnTo>
                    <a:lnTo>
                      <a:pt x="429777"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8" name="object 18"/>
            <p:cNvSpPr txBox="1"/>
            <p:nvPr/>
          </p:nvSpPr>
          <p:spPr>
            <a:xfrm>
              <a:off x="3487416" y="2366234"/>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9" name="object 19"/>
            <p:cNvGrpSpPr/>
            <p:nvPr/>
          </p:nvGrpSpPr>
          <p:grpSpPr>
            <a:xfrm>
              <a:off x="3784737" y="2216365"/>
              <a:ext cx="712134" cy="542925"/>
              <a:chOff x="4136968" y="2511880"/>
              <a:chExt cx="807085" cy="615315"/>
            </a:xfrm>
          </p:grpSpPr>
          <p:sp>
            <p:nvSpPr>
              <p:cNvPr id="20" name="object 20"/>
              <p:cNvSpPr/>
              <p:nvPr/>
            </p:nvSpPr>
            <p:spPr>
              <a:xfrm>
                <a:off x="4152208" y="2710308"/>
                <a:ext cx="474980" cy="219075"/>
              </a:xfrm>
              <a:custGeom>
                <a:avLst/>
                <a:gdLst/>
                <a:ahLst/>
                <a:cxnLst/>
                <a:rect l="l" t="t" r="r" b="b"/>
                <a:pathLst>
                  <a:path w="474979" h="219075">
                    <a:moveTo>
                      <a:pt x="0" y="0"/>
                    </a:moveTo>
                    <a:lnTo>
                      <a:pt x="93080" y="0"/>
                    </a:lnTo>
                  </a:path>
                  <a:path w="474979" h="219075">
                    <a:moveTo>
                      <a:pt x="179980" y="0"/>
                    </a:moveTo>
                    <a:lnTo>
                      <a:pt x="474504" y="0"/>
                    </a:lnTo>
                  </a:path>
                  <a:path w="474979" h="219075">
                    <a:moveTo>
                      <a:pt x="179980" y="219055"/>
                    </a:moveTo>
                    <a:lnTo>
                      <a:pt x="474504" y="219055"/>
                    </a:lnTo>
                  </a:path>
                  <a:path w="474979" h="219075">
                    <a:moveTo>
                      <a:pt x="0" y="219055"/>
                    </a:moveTo>
                    <a:lnTo>
                      <a:pt x="93080" y="219055"/>
                    </a:lnTo>
                  </a:path>
                </a:pathLst>
              </a:custGeom>
              <a:ln w="30481">
                <a:solidFill>
                  <a:srgbClr val="000000"/>
                </a:solidFill>
              </a:ln>
            </p:spPr>
            <p:txBody>
              <a:bodyPr wrap="square" lIns="0" tIns="0" rIns="0" bIns="0" rtlCol="0"/>
              <a:lstStyle/>
              <a:p>
                <a:endParaRPr sz="1588"/>
              </a:p>
            </p:txBody>
          </p:sp>
          <p:sp>
            <p:nvSpPr>
              <p:cNvPr id="21" name="object 21"/>
              <p:cNvSpPr/>
              <p:nvPr/>
            </p:nvSpPr>
            <p:spPr>
              <a:xfrm>
                <a:off x="4565401" y="2527119"/>
                <a:ext cx="363855" cy="584835"/>
              </a:xfrm>
              <a:custGeom>
                <a:avLst/>
                <a:gdLst/>
                <a:ahLst/>
                <a:cxnLst/>
                <a:rect l="l" t="t" r="r" b="b"/>
                <a:pathLst>
                  <a:path w="363854" h="584835">
                    <a:moveTo>
                      <a:pt x="0" y="0"/>
                    </a:moveTo>
                    <a:lnTo>
                      <a:pt x="0" y="584672"/>
                    </a:lnTo>
                    <a:lnTo>
                      <a:pt x="363277" y="438504"/>
                    </a:lnTo>
                    <a:lnTo>
                      <a:pt x="363277" y="146168"/>
                    </a:lnTo>
                    <a:lnTo>
                      <a:pt x="0" y="0"/>
                    </a:lnTo>
                    <a:close/>
                  </a:path>
                </a:pathLst>
              </a:custGeom>
              <a:solidFill>
                <a:srgbClr val="FFFFFF"/>
              </a:solidFill>
            </p:spPr>
            <p:txBody>
              <a:bodyPr wrap="square" lIns="0" tIns="0" rIns="0" bIns="0" rtlCol="0"/>
              <a:lstStyle/>
              <a:p>
                <a:endParaRPr sz="1588"/>
              </a:p>
            </p:txBody>
          </p:sp>
          <p:sp>
            <p:nvSpPr>
              <p:cNvPr id="22" name="object 22"/>
              <p:cNvSpPr/>
              <p:nvPr/>
            </p:nvSpPr>
            <p:spPr>
              <a:xfrm>
                <a:off x="4565401" y="2527120"/>
                <a:ext cx="363855" cy="584835"/>
              </a:xfrm>
              <a:custGeom>
                <a:avLst/>
                <a:gdLst/>
                <a:ahLst/>
                <a:cxnLst/>
                <a:rect l="l" t="t" r="r" b="b"/>
                <a:pathLst>
                  <a:path w="363854" h="584835">
                    <a:moveTo>
                      <a:pt x="0" y="584671"/>
                    </a:moveTo>
                    <a:lnTo>
                      <a:pt x="363277" y="438503"/>
                    </a:lnTo>
                    <a:lnTo>
                      <a:pt x="363277"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23" name="object 23"/>
              <p:cNvSpPr/>
              <p:nvPr/>
            </p:nvSpPr>
            <p:spPr>
              <a:xfrm>
                <a:off x="4541146" y="2725436"/>
                <a:ext cx="194310" cy="189230"/>
              </a:xfrm>
              <a:custGeom>
                <a:avLst/>
                <a:gdLst/>
                <a:ahLst/>
                <a:cxnLst/>
                <a:rect l="l" t="t" r="r" b="b"/>
                <a:pathLst>
                  <a:path w="194310" h="189230">
                    <a:moveTo>
                      <a:pt x="0" y="0"/>
                    </a:moveTo>
                    <a:lnTo>
                      <a:pt x="0" y="188799"/>
                    </a:lnTo>
                    <a:lnTo>
                      <a:pt x="194035" y="94399"/>
                    </a:lnTo>
                    <a:lnTo>
                      <a:pt x="0" y="0"/>
                    </a:lnTo>
                    <a:close/>
                  </a:path>
                </a:pathLst>
              </a:custGeom>
              <a:solidFill>
                <a:srgbClr val="FFFFFF"/>
              </a:solidFill>
            </p:spPr>
            <p:txBody>
              <a:bodyPr wrap="square" lIns="0" tIns="0" rIns="0" bIns="0" rtlCol="0"/>
              <a:lstStyle/>
              <a:p>
                <a:endParaRPr sz="1588"/>
              </a:p>
            </p:txBody>
          </p:sp>
          <p:sp>
            <p:nvSpPr>
              <p:cNvPr id="24" name="object 24"/>
              <p:cNvSpPr/>
              <p:nvPr/>
            </p:nvSpPr>
            <p:spPr>
              <a:xfrm>
                <a:off x="4565400" y="2736474"/>
                <a:ext cx="149860" cy="166370"/>
              </a:xfrm>
              <a:custGeom>
                <a:avLst/>
                <a:gdLst/>
                <a:ahLst/>
                <a:cxnLst/>
                <a:rect l="l" t="t" r="r" b="b"/>
                <a:pathLst>
                  <a:path w="149860" h="166369">
                    <a:moveTo>
                      <a:pt x="0" y="0"/>
                    </a:moveTo>
                    <a:lnTo>
                      <a:pt x="149838" y="82980"/>
                    </a:lnTo>
                    <a:lnTo>
                      <a:pt x="0" y="165961"/>
                    </a:lnTo>
                  </a:path>
                </a:pathLst>
              </a:custGeom>
              <a:ln w="30479">
                <a:solidFill>
                  <a:srgbClr val="000000"/>
                </a:solidFill>
              </a:ln>
            </p:spPr>
            <p:txBody>
              <a:bodyPr wrap="square" lIns="0" tIns="0" rIns="0" bIns="0" rtlCol="0"/>
              <a:lstStyle/>
              <a:p>
                <a:endParaRPr sz="1588"/>
              </a:p>
            </p:txBody>
          </p:sp>
        </p:grpSp>
        <p:sp>
          <p:nvSpPr>
            <p:cNvPr id="25" name="object 25"/>
            <p:cNvSpPr txBox="1"/>
            <p:nvPr/>
          </p:nvSpPr>
          <p:spPr>
            <a:xfrm>
              <a:off x="4279800" y="2327433"/>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26" name="object 26"/>
            <p:cNvGrpSpPr/>
            <p:nvPr/>
          </p:nvGrpSpPr>
          <p:grpSpPr>
            <a:xfrm>
              <a:off x="4472814" y="2314037"/>
              <a:ext cx="1051672" cy="349624"/>
              <a:chOff x="4916789" y="2622575"/>
              <a:chExt cx="1191895" cy="396240"/>
            </a:xfrm>
          </p:grpSpPr>
          <p:sp>
            <p:nvSpPr>
              <p:cNvPr id="27" name="object 27"/>
              <p:cNvSpPr/>
              <p:nvPr/>
            </p:nvSpPr>
            <p:spPr>
              <a:xfrm>
                <a:off x="4932029" y="2820624"/>
                <a:ext cx="1161415" cy="0"/>
              </a:xfrm>
              <a:custGeom>
                <a:avLst/>
                <a:gdLst/>
                <a:ahLst/>
                <a:cxnLst/>
                <a:rect l="l" t="t" r="r" b="b"/>
                <a:pathLst>
                  <a:path w="1161414">
                    <a:moveTo>
                      <a:pt x="0" y="0"/>
                    </a:moveTo>
                    <a:lnTo>
                      <a:pt x="115881" y="0"/>
                    </a:lnTo>
                  </a:path>
                  <a:path w="1161414">
                    <a:moveTo>
                      <a:pt x="201575" y="0"/>
                    </a:moveTo>
                    <a:lnTo>
                      <a:pt x="349730" y="0"/>
                    </a:lnTo>
                  </a:path>
                  <a:path w="1161414">
                    <a:moveTo>
                      <a:pt x="1005405" y="0"/>
                    </a:moveTo>
                    <a:lnTo>
                      <a:pt x="1160980" y="0"/>
                    </a:lnTo>
                  </a:path>
                  <a:path w="1161414">
                    <a:moveTo>
                      <a:pt x="789545" y="0"/>
                    </a:moveTo>
                    <a:lnTo>
                      <a:pt x="918505" y="0"/>
                    </a:lnTo>
                  </a:path>
                </a:pathLst>
              </a:custGeom>
              <a:ln w="30481">
                <a:solidFill>
                  <a:srgbClr val="000000"/>
                </a:solidFill>
              </a:ln>
            </p:spPr>
            <p:txBody>
              <a:bodyPr wrap="square" lIns="0" tIns="0" rIns="0" bIns="0" rtlCol="0"/>
              <a:lstStyle/>
              <a:p>
                <a:endParaRPr sz="1588"/>
              </a:p>
            </p:txBody>
          </p:sp>
          <p:sp>
            <p:nvSpPr>
              <p:cNvPr id="28" name="object 28"/>
              <p:cNvSpPr/>
              <p:nvPr/>
            </p:nvSpPr>
            <p:spPr>
              <a:xfrm>
                <a:off x="5281759" y="2637815"/>
                <a:ext cx="431165" cy="365760"/>
              </a:xfrm>
              <a:custGeom>
                <a:avLst/>
                <a:gdLst/>
                <a:ahLst/>
                <a:cxnLst/>
                <a:rect l="l" t="t" r="r" b="b"/>
                <a:pathLst>
                  <a:path w="431164" h="365760">
                    <a:moveTo>
                      <a:pt x="0" y="0"/>
                    </a:moveTo>
                    <a:lnTo>
                      <a:pt x="430700" y="0"/>
                    </a:lnTo>
                    <a:lnTo>
                      <a:pt x="430700"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29" name="object 29"/>
            <p:cNvSpPr txBox="1"/>
            <p:nvPr/>
          </p:nvSpPr>
          <p:spPr>
            <a:xfrm>
              <a:off x="4776604" y="2366234"/>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30" name="object 30"/>
            <p:cNvGrpSpPr/>
            <p:nvPr/>
          </p:nvGrpSpPr>
          <p:grpSpPr>
            <a:xfrm>
              <a:off x="3043005" y="2378001"/>
              <a:ext cx="2294404" cy="381559"/>
              <a:chOff x="3296338" y="2695068"/>
              <a:chExt cx="2600325" cy="432434"/>
            </a:xfrm>
          </p:grpSpPr>
          <p:sp>
            <p:nvSpPr>
              <p:cNvPr id="31" name="object 31"/>
              <p:cNvSpPr/>
              <p:nvPr/>
            </p:nvSpPr>
            <p:spPr>
              <a:xfrm>
                <a:off x="5235400" y="2820624"/>
                <a:ext cx="645795" cy="292100"/>
              </a:xfrm>
              <a:custGeom>
                <a:avLst/>
                <a:gdLst/>
                <a:ahLst/>
                <a:cxnLst/>
                <a:rect l="l" t="t" r="r" b="b"/>
                <a:pathLst>
                  <a:path w="645795" h="292100">
                    <a:moveTo>
                      <a:pt x="0" y="0"/>
                    </a:moveTo>
                    <a:lnTo>
                      <a:pt x="0" y="291547"/>
                    </a:lnTo>
                    <a:lnTo>
                      <a:pt x="569679" y="291547"/>
                    </a:lnTo>
                    <a:lnTo>
                      <a:pt x="569679" y="109330"/>
                    </a:lnTo>
                    <a:lnTo>
                      <a:pt x="645637" y="109330"/>
                    </a:lnTo>
                  </a:path>
                </a:pathLst>
              </a:custGeom>
              <a:ln w="30479">
                <a:solidFill>
                  <a:srgbClr val="000000"/>
                </a:solidFill>
              </a:ln>
            </p:spPr>
            <p:txBody>
              <a:bodyPr wrap="square" lIns="0" tIns="0" rIns="0" bIns="0" rtlCol="0"/>
              <a:lstStyle/>
              <a:p>
                <a:endParaRPr sz="1588"/>
              </a:p>
            </p:txBody>
          </p:sp>
          <p:sp>
            <p:nvSpPr>
              <p:cNvPr id="32" name="object 32"/>
              <p:cNvSpPr/>
              <p:nvPr/>
            </p:nvSpPr>
            <p:spPr>
              <a:xfrm>
                <a:off x="3311578" y="2710308"/>
                <a:ext cx="408940" cy="220979"/>
              </a:xfrm>
              <a:custGeom>
                <a:avLst/>
                <a:gdLst/>
                <a:ahLst/>
                <a:cxnLst/>
                <a:rect l="l" t="t" r="r" b="b"/>
                <a:pathLst>
                  <a:path w="408939" h="220980">
                    <a:moveTo>
                      <a:pt x="221607" y="220632"/>
                    </a:moveTo>
                    <a:lnTo>
                      <a:pt x="408908" y="220632"/>
                    </a:lnTo>
                  </a:path>
                  <a:path w="408939" h="220980">
                    <a:moveTo>
                      <a:pt x="0" y="220632"/>
                    </a:moveTo>
                    <a:lnTo>
                      <a:pt x="134707" y="220632"/>
                    </a:lnTo>
                  </a:path>
                  <a:path w="408939" h="220980">
                    <a:moveTo>
                      <a:pt x="221607" y="0"/>
                    </a:moveTo>
                    <a:lnTo>
                      <a:pt x="406962" y="0"/>
                    </a:lnTo>
                  </a:path>
                  <a:path w="408939" h="220980">
                    <a:moveTo>
                      <a:pt x="0" y="0"/>
                    </a:moveTo>
                    <a:lnTo>
                      <a:pt x="134707" y="0"/>
                    </a:lnTo>
                  </a:path>
                </a:pathLst>
              </a:custGeom>
              <a:ln w="30481">
                <a:solidFill>
                  <a:srgbClr val="000000"/>
                </a:solidFill>
              </a:ln>
            </p:spPr>
            <p:txBody>
              <a:bodyPr wrap="square" lIns="0" tIns="0" rIns="0" bIns="0" rtlCol="0"/>
              <a:lstStyle/>
              <a:p>
                <a:endParaRPr sz="1588"/>
              </a:p>
            </p:txBody>
          </p:sp>
        </p:grpSp>
        <p:sp>
          <p:nvSpPr>
            <p:cNvPr id="33" name="object 33"/>
            <p:cNvSpPr txBox="1"/>
            <p:nvPr/>
          </p:nvSpPr>
          <p:spPr>
            <a:xfrm>
              <a:off x="2674728" y="2327484"/>
              <a:ext cx="382121" cy="213346"/>
            </a:xfrm>
            <a:prstGeom prst="rect">
              <a:avLst/>
            </a:prstGeom>
            <a:ln w="30479">
              <a:solidFill>
                <a:srgbClr val="000000"/>
              </a:solidFill>
            </a:ln>
          </p:spPr>
          <p:txBody>
            <a:bodyPr vert="horz" wrap="square" lIns="0" tIns="49866" rIns="0" bIns="0" rtlCol="0">
              <a:spAutoFit/>
            </a:bodyPr>
            <a:lstStyle/>
            <a:p>
              <a:pPr marL="26896">
                <a:spcBef>
                  <a:spcPts val="393"/>
                </a:spcBef>
              </a:pPr>
              <a:r>
                <a:rPr sz="1059" b="1" spc="-9" dirty="0">
                  <a:latin typeface="Times New Roman"/>
                  <a:cs typeface="Times New Roman"/>
                </a:rPr>
                <a:t>Ifetch</a:t>
              </a:r>
              <a:endParaRPr sz="1059">
                <a:latin typeface="Times New Roman"/>
                <a:cs typeface="Times New Roman"/>
              </a:endParaRPr>
            </a:p>
          </p:txBody>
        </p:sp>
        <p:grpSp>
          <p:nvGrpSpPr>
            <p:cNvPr id="34" name="object 34"/>
            <p:cNvGrpSpPr/>
            <p:nvPr/>
          </p:nvGrpSpPr>
          <p:grpSpPr>
            <a:xfrm>
              <a:off x="3161864" y="2168033"/>
              <a:ext cx="2744881" cy="640416"/>
              <a:chOff x="3431045" y="2457103"/>
              <a:chExt cx="3110865" cy="725805"/>
            </a:xfrm>
          </p:grpSpPr>
          <p:sp>
            <p:nvSpPr>
              <p:cNvPr id="35" name="object 35"/>
              <p:cNvSpPr/>
              <p:nvPr/>
            </p:nvSpPr>
            <p:spPr>
              <a:xfrm>
                <a:off x="4245288" y="2472343"/>
                <a:ext cx="86995" cy="695325"/>
              </a:xfrm>
              <a:custGeom>
                <a:avLst/>
                <a:gdLst/>
                <a:ahLst/>
                <a:cxnLst/>
                <a:rect l="l" t="t" r="r" b="b"/>
                <a:pathLst>
                  <a:path w="86995" h="695325">
                    <a:moveTo>
                      <a:pt x="86899" y="0"/>
                    </a:moveTo>
                    <a:lnTo>
                      <a:pt x="0" y="0"/>
                    </a:lnTo>
                    <a:lnTo>
                      <a:pt x="0" y="694987"/>
                    </a:lnTo>
                    <a:lnTo>
                      <a:pt x="86899" y="694987"/>
                    </a:lnTo>
                    <a:lnTo>
                      <a:pt x="86899" y="0"/>
                    </a:lnTo>
                    <a:close/>
                  </a:path>
                </a:pathLst>
              </a:custGeom>
              <a:solidFill>
                <a:srgbClr val="00FF00"/>
              </a:solidFill>
            </p:spPr>
            <p:txBody>
              <a:bodyPr wrap="square" lIns="0" tIns="0" rIns="0" bIns="0" rtlCol="0"/>
              <a:lstStyle/>
              <a:p>
                <a:endParaRPr sz="1588"/>
              </a:p>
            </p:txBody>
          </p:sp>
          <p:sp>
            <p:nvSpPr>
              <p:cNvPr id="36" name="object 36"/>
              <p:cNvSpPr/>
              <p:nvPr/>
            </p:nvSpPr>
            <p:spPr>
              <a:xfrm>
                <a:off x="4245288" y="2472343"/>
                <a:ext cx="86995" cy="695325"/>
              </a:xfrm>
              <a:custGeom>
                <a:avLst/>
                <a:gdLst/>
                <a:ahLst/>
                <a:cxnLst/>
                <a:rect l="l" t="t" r="r" b="b"/>
                <a:pathLst>
                  <a:path w="86995" h="695325">
                    <a:moveTo>
                      <a:pt x="0" y="0"/>
                    </a:moveTo>
                    <a:lnTo>
                      <a:pt x="86900" y="0"/>
                    </a:lnTo>
                    <a:lnTo>
                      <a:pt x="8690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7" name="object 37"/>
              <p:cNvSpPr/>
              <p:nvPr/>
            </p:nvSpPr>
            <p:spPr>
              <a:xfrm>
                <a:off x="5850535" y="2472343"/>
                <a:ext cx="86995" cy="695325"/>
              </a:xfrm>
              <a:custGeom>
                <a:avLst/>
                <a:gdLst/>
                <a:ahLst/>
                <a:cxnLst/>
                <a:rect l="l" t="t" r="r" b="b"/>
                <a:pathLst>
                  <a:path w="86995" h="695325">
                    <a:moveTo>
                      <a:pt x="86899" y="0"/>
                    </a:moveTo>
                    <a:lnTo>
                      <a:pt x="0" y="0"/>
                    </a:lnTo>
                    <a:lnTo>
                      <a:pt x="0" y="694987"/>
                    </a:lnTo>
                    <a:lnTo>
                      <a:pt x="86899" y="694987"/>
                    </a:lnTo>
                    <a:lnTo>
                      <a:pt x="86899" y="0"/>
                    </a:lnTo>
                    <a:close/>
                  </a:path>
                </a:pathLst>
              </a:custGeom>
              <a:solidFill>
                <a:srgbClr val="00FF00"/>
              </a:solidFill>
            </p:spPr>
            <p:txBody>
              <a:bodyPr wrap="square" lIns="0" tIns="0" rIns="0" bIns="0" rtlCol="0"/>
              <a:lstStyle/>
              <a:p>
                <a:endParaRPr sz="1588"/>
              </a:p>
            </p:txBody>
          </p:sp>
          <p:sp>
            <p:nvSpPr>
              <p:cNvPr id="38" name="object 38"/>
              <p:cNvSpPr/>
              <p:nvPr/>
            </p:nvSpPr>
            <p:spPr>
              <a:xfrm>
                <a:off x="5850535" y="2472343"/>
                <a:ext cx="86995" cy="695325"/>
              </a:xfrm>
              <a:custGeom>
                <a:avLst/>
                <a:gdLst/>
                <a:ahLst/>
                <a:cxnLst/>
                <a:rect l="l" t="t" r="r" b="b"/>
                <a:pathLst>
                  <a:path w="86995" h="695325">
                    <a:moveTo>
                      <a:pt x="0" y="0"/>
                    </a:moveTo>
                    <a:lnTo>
                      <a:pt x="86900" y="0"/>
                    </a:lnTo>
                    <a:lnTo>
                      <a:pt x="8690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39" name="object 39"/>
              <p:cNvSpPr/>
              <p:nvPr/>
            </p:nvSpPr>
            <p:spPr>
              <a:xfrm>
                <a:off x="3446285" y="2472343"/>
                <a:ext cx="86995" cy="695325"/>
              </a:xfrm>
              <a:custGeom>
                <a:avLst/>
                <a:gdLst/>
                <a:ahLst/>
                <a:cxnLst/>
                <a:rect l="l" t="t" r="r" b="b"/>
                <a:pathLst>
                  <a:path w="86995" h="695325">
                    <a:moveTo>
                      <a:pt x="86899" y="0"/>
                    </a:moveTo>
                    <a:lnTo>
                      <a:pt x="0" y="0"/>
                    </a:lnTo>
                    <a:lnTo>
                      <a:pt x="0" y="694987"/>
                    </a:lnTo>
                    <a:lnTo>
                      <a:pt x="86899" y="694987"/>
                    </a:lnTo>
                    <a:lnTo>
                      <a:pt x="86899" y="0"/>
                    </a:lnTo>
                    <a:close/>
                  </a:path>
                </a:pathLst>
              </a:custGeom>
              <a:solidFill>
                <a:srgbClr val="00FF00"/>
              </a:solidFill>
            </p:spPr>
            <p:txBody>
              <a:bodyPr wrap="square" lIns="0" tIns="0" rIns="0" bIns="0" rtlCol="0"/>
              <a:lstStyle/>
              <a:p>
                <a:endParaRPr sz="1588"/>
              </a:p>
            </p:txBody>
          </p:sp>
          <p:sp>
            <p:nvSpPr>
              <p:cNvPr id="40" name="object 40"/>
              <p:cNvSpPr/>
              <p:nvPr/>
            </p:nvSpPr>
            <p:spPr>
              <a:xfrm>
                <a:off x="3446285" y="2472343"/>
                <a:ext cx="86995" cy="695325"/>
              </a:xfrm>
              <a:custGeom>
                <a:avLst/>
                <a:gdLst/>
                <a:ahLst/>
                <a:cxnLst/>
                <a:rect l="l" t="t" r="r" b="b"/>
                <a:pathLst>
                  <a:path w="86995" h="695325">
                    <a:moveTo>
                      <a:pt x="0" y="0"/>
                    </a:moveTo>
                    <a:lnTo>
                      <a:pt x="86900" y="0"/>
                    </a:lnTo>
                    <a:lnTo>
                      <a:pt x="86900"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41" name="object 41"/>
              <p:cNvSpPr/>
              <p:nvPr/>
            </p:nvSpPr>
            <p:spPr>
              <a:xfrm>
                <a:off x="5047910" y="2476425"/>
                <a:ext cx="85725" cy="685800"/>
              </a:xfrm>
              <a:custGeom>
                <a:avLst/>
                <a:gdLst/>
                <a:ahLst/>
                <a:cxnLst/>
                <a:rect l="l" t="t" r="r" b="b"/>
                <a:pathLst>
                  <a:path w="85725" h="685800">
                    <a:moveTo>
                      <a:pt x="85694" y="0"/>
                    </a:moveTo>
                    <a:lnTo>
                      <a:pt x="0" y="0"/>
                    </a:lnTo>
                    <a:lnTo>
                      <a:pt x="0" y="685802"/>
                    </a:lnTo>
                    <a:lnTo>
                      <a:pt x="85694" y="685802"/>
                    </a:lnTo>
                    <a:lnTo>
                      <a:pt x="85694" y="0"/>
                    </a:lnTo>
                    <a:close/>
                  </a:path>
                </a:pathLst>
              </a:custGeom>
              <a:solidFill>
                <a:srgbClr val="00FF00"/>
              </a:solidFill>
            </p:spPr>
            <p:txBody>
              <a:bodyPr wrap="square" lIns="0" tIns="0" rIns="0" bIns="0" rtlCol="0"/>
              <a:lstStyle/>
              <a:p>
                <a:endParaRPr sz="1588"/>
              </a:p>
            </p:txBody>
          </p:sp>
          <p:sp>
            <p:nvSpPr>
              <p:cNvPr id="42" name="object 42"/>
              <p:cNvSpPr/>
              <p:nvPr/>
            </p:nvSpPr>
            <p:spPr>
              <a:xfrm>
                <a:off x="5047910" y="2476425"/>
                <a:ext cx="85725" cy="685800"/>
              </a:xfrm>
              <a:custGeom>
                <a:avLst/>
                <a:gdLst/>
                <a:ahLst/>
                <a:cxnLst/>
                <a:rect l="l" t="t" r="r" b="b"/>
                <a:pathLst>
                  <a:path w="85725" h="685800">
                    <a:moveTo>
                      <a:pt x="0" y="0"/>
                    </a:moveTo>
                    <a:lnTo>
                      <a:pt x="85693" y="0"/>
                    </a:lnTo>
                    <a:lnTo>
                      <a:pt x="85693"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43" name="object 43"/>
              <p:cNvSpPr/>
              <p:nvPr/>
            </p:nvSpPr>
            <p:spPr>
              <a:xfrm>
                <a:off x="6093010" y="2623632"/>
                <a:ext cx="217170" cy="363220"/>
              </a:xfrm>
              <a:custGeom>
                <a:avLst/>
                <a:gdLst/>
                <a:ahLst/>
                <a:cxnLst/>
                <a:rect l="l" t="t" r="r" b="b"/>
                <a:pathLst>
                  <a:path w="217170" h="363219">
                    <a:moveTo>
                      <a:pt x="216833" y="0"/>
                    </a:moveTo>
                    <a:lnTo>
                      <a:pt x="0" y="0"/>
                    </a:lnTo>
                    <a:lnTo>
                      <a:pt x="0" y="362942"/>
                    </a:lnTo>
                    <a:lnTo>
                      <a:pt x="216833" y="362942"/>
                    </a:lnTo>
                    <a:lnTo>
                      <a:pt x="216833" y="0"/>
                    </a:lnTo>
                    <a:close/>
                  </a:path>
                </a:pathLst>
              </a:custGeom>
              <a:solidFill>
                <a:srgbClr val="0099FF"/>
              </a:solidFill>
            </p:spPr>
            <p:txBody>
              <a:bodyPr wrap="square" lIns="0" tIns="0" rIns="0" bIns="0" rtlCol="0"/>
              <a:lstStyle/>
              <a:p>
                <a:endParaRPr sz="1588"/>
              </a:p>
            </p:txBody>
          </p:sp>
          <p:sp>
            <p:nvSpPr>
              <p:cNvPr id="44" name="object 44"/>
              <p:cNvSpPr/>
              <p:nvPr/>
            </p:nvSpPr>
            <p:spPr>
              <a:xfrm>
                <a:off x="6093009" y="2623632"/>
                <a:ext cx="433705" cy="367665"/>
              </a:xfrm>
              <a:custGeom>
                <a:avLst/>
                <a:gdLst/>
                <a:ahLst/>
                <a:cxnLst/>
                <a:rect l="l" t="t" r="r" b="b"/>
                <a:pathLst>
                  <a:path w="433704" h="367664">
                    <a:moveTo>
                      <a:pt x="433666" y="0"/>
                    </a:moveTo>
                    <a:lnTo>
                      <a:pt x="0" y="0"/>
                    </a:lnTo>
                    <a:lnTo>
                      <a:pt x="0" y="367192"/>
                    </a:lnTo>
                    <a:lnTo>
                      <a:pt x="433666" y="367192"/>
                    </a:lnTo>
                    <a:lnTo>
                      <a:pt x="433666" y="0"/>
                    </a:lnTo>
                    <a:close/>
                  </a:path>
                </a:pathLst>
              </a:custGeom>
              <a:ln w="30479">
                <a:solidFill>
                  <a:srgbClr val="000000"/>
                </a:solidFill>
              </a:ln>
            </p:spPr>
            <p:txBody>
              <a:bodyPr wrap="square" lIns="0" tIns="0" rIns="0" bIns="0" rtlCol="0"/>
              <a:lstStyle/>
              <a:p>
                <a:endParaRPr sz="1588"/>
              </a:p>
            </p:txBody>
          </p:sp>
        </p:grpSp>
        <p:sp>
          <p:nvSpPr>
            <p:cNvPr id="45" name="object 45"/>
            <p:cNvSpPr txBox="1"/>
            <p:nvPr/>
          </p:nvSpPr>
          <p:spPr>
            <a:xfrm>
              <a:off x="5510656" y="2355477"/>
              <a:ext cx="382681" cy="174309"/>
            </a:xfrm>
            <a:prstGeom prst="rect">
              <a:avLst/>
            </a:prstGeom>
          </p:spPr>
          <p:txBody>
            <a:bodyPr vert="horz" wrap="square" lIns="0" tIns="11206" rIns="0" bIns="0" rtlCol="0">
              <a:spAutoFit/>
            </a:bodyPr>
            <a:lstStyle/>
            <a:p>
              <a:pPr marL="84609">
                <a:spcBef>
                  <a:spcPts val="88"/>
                </a:spcBef>
              </a:pPr>
              <a:r>
                <a:rPr sz="1059" b="1" spc="-22" dirty="0">
                  <a:latin typeface="Times New Roman"/>
                  <a:cs typeface="Times New Roman"/>
                </a:rPr>
                <a:t>Reg</a:t>
              </a:r>
              <a:endParaRPr sz="1059">
                <a:latin typeface="Times New Roman"/>
                <a:cs typeface="Times New Roman"/>
              </a:endParaRPr>
            </a:p>
          </p:txBody>
        </p:sp>
        <p:grpSp>
          <p:nvGrpSpPr>
            <p:cNvPr id="46" name="object 46"/>
            <p:cNvGrpSpPr/>
            <p:nvPr/>
          </p:nvGrpSpPr>
          <p:grpSpPr>
            <a:xfrm>
              <a:off x="4124962" y="3058146"/>
              <a:ext cx="406213" cy="351304"/>
              <a:chOff x="4522556" y="3465898"/>
              <a:chExt cx="460375" cy="398145"/>
            </a:xfrm>
          </p:grpSpPr>
          <p:sp>
            <p:nvSpPr>
              <p:cNvPr id="47" name="object 47"/>
              <p:cNvSpPr/>
              <p:nvPr/>
            </p:nvSpPr>
            <p:spPr>
              <a:xfrm>
                <a:off x="4752684" y="3481138"/>
                <a:ext cx="215265" cy="363220"/>
              </a:xfrm>
              <a:custGeom>
                <a:avLst/>
                <a:gdLst/>
                <a:ahLst/>
                <a:cxnLst/>
                <a:rect l="l" t="t" r="r" b="b"/>
                <a:pathLst>
                  <a:path w="215264" h="363220">
                    <a:moveTo>
                      <a:pt x="214889" y="0"/>
                    </a:moveTo>
                    <a:lnTo>
                      <a:pt x="0" y="0"/>
                    </a:lnTo>
                    <a:lnTo>
                      <a:pt x="0" y="362943"/>
                    </a:lnTo>
                    <a:lnTo>
                      <a:pt x="214889" y="362943"/>
                    </a:lnTo>
                    <a:lnTo>
                      <a:pt x="214889" y="0"/>
                    </a:lnTo>
                    <a:close/>
                  </a:path>
                </a:pathLst>
              </a:custGeom>
              <a:solidFill>
                <a:srgbClr val="0099FF"/>
              </a:solidFill>
            </p:spPr>
            <p:txBody>
              <a:bodyPr wrap="square" lIns="0" tIns="0" rIns="0" bIns="0" rtlCol="0"/>
              <a:lstStyle/>
              <a:p>
                <a:endParaRPr sz="1588"/>
              </a:p>
            </p:txBody>
          </p:sp>
          <p:sp>
            <p:nvSpPr>
              <p:cNvPr id="48" name="object 48"/>
              <p:cNvSpPr/>
              <p:nvPr/>
            </p:nvSpPr>
            <p:spPr>
              <a:xfrm>
                <a:off x="4537796" y="3481138"/>
                <a:ext cx="429895" cy="367665"/>
              </a:xfrm>
              <a:custGeom>
                <a:avLst/>
                <a:gdLst/>
                <a:ahLst/>
                <a:cxnLst/>
                <a:rect l="l" t="t" r="r" b="b"/>
                <a:pathLst>
                  <a:path w="429895" h="367664">
                    <a:moveTo>
                      <a:pt x="0" y="0"/>
                    </a:moveTo>
                    <a:lnTo>
                      <a:pt x="429777" y="0"/>
                    </a:lnTo>
                    <a:lnTo>
                      <a:pt x="429777"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49" name="object 49"/>
            <p:cNvSpPr txBox="1"/>
            <p:nvPr/>
          </p:nvSpPr>
          <p:spPr>
            <a:xfrm>
              <a:off x="4208572" y="3111201"/>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50" name="object 50"/>
            <p:cNvGrpSpPr/>
            <p:nvPr/>
          </p:nvGrpSpPr>
          <p:grpSpPr>
            <a:xfrm>
              <a:off x="4505892" y="2961863"/>
              <a:ext cx="712134" cy="542925"/>
              <a:chOff x="4954277" y="3356778"/>
              <a:chExt cx="807085" cy="615315"/>
            </a:xfrm>
          </p:grpSpPr>
          <p:sp>
            <p:nvSpPr>
              <p:cNvPr id="51" name="object 51"/>
              <p:cNvSpPr/>
              <p:nvPr/>
            </p:nvSpPr>
            <p:spPr>
              <a:xfrm>
                <a:off x="4969517" y="3555208"/>
                <a:ext cx="474980" cy="219075"/>
              </a:xfrm>
              <a:custGeom>
                <a:avLst/>
                <a:gdLst/>
                <a:ahLst/>
                <a:cxnLst/>
                <a:rect l="l" t="t" r="r" b="b"/>
                <a:pathLst>
                  <a:path w="474979" h="219075">
                    <a:moveTo>
                      <a:pt x="165943" y="0"/>
                    </a:moveTo>
                    <a:lnTo>
                      <a:pt x="474504" y="0"/>
                    </a:lnTo>
                  </a:path>
                  <a:path w="474979" h="219075">
                    <a:moveTo>
                      <a:pt x="0" y="0"/>
                    </a:moveTo>
                    <a:lnTo>
                      <a:pt x="78919" y="0"/>
                    </a:lnTo>
                  </a:path>
                  <a:path w="474979" h="219075">
                    <a:moveTo>
                      <a:pt x="165943" y="219055"/>
                    </a:moveTo>
                    <a:lnTo>
                      <a:pt x="474504" y="219055"/>
                    </a:lnTo>
                  </a:path>
                  <a:path w="474979" h="219075">
                    <a:moveTo>
                      <a:pt x="0" y="219055"/>
                    </a:moveTo>
                    <a:lnTo>
                      <a:pt x="78919" y="219055"/>
                    </a:lnTo>
                  </a:path>
                </a:pathLst>
              </a:custGeom>
              <a:ln w="30481">
                <a:solidFill>
                  <a:srgbClr val="000000"/>
                </a:solidFill>
              </a:ln>
            </p:spPr>
            <p:txBody>
              <a:bodyPr wrap="square" lIns="0" tIns="0" rIns="0" bIns="0" rtlCol="0"/>
              <a:lstStyle/>
              <a:p>
                <a:endParaRPr sz="1588"/>
              </a:p>
            </p:txBody>
          </p:sp>
          <p:sp>
            <p:nvSpPr>
              <p:cNvPr id="52" name="object 52"/>
              <p:cNvSpPr/>
              <p:nvPr/>
            </p:nvSpPr>
            <p:spPr>
              <a:xfrm>
                <a:off x="5382710" y="3372017"/>
                <a:ext cx="363855" cy="584835"/>
              </a:xfrm>
              <a:custGeom>
                <a:avLst/>
                <a:gdLst/>
                <a:ahLst/>
                <a:cxnLst/>
                <a:rect l="l" t="t" r="r" b="b"/>
                <a:pathLst>
                  <a:path w="363854" h="584835">
                    <a:moveTo>
                      <a:pt x="0" y="0"/>
                    </a:moveTo>
                    <a:lnTo>
                      <a:pt x="0" y="584672"/>
                    </a:lnTo>
                    <a:lnTo>
                      <a:pt x="363278" y="438504"/>
                    </a:lnTo>
                    <a:lnTo>
                      <a:pt x="363278" y="146168"/>
                    </a:lnTo>
                    <a:lnTo>
                      <a:pt x="0" y="0"/>
                    </a:lnTo>
                    <a:close/>
                  </a:path>
                </a:pathLst>
              </a:custGeom>
              <a:solidFill>
                <a:srgbClr val="FFFFFF"/>
              </a:solidFill>
            </p:spPr>
            <p:txBody>
              <a:bodyPr wrap="square" lIns="0" tIns="0" rIns="0" bIns="0" rtlCol="0"/>
              <a:lstStyle/>
              <a:p>
                <a:endParaRPr sz="1588"/>
              </a:p>
            </p:txBody>
          </p:sp>
          <p:sp>
            <p:nvSpPr>
              <p:cNvPr id="53" name="object 53"/>
              <p:cNvSpPr/>
              <p:nvPr/>
            </p:nvSpPr>
            <p:spPr>
              <a:xfrm>
                <a:off x="5382710" y="3372018"/>
                <a:ext cx="363855" cy="584835"/>
              </a:xfrm>
              <a:custGeom>
                <a:avLst/>
                <a:gdLst/>
                <a:ahLst/>
                <a:cxnLst/>
                <a:rect l="l" t="t" r="r" b="b"/>
                <a:pathLst>
                  <a:path w="363854" h="584835">
                    <a:moveTo>
                      <a:pt x="0" y="584671"/>
                    </a:moveTo>
                    <a:lnTo>
                      <a:pt x="363277" y="438503"/>
                    </a:lnTo>
                    <a:lnTo>
                      <a:pt x="363277"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54" name="object 54"/>
              <p:cNvSpPr/>
              <p:nvPr/>
            </p:nvSpPr>
            <p:spPr>
              <a:xfrm>
                <a:off x="5358456" y="3570334"/>
                <a:ext cx="194310" cy="189230"/>
              </a:xfrm>
              <a:custGeom>
                <a:avLst/>
                <a:gdLst/>
                <a:ahLst/>
                <a:cxnLst/>
                <a:rect l="l" t="t" r="r" b="b"/>
                <a:pathLst>
                  <a:path w="194310" h="189229">
                    <a:moveTo>
                      <a:pt x="0" y="0"/>
                    </a:moveTo>
                    <a:lnTo>
                      <a:pt x="0" y="188799"/>
                    </a:lnTo>
                    <a:lnTo>
                      <a:pt x="194035" y="94399"/>
                    </a:lnTo>
                    <a:lnTo>
                      <a:pt x="0" y="0"/>
                    </a:lnTo>
                    <a:close/>
                  </a:path>
                </a:pathLst>
              </a:custGeom>
              <a:solidFill>
                <a:srgbClr val="FFFFFF"/>
              </a:solidFill>
            </p:spPr>
            <p:txBody>
              <a:bodyPr wrap="square" lIns="0" tIns="0" rIns="0" bIns="0" rtlCol="0"/>
              <a:lstStyle/>
              <a:p>
                <a:endParaRPr sz="1588"/>
              </a:p>
            </p:txBody>
          </p:sp>
          <p:sp>
            <p:nvSpPr>
              <p:cNvPr id="55" name="object 55"/>
              <p:cNvSpPr/>
              <p:nvPr/>
            </p:nvSpPr>
            <p:spPr>
              <a:xfrm>
                <a:off x="5382710" y="3581373"/>
                <a:ext cx="149860" cy="166370"/>
              </a:xfrm>
              <a:custGeom>
                <a:avLst/>
                <a:gdLst/>
                <a:ahLst/>
                <a:cxnLst/>
                <a:rect l="l" t="t" r="r" b="b"/>
                <a:pathLst>
                  <a:path w="149860" h="166370">
                    <a:moveTo>
                      <a:pt x="0" y="0"/>
                    </a:moveTo>
                    <a:lnTo>
                      <a:pt x="149838" y="82980"/>
                    </a:lnTo>
                    <a:lnTo>
                      <a:pt x="0" y="165961"/>
                    </a:lnTo>
                  </a:path>
                </a:pathLst>
              </a:custGeom>
              <a:ln w="30479">
                <a:solidFill>
                  <a:srgbClr val="000000"/>
                </a:solidFill>
              </a:ln>
            </p:spPr>
            <p:txBody>
              <a:bodyPr wrap="square" lIns="0" tIns="0" rIns="0" bIns="0" rtlCol="0"/>
              <a:lstStyle/>
              <a:p>
                <a:endParaRPr sz="1588"/>
              </a:p>
            </p:txBody>
          </p:sp>
        </p:grpSp>
        <p:sp>
          <p:nvSpPr>
            <p:cNvPr id="56" name="object 56"/>
            <p:cNvSpPr txBox="1"/>
            <p:nvPr/>
          </p:nvSpPr>
          <p:spPr>
            <a:xfrm>
              <a:off x="5000957" y="3072400"/>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57" name="object 57"/>
            <p:cNvGrpSpPr/>
            <p:nvPr/>
          </p:nvGrpSpPr>
          <p:grpSpPr>
            <a:xfrm>
              <a:off x="5193970" y="3059536"/>
              <a:ext cx="1051672" cy="349624"/>
              <a:chOff x="5734099" y="3467474"/>
              <a:chExt cx="1191895" cy="396240"/>
            </a:xfrm>
          </p:grpSpPr>
          <p:sp>
            <p:nvSpPr>
              <p:cNvPr id="58" name="object 58"/>
              <p:cNvSpPr/>
              <p:nvPr/>
            </p:nvSpPr>
            <p:spPr>
              <a:xfrm>
                <a:off x="5749339" y="3665522"/>
                <a:ext cx="1161415" cy="0"/>
              </a:xfrm>
              <a:custGeom>
                <a:avLst/>
                <a:gdLst/>
                <a:ahLst/>
                <a:cxnLst/>
                <a:rect l="l" t="t" r="r" b="b"/>
                <a:pathLst>
                  <a:path w="1161415">
                    <a:moveTo>
                      <a:pt x="187465" y="0"/>
                    </a:moveTo>
                    <a:lnTo>
                      <a:pt x="349730" y="0"/>
                    </a:lnTo>
                  </a:path>
                  <a:path w="1161415">
                    <a:moveTo>
                      <a:pt x="0" y="0"/>
                    </a:moveTo>
                    <a:lnTo>
                      <a:pt x="101650" y="0"/>
                    </a:lnTo>
                  </a:path>
                  <a:path w="1161415">
                    <a:moveTo>
                      <a:pt x="1063745" y="0"/>
                    </a:moveTo>
                    <a:lnTo>
                      <a:pt x="1160980" y="0"/>
                    </a:lnTo>
                  </a:path>
                  <a:path w="1161415">
                    <a:moveTo>
                      <a:pt x="822603" y="0"/>
                    </a:moveTo>
                    <a:lnTo>
                      <a:pt x="976721" y="0"/>
                    </a:lnTo>
                  </a:path>
                </a:pathLst>
              </a:custGeom>
              <a:ln w="30481">
                <a:solidFill>
                  <a:srgbClr val="000000"/>
                </a:solidFill>
              </a:ln>
            </p:spPr>
            <p:txBody>
              <a:bodyPr wrap="square" lIns="0" tIns="0" rIns="0" bIns="0" rtlCol="0"/>
              <a:lstStyle/>
              <a:p>
                <a:endParaRPr sz="1588"/>
              </a:p>
            </p:txBody>
          </p:sp>
          <p:sp>
            <p:nvSpPr>
              <p:cNvPr id="59" name="object 59"/>
              <p:cNvSpPr/>
              <p:nvPr/>
            </p:nvSpPr>
            <p:spPr>
              <a:xfrm>
                <a:off x="6099069" y="3482714"/>
                <a:ext cx="431165" cy="365760"/>
              </a:xfrm>
              <a:custGeom>
                <a:avLst/>
                <a:gdLst/>
                <a:ahLst/>
                <a:cxnLst/>
                <a:rect l="l" t="t" r="r" b="b"/>
                <a:pathLst>
                  <a:path w="431165" h="365760">
                    <a:moveTo>
                      <a:pt x="0" y="0"/>
                    </a:moveTo>
                    <a:lnTo>
                      <a:pt x="430700" y="0"/>
                    </a:lnTo>
                    <a:lnTo>
                      <a:pt x="430700"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60" name="object 60"/>
            <p:cNvSpPr txBox="1"/>
            <p:nvPr/>
          </p:nvSpPr>
          <p:spPr>
            <a:xfrm>
              <a:off x="5497761" y="3113891"/>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61" name="object 61"/>
            <p:cNvGrpSpPr/>
            <p:nvPr/>
          </p:nvGrpSpPr>
          <p:grpSpPr>
            <a:xfrm>
              <a:off x="3764160" y="3123501"/>
              <a:ext cx="2311774" cy="381559"/>
              <a:chOff x="4113648" y="3539968"/>
              <a:chExt cx="2620010" cy="432434"/>
            </a:xfrm>
          </p:grpSpPr>
          <p:sp>
            <p:nvSpPr>
              <p:cNvPr id="62" name="object 62"/>
              <p:cNvSpPr/>
              <p:nvPr/>
            </p:nvSpPr>
            <p:spPr>
              <a:xfrm>
                <a:off x="6052710" y="3665522"/>
                <a:ext cx="665480" cy="292100"/>
              </a:xfrm>
              <a:custGeom>
                <a:avLst/>
                <a:gdLst/>
                <a:ahLst/>
                <a:cxnLst/>
                <a:rect l="l" t="t" r="r" b="b"/>
                <a:pathLst>
                  <a:path w="665479" h="292100">
                    <a:moveTo>
                      <a:pt x="0" y="0"/>
                    </a:moveTo>
                    <a:lnTo>
                      <a:pt x="0" y="291547"/>
                    </a:lnTo>
                    <a:lnTo>
                      <a:pt x="586839" y="291547"/>
                    </a:lnTo>
                    <a:lnTo>
                      <a:pt x="586839" y="109330"/>
                    </a:lnTo>
                    <a:lnTo>
                      <a:pt x="665084" y="109330"/>
                    </a:lnTo>
                  </a:path>
                </a:pathLst>
              </a:custGeom>
              <a:ln w="30479">
                <a:solidFill>
                  <a:srgbClr val="000000"/>
                </a:solidFill>
              </a:ln>
            </p:spPr>
            <p:txBody>
              <a:bodyPr wrap="square" lIns="0" tIns="0" rIns="0" bIns="0" rtlCol="0"/>
              <a:lstStyle/>
              <a:p>
                <a:endParaRPr sz="1588"/>
              </a:p>
            </p:txBody>
          </p:sp>
          <p:sp>
            <p:nvSpPr>
              <p:cNvPr id="63" name="object 63"/>
              <p:cNvSpPr/>
              <p:nvPr/>
            </p:nvSpPr>
            <p:spPr>
              <a:xfrm>
                <a:off x="4128888" y="3555208"/>
                <a:ext cx="408940" cy="220979"/>
              </a:xfrm>
              <a:custGeom>
                <a:avLst/>
                <a:gdLst/>
                <a:ahLst/>
                <a:cxnLst/>
                <a:rect l="l" t="t" r="r" b="b"/>
                <a:pathLst>
                  <a:path w="408939" h="220979">
                    <a:moveTo>
                      <a:pt x="210063" y="220630"/>
                    </a:moveTo>
                    <a:lnTo>
                      <a:pt x="408908" y="220630"/>
                    </a:lnTo>
                  </a:path>
                  <a:path w="408939" h="220979">
                    <a:moveTo>
                      <a:pt x="0" y="220630"/>
                    </a:moveTo>
                    <a:lnTo>
                      <a:pt x="123038" y="220630"/>
                    </a:lnTo>
                  </a:path>
                  <a:path w="408939" h="220979">
                    <a:moveTo>
                      <a:pt x="210063" y="0"/>
                    </a:moveTo>
                    <a:lnTo>
                      <a:pt x="406962" y="0"/>
                    </a:lnTo>
                  </a:path>
                  <a:path w="408939" h="220979">
                    <a:moveTo>
                      <a:pt x="0" y="0"/>
                    </a:moveTo>
                    <a:lnTo>
                      <a:pt x="123038" y="0"/>
                    </a:lnTo>
                  </a:path>
                </a:pathLst>
              </a:custGeom>
              <a:ln w="30481">
                <a:solidFill>
                  <a:srgbClr val="000000"/>
                </a:solidFill>
              </a:ln>
            </p:spPr>
            <p:txBody>
              <a:bodyPr wrap="square" lIns="0" tIns="0" rIns="0" bIns="0" rtlCol="0"/>
              <a:lstStyle/>
              <a:p>
                <a:endParaRPr sz="1588"/>
              </a:p>
            </p:txBody>
          </p:sp>
        </p:grpSp>
        <p:sp>
          <p:nvSpPr>
            <p:cNvPr id="64" name="object 64"/>
            <p:cNvSpPr txBox="1"/>
            <p:nvPr/>
          </p:nvSpPr>
          <p:spPr>
            <a:xfrm>
              <a:off x="3395883" y="3072983"/>
              <a:ext cx="382121" cy="215609"/>
            </a:xfrm>
            <a:prstGeom prst="rect">
              <a:avLst/>
            </a:prstGeom>
            <a:ln w="30479">
              <a:solidFill>
                <a:srgbClr val="000000"/>
              </a:solidFill>
            </a:ln>
          </p:spPr>
          <p:txBody>
            <a:bodyPr vert="horz" wrap="square" lIns="0" tIns="52107" rIns="0" bIns="0" rtlCol="0">
              <a:spAutoFit/>
            </a:bodyPr>
            <a:lstStyle/>
            <a:p>
              <a:pPr marL="26896">
                <a:spcBef>
                  <a:spcPts val="410"/>
                </a:spcBef>
              </a:pPr>
              <a:r>
                <a:rPr sz="1059" b="1" spc="-9" dirty="0">
                  <a:latin typeface="Times New Roman"/>
                  <a:cs typeface="Times New Roman"/>
                </a:rPr>
                <a:t>Ifetch</a:t>
              </a:r>
              <a:endParaRPr sz="1059">
                <a:latin typeface="Times New Roman"/>
                <a:cs typeface="Times New Roman"/>
              </a:endParaRPr>
            </a:p>
          </p:txBody>
        </p:sp>
        <p:grpSp>
          <p:nvGrpSpPr>
            <p:cNvPr id="65" name="object 65"/>
            <p:cNvGrpSpPr/>
            <p:nvPr/>
          </p:nvGrpSpPr>
          <p:grpSpPr>
            <a:xfrm>
              <a:off x="3872724" y="2913531"/>
              <a:ext cx="2755526" cy="640416"/>
              <a:chOff x="4236687" y="3302001"/>
              <a:chExt cx="3122930" cy="725805"/>
            </a:xfrm>
          </p:grpSpPr>
          <p:sp>
            <p:nvSpPr>
              <p:cNvPr id="66" name="object 66"/>
              <p:cNvSpPr/>
              <p:nvPr/>
            </p:nvSpPr>
            <p:spPr>
              <a:xfrm>
                <a:off x="5048436" y="3317241"/>
                <a:ext cx="87630" cy="695325"/>
              </a:xfrm>
              <a:custGeom>
                <a:avLst/>
                <a:gdLst/>
                <a:ahLst/>
                <a:cxnLst/>
                <a:rect l="l" t="t" r="r" b="b"/>
                <a:pathLst>
                  <a:path w="87629" h="695325">
                    <a:moveTo>
                      <a:pt x="87024" y="0"/>
                    </a:moveTo>
                    <a:lnTo>
                      <a:pt x="0" y="0"/>
                    </a:lnTo>
                    <a:lnTo>
                      <a:pt x="0" y="694987"/>
                    </a:lnTo>
                    <a:lnTo>
                      <a:pt x="87024" y="694987"/>
                    </a:lnTo>
                    <a:lnTo>
                      <a:pt x="87024" y="0"/>
                    </a:lnTo>
                    <a:close/>
                  </a:path>
                </a:pathLst>
              </a:custGeom>
              <a:solidFill>
                <a:srgbClr val="00FF00"/>
              </a:solidFill>
            </p:spPr>
            <p:txBody>
              <a:bodyPr wrap="square" lIns="0" tIns="0" rIns="0" bIns="0" rtlCol="0"/>
              <a:lstStyle/>
              <a:p>
                <a:endParaRPr sz="1588"/>
              </a:p>
            </p:txBody>
          </p:sp>
          <p:sp>
            <p:nvSpPr>
              <p:cNvPr id="67" name="object 67"/>
              <p:cNvSpPr/>
              <p:nvPr/>
            </p:nvSpPr>
            <p:spPr>
              <a:xfrm>
                <a:off x="5048436" y="3317241"/>
                <a:ext cx="87630" cy="695325"/>
              </a:xfrm>
              <a:custGeom>
                <a:avLst/>
                <a:gdLst/>
                <a:ahLst/>
                <a:cxnLst/>
                <a:rect l="l" t="t" r="r" b="b"/>
                <a:pathLst>
                  <a:path w="87629" h="695325">
                    <a:moveTo>
                      <a:pt x="0" y="0"/>
                    </a:moveTo>
                    <a:lnTo>
                      <a:pt x="87023" y="0"/>
                    </a:lnTo>
                    <a:lnTo>
                      <a:pt x="8702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68" name="object 68"/>
              <p:cNvSpPr/>
              <p:nvPr/>
            </p:nvSpPr>
            <p:spPr>
              <a:xfrm>
                <a:off x="6726061" y="3317241"/>
                <a:ext cx="87630" cy="695325"/>
              </a:xfrm>
              <a:custGeom>
                <a:avLst/>
                <a:gdLst/>
                <a:ahLst/>
                <a:cxnLst/>
                <a:rect l="l" t="t" r="r" b="b"/>
                <a:pathLst>
                  <a:path w="87629" h="695325">
                    <a:moveTo>
                      <a:pt x="87024" y="0"/>
                    </a:moveTo>
                    <a:lnTo>
                      <a:pt x="0" y="0"/>
                    </a:lnTo>
                    <a:lnTo>
                      <a:pt x="0" y="694987"/>
                    </a:lnTo>
                    <a:lnTo>
                      <a:pt x="87024" y="694987"/>
                    </a:lnTo>
                    <a:lnTo>
                      <a:pt x="87024" y="0"/>
                    </a:lnTo>
                    <a:close/>
                  </a:path>
                </a:pathLst>
              </a:custGeom>
              <a:solidFill>
                <a:srgbClr val="00FF00"/>
              </a:solidFill>
            </p:spPr>
            <p:txBody>
              <a:bodyPr wrap="square" lIns="0" tIns="0" rIns="0" bIns="0" rtlCol="0"/>
              <a:lstStyle/>
              <a:p>
                <a:endParaRPr sz="1588"/>
              </a:p>
            </p:txBody>
          </p:sp>
          <p:sp>
            <p:nvSpPr>
              <p:cNvPr id="69" name="object 69"/>
              <p:cNvSpPr/>
              <p:nvPr/>
            </p:nvSpPr>
            <p:spPr>
              <a:xfrm>
                <a:off x="6726061" y="3317241"/>
                <a:ext cx="87630" cy="695325"/>
              </a:xfrm>
              <a:custGeom>
                <a:avLst/>
                <a:gdLst/>
                <a:ahLst/>
                <a:cxnLst/>
                <a:rect l="l" t="t" r="r" b="b"/>
                <a:pathLst>
                  <a:path w="87629" h="695325">
                    <a:moveTo>
                      <a:pt x="0" y="0"/>
                    </a:moveTo>
                    <a:lnTo>
                      <a:pt x="87023" y="0"/>
                    </a:lnTo>
                    <a:lnTo>
                      <a:pt x="8702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70" name="object 70"/>
              <p:cNvSpPr/>
              <p:nvPr/>
            </p:nvSpPr>
            <p:spPr>
              <a:xfrm>
                <a:off x="4251927" y="3317241"/>
                <a:ext cx="87630" cy="695325"/>
              </a:xfrm>
              <a:custGeom>
                <a:avLst/>
                <a:gdLst/>
                <a:ahLst/>
                <a:cxnLst/>
                <a:rect l="l" t="t" r="r" b="b"/>
                <a:pathLst>
                  <a:path w="87629" h="695325">
                    <a:moveTo>
                      <a:pt x="87024" y="0"/>
                    </a:moveTo>
                    <a:lnTo>
                      <a:pt x="0" y="0"/>
                    </a:lnTo>
                    <a:lnTo>
                      <a:pt x="0" y="694987"/>
                    </a:lnTo>
                    <a:lnTo>
                      <a:pt x="87024" y="694987"/>
                    </a:lnTo>
                    <a:lnTo>
                      <a:pt x="87024" y="0"/>
                    </a:lnTo>
                    <a:close/>
                  </a:path>
                </a:pathLst>
              </a:custGeom>
              <a:solidFill>
                <a:srgbClr val="00FF00"/>
              </a:solidFill>
            </p:spPr>
            <p:txBody>
              <a:bodyPr wrap="square" lIns="0" tIns="0" rIns="0" bIns="0" rtlCol="0"/>
              <a:lstStyle/>
              <a:p>
                <a:endParaRPr sz="1588"/>
              </a:p>
            </p:txBody>
          </p:sp>
          <p:sp>
            <p:nvSpPr>
              <p:cNvPr id="71" name="object 71"/>
              <p:cNvSpPr/>
              <p:nvPr/>
            </p:nvSpPr>
            <p:spPr>
              <a:xfrm>
                <a:off x="4251927" y="3317241"/>
                <a:ext cx="87630" cy="695325"/>
              </a:xfrm>
              <a:custGeom>
                <a:avLst/>
                <a:gdLst/>
                <a:ahLst/>
                <a:cxnLst/>
                <a:rect l="l" t="t" r="r" b="b"/>
                <a:pathLst>
                  <a:path w="87629" h="695325">
                    <a:moveTo>
                      <a:pt x="0" y="0"/>
                    </a:moveTo>
                    <a:lnTo>
                      <a:pt x="87023" y="0"/>
                    </a:lnTo>
                    <a:lnTo>
                      <a:pt x="87023"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72" name="object 72"/>
              <p:cNvSpPr/>
              <p:nvPr/>
            </p:nvSpPr>
            <p:spPr>
              <a:xfrm>
                <a:off x="5850990" y="3321322"/>
                <a:ext cx="86360" cy="685800"/>
              </a:xfrm>
              <a:custGeom>
                <a:avLst/>
                <a:gdLst/>
                <a:ahLst/>
                <a:cxnLst/>
                <a:rect l="l" t="t" r="r" b="b"/>
                <a:pathLst>
                  <a:path w="86360" h="685800">
                    <a:moveTo>
                      <a:pt x="85815" y="0"/>
                    </a:moveTo>
                    <a:lnTo>
                      <a:pt x="0" y="0"/>
                    </a:lnTo>
                    <a:lnTo>
                      <a:pt x="0" y="685802"/>
                    </a:lnTo>
                    <a:lnTo>
                      <a:pt x="85815" y="685802"/>
                    </a:lnTo>
                    <a:lnTo>
                      <a:pt x="85815" y="0"/>
                    </a:lnTo>
                    <a:close/>
                  </a:path>
                </a:pathLst>
              </a:custGeom>
              <a:solidFill>
                <a:srgbClr val="00FF00"/>
              </a:solidFill>
            </p:spPr>
            <p:txBody>
              <a:bodyPr wrap="square" lIns="0" tIns="0" rIns="0" bIns="0" rtlCol="0"/>
              <a:lstStyle/>
              <a:p>
                <a:endParaRPr sz="1588"/>
              </a:p>
            </p:txBody>
          </p:sp>
          <p:sp>
            <p:nvSpPr>
              <p:cNvPr id="73" name="object 73"/>
              <p:cNvSpPr/>
              <p:nvPr/>
            </p:nvSpPr>
            <p:spPr>
              <a:xfrm>
                <a:off x="5850990" y="3321322"/>
                <a:ext cx="86360" cy="685800"/>
              </a:xfrm>
              <a:custGeom>
                <a:avLst/>
                <a:gdLst/>
                <a:ahLst/>
                <a:cxnLst/>
                <a:rect l="l" t="t" r="r" b="b"/>
                <a:pathLst>
                  <a:path w="86360" h="685800">
                    <a:moveTo>
                      <a:pt x="0" y="0"/>
                    </a:moveTo>
                    <a:lnTo>
                      <a:pt x="85815" y="0"/>
                    </a:lnTo>
                    <a:lnTo>
                      <a:pt x="85815"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74" name="object 74"/>
              <p:cNvSpPr/>
              <p:nvPr/>
            </p:nvSpPr>
            <p:spPr>
              <a:xfrm>
                <a:off x="6910320" y="3468530"/>
                <a:ext cx="217170" cy="363220"/>
              </a:xfrm>
              <a:custGeom>
                <a:avLst/>
                <a:gdLst/>
                <a:ahLst/>
                <a:cxnLst/>
                <a:rect l="l" t="t" r="r" b="b"/>
                <a:pathLst>
                  <a:path w="217170" h="363220">
                    <a:moveTo>
                      <a:pt x="216833" y="0"/>
                    </a:moveTo>
                    <a:lnTo>
                      <a:pt x="0" y="0"/>
                    </a:lnTo>
                    <a:lnTo>
                      <a:pt x="0" y="362942"/>
                    </a:lnTo>
                    <a:lnTo>
                      <a:pt x="216833" y="362942"/>
                    </a:lnTo>
                    <a:lnTo>
                      <a:pt x="216833" y="0"/>
                    </a:lnTo>
                    <a:close/>
                  </a:path>
                </a:pathLst>
              </a:custGeom>
              <a:solidFill>
                <a:srgbClr val="0099FF"/>
              </a:solidFill>
            </p:spPr>
            <p:txBody>
              <a:bodyPr wrap="square" lIns="0" tIns="0" rIns="0" bIns="0" rtlCol="0"/>
              <a:lstStyle/>
              <a:p>
                <a:endParaRPr sz="1588"/>
              </a:p>
            </p:txBody>
          </p:sp>
          <p:sp>
            <p:nvSpPr>
              <p:cNvPr id="75" name="object 75"/>
              <p:cNvSpPr/>
              <p:nvPr/>
            </p:nvSpPr>
            <p:spPr>
              <a:xfrm>
                <a:off x="6910319" y="3468529"/>
                <a:ext cx="433705" cy="367665"/>
              </a:xfrm>
              <a:custGeom>
                <a:avLst/>
                <a:gdLst/>
                <a:ahLst/>
                <a:cxnLst/>
                <a:rect l="l" t="t" r="r" b="b"/>
                <a:pathLst>
                  <a:path w="433704" h="367664">
                    <a:moveTo>
                      <a:pt x="433666" y="0"/>
                    </a:moveTo>
                    <a:lnTo>
                      <a:pt x="0" y="0"/>
                    </a:lnTo>
                    <a:lnTo>
                      <a:pt x="0" y="367192"/>
                    </a:lnTo>
                    <a:lnTo>
                      <a:pt x="433666" y="367192"/>
                    </a:lnTo>
                    <a:lnTo>
                      <a:pt x="433666" y="0"/>
                    </a:lnTo>
                    <a:close/>
                  </a:path>
                </a:pathLst>
              </a:custGeom>
              <a:ln w="30479">
                <a:solidFill>
                  <a:srgbClr val="000000"/>
                </a:solidFill>
              </a:ln>
            </p:spPr>
            <p:txBody>
              <a:bodyPr wrap="square" lIns="0" tIns="0" rIns="0" bIns="0" rtlCol="0"/>
              <a:lstStyle/>
              <a:p>
                <a:endParaRPr sz="1588"/>
              </a:p>
            </p:txBody>
          </p:sp>
        </p:grpSp>
        <p:sp>
          <p:nvSpPr>
            <p:cNvPr id="76" name="object 76"/>
            <p:cNvSpPr txBox="1"/>
            <p:nvPr/>
          </p:nvSpPr>
          <p:spPr>
            <a:xfrm>
              <a:off x="6305299" y="310044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7" name="object 77"/>
            <p:cNvGrpSpPr/>
            <p:nvPr/>
          </p:nvGrpSpPr>
          <p:grpSpPr>
            <a:xfrm>
              <a:off x="4832714" y="3792347"/>
              <a:ext cx="406213" cy="351304"/>
              <a:chOff x="5324675" y="4297993"/>
              <a:chExt cx="460375" cy="398145"/>
            </a:xfrm>
          </p:grpSpPr>
          <p:sp>
            <p:nvSpPr>
              <p:cNvPr id="78" name="object 78"/>
              <p:cNvSpPr/>
              <p:nvPr/>
            </p:nvSpPr>
            <p:spPr>
              <a:xfrm>
                <a:off x="5554804" y="4313233"/>
                <a:ext cx="215265" cy="363220"/>
              </a:xfrm>
              <a:custGeom>
                <a:avLst/>
                <a:gdLst/>
                <a:ahLst/>
                <a:cxnLst/>
                <a:rect l="l" t="t" r="r" b="b"/>
                <a:pathLst>
                  <a:path w="215264" h="363220">
                    <a:moveTo>
                      <a:pt x="214887" y="0"/>
                    </a:moveTo>
                    <a:lnTo>
                      <a:pt x="0" y="0"/>
                    </a:lnTo>
                    <a:lnTo>
                      <a:pt x="0" y="362943"/>
                    </a:lnTo>
                    <a:lnTo>
                      <a:pt x="214887" y="362943"/>
                    </a:lnTo>
                    <a:lnTo>
                      <a:pt x="214887" y="0"/>
                    </a:lnTo>
                    <a:close/>
                  </a:path>
                </a:pathLst>
              </a:custGeom>
              <a:solidFill>
                <a:srgbClr val="0099FF"/>
              </a:solidFill>
            </p:spPr>
            <p:txBody>
              <a:bodyPr wrap="square" lIns="0" tIns="0" rIns="0" bIns="0" rtlCol="0"/>
              <a:lstStyle/>
              <a:p>
                <a:endParaRPr sz="1588"/>
              </a:p>
            </p:txBody>
          </p:sp>
          <p:sp>
            <p:nvSpPr>
              <p:cNvPr id="79" name="object 79"/>
              <p:cNvSpPr/>
              <p:nvPr/>
            </p:nvSpPr>
            <p:spPr>
              <a:xfrm>
                <a:off x="5339915" y="4313233"/>
                <a:ext cx="429895" cy="367665"/>
              </a:xfrm>
              <a:custGeom>
                <a:avLst/>
                <a:gdLst/>
                <a:ahLst/>
                <a:cxnLst/>
                <a:rect l="l" t="t" r="r" b="b"/>
                <a:pathLst>
                  <a:path w="429895" h="367664">
                    <a:moveTo>
                      <a:pt x="0" y="0"/>
                    </a:moveTo>
                    <a:lnTo>
                      <a:pt x="429777" y="0"/>
                    </a:lnTo>
                    <a:lnTo>
                      <a:pt x="429777"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80" name="object 80"/>
            <p:cNvSpPr txBox="1"/>
            <p:nvPr/>
          </p:nvSpPr>
          <p:spPr>
            <a:xfrm>
              <a:off x="4916325" y="3845411"/>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81" name="object 81"/>
            <p:cNvGrpSpPr/>
            <p:nvPr/>
          </p:nvGrpSpPr>
          <p:grpSpPr>
            <a:xfrm>
              <a:off x="5213645" y="3696065"/>
              <a:ext cx="712134" cy="542925"/>
              <a:chOff x="5756397" y="4188873"/>
              <a:chExt cx="807085" cy="615315"/>
            </a:xfrm>
          </p:grpSpPr>
          <p:sp>
            <p:nvSpPr>
              <p:cNvPr id="82" name="object 82"/>
              <p:cNvSpPr/>
              <p:nvPr/>
            </p:nvSpPr>
            <p:spPr>
              <a:xfrm>
                <a:off x="5771637" y="4387302"/>
                <a:ext cx="474980" cy="219075"/>
              </a:xfrm>
              <a:custGeom>
                <a:avLst/>
                <a:gdLst/>
                <a:ahLst/>
                <a:cxnLst/>
                <a:rect l="l" t="t" r="r" b="b"/>
                <a:pathLst>
                  <a:path w="474979" h="219075">
                    <a:moveTo>
                      <a:pt x="165055" y="0"/>
                    </a:moveTo>
                    <a:lnTo>
                      <a:pt x="474504" y="0"/>
                    </a:lnTo>
                  </a:path>
                  <a:path w="474979" h="219075">
                    <a:moveTo>
                      <a:pt x="0" y="0"/>
                    </a:moveTo>
                    <a:lnTo>
                      <a:pt x="78139" y="0"/>
                    </a:lnTo>
                  </a:path>
                  <a:path w="474979" h="219075">
                    <a:moveTo>
                      <a:pt x="165055" y="219055"/>
                    </a:moveTo>
                    <a:lnTo>
                      <a:pt x="474504" y="219055"/>
                    </a:lnTo>
                  </a:path>
                  <a:path w="474979" h="219075">
                    <a:moveTo>
                      <a:pt x="0" y="219055"/>
                    </a:moveTo>
                    <a:lnTo>
                      <a:pt x="78139" y="219055"/>
                    </a:lnTo>
                  </a:path>
                </a:pathLst>
              </a:custGeom>
              <a:ln w="30481">
                <a:solidFill>
                  <a:srgbClr val="000000"/>
                </a:solidFill>
              </a:ln>
            </p:spPr>
            <p:txBody>
              <a:bodyPr wrap="square" lIns="0" tIns="0" rIns="0" bIns="0" rtlCol="0"/>
              <a:lstStyle/>
              <a:p>
                <a:endParaRPr sz="1588"/>
              </a:p>
            </p:txBody>
          </p:sp>
          <p:sp>
            <p:nvSpPr>
              <p:cNvPr id="83" name="object 83"/>
              <p:cNvSpPr/>
              <p:nvPr/>
            </p:nvSpPr>
            <p:spPr>
              <a:xfrm>
                <a:off x="6184830" y="4204112"/>
                <a:ext cx="363855" cy="584835"/>
              </a:xfrm>
              <a:custGeom>
                <a:avLst/>
                <a:gdLst/>
                <a:ahLst/>
                <a:cxnLst/>
                <a:rect l="l" t="t" r="r" b="b"/>
                <a:pathLst>
                  <a:path w="363854" h="584835">
                    <a:moveTo>
                      <a:pt x="0" y="0"/>
                    </a:moveTo>
                    <a:lnTo>
                      <a:pt x="0" y="584672"/>
                    </a:lnTo>
                    <a:lnTo>
                      <a:pt x="363278" y="438504"/>
                    </a:lnTo>
                    <a:lnTo>
                      <a:pt x="363278" y="146168"/>
                    </a:lnTo>
                    <a:lnTo>
                      <a:pt x="0" y="0"/>
                    </a:lnTo>
                    <a:close/>
                  </a:path>
                </a:pathLst>
              </a:custGeom>
              <a:solidFill>
                <a:srgbClr val="FFFFFF"/>
              </a:solidFill>
            </p:spPr>
            <p:txBody>
              <a:bodyPr wrap="square" lIns="0" tIns="0" rIns="0" bIns="0" rtlCol="0"/>
              <a:lstStyle/>
              <a:p>
                <a:endParaRPr sz="1588"/>
              </a:p>
            </p:txBody>
          </p:sp>
          <p:sp>
            <p:nvSpPr>
              <p:cNvPr id="84" name="object 84"/>
              <p:cNvSpPr/>
              <p:nvPr/>
            </p:nvSpPr>
            <p:spPr>
              <a:xfrm>
                <a:off x="6184830" y="4204113"/>
                <a:ext cx="363855" cy="584835"/>
              </a:xfrm>
              <a:custGeom>
                <a:avLst/>
                <a:gdLst/>
                <a:ahLst/>
                <a:cxnLst/>
                <a:rect l="l" t="t" r="r" b="b"/>
                <a:pathLst>
                  <a:path w="363854" h="584835">
                    <a:moveTo>
                      <a:pt x="0" y="584671"/>
                    </a:moveTo>
                    <a:lnTo>
                      <a:pt x="363277" y="438503"/>
                    </a:lnTo>
                    <a:lnTo>
                      <a:pt x="363277"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85" name="object 85"/>
              <p:cNvSpPr/>
              <p:nvPr/>
            </p:nvSpPr>
            <p:spPr>
              <a:xfrm>
                <a:off x="6160575" y="4402429"/>
                <a:ext cx="194310" cy="189230"/>
              </a:xfrm>
              <a:custGeom>
                <a:avLst/>
                <a:gdLst/>
                <a:ahLst/>
                <a:cxnLst/>
                <a:rect l="l" t="t" r="r" b="b"/>
                <a:pathLst>
                  <a:path w="194310" h="189229">
                    <a:moveTo>
                      <a:pt x="0" y="0"/>
                    </a:moveTo>
                    <a:lnTo>
                      <a:pt x="0" y="188799"/>
                    </a:lnTo>
                    <a:lnTo>
                      <a:pt x="194035" y="94399"/>
                    </a:lnTo>
                    <a:lnTo>
                      <a:pt x="0" y="0"/>
                    </a:lnTo>
                    <a:close/>
                  </a:path>
                </a:pathLst>
              </a:custGeom>
              <a:solidFill>
                <a:srgbClr val="FFFFFF"/>
              </a:solidFill>
            </p:spPr>
            <p:txBody>
              <a:bodyPr wrap="square" lIns="0" tIns="0" rIns="0" bIns="0" rtlCol="0"/>
              <a:lstStyle/>
              <a:p>
                <a:endParaRPr sz="1588"/>
              </a:p>
            </p:txBody>
          </p:sp>
          <p:sp>
            <p:nvSpPr>
              <p:cNvPr id="86" name="object 86"/>
              <p:cNvSpPr/>
              <p:nvPr/>
            </p:nvSpPr>
            <p:spPr>
              <a:xfrm>
                <a:off x="6184831" y="4413468"/>
                <a:ext cx="149860" cy="166370"/>
              </a:xfrm>
              <a:custGeom>
                <a:avLst/>
                <a:gdLst/>
                <a:ahLst/>
                <a:cxnLst/>
                <a:rect l="l" t="t" r="r" b="b"/>
                <a:pathLst>
                  <a:path w="149860" h="166370">
                    <a:moveTo>
                      <a:pt x="0" y="0"/>
                    </a:moveTo>
                    <a:lnTo>
                      <a:pt x="149838" y="82980"/>
                    </a:lnTo>
                    <a:lnTo>
                      <a:pt x="0" y="165961"/>
                    </a:lnTo>
                  </a:path>
                </a:pathLst>
              </a:custGeom>
              <a:ln w="30479">
                <a:solidFill>
                  <a:srgbClr val="000000"/>
                </a:solidFill>
              </a:ln>
            </p:spPr>
            <p:txBody>
              <a:bodyPr wrap="square" lIns="0" tIns="0" rIns="0" bIns="0" rtlCol="0"/>
              <a:lstStyle/>
              <a:p>
                <a:endParaRPr sz="1588"/>
              </a:p>
            </p:txBody>
          </p:sp>
        </p:grpSp>
        <p:sp>
          <p:nvSpPr>
            <p:cNvPr id="87" name="object 87"/>
            <p:cNvSpPr txBox="1"/>
            <p:nvPr/>
          </p:nvSpPr>
          <p:spPr>
            <a:xfrm>
              <a:off x="5708709" y="380660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88" name="object 88"/>
            <p:cNvGrpSpPr/>
            <p:nvPr/>
          </p:nvGrpSpPr>
          <p:grpSpPr>
            <a:xfrm>
              <a:off x="5901722" y="3793736"/>
              <a:ext cx="1051672" cy="349624"/>
              <a:chOff x="6536218" y="4299568"/>
              <a:chExt cx="1191895" cy="396240"/>
            </a:xfrm>
          </p:grpSpPr>
          <p:sp>
            <p:nvSpPr>
              <p:cNvPr id="89" name="object 89"/>
              <p:cNvSpPr/>
              <p:nvPr/>
            </p:nvSpPr>
            <p:spPr>
              <a:xfrm>
                <a:off x="6551458" y="4497617"/>
                <a:ext cx="1161415" cy="0"/>
              </a:xfrm>
              <a:custGeom>
                <a:avLst/>
                <a:gdLst/>
                <a:ahLst/>
                <a:cxnLst/>
                <a:rect l="l" t="t" r="r" b="b"/>
                <a:pathLst>
                  <a:path w="1161415">
                    <a:moveTo>
                      <a:pt x="0" y="0"/>
                    </a:moveTo>
                    <a:lnTo>
                      <a:pt x="172313" y="0"/>
                    </a:lnTo>
                  </a:path>
                  <a:path w="1161415">
                    <a:moveTo>
                      <a:pt x="258023" y="0"/>
                    </a:moveTo>
                    <a:lnTo>
                      <a:pt x="349730" y="0"/>
                    </a:lnTo>
                  </a:path>
                  <a:path w="1161415">
                    <a:moveTo>
                      <a:pt x="1055966" y="0"/>
                    </a:moveTo>
                    <a:lnTo>
                      <a:pt x="1160980" y="0"/>
                    </a:lnTo>
                  </a:path>
                  <a:path w="1161415">
                    <a:moveTo>
                      <a:pt x="780431" y="0"/>
                    </a:moveTo>
                    <a:lnTo>
                      <a:pt x="969050" y="0"/>
                    </a:lnTo>
                  </a:path>
                </a:pathLst>
              </a:custGeom>
              <a:ln w="30481">
                <a:solidFill>
                  <a:srgbClr val="000000"/>
                </a:solidFill>
              </a:ln>
            </p:spPr>
            <p:txBody>
              <a:bodyPr wrap="square" lIns="0" tIns="0" rIns="0" bIns="0" rtlCol="0"/>
              <a:lstStyle/>
              <a:p>
                <a:endParaRPr sz="1588"/>
              </a:p>
            </p:txBody>
          </p:sp>
          <p:sp>
            <p:nvSpPr>
              <p:cNvPr id="90" name="object 90"/>
              <p:cNvSpPr/>
              <p:nvPr/>
            </p:nvSpPr>
            <p:spPr>
              <a:xfrm>
                <a:off x="6901188" y="4314808"/>
                <a:ext cx="431165" cy="365760"/>
              </a:xfrm>
              <a:custGeom>
                <a:avLst/>
                <a:gdLst/>
                <a:ahLst/>
                <a:cxnLst/>
                <a:rect l="l" t="t" r="r" b="b"/>
                <a:pathLst>
                  <a:path w="431165" h="365760">
                    <a:moveTo>
                      <a:pt x="0" y="0"/>
                    </a:moveTo>
                    <a:lnTo>
                      <a:pt x="430700" y="0"/>
                    </a:lnTo>
                    <a:lnTo>
                      <a:pt x="430700"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91" name="object 91"/>
            <p:cNvSpPr txBox="1"/>
            <p:nvPr/>
          </p:nvSpPr>
          <p:spPr>
            <a:xfrm>
              <a:off x="6205513" y="3848099"/>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92" name="object 92"/>
            <p:cNvGrpSpPr/>
            <p:nvPr/>
          </p:nvGrpSpPr>
          <p:grpSpPr>
            <a:xfrm>
              <a:off x="4471913" y="3857701"/>
              <a:ext cx="2294404" cy="381559"/>
              <a:chOff x="4915767" y="4372061"/>
              <a:chExt cx="2600325" cy="432434"/>
            </a:xfrm>
          </p:grpSpPr>
          <p:sp>
            <p:nvSpPr>
              <p:cNvPr id="93" name="object 93"/>
              <p:cNvSpPr/>
              <p:nvPr/>
            </p:nvSpPr>
            <p:spPr>
              <a:xfrm>
                <a:off x="6854830" y="4497617"/>
                <a:ext cx="645795" cy="292100"/>
              </a:xfrm>
              <a:custGeom>
                <a:avLst/>
                <a:gdLst/>
                <a:ahLst/>
                <a:cxnLst/>
                <a:rect l="l" t="t" r="r" b="b"/>
                <a:pathLst>
                  <a:path w="645795" h="292100">
                    <a:moveTo>
                      <a:pt x="0" y="0"/>
                    </a:moveTo>
                    <a:lnTo>
                      <a:pt x="0" y="291547"/>
                    </a:lnTo>
                    <a:lnTo>
                      <a:pt x="569679" y="291547"/>
                    </a:lnTo>
                    <a:lnTo>
                      <a:pt x="569679" y="109330"/>
                    </a:lnTo>
                    <a:lnTo>
                      <a:pt x="645637" y="109330"/>
                    </a:lnTo>
                  </a:path>
                </a:pathLst>
              </a:custGeom>
              <a:ln w="30479">
                <a:solidFill>
                  <a:srgbClr val="000000"/>
                </a:solidFill>
              </a:ln>
            </p:spPr>
            <p:txBody>
              <a:bodyPr wrap="square" lIns="0" tIns="0" rIns="0" bIns="0" rtlCol="0"/>
              <a:lstStyle/>
              <a:p>
                <a:endParaRPr sz="1588"/>
              </a:p>
            </p:txBody>
          </p:sp>
          <p:sp>
            <p:nvSpPr>
              <p:cNvPr id="94" name="object 94"/>
              <p:cNvSpPr/>
              <p:nvPr/>
            </p:nvSpPr>
            <p:spPr>
              <a:xfrm>
                <a:off x="4931007" y="4387301"/>
                <a:ext cx="408940" cy="220979"/>
              </a:xfrm>
              <a:custGeom>
                <a:avLst/>
                <a:gdLst/>
                <a:ahLst/>
                <a:cxnLst/>
                <a:rect l="l" t="t" r="r" b="b"/>
                <a:pathLst>
                  <a:path w="408939" h="220979">
                    <a:moveTo>
                      <a:pt x="0" y="220632"/>
                    </a:moveTo>
                    <a:lnTo>
                      <a:pt x="117204" y="220632"/>
                    </a:lnTo>
                  </a:path>
                  <a:path w="408939" h="220979">
                    <a:moveTo>
                      <a:pt x="204120" y="220632"/>
                    </a:moveTo>
                    <a:lnTo>
                      <a:pt x="408908" y="220632"/>
                    </a:lnTo>
                  </a:path>
                  <a:path w="408939" h="220979">
                    <a:moveTo>
                      <a:pt x="204120" y="0"/>
                    </a:moveTo>
                    <a:lnTo>
                      <a:pt x="406964" y="0"/>
                    </a:lnTo>
                  </a:path>
                  <a:path w="408939" h="220979">
                    <a:moveTo>
                      <a:pt x="0" y="0"/>
                    </a:moveTo>
                    <a:lnTo>
                      <a:pt x="117204" y="0"/>
                    </a:lnTo>
                  </a:path>
                </a:pathLst>
              </a:custGeom>
              <a:ln w="30481">
                <a:solidFill>
                  <a:srgbClr val="000000"/>
                </a:solidFill>
              </a:ln>
            </p:spPr>
            <p:txBody>
              <a:bodyPr wrap="square" lIns="0" tIns="0" rIns="0" bIns="0" rtlCol="0"/>
              <a:lstStyle/>
              <a:p>
                <a:endParaRPr sz="1588"/>
              </a:p>
            </p:txBody>
          </p:sp>
        </p:grpSp>
        <p:sp>
          <p:nvSpPr>
            <p:cNvPr id="95" name="object 95"/>
            <p:cNvSpPr txBox="1"/>
            <p:nvPr/>
          </p:nvSpPr>
          <p:spPr>
            <a:xfrm>
              <a:off x="4103636" y="3807184"/>
              <a:ext cx="382121" cy="215609"/>
            </a:xfrm>
            <a:prstGeom prst="rect">
              <a:avLst/>
            </a:prstGeom>
            <a:ln w="30479">
              <a:solidFill>
                <a:srgbClr val="000000"/>
              </a:solidFill>
            </a:ln>
          </p:spPr>
          <p:txBody>
            <a:bodyPr vert="horz" wrap="square" lIns="0" tIns="52107" rIns="0" bIns="0" rtlCol="0">
              <a:spAutoFit/>
            </a:bodyPr>
            <a:lstStyle/>
            <a:p>
              <a:pPr marL="26896">
                <a:spcBef>
                  <a:spcPts val="410"/>
                </a:spcBef>
              </a:pPr>
              <a:r>
                <a:rPr sz="1059" b="1" spc="-9" dirty="0">
                  <a:latin typeface="Times New Roman"/>
                  <a:cs typeface="Times New Roman"/>
                </a:rPr>
                <a:t>Ifetch</a:t>
              </a:r>
              <a:endParaRPr sz="1059">
                <a:latin typeface="Times New Roman"/>
                <a:cs typeface="Times New Roman"/>
              </a:endParaRPr>
            </a:p>
          </p:txBody>
        </p:sp>
        <p:grpSp>
          <p:nvGrpSpPr>
            <p:cNvPr id="96" name="object 96"/>
            <p:cNvGrpSpPr/>
            <p:nvPr/>
          </p:nvGrpSpPr>
          <p:grpSpPr>
            <a:xfrm>
              <a:off x="4575328" y="3647732"/>
              <a:ext cx="2760569" cy="640416"/>
              <a:chOff x="5032971" y="4134096"/>
              <a:chExt cx="3128645" cy="725805"/>
            </a:xfrm>
          </p:grpSpPr>
          <p:sp>
            <p:nvSpPr>
              <p:cNvPr id="97" name="object 97"/>
              <p:cNvSpPr/>
              <p:nvPr/>
            </p:nvSpPr>
            <p:spPr>
              <a:xfrm>
                <a:off x="5849776" y="4149336"/>
                <a:ext cx="86995" cy="695325"/>
              </a:xfrm>
              <a:custGeom>
                <a:avLst/>
                <a:gdLst/>
                <a:ahLst/>
                <a:cxnLst/>
                <a:rect l="l" t="t" r="r" b="b"/>
                <a:pathLst>
                  <a:path w="86995" h="695325">
                    <a:moveTo>
                      <a:pt x="86916" y="0"/>
                    </a:moveTo>
                    <a:lnTo>
                      <a:pt x="0" y="0"/>
                    </a:lnTo>
                    <a:lnTo>
                      <a:pt x="0" y="694987"/>
                    </a:lnTo>
                    <a:lnTo>
                      <a:pt x="86916" y="694987"/>
                    </a:lnTo>
                    <a:lnTo>
                      <a:pt x="86916" y="0"/>
                    </a:lnTo>
                    <a:close/>
                  </a:path>
                </a:pathLst>
              </a:custGeom>
              <a:solidFill>
                <a:srgbClr val="00FF00"/>
              </a:solidFill>
            </p:spPr>
            <p:txBody>
              <a:bodyPr wrap="square" lIns="0" tIns="0" rIns="0" bIns="0" rtlCol="0"/>
              <a:lstStyle/>
              <a:p>
                <a:endParaRPr sz="1588"/>
              </a:p>
            </p:txBody>
          </p:sp>
          <p:sp>
            <p:nvSpPr>
              <p:cNvPr id="98" name="object 98"/>
              <p:cNvSpPr/>
              <p:nvPr/>
            </p:nvSpPr>
            <p:spPr>
              <a:xfrm>
                <a:off x="5849776" y="4149336"/>
                <a:ext cx="86995" cy="695325"/>
              </a:xfrm>
              <a:custGeom>
                <a:avLst/>
                <a:gdLst/>
                <a:ahLst/>
                <a:cxnLst/>
                <a:rect l="l" t="t" r="r" b="b"/>
                <a:pathLst>
                  <a:path w="86995" h="695325">
                    <a:moveTo>
                      <a:pt x="0" y="0"/>
                    </a:moveTo>
                    <a:lnTo>
                      <a:pt x="86916" y="0"/>
                    </a:lnTo>
                    <a:lnTo>
                      <a:pt x="8691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99" name="object 99"/>
              <p:cNvSpPr/>
              <p:nvPr/>
            </p:nvSpPr>
            <p:spPr>
              <a:xfrm>
                <a:off x="7520509" y="4149336"/>
                <a:ext cx="86995" cy="695325"/>
              </a:xfrm>
              <a:custGeom>
                <a:avLst/>
                <a:gdLst/>
                <a:ahLst/>
                <a:cxnLst/>
                <a:rect l="l" t="t" r="r" b="b"/>
                <a:pathLst>
                  <a:path w="86995" h="695325">
                    <a:moveTo>
                      <a:pt x="86916" y="0"/>
                    </a:moveTo>
                    <a:lnTo>
                      <a:pt x="0" y="0"/>
                    </a:lnTo>
                    <a:lnTo>
                      <a:pt x="0" y="694987"/>
                    </a:lnTo>
                    <a:lnTo>
                      <a:pt x="86916" y="694987"/>
                    </a:lnTo>
                    <a:lnTo>
                      <a:pt x="86916" y="0"/>
                    </a:lnTo>
                    <a:close/>
                  </a:path>
                </a:pathLst>
              </a:custGeom>
              <a:solidFill>
                <a:srgbClr val="00FF00"/>
              </a:solidFill>
            </p:spPr>
            <p:txBody>
              <a:bodyPr wrap="square" lIns="0" tIns="0" rIns="0" bIns="0" rtlCol="0"/>
              <a:lstStyle/>
              <a:p>
                <a:endParaRPr sz="1588"/>
              </a:p>
            </p:txBody>
          </p:sp>
          <p:sp>
            <p:nvSpPr>
              <p:cNvPr id="100" name="object 100"/>
              <p:cNvSpPr/>
              <p:nvPr/>
            </p:nvSpPr>
            <p:spPr>
              <a:xfrm>
                <a:off x="7520509" y="4149336"/>
                <a:ext cx="86995" cy="695325"/>
              </a:xfrm>
              <a:custGeom>
                <a:avLst/>
                <a:gdLst/>
                <a:ahLst/>
                <a:cxnLst/>
                <a:rect l="l" t="t" r="r" b="b"/>
                <a:pathLst>
                  <a:path w="86995" h="695325">
                    <a:moveTo>
                      <a:pt x="0" y="0"/>
                    </a:moveTo>
                    <a:lnTo>
                      <a:pt x="86916" y="0"/>
                    </a:lnTo>
                    <a:lnTo>
                      <a:pt x="8691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01" name="object 101"/>
              <p:cNvSpPr/>
              <p:nvPr/>
            </p:nvSpPr>
            <p:spPr>
              <a:xfrm>
                <a:off x="5048211" y="4149336"/>
                <a:ext cx="86995" cy="695325"/>
              </a:xfrm>
              <a:custGeom>
                <a:avLst/>
                <a:gdLst/>
                <a:ahLst/>
                <a:cxnLst/>
                <a:rect l="l" t="t" r="r" b="b"/>
                <a:pathLst>
                  <a:path w="86995" h="695325">
                    <a:moveTo>
                      <a:pt x="86916" y="0"/>
                    </a:moveTo>
                    <a:lnTo>
                      <a:pt x="0" y="0"/>
                    </a:lnTo>
                    <a:lnTo>
                      <a:pt x="0" y="694987"/>
                    </a:lnTo>
                    <a:lnTo>
                      <a:pt x="86916" y="694987"/>
                    </a:lnTo>
                    <a:lnTo>
                      <a:pt x="86916" y="0"/>
                    </a:lnTo>
                    <a:close/>
                  </a:path>
                </a:pathLst>
              </a:custGeom>
              <a:solidFill>
                <a:srgbClr val="00FF00"/>
              </a:solidFill>
            </p:spPr>
            <p:txBody>
              <a:bodyPr wrap="square" lIns="0" tIns="0" rIns="0" bIns="0" rtlCol="0"/>
              <a:lstStyle/>
              <a:p>
                <a:endParaRPr sz="1588"/>
              </a:p>
            </p:txBody>
          </p:sp>
          <p:sp>
            <p:nvSpPr>
              <p:cNvPr id="102" name="object 102"/>
              <p:cNvSpPr/>
              <p:nvPr/>
            </p:nvSpPr>
            <p:spPr>
              <a:xfrm>
                <a:off x="5048211" y="4149336"/>
                <a:ext cx="86995" cy="695325"/>
              </a:xfrm>
              <a:custGeom>
                <a:avLst/>
                <a:gdLst/>
                <a:ahLst/>
                <a:cxnLst/>
                <a:rect l="l" t="t" r="r" b="b"/>
                <a:pathLst>
                  <a:path w="86995" h="695325">
                    <a:moveTo>
                      <a:pt x="0" y="0"/>
                    </a:moveTo>
                    <a:lnTo>
                      <a:pt x="86916" y="0"/>
                    </a:lnTo>
                    <a:lnTo>
                      <a:pt x="86916"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03" name="object 103"/>
              <p:cNvSpPr/>
              <p:nvPr/>
            </p:nvSpPr>
            <p:spPr>
              <a:xfrm>
                <a:off x="6723772" y="4153418"/>
                <a:ext cx="85725" cy="685800"/>
              </a:xfrm>
              <a:custGeom>
                <a:avLst/>
                <a:gdLst/>
                <a:ahLst/>
                <a:cxnLst/>
                <a:rect l="l" t="t" r="r" b="b"/>
                <a:pathLst>
                  <a:path w="85725" h="685800">
                    <a:moveTo>
                      <a:pt x="85709" y="0"/>
                    </a:moveTo>
                    <a:lnTo>
                      <a:pt x="0" y="0"/>
                    </a:lnTo>
                    <a:lnTo>
                      <a:pt x="0" y="685802"/>
                    </a:lnTo>
                    <a:lnTo>
                      <a:pt x="85709" y="685802"/>
                    </a:lnTo>
                    <a:lnTo>
                      <a:pt x="85709" y="0"/>
                    </a:lnTo>
                    <a:close/>
                  </a:path>
                </a:pathLst>
              </a:custGeom>
              <a:solidFill>
                <a:srgbClr val="00FF00"/>
              </a:solidFill>
            </p:spPr>
            <p:txBody>
              <a:bodyPr wrap="square" lIns="0" tIns="0" rIns="0" bIns="0" rtlCol="0"/>
              <a:lstStyle/>
              <a:p>
                <a:endParaRPr sz="1588"/>
              </a:p>
            </p:txBody>
          </p:sp>
          <p:sp>
            <p:nvSpPr>
              <p:cNvPr id="104" name="object 104"/>
              <p:cNvSpPr/>
              <p:nvPr/>
            </p:nvSpPr>
            <p:spPr>
              <a:xfrm>
                <a:off x="6723772" y="4153418"/>
                <a:ext cx="85725" cy="685800"/>
              </a:xfrm>
              <a:custGeom>
                <a:avLst/>
                <a:gdLst/>
                <a:ahLst/>
                <a:cxnLst/>
                <a:rect l="l" t="t" r="r" b="b"/>
                <a:pathLst>
                  <a:path w="85725" h="685800">
                    <a:moveTo>
                      <a:pt x="0" y="0"/>
                    </a:moveTo>
                    <a:lnTo>
                      <a:pt x="85709" y="0"/>
                    </a:lnTo>
                    <a:lnTo>
                      <a:pt x="85709"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05" name="object 105"/>
              <p:cNvSpPr/>
              <p:nvPr/>
            </p:nvSpPr>
            <p:spPr>
              <a:xfrm>
                <a:off x="7712439" y="4300625"/>
                <a:ext cx="217170" cy="363220"/>
              </a:xfrm>
              <a:custGeom>
                <a:avLst/>
                <a:gdLst/>
                <a:ahLst/>
                <a:cxnLst/>
                <a:rect l="l" t="t" r="r" b="b"/>
                <a:pathLst>
                  <a:path w="217170" h="363220">
                    <a:moveTo>
                      <a:pt x="216833" y="0"/>
                    </a:moveTo>
                    <a:lnTo>
                      <a:pt x="0" y="0"/>
                    </a:lnTo>
                    <a:lnTo>
                      <a:pt x="0" y="362942"/>
                    </a:lnTo>
                    <a:lnTo>
                      <a:pt x="216833" y="362942"/>
                    </a:lnTo>
                    <a:lnTo>
                      <a:pt x="216833" y="0"/>
                    </a:lnTo>
                    <a:close/>
                  </a:path>
                </a:pathLst>
              </a:custGeom>
              <a:solidFill>
                <a:srgbClr val="0099FF"/>
              </a:solidFill>
            </p:spPr>
            <p:txBody>
              <a:bodyPr wrap="square" lIns="0" tIns="0" rIns="0" bIns="0" rtlCol="0"/>
              <a:lstStyle/>
              <a:p>
                <a:endParaRPr sz="1588"/>
              </a:p>
            </p:txBody>
          </p:sp>
          <p:sp>
            <p:nvSpPr>
              <p:cNvPr id="106" name="object 106"/>
              <p:cNvSpPr/>
              <p:nvPr/>
            </p:nvSpPr>
            <p:spPr>
              <a:xfrm>
                <a:off x="7712438" y="4300625"/>
                <a:ext cx="433705" cy="367665"/>
              </a:xfrm>
              <a:custGeom>
                <a:avLst/>
                <a:gdLst/>
                <a:ahLst/>
                <a:cxnLst/>
                <a:rect l="l" t="t" r="r" b="b"/>
                <a:pathLst>
                  <a:path w="433704" h="367664">
                    <a:moveTo>
                      <a:pt x="433666" y="0"/>
                    </a:moveTo>
                    <a:lnTo>
                      <a:pt x="0" y="0"/>
                    </a:lnTo>
                    <a:lnTo>
                      <a:pt x="0" y="367192"/>
                    </a:lnTo>
                    <a:lnTo>
                      <a:pt x="433666" y="367192"/>
                    </a:lnTo>
                    <a:lnTo>
                      <a:pt x="433666" y="0"/>
                    </a:lnTo>
                    <a:close/>
                  </a:path>
                </a:pathLst>
              </a:custGeom>
              <a:ln w="30479">
                <a:solidFill>
                  <a:srgbClr val="000000"/>
                </a:solidFill>
              </a:ln>
            </p:spPr>
            <p:txBody>
              <a:bodyPr wrap="square" lIns="0" tIns="0" rIns="0" bIns="0" rtlCol="0"/>
              <a:lstStyle/>
              <a:p>
                <a:endParaRPr sz="1588"/>
              </a:p>
            </p:txBody>
          </p:sp>
        </p:grpSp>
        <p:sp>
          <p:nvSpPr>
            <p:cNvPr id="107" name="object 107"/>
            <p:cNvSpPr txBox="1"/>
            <p:nvPr/>
          </p:nvSpPr>
          <p:spPr>
            <a:xfrm>
              <a:off x="7013052" y="383465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8" name="object 108"/>
            <p:cNvGrpSpPr/>
            <p:nvPr/>
          </p:nvGrpSpPr>
          <p:grpSpPr>
            <a:xfrm>
              <a:off x="5540465" y="4526548"/>
              <a:ext cx="406213" cy="351304"/>
              <a:chOff x="6126793" y="5130087"/>
              <a:chExt cx="460375" cy="398145"/>
            </a:xfrm>
          </p:grpSpPr>
          <p:sp>
            <p:nvSpPr>
              <p:cNvPr id="109" name="object 109"/>
              <p:cNvSpPr/>
              <p:nvPr/>
            </p:nvSpPr>
            <p:spPr>
              <a:xfrm>
                <a:off x="6356922" y="5145327"/>
                <a:ext cx="215265" cy="363220"/>
              </a:xfrm>
              <a:custGeom>
                <a:avLst/>
                <a:gdLst/>
                <a:ahLst/>
                <a:cxnLst/>
                <a:rect l="l" t="t" r="r" b="b"/>
                <a:pathLst>
                  <a:path w="215265" h="363220">
                    <a:moveTo>
                      <a:pt x="214887" y="0"/>
                    </a:moveTo>
                    <a:lnTo>
                      <a:pt x="0" y="0"/>
                    </a:lnTo>
                    <a:lnTo>
                      <a:pt x="0" y="362943"/>
                    </a:lnTo>
                    <a:lnTo>
                      <a:pt x="214887" y="362943"/>
                    </a:lnTo>
                    <a:lnTo>
                      <a:pt x="214887" y="0"/>
                    </a:lnTo>
                    <a:close/>
                  </a:path>
                </a:pathLst>
              </a:custGeom>
              <a:solidFill>
                <a:srgbClr val="0099FF"/>
              </a:solidFill>
            </p:spPr>
            <p:txBody>
              <a:bodyPr wrap="square" lIns="0" tIns="0" rIns="0" bIns="0" rtlCol="0"/>
              <a:lstStyle/>
              <a:p>
                <a:endParaRPr sz="1588"/>
              </a:p>
            </p:txBody>
          </p:sp>
          <p:sp>
            <p:nvSpPr>
              <p:cNvPr id="110" name="object 110"/>
              <p:cNvSpPr/>
              <p:nvPr/>
            </p:nvSpPr>
            <p:spPr>
              <a:xfrm>
                <a:off x="6142033" y="5145327"/>
                <a:ext cx="429895" cy="367665"/>
              </a:xfrm>
              <a:custGeom>
                <a:avLst/>
                <a:gdLst/>
                <a:ahLst/>
                <a:cxnLst/>
                <a:rect l="l" t="t" r="r" b="b"/>
                <a:pathLst>
                  <a:path w="429895" h="367664">
                    <a:moveTo>
                      <a:pt x="0" y="0"/>
                    </a:moveTo>
                    <a:lnTo>
                      <a:pt x="429777" y="0"/>
                    </a:lnTo>
                    <a:lnTo>
                      <a:pt x="429777"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11" name="object 111"/>
            <p:cNvSpPr txBox="1"/>
            <p:nvPr/>
          </p:nvSpPr>
          <p:spPr>
            <a:xfrm>
              <a:off x="5624076" y="4579619"/>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12" name="object 112"/>
            <p:cNvGrpSpPr/>
            <p:nvPr/>
          </p:nvGrpSpPr>
          <p:grpSpPr>
            <a:xfrm>
              <a:off x="5921396" y="4430265"/>
              <a:ext cx="712134" cy="542925"/>
              <a:chOff x="6558515" y="5020967"/>
              <a:chExt cx="807085" cy="615315"/>
            </a:xfrm>
          </p:grpSpPr>
          <p:sp>
            <p:nvSpPr>
              <p:cNvPr id="113" name="object 113"/>
              <p:cNvSpPr/>
              <p:nvPr/>
            </p:nvSpPr>
            <p:spPr>
              <a:xfrm>
                <a:off x="6573755" y="5219395"/>
                <a:ext cx="474980" cy="219075"/>
              </a:xfrm>
              <a:custGeom>
                <a:avLst/>
                <a:gdLst/>
                <a:ahLst/>
                <a:cxnLst/>
                <a:rect l="l" t="t" r="r" b="b"/>
                <a:pathLst>
                  <a:path w="474979" h="219075">
                    <a:moveTo>
                      <a:pt x="0" y="0"/>
                    </a:moveTo>
                    <a:lnTo>
                      <a:pt x="150732" y="0"/>
                    </a:lnTo>
                  </a:path>
                  <a:path w="474979" h="219075">
                    <a:moveTo>
                      <a:pt x="237665" y="0"/>
                    </a:moveTo>
                    <a:lnTo>
                      <a:pt x="474504" y="0"/>
                    </a:lnTo>
                  </a:path>
                  <a:path w="474979" h="219075">
                    <a:moveTo>
                      <a:pt x="0" y="219055"/>
                    </a:moveTo>
                    <a:lnTo>
                      <a:pt x="150732" y="219055"/>
                    </a:lnTo>
                  </a:path>
                  <a:path w="474979" h="219075">
                    <a:moveTo>
                      <a:pt x="237665" y="219055"/>
                    </a:moveTo>
                    <a:lnTo>
                      <a:pt x="474504" y="219055"/>
                    </a:lnTo>
                  </a:path>
                </a:pathLst>
              </a:custGeom>
              <a:ln w="30481">
                <a:solidFill>
                  <a:srgbClr val="000000"/>
                </a:solidFill>
              </a:ln>
            </p:spPr>
            <p:txBody>
              <a:bodyPr wrap="square" lIns="0" tIns="0" rIns="0" bIns="0" rtlCol="0"/>
              <a:lstStyle/>
              <a:p>
                <a:endParaRPr sz="1588"/>
              </a:p>
            </p:txBody>
          </p:sp>
          <p:sp>
            <p:nvSpPr>
              <p:cNvPr id="114" name="object 114"/>
              <p:cNvSpPr/>
              <p:nvPr/>
            </p:nvSpPr>
            <p:spPr>
              <a:xfrm>
                <a:off x="6986949" y="5036206"/>
                <a:ext cx="363855" cy="584835"/>
              </a:xfrm>
              <a:custGeom>
                <a:avLst/>
                <a:gdLst/>
                <a:ahLst/>
                <a:cxnLst/>
                <a:rect l="l" t="t" r="r" b="b"/>
                <a:pathLst>
                  <a:path w="363854" h="584835">
                    <a:moveTo>
                      <a:pt x="0" y="0"/>
                    </a:moveTo>
                    <a:lnTo>
                      <a:pt x="0" y="584672"/>
                    </a:lnTo>
                    <a:lnTo>
                      <a:pt x="363277" y="438504"/>
                    </a:lnTo>
                    <a:lnTo>
                      <a:pt x="363277" y="146168"/>
                    </a:lnTo>
                    <a:lnTo>
                      <a:pt x="0" y="0"/>
                    </a:lnTo>
                    <a:close/>
                  </a:path>
                </a:pathLst>
              </a:custGeom>
              <a:solidFill>
                <a:srgbClr val="FFFFFF"/>
              </a:solidFill>
            </p:spPr>
            <p:txBody>
              <a:bodyPr wrap="square" lIns="0" tIns="0" rIns="0" bIns="0" rtlCol="0"/>
              <a:lstStyle/>
              <a:p>
                <a:endParaRPr sz="1588"/>
              </a:p>
            </p:txBody>
          </p:sp>
          <p:sp>
            <p:nvSpPr>
              <p:cNvPr id="115" name="object 115"/>
              <p:cNvSpPr/>
              <p:nvPr/>
            </p:nvSpPr>
            <p:spPr>
              <a:xfrm>
                <a:off x="6986949" y="5036207"/>
                <a:ext cx="363855" cy="584835"/>
              </a:xfrm>
              <a:custGeom>
                <a:avLst/>
                <a:gdLst/>
                <a:ahLst/>
                <a:cxnLst/>
                <a:rect l="l" t="t" r="r" b="b"/>
                <a:pathLst>
                  <a:path w="363854" h="584835">
                    <a:moveTo>
                      <a:pt x="0" y="584671"/>
                    </a:moveTo>
                    <a:lnTo>
                      <a:pt x="363277" y="438503"/>
                    </a:lnTo>
                    <a:lnTo>
                      <a:pt x="363277"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116" name="object 116"/>
              <p:cNvSpPr/>
              <p:nvPr/>
            </p:nvSpPr>
            <p:spPr>
              <a:xfrm>
                <a:off x="6962693" y="5234523"/>
                <a:ext cx="194310" cy="189230"/>
              </a:xfrm>
              <a:custGeom>
                <a:avLst/>
                <a:gdLst/>
                <a:ahLst/>
                <a:cxnLst/>
                <a:rect l="l" t="t" r="r" b="b"/>
                <a:pathLst>
                  <a:path w="194309" h="189229">
                    <a:moveTo>
                      <a:pt x="0" y="0"/>
                    </a:moveTo>
                    <a:lnTo>
                      <a:pt x="0" y="188799"/>
                    </a:lnTo>
                    <a:lnTo>
                      <a:pt x="194035" y="94399"/>
                    </a:lnTo>
                    <a:lnTo>
                      <a:pt x="0" y="0"/>
                    </a:lnTo>
                    <a:close/>
                  </a:path>
                </a:pathLst>
              </a:custGeom>
              <a:solidFill>
                <a:srgbClr val="FFFFFF"/>
              </a:solidFill>
            </p:spPr>
            <p:txBody>
              <a:bodyPr wrap="square" lIns="0" tIns="0" rIns="0" bIns="0" rtlCol="0"/>
              <a:lstStyle/>
              <a:p>
                <a:endParaRPr sz="1588"/>
              </a:p>
            </p:txBody>
          </p:sp>
          <p:sp>
            <p:nvSpPr>
              <p:cNvPr id="117" name="object 117"/>
              <p:cNvSpPr/>
              <p:nvPr/>
            </p:nvSpPr>
            <p:spPr>
              <a:xfrm>
                <a:off x="6986949" y="5245561"/>
                <a:ext cx="149860" cy="166370"/>
              </a:xfrm>
              <a:custGeom>
                <a:avLst/>
                <a:gdLst/>
                <a:ahLst/>
                <a:cxnLst/>
                <a:rect l="l" t="t" r="r" b="b"/>
                <a:pathLst>
                  <a:path w="149859" h="166370">
                    <a:moveTo>
                      <a:pt x="0" y="0"/>
                    </a:moveTo>
                    <a:lnTo>
                      <a:pt x="149838" y="82980"/>
                    </a:lnTo>
                    <a:lnTo>
                      <a:pt x="0" y="165961"/>
                    </a:lnTo>
                  </a:path>
                </a:pathLst>
              </a:custGeom>
              <a:ln w="30479">
                <a:solidFill>
                  <a:srgbClr val="000000"/>
                </a:solidFill>
              </a:ln>
            </p:spPr>
            <p:txBody>
              <a:bodyPr wrap="square" lIns="0" tIns="0" rIns="0" bIns="0" rtlCol="0"/>
              <a:lstStyle/>
              <a:p>
                <a:endParaRPr sz="1588"/>
              </a:p>
            </p:txBody>
          </p:sp>
        </p:grpSp>
        <p:sp>
          <p:nvSpPr>
            <p:cNvPr id="118" name="object 118"/>
            <p:cNvSpPr txBox="1"/>
            <p:nvPr/>
          </p:nvSpPr>
          <p:spPr>
            <a:xfrm>
              <a:off x="6416462" y="454081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19" name="object 119"/>
            <p:cNvGrpSpPr/>
            <p:nvPr/>
          </p:nvGrpSpPr>
          <p:grpSpPr>
            <a:xfrm>
              <a:off x="6609473" y="4527937"/>
              <a:ext cx="1051672" cy="349624"/>
              <a:chOff x="7338336" y="5131662"/>
              <a:chExt cx="1191895" cy="396240"/>
            </a:xfrm>
          </p:grpSpPr>
          <p:sp>
            <p:nvSpPr>
              <p:cNvPr id="120" name="object 120"/>
              <p:cNvSpPr/>
              <p:nvPr/>
            </p:nvSpPr>
            <p:spPr>
              <a:xfrm>
                <a:off x="7353576" y="5329711"/>
                <a:ext cx="1161415" cy="0"/>
              </a:xfrm>
              <a:custGeom>
                <a:avLst/>
                <a:gdLst/>
                <a:ahLst/>
                <a:cxnLst/>
                <a:rect l="l" t="t" r="r" b="b"/>
                <a:pathLst>
                  <a:path w="1161415">
                    <a:moveTo>
                      <a:pt x="0" y="0"/>
                    </a:moveTo>
                    <a:lnTo>
                      <a:pt x="167792" y="0"/>
                    </a:lnTo>
                  </a:path>
                  <a:path w="1161415">
                    <a:moveTo>
                      <a:pt x="253517" y="0"/>
                    </a:moveTo>
                    <a:lnTo>
                      <a:pt x="349731" y="0"/>
                    </a:lnTo>
                  </a:path>
                  <a:path w="1161415">
                    <a:moveTo>
                      <a:pt x="822604" y="0"/>
                    </a:moveTo>
                    <a:lnTo>
                      <a:pt x="967091" y="0"/>
                    </a:lnTo>
                  </a:path>
                  <a:path w="1161415">
                    <a:moveTo>
                      <a:pt x="1054022" y="0"/>
                    </a:moveTo>
                    <a:lnTo>
                      <a:pt x="1160980" y="0"/>
                    </a:lnTo>
                  </a:path>
                </a:pathLst>
              </a:custGeom>
              <a:ln w="30481">
                <a:solidFill>
                  <a:srgbClr val="000000"/>
                </a:solidFill>
              </a:ln>
            </p:spPr>
            <p:txBody>
              <a:bodyPr wrap="square" lIns="0" tIns="0" rIns="0" bIns="0" rtlCol="0"/>
              <a:lstStyle/>
              <a:p>
                <a:endParaRPr sz="1588"/>
              </a:p>
            </p:txBody>
          </p:sp>
          <p:sp>
            <p:nvSpPr>
              <p:cNvPr id="121" name="object 121"/>
              <p:cNvSpPr/>
              <p:nvPr/>
            </p:nvSpPr>
            <p:spPr>
              <a:xfrm>
                <a:off x="7703307" y="5146902"/>
                <a:ext cx="431165" cy="365760"/>
              </a:xfrm>
              <a:custGeom>
                <a:avLst/>
                <a:gdLst/>
                <a:ahLst/>
                <a:cxnLst/>
                <a:rect l="l" t="t" r="r" b="b"/>
                <a:pathLst>
                  <a:path w="431165" h="365760">
                    <a:moveTo>
                      <a:pt x="0" y="0"/>
                    </a:moveTo>
                    <a:lnTo>
                      <a:pt x="430700" y="0"/>
                    </a:lnTo>
                    <a:lnTo>
                      <a:pt x="430700"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22" name="object 122"/>
            <p:cNvSpPr txBox="1"/>
            <p:nvPr/>
          </p:nvSpPr>
          <p:spPr>
            <a:xfrm>
              <a:off x="6913265" y="4582309"/>
              <a:ext cx="411256"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123" name="object 123"/>
            <p:cNvGrpSpPr/>
            <p:nvPr/>
          </p:nvGrpSpPr>
          <p:grpSpPr>
            <a:xfrm>
              <a:off x="4811403" y="4527938"/>
              <a:ext cx="2662518" cy="445993"/>
              <a:chOff x="5300524" y="5131662"/>
              <a:chExt cx="3017520" cy="505459"/>
            </a:xfrm>
          </p:grpSpPr>
          <p:sp>
            <p:nvSpPr>
              <p:cNvPr id="124" name="object 124"/>
              <p:cNvSpPr/>
              <p:nvPr/>
            </p:nvSpPr>
            <p:spPr>
              <a:xfrm>
                <a:off x="7656949" y="5329711"/>
                <a:ext cx="645795" cy="292100"/>
              </a:xfrm>
              <a:custGeom>
                <a:avLst/>
                <a:gdLst/>
                <a:ahLst/>
                <a:cxnLst/>
                <a:rect l="l" t="t" r="r" b="b"/>
                <a:pathLst>
                  <a:path w="645795" h="292100">
                    <a:moveTo>
                      <a:pt x="0" y="0"/>
                    </a:moveTo>
                    <a:lnTo>
                      <a:pt x="0" y="291547"/>
                    </a:lnTo>
                    <a:lnTo>
                      <a:pt x="569679" y="291547"/>
                    </a:lnTo>
                    <a:lnTo>
                      <a:pt x="569679" y="109330"/>
                    </a:lnTo>
                    <a:lnTo>
                      <a:pt x="645637" y="109330"/>
                    </a:lnTo>
                  </a:path>
                </a:pathLst>
              </a:custGeom>
              <a:ln w="30479">
                <a:solidFill>
                  <a:srgbClr val="000000"/>
                </a:solidFill>
              </a:ln>
            </p:spPr>
            <p:txBody>
              <a:bodyPr wrap="square" lIns="0" tIns="0" rIns="0" bIns="0" rtlCol="0"/>
              <a:lstStyle/>
              <a:p>
                <a:endParaRPr sz="1588"/>
              </a:p>
            </p:txBody>
          </p:sp>
          <p:sp>
            <p:nvSpPr>
              <p:cNvPr id="125" name="object 125"/>
              <p:cNvSpPr/>
              <p:nvPr/>
            </p:nvSpPr>
            <p:spPr>
              <a:xfrm>
                <a:off x="5727763" y="5219395"/>
                <a:ext cx="414655" cy="220979"/>
              </a:xfrm>
              <a:custGeom>
                <a:avLst/>
                <a:gdLst/>
                <a:ahLst/>
                <a:cxnLst/>
                <a:rect l="l" t="t" r="r" b="b"/>
                <a:pathLst>
                  <a:path w="414654" h="220979">
                    <a:moveTo>
                      <a:pt x="0" y="220632"/>
                    </a:moveTo>
                    <a:lnTo>
                      <a:pt x="122566" y="220632"/>
                    </a:lnTo>
                  </a:path>
                  <a:path w="414654" h="220979">
                    <a:moveTo>
                      <a:pt x="209499" y="220632"/>
                    </a:moveTo>
                    <a:lnTo>
                      <a:pt x="414270" y="220632"/>
                    </a:lnTo>
                  </a:path>
                  <a:path w="414654" h="220979">
                    <a:moveTo>
                      <a:pt x="209499" y="0"/>
                    </a:moveTo>
                    <a:lnTo>
                      <a:pt x="412326" y="0"/>
                    </a:lnTo>
                  </a:path>
                  <a:path w="414654" h="220979">
                    <a:moveTo>
                      <a:pt x="0" y="0"/>
                    </a:moveTo>
                    <a:lnTo>
                      <a:pt x="122566" y="0"/>
                    </a:lnTo>
                  </a:path>
                </a:pathLst>
              </a:custGeom>
              <a:ln w="30481">
                <a:solidFill>
                  <a:srgbClr val="000000"/>
                </a:solidFill>
              </a:ln>
            </p:spPr>
            <p:txBody>
              <a:bodyPr wrap="square" lIns="0" tIns="0" rIns="0" bIns="0" rtlCol="0"/>
              <a:lstStyle/>
              <a:p>
                <a:endParaRPr sz="1588"/>
              </a:p>
            </p:txBody>
          </p:sp>
          <p:sp>
            <p:nvSpPr>
              <p:cNvPr id="126" name="object 126"/>
              <p:cNvSpPr/>
              <p:nvPr/>
            </p:nvSpPr>
            <p:spPr>
              <a:xfrm>
                <a:off x="5315764" y="5146902"/>
                <a:ext cx="412115" cy="365760"/>
              </a:xfrm>
              <a:custGeom>
                <a:avLst/>
                <a:gdLst/>
                <a:ahLst/>
                <a:cxnLst/>
                <a:rect l="l" t="t" r="r" b="b"/>
                <a:pathLst>
                  <a:path w="412114" h="365760">
                    <a:moveTo>
                      <a:pt x="0" y="0"/>
                    </a:moveTo>
                    <a:lnTo>
                      <a:pt x="411998" y="0"/>
                    </a:lnTo>
                    <a:lnTo>
                      <a:pt x="411998"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27" name="object 127"/>
            <p:cNvSpPr txBox="1"/>
            <p:nvPr/>
          </p:nvSpPr>
          <p:spPr>
            <a:xfrm>
              <a:off x="4827438" y="4582309"/>
              <a:ext cx="351304" cy="174309"/>
            </a:xfrm>
            <a:prstGeom prst="rect">
              <a:avLst/>
            </a:prstGeom>
          </p:spPr>
          <p:txBody>
            <a:bodyPr vert="horz" wrap="square" lIns="0" tIns="11206" rIns="0" bIns="0" rtlCol="0">
              <a:spAutoFit/>
            </a:bodyPr>
            <a:lstStyle/>
            <a:p>
              <a:pPr marL="11206">
                <a:spcBef>
                  <a:spcPts val="88"/>
                </a:spcBef>
              </a:pPr>
              <a:r>
                <a:rPr sz="1059" b="1" spc="-9" dirty="0">
                  <a:latin typeface="Times New Roman"/>
                  <a:cs typeface="Times New Roman"/>
                </a:rPr>
                <a:t>Ifetch</a:t>
              </a:r>
              <a:endParaRPr sz="1059">
                <a:latin typeface="Times New Roman"/>
                <a:cs typeface="Times New Roman"/>
              </a:endParaRPr>
            </a:p>
          </p:txBody>
        </p:sp>
        <p:grpSp>
          <p:nvGrpSpPr>
            <p:cNvPr id="128" name="object 128"/>
            <p:cNvGrpSpPr/>
            <p:nvPr/>
          </p:nvGrpSpPr>
          <p:grpSpPr>
            <a:xfrm>
              <a:off x="5283079" y="4381933"/>
              <a:ext cx="2760569" cy="640416"/>
              <a:chOff x="5835089" y="4966190"/>
              <a:chExt cx="3128645" cy="725805"/>
            </a:xfrm>
          </p:grpSpPr>
          <p:sp>
            <p:nvSpPr>
              <p:cNvPr id="129" name="object 129"/>
              <p:cNvSpPr/>
              <p:nvPr/>
            </p:nvSpPr>
            <p:spPr>
              <a:xfrm>
                <a:off x="6724487" y="4981430"/>
                <a:ext cx="86995" cy="695325"/>
              </a:xfrm>
              <a:custGeom>
                <a:avLst/>
                <a:gdLst/>
                <a:ahLst/>
                <a:cxnLst/>
                <a:rect l="l" t="t" r="r" b="b"/>
                <a:pathLst>
                  <a:path w="86995" h="695325">
                    <a:moveTo>
                      <a:pt x="86932" y="0"/>
                    </a:moveTo>
                    <a:lnTo>
                      <a:pt x="0" y="0"/>
                    </a:lnTo>
                    <a:lnTo>
                      <a:pt x="0" y="694987"/>
                    </a:lnTo>
                    <a:lnTo>
                      <a:pt x="86932" y="694987"/>
                    </a:lnTo>
                    <a:lnTo>
                      <a:pt x="86932" y="0"/>
                    </a:lnTo>
                    <a:close/>
                  </a:path>
                </a:pathLst>
              </a:custGeom>
              <a:solidFill>
                <a:srgbClr val="00FF00"/>
              </a:solidFill>
            </p:spPr>
            <p:txBody>
              <a:bodyPr wrap="square" lIns="0" tIns="0" rIns="0" bIns="0" rtlCol="0"/>
              <a:lstStyle/>
              <a:p>
                <a:endParaRPr sz="1588"/>
              </a:p>
            </p:txBody>
          </p:sp>
          <p:sp>
            <p:nvSpPr>
              <p:cNvPr id="130" name="object 130"/>
              <p:cNvSpPr/>
              <p:nvPr/>
            </p:nvSpPr>
            <p:spPr>
              <a:xfrm>
                <a:off x="6724487" y="4981430"/>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31" name="object 131"/>
              <p:cNvSpPr/>
              <p:nvPr/>
            </p:nvSpPr>
            <p:spPr>
              <a:xfrm>
                <a:off x="8320667" y="4981430"/>
                <a:ext cx="86995" cy="695325"/>
              </a:xfrm>
              <a:custGeom>
                <a:avLst/>
                <a:gdLst/>
                <a:ahLst/>
                <a:cxnLst/>
                <a:rect l="l" t="t" r="r" b="b"/>
                <a:pathLst>
                  <a:path w="86995" h="695325">
                    <a:moveTo>
                      <a:pt x="86931" y="0"/>
                    </a:moveTo>
                    <a:lnTo>
                      <a:pt x="0" y="0"/>
                    </a:lnTo>
                    <a:lnTo>
                      <a:pt x="0" y="694987"/>
                    </a:lnTo>
                    <a:lnTo>
                      <a:pt x="86931" y="694987"/>
                    </a:lnTo>
                    <a:lnTo>
                      <a:pt x="86931" y="0"/>
                    </a:lnTo>
                    <a:close/>
                  </a:path>
                </a:pathLst>
              </a:custGeom>
              <a:solidFill>
                <a:srgbClr val="00FF00"/>
              </a:solidFill>
            </p:spPr>
            <p:txBody>
              <a:bodyPr wrap="square" lIns="0" tIns="0" rIns="0" bIns="0" rtlCol="0"/>
              <a:lstStyle/>
              <a:p>
                <a:endParaRPr sz="1588"/>
              </a:p>
            </p:txBody>
          </p:sp>
          <p:sp>
            <p:nvSpPr>
              <p:cNvPr id="132" name="object 132"/>
              <p:cNvSpPr/>
              <p:nvPr/>
            </p:nvSpPr>
            <p:spPr>
              <a:xfrm>
                <a:off x="8320667" y="4981430"/>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33" name="object 133"/>
              <p:cNvSpPr/>
              <p:nvPr/>
            </p:nvSpPr>
            <p:spPr>
              <a:xfrm>
                <a:off x="5850329" y="4981430"/>
                <a:ext cx="86995" cy="695325"/>
              </a:xfrm>
              <a:custGeom>
                <a:avLst/>
                <a:gdLst/>
                <a:ahLst/>
                <a:cxnLst/>
                <a:rect l="l" t="t" r="r" b="b"/>
                <a:pathLst>
                  <a:path w="86995" h="695325">
                    <a:moveTo>
                      <a:pt x="86932" y="0"/>
                    </a:moveTo>
                    <a:lnTo>
                      <a:pt x="0" y="0"/>
                    </a:lnTo>
                    <a:lnTo>
                      <a:pt x="0" y="694987"/>
                    </a:lnTo>
                    <a:lnTo>
                      <a:pt x="86932" y="694987"/>
                    </a:lnTo>
                    <a:lnTo>
                      <a:pt x="86932" y="0"/>
                    </a:lnTo>
                    <a:close/>
                  </a:path>
                </a:pathLst>
              </a:custGeom>
              <a:solidFill>
                <a:srgbClr val="00FF00"/>
              </a:solidFill>
            </p:spPr>
            <p:txBody>
              <a:bodyPr wrap="square" lIns="0" tIns="0" rIns="0" bIns="0" rtlCol="0"/>
              <a:lstStyle/>
              <a:p>
                <a:endParaRPr sz="1588"/>
              </a:p>
            </p:txBody>
          </p:sp>
          <p:sp>
            <p:nvSpPr>
              <p:cNvPr id="134" name="object 134"/>
              <p:cNvSpPr/>
              <p:nvPr/>
            </p:nvSpPr>
            <p:spPr>
              <a:xfrm>
                <a:off x="5850329" y="4981430"/>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35" name="object 135"/>
              <p:cNvSpPr/>
              <p:nvPr/>
            </p:nvSpPr>
            <p:spPr>
              <a:xfrm>
                <a:off x="7521369" y="4985512"/>
                <a:ext cx="85725" cy="685800"/>
              </a:xfrm>
              <a:custGeom>
                <a:avLst/>
                <a:gdLst/>
                <a:ahLst/>
                <a:cxnLst/>
                <a:rect l="l" t="t" r="r" b="b"/>
                <a:pathLst>
                  <a:path w="85725" h="685800">
                    <a:moveTo>
                      <a:pt x="85725" y="0"/>
                    </a:moveTo>
                    <a:lnTo>
                      <a:pt x="0" y="0"/>
                    </a:lnTo>
                    <a:lnTo>
                      <a:pt x="0" y="685802"/>
                    </a:lnTo>
                    <a:lnTo>
                      <a:pt x="85725" y="685802"/>
                    </a:lnTo>
                    <a:lnTo>
                      <a:pt x="85725" y="0"/>
                    </a:lnTo>
                    <a:close/>
                  </a:path>
                </a:pathLst>
              </a:custGeom>
              <a:solidFill>
                <a:srgbClr val="00FF00"/>
              </a:solidFill>
            </p:spPr>
            <p:txBody>
              <a:bodyPr wrap="square" lIns="0" tIns="0" rIns="0" bIns="0" rtlCol="0"/>
              <a:lstStyle/>
              <a:p>
                <a:endParaRPr sz="1588"/>
              </a:p>
            </p:txBody>
          </p:sp>
          <p:sp>
            <p:nvSpPr>
              <p:cNvPr id="136" name="object 136"/>
              <p:cNvSpPr/>
              <p:nvPr/>
            </p:nvSpPr>
            <p:spPr>
              <a:xfrm>
                <a:off x="7521369" y="4985512"/>
                <a:ext cx="85725" cy="685800"/>
              </a:xfrm>
              <a:custGeom>
                <a:avLst/>
                <a:gdLst/>
                <a:ahLst/>
                <a:cxnLst/>
                <a:rect l="l" t="t" r="r" b="b"/>
                <a:pathLst>
                  <a:path w="85725" h="685800">
                    <a:moveTo>
                      <a:pt x="0" y="0"/>
                    </a:moveTo>
                    <a:lnTo>
                      <a:pt x="85724" y="0"/>
                    </a:lnTo>
                    <a:lnTo>
                      <a:pt x="85724"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37" name="object 137"/>
              <p:cNvSpPr/>
              <p:nvPr/>
            </p:nvSpPr>
            <p:spPr>
              <a:xfrm>
                <a:off x="8514557" y="5132719"/>
                <a:ext cx="217170" cy="363220"/>
              </a:xfrm>
              <a:custGeom>
                <a:avLst/>
                <a:gdLst/>
                <a:ahLst/>
                <a:cxnLst/>
                <a:rect l="l" t="t" r="r" b="b"/>
                <a:pathLst>
                  <a:path w="217170" h="363220">
                    <a:moveTo>
                      <a:pt x="216833" y="0"/>
                    </a:moveTo>
                    <a:lnTo>
                      <a:pt x="0" y="0"/>
                    </a:lnTo>
                    <a:lnTo>
                      <a:pt x="0" y="362942"/>
                    </a:lnTo>
                    <a:lnTo>
                      <a:pt x="216833" y="362942"/>
                    </a:lnTo>
                    <a:lnTo>
                      <a:pt x="216833" y="0"/>
                    </a:lnTo>
                    <a:close/>
                  </a:path>
                </a:pathLst>
              </a:custGeom>
              <a:solidFill>
                <a:srgbClr val="0099FF"/>
              </a:solidFill>
            </p:spPr>
            <p:txBody>
              <a:bodyPr wrap="square" lIns="0" tIns="0" rIns="0" bIns="0" rtlCol="0"/>
              <a:lstStyle/>
              <a:p>
                <a:endParaRPr sz="1588"/>
              </a:p>
            </p:txBody>
          </p:sp>
          <p:sp>
            <p:nvSpPr>
              <p:cNvPr id="138" name="object 138"/>
              <p:cNvSpPr/>
              <p:nvPr/>
            </p:nvSpPr>
            <p:spPr>
              <a:xfrm>
                <a:off x="8514558" y="5132719"/>
                <a:ext cx="433705" cy="367665"/>
              </a:xfrm>
              <a:custGeom>
                <a:avLst/>
                <a:gdLst/>
                <a:ahLst/>
                <a:cxnLst/>
                <a:rect l="l" t="t" r="r" b="b"/>
                <a:pathLst>
                  <a:path w="433704" h="367664">
                    <a:moveTo>
                      <a:pt x="433666" y="0"/>
                    </a:moveTo>
                    <a:lnTo>
                      <a:pt x="0" y="0"/>
                    </a:lnTo>
                    <a:lnTo>
                      <a:pt x="0" y="367192"/>
                    </a:lnTo>
                    <a:lnTo>
                      <a:pt x="433666" y="367192"/>
                    </a:lnTo>
                    <a:lnTo>
                      <a:pt x="433666" y="0"/>
                    </a:lnTo>
                    <a:close/>
                  </a:path>
                </a:pathLst>
              </a:custGeom>
              <a:ln w="30479">
                <a:solidFill>
                  <a:srgbClr val="000000"/>
                </a:solidFill>
              </a:ln>
            </p:spPr>
            <p:txBody>
              <a:bodyPr wrap="square" lIns="0" tIns="0" rIns="0" bIns="0" rtlCol="0"/>
              <a:lstStyle/>
              <a:p>
                <a:endParaRPr sz="1588"/>
              </a:p>
            </p:txBody>
          </p:sp>
        </p:grpSp>
        <p:sp>
          <p:nvSpPr>
            <p:cNvPr id="139" name="object 139"/>
            <p:cNvSpPr txBox="1"/>
            <p:nvPr/>
          </p:nvSpPr>
          <p:spPr>
            <a:xfrm>
              <a:off x="7720804" y="456886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40" name="object 140"/>
            <p:cNvSpPr txBox="1"/>
            <p:nvPr/>
          </p:nvSpPr>
          <p:spPr>
            <a:xfrm>
              <a:off x="2583038"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1</a:t>
              </a:r>
              <a:endParaRPr sz="1324">
                <a:latin typeface="Times New Roman"/>
                <a:cs typeface="Times New Roman"/>
              </a:endParaRPr>
            </a:p>
          </p:txBody>
        </p:sp>
        <p:sp>
          <p:nvSpPr>
            <p:cNvPr id="141" name="object 141"/>
            <p:cNvSpPr txBox="1"/>
            <p:nvPr/>
          </p:nvSpPr>
          <p:spPr>
            <a:xfrm>
              <a:off x="3272024"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2</a:t>
              </a:r>
              <a:endParaRPr sz="1324">
                <a:latin typeface="Times New Roman"/>
                <a:cs typeface="Times New Roman"/>
              </a:endParaRPr>
            </a:p>
          </p:txBody>
        </p:sp>
        <p:sp>
          <p:nvSpPr>
            <p:cNvPr id="142" name="object 142"/>
            <p:cNvSpPr txBox="1"/>
            <p:nvPr/>
          </p:nvSpPr>
          <p:spPr>
            <a:xfrm>
              <a:off x="4002563"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3</a:t>
              </a:r>
              <a:endParaRPr sz="1324">
                <a:latin typeface="Times New Roman"/>
                <a:cs typeface="Times New Roman"/>
              </a:endParaRPr>
            </a:p>
          </p:txBody>
        </p:sp>
        <p:sp>
          <p:nvSpPr>
            <p:cNvPr id="143" name="object 143"/>
            <p:cNvSpPr txBox="1"/>
            <p:nvPr/>
          </p:nvSpPr>
          <p:spPr>
            <a:xfrm>
              <a:off x="6183457"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6</a:t>
              </a:r>
              <a:endParaRPr sz="1324">
                <a:latin typeface="Times New Roman"/>
                <a:cs typeface="Times New Roman"/>
              </a:endParaRPr>
            </a:p>
          </p:txBody>
        </p:sp>
        <p:sp>
          <p:nvSpPr>
            <p:cNvPr id="144" name="object 144"/>
            <p:cNvSpPr txBox="1"/>
            <p:nvPr/>
          </p:nvSpPr>
          <p:spPr>
            <a:xfrm>
              <a:off x="6891879"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7</a:t>
              </a:r>
              <a:endParaRPr sz="1324">
                <a:latin typeface="Times New Roman"/>
                <a:cs typeface="Times New Roman"/>
              </a:endParaRPr>
            </a:p>
          </p:txBody>
        </p:sp>
        <p:sp>
          <p:nvSpPr>
            <p:cNvPr id="145" name="object 145"/>
            <p:cNvSpPr txBox="1"/>
            <p:nvPr/>
          </p:nvSpPr>
          <p:spPr>
            <a:xfrm>
              <a:off x="4719697" y="1829696"/>
              <a:ext cx="1240491" cy="215089"/>
            </a:xfrm>
            <a:prstGeom prst="rect">
              <a:avLst/>
            </a:prstGeom>
          </p:spPr>
          <p:txBody>
            <a:bodyPr vert="horz" wrap="square" lIns="0" tIns="11206" rIns="0" bIns="0" rtlCol="0">
              <a:spAutoFit/>
            </a:bodyPr>
            <a:lstStyle/>
            <a:p>
              <a:pPr marL="11206">
                <a:spcBef>
                  <a:spcPts val="88"/>
                </a:spcBef>
                <a:tabLst>
                  <a:tab pos="702646" algn="l"/>
                </a:tabLst>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4</a:t>
              </a:r>
              <a:r>
                <a:rPr sz="1324" b="1" dirty="0">
                  <a:latin typeface="Times New Roman"/>
                  <a:cs typeface="Times New Roman"/>
                </a:rPr>
                <a:t>	Cycle</a:t>
              </a:r>
              <a:r>
                <a:rPr sz="1324" b="1" spc="-31" dirty="0">
                  <a:latin typeface="Times New Roman"/>
                  <a:cs typeface="Times New Roman"/>
                </a:rPr>
                <a:t> </a:t>
              </a:r>
              <a:r>
                <a:rPr sz="1324" b="1" spc="-44" dirty="0">
                  <a:latin typeface="Times New Roman"/>
                  <a:cs typeface="Times New Roman"/>
                </a:rPr>
                <a:t>5</a:t>
              </a:r>
              <a:endParaRPr sz="1324">
                <a:latin typeface="Times New Roman"/>
                <a:cs typeface="Times New Roman"/>
              </a:endParaRPr>
            </a:p>
          </p:txBody>
        </p:sp>
        <p:grpSp>
          <p:nvGrpSpPr>
            <p:cNvPr id="146" name="object 146"/>
            <p:cNvGrpSpPr/>
            <p:nvPr/>
          </p:nvGrpSpPr>
          <p:grpSpPr>
            <a:xfrm>
              <a:off x="6313845" y="5258179"/>
              <a:ext cx="406213" cy="351304"/>
              <a:chOff x="7003290" y="5959269"/>
              <a:chExt cx="460375" cy="398145"/>
            </a:xfrm>
          </p:grpSpPr>
          <p:sp>
            <p:nvSpPr>
              <p:cNvPr id="147" name="object 147"/>
              <p:cNvSpPr/>
              <p:nvPr/>
            </p:nvSpPr>
            <p:spPr>
              <a:xfrm>
                <a:off x="7233418" y="5974509"/>
                <a:ext cx="215265" cy="363220"/>
              </a:xfrm>
              <a:custGeom>
                <a:avLst/>
                <a:gdLst/>
                <a:ahLst/>
                <a:cxnLst/>
                <a:rect l="l" t="t" r="r" b="b"/>
                <a:pathLst>
                  <a:path w="215265" h="363220">
                    <a:moveTo>
                      <a:pt x="214889" y="0"/>
                    </a:moveTo>
                    <a:lnTo>
                      <a:pt x="0" y="0"/>
                    </a:lnTo>
                    <a:lnTo>
                      <a:pt x="0" y="362943"/>
                    </a:lnTo>
                    <a:lnTo>
                      <a:pt x="214889" y="362943"/>
                    </a:lnTo>
                    <a:lnTo>
                      <a:pt x="214889" y="0"/>
                    </a:lnTo>
                    <a:close/>
                  </a:path>
                </a:pathLst>
              </a:custGeom>
              <a:solidFill>
                <a:srgbClr val="0099FF"/>
              </a:solidFill>
            </p:spPr>
            <p:txBody>
              <a:bodyPr wrap="square" lIns="0" tIns="0" rIns="0" bIns="0" rtlCol="0"/>
              <a:lstStyle/>
              <a:p>
                <a:endParaRPr sz="1588"/>
              </a:p>
            </p:txBody>
          </p:sp>
          <p:sp>
            <p:nvSpPr>
              <p:cNvPr id="148" name="object 148"/>
              <p:cNvSpPr/>
              <p:nvPr/>
            </p:nvSpPr>
            <p:spPr>
              <a:xfrm>
                <a:off x="7018530" y="5974509"/>
                <a:ext cx="429895" cy="367665"/>
              </a:xfrm>
              <a:custGeom>
                <a:avLst/>
                <a:gdLst/>
                <a:ahLst/>
                <a:cxnLst/>
                <a:rect l="l" t="t" r="r" b="b"/>
                <a:pathLst>
                  <a:path w="429895" h="367664">
                    <a:moveTo>
                      <a:pt x="0" y="0"/>
                    </a:moveTo>
                    <a:lnTo>
                      <a:pt x="429777" y="0"/>
                    </a:lnTo>
                    <a:lnTo>
                      <a:pt x="429777" y="367192"/>
                    </a:lnTo>
                    <a:lnTo>
                      <a:pt x="0" y="367192"/>
                    </a:lnTo>
                    <a:lnTo>
                      <a:pt x="0" y="0"/>
                    </a:lnTo>
                    <a:close/>
                  </a:path>
                </a:pathLst>
              </a:custGeom>
              <a:ln w="30479">
                <a:solidFill>
                  <a:srgbClr val="000000"/>
                </a:solidFill>
              </a:ln>
            </p:spPr>
            <p:txBody>
              <a:bodyPr wrap="square" lIns="0" tIns="0" rIns="0" bIns="0" rtlCol="0"/>
              <a:lstStyle/>
              <a:p>
                <a:endParaRPr sz="1588"/>
              </a:p>
            </p:txBody>
          </p:sp>
        </p:grpSp>
        <p:sp>
          <p:nvSpPr>
            <p:cNvPr id="149" name="object 149"/>
            <p:cNvSpPr txBox="1"/>
            <p:nvPr/>
          </p:nvSpPr>
          <p:spPr>
            <a:xfrm>
              <a:off x="6397454" y="5311139"/>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50" name="object 150"/>
            <p:cNvGrpSpPr/>
            <p:nvPr/>
          </p:nvGrpSpPr>
          <p:grpSpPr>
            <a:xfrm>
              <a:off x="6694776" y="5161896"/>
              <a:ext cx="712134" cy="542925"/>
              <a:chOff x="7435012" y="5850148"/>
              <a:chExt cx="807085" cy="615315"/>
            </a:xfrm>
          </p:grpSpPr>
          <p:sp>
            <p:nvSpPr>
              <p:cNvPr id="151" name="object 151"/>
              <p:cNvSpPr/>
              <p:nvPr/>
            </p:nvSpPr>
            <p:spPr>
              <a:xfrm>
                <a:off x="7450252" y="6048578"/>
                <a:ext cx="474980" cy="219075"/>
              </a:xfrm>
              <a:custGeom>
                <a:avLst/>
                <a:gdLst/>
                <a:ahLst/>
                <a:cxnLst/>
                <a:rect l="l" t="t" r="r" b="b"/>
                <a:pathLst>
                  <a:path w="474979" h="219075">
                    <a:moveTo>
                      <a:pt x="0" y="0"/>
                    </a:moveTo>
                    <a:lnTo>
                      <a:pt x="77078" y="0"/>
                    </a:lnTo>
                  </a:path>
                  <a:path w="474979" h="219075">
                    <a:moveTo>
                      <a:pt x="164011" y="0"/>
                    </a:moveTo>
                    <a:lnTo>
                      <a:pt x="474504" y="0"/>
                    </a:lnTo>
                  </a:path>
                  <a:path w="474979" h="219075">
                    <a:moveTo>
                      <a:pt x="0" y="219054"/>
                    </a:moveTo>
                    <a:lnTo>
                      <a:pt x="77078" y="219054"/>
                    </a:lnTo>
                  </a:path>
                  <a:path w="474979" h="219075">
                    <a:moveTo>
                      <a:pt x="164011" y="219054"/>
                    </a:moveTo>
                    <a:lnTo>
                      <a:pt x="474504" y="219054"/>
                    </a:lnTo>
                  </a:path>
                </a:pathLst>
              </a:custGeom>
              <a:ln w="30481">
                <a:solidFill>
                  <a:srgbClr val="000000"/>
                </a:solidFill>
              </a:ln>
            </p:spPr>
            <p:txBody>
              <a:bodyPr wrap="square" lIns="0" tIns="0" rIns="0" bIns="0" rtlCol="0"/>
              <a:lstStyle/>
              <a:p>
                <a:endParaRPr sz="1588"/>
              </a:p>
            </p:txBody>
          </p:sp>
          <p:sp>
            <p:nvSpPr>
              <p:cNvPr id="152" name="object 152"/>
              <p:cNvSpPr/>
              <p:nvPr/>
            </p:nvSpPr>
            <p:spPr>
              <a:xfrm>
                <a:off x="7863445" y="5865388"/>
                <a:ext cx="363855" cy="584835"/>
              </a:xfrm>
              <a:custGeom>
                <a:avLst/>
                <a:gdLst/>
                <a:ahLst/>
                <a:cxnLst/>
                <a:rect l="l" t="t" r="r" b="b"/>
                <a:pathLst>
                  <a:path w="363854" h="584835">
                    <a:moveTo>
                      <a:pt x="0" y="0"/>
                    </a:moveTo>
                    <a:lnTo>
                      <a:pt x="0" y="584672"/>
                    </a:lnTo>
                    <a:lnTo>
                      <a:pt x="363277" y="438504"/>
                    </a:lnTo>
                    <a:lnTo>
                      <a:pt x="363277" y="146168"/>
                    </a:lnTo>
                    <a:lnTo>
                      <a:pt x="0" y="0"/>
                    </a:lnTo>
                    <a:close/>
                  </a:path>
                </a:pathLst>
              </a:custGeom>
              <a:solidFill>
                <a:srgbClr val="FFFFFF"/>
              </a:solidFill>
            </p:spPr>
            <p:txBody>
              <a:bodyPr wrap="square" lIns="0" tIns="0" rIns="0" bIns="0" rtlCol="0"/>
              <a:lstStyle/>
              <a:p>
                <a:endParaRPr sz="1588"/>
              </a:p>
            </p:txBody>
          </p:sp>
          <p:sp>
            <p:nvSpPr>
              <p:cNvPr id="153" name="object 153"/>
              <p:cNvSpPr/>
              <p:nvPr/>
            </p:nvSpPr>
            <p:spPr>
              <a:xfrm>
                <a:off x="7863445" y="5865388"/>
                <a:ext cx="363855" cy="584835"/>
              </a:xfrm>
              <a:custGeom>
                <a:avLst/>
                <a:gdLst/>
                <a:ahLst/>
                <a:cxnLst/>
                <a:rect l="l" t="t" r="r" b="b"/>
                <a:pathLst>
                  <a:path w="363854" h="584835">
                    <a:moveTo>
                      <a:pt x="0" y="584671"/>
                    </a:moveTo>
                    <a:lnTo>
                      <a:pt x="363277" y="438503"/>
                    </a:lnTo>
                    <a:lnTo>
                      <a:pt x="363277" y="146167"/>
                    </a:lnTo>
                    <a:lnTo>
                      <a:pt x="0" y="0"/>
                    </a:lnTo>
                    <a:lnTo>
                      <a:pt x="0" y="584671"/>
                    </a:lnTo>
                    <a:close/>
                  </a:path>
                </a:pathLst>
              </a:custGeom>
              <a:ln w="30479">
                <a:solidFill>
                  <a:srgbClr val="000000"/>
                </a:solidFill>
              </a:ln>
            </p:spPr>
            <p:txBody>
              <a:bodyPr wrap="square" lIns="0" tIns="0" rIns="0" bIns="0" rtlCol="0"/>
              <a:lstStyle/>
              <a:p>
                <a:endParaRPr sz="1588"/>
              </a:p>
            </p:txBody>
          </p:sp>
          <p:sp>
            <p:nvSpPr>
              <p:cNvPr id="154" name="object 154"/>
              <p:cNvSpPr/>
              <p:nvPr/>
            </p:nvSpPr>
            <p:spPr>
              <a:xfrm>
                <a:off x="7839190" y="6063705"/>
                <a:ext cx="194310" cy="189230"/>
              </a:xfrm>
              <a:custGeom>
                <a:avLst/>
                <a:gdLst/>
                <a:ahLst/>
                <a:cxnLst/>
                <a:rect l="l" t="t" r="r" b="b"/>
                <a:pathLst>
                  <a:path w="194309" h="189229">
                    <a:moveTo>
                      <a:pt x="0" y="0"/>
                    </a:moveTo>
                    <a:lnTo>
                      <a:pt x="0" y="188799"/>
                    </a:lnTo>
                    <a:lnTo>
                      <a:pt x="194034" y="94400"/>
                    </a:lnTo>
                    <a:lnTo>
                      <a:pt x="0" y="0"/>
                    </a:lnTo>
                    <a:close/>
                  </a:path>
                </a:pathLst>
              </a:custGeom>
              <a:solidFill>
                <a:srgbClr val="FFFFFF"/>
              </a:solidFill>
            </p:spPr>
            <p:txBody>
              <a:bodyPr wrap="square" lIns="0" tIns="0" rIns="0" bIns="0" rtlCol="0"/>
              <a:lstStyle/>
              <a:p>
                <a:endParaRPr sz="1588"/>
              </a:p>
            </p:txBody>
          </p:sp>
          <p:sp>
            <p:nvSpPr>
              <p:cNvPr id="155" name="object 155"/>
              <p:cNvSpPr/>
              <p:nvPr/>
            </p:nvSpPr>
            <p:spPr>
              <a:xfrm>
                <a:off x="7863444" y="6074743"/>
                <a:ext cx="149860" cy="166370"/>
              </a:xfrm>
              <a:custGeom>
                <a:avLst/>
                <a:gdLst/>
                <a:ahLst/>
                <a:cxnLst/>
                <a:rect l="l" t="t" r="r" b="b"/>
                <a:pathLst>
                  <a:path w="149859" h="166370">
                    <a:moveTo>
                      <a:pt x="0" y="0"/>
                    </a:moveTo>
                    <a:lnTo>
                      <a:pt x="149838" y="82980"/>
                    </a:lnTo>
                    <a:lnTo>
                      <a:pt x="0" y="165961"/>
                    </a:lnTo>
                  </a:path>
                </a:pathLst>
              </a:custGeom>
              <a:ln w="30479">
                <a:solidFill>
                  <a:srgbClr val="000000"/>
                </a:solidFill>
              </a:ln>
            </p:spPr>
            <p:txBody>
              <a:bodyPr wrap="square" lIns="0" tIns="0" rIns="0" bIns="0" rtlCol="0"/>
              <a:lstStyle/>
              <a:p>
                <a:endParaRPr sz="1588"/>
              </a:p>
            </p:txBody>
          </p:sp>
        </p:grpSp>
        <p:sp>
          <p:nvSpPr>
            <p:cNvPr id="156" name="object 156"/>
            <p:cNvSpPr txBox="1"/>
            <p:nvPr/>
          </p:nvSpPr>
          <p:spPr>
            <a:xfrm>
              <a:off x="7189835" y="5272339"/>
              <a:ext cx="153888" cy="303679"/>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57" name="object 157"/>
            <p:cNvGrpSpPr/>
            <p:nvPr/>
          </p:nvGrpSpPr>
          <p:grpSpPr>
            <a:xfrm>
              <a:off x="7382853" y="5259567"/>
              <a:ext cx="1051672" cy="349624"/>
              <a:chOff x="8214833" y="5960843"/>
              <a:chExt cx="1191895" cy="396240"/>
            </a:xfrm>
          </p:grpSpPr>
          <p:sp>
            <p:nvSpPr>
              <p:cNvPr id="158" name="object 158"/>
              <p:cNvSpPr/>
              <p:nvPr/>
            </p:nvSpPr>
            <p:spPr>
              <a:xfrm>
                <a:off x="8230073" y="6158893"/>
                <a:ext cx="1161415" cy="0"/>
              </a:xfrm>
              <a:custGeom>
                <a:avLst/>
                <a:gdLst/>
                <a:ahLst/>
                <a:cxnLst/>
                <a:rect l="l" t="t" r="r" b="b"/>
                <a:pathLst>
                  <a:path w="1161415">
                    <a:moveTo>
                      <a:pt x="0" y="0"/>
                    </a:moveTo>
                    <a:lnTo>
                      <a:pt x="101385" y="0"/>
                    </a:lnTo>
                  </a:path>
                  <a:path w="1161415">
                    <a:moveTo>
                      <a:pt x="187110" y="0"/>
                    </a:moveTo>
                    <a:lnTo>
                      <a:pt x="349730" y="0"/>
                    </a:lnTo>
                  </a:path>
                  <a:path w="1161415">
                    <a:moveTo>
                      <a:pt x="1054022" y="0"/>
                    </a:moveTo>
                    <a:lnTo>
                      <a:pt x="1160979" y="0"/>
                    </a:lnTo>
                  </a:path>
                  <a:path w="1161415">
                    <a:moveTo>
                      <a:pt x="822603" y="0"/>
                    </a:moveTo>
                    <a:lnTo>
                      <a:pt x="967089" y="0"/>
                    </a:lnTo>
                  </a:path>
                </a:pathLst>
              </a:custGeom>
              <a:ln w="30481">
                <a:solidFill>
                  <a:srgbClr val="000000"/>
                </a:solidFill>
              </a:ln>
            </p:spPr>
            <p:txBody>
              <a:bodyPr wrap="square" lIns="0" tIns="0" rIns="0" bIns="0" rtlCol="0"/>
              <a:lstStyle/>
              <a:p>
                <a:endParaRPr sz="1588"/>
              </a:p>
            </p:txBody>
          </p:sp>
          <p:sp>
            <p:nvSpPr>
              <p:cNvPr id="159" name="object 159"/>
              <p:cNvSpPr/>
              <p:nvPr/>
            </p:nvSpPr>
            <p:spPr>
              <a:xfrm>
                <a:off x="8579803" y="5976083"/>
                <a:ext cx="431165" cy="365760"/>
              </a:xfrm>
              <a:custGeom>
                <a:avLst/>
                <a:gdLst/>
                <a:ahLst/>
                <a:cxnLst/>
                <a:rect l="l" t="t" r="r" b="b"/>
                <a:pathLst>
                  <a:path w="431165" h="365760">
                    <a:moveTo>
                      <a:pt x="0" y="0"/>
                    </a:moveTo>
                    <a:lnTo>
                      <a:pt x="430700" y="0"/>
                    </a:lnTo>
                    <a:lnTo>
                      <a:pt x="430700" y="365617"/>
                    </a:lnTo>
                    <a:lnTo>
                      <a:pt x="0" y="365617"/>
                    </a:lnTo>
                    <a:lnTo>
                      <a:pt x="0" y="0"/>
                    </a:lnTo>
                    <a:close/>
                  </a:path>
                </a:pathLst>
              </a:custGeom>
              <a:ln w="30479">
                <a:solidFill>
                  <a:srgbClr val="000000"/>
                </a:solidFill>
              </a:ln>
            </p:spPr>
            <p:txBody>
              <a:bodyPr wrap="square" lIns="0" tIns="0" rIns="0" bIns="0" rtlCol="0"/>
              <a:lstStyle/>
              <a:p>
                <a:endParaRPr sz="1588"/>
              </a:p>
            </p:txBody>
          </p:sp>
        </p:grpSp>
        <p:sp>
          <p:nvSpPr>
            <p:cNvPr id="160" name="object 160"/>
            <p:cNvSpPr txBox="1"/>
            <p:nvPr/>
          </p:nvSpPr>
          <p:spPr>
            <a:xfrm>
              <a:off x="7697849" y="5313830"/>
              <a:ext cx="389964" cy="174309"/>
            </a:xfrm>
            <a:prstGeom prst="rect">
              <a:avLst/>
            </a:prstGeom>
          </p:spPr>
          <p:txBody>
            <a:bodyPr vert="horz" wrap="square" lIns="0" tIns="11206" rIns="0" bIns="0" rtlCol="0">
              <a:spAutoFit/>
            </a:bodyPr>
            <a:lstStyle/>
            <a:p>
              <a:pPr>
                <a:spcBef>
                  <a:spcPts val="88"/>
                </a:spcBef>
              </a:pPr>
              <a:r>
                <a:rPr sz="1059" b="1" spc="-31" dirty="0">
                  <a:latin typeface="Times New Roman"/>
                  <a:cs typeface="Times New Roman"/>
                </a:rPr>
                <a:t>DMem</a:t>
              </a:r>
              <a:endParaRPr sz="1059">
                <a:latin typeface="Times New Roman"/>
                <a:cs typeface="Times New Roman"/>
              </a:endParaRPr>
            </a:p>
          </p:txBody>
        </p:sp>
        <p:grpSp>
          <p:nvGrpSpPr>
            <p:cNvPr id="161" name="object 161"/>
            <p:cNvGrpSpPr/>
            <p:nvPr/>
          </p:nvGrpSpPr>
          <p:grpSpPr>
            <a:xfrm>
              <a:off x="5953043" y="5323534"/>
              <a:ext cx="2294404" cy="381559"/>
              <a:chOff x="6594381" y="6033338"/>
              <a:chExt cx="2600325" cy="432434"/>
            </a:xfrm>
          </p:grpSpPr>
          <p:sp>
            <p:nvSpPr>
              <p:cNvPr id="162" name="object 162"/>
              <p:cNvSpPr/>
              <p:nvPr/>
            </p:nvSpPr>
            <p:spPr>
              <a:xfrm>
                <a:off x="8533444" y="6158892"/>
                <a:ext cx="645795" cy="292100"/>
              </a:xfrm>
              <a:custGeom>
                <a:avLst/>
                <a:gdLst/>
                <a:ahLst/>
                <a:cxnLst/>
                <a:rect l="l" t="t" r="r" b="b"/>
                <a:pathLst>
                  <a:path w="645795" h="292100">
                    <a:moveTo>
                      <a:pt x="0" y="0"/>
                    </a:moveTo>
                    <a:lnTo>
                      <a:pt x="0" y="291547"/>
                    </a:lnTo>
                    <a:lnTo>
                      <a:pt x="569679" y="291547"/>
                    </a:lnTo>
                    <a:lnTo>
                      <a:pt x="569679" y="109330"/>
                    </a:lnTo>
                    <a:lnTo>
                      <a:pt x="645637" y="109330"/>
                    </a:lnTo>
                  </a:path>
                </a:pathLst>
              </a:custGeom>
              <a:ln w="30479">
                <a:solidFill>
                  <a:srgbClr val="000000"/>
                </a:solidFill>
              </a:ln>
            </p:spPr>
            <p:txBody>
              <a:bodyPr wrap="square" lIns="0" tIns="0" rIns="0" bIns="0" rtlCol="0"/>
              <a:lstStyle/>
              <a:p>
                <a:endParaRPr sz="1588"/>
              </a:p>
            </p:txBody>
          </p:sp>
          <p:sp>
            <p:nvSpPr>
              <p:cNvPr id="163" name="object 163"/>
              <p:cNvSpPr/>
              <p:nvPr/>
            </p:nvSpPr>
            <p:spPr>
              <a:xfrm>
                <a:off x="6609621" y="6048578"/>
                <a:ext cx="408940" cy="220979"/>
              </a:xfrm>
              <a:custGeom>
                <a:avLst/>
                <a:gdLst/>
                <a:ahLst/>
                <a:cxnLst/>
                <a:rect l="l" t="t" r="r" b="b"/>
                <a:pathLst>
                  <a:path w="408940" h="220979">
                    <a:moveTo>
                      <a:pt x="204135" y="220630"/>
                    </a:moveTo>
                    <a:lnTo>
                      <a:pt x="408908" y="220630"/>
                    </a:lnTo>
                  </a:path>
                  <a:path w="408940" h="220979">
                    <a:moveTo>
                      <a:pt x="0" y="220630"/>
                    </a:moveTo>
                    <a:lnTo>
                      <a:pt x="117204" y="220630"/>
                    </a:lnTo>
                  </a:path>
                  <a:path w="408940" h="220979">
                    <a:moveTo>
                      <a:pt x="204135" y="0"/>
                    </a:moveTo>
                    <a:lnTo>
                      <a:pt x="406962" y="0"/>
                    </a:lnTo>
                  </a:path>
                  <a:path w="408940" h="220979">
                    <a:moveTo>
                      <a:pt x="0" y="0"/>
                    </a:moveTo>
                    <a:lnTo>
                      <a:pt x="117204" y="0"/>
                    </a:lnTo>
                  </a:path>
                </a:pathLst>
              </a:custGeom>
              <a:ln w="30481">
                <a:solidFill>
                  <a:srgbClr val="000000"/>
                </a:solidFill>
              </a:ln>
            </p:spPr>
            <p:txBody>
              <a:bodyPr wrap="square" lIns="0" tIns="0" rIns="0" bIns="0" rtlCol="0"/>
              <a:lstStyle/>
              <a:p>
                <a:endParaRPr sz="1588"/>
              </a:p>
            </p:txBody>
          </p:sp>
        </p:grpSp>
        <p:sp>
          <p:nvSpPr>
            <p:cNvPr id="164" name="object 164"/>
            <p:cNvSpPr txBox="1"/>
            <p:nvPr/>
          </p:nvSpPr>
          <p:spPr>
            <a:xfrm>
              <a:off x="5584767" y="5272320"/>
              <a:ext cx="382121" cy="216176"/>
            </a:xfrm>
            <a:prstGeom prst="rect">
              <a:avLst/>
            </a:prstGeom>
            <a:ln w="30479">
              <a:solidFill>
                <a:srgbClr val="000000"/>
              </a:solidFill>
            </a:ln>
          </p:spPr>
          <p:txBody>
            <a:bodyPr vert="horz" wrap="square" lIns="0" tIns="52668" rIns="0" bIns="0" rtlCol="0">
              <a:spAutoFit/>
            </a:bodyPr>
            <a:lstStyle/>
            <a:p>
              <a:pPr marL="26896">
                <a:spcBef>
                  <a:spcPts val="415"/>
                </a:spcBef>
              </a:pPr>
              <a:r>
                <a:rPr sz="1059" b="1" spc="-9" dirty="0">
                  <a:latin typeface="Times New Roman"/>
                  <a:cs typeface="Times New Roman"/>
                </a:rPr>
                <a:t>Ifetch</a:t>
              </a:r>
              <a:endParaRPr sz="1059">
                <a:latin typeface="Times New Roman"/>
                <a:cs typeface="Times New Roman"/>
              </a:endParaRPr>
            </a:p>
          </p:txBody>
        </p:sp>
        <p:grpSp>
          <p:nvGrpSpPr>
            <p:cNvPr id="165" name="object 165"/>
            <p:cNvGrpSpPr/>
            <p:nvPr/>
          </p:nvGrpSpPr>
          <p:grpSpPr>
            <a:xfrm>
              <a:off x="6056459" y="5113563"/>
              <a:ext cx="2760569" cy="640416"/>
              <a:chOff x="6711586" y="5795371"/>
              <a:chExt cx="3128645" cy="725805"/>
            </a:xfrm>
          </p:grpSpPr>
          <p:sp>
            <p:nvSpPr>
              <p:cNvPr id="166" name="object 166"/>
              <p:cNvSpPr/>
              <p:nvPr/>
            </p:nvSpPr>
            <p:spPr>
              <a:xfrm>
                <a:off x="7527330" y="5810611"/>
                <a:ext cx="86995" cy="695325"/>
              </a:xfrm>
              <a:custGeom>
                <a:avLst/>
                <a:gdLst/>
                <a:ahLst/>
                <a:cxnLst/>
                <a:rect l="l" t="t" r="r" b="b"/>
                <a:pathLst>
                  <a:path w="86995" h="695325">
                    <a:moveTo>
                      <a:pt x="86932" y="0"/>
                    </a:moveTo>
                    <a:lnTo>
                      <a:pt x="0" y="0"/>
                    </a:lnTo>
                    <a:lnTo>
                      <a:pt x="0" y="694987"/>
                    </a:lnTo>
                    <a:lnTo>
                      <a:pt x="86932" y="694987"/>
                    </a:lnTo>
                    <a:lnTo>
                      <a:pt x="86932" y="0"/>
                    </a:lnTo>
                    <a:close/>
                  </a:path>
                </a:pathLst>
              </a:custGeom>
              <a:solidFill>
                <a:srgbClr val="00FF00"/>
              </a:solidFill>
            </p:spPr>
            <p:txBody>
              <a:bodyPr wrap="square" lIns="0" tIns="0" rIns="0" bIns="0" rtlCol="0"/>
              <a:lstStyle/>
              <a:p>
                <a:endParaRPr sz="1588"/>
              </a:p>
            </p:txBody>
          </p:sp>
          <p:sp>
            <p:nvSpPr>
              <p:cNvPr id="167" name="object 167"/>
              <p:cNvSpPr/>
              <p:nvPr/>
            </p:nvSpPr>
            <p:spPr>
              <a:xfrm>
                <a:off x="7527330" y="5810611"/>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68" name="object 168"/>
              <p:cNvSpPr/>
              <p:nvPr/>
            </p:nvSpPr>
            <p:spPr>
              <a:xfrm>
                <a:off x="9197163" y="5810611"/>
                <a:ext cx="86995" cy="695325"/>
              </a:xfrm>
              <a:custGeom>
                <a:avLst/>
                <a:gdLst/>
                <a:ahLst/>
                <a:cxnLst/>
                <a:rect l="l" t="t" r="r" b="b"/>
                <a:pathLst>
                  <a:path w="86995" h="695325">
                    <a:moveTo>
                      <a:pt x="86932" y="0"/>
                    </a:moveTo>
                    <a:lnTo>
                      <a:pt x="0" y="0"/>
                    </a:lnTo>
                    <a:lnTo>
                      <a:pt x="0" y="694987"/>
                    </a:lnTo>
                    <a:lnTo>
                      <a:pt x="86932" y="694987"/>
                    </a:lnTo>
                    <a:lnTo>
                      <a:pt x="86932" y="0"/>
                    </a:lnTo>
                    <a:close/>
                  </a:path>
                </a:pathLst>
              </a:custGeom>
              <a:solidFill>
                <a:srgbClr val="00FF00"/>
              </a:solidFill>
            </p:spPr>
            <p:txBody>
              <a:bodyPr wrap="square" lIns="0" tIns="0" rIns="0" bIns="0" rtlCol="0"/>
              <a:lstStyle/>
              <a:p>
                <a:endParaRPr sz="1588"/>
              </a:p>
            </p:txBody>
          </p:sp>
          <p:sp>
            <p:nvSpPr>
              <p:cNvPr id="169" name="object 169"/>
              <p:cNvSpPr/>
              <p:nvPr/>
            </p:nvSpPr>
            <p:spPr>
              <a:xfrm>
                <a:off x="9197163" y="5810611"/>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70" name="object 170"/>
              <p:cNvSpPr/>
              <p:nvPr/>
            </p:nvSpPr>
            <p:spPr>
              <a:xfrm>
                <a:off x="6726826" y="5810611"/>
                <a:ext cx="86995" cy="695325"/>
              </a:xfrm>
              <a:custGeom>
                <a:avLst/>
                <a:gdLst/>
                <a:ahLst/>
                <a:cxnLst/>
                <a:rect l="l" t="t" r="r" b="b"/>
                <a:pathLst>
                  <a:path w="86995" h="695325">
                    <a:moveTo>
                      <a:pt x="86931" y="0"/>
                    </a:moveTo>
                    <a:lnTo>
                      <a:pt x="0" y="0"/>
                    </a:lnTo>
                    <a:lnTo>
                      <a:pt x="0" y="694987"/>
                    </a:lnTo>
                    <a:lnTo>
                      <a:pt x="86931" y="694987"/>
                    </a:lnTo>
                    <a:lnTo>
                      <a:pt x="86931" y="0"/>
                    </a:lnTo>
                    <a:close/>
                  </a:path>
                </a:pathLst>
              </a:custGeom>
              <a:solidFill>
                <a:srgbClr val="00FF00"/>
              </a:solidFill>
            </p:spPr>
            <p:txBody>
              <a:bodyPr wrap="square" lIns="0" tIns="0" rIns="0" bIns="0" rtlCol="0"/>
              <a:lstStyle/>
              <a:p>
                <a:endParaRPr sz="1588"/>
              </a:p>
            </p:txBody>
          </p:sp>
          <p:sp>
            <p:nvSpPr>
              <p:cNvPr id="171" name="object 171"/>
              <p:cNvSpPr/>
              <p:nvPr/>
            </p:nvSpPr>
            <p:spPr>
              <a:xfrm>
                <a:off x="6726826" y="5810611"/>
                <a:ext cx="86995" cy="695325"/>
              </a:xfrm>
              <a:custGeom>
                <a:avLst/>
                <a:gdLst/>
                <a:ahLst/>
                <a:cxnLst/>
                <a:rect l="l" t="t" r="r" b="b"/>
                <a:pathLst>
                  <a:path w="86995" h="695325">
                    <a:moveTo>
                      <a:pt x="0" y="0"/>
                    </a:moveTo>
                    <a:lnTo>
                      <a:pt x="86932" y="0"/>
                    </a:lnTo>
                    <a:lnTo>
                      <a:pt x="86932" y="694987"/>
                    </a:lnTo>
                    <a:lnTo>
                      <a:pt x="0" y="694987"/>
                    </a:lnTo>
                    <a:lnTo>
                      <a:pt x="0" y="0"/>
                    </a:lnTo>
                    <a:close/>
                  </a:path>
                </a:pathLst>
              </a:custGeom>
              <a:ln w="30479">
                <a:solidFill>
                  <a:srgbClr val="000000"/>
                </a:solidFill>
              </a:ln>
            </p:spPr>
            <p:txBody>
              <a:bodyPr wrap="square" lIns="0" tIns="0" rIns="0" bIns="0" rtlCol="0"/>
              <a:lstStyle/>
              <a:p>
                <a:endParaRPr sz="1588"/>
              </a:p>
            </p:txBody>
          </p:sp>
          <p:sp>
            <p:nvSpPr>
              <p:cNvPr id="172" name="object 172"/>
              <p:cNvSpPr/>
              <p:nvPr/>
            </p:nvSpPr>
            <p:spPr>
              <a:xfrm>
                <a:off x="8331458" y="5814693"/>
                <a:ext cx="85725" cy="685800"/>
              </a:xfrm>
              <a:custGeom>
                <a:avLst/>
                <a:gdLst/>
                <a:ahLst/>
                <a:cxnLst/>
                <a:rect l="l" t="t" r="r" b="b"/>
                <a:pathLst>
                  <a:path w="85725" h="685800">
                    <a:moveTo>
                      <a:pt x="85725" y="0"/>
                    </a:moveTo>
                    <a:lnTo>
                      <a:pt x="0" y="0"/>
                    </a:lnTo>
                    <a:lnTo>
                      <a:pt x="0" y="685802"/>
                    </a:lnTo>
                    <a:lnTo>
                      <a:pt x="85725" y="685802"/>
                    </a:lnTo>
                    <a:lnTo>
                      <a:pt x="85725" y="0"/>
                    </a:lnTo>
                    <a:close/>
                  </a:path>
                </a:pathLst>
              </a:custGeom>
              <a:solidFill>
                <a:srgbClr val="00FF00"/>
              </a:solidFill>
            </p:spPr>
            <p:txBody>
              <a:bodyPr wrap="square" lIns="0" tIns="0" rIns="0" bIns="0" rtlCol="0"/>
              <a:lstStyle/>
              <a:p>
                <a:endParaRPr sz="1588"/>
              </a:p>
            </p:txBody>
          </p:sp>
          <p:sp>
            <p:nvSpPr>
              <p:cNvPr id="173" name="object 173"/>
              <p:cNvSpPr/>
              <p:nvPr/>
            </p:nvSpPr>
            <p:spPr>
              <a:xfrm>
                <a:off x="8331458" y="5814693"/>
                <a:ext cx="85725" cy="685800"/>
              </a:xfrm>
              <a:custGeom>
                <a:avLst/>
                <a:gdLst/>
                <a:ahLst/>
                <a:cxnLst/>
                <a:rect l="l" t="t" r="r" b="b"/>
                <a:pathLst>
                  <a:path w="85725" h="685800">
                    <a:moveTo>
                      <a:pt x="0" y="0"/>
                    </a:moveTo>
                    <a:lnTo>
                      <a:pt x="85724" y="0"/>
                    </a:lnTo>
                    <a:lnTo>
                      <a:pt x="85724" y="685802"/>
                    </a:lnTo>
                    <a:lnTo>
                      <a:pt x="0" y="685802"/>
                    </a:lnTo>
                    <a:lnTo>
                      <a:pt x="0" y="0"/>
                    </a:lnTo>
                    <a:close/>
                  </a:path>
                </a:pathLst>
              </a:custGeom>
              <a:ln w="30479">
                <a:solidFill>
                  <a:srgbClr val="000000"/>
                </a:solidFill>
              </a:ln>
            </p:spPr>
            <p:txBody>
              <a:bodyPr wrap="square" lIns="0" tIns="0" rIns="0" bIns="0" rtlCol="0"/>
              <a:lstStyle/>
              <a:p>
                <a:endParaRPr sz="1588"/>
              </a:p>
            </p:txBody>
          </p:sp>
          <p:sp>
            <p:nvSpPr>
              <p:cNvPr id="174" name="object 174"/>
              <p:cNvSpPr/>
              <p:nvPr/>
            </p:nvSpPr>
            <p:spPr>
              <a:xfrm>
                <a:off x="9391052" y="5961900"/>
                <a:ext cx="217170" cy="363220"/>
              </a:xfrm>
              <a:custGeom>
                <a:avLst/>
                <a:gdLst/>
                <a:ahLst/>
                <a:cxnLst/>
                <a:rect l="l" t="t" r="r" b="b"/>
                <a:pathLst>
                  <a:path w="217170" h="363220">
                    <a:moveTo>
                      <a:pt x="216833" y="0"/>
                    </a:moveTo>
                    <a:lnTo>
                      <a:pt x="0" y="0"/>
                    </a:lnTo>
                    <a:lnTo>
                      <a:pt x="0" y="362942"/>
                    </a:lnTo>
                    <a:lnTo>
                      <a:pt x="216833" y="362942"/>
                    </a:lnTo>
                    <a:lnTo>
                      <a:pt x="216833" y="0"/>
                    </a:lnTo>
                    <a:close/>
                  </a:path>
                </a:pathLst>
              </a:custGeom>
              <a:solidFill>
                <a:srgbClr val="0099FF"/>
              </a:solidFill>
            </p:spPr>
            <p:txBody>
              <a:bodyPr wrap="square" lIns="0" tIns="0" rIns="0" bIns="0" rtlCol="0"/>
              <a:lstStyle/>
              <a:p>
                <a:endParaRPr sz="1588"/>
              </a:p>
            </p:txBody>
          </p:sp>
          <p:sp>
            <p:nvSpPr>
              <p:cNvPr id="175" name="object 175"/>
              <p:cNvSpPr/>
              <p:nvPr/>
            </p:nvSpPr>
            <p:spPr>
              <a:xfrm>
                <a:off x="9391053" y="5961900"/>
                <a:ext cx="433705" cy="367665"/>
              </a:xfrm>
              <a:custGeom>
                <a:avLst/>
                <a:gdLst/>
                <a:ahLst/>
                <a:cxnLst/>
                <a:rect l="l" t="t" r="r" b="b"/>
                <a:pathLst>
                  <a:path w="433704" h="367664">
                    <a:moveTo>
                      <a:pt x="433666" y="0"/>
                    </a:moveTo>
                    <a:lnTo>
                      <a:pt x="0" y="0"/>
                    </a:lnTo>
                    <a:lnTo>
                      <a:pt x="0" y="367192"/>
                    </a:lnTo>
                    <a:lnTo>
                      <a:pt x="433666" y="367192"/>
                    </a:lnTo>
                    <a:lnTo>
                      <a:pt x="433666" y="0"/>
                    </a:lnTo>
                    <a:close/>
                  </a:path>
                </a:pathLst>
              </a:custGeom>
              <a:ln w="30479">
                <a:solidFill>
                  <a:srgbClr val="000000"/>
                </a:solidFill>
              </a:ln>
            </p:spPr>
            <p:txBody>
              <a:bodyPr wrap="square" lIns="0" tIns="0" rIns="0" bIns="0" rtlCol="0"/>
              <a:lstStyle/>
              <a:p>
                <a:endParaRPr sz="1588"/>
              </a:p>
            </p:txBody>
          </p:sp>
        </p:grpSp>
        <p:sp>
          <p:nvSpPr>
            <p:cNvPr id="176" name="object 176"/>
            <p:cNvSpPr txBox="1"/>
            <p:nvPr/>
          </p:nvSpPr>
          <p:spPr>
            <a:xfrm>
              <a:off x="8494183" y="5300383"/>
              <a:ext cx="242047"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78" name="object 178"/>
            <p:cNvSpPr/>
            <p:nvPr/>
          </p:nvSpPr>
          <p:spPr>
            <a:xfrm>
              <a:off x="3208403" y="1647513"/>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79" name="object 179"/>
            <p:cNvSpPr/>
            <p:nvPr/>
          </p:nvSpPr>
          <p:spPr>
            <a:xfrm>
              <a:off x="3916155" y="1647513"/>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80" name="object 180"/>
            <p:cNvSpPr/>
            <p:nvPr/>
          </p:nvSpPr>
          <p:spPr>
            <a:xfrm>
              <a:off x="4623906" y="1647513"/>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81" name="object 181"/>
            <p:cNvSpPr/>
            <p:nvPr/>
          </p:nvSpPr>
          <p:spPr>
            <a:xfrm>
              <a:off x="6103751" y="1647513"/>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82" name="object 182"/>
            <p:cNvSpPr/>
            <p:nvPr/>
          </p:nvSpPr>
          <p:spPr>
            <a:xfrm>
              <a:off x="5331658" y="1647513"/>
              <a:ext cx="2187948" cy="4640356"/>
            </a:xfrm>
            <a:custGeom>
              <a:avLst/>
              <a:gdLst/>
              <a:ahLst/>
              <a:cxnLst/>
              <a:rect l="l" t="t" r="r" b="b"/>
              <a:pathLst>
                <a:path w="2479675" h="5259070">
                  <a:moveTo>
                    <a:pt x="0" y="149578"/>
                  </a:moveTo>
                  <a:lnTo>
                    <a:pt x="0" y="5258505"/>
                  </a:lnTo>
                </a:path>
                <a:path w="2479675" h="5259070">
                  <a:moveTo>
                    <a:pt x="1677158" y="149578"/>
                  </a:moveTo>
                  <a:lnTo>
                    <a:pt x="1677158" y="5258505"/>
                  </a:lnTo>
                </a:path>
                <a:path w="2479675" h="5259070">
                  <a:moveTo>
                    <a:pt x="2479277" y="2181578"/>
                  </a:moveTo>
                  <a:lnTo>
                    <a:pt x="2479277" y="5258505"/>
                  </a:lnTo>
                </a:path>
                <a:path w="2479675" h="5259070">
                  <a:moveTo>
                    <a:pt x="2479277" y="0"/>
                  </a:moveTo>
                  <a:lnTo>
                    <a:pt x="2479277" y="799818"/>
                  </a:lnTo>
                </a:path>
              </a:pathLst>
            </a:custGeom>
            <a:ln w="30481">
              <a:solidFill>
                <a:srgbClr val="000000"/>
              </a:solidFill>
            </a:ln>
          </p:spPr>
          <p:txBody>
            <a:bodyPr wrap="square" lIns="0" tIns="0" rIns="0" bIns="0" rtlCol="0"/>
            <a:lstStyle/>
            <a:p>
              <a:endParaRPr sz="1588"/>
            </a:p>
          </p:txBody>
        </p:sp>
        <p:sp>
          <p:nvSpPr>
            <p:cNvPr id="183" name="object 183"/>
            <p:cNvSpPr/>
            <p:nvPr/>
          </p:nvSpPr>
          <p:spPr>
            <a:xfrm>
              <a:off x="2500651" y="1647513"/>
              <a:ext cx="0" cy="4640356"/>
            </a:xfrm>
            <a:custGeom>
              <a:avLst/>
              <a:gdLst/>
              <a:ahLst/>
              <a:cxnLst/>
              <a:rect l="l" t="t" r="r" b="b"/>
              <a:pathLst>
                <a:path h="5259070">
                  <a:moveTo>
                    <a:pt x="0" y="0"/>
                  </a:moveTo>
                  <a:lnTo>
                    <a:pt x="1" y="5258505"/>
                  </a:lnTo>
                </a:path>
              </a:pathLst>
            </a:custGeom>
            <a:ln w="30479">
              <a:solidFill>
                <a:srgbClr val="000000"/>
              </a:solidFill>
            </a:ln>
          </p:spPr>
          <p:txBody>
            <a:bodyPr wrap="square" lIns="0" tIns="0" rIns="0" bIns="0" rtlCol="0"/>
            <a:lstStyle/>
            <a:p>
              <a:endParaRPr sz="1588"/>
            </a:p>
          </p:txBody>
        </p:sp>
        <p:sp>
          <p:nvSpPr>
            <p:cNvPr id="184" name="object 184"/>
            <p:cNvSpPr/>
            <p:nvPr/>
          </p:nvSpPr>
          <p:spPr>
            <a:xfrm>
              <a:off x="8282880" y="1657847"/>
              <a:ext cx="0" cy="4640356"/>
            </a:xfrm>
            <a:custGeom>
              <a:avLst/>
              <a:gdLst/>
              <a:ahLst/>
              <a:cxnLst/>
              <a:rect l="l" t="t" r="r" b="b"/>
              <a:pathLst>
                <a:path h="5259070">
                  <a:moveTo>
                    <a:pt x="0" y="2169866"/>
                  </a:moveTo>
                  <a:lnTo>
                    <a:pt x="0" y="5258505"/>
                  </a:lnTo>
                </a:path>
                <a:path h="5259070">
                  <a:moveTo>
                    <a:pt x="0" y="0"/>
                  </a:moveTo>
                  <a:lnTo>
                    <a:pt x="0" y="788106"/>
                  </a:lnTo>
                </a:path>
              </a:pathLst>
            </a:custGeom>
            <a:ln w="30481">
              <a:solidFill>
                <a:srgbClr val="000000"/>
              </a:solidFill>
            </a:ln>
          </p:spPr>
          <p:txBody>
            <a:bodyPr wrap="square" lIns="0" tIns="0" rIns="0" bIns="0" rtlCol="0"/>
            <a:lstStyle/>
            <a:p>
              <a:endParaRPr sz="1588"/>
            </a:p>
          </p:txBody>
        </p:sp>
        <p:sp>
          <p:nvSpPr>
            <p:cNvPr id="190" name="object 190"/>
            <p:cNvSpPr txBox="1"/>
            <p:nvPr/>
          </p:nvSpPr>
          <p:spPr>
            <a:xfrm>
              <a:off x="7605795" y="1829696"/>
              <a:ext cx="549088"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31" dirty="0">
                  <a:latin typeface="Times New Roman"/>
                  <a:cs typeface="Times New Roman"/>
                </a:rPr>
                <a:t> </a:t>
              </a:r>
              <a:r>
                <a:rPr sz="1324" b="1" spc="-44" dirty="0">
                  <a:latin typeface="Times New Roman"/>
                  <a:cs typeface="Times New Roman"/>
                </a:rPr>
                <a:t>8</a:t>
              </a:r>
              <a:endParaRPr sz="1324">
                <a:latin typeface="Times New Roman"/>
                <a:cs typeface="Times New Roman"/>
              </a:endParaRPr>
            </a:p>
          </p:txBody>
        </p:sp>
      </p:grpSp>
      <p:grpSp>
        <p:nvGrpSpPr>
          <p:cNvPr id="208" name="Group 207">
            <a:extLst>
              <a:ext uri="{FF2B5EF4-FFF2-40B4-BE49-F238E27FC236}">
                <a16:creationId xmlns:a16="http://schemas.microsoft.com/office/drawing/2014/main" id="{07338639-F9A2-4CA3-A35E-242505167570}"/>
              </a:ext>
            </a:extLst>
          </p:cNvPr>
          <p:cNvGrpSpPr/>
          <p:nvPr/>
        </p:nvGrpSpPr>
        <p:grpSpPr>
          <a:xfrm>
            <a:off x="5605052" y="2335305"/>
            <a:ext cx="3182544" cy="2241177"/>
            <a:chOff x="5605052" y="2335305"/>
            <a:chExt cx="3182544" cy="2241177"/>
          </a:xfrm>
        </p:grpSpPr>
        <p:sp>
          <p:nvSpPr>
            <p:cNvPr id="187" name="object 187"/>
            <p:cNvSpPr/>
            <p:nvPr/>
          </p:nvSpPr>
          <p:spPr>
            <a:xfrm>
              <a:off x="5605052" y="2640106"/>
              <a:ext cx="161365" cy="1936376"/>
            </a:xfrm>
            <a:custGeom>
              <a:avLst/>
              <a:gdLst/>
              <a:ahLst/>
              <a:cxnLst/>
              <a:rect l="l" t="t" r="r" b="b"/>
              <a:pathLst>
                <a:path w="182879" h="2194560">
                  <a:moveTo>
                    <a:pt x="60960" y="2011679"/>
                  </a:moveTo>
                  <a:lnTo>
                    <a:pt x="0" y="2011679"/>
                  </a:lnTo>
                  <a:lnTo>
                    <a:pt x="91439" y="2194560"/>
                  </a:lnTo>
                  <a:lnTo>
                    <a:pt x="167639" y="2042161"/>
                  </a:lnTo>
                  <a:lnTo>
                    <a:pt x="60960" y="2042161"/>
                  </a:lnTo>
                  <a:lnTo>
                    <a:pt x="60960" y="2011679"/>
                  </a:lnTo>
                  <a:close/>
                </a:path>
                <a:path w="182879" h="2194560">
                  <a:moveTo>
                    <a:pt x="121921" y="0"/>
                  </a:moveTo>
                  <a:lnTo>
                    <a:pt x="60961" y="0"/>
                  </a:lnTo>
                  <a:lnTo>
                    <a:pt x="60960" y="2042161"/>
                  </a:lnTo>
                  <a:lnTo>
                    <a:pt x="121920" y="2042161"/>
                  </a:lnTo>
                  <a:lnTo>
                    <a:pt x="121921" y="0"/>
                  </a:lnTo>
                  <a:close/>
                </a:path>
                <a:path w="182879" h="2194560">
                  <a:moveTo>
                    <a:pt x="182879" y="2011679"/>
                  </a:moveTo>
                  <a:lnTo>
                    <a:pt x="121920" y="2011679"/>
                  </a:lnTo>
                  <a:lnTo>
                    <a:pt x="121920" y="2042161"/>
                  </a:lnTo>
                  <a:lnTo>
                    <a:pt x="167639" y="2042161"/>
                  </a:lnTo>
                  <a:lnTo>
                    <a:pt x="182879" y="2011679"/>
                  </a:lnTo>
                  <a:close/>
                </a:path>
              </a:pathLst>
            </a:custGeom>
            <a:solidFill>
              <a:srgbClr val="0099FF"/>
            </a:solidFill>
          </p:spPr>
          <p:txBody>
            <a:bodyPr wrap="square" lIns="0" tIns="0" rIns="0" bIns="0" rtlCol="0"/>
            <a:lstStyle/>
            <a:p>
              <a:endParaRPr sz="1588"/>
            </a:p>
          </p:txBody>
        </p:sp>
        <p:sp>
          <p:nvSpPr>
            <p:cNvPr id="188" name="object 188"/>
            <p:cNvSpPr/>
            <p:nvPr/>
          </p:nvSpPr>
          <p:spPr>
            <a:xfrm>
              <a:off x="6904934" y="2353236"/>
              <a:ext cx="1864659" cy="1219200"/>
            </a:xfrm>
            <a:custGeom>
              <a:avLst/>
              <a:gdLst/>
              <a:ahLst/>
              <a:cxnLst/>
              <a:rect l="l" t="t" r="r" b="b"/>
              <a:pathLst>
                <a:path w="2113279" h="1381760">
                  <a:moveTo>
                    <a:pt x="2113279" y="0"/>
                  </a:moveTo>
                  <a:lnTo>
                    <a:pt x="0" y="0"/>
                  </a:lnTo>
                  <a:lnTo>
                    <a:pt x="0" y="1381760"/>
                  </a:lnTo>
                  <a:lnTo>
                    <a:pt x="2113279" y="1381760"/>
                  </a:lnTo>
                  <a:lnTo>
                    <a:pt x="2113279" y="0"/>
                  </a:lnTo>
                  <a:close/>
                </a:path>
              </a:pathLst>
            </a:custGeom>
            <a:solidFill>
              <a:srgbClr val="618FFD"/>
            </a:solidFill>
          </p:spPr>
          <p:txBody>
            <a:bodyPr wrap="square" lIns="0" tIns="0" rIns="0" bIns="0" rtlCol="0"/>
            <a:lstStyle/>
            <a:p>
              <a:endParaRPr sz="1588"/>
            </a:p>
          </p:txBody>
        </p:sp>
        <p:sp>
          <p:nvSpPr>
            <p:cNvPr id="189" name="object 189"/>
            <p:cNvSpPr/>
            <p:nvPr/>
          </p:nvSpPr>
          <p:spPr>
            <a:xfrm>
              <a:off x="5714383" y="2335305"/>
              <a:ext cx="3073213" cy="1330138"/>
            </a:xfrm>
            <a:custGeom>
              <a:avLst/>
              <a:gdLst/>
              <a:ahLst/>
              <a:cxnLst/>
              <a:rect l="l" t="t" r="r" b="b"/>
              <a:pathLst>
                <a:path w="3482975" h="1507489">
                  <a:moveTo>
                    <a:pt x="1308925" y="1245349"/>
                  </a:moveTo>
                  <a:lnTo>
                    <a:pt x="1301445" y="1205395"/>
                  </a:lnTo>
                  <a:lnTo>
                    <a:pt x="116103" y="1427289"/>
                  </a:lnTo>
                  <a:lnTo>
                    <a:pt x="108623" y="1387348"/>
                  </a:lnTo>
                  <a:lnTo>
                    <a:pt x="0" y="1469694"/>
                  </a:lnTo>
                  <a:lnTo>
                    <a:pt x="131051" y="1507185"/>
                  </a:lnTo>
                  <a:lnTo>
                    <a:pt x="124282" y="1470977"/>
                  </a:lnTo>
                  <a:lnTo>
                    <a:pt x="123571" y="1467231"/>
                  </a:lnTo>
                  <a:lnTo>
                    <a:pt x="1308925" y="1245349"/>
                  </a:lnTo>
                  <a:close/>
                </a:path>
                <a:path w="3482975" h="1507489">
                  <a:moveTo>
                    <a:pt x="3482886" y="20320"/>
                  </a:moveTo>
                  <a:lnTo>
                    <a:pt x="3481286" y="12420"/>
                  </a:lnTo>
                  <a:lnTo>
                    <a:pt x="3476929" y="5956"/>
                  </a:lnTo>
                  <a:lnTo>
                    <a:pt x="3470478" y="1600"/>
                  </a:lnTo>
                  <a:lnTo>
                    <a:pt x="3462566" y="0"/>
                  </a:lnTo>
                  <a:lnTo>
                    <a:pt x="3442246" y="0"/>
                  </a:lnTo>
                  <a:lnTo>
                    <a:pt x="3442246" y="40640"/>
                  </a:lnTo>
                  <a:lnTo>
                    <a:pt x="3442246" y="1381760"/>
                  </a:lnTo>
                  <a:lnTo>
                    <a:pt x="1369606" y="1381760"/>
                  </a:lnTo>
                  <a:lnTo>
                    <a:pt x="1369606" y="40640"/>
                  </a:lnTo>
                  <a:lnTo>
                    <a:pt x="3442246" y="40640"/>
                  </a:lnTo>
                  <a:lnTo>
                    <a:pt x="3442246" y="0"/>
                  </a:lnTo>
                  <a:lnTo>
                    <a:pt x="1349286" y="0"/>
                  </a:lnTo>
                  <a:lnTo>
                    <a:pt x="1341374" y="1600"/>
                  </a:lnTo>
                  <a:lnTo>
                    <a:pt x="1334922" y="5956"/>
                  </a:lnTo>
                  <a:lnTo>
                    <a:pt x="1330566" y="12420"/>
                  </a:lnTo>
                  <a:lnTo>
                    <a:pt x="1328966" y="20320"/>
                  </a:lnTo>
                  <a:lnTo>
                    <a:pt x="1328966" y="1402080"/>
                  </a:lnTo>
                  <a:lnTo>
                    <a:pt x="1330566" y="1409992"/>
                  </a:lnTo>
                  <a:lnTo>
                    <a:pt x="1334922" y="1416456"/>
                  </a:lnTo>
                  <a:lnTo>
                    <a:pt x="1341374" y="1420812"/>
                  </a:lnTo>
                  <a:lnTo>
                    <a:pt x="1349286" y="1422400"/>
                  </a:lnTo>
                  <a:lnTo>
                    <a:pt x="3462566" y="1422400"/>
                  </a:lnTo>
                  <a:lnTo>
                    <a:pt x="3470478" y="1420812"/>
                  </a:lnTo>
                  <a:lnTo>
                    <a:pt x="3476929" y="1416456"/>
                  </a:lnTo>
                  <a:lnTo>
                    <a:pt x="3481286" y="1409992"/>
                  </a:lnTo>
                  <a:lnTo>
                    <a:pt x="3482886" y="1402080"/>
                  </a:lnTo>
                  <a:lnTo>
                    <a:pt x="3482886" y="1381760"/>
                  </a:lnTo>
                  <a:lnTo>
                    <a:pt x="3482886" y="40640"/>
                  </a:lnTo>
                  <a:lnTo>
                    <a:pt x="3482886" y="20320"/>
                  </a:lnTo>
                  <a:close/>
                </a:path>
              </a:pathLst>
            </a:custGeom>
            <a:solidFill>
              <a:srgbClr val="0099FF"/>
            </a:solidFill>
          </p:spPr>
          <p:txBody>
            <a:bodyPr wrap="square" lIns="0" tIns="0" rIns="0" bIns="0" rtlCol="0"/>
            <a:lstStyle/>
            <a:p>
              <a:endParaRPr sz="1588"/>
            </a:p>
          </p:txBody>
        </p:sp>
        <p:sp>
          <p:nvSpPr>
            <p:cNvPr id="191" name="object 191"/>
            <p:cNvSpPr txBox="1"/>
            <p:nvPr/>
          </p:nvSpPr>
          <p:spPr>
            <a:xfrm>
              <a:off x="6957378" y="2539702"/>
              <a:ext cx="1624853" cy="826410"/>
            </a:xfrm>
            <a:prstGeom prst="rect">
              <a:avLst/>
            </a:prstGeom>
          </p:spPr>
          <p:txBody>
            <a:bodyPr vert="horz" wrap="square" lIns="0" tIns="11206" rIns="0" bIns="0" rtlCol="0">
              <a:spAutoFit/>
            </a:bodyPr>
            <a:lstStyle/>
            <a:p>
              <a:pPr marL="33619" marR="26896">
                <a:spcBef>
                  <a:spcPts val="88"/>
                </a:spcBef>
              </a:pPr>
              <a:r>
                <a:rPr sz="1324" b="1" dirty="0">
                  <a:solidFill>
                    <a:srgbClr val="660066"/>
                  </a:solidFill>
                  <a:latin typeface="Calibri"/>
                  <a:cs typeface="Calibri"/>
                </a:rPr>
                <a:t>No</a:t>
              </a:r>
              <a:r>
                <a:rPr sz="1324" b="1" spc="-49" dirty="0">
                  <a:solidFill>
                    <a:srgbClr val="660066"/>
                  </a:solidFill>
                  <a:latin typeface="Calibri"/>
                  <a:cs typeface="Calibri"/>
                </a:rPr>
                <a:t> </a:t>
              </a:r>
              <a:r>
                <a:rPr sz="1324" b="1" spc="-9" dirty="0">
                  <a:solidFill>
                    <a:srgbClr val="660066"/>
                  </a:solidFill>
                  <a:latin typeface="Calibri"/>
                  <a:cs typeface="Calibri"/>
                </a:rPr>
                <a:t>forwarding</a:t>
              </a:r>
              <a:r>
                <a:rPr sz="1324" b="1" spc="-44" dirty="0">
                  <a:solidFill>
                    <a:srgbClr val="660066"/>
                  </a:solidFill>
                  <a:latin typeface="Calibri"/>
                  <a:cs typeface="Calibri"/>
                </a:rPr>
                <a:t> </a:t>
              </a:r>
              <a:r>
                <a:rPr sz="1324" b="1" spc="-9" dirty="0">
                  <a:solidFill>
                    <a:srgbClr val="660066"/>
                  </a:solidFill>
                  <a:latin typeface="Calibri"/>
                  <a:cs typeface="Calibri"/>
                </a:rPr>
                <a:t>needed </a:t>
              </a:r>
              <a:r>
                <a:rPr sz="1324" b="1" dirty="0">
                  <a:solidFill>
                    <a:srgbClr val="660066"/>
                  </a:solidFill>
                  <a:latin typeface="Calibri"/>
                  <a:cs typeface="Calibri"/>
                </a:rPr>
                <a:t>since</a:t>
              </a:r>
              <a:r>
                <a:rPr sz="1324" b="1" spc="-35" dirty="0">
                  <a:solidFill>
                    <a:srgbClr val="660066"/>
                  </a:solidFill>
                  <a:latin typeface="Calibri"/>
                  <a:cs typeface="Calibri"/>
                </a:rPr>
                <a:t> </a:t>
              </a:r>
              <a:r>
                <a:rPr sz="1324" b="1" dirty="0">
                  <a:solidFill>
                    <a:srgbClr val="660066"/>
                  </a:solidFill>
                  <a:latin typeface="Calibri"/>
                  <a:cs typeface="Calibri"/>
                </a:rPr>
                <a:t>write</a:t>
              </a:r>
              <a:r>
                <a:rPr sz="1324" b="1" spc="-31" dirty="0">
                  <a:solidFill>
                    <a:srgbClr val="660066"/>
                  </a:solidFill>
                  <a:latin typeface="Calibri"/>
                  <a:cs typeface="Calibri"/>
                </a:rPr>
                <a:t> </a:t>
              </a:r>
              <a:r>
                <a:rPr sz="1324" b="1" dirty="0">
                  <a:solidFill>
                    <a:srgbClr val="660066"/>
                  </a:solidFill>
                  <a:latin typeface="Calibri"/>
                  <a:cs typeface="Calibri"/>
                </a:rPr>
                <a:t>reg.</a:t>
              </a:r>
              <a:r>
                <a:rPr sz="1324" b="1" spc="-31" dirty="0">
                  <a:solidFill>
                    <a:srgbClr val="660066"/>
                  </a:solidFill>
                  <a:latin typeface="Calibri"/>
                  <a:cs typeface="Calibri"/>
                </a:rPr>
                <a:t> </a:t>
              </a:r>
              <a:r>
                <a:rPr sz="1324" b="1" dirty="0">
                  <a:solidFill>
                    <a:srgbClr val="660066"/>
                  </a:solidFill>
                  <a:latin typeface="Calibri"/>
                  <a:cs typeface="Calibri"/>
                </a:rPr>
                <a:t>in</a:t>
              </a:r>
              <a:r>
                <a:rPr sz="1324" b="1" spc="-31" dirty="0">
                  <a:solidFill>
                    <a:srgbClr val="660066"/>
                  </a:solidFill>
                  <a:latin typeface="Calibri"/>
                  <a:cs typeface="Calibri"/>
                </a:rPr>
                <a:t> </a:t>
              </a:r>
              <a:r>
                <a:rPr sz="1324" b="1" spc="-22" dirty="0">
                  <a:solidFill>
                    <a:srgbClr val="660066"/>
                  </a:solidFill>
                  <a:latin typeface="Calibri"/>
                  <a:cs typeface="Calibri"/>
                </a:rPr>
                <a:t>1</a:t>
              </a:r>
              <a:r>
                <a:rPr sz="1324" b="1" spc="-33" baseline="22222" dirty="0">
                  <a:solidFill>
                    <a:srgbClr val="660066"/>
                  </a:solidFill>
                  <a:latin typeface="Calibri"/>
                  <a:cs typeface="Calibri"/>
                </a:rPr>
                <a:t>st</a:t>
              </a:r>
              <a:r>
                <a:rPr sz="1324" b="1" baseline="22222" dirty="0">
                  <a:solidFill>
                    <a:srgbClr val="660066"/>
                  </a:solidFill>
                  <a:latin typeface="Calibri"/>
                  <a:cs typeface="Calibri"/>
                </a:rPr>
                <a:t> </a:t>
              </a:r>
              <a:r>
                <a:rPr sz="1324" b="1" dirty="0">
                  <a:solidFill>
                    <a:srgbClr val="660066"/>
                  </a:solidFill>
                  <a:latin typeface="Calibri"/>
                  <a:cs typeface="Calibri"/>
                </a:rPr>
                <a:t>half</a:t>
              </a:r>
              <a:r>
                <a:rPr sz="1324" b="1" spc="-44" dirty="0">
                  <a:solidFill>
                    <a:srgbClr val="660066"/>
                  </a:solidFill>
                  <a:latin typeface="Calibri"/>
                  <a:cs typeface="Calibri"/>
                </a:rPr>
                <a:t> </a:t>
              </a:r>
              <a:r>
                <a:rPr sz="1324" b="1" dirty="0">
                  <a:solidFill>
                    <a:srgbClr val="660066"/>
                  </a:solidFill>
                  <a:latin typeface="Calibri"/>
                  <a:cs typeface="Calibri"/>
                </a:rPr>
                <a:t>cycle,</a:t>
              </a:r>
              <a:r>
                <a:rPr sz="1324" b="1" spc="-35" dirty="0">
                  <a:solidFill>
                    <a:srgbClr val="660066"/>
                  </a:solidFill>
                  <a:latin typeface="Calibri"/>
                  <a:cs typeface="Calibri"/>
                </a:rPr>
                <a:t> </a:t>
              </a:r>
              <a:r>
                <a:rPr sz="1324" b="1" dirty="0">
                  <a:solidFill>
                    <a:srgbClr val="660066"/>
                  </a:solidFill>
                  <a:latin typeface="Calibri"/>
                  <a:cs typeface="Calibri"/>
                </a:rPr>
                <a:t>read</a:t>
              </a:r>
              <a:r>
                <a:rPr sz="1324" b="1" spc="-44" dirty="0">
                  <a:solidFill>
                    <a:srgbClr val="660066"/>
                  </a:solidFill>
                  <a:latin typeface="Calibri"/>
                  <a:cs typeface="Calibri"/>
                </a:rPr>
                <a:t> </a:t>
              </a:r>
              <a:r>
                <a:rPr sz="1324" b="1" spc="-18" dirty="0">
                  <a:solidFill>
                    <a:srgbClr val="660066"/>
                  </a:solidFill>
                  <a:latin typeface="Calibri"/>
                  <a:cs typeface="Calibri"/>
                </a:rPr>
                <a:t>reg.</a:t>
              </a:r>
              <a:endParaRPr sz="1324" dirty="0">
                <a:latin typeface="Calibri"/>
                <a:cs typeface="Calibri"/>
              </a:endParaRPr>
            </a:p>
            <a:p>
              <a:pPr marL="33619"/>
              <a:r>
                <a:rPr sz="1324" b="1" dirty="0">
                  <a:solidFill>
                    <a:srgbClr val="660066"/>
                  </a:solidFill>
                  <a:latin typeface="Calibri"/>
                  <a:cs typeface="Calibri"/>
                </a:rPr>
                <a:t>in</a:t>
              </a:r>
              <a:r>
                <a:rPr sz="1324" b="1" spc="-26" dirty="0">
                  <a:solidFill>
                    <a:srgbClr val="660066"/>
                  </a:solidFill>
                  <a:latin typeface="Calibri"/>
                  <a:cs typeface="Calibri"/>
                </a:rPr>
                <a:t> </a:t>
              </a:r>
              <a:r>
                <a:rPr sz="1324" b="1" dirty="0">
                  <a:solidFill>
                    <a:srgbClr val="660066"/>
                  </a:solidFill>
                  <a:latin typeface="Calibri"/>
                  <a:cs typeface="Calibri"/>
                </a:rPr>
                <a:t>2</a:t>
              </a:r>
              <a:r>
                <a:rPr sz="1324" b="1" baseline="22222" dirty="0">
                  <a:solidFill>
                    <a:srgbClr val="660066"/>
                  </a:solidFill>
                  <a:latin typeface="Calibri"/>
                  <a:cs typeface="Calibri"/>
                </a:rPr>
                <a:t>nd</a:t>
              </a:r>
              <a:r>
                <a:rPr sz="1324" b="1" spc="119" baseline="22222" dirty="0">
                  <a:solidFill>
                    <a:srgbClr val="660066"/>
                  </a:solidFill>
                  <a:latin typeface="Calibri"/>
                  <a:cs typeface="Calibri"/>
                </a:rPr>
                <a:t> </a:t>
              </a:r>
              <a:r>
                <a:rPr sz="1324" b="1" dirty="0">
                  <a:solidFill>
                    <a:srgbClr val="660066"/>
                  </a:solidFill>
                  <a:latin typeface="Calibri"/>
                  <a:cs typeface="Calibri"/>
                </a:rPr>
                <a:t>half</a:t>
              </a:r>
              <a:r>
                <a:rPr sz="1324" b="1" spc="-22" dirty="0">
                  <a:solidFill>
                    <a:srgbClr val="660066"/>
                  </a:solidFill>
                  <a:latin typeface="Calibri"/>
                  <a:cs typeface="Calibri"/>
                </a:rPr>
                <a:t> </a:t>
              </a:r>
              <a:r>
                <a:rPr sz="1324" b="1" spc="-9" dirty="0">
                  <a:solidFill>
                    <a:srgbClr val="660066"/>
                  </a:solidFill>
                  <a:latin typeface="Calibri"/>
                  <a:cs typeface="Calibri"/>
                </a:rPr>
                <a:t>cycle.</a:t>
              </a:r>
              <a:endParaRPr sz="1324" dirty="0">
                <a:latin typeface="Calibri"/>
                <a:cs typeface="Calibri"/>
              </a:endParaRPr>
            </a:p>
          </p:txBody>
        </p:sp>
      </p:grpSp>
      <p:grpSp>
        <p:nvGrpSpPr>
          <p:cNvPr id="206" name="Group 205">
            <a:extLst>
              <a:ext uri="{FF2B5EF4-FFF2-40B4-BE49-F238E27FC236}">
                <a16:creationId xmlns:a16="http://schemas.microsoft.com/office/drawing/2014/main" id="{03E9D556-4495-8BB8-B096-144D0B4D7E8A}"/>
              </a:ext>
            </a:extLst>
          </p:cNvPr>
          <p:cNvGrpSpPr/>
          <p:nvPr/>
        </p:nvGrpSpPr>
        <p:grpSpPr>
          <a:xfrm>
            <a:off x="2923248" y="833050"/>
            <a:ext cx="2115671" cy="2321700"/>
            <a:chOff x="2904565" y="829235"/>
            <a:chExt cx="2115671" cy="2321700"/>
          </a:xfrm>
        </p:grpSpPr>
        <p:sp>
          <p:nvSpPr>
            <p:cNvPr id="194" name="object 194"/>
            <p:cNvSpPr/>
            <p:nvPr/>
          </p:nvSpPr>
          <p:spPr>
            <a:xfrm>
              <a:off x="2922493" y="847165"/>
              <a:ext cx="2079812" cy="717177"/>
            </a:xfrm>
            <a:custGeom>
              <a:avLst/>
              <a:gdLst/>
              <a:ahLst/>
              <a:cxnLst/>
              <a:rect l="l" t="t" r="r" b="b"/>
              <a:pathLst>
                <a:path w="2357120" h="812800">
                  <a:moveTo>
                    <a:pt x="2357119" y="0"/>
                  </a:moveTo>
                  <a:lnTo>
                    <a:pt x="0" y="0"/>
                  </a:lnTo>
                  <a:lnTo>
                    <a:pt x="0" y="812800"/>
                  </a:lnTo>
                  <a:lnTo>
                    <a:pt x="2357119" y="812800"/>
                  </a:lnTo>
                  <a:lnTo>
                    <a:pt x="2357119" y="0"/>
                  </a:lnTo>
                  <a:close/>
                </a:path>
              </a:pathLst>
            </a:custGeom>
            <a:solidFill>
              <a:srgbClr val="618FFD"/>
            </a:solidFill>
          </p:spPr>
          <p:txBody>
            <a:bodyPr wrap="square" lIns="0" tIns="0" rIns="0" bIns="0" rtlCol="0"/>
            <a:lstStyle/>
            <a:p>
              <a:endParaRPr sz="1588"/>
            </a:p>
          </p:txBody>
        </p:sp>
        <p:grpSp>
          <p:nvGrpSpPr>
            <p:cNvPr id="204" name="Group 203">
              <a:extLst>
                <a:ext uri="{FF2B5EF4-FFF2-40B4-BE49-F238E27FC236}">
                  <a16:creationId xmlns:a16="http://schemas.microsoft.com/office/drawing/2014/main" id="{F047F746-C167-5547-A3EE-10B5749319A9}"/>
                </a:ext>
              </a:extLst>
            </p:cNvPr>
            <p:cNvGrpSpPr/>
            <p:nvPr/>
          </p:nvGrpSpPr>
          <p:grpSpPr>
            <a:xfrm>
              <a:off x="2904565" y="829235"/>
              <a:ext cx="2115671" cy="2321700"/>
              <a:chOff x="2904565" y="829235"/>
              <a:chExt cx="2115671" cy="2321700"/>
            </a:xfrm>
          </p:grpSpPr>
          <p:sp>
            <p:nvSpPr>
              <p:cNvPr id="185" name="object 185"/>
              <p:cNvSpPr/>
              <p:nvPr/>
            </p:nvSpPr>
            <p:spPr>
              <a:xfrm>
                <a:off x="4617332" y="2491469"/>
                <a:ext cx="203386" cy="659466"/>
              </a:xfrm>
              <a:custGeom>
                <a:avLst/>
                <a:gdLst/>
                <a:ahLst/>
                <a:cxnLst/>
                <a:rect l="l" t="t" r="r" b="b"/>
                <a:pathLst>
                  <a:path w="230504" h="747395">
                    <a:moveTo>
                      <a:pt x="110749" y="573572"/>
                    </a:moveTo>
                    <a:lnTo>
                      <a:pt x="50939" y="585363"/>
                    </a:lnTo>
                    <a:lnTo>
                      <a:pt x="176024" y="747104"/>
                    </a:lnTo>
                    <a:lnTo>
                      <a:pt x="215621" y="603477"/>
                    </a:lnTo>
                    <a:lnTo>
                      <a:pt x="116644" y="603477"/>
                    </a:lnTo>
                    <a:lnTo>
                      <a:pt x="110749" y="573572"/>
                    </a:lnTo>
                    <a:close/>
                  </a:path>
                  <a:path w="230504" h="747395">
                    <a:moveTo>
                      <a:pt x="170557" y="561782"/>
                    </a:moveTo>
                    <a:lnTo>
                      <a:pt x="110749" y="573572"/>
                    </a:lnTo>
                    <a:lnTo>
                      <a:pt x="116644" y="603477"/>
                    </a:lnTo>
                    <a:lnTo>
                      <a:pt x="176452" y="591686"/>
                    </a:lnTo>
                    <a:lnTo>
                      <a:pt x="170557" y="561782"/>
                    </a:lnTo>
                    <a:close/>
                  </a:path>
                  <a:path w="230504" h="747395">
                    <a:moveTo>
                      <a:pt x="230366" y="549991"/>
                    </a:moveTo>
                    <a:lnTo>
                      <a:pt x="170557" y="561782"/>
                    </a:lnTo>
                    <a:lnTo>
                      <a:pt x="176452" y="591686"/>
                    </a:lnTo>
                    <a:lnTo>
                      <a:pt x="116644" y="603477"/>
                    </a:lnTo>
                    <a:lnTo>
                      <a:pt x="215621" y="603477"/>
                    </a:lnTo>
                    <a:lnTo>
                      <a:pt x="230366" y="549991"/>
                    </a:lnTo>
                    <a:close/>
                  </a:path>
                  <a:path w="230504" h="747395">
                    <a:moveTo>
                      <a:pt x="59808" y="0"/>
                    </a:moveTo>
                    <a:lnTo>
                      <a:pt x="0" y="11790"/>
                    </a:lnTo>
                    <a:lnTo>
                      <a:pt x="110749" y="573572"/>
                    </a:lnTo>
                    <a:lnTo>
                      <a:pt x="170557" y="561782"/>
                    </a:lnTo>
                    <a:lnTo>
                      <a:pt x="59808" y="0"/>
                    </a:lnTo>
                    <a:close/>
                  </a:path>
                </a:pathLst>
              </a:custGeom>
              <a:solidFill>
                <a:srgbClr val="FF0000"/>
              </a:solidFill>
            </p:spPr>
            <p:txBody>
              <a:bodyPr wrap="square" lIns="0" tIns="0" rIns="0" bIns="0" rtlCol="0"/>
              <a:lstStyle/>
              <a:p>
                <a:endParaRPr sz="1588" dirty="0"/>
              </a:p>
            </p:txBody>
          </p:sp>
          <p:sp>
            <p:nvSpPr>
              <p:cNvPr id="195" name="object 195"/>
              <p:cNvSpPr/>
              <p:nvPr/>
            </p:nvSpPr>
            <p:spPr>
              <a:xfrm>
                <a:off x="2904565" y="829235"/>
                <a:ext cx="2115671" cy="1948703"/>
              </a:xfrm>
              <a:custGeom>
                <a:avLst/>
                <a:gdLst/>
                <a:ahLst/>
                <a:cxnLst/>
                <a:rect l="l" t="t" r="r" b="b"/>
                <a:pathLst>
                  <a:path w="2397760" h="2208530">
                    <a:moveTo>
                      <a:pt x="2397760" y="20320"/>
                    </a:moveTo>
                    <a:lnTo>
                      <a:pt x="2396159" y="12420"/>
                    </a:lnTo>
                    <a:lnTo>
                      <a:pt x="2391803" y="5956"/>
                    </a:lnTo>
                    <a:lnTo>
                      <a:pt x="2385339" y="1600"/>
                    </a:lnTo>
                    <a:lnTo>
                      <a:pt x="2377440" y="0"/>
                    </a:lnTo>
                    <a:lnTo>
                      <a:pt x="2357120" y="0"/>
                    </a:lnTo>
                    <a:lnTo>
                      <a:pt x="2357120" y="40640"/>
                    </a:lnTo>
                    <a:lnTo>
                      <a:pt x="2357120" y="812800"/>
                    </a:lnTo>
                    <a:lnTo>
                      <a:pt x="639013" y="812800"/>
                    </a:lnTo>
                    <a:lnTo>
                      <a:pt x="638594" y="812368"/>
                    </a:lnTo>
                    <a:lnTo>
                      <a:pt x="638149" y="812800"/>
                    </a:lnTo>
                    <a:lnTo>
                      <a:pt x="40640" y="812800"/>
                    </a:lnTo>
                    <a:lnTo>
                      <a:pt x="40640" y="40640"/>
                    </a:lnTo>
                    <a:lnTo>
                      <a:pt x="2357120" y="40640"/>
                    </a:lnTo>
                    <a:lnTo>
                      <a:pt x="2357120" y="0"/>
                    </a:lnTo>
                    <a:lnTo>
                      <a:pt x="20320" y="0"/>
                    </a:lnTo>
                    <a:lnTo>
                      <a:pt x="12407" y="1600"/>
                    </a:lnTo>
                    <a:lnTo>
                      <a:pt x="5943" y="5956"/>
                    </a:lnTo>
                    <a:lnTo>
                      <a:pt x="1587" y="12420"/>
                    </a:lnTo>
                    <a:lnTo>
                      <a:pt x="0" y="20320"/>
                    </a:lnTo>
                    <a:lnTo>
                      <a:pt x="0" y="833120"/>
                    </a:lnTo>
                    <a:lnTo>
                      <a:pt x="1587" y="841032"/>
                    </a:lnTo>
                    <a:lnTo>
                      <a:pt x="5943" y="847496"/>
                    </a:lnTo>
                    <a:lnTo>
                      <a:pt x="12407" y="851852"/>
                    </a:lnTo>
                    <a:lnTo>
                      <a:pt x="20320" y="853440"/>
                    </a:lnTo>
                    <a:lnTo>
                      <a:pt x="621995" y="853440"/>
                    </a:lnTo>
                    <a:lnTo>
                      <a:pt x="1884984" y="2135428"/>
                    </a:lnTo>
                    <a:lnTo>
                      <a:pt x="1856028" y="2163953"/>
                    </a:lnTo>
                    <a:lnTo>
                      <a:pt x="1985022" y="2208022"/>
                    </a:lnTo>
                    <a:lnTo>
                      <a:pt x="1966125" y="2149906"/>
                    </a:lnTo>
                    <a:lnTo>
                      <a:pt x="1942884" y="2078393"/>
                    </a:lnTo>
                    <a:lnTo>
                      <a:pt x="1913928" y="2106917"/>
                    </a:lnTo>
                    <a:lnTo>
                      <a:pt x="679043" y="853440"/>
                    </a:lnTo>
                    <a:lnTo>
                      <a:pt x="2377440" y="853440"/>
                    </a:lnTo>
                    <a:lnTo>
                      <a:pt x="2385339" y="851852"/>
                    </a:lnTo>
                    <a:lnTo>
                      <a:pt x="2391803" y="847496"/>
                    </a:lnTo>
                    <a:lnTo>
                      <a:pt x="2396159" y="841032"/>
                    </a:lnTo>
                    <a:lnTo>
                      <a:pt x="2397760" y="833120"/>
                    </a:lnTo>
                    <a:lnTo>
                      <a:pt x="2397760" y="812800"/>
                    </a:lnTo>
                    <a:lnTo>
                      <a:pt x="2397760" y="40640"/>
                    </a:lnTo>
                    <a:lnTo>
                      <a:pt x="2397760" y="20320"/>
                    </a:lnTo>
                    <a:close/>
                  </a:path>
                </a:pathLst>
              </a:custGeom>
              <a:solidFill>
                <a:srgbClr val="FF0000"/>
              </a:solidFill>
            </p:spPr>
            <p:txBody>
              <a:bodyPr wrap="square" lIns="0" tIns="0" rIns="0" bIns="0" rtlCol="0"/>
              <a:lstStyle/>
              <a:p>
                <a:endParaRPr sz="1588"/>
              </a:p>
            </p:txBody>
          </p:sp>
          <p:sp>
            <p:nvSpPr>
              <p:cNvPr id="196" name="object 196"/>
              <p:cNvSpPr txBox="1"/>
              <p:nvPr/>
            </p:nvSpPr>
            <p:spPr>
              <a:xfrm>
                <a:off x="2997349" y="883023"/>
                <a:ext cx="1623732" cy="418863"/>
              </a:xfrm>
              <a:prstGeom prst="rect">
                <a:avLst/>
              </a:prstGeom>
            </p:spPr>
            <p:txBody>
              <a:bodyPr vert="horz" wrap="square" lIns="0" tIns="11206" rIns="0" bIns="0" rtlCol="0">
                <a:spAutoFit/>
              </a:bodyPr>
              <a:lstStyle/>
              <a:p>
                <a:pPr marL="11206" marR="4483">
                  <a:spcBef>
                    <a:spcPts val="88"/>
                  </a:spcBef>
                </a:pPr>
                <a:r>
                  <a:rPr sz="1324" b="1" spc="-9" dirty="0">
                    <a:solidFill>
                      <a:srgbClr val="660066"/>
                    </a:solidFill>
                    <a:latin typeface="Calibri"/>
                    <a:cs typeface="Calibri"/>
                  </a:rPr>
                  <a:t>Forwarding</a:t>
                </a:r>
                <a:r>
                  <a:rPr sz="1324" b="1" spc="-44" dirty="0">
                    <a:solidFill>
                      <a:srgbClr val="660066"/>
                    </a:solidFill>
                    <a:latin typeface="Calibri"/>
                    <a:cs typeface="Calibri"/>
                  </a:rPr>
                  <a:t> </a:t>
                </a:r>
                <a:r>
                  <a:rPr sz="1324" b="1" dirty="0">
                    <a:solidFill>
                      <a:srgbClr val="660066"/>
                    </a:solidFill>
                    <a:latin typeface="Calibri"/>
                    <a:cs typeface="Calibri"/>
                  </a:rPr>
                  <a:t>of</a:t>
                </a:r>
                <a:r>
                  <a:rPr sz="1324" b="1" spc="-40" dirty="0">
                    <a:solidFill>
                      <a:srgbClr val="660066"/>
                    </a:solidFill>
                    <a:latin typeface="Calibri"/>
                    <a:cs typeface="Calibri"/>
                  </a:rPr>
                  <a:t> </a:t>
                </a:r>
                <a:r>
                  <a:rPr sz="1324" b="1" spc="-22" dirty="0">
                    <a:solidFill>
                      <a:srgbClr val="660066"/>
                    </a:solidFill>
                    <a:latin typeface="Calibri"/>
                    <a:cs typeface="Calibri"/>
                  </a:rPr>
                  <a:t>ALU </a:t>
                </a:r>
                <a:r>
                  <a:rPr sz="1324" b="1" dirty="0">
                    <a:solidFill>
                      <a:srgbClr val="660066"/>
                    </a:solidFill>
                    <a:latin typeface="Calibri"/>
                    <a:cs typeface="Calibri"/>
                  </a:rPr>
                  <a:t>outputs</a:t>
                </a:r>
                <a:r>
                  <a:rPr sz="1324" b="1" spc="-40" dirty="0">
                    <a:solidFill>
                      <a:srgbClr val="660066"/>
                    </a:solidFill>
                    <a:latin typeface="Calibri"/>
                    <a:cs typeface="Calibri"/>
                  </a:rPr>
                  <a:t> </a:t>
                </a:r>
                <a:r>
                  <a:rPr sz="1324" b="1" dirty="0">
                    <a:solidFill>
                      <a:srgbClr val="660066"/>
                    </a:solidFill>
                    <a:latin typeface="Calibri"/>
                    <a:cs typeface="Calibri"/>
                  </a:rPr>
                  <a:t>needed</a:t>
                </a:r>
                <a:r>
                  <a:rPr sz="1324" b="1" spc="-49" dirty="0">
                    <a:solidFill>
                      <a:srgbClr val="660066"/>
                    </a:solidFill>
                    <a:latin typeface="Calibri"/>
                    <a:cs typeface="Calibri"/>
                  </a:rPr>
                  <a:t> </a:t>
                </a:r>
                <a:r>
                  <a:rPr sz="1324" b="1" dirty="0">
                    <a:solidFill>
                      <a:srgbClr val="660066"/>
                    </a:solidFill>
                    <a:latin typeface="Calibri"/>
                    <a:cs typeface="Calibri"/>
                  </a:rPr>
                  <a:t>as</a:t>
                </a:r>
                <a:r>
                  <a:rPr sz="1324" b="1" spc="-40" dirty="0">
                    <a:solidFill>
                      <a:srgbClr val="660066"/>
                    </a:solidFill>
                    <a:latin typeface="Calibri"/>
                    <a:cs typeface="Calibri"/>
                  </a:rPr>
                  <a:t> </a:t>
                </a:r>
                <a:r>
                  <a:rPr sz="1324" b="1" spc="-22" dirty="0">
                    <a:solidFill>
                      <a:srgbClr val="660066"/>
                    </a:solidFill>
                    <a:latin typeface="Calibri"/>
                    <a:cs typeface="Calibri"/>
                  </a:rPr>
                  <a:t>ALU</a:t>
                </a:r>
                <a:endParaRPr sz="1324" dirty="0">
                  <a:latin typeface="Calibri"/>
                  <a:cs typeface="Calibri"/>
                </a:endParaRPr>
              </a:p>
            </p:txBody>
          </p:sp>
          <p:sp>
            <p:nvSpPr>
              <p:cNvPr id="197" name="object 197"/>
              <p:cNvSpPr txBox="1"/>
              <p:nvPr/>
            </p:nvSpPr>
            <p:spPr>
              <a:xfrm>
                <a:off x="2997349" y="1286434"/>
                <a:ext cx="1350869" cy="215089"/>
              </a:xfrm>
              <a:prstGeom prst="rect">
                <a:avLst/>
              </a:prstGeom>
            </p:spPr>
            <p:txBody>
              <a:bodyPr vert="horz" wrap="square" lIns="0" tIns="11206" rIns="0" bIns="0" rtlCol="0">
                <a:spAutoFit/>
              </a:bodyPr>
              <a:lstStyle/>
              <a:p>
                <a:pPr marL="11206">
                  <a:spcBef>
                    <a:spcPts val="88"/>
                  </a:spcBef>
                </a:pPr>
                <a:r>
                  <a:rPr sz="1324" b="1" dirty="0">
                    <a:solidFill>
                      <a:srgbClr val="660066"/>
                    </a:solidFill>
                    <a:latin typeface="Calibri"/>
                    <a:cs typeface="Calibri"/>
                  </a:rPr>
                  <a:t>inputs</a:t>
                </a:r>
                <a:r>
                  <a:rPr sz="1324" b="1" spc="-35" dirty="0">
                    <a:solidFill>
                      <a:srgbClr val="660066"/>
                    </a:solidFill>
                    <a:latin typeface="Calibri"/>
                    <a:cs typeface="Calibri"/>
                  </a:rPr>
                  <a:t> </a:t>
                </a:r>
                <a:r>
                  <a:rPr sz="1324" b="1" dirty="0">
                    <a:solidFill>
                      <a:srgbClr val="660066"/>
                    </a:solidFill>
                    <a:latin typeface="Calibri"/>
                    <a:cs typeface="Calibri"/>
                  </a:rPr>
                  <a:t>1</a:t>
                </a:r>
                <a:r>
                  <a:rPr sz="1324" b="1" spc="-35" dirty="0">
                    <a:solidFill>
                      <a:srgbClr val="660066"/>
                    </a:solidFill>
                    <a:latin typeface="Calibri"/>
                    <a:cs typeface="Calibri"/>
                  </a:rPr>
                  <a:t> </a:t>
                </a:r>
                <a:r>
                  <a:rPr sz="1324" b="1" dirty="0">
                    <a:solidFill>
                      <a:srgbClr val="660066"/>
                    </a:solidFill>
                    <a:latin typeface="Calibri"/>
                    <a:cs typeface="Calibri"/>
                  </a:rPr>
                  <a:t>cycle</a:t>
                </a:r>
                <a:r>
                  <a:rPr sz="1324" b="1" spc="-40" dirty="0">
                    <a:solidFill>
                      <a:srgbClr val="660066"/>
                    </a:solidFill>
                    <a:latin typeface="Calibri"/>
                    <a:cs typeface="Calibri"/>
                  </a:rPr>
                  <a:t> </a:t>
                </a:r>
                <a:r>
                  <a:rPr sz="1324" b="1" spc="-9" dirty="0">
                    <a:solidFill>
                      <a:srgbClr val="660066"/>
                    </a:solidFill>
                    <a:latin typeface="Calibri"/>
                    <a:cs typeface="Calibri"/>
                  </a:rPr>
                  <a:t>later.</a:t>
                </a:r>
                <a:endParaRPr sz="1324">
                  <a:latin typeface="Calibri"/>
                  <a:cs typeface="Calibri"/>
                </a:endParaRPr>
              </a:p>
            </p:txBody>
          </p:sp>
        </p:grpSp>
      </p:grpSp>
      <p:grpSp>
        <p:nvGrpSpPr>
          <p:cNvPr id="207" name="Group 206">
            <a:extLst>
              <a:ext uri="{FF2B5EF4-FFF2-40B4-BE49-F238E27FC236}">
                <a16:creationId xmlns:a16="http://schemas.microsoft.com/office/drawing/2014/main" id="{26CE1C3E-F23B-F6BA-759F-BE65FD0FCF68}"/>
              </a:ext>
            </a:extLst>
          </p:cNvPr>
          <p:cNvGrpSpPr/>
          <p:nvPr/>
        </p:nvGrpSpPr>
        <p:grpSpPr>
          <a:xfrm>
            <a:off x="5051490" y="830686"/>
            <a:ext cx="2115671" cy="3030373"/>
            <a:chOff x="5056094" y="829236"/>
            <a:chExt cx="2115671" cy="3030373"/>
          </a:xfrm>
        </p:grpSpPr>
        <p:sp>
          <p:nvSpPr>
            <p:cNvPr id="193" name="object 193"/>
            <p:cNvSpPr/>
            <p:nvPr/>
          </p:nvSpPr>
          <p:spPr>
            <a:xfrm>
              <a:off x="5334146" y="2484647"/>
              <a:ext cx="313765" cy="1374962"/>
            </a:xfrm>
            <a:custGeom>
              <a:avLst/>
              <a:gdLst/>
              <a:ahLst/>
              <a:cxnLst/>
              <a:rect l="l" t="t" r="r" b="b"/>
              <a:pathLst>
                <a:path w="355600" h="1558289">
                  <a:moveTo>
                    <a:pt x="355434" y="541197"/>
                  </a:moveTo>
                  <a:lnTo>
                    <a:pt x="260007" y="541197"/>
                  </a:lnTo>
                  <a:lnTo>
                    <a:pt x="191858" y="541197"/>
                  </a:lnTo>
                  <a:lnTo>
                    <a:pt x="355434" y="663867"/>
                  </a:lnTo>
                  <a:lnTo>
                    <a:pt x="355434" y="541197"/>
                  </a:lnTo>
                  <a:close/>
                </a:path>
                <a:path w="355600" h="1558289">
                  <a:moveTo>
                    <a:pt x="355434" y="459409"/>
                  </a:moveTo>
                  <a:lnTo>
                    <a:pt x="300901" y="486664"/>
                  </a:lnTo>
                  <a:lnTo>
                    <a:pt x="57569" y="0"/>
                  </a:lnTo>
                  <a:lnTo>
                    <a:pt x="30302" y="13639"/>
                  </a:lnTo>
                  <a:lnTo>
                    <a:pt x="0" y="16827"/>
                  </a:lnTo>
                  <a:lnTo>
                    <a:pt x="143408" y="1379270"/>
                  </a:lnTo>
                  <a:lnTo>
                    <a:pt x="82791" y="1385646"/>
                  </a:lnTo>
                  <a:lnTo>
                    <a:pt x="192874" y="1557947"/>
                  </a:lnTo>
                  <a:lnTo>
                    <a:pt x="248513" y="1409573"/>
                  </a:lnTo>
                  <a:lnTo>
                    <a:pt x="264668" y="1366507"/>
                  </a:lnTo>
                  <a:lnTo>
                    <a:pt x="204038" y="1372882"/>
                  </a:lnTo>
                  <a:lnTo>
                    <a:pt x="78206" y="177609"/>
                  </a:lnTo>
                  <a:lnTo>
                    <a:pt x="246380" y="513930"/>
                  </a:lnTo>
                  <a:lnTo>
                    <a:pt x="314528" y="513930"/>
                  </a:lnTo>
                  <a:lnTo>
                    <a:pt x="355434" y="513930"/>
                  </a:lnTo>
                  <a:lnTo>
                    <a:pt x="355434" y="459409"/>
                  </a:lnTo>
                  <a:close/>
                </a:path>
              </a:pathLst>
            </a:custGeom>
            <a:solidFill>
              <a:srgbClr val="FF0000"/>
            </a:solidFill>
          </p:spPr>
          <p:txBody>
            <a:bodyPr wrap="square" lIns="0" tIns="0" rIns="0" bIns="0" rtlCol="0"/>
            <a:lstStyle/>
            <a:p>
              <a:endParaRPr sz="1588"/>
            </a:p>
          </p:txBody>
        </p:sp>
        <p:grpSp>
          <p:nvGrpSpPr>
            <p:cNvPr id="198" name="object 198"/>
            <p:cNvGrpSpPr/>
            <p:nvPr/>
          </p:nvGrpSpPr>
          <p:grpSpPr>
            <a:xfrm>
              <a:off x="5056094" y="829236"/>
              <a:ext cx="2115671" cy="1951504"/>
              <a:chOff x="5577840" y="939800"/>
              <a:chExt cx="2397760" cy="2211705"/>
            </a:xfrm>
          </p:grpSpPr>
          <p:sp>
            <p:nvSpPr>
              <p:cNvPr id="199" name="object 199"/>
              <p:cNvSpPr/>
              <p:nvPr/>
            </p:nvSpPr>
            <p:spPr>
              <a:xfrm>
                <a:off x="5598160" y="960120"/>
                <a:ext cx="2357120" cy="1056640"/>
              </a:xfrm>
              <a:custGeom>
                <a:avLst/>
                <a:gdLst/>
                <a:ahLst/>
                <a:cxnLst/>
                <a:rect l="l" t="t" r="r" b="b"/>
                <a:pathLst>
                  <a:path w="2357120" h="1056639">
                    <a:moveTo>
                      <a:pt x="2357119" y="0"/>
                    </a:moveTo>
                    <a:lnTo>
                      <a:pt x="0" y="0"/>
                    </a:lnTo>
                    <a:lnTo>
                      <a:pt x="0" y="1056639"/>
                    </a:lnTo>
                    <a:lnTo>
                      <a:pt x="2357119" y="1056639"/>
                    </a:lnTo>
                    <a:lnTo>
                      <a:pt x="2357119" y="0"/>
                    </a:lnTo>
                    <a:close/>
                  </a:path>
                </a:pathLst>
              </a:custGeom>
              <a:solidFill>
                <a:srgbClr val="618FFD"/>
              </a:solidFill>
            </p:spPr>
            <p:txBody>
              <a:bodyPr wrap="square" lIns="0" tIns="0" rIns="0" bIns="0" rtlCol="0"/>
              <a:lstStyle/>
              <a:p>
                <a:endParaRPr sz="1588"/>
              </a:p>
            </p:txBody>
          </p:sp>
          <p:sp>
            <p:nvSpPr>
              <p:cNvPr id="200" name="object 200"/>
              <p:cNvSpPr/>
              <p:nvPr/>
            </p:nvSpPr>
            <p:spPr>
              <a:xfrm>
                <a:off x="5577840" y="939799"/>
                <a:ext cx="2397760" cy="2211705"/>
              </a:xfrm>
              <a:custGeom>
                <a:avLst/>
                <a:gdLst/>
                <a:ahLst/>
                <a:cxnLst/>
                <a:rect l="l" t="t" r="r" b="b"/>
                <a:pathLst>
                  <a:path w="2397759" h="2211705">
                    <a:moveTo>
                      <a:pt x="2397760" y="20320"/>
                    </a:moveTo>
                    <a:lnTo>
                      <a:pt x="2396159" y="12420"/>
                    </a:lnTo>
                    <a:lnTo>
                      <a:pt x="2391803" y="5956"/>
                    </a:lnTo>
                    <a:lnTo>
                      <a:pt x="2385339" y="1600"/>
                    </a:lnTo>
                    <a:lnTo>
                      <a:pt x="2377440" y="0"/>
                    </a:lnTo>
                    <a:lnTo>
                      <a:pt x="2357120" y="0"/>
                    </a:lnTo>
                    <a:lnTo>
                      <a:pt x="2357120" y="40640"/>
                    </a:lnTo>
                    <a:lnTo>
                      <a:pt x="2357120" y="1056640"/>
                    </a:lnTo>
                    <a:lnTo>
                      <a:pt x="40640" y="1056640"/>
                    </a:lnTo>
                    <a:lnTo>
                      <a:pt x="40640" y="40640"/>
                    </a:lnTo>
                    <a:lnTo>
                      <a:pt x="2357120" y="40640"/>
                    </a:lnTo>
                    <a:lnTo>
                      <a:pt x="2357120" y="0"/>
                    </a:lnTo>
                    <a:lnTo>
                      <a:pt x="20320" y="0"/>
                    </a:lnTo>
                    <a:lnTo>
                      <a:pt x="12407" y="1600"/>
                    </a:lnTo>
                    <a:lnTo>
                      <a:pt x="5943" y="5956"/>
                    </a:lnTo>
                    <a:lnTo>
                      <a:pt x="1587" y="12420"/>
                    </a:lnTo>
                    <a:lnTo>
                      <a:pt x="0" y="20320"/>
                    </a:lnTo>
                    <a:lnTo>
                      <a:pt x="0" y="1076960"/>
                    </a:lnTo>
                    <a:lnTo>
                      <a:pt x="1587" y="1084872"/>
                    </a:lnTo>
                    <a:lnTo>
                      <a:pt x="5943" y="1091336"/>
                    </a:lnTo>
                    <a:lnTo>
                      <a:pt x="12407" y="1095692"/>
                    </a:lnTo>
                    <a:lnTo>
                      <a:pt x="20320" y="1097280"/>
                    </a:lnTo>
                    <a:lnTo>
                      <a:pt x="600900" y="1097280"/>
                    </a:lnTo>
                    <a:lnTo>
                      <a:pt x="504863" y="2088070"/>
                    </a:lnTo>
                    <a:lnTo>
                      <a:pt x="464413" y="2084146"/>
                    </a:lnTo>
                    <a:lnTo>
                      <a:pt x="513334" y="2211387"/>
                    </a:lnTo>
                    <a:lnTo>
                      <a:pt x="575538" y="2112213"/>
                    </a:lnTo>
                    <a:lnTo>
                      <a:pt x="585762" y="2095919"/>
                    </a:lnTo>
                    <a:lnTo>
                      <a:pt x="545312" y="2091994"/>
                    </a:lnTo>
                    <a:lnTo>
                      <a:pt x="641731" y="1097280"/>
                    </a:lnTo>
                    <a:lnTo>
                      <a:pt x="2377440" y="1097280"/>
                    </a:lnTo>
                    <a:lnTo>
                      <a:pt x="2385339" y="1095692"/>
                    </a:lnTo>
                    <a:lnTo>
                      <a:pt x="2391803" y="1091336"/>
                    </a:lnTo>
                    <a:lnTo>
                      <a:pt x="2396159" y="1084872"/>
                    </a:lnTo>
                    <a:lnTo>
                      <a:pt x="2397760" y="1076960"/>
                    </a:lnTo>
                    <a:lnTo>
                      <a:pt x="2397760" y="1056640"/>
                    </a:lnTo>
                    <a:lnTo>
                      <a:pt x="2397760" y="40640"/>
                    </a:lnTo>
                    <a:lnTo>
                      <a:pt x="2397760" y="20320"/>
                    </a:lnTo>
                    <a:close/>
                  </a:path>
                </a:pathLst>
              </a:custGeom>
              <a:solidFill>
                <a:srgbClr val="FF0000"/>
              </a:solidFill>
            </p:spPr>
            <p:txBody>
              <a:bodyPr wrap="square" lIns="0" tIns="0" rIns="0" bIns="0" rtlCol="0"/>
              <a:lstStyle/>
              <a:p>
                <a:endParaRPr sz="1588"/>
              </a:p>
            </p:txBody>
          </p:sp>
        </p:grpSp>
        <p:sp>
          <p:nvSpPr>
            <p:cNvPr id="201" name="object 201"/>
            <p:cNvSpPr txBox="1"/>
            <p:nvPr/>
          </p:nvSpPr>
          <p:spPr>
            <a:xfrm>
              <a:off x="5148879" y="888402"/>
              <a:ext cx="1652868" cy="418863"/>
            </a:xfrm>
            <a:prstGeom prst="rect">
              <a:avLst/>
            </a:prstGeom>
          </p:spPr>
          <p:txBody>
            <a:bodyPr vert="horz" wrap="square" lIns="0" tIns="11206" rIns="0" bIns="0" rtlCol="0">
              <a:spAutoFit/>
            </a:bodyPr>
            <a:lstStyle/>
            <a:p>
              <a:pPr marL="11206" marR="4483">
                <a:spcBef>
                  <a:spcPts val="88"/>
                </a:spcBef>
              </a:pPr>
              <a:r>
                <a:rPr sz="1324" b="1" spc="-9" dirty="0">
                  <a:solidFill>
                    <a:srgbClr val="660066"/>
                  </a:solidFill>
                  <a:latin typeface="Calibri"/>
                  <a:cs typeface="Calibri"/>
                </a:rPr>
                <a:t>Forwarding</a:t>
              </a:r>
              <a:r>
                <a:rPr sz="1324" b="1" spc="-40" dirty="0">
                  <a:solidFill>
                    <a:srgbClr val="660066"/>
                  </a:solidFill>
                  <a:latin typeface="Calibri"/>
                  <a:cs typeface="Calibri"/>
                </a:rPr>
                <a:t> </a:t>
              </a:r>
              <a:r>
                <a:rPr sz="1324" b="1" dirty="0">
                  <a:solidFill>
                    <a:srgbClr val="660066"/>
                  </a:solidFill>
                  <a:latin typeface="Calibri"/>
                  <a:cs typeface="Calibri"/>
                </a:rPr>
                <a:t>of</a:t>
              </a:r>
              <a:r>
                <a:rPr sz="1324" b="1" spc="-40" dirty="0">
                  <a:solidFill>
                    <a:srgbClr val="660066"/>
                  </a:solidFill>
                  <a:latin typeface="Calibri"/>
                  <a:cs typeface="Calibri"/>
                </a:rPr>
                <a:t> LW</a:t>
              </a:r>
              <a:r>
                <a:rPr sz="1324" b="1" spc="-31" dirty="0">
                  <a:solidFill>
                    <a:srgbClr val="660066"/>
                  </a:solidFill>
                  <a:latin typeface="Calibri"/>
                  <a:cs typeface="Calibri"/>
                </a:rPr>
                <a:t> </a:t>
              </a:r>
              <a:r>
                <a:rPr sz="1324" b="1" spc="-22" dirty="0">
                  <a:solidFill>
                    <a:srgbClr val="660066"/>
                  </a:solidFill>
                  <a:latin typeface="Calibri"/>
                  <a:cs typeface="Calibri"/>
                </a:rPr>
                <a:t>MEM </a:t>
              </a:r>
              <a:r>
                <a:rPr sz="1324" b="1" dirty="0">
                  <a:solidFill>
                    <a:srgbClr val="660066"/>
                  </a:solidFill>
                  <a:latin typeface="Calibri"/>
                  <a:cs typeface="Calibri"/>
                </a:rPr>
                <a:t>outputs</a:t>
              </a:r>
              <a:r>
                <a:rPr sz="1324" b="1" spc="-44" dirty="0">
                  <a:solidFill>
                    <a:srgbClr val="660066"/>
                  </a:solidFill>
                  <a:latin typeface="Calibri"/>
                  <a:cs typeface="Calibri"/>
                </a:rPr>
                <a:t> </a:t>
              </a:r>
              <a:r>
                <a:rPr sz="1324" b="1" dirty="0">
                  <a:solidFill>
                    <a:srgbClr val="660066"/>
                  </a:solidFill>
                  <a:latin typeface="Calibri"/>
                  <a:cs typeface="Calibri"/>
                </a:rPr>
                <a:t>to</a:t>
              </a:r>
              <a:r>
                <a:rPr sz="1324" b="1" spc="-53" dirty="0">
                  <a:solidFill>
                    <a:srgbClr val="660066"/>
                  </a:solidFill>
                  <a:latin typeface="Calibri"/>
                  <a:cs typeface="Calibri"/>
                </a:rPr>
                <a:t> </a:t>
              </a:r>
              <a:r>
                <a:rPr sz="1324" b="1" dirty="0">
                  <a:solidFill>
                    <a:srgbClr val="660066"/>
                  </a:solidFill>
                  <a:latin typeface="Calibri"/>
                  <a:cs typeface="Calibri"/>
                </a:rPr>
                <a:t>SW</a:t>
              </a:r>
              <a:r>
                <a:rPr sz="1324" b="1" spc="-44" dirty="0">
                  <a:solidFill>
                    <a:srgbClr val="660066"/>
                  </a:solidFill>
                  <a:latin typeface="Calibri"/>
                  <a:cs typeface="Calibri"/>
                </a:rPr>
                <a:t> </a:t>
              </a:r>
              <a:r>
                <a:rPr sz="1324" b="1" dirty="0">
                  <a:solidFill>
                    <a:srgbClr val="660066"/>
                  </a:solidFill>
                  <a:latin typeface="Calibri"/>
                  <a:cs typeface="Calibri"/>
                </a:rPr>
                <a:t>MEM</a:t>
              </a:r>
              <a:r>
                <a:rPr sz="1324" b="1" spc="-49" dirty="0">
                  <a:solidFill>
                    <a:srgbClr val="660066"/>
                  </a:solidFill>
                  <a:latin typeface="Calibri"/>
                  <a:cs typeface="Calibri"/>
                </a:rPr>
                <a:t> </a:t>
              </a:r>
              <a:r>
                <a:rPr sz="1324" b="1" spc="-22" dirty="0">
                  <a:solidFill>
                    <a:srgbClr val="660066"/>
                  </a:solidFill>
                  <a:latin typeface="Calibri"/>
                  <a:cs typeface="Calibri"/>
                </a:rPr>
                <a:t>or</a:t>
              </a:r>
              <a:endParaRPr sz="1324" dirty="0">
                <a:latin typeface="Calibri"/>
                <a:cs typeface="Calibri"/>
              </a:endParaRPr>
            </a:p>
          </p:txBody>
        </p:sp>
        <p:sp>
          <p:nvSpPr>
            <p:cNvPr id="202" name="object 202"/>
            <p:cNvSpPr txBox="1"/>
            <p:nvPr/>
          </p:nvSpPr>
          <p:spPr>
            <a:xfrm>
              <a:off x="5131529" y="1291753"/>
              <a:ext cx="1566582" cy="215089"/>
            </a:xfrm>
            <a:prstGeom prst="rect">
              <a:avLst/>
            </a:prstGeom>
          </p:spPr>
          <p:txBody>
            <a:bodyPr vert="horz" wrap="square" lIns="0" tIns="11206" rIns="0" bIns="0" rtlCol="0">
              <a:spAutoFit/>
            </a:bodyPr>
            <a:lstStyle/>
            <a:p>
              <a:pPr marL="33619">
                <a:spcBef>
                  <a:spcPts val="88"/>
                </a:spcBef>
              </a:pPr>
              <a:r>
                <a:rPr sz="1324" b="1" dirty="0">
                  <a:solidFill>
                    <a:srgbClr val="660066"/>
                  </a:solidFill>
                  <a:latin typeface="Calibri"/>
                  <a:cs typeface="Calibri"/>
                </a:rPr>
                <a:t>ALU</a:t>
              </a:r>
              <a:r>
                <a:rPr sz="1324" b="1" spc="-31" dirty="0">
                  <a:solidFill>
                    <a:srgbClr val="660066"/>
                  </a:solidFill>
                  <a:latin typeface="Calibri"/>
                  <a:cs typeface="Calibri"/>
                </a:rPr>
                <a:t> </a:t>
              </a:r>
              <a:r>
                <a:rPr sz="1324" b="1" dirty="0">
                  <a:solidFill>
                    <a:srgbClr val="660066"/>
                  </a:solidFill>
                  <a:latin typeface="Calibri"/>
                  <a:cs typeface="Calibri"/>
                </a:rPr>
                <a:t>inputs</a:t>
              </a:r>
              <a:r>
                <a:rPr sz="1324" b="1" spc="-22" dirty="0">
                  <a:solidFill>
                    <a:srgbClr val="660066"/>
                  </a:solidFill>
                  <a:latin typeface="Calibri"/>
                  <a:cs typeface="Calibri"/>
                </a:rPr>
                <a:t> </a:t>
              </a:r>
              <a:r>
                <a:rPr sz="1324" b="1" dirty="0">
                  <a:solidFill>
                    <a:srgbClr val="660066"/>
                  </a:solidFill>
                  <a:latin typeface="Calibri"/>
                  <a:cs typeface="Calibri"/>
                </a:rPr>
                <a:t>2</a:t>
              </a:r>
              <a:r>
                <a:rPr sz="1324" b="1" spc="-31" dirty="0">
                  <a:solidFill>
                    <a:srgbClr val="660066"/>
                  </a:solidFill>
                  <a:latin typeface="Calibri"/>
                  <a:cs typeface="Calibri"/>
                </a:rPr>
                <a:t> </a:t>
              </a:r>
              <a:r>
                <a:rPr sz="1324" b="1" spc="-9" dirty="0">
                  <a:solidFill>
                    <a:srgbClr val="660066"/>
                  </a:solidFill>
                  <a:latin typeface="Calibri"/>
                  <a:cs typeface="Calibri"/>
                </a:rPr>
                <a:t>cycles</a:t>
              </a:r>
              <a:endParaRPr sz="1324" dirty="0">
                <a:latin typeface="Calibri"/>
                <a:cs typeface="Calibri"/>
              </a:endParaRPr>
            </a:p>
          </p:txBody>
        </p:sp>
        <p:sp>
          <p:nvSpPr>
            <p:cNvPr id="203" name="object 203"/>
            <p:cNvSpPr txBox="1"/>
            <p:nvPr/>
          </p:nvSpPr>
          <p:spPr>
            <a:xfrm>
              <a:off x="5148879" y="1493519"/>
              <a:ext cx="374837" cy="215089"/>
            </a:xfrm>
            <a:prstGeom prst="rect">
              <a:avLst/>
            </a:prstGeom>
          </p:spPr>
          <p:txBody>
            <a:bodyPr vert="horz" wrap="square" lIns="0" tIns="11206" rIns="0" bIns="0" rtlCol="0">
              <a:spAutoFit/>
            </a:bodyPr>
            <a:lstStyle/>
            <a:p>
              <a:pPr marL="11206">
                <a:spcBef>
                  <a:spcPts val="88"/>
                </a:spcBef>
              </a:pPr>
              <a:r>
                <a:rPr sz="1324" b="1" spc="-22" dirty="0">
                  <a:solidFill>
                    <a:srgbClr val="660066"/>
                  </a:solidFill>
                  <a:latin typeface="Calibri"/>
                  <a:cs typeface="Calibri"/>
                </a:rPr>
                <a:t>later.</a:t>
              </a:r>
              <a:endParaRPr sz="1324">
                <a:latin typeface="Calibri"/>
                <a:cs typeface="Calibri"/>
              </a:endParaRPr>
            </a:p>
          </p:txBody>
        </p:sp>
      </p:grpSp>
      <p:sp>
        <p:nvSpPr>
          <p:cNvPr id="186" name="object 186"/>
          <p:cNvSpPr/>
          <p:nvPr/>
        </p:nvSpPr>
        <p:spPr>
          <a:xfrm>
            <a:off x="5733986" y="2635159"/>
            <a:ext cx="846044" cy="2661397"/>
          </a:xfrm>
          <a:custGeom>
            <a:avLst/>
            <a:gdLst/>
            <a:ahLst/>
            <a:cxnLst/>
            <a:rect l="l" t="t" r="r" b="b"/>
            <a:pathLst>
              <a:path w="958850" h="3016250">
                <a:moveTo>
                  <a:pt x="841964" y="2849433"/>
                </a:moveTo>
                <a:lnTo>
                  <a:pt x="783531" y="2866805"/>
                </a:lnTo>
                <a:lnTo>
                  <a:pt x="923296" y="3016045"/>
                </a:lnTo>
                <a:lnTo>
                  <a:pt x="947542" y="2878651"/>
                </a:lnTo>
                <a:lnTo>
                  <a:pt x="850651" y="2878651"/>
                </a:lnTo>
                <a:lnTo>
                  <a:pt x="841964" y="2849433"/>
                </a:lnTo>
                <a:close/>
              </a:path>
              <a:path w="958850" h="3016250">
                <a:moveTo>
                  <a:pt x="900396" y="2832062"/>
                </a:moveTo>
                <a:lnTo>
                  <a:pt x="841964" y="2849433"/>
                </a:lnTo>
                <a:lnTo>
                  <a:pt x="850651" y="2878651"/>
                </a:lnTo>
                <a:lnTo>
                  <a:pt x="909082" y="2861280"/>
                </a:lnTo>
                <a:lnTo>
                  <a:pt x="900396" y="2832062"/>
                </a:lnTo>
                <a:close/>
              </a:path>
              <a:path w="958850" h="3016250">
                <a:moveTo>
                  <a:pt x="958829" y="2814690"/>
                </a:moveTo>
                <a:lnTo>
                  <a:pt x="900396" y="2832062"/>
                </a:lnTo>
                <a:lnTo>
                  <a:pt x="909082" y="2861280"/>
                </a:lnTo>
                <a:lnTo>
                  <a:pt x="850651" y="2878651"/>
                </a:lnTo>
                <a:lnTo>
                  <a:pt x="947542" y="2878651"/>
                </a:lnTo>
                <a:lnTo>
                  <a:pt x="958829" y="2814690"/>
                </a:lnTo>
                <a:close/>
              </a:path>
              <a:path w="958850" h="3016250">
                <a:moveTo>
                  <a:pt x="58432" y="0"/>
                </a:moveTo>
                <a:lnTo>
                  <a:pt x="0" y="17371"/>
                </a:lnTo>
                <a:lnTo>
                  <a:pt x="841964" y="2849433"/>
                </a:lnTo>
                <a:lnTo>
                  <a:pt x="900396" y="2832062"/>
                </a:lnTo>
                <a:lnTo>
                  <a:pt x="58432" y="0"/>
                </a:lnTo>
                <a:close/>
              </a:path>
            </a:pathLst>
          </a:custGeom>
          <a:solidFill>
            <a:srgbClr val="008000"/>
          </a:solidFill>
        </p:spPr>
        <p:txBody>
          <a:bodyPr wrap="square" lIns="0" tIns="0" rIns="0" bIns="0" rtlCol="0"/>
          <a:lstStyle/>
          <a:p>
            <a:endParaRPr sz="1588"/>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7"/>
                                        </p:tgtEl>
                                        <p:attrNameLst>
                                          <p:attrName>style.visibility</p:attrName>
                                        </p:attrNameLst>
                                      </p:cBhvr>
                                      <p:to>
                                        <p:strVal val="visible"/>
                                      </p:to>
                                    </p:set>
                                    <p:animEffect transition="in" filter="fade">
                                      <p:cBhvr>
                                        <p:cTn id="12" dur="500"/>
                                        <p:tgtEl>
                                          <p:spTgt spid="2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8"/>
                                        </p:tgtEl>
                                        <p:attrNameLst>
                                          <p:attrName>style.visibility</p:attrName>
                                        </p:attrNameLst>
                                      </p:cBhvr>
                                      <p:to>
                                        <p:strVal val="visible"/>
                                      </p:to>
                                    </p:set>
                                    <p:animEffect transition="in" filter="fade">
                                      <p:cBhvr>
                                        <p:cTn id="17" dur="500"/>
                                        <p:tgtEl>
                                          <p:spTgt spid="20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6"/>
                                        </p:tgtEl>
                                        <p:attrNameLst>
                                          <p:attrName>style.visibility</p:attrName>
                                        </p:attrNameLst>
                                      </p:cBhvr>
                                      <p:to>
                                        <p:strVal val="visible"/>
                                      </p:to>
                                    </p:set>
                                    <p:animEffect transition="in" filter="fade">
                                      <p:cBhvr>
                                        <p:cTn id="22" dur="5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45751" y="392447"/>
            <a:ext cx="7344514" cy="729461"/>
          </a:xfrm>
          <a:prstGeom prst="rect">
            <a:avLst/>
          </a:prstGeom>
        </p:spPr>
        <p:txBody>
          <a:bodyPr vert="horz" wrap="square" lIns="0" tIns="11206" rIns="0" bIns="0" rtlCol="0" anchor="ctr">
            <a:spAutoFit/>
          </a:bodyPr>
          <a:lstStyle/>
          <a:p>
            <a:pPr marL="11206">
              <a:lnSpc>
                <a:spcPts val="3565"/>
              </a:lnSpc>
              <a:spcBef>
                <a:spcPts val="88"/>
              </a:spcBef>
            </a:pPr>
            <a:r>
              <a:rPr dirty="0"/>
              <a:t>HW</a:t>
            </a:r>
            <a:r>
              <a:rPr spc="22" dirty="0"/>
              <a:t> </a:t>
            </a:r>
            <a:r>
              <a:rPr dirty="0"/>
              <a:t>Datapath</a:t>
            </a:r>
            <a:r>
              <a:rPr spc="18" dirty="0"/>
              <a:t> </a:t>
            </a:r>
            <a:r>
              <a:rPr dirty="0"/>
              <a:t>Changes</a:t>
            </a:r>
            <a:r>
              <a:rPr spc="13" dirty="0"/>
              <a:t> </a:t>
            </a:r>
            <a:r>
              <a:rPr dirty="0"/>
              <a:t>(in</a:t>
            </a:r>
            <a:r>
              <a:rPr spc="22" dirty="0"/>
              <a:t> </a:t>
            </a:r>
            <a:r>
              <a:rPr dirty="0"/>
              <a:t>red)</a:t>
            </a:r>
            <a:r>
              <a:rPr spc="18" dirty="0"/>
              <a:t> </a:t>
            </a:r>
            <a:r>
              <a:rPr dirty="0"/>
              <a:t>for</a:t>
            </a:r>
            <a:r>
              <a:rPr spc="13" dirty="0"/>
              <a:t> </a:t>
            </a:r>
            <a:r>
              <a:rPr spc="-9" dirty="0"/>
              <a:t>Forwarding</a:t>
            </a:r>
          </a:p>
          <a:p>
            <a:pPr marL="11206">
              <a:lnSpc>
                <a:spcPts val="1977"/>
              </a:lnSpc>
            </a:pPr>
            <a:r>
              <a:rPr sz="1677" dirty="0"/>
              <a:t>Figure</a:t>
            </a:r>
            <a:r>
              <a:rPr sz="1677" spc="-4" dirty="0"/>
              <a:t> </a:t>
            </a:r>
            <a:r>
              <a:rPr sz="1677" spc="-18" dirty="0"/>
              <a:t>C.27</a:t>
            </a:r>
            <a:endParaRPr sz="1677" dirty="0"/>
          </a:p>
        </p:txBody>
      </p:sp>
      <p:sp>
        <p:nvSpPr>
          <p:cNvPr id="63" name="Slide Number Placeholder 62">
            <a:extLst>
              <a:ext uri="{FF2B5EF4-FFF2-40B4-BE49-F238E27FC236}">
                <a16:creationId xmlns:a16="http://schemas.microsoft.com/office/drawing/2014/main" id="{CF1FEA2D-55EB-F5C0-B632-3DD7C7418DCE}"/>
              </a:ext>
            </a:extLst>
          </p:cNvPr>
          <p:cNvSpPr>
            <a:spLocks noGrp="1"/>
          </p:cNvSpPr>
          <p:nvPr>
            <p:ph type="sldNum" sz="quarter" idx="7"/>
          </p:nvPr>
        </p:nvSpPr>
        <p:spPr/>
        <p:txBody>
          <a:bodyPr/>
          <a:lstStyle/>
          <a:p>
            <a:fld id="{4FE321F0-2018-4E50-8BB3-A5631EBD98DD}" type="slidenum">
              <a:rPr lang="en-US" smtClean="0"/>
              <a:t>45</a:t>
            </a:fld>
            <a:endParaRPr lang="en-US"/>
          </a:p>
        </p:txBody>
      </p:sp>
      <p:grpSp>
        <p:nvGrpSpPr>
          <p:cNvPr id="4" name="object 4"/>
          <p:cNvGrpSpPr/>
          <p:nvPr/>
        </p:nvGrpSpPr>
        <p:grpSpPr>
          <a:xfrm>
            <a:off x="6978679" y="1937869"/>
            <a:ext cx="385482" cy="3182471"/>
            <a:chOff x="7756769" y="2196252"/>
            <a:chExt cx="436880" cy="3606800"/>
          </a:xfrm>
        </p:grpSpPr>
        <p:sp>
          <p:nvSpPr>
            <p:cNvPr id="5" name="object 5"/>
            <p:cNvSpPr/>
            <p:nvPr/>
          </p:nvSpPr>
          <p:spPr>
            <a:xfrm>
              <a:off x="7772009" y="2211492"/>
              <a:ext cx="406400" cy="3576320"/>
            </a:xfrm>
            <a:custGeom>
              <a:avLst/>
              <a:gdLst/>
              <a:ahLst/>
              <a:cxnLst/>
              <a:rect l="l" t="t" r="r" b="b"/>
              <a:pathLst>
                <a:path w="406400" h="3576320">
                  <a:moveTo>
                    <a:pt x="406400" y="0"/>
                  </a:moveTo>
                  <a:lnTo>
                    <a:pt x="0" y="0"/>
                  </a:lnTo>
                  <a:lnTo>
                    <a:pt x="0" y="3576320"/>
                  </a:lnTo>
                  <a:lnTo>
                    <a:pt x="406400" y="3576320"/>
                  </a:lnTo>
                  <a:lnTo>
                    <a:pt x="406400" y="0"/>
                  </a:lnTo>
                  <a:close/>
                </a:path>
              </a:pathLst>
            </a:custGeom>
            <a:solidFill>
              <a:srgbClr val="00CC00"/>
            </a:solidFill>
          </p:spPr>
          <p:txBody>
            <a:bodyPr wrap="square" lIns="0" tIns="0" rIns="0" bIns="0" rtlCol="0"/>
            <a:lstStyle/>
            <a:p>
              <a:endParaRPr sz="1588"/>
            </a:p>
          </p:txBody>
        </p:sp>
        <p:sp>
          <p:nvSpPr>
            <p:cNvPr id="6" name="object 6"/>
            <p:cNvSpPr/>
            <p:nvPr/>
          </p:nvSpPr>
          <p:spPr>
            <a:xfrm>
              <a:off x="7772009" y="2211492"/>
              <a:ext cx="406400" cy="3576320"/>
            </a:xfrm>
            <a:custGeom>
              <a:avLst/>
              <a:gdLst/>
              <a:ahLst/>
              <a:cxnLst/>
              <a:rect l="l" t="t" r="r" b="b"/>
              <a:pathLst>
                <a:path w="406400" h="3576320">
                  <a:moveTo>
                    <a:pt x="0" y="0"/>
                  </a:moveTo>
                  <a:lnTo>
                    <a:pt x="406399" y="0"/>
                  </a:lnTo>
                  <a:lnTo>
                    <a:pt x="406399" y="3576319"/>
                  </a:lnTo>
                  <a:lnTo>
                    <a:pt x="0" y="3576319"/>
                  </a:lnTo>
                  <a:lnTo>
                    <a:pt x="0" y="0"/>
                  </a:lnTo>
                  <a:close/>
                </a:path>
              </a:pathLst>
            </a:custGeom>
            <a:ln w="30479">
              <a:solidFill>
                <a:srgbClr val="000000"/>
              </a:solidFill>
            </a:ln>
          </p:spPr>
          <p:txBody>
            <a:bodyPr wrap="square" lIns="0" tIns="0" rIns="0" bIns="0" rtlCol="0"/>
            <a:lstStyle/>
            <a:p>
              <a:endParaRPr sz="1588"/>
            </a:p>
          </p:txBody>
        </p:sp>
      </p:grpSp>
      <p:sp>
        <p:nvSpPr>
          <p:cNvPr id="7" name="object 7"/>
          <p:cNvSpPr txBox="1"/>
          <p:nvPr/>
        </p:nvSpPr>
        <p:spPr>
          <a:xfrm>
            <a:off x="7045547" y="3057413"/>
            <a:ext cx="243656" cy="941854"/>
          </a:xfrm>
          <a:prstGeom prst="rect">
            <a:avLst/>
          </a:prstGeom>
        </p:spPr>
        <p:txBody>
          <a:bodyPr vert="vert" wrap="square" lIns="0" tIns="0" rIns="0" bIns="0" rtlCol="0">
            <a:spAutoFit/>
          </a:bodyPr>
          <a:lstStyle/>
          <a:p>
            <a:pPr marL="11206">
              <a:lnSpc>
                <a:spcPts val="1919"/>
              </a:lnSpc>
            </a:pPr>
            <a:r>
              <a:rPr sz="1677" spc="-9" dirty="0">
                <a:latin typeface="Times New Roman"/>
                <a:cs typeface="Times New Roman"/>
              </a:rPr>
              <a:t>MEM/WR</a:t>
            </a:r>
            <a:endParaRPr sz="1677">
              <a:latin typeface="Times New Roman"/>
              <a:cs typeface="Times New Roman"/>
            </a:endParaRPr>
          </a:p>
        </p:txBody>
      </p:sp>
      <p:grpSp>
        <p:nvGrpSpPr>
          <p:cNvPr id="8" name="object 8"/>
          <p:cNvGrpSpPr/>
          <p:nvPr/>
        </p:nvGrpSpPr>
        <p:grpSpPr>
          <a:xfrm>
            <a:off x="2022692" y="1937869"/>
            <a:ext cx="385482" cy="3182471"/>
            <a:chOff x="2139984" y="2196252"/>
            <a:chExt cx="436880" cy="3606800"/>
          </a:xfrm>
        </p:grpSpPr>
        <p:sp>
          <p:nvSpPr>
            <p:cNvPr id="9" name="object 9"/>
            <p:cNvSpPr/>
            <p:nvPr/>
          </p:nvSpPr>
          <p:spPr>
            <a:xfrm>
              <a:off x="2155224" y="2211492"/>
              <a:ext cx="406400" cy="3576320"/>
            </a:xfrm>
            <a:custGeom>
              <a:avLst/>
              <a:gdLst/>
              <a:ahLst/>
              <a:cxnLst/>
              <a:rect l="l" t="t" r="r" b="b"/>
              <a:pathLst>
                <a:path w="406400" h="3576320">
                  <a:moveTo>
                    <a:pt x="406400" y="0"/>
                  </a:moveTo>
                  <a:lnTo>
                    <a:pt x="0" y="0"/>
                  </a:lnTo>
                  <a:lnTo>
                    <a:pt x="0" y="3576320"/>
                  </a:lnTo>
                  <a:lnTo>
                    <a:pt x="406400" y="3576320"/>
                  </a:lnTo>
                  <a:lnTo>
                    <a:pt x="406400" y="0"/>
                  </a:lnTo>
                  <a:close/>
                </a:path>
              </a:pathLst>
            </a:custGeom>
            <a:solidFill>
              <a:srgbClr val="00CC00"/>
            </a:solidFill>
          </p:spPr>
          <p:txBody>
            <a:bodyPr wrap="square" lIns="0" tIns="0" rIns="0" bIns="0" rtlCol="0"/>
            <a:lstStyle/>
            <a:p>
              <a:endParaRPr sz="1588"/>
            </a:p>
          </p:txBody>
        </p:sp>
        <p:sp>
          <p:nvSpPr>
            <p:cNvPr id="10" name="object 10"/>
            <p:cNvSpPr/>
            <p:nvPr/>
          </p:nvSpPr>
          <p:spPr>
            <a:xfrm>
              <a:off x="2155224" y="2211492"/>
              <a:ext cx="406400" cy="3576320"/>
            </a:xfrm>
            <a:custGeom>
              <a:avLst/>
              <a:gdLst/>
              <a:ahLst/>
              <a:cxnLst/>
              <a:rect l="l" t="t" r="r" b="b"/>
              <a:pathLst>
                <a:path w="406400" h="3576320">
                  <a:moveTo>
                    <a:pt x="0" y="0"/>
                  </a:moveTo>
                  <a:lnTo>
                    <a:pt x="406399" y="0"/>
                  </a:lnTo>
                  <a:lnTo>
                    <a:pt x="406399" y="3576319"/>
                  </a:lnTo>
                  <a:lnTo>
                    <a:pt x="0" y="3576319"/>
                  </a:lnTo>
                  <a:lnTo>
                    <a:pt x="0" y="0"/>
                  </a:lnTo>
                  <a:close/>
                </a:path>
              </a:pathLst>
            </a:custGeom>
            <a:ln w="30479">
              <a:solidFill>
                <a:srgbClr val="000000"/>
              </a:solidFill>
            </a:ln>
          </p:spPr>
          <p:txBody>
            <a:bodyPr wrap="square" lIns="0" tIns="0" rIns="0" bIns="0" rtlCol="0"/>
            <a:lstStyle/>
            <a:p>
              <a:endParaRPr sz="1588"/>
            </a:p>
          </p:txBody>
        </p:sp>
      </p:grpSp>
      <p:sp>
        <p:nvSpPr>
          <p:cNvPr id="11" name="object 11"/>
          <p:cNvSpPr txBox="1"/>
          <p:nvPr/>
        </p:nvSpPr>
        <p:spPr>
          <a:xfrm>
            <a:off x="2089561" y="3232225"/>
            <a:ext cx="243656" cy="595032"/>
          </a:xfrm>
          <a:prstGeom prst="rect">
            <a:avLst/>
          </a:prstGeom>
        </p:spPr>
        <p:txBody>
          <a:bodyPr vert="vert" wrap="square" lIns="0" tIns="0" rIns="0" bIns="0" rtlCol="0">
            <a:spAutoFit/>
          </a:bodyPr>
          <a:lstStyle/>
          <a:p>
            <a:pPr marL="11206">
              <a:lnSpc>
                <a:spcPts val="1919"/>
              </a:lnSpc>
            </a:pPr>
            <a:r>
              <a:rPr sz="1677" spc="-9" dirty="0">
                <a:latin typeface="Times New Roman"/>
                <a:cs typeface="Times New Roman"/>
              </a:rPr>
              <a:t>ID/EX</a:t>
            </a:r>
            <a:endParaRPr sz="1677">
              <a:latin typeface="Times New Roman"/>
              <a:cs typeface="Times New Roman"/>
            </a:endParaRPr>
          </a:p>
        </p:txBody>
      </p:sp>
      <p:grpSp>
        <p:nvGrpSpPr>
          <p:cNvPr id="12" name="object 12"/>
          <p:cNvGrpSpPr/>
          <p:nvPr/>
        </p:nvGrpSpPr>
        <p:grpSpPr>
          <a:xfrm>
            <a:off x="4604527" y="1937869"/>
            <a:ext cx="385482" cy="3182471"/>
            <a:chOff x="5066064" y="2196252"/>
            <a:chExt cx="436880" cy="3606800"/>
          </a:xfrm>
        </p:grpSpPr>
        <p:sp>
          <p:nvSpPr>
            <p:cNvPr id="13" name="object 13"/>
            <p:cNvSpPr/>
            <p:nvPr/>
          </p:nvSpPr>
          <p:spPr>
            <a:xfrm>
              <a:off x="5081304" y="2211492"/>
              <a:ext cx="406400" cy="3576320"/>
            </a:xfrm>
            <a:custGeom>
              <a:avLst/>
              <a:gdLst/>
              <a:ahLst/>
              <a:cxnLst/>
              <a:rect l="l" t="t" r="r" b="b"/>
              <a:pathLst>
                <a:path w="406400" h="3576320">
                  <a:moveTo>
                    <a:pt x="406400" y="0"/>
                  </a:moveTo>
                  <a:lnTo>
                    <a:pt x="0" y="0"/>
                  </a:lnTo>
                  <a:lnTo>
                    <a:pt x="0" y="3576320"/>
                  </a:lnTo>
                  <a:lnTo>
                    <a:pt x="406400" y="3576320"/>
                  </a:lnTo>
                  <a:lnTo>
                    <a:pt x="406400" y="0"/>
                  </a:lnTo>
                  <a:close/>
                </a:path>
              </a:pathLst>
            </a:custGeom>
            <a:solidFill>
              <a:srgbClr val="00CC00"/>
            </a:solidFill>
          </p:spPr>
          <p:txBody>
            <a:bodyPr wrap="square" lIns="0" tIns="0" rIns="0" bIns="0" rtlCol="0"/>
            <a:lstStyle/>
            <a:p>
              <a:endParaRPr sz="1588"/>
            </a:p>
          </p:txBody>
        </p:sp>
        <p:sp>
          <p:nvSpPr>
            <p:cNvPr id="14" name="object 14"/>
            <p:cNvSpPr/>
            <p:nvPr/>
          </p:nvSpPr>
          <p:spPr>
            <a:xfrm>
              <a:off x="5081304" y="2211492"/>
              <a:ext cx="406400" cy="3576320"/>
            </a:xfrm>
            <a:custGeom>
              <a:avLst/>
              <a:gdLst/>
              <a:ahLst/>
              <a:cxnLst/>
              <a:rect l="l" t="t" r="r" b="b"/>
              <a:pathLst>
                <a:path w="406400" h="3576320">
                  <a:moveTo>
                    <a:pt x="0" y="0"/>
                  </a:moveTo>
                  <a:lnTo>
                    <a:pt x="406399" y="0"/>
                  </a:lnTo>
                  <a:lnTo>
                    <a:pt x="406399" y="3576319"/>
                  </a:lnTo>
                  <a:lnTo>
                    <a:pt x="0" y="3576319"/>
                  </a:lnTo>
                  <a:lnTo>
                    <a:pt x="0" y="0"/>
                  </a:lnTo>
                  <a:close/>
                </a:path>
              </a:pathLst>
            </a:custGeom>
            <a:ln w="30479">
              <a:solidFill>
                <a:srgbClr val="000000"/>
              </a:solidFill>
            </a:ln>
          </p:spPr>
          <p:txBody>
            <a:bodyPr wrap="square" lIns="0" tIns="0" rIns="0" bIns="0" rtlCol="0"/>
            <a:lstStyle/>
            <a:p>
              <a:endParaRPr sz="1588"/>
            </a:p>
          </p:txBody>
        </p:sp>
      </p:grpSp>
      <p:sp>
        <p:nvSpPr>
          <p:cNvPr id="15" name="object 15"/>
          <p:cNvSpPr txBox="1"/>
          <p:nvPr/>
        </p:nvSpPr>
        <p:spPr>
          <a:xfrm>
            <a:off x="4671395" y="3060102"/>
            <a:ext cx="243656" cy="882463"/>
          </a:xfrm>
          <a:prstGeom prst="rect">
            <a:avLst/>
          </a:prstGeom>
        </p:spPr>
        <p:txBody>
          <a:bodyPr vert="vert" wrap="square" lIns="0" tIns="0" rIns="0" bIns="0" rtlCol="0">
            <a:spAutoFit/>
          </a:bodyPr>
          <a:lstStyle/>
          <a:p>
            <a:pPr marL="11206">
              <a:lnSpc>
                <a:spcPts val="1919"/>
              </a:lnSpc>
            </a:pPr>
            <a:r>
              <a:rPr sz="1677" spc="-9" dirty="0">
                <a:latin typeface="Times New Roman"/>
                <a:cs typeface="Times New Roman"/>
              </a:rPr>
              <a:t>EX/MEM</a:t>
            </a:r>
            <a:endParaRPr sz="1677">
              <a:latin typeface="Times New Roman"/>
              <a:cs typeface="Times New Roman"/>
            </a:endParaRPr>
          </a:p>
        </p:txBody>
      </p:sp>
      <p:sp>
        <p:nvSpPr>
          <p:cNvPr id="16" name="object 16"/>
          <p:cNvSpPr/>
          <p:nvPr/>
        </p:nvSpPr>
        <p:spPr>
          <a:xfrm>
            <a:off x="5904408" y="3098799"/>
            <a:ext cx="860612" cy="1506071"/>
          </a:xfrm>
          <a:custGeom>
            <a:avLst/>
            <a:gdLst/>
            <a:ahLst/>
            <a:cxnLst/>
            <a:rect l="l" t="t" r="r" b="b"/>
            <a:pathLst>
              <a:path w="975359" h="1706879">
                <a:moveTo>
                  <a:pt x="0" y="0"/>
                </a:moveTo>
                <a:lnTo>
                  <a:pt x="975359" y="0"/>
                </a:lnTo>
                <a:lnTo>
                  <a:pt x="975359" y="1706879"/>
                </a:lnTo>
                <a:lnTo>
                  <a:pt x="0" y="1706879"/>
                </a:lnTo>
                <a:lnTo>
                  <a:pt x="0" y="0"/>
                </a:lnTo>
                <a:close/>
              </a:path>
            </a:pathLst>
          </a:custGeom>
          <a:ln w="30479">
            <a:solidFill>
              <a:srgbClr val="000000"/>
            </a:solidFill>
          </a:ln>
        </p:spPr>
        <p:txBody>
          <a:bodyPr wrap="square" lIns="0" tIns="0" rIns="0" bIns="0" rtlCol="0"/>
          <a:lstStyle/>
          <a:p>
            <a:endParaRPr sz="1588"/>
          </a:p>
        </p:txBody>
      </p:sp>
      <p:sp>
        <p:nvSpPr>
          <p:cNvPr id="17" name="object 17"/>
          <p:cNvSpPr txBox="1"/>
          <p:nvPr/>
        </p:nvSpPr>
        <p:spPr>
          <a:xfrm>
            <a:off x="5952969" y="3581401"/>
            <a:ext cx="762560" cy="515035"/>
          </a:xfrm>
          <a:prstGeom prst="rect">
            <a:avLst/>
          </a:prstGeom>
        </p:spPr>
        <p:txBody>
          <a:bodyPr vert="horz" wrap="square" lIns="0" tIns="8404" rIns="0" bIns="0" rtlCol="0">
            <a:spAutoFit/>
          </a:bodyPr>
          <a:lstStyle/>
          <a:p>
            <a:pPr marL="11206" marR="4483" indent="166977">
              <a:lnSpc>
                <a:spcPct val="101099"/>
              </a:lnSpc>
              <a:spcBef>
                <a:spcPts val="66"/>
              </a:spcBef>
            </a:pPr>
            <a:r>
              <a:rPr sz="1677" spc="-18" dirty="0">
                <a:latin typeface="Times New Roman"/>
                <a:cs typeface="Times New Roman"/>
              </a:rPr>
              <a:t>Data </a:t>
            </a:r>
            <a:r>
              <a:rPr sz="1677" spc="-9" dirty="0">
                <a:latin typeface="Times New Roman"/>
                <a:cs typeface="Times New Roman"/>
              </a:rPr>
              <a:t>Memory</a:t>
            </a:r>
            <a:endParaRPr sz="1677">
              <a:latin typeface="Times New Roman"/>
              <a:cs typeface="Times New Roman"/>
            </a:endParaRPr>
          </a:p>
        </p:txBody>
      </p:sp>
      <p:sp>
        <p:nvSpPr>
          <p:cNvPr id="18" name="object 18"/>
          <p:cNvSpPr/>
          <p:nvPr/>
        </p:nvSpPr>
        <p:spPr>
          <a:xfrm>
            <a:off x="3582551" y="2647575"/>
            <a:ext cx="597834" cy="1383926"/>
          </a:xfrm>
          <a:custGeom>
            <a:avLst/>
            <a:gdLst/>
            <a:ahLst/>
            <a:cxnLst/>
            <a:rect l="l" t="t" r="r" b="b"/>
            <a:pathLst>
              <a:path w="677545" h="1568450">
                <a:moveTo>
                  <a:pt x="0" y="0"/>
                </a:moveTo>
                <a:lnTo>
                  <a:pt x="677333" y="484243"/>
                </a:lnTo>
                <a:lnTo>
                  <a:pt x="677333" y="1129901"/>
                </a:lnTo>
                <a:lnTo>
                  <a:pt x="0" y="1568026"/>
                </a:lnTo>
                <a:lnTo>
                  <a:pt x="0" y="1106842"/>
                </a:lnTo>
                <a:lnTo>
                  <a:pt x="243145" y="807072"/>
                </a:lnTo>
                <a:lnTo>
                  <a:pt x="0" y="495773"/>
                </a:lnTo>
                <a:lnTo>
                  <a:pt x="0" y="0"/>
                </a:lnTo>
                <a:close/>
              </a:path>
            </a:pathLst>
          </a:custGeom>
          <a:ln w="30479">
            <a:solidFill>
              <a:srgbClr val="000000"/>
            </a:solidFill>
          </a:ln>
        </p:spPr>
        <p:txBody>
          <a:bodyPr wrap="square" lIns="0" tIns="0" rIns="0" bIns="0" rtlCol="0"/>
          <a:lstStyle/>
          <a:p>
            <a:endParaRPr sz="1588"/>
          </a:p>
        </p:txBody>
      </p:sp>
      <p:sp>
        <p:nvSpPr>
          <p:cNvPr id="19" name="object 19"/>
          <p:cNvSpPr txBox="1"/>
          <p:nvPr/>
        </p:nvSpPr>
        <p:spPr>
          <a:xfrm>
            <a:off x="3850443" y="3148854"/>
            <a:ext cx="218008" cy="414057"/>
          </a:xfrm>
          <a:prstGeom prst="rect">
            <a:avLst/>
          </a:prstGeom>
        </p:spPr>
        <p:txBody>
          <a:bodyPr vert="vert" wrap="square" lIns="0" tIns="0" rIns="0" bIns="0" rtlCol="0">
            <a:spAutoFit/>
          </a:bodyPr>
          <a:lstStyle/>
          <a:p>
            <a:pPr marL="11206">
              <a:lnSpc>
                <a:spcPts val="1725"/>
              </a:lnSpc>
            </a:pPr>
            <a:r>
              <a:rPr sz="1500" spc="-22" dirty="0">
                <a:latin typeface="Times New Roman"/>
                <a:cs typeface="Times New Roman"/>
              </a:rPr>
              <a:t>ALU</a:t>
            </a:r>
            <a:endParaRPr sz="1500">
              <a:latin typeface="Times New Roman"/>
              <a:cs typeface="Times New Roman"/>
            </a:endParaRPr>
          </a:p>
        </p:txBody>
      </p:sp>
      <p:sp>
        <p:nvSpPr>
          <p:cNvPr id="20" name="object 20"/>
          <p:cNvSpPr/>
          <p:nvPr/>
        </p:nvSpPr>
        <p:spPr>
          <a:xfrm>
            <a:off x="2960997" y="2453340"/>
            <a:ext cx="358588" cy="717176"/>
          </a:xfrm>
          <a:custGeom>
            <a:avLst/>
            <a:gdLst/>
            <a:ahLst/>
            <a:cxnLst/>
            <a:rect l="l" t="t" r="r" b="b"/>
            <a:pathLst>
              <a:path w="406400" h="812800">
                <a:moveTo>
                  <a:pt x="0" y="67735"/>
                </a:moveTo>
                <a:lnTo>
                  <a:pt x="5322" y="41369"/>
                </a:lnTo>
                <a:lnTo>
                  <a:pt x="19839" y="19839"/>
                </a:lnTo>
                <a:lnTo>
                  <a:pt x="41369" y="5322"/>
                </a:lnTo>
                <a:lnTo>
                  <a:pt x="67735" y="0"/>
                </a:lnTo>
                <a:lnTo>
                  <a:pt x="338664" y="0"/>
                </a:lnTo>
                <a:lnTo>
                  <a:pt x="365030" y="5322"/>
                </a:lnTo>
                <a:lnTo>
                  <a:pt x="386560" y="19839"/>
                </a:lnTo>
                <a:lnTo>
                  <a:pt x="401077" y="41369"/>
                </a:lnTo>
                <a:lnTo>
                  <a:pt x="406399" y="67735"/>
                </a:lnTo>
                <a:lnTo>
                  <a:pt x="406399" y="745064"/>
                </a:lnTo>
                <a:lnTo>
                  <a:pt x="401077" y="771430"/>
                </a:lnTo>
                <a:lnTo>
                  <a:pt x="386560" y="792960"/>
                </a:lnTo>
                <a:lnTo>
                  <a:pt x="365030" y="807477"/>
                </a:lnTo>
                <a:lnTo>
                  <a:pt x="338664" y="812799"/>
                </a:lnTo>
                <a:lnTo>
                  <a:pt x="67735" y="812799"/>
                </a:lnTo>
                <a:lnTo>
                  <a:pt x="41369" y="807477"/>
                </a:lnTo>
                <a:lnTo>
                  <a:pt x="19839" y="792960"/>
                </a:lnTo>
                <a:lnTo>
                  <a:pt x="5322" y="771430"/>
                </a:lnTo>
                <a:lnTo>
                  <a:pt x="0" y="745064"/>
                </a:lnTo>
                <a:lnTo>
                  <a:pt x="0" y="67735"/>
                </a:lnTo>
                <a:close/>
              </a:path>
            </a:pathLst>
          </a:custGeom>
          <a:ln w="30479">
            <a:solidFill>
              <a:srgbClr val="000000"/>
            </a:solidFill>
          </a:ln>
        </p:spPr>
        <p:txBody>
          <a:bodyPr wrap="square" lIns="0" tIns="0" rIns="0" bIns="0" rtlCol="0"/>
          <a:lstStyle/>
          <a:p>
            <a:endParaRPr sz="1588"/>
          </a:p>
        </p:txBody>
      </p:sp>
      <p:sp>
        <p:nvSpPr>
          <p:cNvPr id="21" name="object 21"/>
          <p:cNvSpPr txBox="1"/>
          <p:nvPr/>
        </p:nvSpPr>
        <p:spPr>
          <a:xfrm>
            <a:off x="3014418" y="2597523"/>
            <a:ext cx="243656" cy="428065"/>
          </a:xfrm>
          <a:prstGeom prst="rect">
            <a:avLst/>
          </a:prstGeom>
        </p:spPr>
        <p:txBody>
          <a:bodyPr vert="vert" wrap="square" lIns="0" tIns="0" rIns="0" bIns="0" rtlCol="0">
            <a:spAutoFit/>
          </a:bodyPr>
          <a:lstStyle/>
          <a:p>
            <a:pPr marL="11206">
              <a:lnSpc>
                <a:spcPts val="1919"/>
              </a:lnSpc>
            </a:pPr>
            <a:r>
              <a:rPr sz="1677" spc="-22" dirty="0">
                <a:latin typeface="Times New Roman"/>
                <a:cs typeface="Times New Roman"/>
              </a:rPr>
              <a:t>Mux</a:t>
            </a:r>
            <a:endParaRPr sz="1677">
              <a:latin typeface="Times New Roman"/>
              <a:cs typeface="Times New Roman"/>
            </a:endParaRPr>
          </a:p>
        </p:txBody>
      </p:sp>
      <p:sp>
        <p:nvSpPr>
          <p:cNvPr id="22" name="object 22"/>
          <p:cNvSpPr/>
          <p:nvPr/>
        </p:nvSpPr>
        <p:spPr>
          <a:xfrm>
            <a:off x="2960997" y="3527611"/>
            <a:ext cx="358588" cy="717176"/>
          </a:xfrm>
          <a:custGeom>
            <a:avLst/>
            <a:gdLst/>
            <a:ahLst/>
            <a:cxnLst/>
            <a:rect l="l" t="t" r="r" b="b"/>
            <a:pathLst>
              <a:path w="406400" h="812800">
                <a:moveTo>
                  <a:pt x="0" y="67735"/>
                </a:moveTo>
                <a:lnTo>
                  <a:pt x="5322" y="41369"/>
                </a:lnTo>
                <a:lnTo>
                  <a:pt x="19839" y="19839"/>
                </a:lnTo>
                <a:lnTo>
                  <a:pt x="41369" y="5322"/>
                </a:lnTo>
                <a:lnTo>
                  <a:pt x="67735" y="0"/>
                </a:lnTo>
                <a:lnTo>
                  <a:pt x="338664" y="0"/>
                </a:lnTo>
                <a:lnTo>
                  <a:pt x="365030" y="5322"/>
                </a:lnTo>
                <a:lnTo>
                  <a:pt x="386560" y="19839"/>
                </a:lnTo>
                <a:lnTo>
                  <a:pt x="401077" y="41369"/>
                </a:lnTo>
                <a:lnTo>
                  <a:pt x="406399" y="67735"/>
                </a:lnTo>
                <a:lnTo>
                  <a:pt x="406399" y="745064"/>
                </a:lnTo>
                <a:lnTo>
                  <a:pt x="401077" y="771430"/>
                </a:lnTo>
                <a:lnTo>
                  <a:pt x="386560" y="792960"/>
                </a:lnTo>
                <a:lnTo>
                  <a:pt x="365030" y="807477"/>
                </a:lnTo>
                <a:lnTo>
                  <a:pt x="338664" y="812799"/>
                </a:lnTo>
                <a:lnTo>
                  <a:pt x="67735" y="812799"/>
                </a:lnTo>
                <a:lnTo>
                  <a:pt x="41369" y="807477"/>
                </a:lnTo>
                <a:lnTo>
                  <a:pt x="19839" y="792960"/>
                </a:lnTo>
                <a:lnTo>
                  <a:pt x="5322" y="771430"/>
                </a:lnTo>
                <a:lnTo>
                  <a:pt x="0" y="745064"/>
                </a:lnTo>
                <a:lnTo>
                  <a:pt x="0" y="67735"/>
                </a:lnTo>
                <a:close/>
              </a:path>
            </a:pathLst>
          </a:custGeom>
          <a:ln w="30479">
            <a:solidFill>
              <a:srgbClr val="000000"/>
            </a:solidFill>
          </a:ln>
        </p:spPr>
        <p:txBody>
          <a:bodyPr wrap="square" lIns="0" tIns="0" rIns="0" bIns="0" rtlCol="0"/>
          <a:lstStyle/>
          <a:p>
            <a:endParaRPr sz="1588"/>
          </a:p>
        </p:txBody>
      </p:sp>
      <p:sp>
        <p:nvSpPr>
          <p:cNvPr id="23" name="object 23"/>
          <p:cNvSpPr txBox="1"/>
          <p:nvPr/>
        </p:nvSpPr>
        <p:spPr>
          <a:xfrm>
            <a:off x="3014418" y="3670598"/>
            <a:ext cx="243656" cy="428065"/>
          </a:xfrm>
          <a:prstGeom prst="rect">
            <a:avLst/>
          </a:prstGeom>
        </p:spPr>
        <p:txBody>
          <a:bodyPr vert="vert" wrap="square" lIns="0" tIns="0" rIns="0" bIns="0" rtlCol="0">
            <a:spAutoFit/>
          </a:bodyPr>
          <a:lstStyle/>
          <a:p>
            <a:pPr marL="11206">
              <a:lnSpc>
                <a:spcPts val="1919"/>
              </a:lnSpc>
            </a:pPr>
            <a:r>
              <a:rPr sz="1677" spc="-22" dirty="0">
                <a:latin typeface="Times New Roman"/>
                <a:cs typeface="Times New Roman"/>
              </a:rPr>
              <a:t>Mux</a:t>
            </a:r>
            <a:endParaRPr sz="1677">
              <a:latin typeface="Times New Roman"/>
              <a:cs typeface="Times New Roman"/>
            </a:endParaRPr>
          </a:p>
        </p:txBody>
      </p:sp>
      <p:grpSp>
        <p:nvGrpSpPr>
          <p:cNvPr id="24" name="object 24"/>
          <p:cNvGrpSpPr/>
          <p:nvPr/>
        </p:nvGrpSpPr>
        <p:grpSpPr>
          <a:xfrm>
            <a:off x="939456" y="2583328"/>
            <a:ext cx="2667000" cy="1461247"/>
            <a:chOff x="912317" y="2927772"/>
            <a:chExt cx="3022600" cy="1656080"/>
          </a:xfrm>
        </p:grpSpPr>
        <p:sp>
          <p:nvSpPr>
            <p:cNvPr id="25" name="object 25"/>
            <p:cNvSpPr/>
            <p:nvPr/>
          </p:nvSpPr>
          <p:spPr>
            <a:xfrm>
              <a:off x="3609797" y="3141141"/>
              <a:ext cx="325120" cy="1229360"/>
            </a:xfrm>
            <a:custGeom>
              <a:avLst/>
              <a:gdLst/>
              <a:ahLst/>
              <a:cxnLst/>
              <a:rect l="l" t="t" r="r" b="b"/>
              <a:pathLst>
                <a:path w="325120" h="1229360">
                  <a:moveTo>
                    <a:pt x="325120" y="1183640"/>
                  </a:moveTo>
                  <a:lnTo>
                    <a:pt x="294627" y="1168400"/>
                  </a:lnTo>
                  <a:lnTo>
                    <a:pt x="233680" y="1137920"/>
                  </a:lnTo>
                  <a:lnTo>
                    <a:pt x="233680" y="1168400"/>
                  </a:lnTo>
                  <a:lnTo>
                    <a:pt x="0" y="1168400"/>
                  </a:lnTo>
                  <a:lnTo>
                    <a:pt x="0" y="1198880"/>
                  </a:lnTo>
                  <a:lnTo>
                    <a:pt x="233680" y="1198880"/>
                  </a:lnTo>
                  <a:lnTo>
                    <a:pt x="233680" y="1229360"/>
                  </a:lnTo>
                  <a:lnTo>
                    <a:pt x="294640" y="1198880"/>
                  </a:lnTo>
                  <a:lnTo>
                    <a:pt x="325120" y="1183640"/>
                  </a:lnTo>
                  <a:close/>
                </a:path>
                <a:path w="325120" h="1229360">
                  <a:moveTo>
                    <a:pt x="325120" y="45720"/>
                  </a:moveTo>
                  <a:lnTo>
                    <a:pt x="294627" y="30480"/>
                  </a:lnTo>
                  <a:lnTo>
                    <a:pt x="233680" y="0"/>
                  </a:lnTo>
                  <a:lnTo>
                    <a:pt x="233680" y="30480"/>
                  </a:lnTo>
                  <a:lnTo>
                    <a:pt x="0" y="30480"/>
                  </a:lnTo>
                  <a:lnTo>
                    <a:pt x="0" y="60960"/>
                  </a:lnTo>
                  <a:lnTo>
                    <a:pt x="233680" y="60960"/>
                  </a:lnTo>
                  <a:lnTo>
                    <a:pt x="233680" y="91440"/>
                  </a:lnTo>
                  <a:lnTo>
                    <a:pt x="294640" y="60960"/>
                  </a:lnTo>
                  <a:lnTo>
                    <a:pt x="325120" y="45720"/>
                  </a:lnTo>
                  <a:close/>
                </a:path>
              </a:pathLst>
            </a:custGeom>
            <a:solidFill>
              <a:srgbClr val="000000"/>
            </a:solidFill>
          </p:spPr>
          <p:txBody>
            <a:bodyPr wrap="square" lIns="0" tIns="0" rIns="0" bIns="0" rtlCol="0"/>
            <a:lstStyle/>
            <a:p>
              <a:endParaRPr sz="1588"/>
            </a:p>
          </p:txBody>
        </p:sp>
        <p:sp>
          <p:nvSpPr>
            <p:cNvPr id="26" name="object 26"/>
            <p:cNvSpPr/>
            <p:nvPr/>
          </p:nvSpPr>
          <p:spPr>
            <a:xfrm>
              <a:off x="927557" y="2943012"/>
              <a:ext cx="731520" cy="1625600"/>
            </a:xfrm>
            <a:custGeom>
              <a:avLst/>
              <a:gdLst/>
              <a:ahLst/>
              <a:cxnLst/>
              <a:rect l="l" t="t" r="r" b="b"/>
              <a:pathLst>
                <a:path w="731519" h="1625600">
                  <a:moveTo>
                    <a:pt x="731519" y="1625599"/>
                  </a:moveTo>
                  <a:lnTo>
                    <a:pt x="0" y="1625599"/>
                  </a:lnTo>
                  <a:lnTo>
                    <a:pt x="0" y="0"/>
                  </a:lnTo>
                  <a:lnTo>
                    <a:pt x="731519" y="0"/>
                  </a:lnTo>
                  <a:lnTo>
                    <a:pt x="731519" y="1625599"/>
                  </a:lnTo>
                  <a:close/>
                </a:path>
              </a:pathLst>
            </a:custGeom>
            <a:ln w="30479">
              <a:solidFill>
                <a:srgbClr val="000000"/>
              </a:solidFill>
            </a:ln>
          </p:spPr>
          <p:txBody>
            <a:bodyPr wrap="square" lIns="0" tIns="0" rIns="0" bIns="0" rtlCol="0"/>
            <a:lstStyle/>
            <a:p>
              <a:endParaRPr sz="1588"/>
            </a:p>
          </p:txBody>
        </p:sp>
      </p:grpSp>
      <p:sp>
        <p:nvSpPr>
          <p:cNvPr id="27" name="object 27"/>
          <p:cNvSpPr txBox="1"/>
          <p:nvPr/>
        </p:nvSpPr>
        <p:spPr>
          <a:xfrm>
            <a:off x="1149760" y="2901427"/>
            <a:ext cx="243656" cy="822512"/>
          </a:xfrm>
          <a:prstGeom prst="rect">
            <a:avLst/>
          </a:prstGeom>
        </p:spPr>
        <p:txBody>
          <a:bodyPr vert="vert" wrap="square" lIns="0" tIns="0" rIns="0" bIns="0" rtlCol="0">
            <a:spAutoFit/>
          </a:bodyPr>
          <a:lstStyle/>
          <a:p>
            <a:pPr marL="11206">
              <a:lnSpc>
                <a:spcPts val="1919"/>
              </a:lnSpc>
            </a:pPr>
            <a:r>
              <a:rPr sz="1677" spc="-9" dirty="0">
                <a:latin typeface="Times New Roman"/>
                <a:cs typeface="Times New Roman"/>
              </a:rPr>
              <a:t>Registers</a:t>
            </a:r>
            <a:endParaRPr sz="1677">
              <a:latin typeface="Times New Roman"/>
              <a:cs typeface="Times New Roman"/>
            </a:endParaRPr>
          </a:p>
        </p:txBody>
      </p:sp>
      <p:sp>
        <p:nvSpPr>
          <p:cNvPr id="28" name="object 28"/>
          <p:cNvSpPr/>
          <p:nvPr/>
        </p:nvSpPr>
        <p:spPr>
          <a:xfrm>
            <a:off x="1598362" y="2986748"/>
            <a:ext cx="1362635" cy="726141"/>
          </a:xfrm>
          <a:custGeom>
            <a:avLst/>
            <a:gdLst/>
            <a:ahLst/>
            <a:cxnLst/>
            <a:rect l="l" t="t" r="r" b="b"/>
            <a:pathLst>
              <a:path w="1544320" h="822960">
                <a:moveTo>
                  <a:pt x="487680" y="777240"/>
                </a:moveTo>
                <a:lnTo>
                  <a:pt x="457187" y="762000"/>
                </a:lnTo>
                <a:lnTo>
                  <a:pt x="396240" y="731520"/>
                </a:lnTo>
                <a:lnTo>
                  <a:pt x="396240" y="762000"/>
                </a:lnTo>
                <a:lnTo>
                  <a:pt x="0" y="762000"/>
                </a:lnTo>
                <a:lnTo>
                  <a:pt x="0" y="792480"/>
                </a:lnTo>
                <a:lnTo>
                  <a:pt x="396240" y="792480"/>
                </a:lnTo>
                <a:lnTo>
                  <a:pt x="396240" y="822960"/>
                </a:lnTo>
                <a:lnTo>
                  <a:pt x="457200" y="792480"/>
                </a:lnTo>
                <a:lnTo>
                  <a:pt x="487680" y="777240"/>
                </a:lnTo>
                <a:close/>
              </a:path>
              <a:path w="1544320" h="822960">
                <a:moveTo>
                  <a:pt x="487680" y="45720"/>
                </a:moveTo>
                <a:lnTo>
                  <a:pt x="457200" y="30480"/>
                </a:lnTo>
                <a:lnTo>
                  <a:pt x="396240" y="0"/>
                </a:lnTo>
                <a:lnTo>
                  <a:pt x="396240" y="30480"/>
                </a:lnTo>
                <a:lnTo>
                  <a:pt x="0" y="30480"/>
                </a:lnTo>
                <a:lnTo>
                  <a:pt x="0" y="60960"/>
                </a:lnTo>
                <a:lnTo>
                  <a:pt x="396240" y="60960"/>
                </a:lnTo>
                <a:lnTo>
                  <a:pt x="396240" y="91440"/>
                </a:lnTo>
                <a:lnTo>
                  <a:pt x="457200" y="60960"/>
                </a:lnTo>
                <a:lnTo>
                  <a:pt x="487680" y="45720"/>
                </a:lnTo>
                <a:close/>
              </a:path>
              <a:path w="1544320" h="822960">
                <a:moveTo>
                  <a:pt x="1544320" y="777240"/>
                </a:moveTo>
                <a:lnTo>
                  <a:pt x="1513827" y="762000"/>
                </a:lnTo>
                <a:lnTo>
                  <a:pt x="1452880" y="731520"/>
                </a:lnTo>
                <a:lnTo>
                  <a:pt x="1452880" y="762000"/>
                </a:lnTo>
                <a:lnTo>
                  <a:pt x="894080" y="762000"/>
                </a:lnTo>
                <a:lnTo>
                  <a:pt x="894080" y="792480"/>
                </a:lnTo>
                <a:lnTo>
                  <a:pt x="1452880" y="792480"/>
                </a:lnTo>
                <a:lnTo>
                  <a:pt x="1452880" y="822960"/>
                </a:lnTo>
                <a:lnTo>
                  <a:pt x="1513827" y="792480"/>
                </a:lnTo>
                <a:lnTo>
                  <a:pt x="1544320" y="777240"/>
                </a:lnTo>
                <a:close/>
              </a:path>
              <a:path w="1544320" h="822960">
                <a:moveTo>
                  <a:pt x="1544320" y="45720"/>
                </a:moveTo>
                <a:lnTo>
                  <a:pt x="1513840" y="30480"/>
                </a:lnTo>
                <a:lnTo>
                  <a:pt x="1452880" y="0"/>
                </a:lnTo>
                <a:lnTo>
                  <a:pt x="1452880" y="30480"/>
                </a:lnTo>
                <a:lnTo>
                  <a:pt x="894080" y="30480"/>
                </a:lnTo>
                <a:lnTo>
                  <a:pt x="894080" y="60960"/>
                </a:lnTo>
                <a:lnTo>
                  <a:pt x="1452880" y="60960"/>
                </a:lnTo>
                <a:lnTo>
                  <a:pt x="1452880" y="91440"/>
                </a:lnTo>
                <a:lnTo>
                  <a:pt x="1513840" y="60960"/>
                </a:lnTo>
                <a:lnTo>
                  <a:pt x="1544320" y="45720"/>
                </a:lnTo>
                <a:close/>
              </a:path>
            </a:pathLst>
          </a:custGeom>
          <a:solidFill>
            <a:srgbClr val="000000"/>
          </a:solidFill>
        </p:spPr>
        <p:txBody>
          <a:bodyPr wrap="square" lIns="0" tIns="0" rIns="0" bIns="0" rtlCol="0"/>
          <a:lstStyle/>
          <a:p>
            <a:endParaRPr sz="1588"/>
          </a:p>
        </p:txBody>
      </p:sp>
      <p:sp>
        <p:nvSpPr>
          <p:cNvPr id="29" name="object 29"/>
          <p:cNvSpPr txBox="1"/>
          <p:nvPr/>
        </p:nvSpPr>
        <p:spPr>
          <a:xfrm>
            <a:off x="896125" y="2054710"/>
            <a:ext cx="675715" cy="242148"/>
          </a:xfrm>
          <a:prstGeom prst="rect">
            <a:avLst/>
          </a:prstGeom>
        </p:spPr>
        <p:txBody>
          <a:bodyPr vert="horz" wrap="square" lIns="0" tIns="11206" rIns="0" bIns="0" rtlCol="0">
            <a:spAutoFit/>
          </a:bodyPr>
          <a:lstStyle/>
          <a:p>
            <a:pPr marL="11206">
              <a:spcBef>
                <a:spcPts val="88"/>
              </a:spcBef>
            </a:pPr>
            <a:r>
              <a:rPr sz="1500" dirty="0">
                <a:latin typeface="Times New Roman"/>
                <a:cs typeface="Times New Roman"/>
              </a:rPr>
              <a:t>Next </a:t>
            </a:r>
            <a:r>
              <a:rPr sz="1500" spc="-22" dirty="0">
                <a:latin typeface="Times New Roman"/>
                <a:cs typeface="Times New Roman"/>
              </a:rPr>
              <a:t>PC</a:t>
            </a:r>
            <a:endParaRPr sz="1500">
              <a:latin typeface="Times New Roman"/>
              <a:cs typeface="Times New Roman"/>
            </a:endParaRPr>
          </a:p>
        </p:txBody>
      </p:sp>
      <p:sp>
        <p:nvSpPr>
          <p:cNvPr id="30" name="object 30"/>
          <p:cNvSpPr/>
          <p:nvPr/>
        </p:nvSpPr>
        <p:spPr>
          <a:xfrm>
            <a:off x="1598362" y="2126136"/>
            <a:ext cx="1362635" cy="797859"/>
          </a:xfrm>
          <a:custGeom>
            <a:avLst/>
            <a:gdLst/>
            <a:ahLst/>
            <a:cxnLst/>
            <a:rect l="l" t="t" r="r" b="b"/>
            <a:pathLst>
              <a:path w="1544320" h="904239">
                <a:moveTo>
                  <a:pt x="487680" y="45720"/>
                </a:moveTo>
                <a:lnTo>
                  <a:pt x="457200" y="30480"/>
                </a:lnTo>
                <a:lnTo>
                  <a:pt x="396240" y="0"/>
                </a:lnTo>
                <a:lnTo>
                  <a:pt x="396240" y="30480"/>
                </a:lnTo>
                <a:lnTo>
                  <a:pt x="0" y="30480"/>
                </a:lnTo>
                <a:lnTo>
                  <a:pt x="0" y="60960"/>
                </a:lnTo>
                <a:lnTo>
                  <a:pt x="396240" y="60960"/>
                </a:lnTo>
                <a:lnTo>
                  <a:pt x="396240" y="91440"/>
                </a:lnTo>
                <a:lnTo>
                  <a:pt x="457200" y="60960"/>
                </a:lnTo>
                <a:lnTo>
                  <a:pt x="487680" y="45720"/>
                </a:lnTo>
                <a:close/>
              </a:path>
              <a:path w="1544320" h="904239">
                <a:moveTo>
                  <a:pt x="1544320" y="858520"/>
                </a:moveTo>
                <a:lnTo>
                  <a:pt x="1513840" y="843280"/>
                </a:lnTo>
                <a:lnTo>
                  <a:pt x="1452880" y="812800"/>
                </a:lnTo>
                <a:lnTo>
                  <a:pt x="1452880" y="843280"/>
                </a:lnTo>
                <a:lnTo>
                  <a:pt x="1153160" y="843280"/>
                </a:lnTo>
                <a:lnTo>
                  <a:pt x="1153160" y="60960"/>
                </a:lnTo>
                <a:lnTo>
                  <a:pt x="1153160" y="45720"/>
                </a:lnTo>
                <a:lnTo>
                  <a:pt x="1153160" y="37299"/>
                </a:lnTo>
                <a:lnTo>
                  <a:pt x="1146327" y="30480"/>
                </a:lnTo>
                <a:lnTo>
                  <a:pt x="894080" y="30480"/>
                </a:lnTo>
                <a:lnTo>
                  <a:pt x="894080" y="60960"/>
                </a:lnTo>
                <a:lnTo>
                  <a:pt x="1122680" y="60960"/>
                </a:lnTo>
                <a:lnTo>
                  <a:pt x="1122680" y="866927"/>
                </a:lnTo>
                <a:lnTo>
                  <a:pt x="1129499" y="873760"/>
                </a:lnTo>
                <a:lnTo>
                  <a:pt x="1452880" y="873760"/>
                </a:lnTo>
                <a:lnTo>
                  <a:pt x="1452880" y="904240"/>
                </a:lnTo>
                <a:lnTo>
                  <a:pt x="1513827" y="873760"/>
                </a:lnTo>
                <a:lnTo>
                  <a:pt x="1544320" y="858520"/>
                </a:lnTo>
                <a:close/>
              </a:path>
            </a:pathLst>
          </a:custGeom>
          <a:solidFill>
            <a:srgbClr val="000000"/>
          </a:solidFill>
        </p:spPr>
        <p:txBody>
          <a:bodyPr wrap="square" lIns="0" tIns="0" rIns="0" bIns="0" rtlCol="0"/>
          <a:lstStyle/>
          <a:p>
            <a:endParaRPr sz="1588"/>
          </a:p>
        </p:txBody>
      </p:sp>
      <p:sp>
        <p:nvSpPr>
          <p:cNvPr id="31" name="object 31"/>
          <p:cNvSpPr txBox="1"/>
          <p:nvPr/>
        </p:nvSpPr>
        <p:spPr>
          <a:xfrm>
            <a:off x="748955" y="4241202"/>
            <a:ext cx="844924" cy="242148"/>
          </a:xfrm>
          <a:prstGeom prst="rect">
            <a:avLst/>
          </a:prstGeom>
        </p:spPr>
        <p:txBody>
          <a:bodyPr vert="horz" wrap="square" lIns="0" tIns="11206" rIns="0" bIns="0" rtlCol="0">
            <a:spAutoFit/>
          </a:bodyPr>
          <a:lstStyle/>
          <a:p>
            <a:pPr marL="11206">
              <a:spcBef>
                <a:spcPts val="88"/>
              </a:spcBef>
            </a:pPr>
            <a:r>
              <a:rPr sz="1500" spc="-9" dirty="0">
                <a:latin typeface="Times New Roman"/>
                <a:cs typeface="Times New Roman"/>
              </a:rPr>
              <a:t>Immediate</a:t>
            </a:r>
            <a:endParaRPr sz="1500">
              <a:latin typeface="Times New Roman"/>
              <a:cs typeface="Times New Roman"/>
            </a:endParaRPr>
          </a:p>
        </p:txBody>
      </p:sp>
      <p:grpSp>
        <p:nvGrpSpPr>
          <p:cNvPr id="32" name="object 32"/>
          <p:cNvGrpSpPr/>
          <p:nvPr/>
        </p:nvGrpSpPr>
        <p:grpSpPr>
          <a:xfrm>
            <a:off x="1670080" y="1579289"/>
            <a:ext cx="6964076" cy="4107325"/>
            <a:chOff x="1740358" y="1789861"/>
            <a:chExt cx="7892625" cy="4654969"/>
          </a:xfrm>
        </p:grpSpPr>
        <p:sp>
          <p:nvSpPr>
            <p:cNvPr id="33" name="object 33"/>
            <p:cNvSpPr/>
            <p:nvPr/>
          </p:nvSpPr>
          <p:spPr>
            <a:xfrm>
              <a:off x="1740358" y="3791381"/>
              <a:ext cx="4787268" cy="1229360"/>
            </a:xfrm>
            <a:custGeom>
              <a:avLst/>
              <a:gdLst/>
              <a:ahLst/>
              <a:cxnLst/>
              <a:rect l="l" t="t" r="r" b="b"/>
              <a:pathLst>
                <a:path w="4787265" h="1229360">
                  <a:moveTo>
                    <a:pt x="406400" y="1183640"/>
                  </a:moveTo>
                  <a:lnTo>
                    <a:pt x="375920" y="1168400"/>
                  </a:lnTo>
                  <a:lnTo>
                    <a:pt x="314960" y="1137920"/>
                  </a:lnTo>
                  <a:lnTo>
                    <a:pt x="314960" y="1168400"/>
                  </a:lnTo>
                  <a:lnTo>
                    <a:pt x="0" y="1168400"/>
                  </a:lnTo>
                  <a:lnTo>
                    <a:pt x="0" y="1198880"/>
                  </a:lnTo>
                  <a:lnTo>
                    <a:pt x="314960" y="1198880"/>
                  </a:lnTo>
                  <a:lnTo>
                    <a:pt x="314960" y="1229360"/>
                  </a:lnTo>
                  <a:lnTo>
                    <a:pt x="375907" y="1198880"/>
                  </a:lnTo>
                  <a:lnTo>
                    <a:pt x="406400" y="1183640"/>
                  </a:lnTo>
                  <a:close/>
                </a:path>
                <a:path w="4787265" h="1229360">
                  <a:moveTo>
                    <a:pt x="1433588" y="547649"/>
                  </a:moveTo>
                  <a:lnTo>
                    <a:pt x="1386636" y="547649"/>
                  </a:lnTo>
                  <a:lnTo>
                    <a:pt x="1371396" y="547649"/>
                  </a:lnTo>
                  <a:lnTo>
                    <a:pt x="1371003" y="577926"/>
                  </a:lnTo>
                  <a:lnTo>
                    <a:pt x="1433588" y="547649"/>
                  </a:lnTo>
                  <a:close/>
                </a:path>
                <a:path w="4787265" h="1229360">
                  <a:moveTo>
                    <a:pt x="3332480" y="1097280"/>
                  </a:moveTo>
                  <a:lnTo>
                    <a:pt x="3302000" y="1082040"/>
                  </a:lnTo>
                  <a:lnTo>
                    <a:pt x="3241040" y="1051560"/>
                  </a:lnTo>
                  <a:lnTo>
                    <a:pt x="3241040" y="1082040"/>
                  </a:lnTo>
                  <a:lnTo>
                    <a:pt x="1071880" y="1082040"/>
                  </a:lnTo>
                  <a:lnTo>
                    <a:pt x="1071880" y="543560"/>
                  </a:lnTo>
                  <a:lnTo>
                    <a:pt x="1371409" y="547446"/>
                  </a:lnTo>
                  <a:lnTo>
                    <a:pt x="1386636" y="547446"/>
                  </a:lnTo>
                  <a:lnTo>
                    <a:pt x="1433995" y="547446"/>
                  </a:lnTo>
                  <a:lnTo>
                    <a:pt x="1463040" y="533400"/>
                  </a:lnTo>
                  <a:lnTo>
                    <a:pt x="1372196" y="486498"/>
                  </a:lnTo>
                  <a:lnTo>
                    <a:pt x="1371866" y="511327"/>
                  </a:lnTo>
                  <a:lnTo>
                    <a:pt x="1371803" y="516966"/>
                  </a:lnTo>
                  <a:lnTo>
                    <a:pt x="1071880" y="513080"/>
                  </a:lnTo>
                  <a:lnTo>
                    <a:pt x="1071880" y="370840"/>
                  </a:lnTo>
                  <a:lnTo>
                    <a:pt x="1041400" y="370840"/>
                  </a:lnTo>
                  <a:lnTo>
                    <a:pt x="1041400" y="512686"/>
                  </a:lnTo>
                  <a:lnTo>
                    <a:pt x="937615" y="511327"/>
                  </a:lnTo>
                  <a:lnTo>
                    <a:pt x="933678" y="512914"/>
                  </a:lnTo>
                  <a:lnTo>
                    <a:pt x="927874" y="518642"/>
                  </a:lnTo>
                  <a:lnTo>
                    <a:pt x="926249" y="522541"/>
                  </a:lnTo>
                  <a:lnTo>
                    <a:pt x="926249" y="1162405"/>
                  </a:lnTo>
                  <a:lnTo>
                    <a:pt x="811987" y="1168412"/>
                  </a:lnTo>
                  <a:lnTo>
                    <a:pt x="813600" y="1198854"/>
                  </a:lnTo>
                  <a:lnTo>
                    <a:pt x="950379" y="1191653"/>
                  </a:lnTo>
                  <a:lnTo>
                    <a:pt x="956729" y="1184973"/>
                  </a:lnTo>
                  <a:lnTo>
                    <a:pt x="956729" y="1176858"/>
                  </a:lnTo>
                  <a:lnTo>
                    <a:pt x="956729" y="1161643"/>
                  </a:lnTo>
                  <a:lnTo>
                    <a:pt x="956729" y="542061"/>
                  </a:lnTo>
                  <a:lnTo>
                    <a:pt x="1041400" y="543166"/>
                  </a:lnTo>
                  <a:lnTo>
                    <a:pt x="1041400" y="1105700"/>
                  </a:lnTo>
                  <a:lnTo>
                    <a:pt x="1048219" y="1112520"/>
                  </a:lnTo>
                  <a:lnTo>
                    <a:pt x="3241040" y="1112520"/>
                  </a:lnTo>
                  <a:lnTo>
                    <a:pt x="3241040" y="1143000"/>
                  </a:lnTo>
                  <a:lnTo>
                    <a:pt x="3302000" y="1112520"/>
                  </a:lnTo>
                  <a:lnTo>
                    <a:pt x="3332480" y="1097280"/>
                  </a:lnTo>
                  <a:close/>
                </a:path>
                <a:path w="4787265" h="1229360">
                  <a:moveTo>
                    <a:pt x="3332480" y="45720"/>
                  </a:moveTo>
                  <a:lnTo>
                    <a:pt x="3301987" y="30480"/>
                  </a:lnTo>
                  <a:lnTo>
                    <a:pt x="3241040" y="0"/>
                  </a:lnTo>
                  <a:lnTo>
                    <a:pt x="3241040" y="30480"/>
                  </a:lnTo>
                  <a:lnTo>
                    <a:pt x="2844800" y="30480"/>
                  </a:lnTo>
                  <a:lnTo>
                    <a:pt x="2844800" y="60960"/>
                  </a:lnTo>
                  <a:lnTo>
                    <a:pt x="3241040" y="60960"/>
                  </a:lnTo>
                  <a:lnTo>
                    <a:pt x="3241040" y="91440"/>
                  </a:lnTo>
                  <a:lnTo>
                    <a:pt x="3302000" y="60960"/>
                  </a:lnTo>
                  <a:lnTo>
                    <a:pt x="3332480" y="45720"/>
                  </a:lnTo>
                  <a:close/>
                </a:path>
                <a:path w="4787265" h="1229360">
                  <a:moveTo>
                    <a:pt x="4191330" y="1122489"/>
                  </a:moveTo>
                  <a:lnTo>
                    <a:pt x="4143222" y="1122489"/>
                  </a:lnTo>
                  <a:lnTo>
                    <a:pt x="4127982" y="1122489"/>
                  </a:lnTo>
                  <a:lnTo>
                    <a:pt x="4127246" y="1152588"/>
                  </a:lnTo>
                  <a:lnTo>
                    <a:pt x="4191330" y="1122489"/>
                  </a:lnTo>
                  <a:close/>
                </a:path>
                <a:path w="4787265" h="1229360">
                  <a:moveTo>
                    <a:pt x="4219778" y="1109129"/>
                  </a:moveTo>
                  <a:lnTo>
                    <a:pt x="4129494" y="1061173"/>
                  </a:lnTo>
                  <a:lnTo>
                    <a:pt x="4128744" y="1091641"/>
                  </a:lnTo>
                  <a:lnTo>
                    <a:pt x="3739248" y="1082040"/>
                  </a:lnTo>
                  <a:lnTo>
                    <a:pt x="3738575" y="1109129"/>
                  </a:lnTo>
                  <a:lnTo>
                    <a:pt x="3738499" y="1112507"/>
                  </a:lnTo>
                  <a:lnTo>
                    <a:pt x="4127995" y="1122108"/>
                  </a:lnTo>
                  <a:lnTo>
                    <a:pt x="4143222" y="1122108"/>
                  </a:lnTo>
                  <a:lnTo>
                    <a:pt x="4143984" y="1092022"/>
                  </a:lnTo>
                  <a:lnTo>
                    <a:pt x="4143235" y="1122108"/>
                  </a:lnTo>
                  <a:lnTo>
                    <a:pt x="4192130" y="1122108"/>
                  </a:lnTo>
                  <a:lnTo>
                    <a:pt x="4219778" y="1109129"/>
                  </a:lnTo>
                  <a:close/>
                </a:path>
                <a:path w="4787265" h="1229360">
                  <a:moveTo>
                    <a:pt x="4787049" y="50800"/>
                  </a:moveTo>
                  <a:lnTo>
                    <a:pt x="4756201" y="35191"/>
                  </a:lnTo>
                  <a:lnTo>
                    <a:pt x="4695825" y="4635"/>
                  </a:lnTo>
                  <a:lnTo>
                    <a:pt x="4695672" y="35128"/>
                  </a:lnTo>
                  <a:lnTo>
                    <a:pt x="3738943" y="30480"/>
                  </a:lnTo>
                  <a:lnTo>
                    <a:pt x="3738930" y="35191"/>
                  </a:lnTo>
                  <a:lnTo>
                    <a:pt x="3738803" y="60960"/>
                  </a:lnTo>
                  <a:lnTo>
                    <a:pt x="4695533" y="65608"/>
                  </a:lnTo>
                  <a:lnTo>
                    <a:pt x="4710773" y="65671"/>
                  </a:lnTo>
                  <a:lnTo>
                    <a:pt x="4695533" y="65671"/>
                  </a:lnTo>
                  <a:lnTo>
                    <a:pt x="4695393" y="96075"/>
                  </a:lnTo>
                  <a:lnTo>
                    <a:pt x="4756937" y="65671"/>
                  </a:lnTo>
                  <a:lnTo>
                    <a:pt x="4787049" y="50800"/>
                  </a:lnTo>
                  <a:close/>
                </a:path>
              </a:pathLst>
            </a:custGeom>
            <a:solidFill>
              <a:srgbClr val="000000"/>
            </a:solidFill>
          </p:spPr>
          <p:txBody>
            <a:bodyPr wrap="square" lIns="0" tIns="0" rIns="0" bIns="0" rtlCol="0"/>
            <a:lstStyle/>
            <a:p>
              <a:endParaRPr sz="1588"/>
            </a:p>
          </p:txBody>
        </p:sp>
        <p:pic>
          <p:nvPicPr>
            <p:cNvPr id="34" name="object 34"/>
            <p:cNvPicPr/>
            <p:nvPr/>
          </p:nvPicPr>
          <p:blipFill>
            <a:blip r:embed="rId3" cstate="print"/>
            <a:stretch>
              <a:fillRect/>
            </a:stretch>
          </p:blipFill>
          <p:spPr>
            <a:xfrm>
              <a:off x="7512319" y="4356666"/>
              <a:ext cx="251231" cy="91365"/>
            </a:xfrm>
            <a:prstGeom prst="rect">
              <a:avLst/>
            </a:prstGeom>
          </p:spPr>
        </p:pic>
        <p:sp>
          <p:nvSpPr>
            <p:cNvPr id="35" name="object 35"/>
            <p:cNvSpPr/>
            <p:nvPr/>
          </p:nvSpPr>
          <p:spPr>
            <a:xfrm>
              <a:off x="5638414" y="3837092"/>
              <a:ext cx="2125346" cy="1752601"/>
            </a:xfrm>
            <a:custGeom>
              <a:avLst/>
              <a:gdLst/>
              <a:ahLst/>
              <a:cxnLst/>
              <a:rect l="l" t="t" r="r" b="b"/>
              <a:pathLst>
                <a:path w="2125345" h="1752600">
                  <a:moveTo>
                    <a:pt x="2033692" y="1661159"/>
                  </a:moveTo>
                  <a:lnTo>
                    <a:pt x="2033692" y="1752599"/>
                  </a:lnTo>
                  <a:lnTo>
                    <a:pt x="2094652" y="1722120"/>
                  </a:lnTo>
                  <a:lnTo>
                    <a:pt x="2048932" y="1722120"/>
                  </a:lnTo>
                  <a:lnTo>
                    <a:pt x="2048932" y="1691639"/>
                  </a:lnTo>
                  <a:lnTo>
                    <a:pt x="2094652" y="1691639"/>
                  </a:lnTo>
                  <a:lnTo>
                    <a:pt x="2033692" y="1661159"/>
                  </a:lnTo>
                  <a:close/>
                </a:path>
                <a:path w="2125345" h="1752600">
                  <a:moveTo>
                    <a:pt x="30479" y="0"/>
                  </a:moveTo>
                  <a:lnTo>
                    <a:pt x="0" y="0"/>
                  </a:lnTo>
                  <a:lnTo>
                    <a:pt x="0" y="1715296"/>
                  </a:lnTo>
                  <a:lnTo>
                    <a:pt x="6822" y="1722120"/>
                  </a:lnTo>
                  <a:lnTo>
                    <a:pt x="2033692" y="1722120"/>
                  </a:lnTo>
                  <a:lnTo>
                    <a:pt x="2033692" y="1706879"/>
                  </a:lnTo>
                  <a:lnTo>
                    <a:pt x="30479" y="1706879"/>
                  </a:lnTo>
                  <a:lnTo>
                    <a:pt x="15239" y="1691639"/>
                  </a:lnTo>
                  <a:lnTo>
                    <a:pt x="30479" y="1691639"/>
                  </a:lnTo>
                  <a:lnTo>
                    <a:pt x="30479" y="0"/>
                  </a:lnTo>
                  <a:close/>
                </a:path>
                <a:path w="2125345" h="1752600">
                  <a:moveTo>
                    <a:pt x="2094652" y="1691639"/>
                  </a:moveTo>
                  <a:lnTo>
                    <a:pt x="2048932" y="1691639"/>
                  </a:lnTo>
                  <a:lnTo>
                    <a:pt x="2048932" y="1722120"/>
                  </a:lnTo>
                  <a:lnTo>
                    <a:pt x="2094652" y="1722120"/>
                  </a:lnTo>
                  <a:lnTo>
                    <a:pt x="2125132" y="1706879"/>
                  </a:lnTo>
                  <a:lnTo>
                    <a:pt x="2094652" y="1691639"/>
                  </a:lnTo>
                  <a:close/>
                </a:path>
                <a:path w="2125345" h="1752600">
                  <a:moveTo>
                    <a:pt x="30479" y="1691639"/>
                  </a:moveTo>
                  <a:lnTo>
                    <a:pt x="15239" y="1691639"/>
                  </a:lnTo>
                  <a:lnTo>
                    <a:pt x="30479" y="1706879"/>
                  </a:lnTo>
                  <a:lnTo>
                    <a:pt x="30479" y="1691639"/>
                  </a:lnTo>
                  <a:close/>
                </a:path>
                <a:path w="2125345" h="1752600">
                  <a:moveTo>
                    <a:pt x="2033692" y="1691639"/>
                  </a:moveTo>
                  <a:lnTo>
                    <a:pt x="30479" y="1691639"/>
                  </a:lnTo>
                  <a:lnTo>
                    <a:pt x="30479" y="1706879"/>
                  </a:lnTo>
                  <a:lnTo>
                    <a:pt x="2033692" y="1706879"/>
                  </a:lnTo>
                  <a:lnTo>
                    <a:pt x="2033692" y="1691639"/>
                  </a:lnTo>
                  <a:close/>
                </a:path>
              </a:pathLst>
            </a:custGeom>
            <a:solidFill>
              <a:srgbClr val="000000"/>
            </a:solidFill>
          </p:spPr>
          <p:txBody>
            <a:bodyPr wrap="square" lIns="0" tIns="0" rIns="0" bIns="0" rtlCol="0"/>
            <a:lstStyle/>
            <a:p>
              <a:endParaRPr sz="1588"/>
            </a:p>
          </p:txBody>
        </p:sp>
        <p:pic>
          <p:nvPicPr>
            <p:cNvPr id="36" name="object 36"/>
            <p:cNvPicPr/>
            <p:nvPr/>
          </p:nvPicPr>
          <p:blipFill>
            <a:blip r:embed="rId4" cstate="print"/>
            <a:stretch>
              <a:fillRect/>
            </a:stretch>
          </p:blipFill>
          <p:spPr>
            <a:xfrm>
              <a:off x="5599467" y="3787986"/>
              <a:ext cx="111759" cy="111759"/>
            </a:xfrm>
            <a:prstGeom prst="rect">
              <a:avLst/>
            </a:prstGeom>
          </p:spPr>
        </p:pic>
        <p:pic>
          <p:nvPicPr>
            <p:cNvPr id="37" name="object 37"/>
            <p:cNvPicPr/>
            <p:nvPr/>
          </p:nvPicPr>
          <p:blipFill>
            <a:blip r:embed="rId4" cstate="print"/>
            <a:stretch>
              <a:fillRect/>
            </a:stretch>
          </p:blipFill>
          <p:spPr>
            <a:xfrm>
              <a:off x="2737732" y="4106332"/>
              <a:ext cx="111759" cy="111759"/>
            </a:xfrm>
            <a:prstGeom prst="rect">
              <a:avLst/>
            </a:prstGeom>
          </p:spPr>
        </p:pic>
        <p:sp>
          <p:nvSpPr>
            <p:cNvPr id="38" name="object 38"/>
            <p:cNvSpPr/>
            <p:nvPr/>
          </p:nvSpPr>
          <p:spPr>
            <a:xfrm>
              <a:off x="8178412" y="4360342"/>
              <a:ext cx="1046481" cy="1209040"/>
            </a:xfrm>
            <a:custGeom>
              <a:avLst/>
              <a:gdLst/>
              <a:ahLst/>
              <a:cxnLst/>
              <a:rect l="l" t="t" r="r" b="b"/>
              <a:pathLst>
                <a:path w="1046479" h="1209039">
                  <a:moveTo>
                    <a:pt x="1046480" y="1163320"/>
                  </a:moveTo>
                  <a:lnTo>
                    <a:pt x="1016000" y="1148080"/>
                  </a:lnTo>
                  <a:lnTo>
                    <a:pt x="955040" y="1117600"/>
                  </a:lnTo>
                  <a:lnTo>
                    <a:pt x="955040" y="1148080"/>
                  </a:lnTo>
                  <a:lnTo>
                    <a:pt x="20320" y="1148080"/>
                  </a:lnTo>
                  <a:lnTo>
                    <a:pt x="20320" y="1178560"/>
                  </a:lnTo>
                  <a:lnTo>
                    <a:pt x="955040" y="1178560"/>
                  </a:lnTo>
                  <a:lnTo>
                    <a:pt x="955040" y="1209040"/>
                  </a:lnTo>
                  <a:lnTo>
                    <a:pt x="1016000" y="1178560"/>
                  </a:lnTo>
                  <a:lnTo>
                    <a:pt x="1046480" y="1163320"/>
                  </a:lnTo>
                  <a:close/>
                </a:path>
                <a:path w="1046479" h="1209039">
                  <a:moveTo>
                    <a:pt x="1046480" y="45720"/>
                  </a:moveTo>
                  <a:lnTo>
                    <a:pt x="1016000" y="30480"/>
                  </a:lnTo>
                  <a:lnTo>
                    <a:pt x="955040" y="0"/>
                  </a:lnTo>
                  <a:lnTo>
                    <a:pt x="955040" y="30480"/>
                  </a:lnTo>
                  <a:lnTo>
                    <a:pt x="0" y="30480"/>
                  </a:lnTo>
                  <a:lnTo>
                    <a:pt x="0" y="60960"/>
                  </a:lnTo>
                  <a:lnTo>
                    <a:pt x="955040" y="60960"/>
                  </a:lnTo>
                  <a:lnTo>
                    <a:pt x="955040" y="91440"/>
                  </a:lnTo>
                  <a:lnTo>
                    <a:pt x="1016000" y="60960"/>
                  </a:lnTo>
                  <a:lnTo>
                    <a:pt x="1046480" y="45720"/>
                  </a:lnTo>
                  <a:close/>
                </a:path>
              </a:pathLst>
            </a:custGeom>
            <a:solidFill>
              <a:srgbClr val="000000"/>
            </a:solidFill>
          </p:spPr>
          <p:txBody>
            <a:bodyPr wrap="square" lIns="0" tIns="0" rIns="0" bIns="0" rtlCol="0"/>
            <a:lstStyle/>
            <a:p>
              <a:endParaRPr sz="1588"/>
            </a:p>
          </p:txBody>
        </p:sp>
        <p:sp>
          <p:nvSpPr>
            <p:cNvPr id="39" name="object 39"/>
            <p:cNvSpPr/>
            <p:nvPr/>
          </p:nvSpPr>
          <p:spPr>
            <a:xfrm>
              <a:off x="2996834" y="4685456"/>
              <a:ext cx="2670812" cy="1199516"/>
            </a:xfrm>
            <a:custGeom>
              <a:avLst/>
              <a:gdLst/>
              <a:ahLst/>
              <a:cxnLst/>
              <a:rect l="l" t="t" r="r" b="b"/>
              <a:pathLst>
                <a:path w="2670810" h="1199514">
                  <a:moveTo>
                    <a:pt x="105205" y="30480"/>
                  </a:moveTo>
                  <a:lnTo>
                    <a:pt x="6822" y="30480"/>
                  </a:lnTo>
                  <a:lnTo>
                    <a:pt x="0" y="37303"/>
                  </a:lnTo>
                  <a:lnTo>
                    <a:pt x="0" y="1181874"/>
                  </a:lnTo>
                  <a:lnTo>
                    <a:pt x="6818" y="1188720"/>
                  </a:lnTo>
                  <a:lnTo>
                    <a:pt x="2659157" y="1198896"/>
                  </a:lnTo>
                  <a:lnTo>
                    <a:pt x="2663049" y="1197297"/>
                  </a:lnTo>
                  <a:lnTo>
                    <a:pt x="2668790" y="1191577"/>
                  </a:lnTo>
                  <a:lnTo>
                    <a:pt x="2670404" y="1187692"/>
                  </a:lnTo>
                  <a:lnTo>
                    <a:pt x="2670404" y="1183640"/>
                  </a:lnTo>
                  <a:lnTo>
                    <a:pt x="2639924" y="1183640"/>
                  </a:lnTo>
                  <a:lnTo>
                    <a:pt x="2639924" y="1173480"/>
                  </a:lnTo>
                  <a:lnTo>
                    <a:pt x="30480" y="1173480"/>
                  </a:lnTo>
                  <a:lnTo>
                    <a:pt x="15356" y="1158299"/>
                  </a:lnTo>
                  <a:lnTo>
                    <a:pt x="30480" y="1158299"/>
                  </a:lnTo>
                  <a:lnTo>
                    <a:pt x="30480" y="60960"/>
                  </a:lnTo>
                  <a:lnTo>
                    <a:pt x="15239" y="60960"/>
                  </a:lnTo>
                  <a:lnTo>
                    <a:pt x="30480" y="45720"/>
                  </a:lnTo>
                  <a:lnTo>
                    <a:pt x="105205" y="45720"/>
                  </a:lnTo>
                  <a:lnTo>
                    <a:pt x="105205" y="30480"/>
                  </a:lnTo>
                  <a:close/>
                </a:path>
                <a:path w="2670810" h="1199514">
                  <a:moveTo>
                    <a:pt x="2670404" y="858520"/>
                  </a:moveTo>
                  <a:lnTo>
                    <a:pt x="2639924" y="858520"/>
                  </a:lnTo>
                  <a:lnTo>
                    <a:pt x="2639924" y="1183640"/>
                  </a:lnTo>
                  <a:lnTo>
                    <a:pt x="2655223" y="1168401"/>
                  </a:lnTo>
                  <a:lnTo>
                    <a:pt x="2670404" y="1168401"/>
                  </a:lnTo>
                  <a:lnTo>
                    <a:pt x="2670404" y="858520"/>
                  </a:lnTo>
                  <a:close/>
                </a:path>
                <a:path w="2670810" h="1199514">
                  <a:moveTo>
                    <a:pt x="2670404" y="1168401"/>
                  </a:moveTo>
                  <a:lnTo>
                    <a:pt x="2655223" y="1168401"/>
                  </a:lnTo>
                  <a:lnTo>
                    <a:pt x="2639924" y="1183640"/>
                  </a:lnTo>
                  <a:lnTo>
                    <a:pt x="2670404" y="1183640"/>
                  </a:lnTo>
                  <a:lnTo>
                    <a:pt x="2670404" y="1168401"/>
                  </a:lnTo>
                  <a:close/>
                </a:path>
                <a:path w="2670810" h="1199514">
                  <a:moveTo>
                    <a:pt x="30480" y="1158299"/>
                  </a:moveTo>
                  <a:lnTo>
                    <a:pt x="15356" y="1158299"/>
                  </a:lnTo>
                  <a:lnTo>
                    <a:pt x="30480" y="1173480"/>
                  </a:lnTo>
                  <a:lnTo>
                    <a:pt x="30480" y="1158299"/>
                  </a:lnTo>
                  <a:close/>
                </a:path>
                <a:path w="2670810" h="1199514">
                  <a:moveTo>
                    <a:pt x="30480" y="1158299"/>
                  </a:moveTo>
                  <a:lnTo>
                    <a:pt x="30480" y="1173480"/>
                  </a:lnTo>
                  <a:lnTo>
                    <a:pt x="2639924" y="1173480"/>
                  </a:lnTo>
                  <a:lnTo>
                    <a:pt x="2639924" y="1168401"/>
                  </a:lnTo>
                  <a:lnTo>
                    <a:pt x="2655223" y="1168401"/>
                  </a:lnTo>
                  <a:lnTo>
                    <a:pt x="30480" y="1158299"/>
                  </a:lnTo>
                  <a:close/>
                </a:path>
                <a:path w="2670810" h="1199514">
                  <a:moveTo>
                    <a:pt x="105205" y="0"/>
                  </a:moveTo>
                  <a:lnTo>
                    <a:pt x="105205" y="91440"/>
                  </a:lnTo>
                  <a:lnTo>
                    <a:pt x="166165" y="60960"/>
                  </a:lnTo>
                  <a:lnTo>
                    <a:pt x="120445" y="60960"/>
                  </a:lnTo>
                  <a:lnTo>
                    <a:pt x="120445" y="30480"/>
                  </a:lnTo>
                  <a:lnTo>
                    <a:pt x="166165" y="30480"/>
                  </a:lnTo>
                  <a:lnTo>
                    <a:pt x="105205" y="0"/>
                  </a:lnTo>
                  <a:close/>
                </a:path>
                <a:path w="2670810" h="1199514">
                  <a:moveTo>
                    <a:pt x="30480" y="45720"/>
                  </a:moveTo>
                  <a:lnTo>
                    <a:pt x="15239" y="60960"/>
                  </a:lnTo>
                  <a:lnTo>
                    <a:pt x="30480" y="60960"/>
                  </a:lnTo>
                  <a:lnTo>
                    <a:pt x="30480" y="45720"/>
                  </a:lnTo>
                  <a:close/>
                </a:path>
                <a:path w="2670810" h="1199514">
                  <a:moveTo>
                    <a:pt x="105205" y="45720"/>
                  </a:moveTo>
                  <a:lnTo>
                    <a:pt x="30480" y="45720"/>
                  </a:lnTo>
                  <a:lnTo>
                    <a:pt x="30480" y="60960"/>
                  </a:lnTo>
                  <a:lnTo>
                    <a:pt x="105205" y="60960"/>
                  </a:lnTo>
                  <a:lnTo>
                    <a:pt x="105205" y="45720"/>
                  </a:lnTo>
                  <a:close/>
                </a:path>
                <a:path w="2670810" h="1199514">
                  <a:moveTo>
                    <a:pt x="166165" y="30480"/>
                  </a:moveTo>
                  <a:lnTo>
                    <a:pt x="120445" y="30480"/>
                  </a:lnTo>
                  <a:lnTo>
                    <a:pt x="120445" y="60960"/>
                  </a:lnTo>
                  <a:lnTo>
                    <a:pt x="166165" y="60960"/>
                  </a:lnTo>
                  <a:lnTo>
                    <a:pt x="196645" y="45720"/>
                  </a:lnTo>
                  <a:lnTo>
                    <a:pt x="166165" y="30480"/>
                  </a:lnTo>
                  <a:close/>
                </a:path>
              </a:pathLst>
            </a:custGeom>
            <a:solidFill>
              <a:srgbClr val="FF0000"/>
            </a:solidFill>
          </p:spPr>
          <p:txBody>
            <a:bodyPr wrap="square" lIns="0" tIns="0" rIns="0" bIns="0" rtlCol="0"/>
            <a:lstStyle/>
            <a:p>
              <a:endParaRPr sz="1588"/>
            </a:p>
          </p:txBody>
        </p:sp>
        <p:pic>
          <p:nvPicPr>
            <p:cNvPr id="40" name="object 40"/>
            <p:cNvPicPr/>
            <p:nvPr/>
          </p:nvPicPr>
          <p:blipFill>
            <a:blip r:embed="rId5" cstate="print"/>
            <a:stretch>
              <a:fillRect/>
            </a:stretch>
          </p:blipFill>
          <p:spPr>
            <a:xfrm>
              <a:off x="5599507" y="5481323"/>
              <a:ext cx="106680" cy="111759"/>
            </a:xfrm>
            <a:prstGeom prst="rect">
              <a:avLst/>
            </a:prstGeom>
          </p:spPr>
        </p:pic>
        <p:sp>
          <p:nvSpPr>
            <p:cNvPr id="41" name="object 41"/>
            <p:cNvSpPr/>
            <p:nvPr/>
          </p:nvSpPr>
          <p:spPr>
            <a:xfrm>
              <a:off x="2866430" y="1789861"/>
              <a:ext cx="5977894" cy="4616451"/>
            </a:xfrm>
            <a:custGeom>
              <a:avLst/>
              <a:gdLst/>
              <a:ahLst/>
              <a:cxnLst/>
              <a:rect l="l" t="t" r="r" b="b"/>
              <a:pathLst>
                <a:path w="5977890" h="4616450">
                  <a:moveTo>
                    <a:pt x="309499" y="2692222"/>
                  </a:moveTo>
                  <a:lnTo>
                    <a:pt x="262242" y="2692222"/>
                  </a:lnTo>
                  <a:lnTo>
                    <a:pt x="247002" y="2692222"/>
                  </a:lnTo>
                  <a:lnTo>
                    <a:pt x="246507" y="2722461"/>
                  </a:lnTo>
                  <a:lnTo>
                    <a:pt x="309499" y="2692222"/>
                  </a:lnTo>
                  <a:close/>
                </a:path>
                <a:path w="5977890" h="4616450">
                  <a:moveTo>
                    <a:pt x="2800807" y="331939"/>
                  </a:moveTo>
                  <a:lnTo>
                    <a:pt x="2793974" y="325120"/>
                  </a:lnTo>
                  <a:lnTo>
                    <a:pt x="147383" y="325120"/>
                  </a:lnTo>
                  <a:lnTo>
                    <a:pt x="140563" y="331939"/>
                  </a:lnTo>
                  <a:lnTo>
                    <a:pt x="140563" y="1080300"/>
                  </a:lnTo>
                  <a:lnTo>
                    <a:pt x="147383" y="1087120"/>
                  </a:lnTo>
                  <a:lnTo>
                    <a:pt x="250494" y="1087120"/>
                  </a:lnTo>
                  <a:lnTo>
                    <a:pt x="250494" y="1117600"/>
                  </a:lnTo>
                  <a:lnTo>
                    <a:pt x="311454" y="1087120"/>
                  </a:lnTo>
                  <a:lnTo>
                    <a:pt x="341934" y="1071880"/>
                  </a:lnTo>
                  <a:lnTo>
                    <a:pt x="311454" y="1056640"/>
                  </a:lnTo>
                  <a:lnTo>
                    <a:pt x="250494" y="1026160"/>
                  </a:lnTo>
                  <a:lnTo>
                    <a:pt x="250494" y="1056640"/>
                  </a:lnTo>
                  <a:lnTo>
                    <a:pt x="171043" y="1056640"/>
                  </a:lnTo>
                  <a:lnTo>
                    <a:pt x="171043" y="355600"/>
                  </a:lnTo>
                  <a:lnTo>
                    <a:pt x="2770327" y="355600"/>
                  </a:lnTo>
                  <a:lnTo>
                    <a:pt x="2770327" y="2047240"/>
                  </a:lnTo>
                  <a:lnTo>
                    <a:pt x="2800807" y="2047240"/>
                  </a:lnTo>
                  <a:lnTo>
                    <a:pt x="2800807" y="355600"/>
                  </a:lnTo>
                  <a:lnTo>
                    <a:pt x="2800807" y="340360"/>
                  </a:lnTo>
                  <a:lnTo>
                    <a:pt x="2800807" y="331939"/>
                  </a:lnTo>
                  <a:close/>
                </a:path>
                <a:path w="5977890" h="4616450">
                  <a:moveTo>
                    <a:pt x="5977521" y="6819"/>
                  </a:moveTo>
                  <a:lnTo>
                    <a:pt x="5970702" y="0"/>
                  </a:lnTo>
                  <a:lnTo>
                    <a:pt x="44030" y="0"/>
                  </a:lnTo>
                  <a:lnTo>
                    <a:pt x="44030" y="15290"/>
                  </a:lnTo>
                  <a:lnTo>
                    <a:pt x="28790" y="30480"/>
                  </a:lnTo>
                  <a:lnTo>
                    <a:pt x="43916" y="15290"/>
                  </a:lnTo>
                  <a:lnTo>
                    <a:pt x="44030" y="0"/>
                  </a:lnTo>
                  <a:lnTo>
                    <a:pt x="24739" y="0"/>
                  </a:lnTo>
                  <a:lnTo>
                    <a:pt x="20866" y="1612"/>
                  </a:lnTo>
                  <a:lnTo>
                    <a:pt x="15138" y="7353"/>
                  </a:lnTo>
                  <a:lnTo>
                    <a:pt x="13538" y="11239"/>
                  </a:lnTo>
                  <a:lnTo>
                    <a:pt x="18453" y="1317218"/>
                  </a:lnTo>
                  <a:lnTo>
                    <a:pt x="18656" y="1370647"/>
                  </a:lnTo>
                  <a:lnTo>
                    <a:pt x="30048" y="1381823"/>
                  </a:lnTo>
                  <a:lnTo>
                    <a:pt x="252577" y="1378178"/>
                  </a:lnTo>
                  <a:lnTo>
                    <a:pt x="253085" y="1408645"/>
                  </a:lnTo>
                  <a:lnTo>
                    <a:pt x="343763" y="1361440"/>
                  </a:lnTo>
                  <a:lnTo>
                    <a:pt x="314591" y="1347444"/>
                  </a:lnTo>
                  <a:lnTo>
                    <a:pt x="267817" y="1325016"/>
                  </a:lnTo>
                  <a:lnTo>
                    <a:pt x="267817" y="1377924"/>
                  </a:lnTo>
                  <a:lnTo>
                    <a:pt x="267665" y="1368818"/>
                  </a:lnTo>
                  <a:lnTo>
                    <a:pt x="267703" y="1370647"/>
                  </a:lnTo>
                  <a:lnTo>
                    <a:pt x="267817" y="1377924"/>
                  </a:lnTo>
                  <a:lnTo>
                    <a:pt x="267817" y="1325016"/>
                  </a:lnTo>
                  <a:lnTo>
                    <a:pt x="267550" y="1324889"/>
                  </a:lnTo>
                  <a:lnTo>
                    <a:pt x="267550" y="1361440"/>
                  </a:lnTo>
                  <a:lnTo>
                    <a:pt x="267550" y="1361884"/>
                  </a:lnTo>
                  <a:lnTo>
                    <a:pt x="267487" y="1357947"/>
                  </a:lnTo>
                  <a:lnTo>
                    <a:pt x="267550" y="1361440"/>
                  </a:lnTo>
                  <a:lnTo>
                    <a:pt x="267550" y="1324889"/>
                  </a:lnTo>
                  <a:lnTo>
                    <a:pt x="252387" y="1317612"/>
                  </a:lnTo>
                  <a:lnTo>
                    <a:pt x="252387" y="1366456"/>
                  </a:lnTo>
                  <a:lnTo>
                    <a:pt x="252222" y="1356614"/>
                  </a:lnTo>
                  <a:lnTo>
                    <a:pt x="252310" y="1361440"/>
                  </a:lnTo>
                  <a:lnTo>
                    <a:pt x="252387" y="1366456"/>
                  </a:lnTo>
                  <a:lnTo>
                    <a:pt x="252387" y="1317612"/>
                  </a:lnTo>
                  <a:lnTo>
                    <a:pt x="251587" y="1317218"/>
                  </a:lnTo>
                  <a:lnTo>
                    <a:pt x="252082" y="1347444"/>
                  </a:lnTo>
                  <a:lnTo>
                    <a:pt x="252082" y="1347698"/>
                  </a:lnTo>
                  <a:lnTo>
                    <a:pt x="49060" y="1351026"/>
                  </a:lnTo>
                  <a:lnTo>
                    <a:pt x="44094" y="30480"/>
                  </a:lnTo>
                  <a:lnTo>
                    <a:pt x="5947041" y="30480"/>
                  </a:lnTo>
                  <a:lnTo>
                    <a:pt x="5947041" y="15290"/>
                  </a:lnTo>
                  <a:lnTo>
                    <a:pt x="5947041" y="2600960"/>
                  </a:lnTo>
                  <a:lnTo>
                    <a:pt x="5803100" y="2600960"/>
                  </a:lnTo>
                  <a:lnTo>
                    <a:pt x="5803100" y="193040"/>
                  </a:lnTo>
                  <a:lnTo>
                    <a:pt x="5803100" y="177800"/>
                  </a:lnTo>
                  <a:lnTo>
                    <a:pt x="5803100" y="169379"/>
                  </a:lnTo>
                  <a:lnTo>
                    <a:pt x="5796280" y="162560"/>
                  </a:lnTo>
                  <a:lnTo>
                    <a:pt x="89801" y="162560"/>
                  </a:lnTo>
                  <a:lnTo>
                    <a:pt x="82981" y="169379"/>
                  </a:lnTo>
                  <a:lnTo>
                    <a:pt x="82981" y="1242860"/>
                  </a:lnTo>
                  <a:lnTo>
                    <a:pt x="89801" y="1249680"/>
                  </a:lnTo>
                  <a:lnTo>
                    <a:pt x="250621" y="1249680"/>
                  </a:lnTo>
                  <a:lnTo>
                    <a:pt x="250621" y="1280160"/>
                  </a:lnTo>
                  <a:lnTo>
                    <a:pt x="311581" y="1249680"/>
                  </a:lnTo>
                  <a:lnTo>
                    <a:pt x="342061" y="1234440"/>
                  </a:lnTo>
                  <a:lnTo>
                    <a:pt x="311581" y="1219200"/>
                  </a:lnTo>
                  <a:lnTo>
                    <a:pt x="250621" y="1188720"/>
                  </a:lnTo>
                  <a:lnTo>
                    <a:pt x="250621" y="1219200"/>
                  </a:lnTo>
                  <a:lnTo>
                    <a:pt x="113461" y="1219200"/>
                  </a:lnTo>
                  <a:lnTo>
                    <a:pt x="113461" y="193040"/>
                  </a:lnTo>
                  <a:lnTo>
                    <a:pt x="5772620" y="193040"/>
                  </a:lnTo>
                  <a:lnTo>
                    <a:pt x="5772620" y="2600960"/>
                  </a:lnTo>
                  <a:lnTo>
                    <a:pt x="5312029" y="2600960"/>
                  </a:lnTo>
                  <a:lnTo>
                    <a:pt x="5312029" y="2631440"/>
                  </a:lnTo>
                  <a:lnTo>
                    <a:pt x="5772620" y="2631440"/>
                  </a:lnTo>
                  <a:lnTo>
                    <a:pt x="5772620" y="3725329"/>
                  </a:lnTo>
                  <a:lnTo>
                    <a:pt x="5298110" y="3725329"/>
                  </a:lnTo>
                  <a:lnTo>
                    <a:pt x="5298110" y="3755809"/>
                  </a:lnTo>
                  <a:lnTo>
                    <a:pt x="5776011" y="3755809"/>
                  </a:lnTo>
                  <a:lnTo>
                    <a:pt x="5776011" y="4429760"/>
                  </a:lnTo>
                  <a:lnTo>
                    <a:pt x="98221" y="4429760"/>
                  </a:lnTo>
                  <a:lnTo>
                    <a:pt x="98221" y="2841409"/>
                  </a:lnTo>
                  <a:lnTo>
                    <a:pt x="248246" y="2841409"/>
                  </a:lnTo>
                  <a:lnTo>
                    <a:pt x="248246" y="2871889"/>
                  </a:lnTo>
                  <a:lnTo>
                    <a:pt x="309206" y="2841409"/>
                  </a:lnTo>
                  <a:lnTo>
                    <a:pt x="339686" y="2826169"/>
                  </a:lnTo>
                  <a:lnTo>
                    <a:pt x="309206" y="2810929"/>
                  </a:lnTo>
                  <a:lnTo>
                    <a:pt x="248246" y="2780449"/>
                  </a:lnTo>
                  <a:lnTo>
                    <a:pt x="248246" y="2810929"/>
                  </a:lnTo>
                  <a:lnTo>
                    <a:pt x="74561" y="2810929"/>
                  </a:lnTo>
                  <a:lnTo>
                    <a:pt x="67741" y="2817761"/>
                  </a:lnTo>
                  <a:lnTo>
                    <a:pt x="67741" y="4453420"/>
                  </a:lnTo>
                  <a:lnTo>
                    <a:pt x="74561" y="4460240"/>
                  </a:lnTo>
                  <a:lnTo>
                    <a:pt x="5799671" y="4460240"/>
                  </a:lnTo>
                  <a:lnTo>
                    <a:pt x="5806491" y="4453420"/>
                  </a:lnTo>
                  <a:lnTo>
                    <a:pt x="5806491" y="4445000"/>
                  </a:lnTo>
                  <a:lnTo>
                    <a:pt x="5806491" y="4429760"/>
                  </a:lnTo>
                  <a:lnTo>
                    <a:pt x="5806491" y="3755809"/>
                  </a:lnTo>
                  <a:lnTo>
                    <a:pt x="5806491" y="3740569"/>
                  </a:lnTo>
                  <a:lnTo>
                    <a:pt x="5806491" y="3732161"/>
                  </a:lnTo>
                  <a:lnTo>
                    <a:pt x="5803100" y="3728770"/>
                  </a:lnTo>
                  <a:lnTo>
                    <a:pt x="5803100" y="2631440"/>
                  </a:lnTo>
                  <a:lnTo>
                    <a:pt x="5947041" y="2631440"/>
                  </a:lnTo>
                  <a:lnTo>
                    <a:pt x="5947041" y="4585551"/>
                  </a:lnTo>
                  <a:lnTo>
                    <a:pt x="30518" y="4585551"/>
                  </a:lnTo>
                  <a:lnTo>
                    <a:pt x="33794" y="2722461"/>
                  </a:lnTo>
                  <a:lnTo>
                    <a:pt x="33845" y="2688539"/>
                  </a:lnTo>
                  <a:lnTo>
                    <a:pt x="247002" y="2691981"/>
                  </a:lnTo>
                  <a:lnTo>
                    <a:pt x="247129" y="2683878"/>
                  </a:lnTo>
                  <a:lnTo>
                    <a:pt x="247065" y="2688285"/>
                  </a:lnTo>
                  <a:lnTo>
                    <a:pt x="247002" y="2691981"/>
                  </a:lnTo>
                  <a:lnTo>
                    <a:pt x="262242" y="2691981"/>
                  </a:lnTo>
                  <a:lnTo>
                    <a:pt x="310007" y="2691981"/>
                  </a:lnTo>
                  <a:lnTo>
                    <a:pt x="338683" y="2678214"/>
                  </a:lnTo>
                  <a:lnTo>
                    <a:pt x="247992" y="2631033"/>
                  </a:lnTo>
                  <a:lnTo>
                    <a:pt x="247561" y="2657741"/>
                  </a:lnTo>
                  <a:lnTo>
                    <a:pt x="247497" y="2661501"/>
                  </a:lnTo>
                  <a:lnTo>
                    <a:pt x="14808" y="2657741"/>
                  </a:lnTo>
                  <a:lnTo>
                    <a:pt x="10871" y="2659316"/>
                  </a:lnTo>
                  <a:lnTo>
                    <a:pt x="5041" y="2665031"/>
                  </a:lnTo>
                  <a:lnTo>
                    <a:pt x="3403" y="2668943"/>
                  </a:lnTo>
                  <a:lnTo>
                    <a:pt x="38" y="4585551"/>
                  </a:lnTo>
                  <a:lnTo>
                    <a:pt x="0" y="4604804"/>
                  </a:lnTo>
                  <a:lnTo>
                    <a:pt x="1600" y="4608690"/>
                  </a:lnTo>
                  <a:lnTo>
                    <a:pt x="7327" y="4614418"/>
                  </a:lnTo>
                  <a:lnTo>
                    <a:pt x="11201" y="4616031"/>
                  </a:lnTo>
                  <a:lnTo>
                    <a:pt x="5970702" y="4616031"/>
                  </a:lnTo>
                  <a:lnTo>
                    <a:pt x="5977521" y="4609198"/>
                  </a:lnTo>
                  <a:lnTo>
                    <a:pt x="5977521" y="4600816"/>
                  </a:lnTo>
                  <a:lnTo>
                    <a:pt x="5977521" y="4585551"/>
                  </a:lnTo>
                  <a:lnTo>
                    <a:pt x="5977521" y="15290"/>
                  </a:lnTo>
                  <a:lnTo>
                    <a:pt x="5977521" y="6819"/>
                  </a:lnTo>
                  <a:close/>
                </a:path>
              </a:pathLst>
            </a:custGeom>
            <a:solidFill>
              <a:srgbClr val="FF0000"/>
            </a:solidFill>
          </p:spPr>
          <p:txBody>
            <a:bodyPr wrap="square" lIns="0" tIns="0" rIns="0" bIns="0" rtlCol="0"/>
            <a:lstStyle/>
            <a:p>
              <a:endParaRPr sz="1588" dirty="0"/>
            </a:p>
          </p:txBody>
        </p:sp>
        <p:pic>
          <p:nvPicPr>
            <p:cNvPr id="42" name="object 42"/>
            <p:cNvPicPr/>
            <p:nvPr/>
          </p:nvPicPr>
          <p:blipFill>
            <a:blip r:embed="rId6" cstate="print"/>
            <a:stretch>
              <a:fillRect/>
            </a:stretch>
          </p:blipFill>
          <p:spPr>
            <a:xfrm>
              <a:off x="8603503" y="5467775"/>
              <a:ext cx="111761" cy="111759"/>
            </a:xfrm>
            <a:prstGeom prst="rect">
              <a:avLst/>
            </a:prstGeom>
          </p:spPr>
        </p:pic>
        <p:pic>
          <p:nvPicPr>
            <p:cNvPr id="43" name="object 43"/>
            <p:cNvPicPr/>
            <p:nvPr/>
          </p:nvPicPr>
          <p:blipFill>
            <a:blip r:embed="rId7" cstate="print"/>
            <a:stretch>
              <a:fillRect/>
            </a:stretch>
          </p:blipFill>
          <p:spPr>
            <a:xfrm>
              <a:off x="8772838" y="4350176"/>
              <a:ext cx="111761" cy="111759"/>
            </a:xfrm>
            <a:prstGeom prst="rect">
              <a:avLst/>
            </a:prstGeom>
          </p:spPr>
        </p:pic>
        <p:sp>
          <p:nvSpPr>
            <p:cNvPr id="44" name="object 44"/>
            <p:cNvSpPr/>
            <p:nvPr/>
          </p:nvSpPr>
          <p:spPr>
            <a:xfrm>
              <a:off x="5772228" y="5168055"/>
              <a:ext cx="3072132" cy="1236346"/>
            </a:xfrm>
            <a:custGeom>
              <a:avLst/>
              <a:gdLst/>
              <a:ahLst/>
              <a:cxnLst/>
              <a:rect l="l" t="t" r="r" b="b"/>
              <a:pathLst>
                <a:path w="3072129" h="1236345">
                  <a:moveTo>
                    <a:pt x="141481" y="27094"/>
                  </a:moveTo>
                  <a:lnTo>
                    <a:pt x="6065" y="27094"/>
                  </a:lnTo>
                  <a:lnTo>
                    <a:pt x="0" y="33158"/>
                  </a:lnTo>
                  <a:lnTo>
                    <a:pt x="0" y="1219497"/>
                  </a:lnTo>
                  <a:lnTo>
                    <a:pt x="6061" y="1225580"/>
                  </a:lnTo>
                  <a:lnTo>
                    <a:pt x="3061735" y="1236145"/>
                  </a:lnTo>
                  <a:lnTo>
                    <a:pt x="3065193" y="1234724"/>
                  </a:lnTo>
                  <a:lnTo>
                    <a:pt x="3070294" y="1229640"/>
                  </a:lnTo>
                  <a:lnTo>
                    <a:pt x="3071727" y="1226187"/>
                  </a:lnTo>
                  <a:lnTo>
                    <a:pt x="3071727" y="1222587"/>
                  </a:lnTo>
                  <a:lnTo>
                    <a:pt x="3044634" y="1222587"/>
                  </a:lnTo>
                  <a:lnTo>
                    <a:pt x="3044634" y="1212033"/>
                  </a:lnTo>
                  <a:lnTo>
                    <a:pt x="27092" y="1212033"/>
                  </a:lnTo>
                  <a:lnTo>
                    <a:pt x="13640" y="1198534"/>
                  </a:lnTo>
                  <a:lnTo>
                    <a:pt x="27092" y="1198534"/>
                  </a:lnTo>
                  <a:lnTo>
                    <a:pt x="27092" y="54187"/>
                  </a:lnTo>
                  <a:lnTo>
                    <a:pt x="13547" y="54187"/>
                  </a:lnTo>
                  <a:lnTo>
                    <a:pt x="27092" y="40640"/>
                  </a:lnTo>
                  <a:lnTo>
                    <a:pt x="141481" y="40640"/>
                  </a:lnTo>
                  <a:lnTo>
                    <a:pt x="141481" y="27094"/>
                  </a:lnTo>
                  <a:close/>
                </a:path>
                <a:path w="3072129" h="1236345">
                  <a:moveTo>
                    <a:pt x="3071727" y="884887"/>
                  </a:moveTo>
                  <a:lnTo>
                    <a:pt x="3044634" y="884887"/>
                  </a:lnTo>
                  <a:lnTo>
                    <a:pt x="3044634" y="1222587"/>
                  </a:lnTo>
                  <a:lnTo>
                    <a:pt x="3058228" y="1209040"/>
                  </a:lnTo>
                  <a:lnTo>
                    <a:pt x="3071727" y="1209040"/>
                  </a:lnTo>
                  <a:lnTo>
                    <a:pt x="3071727" y="884887"/>
                  </a:lnTo>
                  <a:close/>
                </a:path>
                <a:path w="3072129" h="1236345">
                  <a:moveTo>
                    <a:pt x="3071727" y="1209040"/>
                  </a:moveTo>
                  <a:lnTo>
                    <a:pt x="3058228" y="1209040"/>
                  </a:lnTo>
                  <a:lnTo>
                    <a:pt x="3044634" y="1222587"/>
                  </a:lnTo>
                  <a:lnTo>
                    <a:pt x="3071727" y="1222587"/>
                  </a:lnTo>
                  <a:lnTo>
                    <a:pt x="3071727" y="1209040"/>
                  </a:lnTo>
                  <a:close/>
                </a:path>
                <a:path w="3072129" h="1236345">
                  <a:moveTo>
                    <a:pt x="27092" y="1198534"/>
                  </a:moveTo>
                  <a:lnTo>
                    <a:pt x="13640" y="1198534"/>
                  </a:lnTo>
                  <a:lnTo>
                    <a:pt x="27092" y="1212033"/>
                  </a:lnTo>
                  <a:lnTo>
                    <a:pt x="27092" y="1198534"/>
                  </a:lnTo>
                  <a:close/>
                </a:path>
                <a:path w="3072129" h="1236345">
                  <a:moveTo>
                    <a:pt x="27092" y="1198534"/>
                  </a:moveTo>
                  <a:lnTo>
                    <a:pt x="27092" y="1212033"/>
                  </a:lnTo>
                  <a:lnTo>
                    <a:pt x="3044634" y="1212033"/>
                  </a:lnTo>
                  <a:lnTo>
                    <a:pt x="3044634" y="1209040"/>
                  </a:lnTo>
                  <a:lnTo>
                    <a:pt x="3058228" y="1209040"/>
                  </a:lnTo>
                  <a:lnTo>
                    <a:pt x="27092" y="1198534"/>
                  </a:lnTo>
                  <a:close/>
                </a:path>
                <a:path w="3072129" h="1236345">
                  <a:moveTo>
                    <a:pt x="141481" y="0"/>
                  </a:moveTo>
                  <a:lnTo>
                    <a:pt x="141481" y="81280"/>
                  </a:lnTo>
                  <a:lnTo>
                    <a:pt x="195667" y="54187"/>
                  </a:lnTo>
                  <a:lnTo>
                    <a:pt x="155028" y="54187"/>
                  </a:lnTo>
                  <a:lnTo>
                    <a:pt x="155028" y="27094"/>
                  </a:lnTo>
                  <a:lnTo>
                    <a:pt x="195670" y="27094"/>
                  </a:lnTo>
                  <a:lnTo>
                    <a:pt x="141481" y="0"/>
                  </a:lnTo>
                  <a:close/>
                </a:path>
                <a:path w="3072129" h="1236345">
                  <a:moveTo>
                    <a:pt x="27092" y="40640"/>
                  </a:moveTo>
                  <a:lnTo>
                    <a:pt x="13547" y="54187"/>
                  </a:lnTo>
                  <a:lnTo>
                    <a:pt x="27092" y="54187"/>
                  </a:lnTo>
                  <a:lnTo>
                    <a:pt x="27092" y="40640"/>
                  </a:lnTo>
                  <a:close/>
                </a:path>
                <a:path w="3072129" h="1236345">
                  <a:moveTo>
                    <a:pt x="141481" y="40640"/>
                  </a:moveTo>
                  <a:lnTo>
                    <a:pt x="27092" y="40640"/>
                  </a:lnTo>
                  <a:lnTo>
                    <a:pt x="27092" y="54187"/>
                  </a:lnTo>
                  <a:lnTo>
                    <a:pt x="141481" y="54187"/>
                  </a:lnTo>
                  <a:lnTo>
                    <a:pt x="141481" y="40640"/>
                  </a:lnTo>
                  <a:close/>
                </a:path>
                <a:path w="3072129" h="1236345">
                  <a:moveTo>
                    <a:pt x="195670" y="27094"/>
                  </a:moveTo>
                  <a:lnTo>
                    <a:pt x="155028" y="27094"/>
                  </a:lnTo>
                  <a:lnTo>
                    <a:pt x="155028" y="54187"/>
                  </a:lnTo>
                  <a:lnTo>
                    <a:pt x="195667" y="54187"/>
                  </a:lnTo>
                  <a:lnTo>
                    <a:pt x="222761" y="40640"/>
                  </a:lnTo>
                  <a:lnTo>
                    <a:pt x="195670" y="27094"/>
                  </a:lnTo>
                  <a:close/>
                </a:path>
              </a:pathLst>
            </a:custGeom>
            <a:solidFill>
              <a:srgbClr val="FF0000"/>
            </a:solidFill>
          </p:spPr>
          <p:txBody>
            <a:bodyPr wrap="square" lIns="0" tIns="0" rIns="0" bIns="0" rtlCol="0"/>
            <a:lstStyle/>
            <a:p>
              <a:endParaRPr sz="1588"/>
            </a:p>
          </p:txBody>
        </p:sp>
        <p:pic>
          <p:nvPicPr>
            <p:cNvPr id="45" name="object 45"/>
            <p:cNvPicPr/>
            <p:nvPr/>
          </p:nvPicPr>
          <p:blipFill>
            <a:blip r:embed="rId5" cstate="print"/>
            <a:stretch>
              <a:fillRect/>
            </a:stretch>
          </p:blipFill>
          <p:spPr>
            <a:xfrm>
              <a:off x="5724814" y="6333071"/>
              <a:ext cx="106680" cy="111759"/>
            </a:xfrm>
            <a:prstGeom prst="rect">
              <a:avLst/>
            </a:prstGeom>
          </p:spPr>
        </p:pic>
        <p:sp>
          <p:nvSpPr>
            <p:cNvPr id="46" name="object 46"/>
            <p:cNvSpPr/>
            <p:nvPr/>
          </p:nvSpPr>
          <p:spPr>
            <a:xfrm>
              <a:off x="9226583" y="4080932"/>
              <a:ext cx="406400" cy="1706881"/>
            </a:xfrm>
            <a:custGeom>
              <a:avLst/>
              <a:gdLst/>
              <a:ahLst/>
              <a:cxnLst/>
              <a:rect l="l" t="t" r="r" b="b"/>
              <a:pathLst>
                <a:path w="406400" h="1706879">
                  <a:moveTo>
                    <a:pt x="0" y="67733"/>
                  </a:moveTo>
                  <a:lnTo>
                    <a:pt x="5322" y="41368"/>
                  </a:lnTo>
                  <a:lnTo>
                    <a:pt x="19838" y="19838"/>
                  </a:lnTo>
                  <a:lnTo>
                    <a:pt x="41368" y="5322"/>
                  </a:lnTo>
                  <a:lnTo>
                    <a:pt x="67733" y="0"/>
                  </a:lnTo>
                  <a:lnTo>
                    <a:pt x="338666" y="0"/>
                  </a:lnTo>
                  <a:lnTo>
                    <a:pt x="365031" y="5322"/>
                  </a:lnTo>
                  <a:lnTo>
                    <a:pt x="386561" y="19838"/>
                  </a:lnTo>
                  <a:lnTo>
                    <a:pt x="401077" y="41368"/>
                  </a:lnTo>
                  <a:lnTo>
                    <a:pt x="406399" y="67733"/>
                  </a:lnTo>
                  <a:lnTo>
                    <a:pt x="406399" y="1639146"/>
                  </a:lnTo>
                  <a:lnTo>
                    <a:pt x="401077" y="1665511"/>
                  </a:lnTo>
                  <a:lnTo>
                    <a:pt x="386561" y="1687041"/>
                  </a:lnTo>
                  <a:lnTo>
                    <a:pt x="365031" y="1701557"/>
                  </a:lnTo>
                  <a:lnTo>
                    <a:pt x="338666" y="1706879"/>
                  </a:lnTo>
                  <a:lnTo>
                    <a:pt x="67733" y="1706879"/>
                  </a:lnTo>
                  <a:lnTo>
                    <a:pt x="41368" y="1701557"/>
                  </a:lnTo>
                  <a:lnTo>
                    <a:pt x="19838" y="1687041"/>
                  </a:lnTo>
                  <a:lnTo>
                    <a:pt x="5322" y="1665511"/>
                  </a:lnTo>
                  <a:lnTo>
                    <a:pt x="0" y="1639146"/>
                  </a:lnTo>
                  <a:lnTo>
                    <a:pt x="0" y="67733"/>
                  </a:lnTo>
                  <a:close/>
                </a:path>
              </a:pathLst>
            </a:custGeom>
            <a:ln w="30479">
              <a:solidFill>
                <a:srgbClr val="000000"/>
              </a:solidFill>
            </a:ln>
          </p:spPr>
          <p:txBody>
            <a:bodyPr wrap="square" lIns="0" tIns="0" rIns="0" bIns="0" rtlCol="0"/>
            <a:lstStyle/>
            <a:p>
              <a:endParaRPr sz="1588"/>
            </a:p>
          </p:txBody>
        </p:sp>
      </p:grpSp>
      <p:sp>
        <p:nvSpPr>
          <p:cNvPr id="47" name="object 47"/>
          <p:cNvSpPr txBox="1"/>
          <p:nvPr/>
        </p:nvSpPr>
        <p:spPr>
          <a:xfrm>
            <a:off x="8370804" y="4127797"/>
            <a:ext cx="258084" cy="804283"/>
          </a:xfrm>
          <a:prstGeom prst="rect">
            <a:avLst/>
          </a:prstGeom>
        </p:spPr>
        <p:txBody>
          <a:bodyPr vert="vert" wrap="square" lIns="0" tIns="32497" rIns="0" bIns="0" rtlCol="0">
            <a:spAutoFit/>
          </a:bodyPr>
          <a:lstStyle/>
          <a:p>
            <a:pPr marL="11206">
              <a:spcBef>
                <a:spcPts val="256"/>
              </a:spcBef>
            </a:pPr>
            <a:r>
              <a:rPr sz="1677" spc="-22" dirty="0">
                <a:latin typeface="Comic Sans MS"/>
                <a:cs typeface="Comic Sans MS"/>
              </a:rPr>
              <a:t>Mux</a:t>
            </a:r>
            <a:endParaRPr sz="1677" dirty="0">
              <a:latin typeface="Comic Sans MS"/>
              <a:cs typeface="Comic Sans MS"/>
            </a:endParaRPr>
          </a:p>
        </p:txBody>
      </p:sp>
      <p:sp>
        <p:nvSpPr>
          <p:cNvPr id="48" name="object 48"/>
          <p:cNvSpPr/>
          <p:nvPr/>
        </p:nvSpPr>
        <p:spPr>
          <a:xfrm>
            <a:off x="503174" y="3273611"/>
            <a:ext cx="8274424" cy="2492188"/>
          </a:xfrm>
          <a:custGeom>
            <a:avLst/>
            <a:gdLst/>
            <a:ahLst/>
            <a:cxnLst/>
            <a:rect l="l" t="t" r="r" b="b"/>
            <a:pathLst>
              <a:path w="9377680" h="2824479">
                <a:moveTo>
                  <a:pt x="411480" y="30479"/>
                </a:moveTo>
                <a:lnTo>
                  <a:pt x="6823" y="30479"/>
                </a:lnTo>
                <a:lnTo>
                  <a:pt x="0" y="37302"/>
                </a:lnTo>
                <a:lnTo>
                  <a:pt x="0" y="2817656"/>
                </a:lnTo>
                <a:lnTo>
                  <a:pt x="6823" y="2824479"/>
                </a:lnTo>
                <a:lnTo>
                  <a:pt x="9370856" y="2824479"/>
                </a:lnTo>
                <a:lnTo>
                  <a:pt x="9377680" y="2817656"/>
                </a:lnTo>
                <a:lnTo>
                  <a:pt x="9377680" y="2809239"/>
                </a:lnTo>
                <a:lnTo>
                  <a:pt x="30480" y="2809239"/>
                </a:lnTo>
                <a:lnTo>
                  <a:pt x="15240" y="2793999"/>
                </a:lnTo>
                <a:lnTo>
                  <a:pt x="30480" y="2793999"/>
                </a:lnTo>
                <a:lnTo>
                  <a:pt x="30480" y="60959"/>
                </a:lnTo>
                <a:lnTo>
                  <a:pt x="15240" y="60959"/>
                </a:lnTo>
                <a:lnTo>
                  <a:pt x="30480" y="45719"/>
                </a:lnTo>
                <a:lnTo>
                  <a:pt x="411480" y="45719"/>
                </a:lnTo>
                <a:lnTo>
                  <a:pt x="411480" y="30479"/>
                </a:lnTo>
                <a:close/>
              </a:path>
              <a:path w="9377680" h="2824479">
                <a:moveTo>
                  <a:pt x="30480" y="2793999"/>
                </a:moveTo>
                <a:lnTo>
                  <a:pt x="15240" y="2793999"/>
                </a:lnTo>
                <a:lnTo>
                  <a:pt x="30480" y="2809239"/>
                </a:lnTo>
                <a:lnTo>
                  <a:pt x="30480" y="2793999"/>
                </a:lnTo>
                <a:close/>
              </a:path>
              <a:path w="9377680" h="2824479">
                <a:moveTo>
                  <a:pt x="9347198" y="2793999"/>
                </a:moveTo>
                <a:lnTo>
                  <a:pt x="30480" y="2793999"/>
                </a:lnTo>
                <a:lnTo>
                  <a:pt x="30480" y="2809239"/>
                </a:lnTo>
                <a:lnTo>
                  <a:pt x="9347198" y="2809239"/>
                </a:lnTo>
                <a:lnTo>
                  <a:pt x="9347198" y="2793999"/>
                </a:lnTo>
                <a:close/>
              </a:path>
              <a:path w="9377680" h="2824479">
                <a:moveTo>
                  <a:pt x="9347198" y="1264920"/>
                </a:moveTo>
                <a:lnTo>
                  <a:pt x="9347198" y="2809239"/>
                </a:lnTo>
                <a:lnTo>
                  <a:pt x="9362438" y="2793999"/>
                </a:lnTo>
                <a:lnTo>
                  <a:pt x="9377680" y="2793999"/>
                </a:lnTo>
                <a:lnTo>
                  <a:pt x="9377680" y="1280159"/>
                </a:lnTo>
                <a:lnTo>
                  <a:pt x="9362438" y="1280159"/>
                </a:lnTo>
                <a:lnTo>
                  <a:pt x="9347198" y="1264920"/>
                </a:lnTo>
                <a:close/>
              </a:path>
              <a:path w="9377680" h="2824479">
                <a:moveTo>
                  <a:pt x="9377680" y="2793999"/>
                </a:moveTo>
                <a:lnTo>
                  <a:pt x="9362438" y="2793999"/>
                </a:lnTo>
                <a:lnTo>
                  <a:pt x="9347198" y="2809239"/>
                </a:lnTo>
                <a:lnTo>
                  <a:pt x="9377680" y="2809239"/>
                </a:lnTo>
                <a:lnTo>
                  <a:pt x="9377680" y="2793999"/>
                </a:lnTo>
                <a:close/>
              </a:path>
              <a:path w="9377680" h="2824479">
                <a:moveTo>
                  <a:pt x="9370856" y="1249679"/>
                </a:moveTo>
                <a:lnTo>
                  <a:pt x="9199878" y="1249679"/>
                </a:lnTo>
                <a:lnTo>
                  <a:pt x="9199878" y="1280159"/>
                </a:lnTo>
                <a:lnTo>
                  <a:pt x="9347198" y="1280159"/>
                </a:lnTo>
                <a:lnTo>
                  <a:pt x="9347198" y="1264920"/>
                </a:lnTo>
                <a:lnTo>
                  <a:pt x="9377680" y="1264920"/>
                </a:lnTo>
                <a:lnTo>
                  <a:pt x="9377680" y="1256502"/>
                </a:lnTo>
                <a:lnTo>
                  <a:pt x="9370856" y="1249679"/>
                </a:lnTo>
                <a:close/>
              </a:path>
              <a:path w="9377680" h="2824479">
                <a:moveTo>
                  <a:pt x="9377680" y="1264920"/>
                </a:moveTo>
                <a:lnTo>
                  <a:pt x="9347198" y="1264920"/>
                </a:lnTo>
                <a:lnTo>
                  <a:pt x="9362438" y="1280159"/>
                </a:lnTo>
                <a:lnTo>
                  <a:pt x="9377680" y="1280159"/>
                </a:lnTo>
                <a:lnTo>
                  <a:pt x="9377680" y="1264920"/>
                </a:lnTo>
                <a:close/>
              </a:path>
              <a:path w="9377680" h="2824479">
                <a:moveTo>
                  <a:pt x="411480" y="0"/>
                </a:moveTo>
                <a:lnTo>
                  <a:pt x="411480" y="91439"/>
                </a:lnTo>
                <a:lnTo>
                  <a:pt x="472440" y="60959"/>
                </a:lnTo>
                <a:lnTo>
                  <a:pt x="426720" y="60959"/>
                </a:lnTo>
                <a:lnTo>
                  <a:pt x="426720" y="30479"/>
                </a:lnTo>
                <a:lnTo>
                  <a:pt x="472439" y="30479"/>
                </a:lnTo>
                <a:lnTo>
                  <a:pt x="411480" y="0"/>
                </a:lnTo>
                <a:close/>
              </a:path>
              <a:path w="9377680" h="2824479">
                <a:moveTo>
                  <a:pt x="30480" y="45719"/>
                </a:moveTo>
                <a:lnTo>
                  <a:pt x="15240" y="60959"/>
                </a:lnTo>
                <a:lnTo>
                  <a:pt x="30480" y="60959"/>
                </a:lnTo>
                <a:lnTo>
                  <a:pt x="30480" y="45719"/>
                </a:lnTo>
                <a:close/>
              </a:path>
              <a:path w="9377680" h="2824479">
                <a:moveTo>
                  <a:pt x="411480" y="45719"/>
                </a:moveTo>
                <a:lnTo>
                  <a:pt x="30480" y="45719"/>
                </a:lnTo>
                <a:lnTo>
                  <a:pt x="30480" y="60959"/>
                </a:lnTo>
                <a:lnTo>
                  <a:pt x="411480" y="60959"/>
                </a:lnTo>
                <a:lnTo>
                  <a:pt x="411480" y="45719"/>
                </a:lnTo>
                <a:close/>
              </a:path>
              <a:path w="9377680" h="2824479">
                <a:moveTo>
                  <a:pt x="472439" y="30479"/>
                </a:moveTo>
                <a:lnTo>
                  <a:pt x="426720" y="30479"/>
                </a:lnTo>
                <a:lnTo>
                  <a:pt x="426720" y="60959"/>
                </a:lnTo>
                <a:lnTo>
                  <a:pt x="472440" y="60959"/>
                </a:lnTo>
                <a:lnTo>
                  <a:pt x="502920" y="45719"/>
                </a:lnTo>
                <a:lnTo>
                  <a:pt x="472439" y="30479"/>
                </a:lnTo>
                <a:close/>
              </a:path>
            </a:pathLst>
          </a:custGeom>
          <a:solidFill>
            <a:srgbClr val="000000"/>
          </a:solidFill>
        </p:spPr>
        <p:txBody>
          <a:bodyPr wrap="square" lIns="0" tIns="0" rIns="0" bIns="0" rtlCol="0"/>
          <a:lstStyle/>
          <a:p>
            <a:endParaRPr sz="1588"/>
          </a:p>
        </p:txBody>
      </p:sp>
      <p:sp>
        <p:nvSpPr>
          <p:cNvPr id="49" name="object 49"/>
          <p:cNvSpPr txBox="1"/>
          <p:nvPr/>
        </p:nvSpPr>
        <p:spPr>
          <a:xfrm>
            <a:off x="6228782" y="5182496"/>
            <a:ext cx="1043268" cy="242148"/>
          </a:xfrm>
          <a:prstGeom prst="rect">
            <a:avLst/>
          </a:prstGeom>
        </p:spPr>
        <p:txBody>
          <a:bodyPr vert="horz" wrap="square" lIns="0" tIns="11206" rIns="0" bIns="0" rtlCol="0">
            <a:spAutoFit/>
          </a:bodyPr>
          <a:lstStyle/>
          <a:p>
            <a:pPr marL="11206">
              <a:spcBef>
                <a:spcPts val="88"/>
              </a:spcBef>
            </a:pPr>
            <a:r>
              <a:rPr sz="1500" b="1" dirty="0">
                <a:latin typeface="Times New Roman"/>
                <a:cs typeface="Times New Roman"/>
              </a:rPr>
              <a:t>(From</a:t>
            </a:r>
            <a:r>
              <a:rPr sz="1500" b="1" spc="-101" dirty="0">
                <a:latin typeface="Times New Roman"/>
                <a:cs typeface="Times New Roman"/>
              </a:rPr>
              <a:t> </a:t>
            </a:r>
            <a:r>
              <a:rPr sz="1500" b="1" spc="-18" dirty="0">
                <a:latin typeface="Times New Roman"/>
                <a:cs typeface="Times New Roman"/>
              </a:rPr>
              <a:t>ALU)</a:t>
            </a:r>
            <a:endParaRPr sz="1500">
              <a:latin typeface="Times New Roman"/>
              <a:cs typeface="Times New Roman"/>
            </a:endParaRPr>
          </a:p>
        </p:txBody>
      </p:sp>
      <p:sp>
        <p:nvSpPr>
          <p:cNvPr id="50" name="object 50"/>
          <p:cNvSpPr txBox="1"/>
          <p:nvPr/>
        </p:nvSpPr>
        <p:spPr>
          <a:xfrm>
            <a:off x="5327829" y="2044850"/>
            <a:ext cx="962025" cy="759273"/>
          </a:xfrm>
          <a:prstGeom prst="rect">
            <a:avLst/>
          </a:prstGeom>
        </p:spPr>
        <p:txBody>
          <a:bodyPr vert="horz" wrap="square" lIns="0" tIns="33618" rIns="0" bIns="0" rtlCol="0">
            <a:spAutoFit/>
          </a:bodyPr>
          <a:lstStyle/>
          <a:p>
            <a:pPr marL="11206" marR="4483">
              <a:lnSpc>
                <a:spcPct val="88900"/>
              </a:lnSpc>
              <a:spcBef>
                <a:spcPts val="265"/>
              </a:spcBef>
            </a:pPr>
            <a:r>
              <a:rPr sz="1324" spc="-31" dirty="0">
                <a:solidFill>
                  <a:srgbClr val="FF0000"/>
                </a:solidFill>
                <a:latin typeface="Times New Roman"/>
                <a:cs typeface="Times New Roman"/>
              </a:rPr>
              <a:t>To</a:t>
            </a:r>
            <a:r>
              <a:rPr sz="1324" spc="-49" dirty="0">
                <a:solidFill>
                  <a:srgbClr val="FF0000"/>
                </a:solidFill>
                <a:latin typeface="Times New Roman"/>
                <a:cs typeface="Times New Roman"/>
              </a:rPr>
              <a:t> </a:t>
            </a:r>
            <a:r>
              <a:rPr sz="1324" spc="-9" dirty="0">
                <a:solidFill>
                  <a:srgbClr val="FF0000"/>
                </a:solidFill>
                <a:latin typeface="Times New Roman"/>
                <a:cs typeface="Times New Roman"/>
              </a:rPr>
              <a:t>forward </a:t>
            </a:r>
            <a:r>
              <a:rPr sz="1324" dirty="0">
                <a:solidFill>
                  <a:srgbClr val="FF0000"/>
                </a:solidFill>
                <a:latin typeface="Times New Roman"/>
                <a:cs typeface="Times New Roman"/>
              </a:rPr>
              <a:t>ALU</a:t>
            </a:r>
            <a:r>
              <a:rPr sz="1324" spc="-40" dirty="0">
                <a:solidFill>
                  <a:srgbClr val="FF0000"/>
                </a:solidFill>
                <a:latin typeface="Times New Roman"/>
                <a:cs typeface="Times New Roman"/>
              </a:rPr>
              <a:t> </a:t>
            </a:r>
            <a:r>
              <a:rPr sz="1324" dirty="0">
                <a:solidFill>
                  <a:srgbClr val="FF0000"/>
                </a:solidFill>
                <a:latin typeface="Times New Roman"/>
                <a:cs typeface="Times New Roman"/>
              </a:rPr>
              <a:t>output</a:t>
            </a:r>
            <a:r>
              <a:rPr sz="1324" spc="-40" dirty="0">
                <a:solidFill>
                  <a:srgbClr val="FF0000"/>
                </a:solidFill>
                <a:latin typeface="Times New Roman"/>
                <a:cs typeface="Times New Roman"/>
              </a:rPr>
              <a:t> </a:t>
            </a:r>
            <a:r>
              <a:rPr sz="1324" spc="-44" dirty="0">
                <a:solidFill>
                  <a:srgbClr val="FF0000"/>
                </a:solidFill>
                <a:latin typeface="Times New Roman"/>
                <a:cs typeface="Times New Roman"/>
              </a:rPr>
              <a:t>1 </a:t>
            </a:r>
            <a:r>
              <a:rPr sz="1324" dirty="0">
                <a:solidFill>
                  <a:srgbClr val="FF0000"/>
                </a:solidFill>
                <a:latin typeface="Times New Roman"/>
                <a:cs typeface="Times New Roman"/>
              </a:rPr>
              <a:t>cycle</a:t>
            </a:r>
            <a:r>
              <a:rPr sz="1324" spc="-13" dirty="0">
                <a:solidFill>
                  <a:srgbClr val="FF0000"/>
                </a:solidFill>
                <a:latin typeface="Times New Roman"/>
                <a:cs typeface="Times New Roman"/>
              </a:rPr>
              <a:t> </a:t>
            </a:r>
            <a:r>
              <a:rPr sz="1324" dirty="0">
                <a:solidFill>
                  <a:srgbClr val="FF0000"/>
                </a:solidFill>
                <a:latin typeface="Times New Roman"/>
                <a:cs typeface="Times New Roman"/>
              </a:rPr>
              <a:t>to</a:t>
            </a:r>
            <a:r>
              <a:rPr sz="1324" spc="-84" dirty="0">
                <a:solidFill>
                  <a:srgbClr val="FF0000"/>
                </a:solidFill>
                <a:latin typeface="Times New Roman"/>
                <a:cs typeface="Times New Roman"/>
              </a:rPr>
              <a:t> </a:t>
            </a:r>
            <a:r>
              <a:rPr sz="1324" spc="-22" dirty="0">
                <a:solidFill>
                  <a:srgbClr val="FF0000"/>
                </a:solidFill>
                <a:latin typeface="Times New Roman"/>
                <a:cs typeface="Times New Roman"/>
              </a:rPr>
              <a:t>ALU </a:t>
            </a:r>
            <a:r>
              <a:rPr sz="1324" spc="-9" dirty="0">
                <a:solidFill>
                  <a:srgbClr val="FF0000"/>
                </a:solidFill>
                <a:latin typeface="Times New Roman"/>
                <a:cs typeface="Times New Roman"/>
              </a:rPr>
              <a:t>inputs</a:t>
            </a:r>
            <a:endParaRPr sz="1324" dirty="0">
              <a:latin typeface="Times New Roman"/>
              <a:cs typeface="Times New Roman"/>
            </a:endParaRPr>
          </a:p>
        </p:txBody>
      </p:sp>
      <p:sp>
        <p:nvSpPr>
          <p:cNvPr id="51" name="object 51"/>
          <p:cNvSpPr/>
          <p:nvPr/>
        </p:nvSpPr>
        <p:spPr>
          <a:xfrm>
            <a:off x="7976750" y="3382100"/>
            <a:ext cx="351865" cy="463924"/>
          </a:xfrm>
          <a:custGeom>
            <a:avLst/>
            <a:gdLst/>
            <a:ahLst/>
            <a:cxnLst/>
            <a:rect l="l" t="t" r="r" b="b"/>
            <a:pathLst>
              <a:path w="398779" h="525779">
                <a:moveTo>
                  <a:pt x="18129" y="424978"/>
                </a:moveTo>
                <a:lnTo>
                  <a:pt x="0" y="525590"/>
                </a:lnTo>
                <a:lnTo>
                  <a:pt x="91367" y="479727"/>
                </a:lnTo>
                <a:lnTo>
                  <a:pt x="83284" y="473684"/>
                </a:lnTo>
                <a:lnTo>
                  <a:pt x="57830" y="473684"/>
                </a:lnTo>
                <a:lnTo>
                  <a:pt x="33417" y="455434"/>
                </a:lnTo>
                <a:lnTo>
                  <a:pt x="42542" y="443228"/>
                </a:lnTo>
                <a:lnTo>
                  <a:pt x="18129" y="424978"/>
                </a:lnTo>
                <a:close/>
              </a:path>
              <a:path w="398779" h="525779">
                <a:moveTo>
                  <a:pt x="42542" y="443228"/>
                </a:moveTo>
                <a:lnTo>
                  <a:pt x="33417" y="455434"/>
                </a:lnTo>
                <a:lnTo>
                  <a:pt x="57830" y="473684"/>
                </a:lnTo>
                <a:lnTo>
                  <a:pt x="66955" y="461478"/>
                </a:lnTo>
                <a:lnTo>
                  <a:pt x="42542" y="443228"/>
                </a:lnTo>
                <a:close/>
              </a:path>
              <a:path w="398779" h="525779">
                <a:moveTo>
                  <a:pt x="66955" y="461478"/>
                </a:moveTo>
                <a:lnTo>
                  <a:pt x="57830" y="473684"/>
                </a:lnTo>
                <a:lnTo>
                  <a:pt x="83284" y="473684"/>
                </a:lnTo>
                <a:lnTo>
                  <a:pt x="66955" y="461478"/>
                </a:lnTo>
                <a:close/>
              </a:path>
              <a:path w="398779" h="525779">
                <a:moveTo>
                  <a:pt x="373874" y="0"/>
                </a:moveTo>
                <a:lnTo>
                  <a:pt x="42542" y="443228"/>
                </a:lnTo>
                <a:lnTo>
                  <a:pt x="66955" y="461478"/>
                </a:lnTo>
                <a:lnTo>
                  <a:pt x="398287" y="18249"/>
                </a:lnTo>
                <a:lnTo>
                  <a:pt x="373874" y="0"/>
                </a:lnTo>
                <a:close/>
              </a:path>
            </a:pathLst>
          </a:custGeom>
          <a:solidFill>
            <a:srgbClr val="000000"/>
          </a:solidFill>
        </p:spPr>
        <p:txBody>
          <a:bodyPr wrap="square" lIns="0" tIns="0" rIns="0" bIns="0" rtlCol="0"/>
          <a:lstStyle/>
          <a:p>
            <a:endParaRPr sz="1588"/>
          </a:p>
        </p:txBody>
      </p:sp>
      <p:sp>
        <p:nvSpPr>
          <p:cNvPr id="52" name="object 52"/>
          <p:cNvSpPr txBox="1"/>
          <p:nvPr/>
        </p:nvSpPr>
        <p:spPr>
          <a:xfrm>
            <a:off x="8033676" y="2662518"/>
            <a:ext cx="788333" cy="662987"/>
          </a:xfrm>
          <a:prstGeom prst="rect">
            <a:avLst/>
          </a:prstGeom>
        </p:spPr>
        <p:txBody>
          <a:bodyPr vert="horz" wrap="square" lIns="0" tIns="32497" rIns="0" bIns="0" rtlCol="0">
            <a:spAutoFit/>
          </a:bodyPr>
          <a:lstStyle/>
          <a:p>
            <a:pPr marL="11206" marR="4483">
              <a:lnSpc>
                <a:spcPct val="90600"/>
              </a:lnSpc>
              <a:spcBef>
                <a:spcPts val="256"/>
              </a:spcBef>
            </a:pPr>
            <a:r>
              <a:rPr sz="1500" b="1" spc="-9" dirty="0">
                <a:latin typeface="Times New Roman"/>
                <a:cs typeface="Times New Roman"/>
              </a:rPr>
              <a:t>(From </a:t>
            </a:r>
            <a:r>
              <a:rPr sz="1500" b="1" spc="-88" dirty="0">
                <a:latin typeface="Times New Roman"/>
                <a:cs typeface="Times New Roman"/>
              </a:rPr>
              <a:t>LW</a:t>
            </a:r>
            <a:r>
              <a:rPr sz="1500" b="1" spc="-13" dirty="0">
                <a:latin typeface="Times New Roman"/>
                <a:cs typeface="Times New Roman"/>
              </a:rPr>
              <a:t> </a:t>
            </a:r>
            <a:r>
              <a:rPr sz="1500" b="1" spc="-18" dirty="0">
                <a:latin typeface="Times New Roman"/>
                <a:cs typeface="Times New Roman"/>
              </a:rPr>
              <a:t>Data </a:t>
            </a:r>
            <a:r>
              <a:rPr sz="1500" b="1" spc="-9" dirty="0">
                <a:latin typeface="Times New Roman"/>
                <a:cs typeface="Times New Roman"/>
              </a:rPr>
              <a:t>Memory)</a:t>
            </a:r>
            <a:endParaRPr sz="1500">
              <a:latin typeface="Times New Roman"/>
              <a:cs typeface="Times New Roman"/>
            </a:endParaRPr>
          </a:p>
        </p:txBody>
      </p:sp>
      <p:grpSp>
        <p:nvGrpSpPr>
          <p:cNvPr id="53" name="object 53"/>
          <p:cNvGrpSpPr/>
          <p:nvPr/>
        </p:nvGrpSpPr>
        <p:grpSpPr>
          <a:xfrm>
            <a:off x="5373997" y="4059516"/>
            <a:ext cx="2356597" cy="1274109"/>
            <a:chOff x="5938130" y="4600785"/>
            <a:chExt cx="2670810" cy="1443990"/>
          </a:xfrm>
        </p:grpSpPr>
        <p:sp>
          <p:nvSpPr>
            <p:cNvPr id="54" name="object 54"/>
            <p:cNvSpPr/>
            <p:nvPr/>
          </p:nvSpPr>
          <p:spPr>
            <a:xfrm>
              <a:off x="6702844" y="5577839"/>
              <a:ext cx="1906270" cy="466725"/>
            </a:xfrm>
            <a:custGeom>
              <a:avLst/>
              <a:gdLst/>
              <a:ahLst/>
              <a:cxnLst/>
              <a:rect l="l" t="t" r="r" b="b"/>
              <a:pathLst>
                <a:path w="1906270" h="466725">
                  <a:moveTo>
                    <a:pt x="207797" y="449707"/>
                  </a:moveTo>
                  <a:lnTo>
                    <a:pt x="56362" y="82130"/>
                  </a:lnTo>
                  <a:lnTo>
                    <a:pt x="84543" y="70523"/>
                  </a:lnTo>
                  <a:lnTo>
                    <a:pt x="81699" y="68046"/>
                  </a:lnTo>
                  <a:lnTo>
                    <a:pt x="7442" y="3390"/>
                  </a:lnTo>
                  <a:lnTo>
                    <a:pt x="0" y="105359"/>
                  </a:lnTo>
                  <a:lnTo>
                    <a:pt x="28181" y="93738"/>
                  </a:lnTo>
                  <a:lnTo>
                    <a:pt x="179616" y="461314"/>
                  </a:lnTo>
                  <a:lnTo>
                    <a:pt x="207797" y="449707"/>
                  </a:lnTo>
                  <a:close/>
                </a:path>
                <a:path w="1906270" h="466725">
                  <a:moveTo>
                    <a:pt x="1905673" y="0"/>
                  </a:moveTo>
                  <a:lnTo>
                    <a:pt x="1807489" y="28498"/>
                  </a:lnTo>
                  <a:lnTo>
                    <a:pt x="1828177" y="50888"/>
                  </a:lnTo>
                  <a:lnTo>
                    <a:pt x="1402562" y="444322"/>
                  </a:lnTo>
                  <a:lnTo>
                    <a:pt x="1423250" y="466699"/>
                  </a:lnTo>
                  <a:lnTo>
                    <a:pt x="1848866" y="73266"/>
                  </a:lnTo>
                  <a:lnTo>
                    <a:pt x="1869554" y="95643"/>
                  </a:lnTo>
                  <a:lnTo>
                    <a:pt x="1890356" y="40538"/>
                  </a:lnTo>
                  <a:lnTo>
                    <a:pt x="1905673" y="0"/>
                  </a:lnTo>
                  <a:close/>
                </a:path>
              </a:pathLst>
            </a:custGeom>
            <a:solidFill>
              <a:srgbClr val="000000"/>
            </a:solidFill>
          </p:spPr>
          <p:txBody>
            <a:bodyPr wrap="square" lIns="0" tIns="0" rIns="0" bIns="0" rtlCol="0"/>
            <a:lstStyle/>
            <a:p>
              <a:endParaRPr sz="1588"/>
            </a:p>
          </p:txBody>
        </p:sp>
        <p:sp>
          <p:nvSpPr>
            <p:cNvPr id="55" name="object 55"/>
            <p:cNvSpPr/>
            <p:nvPr/>
          </p:nvSpPr>
          <p:spPr>
            <a:xfrm>
              <a:off x="5953370" y="4616025"/>
              <a:ext cx="406400" cy="812800"/>
            </a:xfrm>
            <a:custGeom>
              <a:avLst/>
              <a:gdLst/>
              <a:ahLst/>
              <a:cxnLst/>
              <a:rect l="l" t="t" r="r" b="b"/>
              <a:pathLst>
                <a:path w="406400" h="812800">
                  <a:moveTo>
                    <a:pt x="0" y="67735"/>
                  </a:moveTo>
                  <a:lnTo>
                    <a:pt x="5322" y="41369"/>
                  </a:lnTo>
                  <a:lnTo>
                    <a:pt x="19839" y="19839"/>
                  </a:lnTo>
                  <a:lnTo>
                    <a:pt x="41369" y="5322"/>
                  </a:lnTo>
                  <a:lnTo>
                    <a:pt x="67735" y="0"/>
                  </a:lnTo>
                  <a:lnTo>
                    <a:pt x="338664" y="0"/>
                  </a:lnTo>
                  <a:lnTo>
                    <a:pt x="365030" y="5322"/>
                  </a:lnTo>
                  <a:lnTo>
                    <a:pt x="386560" y="19839"/>
                  </a:lnTo>
                  <a:lnTo>
                    <a:pt x="401077" y="41369"/>
                  </a:lnTo>
                  <a:lnTo>
                    <a:pt x="406399" y="67735"/>
                  </a:lnTo>
                  <a:lnTo>
                    <a:pt x="406399" y="745064"/>
                  </a:lnTo>
                  <a:lnTo>
                    <a:pt x="401077" y="771430"/>
                  </a:lnTo>
                  <a:lnTo>
                    <a:pt x="386560" y="792960"/>
                  </a:lnTo>
                  <a:lnTo>
                    <a:pt x="365030" y="807477"/>
                  </a:lnTo>
                  <a:lnTo>
                    <a:pt x="338664" y="812799"/>
                  </a:lnTo>
                  <a:lnTo>
                    <a:pt x="67735" y="812799"/>
                  </a:lnTo>
                  <a:lnTo>
                    <a:pt x="41369" y="807477"/>
                  </a:lnTo>
                  <a:lnTo>
                    <a:pt x="19839" y="792960"/>
                  </a:lnTo>
                  <a:lnTo>
                    <a:pt x="5322" y="771430"/>
                  </a:lnTo>
                  <a:lnTo>
                    <a:pt x="0" y="745064"/>
                  </a:lnTo>
                  <a:lnTo>
                    <a:pt x="0" y="67735"/>
                  </a:lnTo>
                  <a:close/>
                </a:path>
              </a:pathLst>
            </a:custGeom>
            <a:ln w="30479">
              <a:solidFill>
                <a:srgbClr val="000000"/>
              </a:solidFill>
            </a:ln>
          </p:spPr>
          <p:txBody>
            <a:bodyPr wrap="square" lIns="0" tIns="0" rIns="0" bIns="0" rtlCol="0"/>
            <a:lstStyle/>
            <a:p>
              <a:endParaRPr sz="1588"/>
            </a:p>
          </p:txBody>
        </p:sp>
      </p:grpSp>
      <p:sp>
        <p:nvSpPr>
          <p:cNvPr id="56" name="object 56"/>
          <p:cNvSpPr txBox="1"/>
          <p:nvPr/>
        </p:nvSpPr>
        <p:spPr>
          <a:xfrm>
            <a:off x="5440866" y="4216548"/>
            <a:ext cx="243656" cy="428065"/>
          </a:xfrm>
          <a:prstGeom prst="rect">
            <a:avLst/>
          </a:prstGeom>
        </p:spPr>
        <p:txBody>
          <a:bodyPr vert="vert" wrap="square" lIns="0" tIns="0" rIns="0" bIns="0" rtlCol="0">
            <a:spAutoFit/>
          </a:bodyPr>
          <a:lstStyle/>
          <a:p>
            <a:pPr marL="11206">
              <a:lnSpc>
                <a:spcPts val="1919"/>
              </a:lnSpc>
            </a:pPr>
            <a:r>
              <a:rPr sz="1677" spc="-22" dirty="0">
                <a:latin typeface="Times New Roman"/>
                <a:cs typeface="Times New Roman"/>
              </a:rPr>
              <a:t>Mux</a:t>
            </a:r>
            <a:endParaRPr sz="1677">
              <a:latin typeface="Times New Roman"/>
              <a:cs typeface="Times New Roman"/>
            </a:endParaRPr>
          </a:p>
        </p:txBody>
      </p:sp>
      <p:grpSp>
        <p:nvGrpSpPr>
          <p:cNvPr id="57" name="object 57"/>
          <p:cNvGrpSpPr/>
          <p:nvPr/>
        </p:nvGrpSpPr>
        <p:grpSpPr>
          <a:xfrm>
            <a:off x="5133445" y="2790405"/>
            <a:ext cx="770965" cy="1705534"/>
            <a:chOff x="5665504" y="3162458"/>
            <a:chExt cx="873760" cy="1932939"/>
          </a:xfrm>
        </p:grpSpPr>
        <p:pic>
          <p:nvPicPr>
            <p:cNvPr id="58" name="object 58"/>
            <p:cNvPicPr/>
            <p:nvPr/>
          </p:nvPicPr>
          <p:blipFill>
            <a:blip r:embed="rId8" cstate="print"/>
            <a:stretch>
              <a:fillRect/>
            </a:stretch>
          </p:blipFill>
          <p:spPr>
            <a:xfrm>
              <a:off x="6366542" y="5003798"/>
              <a:ext cx="172721" cy="91440"/>
            </a:xfrm>
            <a:prstGeom prst="rect">
              <a:avLst/>
            </a:prstGeom>
          </p:spPr>
        </p:pic>
        <p:sp>
          <p:nvSpPr>
            <p:cNvPr id="59" name="object 59"/>
            <p:cNvSpPr/>
            <p:nvPr/>
          </p:nvSpPr>
          <p:spPr>
            <a:xfrm>
              <a:off x="5665504" y="3162458"/>
              <a:ext cx="494030" cy="397510"/>
            </a:xfrm>
            <a:custGeom>
              <a:avLst/>
              <a:gdLst/>
              <a:ahLst/>
              <a:cxnLst/>
              <a:rect l="l" t="t" r="r" b="b"/>
              <a:pathLst>
                <a:path w="494029" h="397510">
                  <a:moveTo>
                    <a:pt x="468288" y="0"/>
                  </a:moveTo>
                  <a:lnTo>
                    <a:pt x="372724" y="75711"/>
                  </a:lnTo>
                  <a:lnTo>
                    <a:pt x="397960" y="107565"/>
                  </a:lnTo>
                  <a:lnTo>
                    <a:pt x="493524" y="31855"/>
                  </a:lnTo>
                  <a:lnTo>
                    <a:pt x="468288" y="0"/>
                  </a:lnTo>
                  <a:close/>
                </a:path>
                <a:path w="494029" h="397510">
                  <a:moveTo>
                    <a:pt x="340869" y="100948"/>
                  </a:moveTo>
                  <a:lnTo>
                    <a:pt x="245305" y="176658"/>
                  </a:lnTo>
                  <a:lnTo>
                    <a:pt x="270543" y="208512"/>
                  </a:lnTo>
                  <a:lnTo>
                    <a:pt x="366106" y="132802"/>
                  </a:lnTo>
                  <a:lnTo>
                    <a:pt x="340869" y="100948"/>
                  </a:lnTo>
                  <a:close/>
                </a:path>
                <a:path w="494029" h="397510">
                  <a:moveTo>
                    <a:pt x="57707" y="273434"/>
                  </a:moveTo>
                  <a:lnTo>
                    <a:pt x="0" y="396927"/>
                  </a:lnTo>
                  <a:lnTo>
                    <a:pt x="133418" y="368998"/>
                  </a:lnTo>
                  <a:lnTo>
                    <a:pt x="118179" y="349763"/>
                  </a:lnTo>
                  <a:lnTo>
                    <a:pt x="92254" y="349763"/>
                  </a:lnTo>
                  <a:lnTo>
                    <a:pt x="67017" y="317907"/>
                  </a:lnTo>
                  <a:lnTo>
                    <a:pt x="82944" y="305289"/>
                  </a:lnTo>
                  <a:lnTo>
                    <a:pt x="57707" y="273434"/>
                  </a:lnTo>
                  <a:close/>
                </a:path>
                <a:path w="494029" h="397510">
                  <a:moveTo>
                    <a:pt x="82944" y="305289"/>
                  </a:moveTo>
                  <a:lnTo>
                    <a:pt x="67017" y="317907"/>
                  </a:lnTo>
                  <a:lnTo>
                    <a:pt x="92254" y="349763"/>
                  </a:lnTo>
                  <a:lnTo>
                    <a:pt x="108181" y="337143"/>
                  </a:lnTo>
                  <a:lnTo>
                    <a:pt x="82944" y="305289"/>
                  </a:lnTo>
                  <a:close/>
                </a:path>
                <a:path w="494029" h="397510">
                  <a:moveTo>
                    <a:pt x="108181" y="337143"/>
                  </a:moveTo>
                  <a:lnTo>
                    <a:pt x="92254" y="349763"/>
                  </a:lnTo>
                  <a:lnTo>
                    <a:pt x="118179" y="349763"/>
                  </a:lnTo>
                  <a:lnTo>
                    <a:pt x="108181" y="337143"/>
                  </a:lnTo>
                  <a:close/>
                </a:path>
                <a:path w="494029" h="397510">
                  <a:moveTo>
                    <a:pt x="86033" y="302842"/>
                  </a:moveTo>
                  <a:lnTo>
                    <a:pt x="82944" y="305289"/>
                  </a:lnTo>
                  <a:lnTo>
                    <a:pt x="108181" y="337143"/>
                  </a:lnTo>
                  <a:lnTo>
                    <a:pt x="111269" y="334697"/>
                  </a:lnTo>
                  <a:lnTo>
                    <a:pt x="86033" y="302842"/>
                  </a:lnTo>
                  <a:close/>
                </a:path>
                <a:path w="494029" h="397510">
                  <a:moveTo>
                    <a:pt x="213451" y="201895"/>
                  </a:moveTo>
                  <a:lnTo>
                    <a:pt x="117887" y="277605"/>
                  </a:lnTo>
                  <a:lnTo>
                    <a:pt x="143125" y="309460"/>
                  </a:lnTo>
                  <a:lnTo>
                    <a:pt x="238688" y="233749"/>
                  </a:lnTo>
                  <a:lnTo>
                    <a:pt x="213451" y="201895"/>
                  </a:lnTo>
                  <a:close/>
                </a:path>
              </a:pathLst>
            </a:custGeom>
            <a:solidFill>
              <a:srgbClr val="FF0000"/>
            </a:solidFill>
          </p:spPr>
          <p:txBody>
            <a:bodyPr wrap="square" lIns="0" tIns="0" rIns="0" bIns="0" rtlCol="0"/>
            <a:lstStyle/>
            <a:p>
              <a:endParaRPr sz="1588"/>
            </a:p>
          </p:txBody>
        </p:sp>
      </p:grpSp>
      <p:sp>
        <p:nvSpPr>
          <p:cNvPr id="60" name="object 60"/>
          <p:cNvSpPr txBox="1"/>
          <p:nvPr/>
        </p:nvSpPr>
        <p:spPr>
          <a:xfrm>
            <a:off x="7967936" y="1434353"/>
            <a:ext cx="850526" cy="753223"/>
          </a:xfrm>
          <a:prstGeom prst="rect">
            <a:avLst/>
          </a:prstGeom>
        </p:spPr>
        <p:txBody>
          <a:bodyPr vert="horz" wrap="square" lIns="0" tIns="34738" rIns="0" bIns="0" rtlCol="0">
            <a:spAutoFit/>
          </a:bodyPr>
          <a:lstStyle/>
          <a:p>
            <a:pPr marL="11206" marR="4483">
              <a:lnSpc>
                <a:spcPts val="1421"/>
              </a:lnSpc>
              <a:spcBef>
                <a:spcPts val="274"/>
              </a:spcBef>
            </a:pPr>
            <a:r>
              <a:rPr sz="1324" spc="-31" dirty="0">
                <a:solidFill>
                  <a:srgbClr val="FF0000"/>
                </a:solidFill>
                <a:latin typeface="Times New Roman"/>
                <a:cs typeface="Times New Roman"/>
              </a:rPr>
              <a:t>To</a:t>
            </a:r>
            <a:r>
              <a:rPr sz="1324" spc="-49" dirty="0">
                <a:solidFill>
                  <a:srgbClr val="FF0000"/>
                </a:solidFill>
                <a:latin typeface="Times New Roman"/>
                <a:cs typeface="Times New Roman"/>
              </a:rPr>
              <a:t> </a:t>
            </a:r>
            <a:r>
              <a:rPr sz="1324" spc="-9" dirty="0">
                <a:solidFill>
                  <a:srgbClr val="FF0000"/>
                </a:solidFill>
                <a:latin typeface="Times New Roman"/>
                <a:cs typeface="Times New Roman"/>
              </a:rPr>
              <a:t>forward </a:t>
            </a:r>
            <a:r>
              <a:rPr sz="1324" dirty="0">
                <a:solidFill>
                  <a:srgbClr val="FF0000"/>
                </a:solidFill>
                <a:latin typeface="Times New Roman"/>
                <a:cs typeface="Times New Roman"/>
              </a:rPr>
              <a:t>ALU,</a:t>
            </a:r>
            <a:r>
              <a:rPr sz="1324" spc="-49" dirty="0">
                <a:solidFill>
                  <a:srgbClr val="FF0000"/>
                </a:solidFill>
                <a:latin typeface="Times New Roman"/>
                <a:cs typeface="Times New Roman"/>
              </a:rPr>
              <a:t> </a:t>
            </a:r>
            <a:r>
              <a:rPr sz="1324" spc="-22" dirty="0">
                <a:solidFill>
                  <a:srgbClr val="FF0000"/>
                </a:solidFill>
                <a:latin typeface="Times New Roman"/>
                <a:cs typeface="Times New Roman"/>
              </a:rPr>
              <a:t>MEM</a:t>
            </a:r>
            <a:endParaRPr sz="1324">
              <a:latin typeface="Times New Roman"/>
              <a:cs typeface="Times New Roman"/>
            </a:endParaRPr>
          </a:p>
          <a:p>
            <a:pPr marL="11206">
              <a:lnSpc>
                <a:spcPts val="1293"/>
              </a:lnSpc>
            </a:pPr>
            <a:r>
              <a:rPr sz="1324" dirty="0">
                <a:solidFill>
                  <a:srgbClr val="FF0000"/>
                </a:solidFill>
                <a:latin typeface="Times New Roman"/>
                <a:cs typeface="Times New Roman"/>
              </a:rPr>
              <a:t>2</a:t>
            </a:r>
            <a:r>
              <a:rPr sz="1324" spc="-18" dirty="0">
                <a:solidFill>
                  <a:srgbClr val="FF0000"/>
                </a:solidFill>
                <a:latin typeface="Times New Roman"/>
                <a:cs typeface="Times New Roman"/>
              </a:rPr>
              <a:t> </a:t>
            </a:r>
            <a:r>
              <a:rPr sz="1324" dirty="0">
                <a:solidFill>
                  <a:srgbClr val="FF0000"/>
                </a:solidFill>
                <a:latin typeface="Times New Roman"/>
                <a:cs typeface="Times New Roman"/>
              </a:rPr>
              <a:t>cycles</a:t>
            </a:r>
            <a:r>
              <a:rPr sz="1324" spc="-9" dirty="0">
                <a:solidFill>
                  <a:srgbClr val="FF0000"/>
                </a:solidFill>
                <a:latin typeface="Times New Roman"/>
                <a:cs typeface="Times New Roman"/>
              </a:rPr>
              <a:t> </a:t>
            </a:r>
            <a:r>
              <a:rPr sz="1324" spc="-22" dirty="0">
                <a:solidFill>
                  <a:srgbClr val="FF0000"/>
                </a:solidFill>
                <a:latin typeface="Times New Roman"/>
                <a:cs typeface="Times New Roman"/>
              </a:rPr>
              <a:t>to</a:t>
            </a:r>
            <a:endParaRPr sz="1324">
              <a:latin typeface="Times New Roman"/>
              <a:cs typeface="Times New Roman"/>
            </a:endParaRPr>
          </a:p>
          <a:p>
            <a:pPr marL="11206">
              <a:lnSpc>
                <a:spcPts val="1504"/>
              </a:lnSpc>
            </a:pPr>
            <a:r>
              <a:rPr sz="1324" spc="-22" dirty="0">
                <a:solidFill>
                  <a:srgbClr val="FF0000"/>
                </a:solidFill>
                <a:latin typeface="Times New Roman"/>
                <a:cs typeface="Times New Roman"/>
              </a:rPr>
              <a:t>ALU</a:t>
            </a:r>
            <a:endParaRPr sz="1324">
              <a:latin typeface="Times New Roman"/>
              <a:cs typeface="Times New Roman"/>
            </a:endParaRPr>
          </a:p>
        </p:txBody>
      </p:sp>
      <p:sp>
        <p:nvSpPr>
          <p:cNvPr id="61" name="object 61"/>
          <p:cNvSpPr/>
          <p:nvPr/>
        </p:nvSpPr>
        <p:spPr>
          <a:xfrm>
            <a:off x="6204798" y="2195019"/>
            <a:ext cx="1969994" cy="3894044"/>
          </a:xfrm>
          <a:custGeom>
            <a:avLst/>
            <a:gdLst/>
            <a:ahLst/>
            <a:cxnLst/>
            <a:rect l="l" t="t" r="r" b="b"/>
            <a:pathLst>
              <a:path w="2232659" h="4413250">
                <a:moveTo>
                  <a:pt x="82118" y="4299648"/>
                </a:moveTo>
                <a:lnTo>
                  <a:pt x="44259" y="4284891"/>
                </a:lnTo>
                <a:lnTo>
                  <a:pt x="0" y="4398505"/>
                </a:lnTo>
                <a:lnTo>
                  <a:pt x="37858" y="4413250"/>
                </a:lnTo>
                <a:lnTo>
                  <a:pt x="82118" y="4299648"/>
                </a:lnTo>
                <a:close/>
              </a:path>
              <a:path w="2232659" h="4413250">
                <a:moveTo>
                  <a:pt x="141135" y="4148175"/>
                </a:moveTo>
                <a:lnTo>
                  <a:pt x="103263" y="4133431"/>
                </a:lnTo>
                <a:lnTo>
                  <a:pt x="59004" y="4247032"/>
                </a:lnTo>
                <a:lnTo>
                  <a:pt x="96875" y="4261777"/>
                </a:lnTo>
                <a:lnTo>
                  <a:pt x="141135" y="4148175"/>
                </a:lnTo>
                <a:close/>
              </a:path>
              <a:path w="2232659" h="4413250">
                <a:moveTo>
                  <a:pt x="228066" y="4036999"/>
                </a:moveTo>
                <a:lnTo>
                  <a:pt x="223596" y="3988549"/>
                </a:lnTo>
                <a:lnTo>
                  <a:pt x="215531" y="3901262"/>
                </a:lnTo>
                <a:lnTo>
                  <a:pt x="114465" y="3992740"/>
                </a:lnTo>
                <a:lnTo>
                  <a:pt x="152336" y="4007485"/>
                </a:lnTo>
                <a:lnTo>
                  <a:pt x="118021" y="4095559"/>
                </a:lnTo>
                <a:lnTo>
                  <a:pt x="155892" y="4110317"/>
                </a:lnTo>
                <a:lnTo>
                  <a:pt x="190195" y="4022242"/>
                </a:lnTo>
                <a:lnTo>
                  <a:pt x="228066" y="4036999"/>
                </a:lnTo>
                <a:close/>
              </a:path>
              <a:path w="2232659" h="4413250">
                <a:moveTo>
                  <a:pt x="1956828" y="217360"/>
                </a:moveTo>
                <a:lnTo>
                  <a:pt x="1933841" y="183832"/>
                </a:lnTo>
                <a:lnTo>
                  <a:pt x="1877720" y="222313"/>
                </a:lnTo>
                <a:lnTo>
                  <a:pt x="1854746" y="188798"/>
                </a:lnTo>
                <a:lnTo>
                  <a:pt x="1788655" y="308013"/>
                </a:lnTo>
                <a:lnTo>
                  <a:pt x="1923681" y="289356"/>
                </a:lnTo>
                <a:lnTo>
                  <a:pt x="1908581" y="267322"/>
                </a:lnTo>
                <a:lnTo>
                  <a:pt x="1900707" y="255828"/>
                </a:lnTo>
                <a:lnTo>
                  <a:pt x="1956828" y="217360"/>
                </a:lnTo>
                <a:close/>
              </a:path>
              <a:path w="2232659" h="4413250">
                <a:moveTo>
                  <a:pt x="2068271" y="493953"/>
                </a:moveTo>
                <a:lnTo>
                  <a:pt x="2031123" y="477456"/>
                </a:lnTo>
                <a:lnTo>
                  <a:pt x="2034120" y="470712"/>
                </a:lnTo>
                <a:lnTo>
                  <a:pt x="1996986" y="454215"/>
                </a:lnTo>
                <a:lnTo>
                  <a:pt x="1993988" y="460959"/>
                </a:lnTo>
                <a:lnTo>
                  <a:pt x="1956841" y="444461"/>
                </a:lnTo>
                <a:lnTo>
                  <a:pt x="1963064" y="580631"/>
                </a:lnTo>
                <a:lnTo>
                  <a:pt x="2065743" y="496023"/>
                </a:lnTo>
                <a:lnTo>
                  <a:pt x="2068271" y="493953"/>
                </a:lnTo>
                <a:close/>
              </a:path>
              <a:path w="2232659" h="4413250">
                <a:moveTo>
                  <a:pt x="2090902" y="125437"/>
                </a:moveTo>
                <a:lnTo>
                  <a:pt x="2067928" y="91922"/>
                </a:lnTo>
                <a:lnTo>
                  <a:pt x="1967369" y="160858"/>
                </a:lnTo>
                <a:lnTo>
                  <a:pt x="1990344" y="194373"/>
                </a:lnTo>
                <a:lnTo>
                  <a:pt x="2090902" y="125437"/>
                </a:lnTo>
                <a:close/>
              </a:path>
              <a:path w="2232659" h="4413250">
                <a:moveTo>
                  <a:pt x="2100097" y="322135"/>
                </a:moveTo>
                <a:lnTo>
                  <a:pt x="2062962" y="305650"/>
                </a:lnTo>
                <a:lnTo>
                  <a:pt x="2013470" y="417068"/>
                </a:lnTo>
                <a:lnTo>
                  <a:pt x="2050618" y="433565"/>
                </a:lnTo>
                <a:lnTo>
                  <a:pt x="2100097" y="322135"/>
                </a:lnTo>
                <a:close/>
              </a:path>
              <a:path w="2232659" h="4413250">
                <a:moveTo>
                  <a:pt x="2166086" y="173570"/>
                </a:moveTo>
                <a:lnTo>
                  <a:pt x="2128939" y="157073"/>
                </a:lnTo>
                <a:lnTo>
                  <a:pt x="2079459" y="268503"/>
                </a:lnTo>
                <a:lnTo>
                  <a:pt x="2116594" y="285000"/>
                </a:lnTo>
                <a:lnTo>
                  <a:pt x="2166086" y="173570"/>
                </a:lnTo>
                <a:close/>
              </a:path>
              <a:path w="2232659" h="4413250">
                <a:moveTo>
                  <a:pt x="2232063" y="25006"/>
                </a:moveTo>
                <a:lnTo>
                  <a:pt x="2213483" y="16764"/>
                </a:lnTo>
                <a:lnTo>
                  <a:pt x="2202002" y="0"/>
                </a:lnTo>
                <a:lnTo>
                  <a:pt x="2101443" y="68935"/>
                </a:lnTo>
                <a:lnTo>
                  <a:pt x="2124418" y="102450"/>
                </a:lnTo>
                <a:lnTo>
                  <a:pt x="2165794" y="74091"/>
                </a:lnTo>
                <a:lnTo>
                  <a:pt x="2145436" y="119938"/>
                </a:lnTo>
                <a:lnTo>
                  <a:pt x="2182571" y="136436"/>
                </a:lnTo>
                <a:lnTo>
                  <a:pt x="2232063" y="25006"/>
                </a:lnTo>
                <a:close/>
              </a:path>
            </a:pathLst>
          </a:custGeom>
          <a:solidFill>
            <a:srgbClr val="FF0000"/>
          </a:solidFill>
        </p:spPr>
        <p:txBody>
          <a:bodyPr wrap="square" lIns="0" tIns="0" rIns="0" bIns="0" rtlCol="0"/>
          <a:lstStyle/>
          <a:p>
            <a:endParaRPr sz="1588"/>
          </a:p>
        </p:txBody>
      </p:sp>
      <p:sp>
        <p:nvSpPr>
          <p:cNvPr id="62" name="object 62"/>
          <p:cNvSpPr txBox="1"/>
          <p:nvPr/>
        </p:nvSpPr>
        <p:spPr>
          <a:xfrm>
            <a:off x="5435749" y="6065521"/>
            <a:ext cx="1989604" cy="394150"/>
          </a:xfrm>
          <a:prstGeom prst="rect">
            <a:avLst/>
          </a:prstGeom>
        </p:spPr>
        <p:txBody>
          <a:bodyPr vert="horz" wrap="square" lIns="0" tIns="34738" rIns="0" bIns="0" rtlCol="0">
            <a:spAutoFit/>
          </a:bodyPr>
          <a:lstStyle/>
          <a:p>
            <a:pPr marL="11206" marR="4483">
              <a:lnSpc>
                <a:spcPts val="1421"/>
              </a:lnSpc>
              <a:spcBef>
                <a:spcPts val="274"/>
              </a:spcBef>
            </a:pPr>
            <a:r>
              <a:rPr sz="1324" spc="-84" dirty="0">
                <a:solidFill>
                  <a:srgbClr val="FF0000"/>
                </a:solidFill>
                <a:latin typeface="Arial MT"/>
                <a:cs typeface="Arial MT"/>
              </a:rPr>
              <a:t>To</a:t>
            </a:r>
            <a:r>
              <a:rPr sz="1324" spc="-13" dirty="0">
                <a:solidFill>
                  <a:srgbClr val="FF0000"/>
                </a:solidFill>
                <a:latin typeface="Arial MT"/>
                <a:cs typeface="Arial MT"/>
              </a:rPr>
              <a:t> </a:t>
            </a:r>
            <a:r>
              <a:rPr sz="1324" spc="-9" dirty="0">
                <a:solidFill>
                  <a:srgbClr val="FF0000"/>
                </a:solidFill>
                <a:latin typeface="Arial MT"/>
                <a:cs typeface="Arial MT"/>
              </a:rPr>
              <a:t>forward</a:t>
            </a:r>
            <a:r>
              <a:rPr sz="1324" spc="-44" dirty="0">
                <a:solidFill>
                  <a:srgbClr val="FF0000"/>
                </a:solidFill>
                <a:latin typeface="Arial MT"/>
                <a:cs typeface="Arial MT"/>
              </a:rPr>
              <a:t> </a:t>
            </a:r>
            <a:r>
              <a:rPr sz="1324" dirty="0">
                <a:solidFill>
                  <a:srgbClr val="FF0000"/>
                </a:solidFill>
                <a:latin typeface="Arial MT"/>
                <a:cs typeface="Arial MT"/>
              </a:rPr>
              <a:t>MEM</a:t>
            </a:r>
            <a:r>
              <a:rPr sz="1324" spc="-31" dirty="0">
                <a:solidFill>
                  <a:srgbClr val="FF0000"/>
                </a:solidFill>
                <a:latin typeface="Arial MT"/>
                <a:cs typeface="Arial MT"/>
              </a:rPr>
              <a:t> </a:t>
            </a:r>
            <a:r>
              <a:rPr sz="1324" dirty="0">
                <a:solidFill>
                  <a:srgbClr val="FF0000"/>
                </a:solidFill>
                <a:latin typeface="Arial MT"/>
                <a:cs typeface="Arial MT"/>
              </a:rPr>
              <a:t>1</a:t>
            </a:r>
            <a:r>
              <a:rPr sz="1324" spc="-26" dirty="0">
                <a:solidFill>
                  <a:srgbClr val="FF0000"/>
                </a:solidFill>
                <a:latin typeface="Arial MT"/>
                <a:cs typeface="Arial MT"/>
              </a:rPr>
              <a:t> </a:t>
            </a:r>
            <a:r>
              <a:rPr sz="1324" dirty="0">
                <a:solidFill>
                  <a:srgbClr val="FF0000"/>
                </a:solidFill>
                <a:latin typeface="Arial MT"/>
                <a:cs typeface="Arial MT"/>
              </a:rPr>
              <a:t>cycle</a:t>
            </a:r>
            <a:r>
              <a:rPr sz="1324" spc="-31" dirty="0">
                <a:solidFill>
                  <a:srgbClr val="FF0000"/>
                </a:solidFill>
                <a:latin typeface="Arial MT"/>
                <a:cs typeface="Arial MT"/>
              </a:rPr>
              <a:t> </a:t>
            </a:r>
            <a:r>
              <a:rPr sz="1324" spc="-22" dirty="0">
                <a:solidFill>
                  <a:srgbClr val="FF0000"/>
                </a:solidFill>
                <a:latin typeface="Arial MT"/>
                <a:cs typeface="Arial MT"/>
              </a:rPr>
              <a:t>to </a:t>
            </a:r>
            <a:r>
              <a:rPr sz="1324" dirty="0">
                <a:solidFill>
                  <a:srgbClr val="FF0000"/>
                </a:solidFill>
                <a:latin typeface="Arial MT"/>
                <a:cs typeface="Arial MT"/>
              </a:rPr>
              <a:t>SW</a:t>
            </a:r>
            <a:r>
              <a:rPr sz="1324" spc="-26" dirty="0">
                <a:solidFill>
                  <a:srgbClr val="FF0000"/>
                </a:solidFill>
                <a:latin typeface="Arial MT"/>
                <a:cs typeface="Arial MT"/>
              </a:rPr>
              <a:t> </a:t>
            </a:r>
            <a:r>
              <a:rPr sz="1324" dirty="0">
                <a:solidFill>
                  <a:srgbClr val="FF0000"/>
                </a:solidFill>
                <a:latin typeface="Arial MT"/>
                <a:cs typeface="Arial MT"/>
              </a:rPr>
              <a:t>MEM</a:t>
            </a:r>
            <a:r>
              <a:rPr sz="1324" spc="-26" dirty="0">
                <a:solidFill>
                  <a:srgbClr val="FF0000"/>
                </a:solidFill>
                <a:latin typeface="Arial MT"/>
                <a:cs typeface="Arial MT"/>
              </a:rPr>
              <a:t> </a:t>
            </a:r>
            <a:r>
              <a:rPr sz="1324" spc="-18" dirty="0">
                <a:solidFill>
                  <a:srgbClr val="FF0000"/>
                </a:solidFill>
                <a:latin typeface="Arial MT"/>
                <a:cs typeface="Arial MT"/>
              </a:rPr>
              <a:t>input</a:t>
            </a:r>
            <a:endParaRPr sz="1324" dirty="0">
              <a:latin typeface="Arial MT"/>
              <a:cs typeface="Arial MT"/>
            </a:endParaRPr>
          </a:p>
        </p:txBody>
      </p:sp>
      <p:sp>
        <p:nvSpPr>
          <p:cNvPr id="64" name="TextBox 63">
            <a:extLst>
              <a:ext uri="{FF2B5EF4-FFF2-40B4-BE49-F238E27FC236}">
                <a16:creationId xmlns:a16="http://schemas.microsoft.com/office/drawing/2014/main" id="{F2939160-06BE-4B17-AC83-6BF7D788A838}"/>
              </a:ext>
            </a:extLst>
          </p:cNvPr>
          <p:cNvSpPr txBox="1"/>
          <p:nvPr/>
        </p:nvSpPr>
        <p:spPr>
          <a:xfrm>
            <a:off x="6223713" y="1964186"/>
            <a:ext cx="559639" cy="461665"/>
          </a:xfrm>
          <a:prstGeom prst="rect">
            <a:avLst/>
          </a:prstGeom>
          <a:noFill/>
        </p:spPr>
        <p:txBody>
          <a:bodyPr wrap="square" rtlCol="0">
            <a:spAutoFit/>
          </a:bodyPr>
          <a:lstStyle/>
          <a:p>
            <a:r>
              <a:rPr lang="en-US" sz="2400" b="1" dirty="0">
                <a:solidFill>
                  <a:srgbClr val="FF0000"/>
                </a:solidFill>
              </a:rPr>
              <a:t>(1)</a:t>
            </a:r>
          </a:p>
        </p:txBody>
      </p:sp>
      <p:sp>
        <p:nvSpPr>
          <p:cNvPr id="65" name="TextBox 64">
            <a:extLst>
              <a:ext uri="{FF2B5EF4-FFF2-40B4-BE49-F238E27FC236}">
                <a16:creationId xmlns:a16="http://schemas.microsoft.com/office/drawing/2014/main" id="{B576A0C9-F15F-AD38-8EFD-AC2CC84A0004}"/>
              </a:ext>
            </a:extLst>
          </p:cNvPr>
          <p:cNvSpPr txBox="1"/>
          <p:nvPr/>
        </p:nvSpPr>
        <p:spPr>
          <a:xfrm>
            <a:off x="4895720" y="5986336"/>
            <a:ext cx="559639" cy="461665"/>
          </a:xfrm>
          <a:prstGeom prst="rect">
            <a:avLst/>
          </a:prstGeom>
          <a:noFill/>
        </p:spPr>
        <p:txBody>
          <a:bodyPr wrap="square" rtlCol="0">
            <a:spAutoFit/>
          </a:bodyPr>
          <a:lstStyle/>
          <a:p>
            <a:r>
              <a:rPr lang="en-US" sz="2400" b="1" dirty="0">
                <a:solidFill>
                  <a:srgbClr val="FF0000"/>
                </a:solidFill>
              </a:rPr>
              <a:t>(2)</a:t>
            </a:r>
          </a:p>
        </p:txBody>
      </p:sp>
      <p:sp>
        <p:nvSpPr>
          <p:cNvPr id="66" name="TextBox 65">
            <a:extLst>
              <a:ext uri="{FF2B5EF4-FFF2-40B4-BE49-F238E27FC236}">
                <a16:creationId xmlns:a16="http://schemas.microsoft.com/office/drawing/2014/main" id="{22F5806F-5EC5-39C9-E33B-0A8EEAD473EE}"/>
              </a:ext>
            </a:extLst>
          </p:cNvPr>
          <p:cNvSpPr txBox="1"/>
          <p:nvPr/>
        </p:nvSpPr>
        <p:spPr>
          <a:xfrm>
            <a:off x="8370804" y="1963381"/>
            <a:ext cx="559639" cy="461665"/>
          </a:xfrm>
          <a:prstGeom prst="rect">
            <a:avLst/>
          </a:prstGeom>
          <a:noFill/>
        </p:spPr>
        <p:txBody>
          <a:bodyPr wrap="square" rtlCol="0">
            <a:spAutoFit/>
          </a:bodyPr>
          <a:lstStyle/>
          <a:p>
            <a:r>
              <a:rPr lang="en-US" sz="2400" b="1" dirty="0">
                <a:solidFill>
                  <a:srgbClr val="FF0000"/>
                </a:solidFill>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fade">
                                      <p:cBhvr>
                                        <p:cTn id="1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1955" y="457784"/>
            <a:ext cx="7134225" cy="665341"/>
          </a:xfrm>
          <a:prstGeom prst="rect">
            <a:avLst/>
          </a:prstGeom>
        </p:spPr>
        <p:txBody>
          <a:bodyPr vert="horz" wrap="square" lIns="0" tIns="11206" rIns="0" bIns="0" rtlCol="0" anchor="ctr">
            <a:spAutoFit/>
          </a:bodyPr>
          <a:lstStyle/>
          <a:p>
            <a:pPr marL="11206">
              <a:lnSpc>
                <a:spcPts val="3133"/>
              </a:lnSpc>
              <a:spcBef>
                <a:spcPts val="88"/>
              </a:spcBef>
            </a:pPr>
            <a:r>
              <a:rPr sz="2647" dirty="0"/>
              <a:t>Forwarding</a:t>
            </a:r>
            <a:r>
              <a:rPr sz="2647" spc="-35" dirty="0"/>
              <a:t> </a:t>
            </a:r>
            <a:r>
              <a:rPr sz="2647" dirty="0"/>
              <a:t>Avoids</a:t>
            </a:r>
            <a:r>
              <a:rPr sz="2647" spc="-26" dirty="0"/>
              <a:t> </a:t>
            </a:r>
            <a:r>
              <a:rPr sz="2647" spc="-9" dirty="0"/>
              <a:t>ALU-</a:t>
            </a:r>
            <a:r>
              <a:rPr sz="2647" dirty="0"/>
              <a:t>ALU</a:t>
            </a:r>
            <a:r>
              <a:rPr sz="2647" spc="-22" dirty="0"/>
              <a:t> </a:t>
            </a:r>
            <a:r>
              <a:rPr sz="2647" dirty="0"/>
              <a:t>&amp;</a:t>
            </a:r>
            <a:r>
              <a:rPr sz="2647" spc="-26" dirty="0"/>
              <a:t> </a:t>
            </a:r>
            <a:r>
              <a:rPr sz="2647" spc="-9" dirty="0"/>
              <a:t>LW-</a:t>
            </a:r>
            <a:r>
              <a:rPr sz="2647" dirty="0"/>
              <a:t>SW</a:t>
            </a:r>
            <a:r>
              <a:rPr sz="2647" spc="-26" dirty="0"/>
              <a:t> </a:t>
            </a:r>
            <a:r>
              <a:rPr sz="2647" dirty="0"/>
              <a:t>Data</a:t>
            </a:r>
            <a:r>
              <a:rPr sz="2647" spc="-35" dirty="0"/>
              <a:t> </a:t>
            </a:r>
            <a:r>
              <a:rPr sz="2647" spc="-9" dirty="0"/>
              <a:t>Hazards</a:t>
            </a:r>
            <a:endParaRPr sz="2647" dirty="0"/>
          </a:p>
          <a:p>
            <a:pPr marL="11206">
              <a:lnSpc>
                <a:spcPts val="1968"/>
              </a:lnSpc>
            </a:pPr>
            <a:r>
              <a:rPr sz="1677" dirty="0"/>
              <a:t>Figure</a:t>
            </a:r>
            <a:r>
              <a:rPr sz="1677" spc="35" dirty="0"/>
              <a:t> </a:t>
            </a:r>
            <a:r>
              <a:rPr sz="1677" spc="-22" dirty="0"/>
              <a:t>C.8</a:t>
            </a:r>
            <a:endParaRPr sz="1677" dirty="0"/>
          </a:p>
        </p:txBody>
      </p:sp>
      <p:sp>
        <p:nvSpPr>
          <p:cNvPr id="187" name="Slide Number Placeholder 186">
            <a:extLst>
              <a:ext uri="{FF2B5EF4-FFF2-40B4-BE49-F238E27FC236}">
                <a16:creationId xmlns:a16="http://schemas.microsoft.com/office/drawing/2014/main" id="{A1CC784B-B1CB-61BD-6C46-576C1A11F29A}"/>
              </a:ext>
            </a:extLst>
          </p:cNvPr>
          <p:cNvSpPr>
            <a:spLocks noGrp="1"/>
          </p:cNvSpPr>
          <p:nvPr>
            <p:ph type="sldNum" sz="quarter" idx="7"/>
          </p:nvPr>
        </p:nvSpPr>
        <p:spPr/>
        <p:txBody>
          <a:bodyPr/>
          <a:lstStyle/>
          <a:p>
            <a:fld id="{4FE321F0-2018-4E50-8BB3-A5631EBD98DD}" type="slidenum">
              <a:rPr lang="en-US" smtClean="0"/>
              <a:t>46</a:t>
            </a:fld>
            <a:endParaRPr lang="en-US"/>
          </a:p>
        </p:txBody>
      </p:sp>
      <p:sp>
        <p:nvSpPr>
          <p:cNvPr id="3" name="object 3"/>
          <p:cNvSpPr txBox="1"/>
          <p:nvPr/>
        </p:nvSpPr>
        <p:spPr>
          <a:xfrm>
            <a:off x="1177283" y="2299712"/>
            <a:ext cx="1255619"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add</a:t>
            </a:r>
            <a:r>
              <a:rPr sz="1677" b="1" spc="40" dirty="0">
                <a:solidFill>
                  <a:srgbClr val="FC0128"/>
                </a:solidFill>
                <a:latin typeface="Times New Roman"/>
                <a:cs typeface="Times New Roman"/>
              </a:rPr>
              <a:t> </a:t>
            </a:r>
            <a:r>
              <a:rPr sz="1677" b="1" u="sng" dirty="0">
                <a:solidFill>
                  <a:srgbClr val="FF0000"/>
                </a:solidFill>
                <a:latin typeface="Times New Roman"/>
                <a:cs typeface="Times New Roman"/>
              </a:rPr>
              <a:t>r1</a:t>
            </a:r>
            <a:r>
              <a:rPr sz="1677" b="1" dirty="0">
                <a:solidFill>
                  <a:srgbClr val="FC0128"/>
                </a:solidFill>
                <a:latin typeface="Times New Roman"/>
                <a:cs typeface="Times New Roman"/>
              </a:rPr>
              <a:t>,</a:t>
            </a:r>
            <a:r>
              <a:rPr sz="1677" b="1" spc="26" dirty="0">
                <a:solidFill>
                  <a:srgbClr val="FC0128"/>
                </a:solidFill>
                <a:latin typeface="Times New Roman"/>
                <a:cs typeface="Times New Roman"/>
              </a:rPr>
              <a:t> </a:t>
            </a:r>
            <a:r>
              <a:rPr sz="1677" b="1" dirty="0">
                <a:solidFill>
                  <a:srgbClr val="FC0128"/>
                </a:solidFill>
                <a:latin typeface="Times New Roman"/>
                <a:cs typeface="Times New Roman"/>
              </a:rPr>
              <a:t>r2,</a:t>
            </a:r>
            <a:r>
              <a:rPr sz="1677" b="1" spc="31" dirty="0">
                <a:solidFill>
                  <a:srgbClr val="FC0128"/>
                </a:solidFill>
                <a:latin typeface="Times New Roman"/>
                <a:cs typeface="Times New Roman"/>
              </a:rPr>
              <a:t> </a:t>
            </a:r>
            <a:r>
              <a:rPr sz="1677" b="1" spc="-22" dirty="0">
                <a:solidFill>
                  <a:srgbClr val="FC0128"/>
                </a:solidFill>
                <a:latin typeface="Times New Roman"/>
                <a:cs typeface="Times New Roman"/>
              </a:rPr>
              <a:t>r3</a:t>
            </a:r>
            <a:endParaRPr sz="1677" dirty="0">
              <a:latin typeface="Times New Roman"/>
              <a:cs typeface="Times New Roman"/>
            </a:endParaRPr>
          </a:p>
        </p:txBody>
      </p:sp>
      <p:sp>
        <p:nvSpPr>
          <p:cNvPr id="4" name="object 4"/>
          <p:cNvSpPr txBox="1"/>
          <p:nvPr/>
        </p:nvSpPr>
        <p:spPr>
          <a:xfrm>
            <a:off x="1177283" y="3060816"/>
            <a:ext cx="1063438"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lw</a:t>
            </a:r>
            <a:r>
              <a:rPr sz="1677" b="1" spc="40" dirty="0">
                <a:solidFill>
                  <a:srgbClr val="FC0128"/>
                </a:solidFill>
                <a:latin typeface="Times New Roman"/>
                <a:cs typeface="Times New Roman"/>
              </a:rPr>
              <a:t> </a:t>
            </a:r>
            <a:r>
              <a:rPr sz="1677" b="1" dirty="0">
                <a:solidFill>
                  <a:srgbClr val="FF0000"/>
                </a:solidFill>
                <a:latin typeface="Times New Roman"/>
                <a:cs typeface="Times New Roman"/>
              </a:rPr>
              <a:t>r4</a:t>
            </a:r>
            <a:r>
              <a:rPr sz="1677" b="1" dirty="0">
                <a:solidFill>
                  <a:srgbClr val="FC0128"/>
                </a:solidFill>
                <a:latin typeface="Times New Roman"/>
                <a:cs typeface="Times New Roman"/>
              </a:rPr>
              <a:t>,</a:t>
            </a:r>
            <a:r>
              <a:rPr sz="1677" b="1" spc="31" dirty="0">
                <a:solidFill>
                  <a:srgbClr val="FC0128"/>
                </a:solidFill>
                <a:latin typeface="Times New Roman"/>
                <a:cs typeface="Times New Roman"/>
              </a:rPr>
              <a:t> </a:t>
            </a:r>
            <a:r>
              <a:rPr sz="1677" b="1" spc="-9" dirty="0">
                <a:solidFill>
                  <a:srgbClr val="FC0128"/>
                </a:solidFill>
                <a:latin typeface="Times New Roman"/>
                <a:cs typeface="Times New Roman"/>
              </a:rPr>
              <a:t>0(</a:t>
            </a:r>
            <a:r>
              <a:rPr sz="1677" b="1" u="sng" spc="-9" dirty="0">
                <a:solidFill>
                  <a:srgbClr val="FF0000"/>
                </a:solidFill>
                <a:latin typeface="Times New Roman"/>
                <a:cs typeface="Times New Roman"/>
              </a:rPr>
              <a:t>r1</a:t>
            </a:r>
            <a:r>
              <a:rPr sz="1677" b="1" spc="-9" dirty="0">
                <a:solidFill>
                  <a:srgbClr val="FF0000"/>
                </a:solidFill>
                <a:latin typeface="Times New Roman"/>
                <a:cs typeface="Times New Roman"/>
              </a:rPr>
              <a:t>)</a:t>
            </a:r>
            <a:endParaRPr sz="1677" dirty="0">
              <a:latin typeface="Times New Roman"/>
              <a:cs typeface="Times New Roman"/>
            </a:endParaRPr>
          </a:p>
        </p:txBody>
      </p:sp>
      <p:sp>
        <p:nvSpPr>
          <p:cNvPr id="5" name="object 5"/>
          <p:cNvSpPr txBox="1"/>
          <p:nvPr/>
        </p:nvSpPr>
        <p:spPr>
          <a:xfrm>
            <a:off x="1177283" y="3835366"/>
            <a:ext cx="1195668"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sw</a:t>
            </a:r>
            <a:r>
              <a:rPr sz="1677" b="1" spc="31" dirty="0">
                <a:solidFill>
                  <a:srgbClr val="FC0128"/>
                </a:solidFill>
                <a:latin typeface="Times New Roman"/>
                <a:cs typeface="Times New Roman"/>
              </a:rPr>
              <a:t> </a:t>
            </a:r>
            <a:r>
              <a:rPr sz="1677" b="1" dirty="0">
                <a:solidFill>
                  <a:srgbClr val="FF0000"/>
                </a:solidFill>
                <a:latin typeface="Times New Roman"/>
                <a:cs typeface="Times New Roman"/>
              </a:rPr>
              <a:t>r4</a:t>
            </a:r>
            <a:r>
              <a:rPr sz="1677" b="1" dirty="0">
                <a:solidFill>
                  <a:srgbClr val="FC0128"/>
                </a:solidFill>
                <a:latin typeface="Times New Roman"/>
                <a:cs typeface="Times New Roman"/>
              </a:rPr>
              <a:t>,</a:t>
            </a:r>
            <a:r>
              <a:rPr sz="1677" b="1" spc="22" dirty="0">
                <a:solidFill>
                  <a:srgbClr val="FC0128"/>
                </a:solidFill>
                <a:latin typeface="Times New Roman"/>
                <a:cs typeface="Times New Roman"/>
              </a:rPr>
              <a:t> </a:t>
            </a:r>
            <a:r>
              <a:rPr sz="1677" b="1" spc="-9" dirty="0">
                <a:solidFill>
                  <a:srgbClr val="FC0128"/>
                </a:solidFill>
                <a:latin typeface="Times New Roman"/>
                <a:cs typeface="Times New Roman"/>
              </a:rPr>
              <a:t>12(</a:t>
            </a:r>
            <a:r>
              <a:rPr sz="1677" b="1" u="sng" spc="-9" dirty="0">
                <a:solidFill>
                  <a:srgbClr val="FF0000"/>
                </a:solidFill>
                <a:latin typeface="Times New Roman"/>
                <a:cs typeface="Times New Roman"/>
              </a:rPr>
              <a:t>r1</a:t>
            </a:r>
            <a:r>
              <a:rPr sz="1677" b="1" spc="-9" dirty="0">
                <a:solidFill>
                  <a:srgbClr val="FF0000"/>
                </a:solidFill>
                <a:latin typeface="Times New Roman"/>
                <a:cs typeface="Times New Roman"/>
              </a:rPr>
              <a:t>)</a:t>
            </a:r>
            <a:endParaRPr sz="1677" dirty="0">
              <a:latin typeface="Times New Roman"/>
              <a:cs typeface="Times New Roman"/>
            </a:endParaRPr>
          </a:p>
        </p:txBody>
      </p:sp>
      <p:sp>
        <p:nvSpPr>
          <p:cNvPr id="6" name="object 6"/>
          <p:cNvSpPr txBox="1"/>
          <p:nvPr/>
        </p:nvSpPr>
        <p:spPr>
          <a:xfrm>
            <a:off x="1177283" y="4617985"/>
            <a:ext cx="1106581"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or</a:t>
            </a:r>
            <a:r>
              <a:rPr sz="1677" b="1" spc="4" dirty="0">
                <a:solidFill>
                  <a:srgbClr val="FC0128"/>
                </a:solidFill>
                <a:latin typeface="Times New Roman"/>
                <a:cs typeface="Times New Roman"/>
              </a:rPr>
              <a:t> </a:t>
            </a:r>
            <a:r>
              <a:rPr sz="1677" b="1" dirty="0">
                <a:solidFill>
                  <a:srgbClr val="FC0128"/>
                </a:solidFill>
                <a:latin typeface="Times New Roman"/>
                <a:cs typeface="Times New Roman"/>
              </a:rPr>
              <a:t>r8,</a:t>
            </a:r>
            <a:r>
              <a:rPr sz="1677" b="1" spc="35" dirty="0">
                <a:solidFill>
                  <a:srgbClr val="FC0128"/>
                </a:solidFill>
                <a:latin typeface="Times New Roman"/>
                <a:cs typeface="Times New Roman"/>
              </a:rPr>
              <a:t> </a:t>
            </a:r>
            <a:r>
              <a:rPr sz="1677" b="1" dirty="0">
                <a:solidFill>
                  <a:srgbClr val="FC0128"/>
                </a:solidFill>
                <a:latin typeface="Times New Roman"/>
                <a:cs typeface="Times New Roman"/>
              </a:rPr>
              <a:t>r6,</a:t>
            </a:r>
            <a:r>
              <a:rPr sz="1677" b="1" spc="40" dirty="0">
                <a:solidFill>
                  <a:srgbClr val="FC0128"/>
                </a:solidFill>
                <a:latin typeface="Times New Roman"/>
                <a:cs typeface="Times New Roman"/>
              </a:rPr>
              <a:t> </a:t>
            </a:r>
            <a:r>
              <a:rPr sz="1677" b="1" spc="-22" dirty="0">
                <a:solidFill>
                  <a:srgbClr val="FC0128"/>
                </a:solidFill>
                <a:latin typeface="Times New Roman"/>
                <a:cs typeface="Times New Roman"/>
              </a:rPr>
              <a:t>r9</a:t>
            </a:r>
            <a:endParaRPr sz="1677">
              <a:latin typeface="Times New Roman"/>
              <a:cs typeface="Times New Roman"/>
            </a:endParaRPr>
          </a:p>
        </p:txBody>
      </p:sp>
      <p:sp>
        <p:nvSpPr>
          <p:cNvPr id="7" name="object 7"/>
          <p:cNvSpPr txBox="1"/>
          <p:nvPr/>
        </p:nvSpPr>
        <p:spPr>
          <a:xfrm>
            <a:off x="1177283" y="5354884"/>
            <a:ext cx="1420346"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xor</a:t>
            </a:r>
            <a:r>
              <a:rPr sz="1677" b="1" spc="18" dirty="0">
                <a:solidFill>
                  <a:srgbClr val="FC0128"/>
                </a:solidFill>
                <a:latin typeface="Times New Roman"/>
                <a:cs typeface="Times New Roman"/>
              </a:rPr>
              <a:t> </a:t>
            </a:r>
            <a:r>
              <a:rPr sz="1677" b="1" dirty="0">
                <a:solidFill>
                  <a:srgbClr val="FC0128"/>
                </a:solidFill>
                <a:latin typeface="Times New Roman"/>
                <a:cs typeface="Times New Roman"/>
              </a:rPr>
              <a:t>r10,</a:t>
            </a:r>
            <a:r>
              <a:rPr sz="1677" b="1" spc="44" dirty="0">
                <a:solidFill>
                  <a:srgbClr val="FC0128"/>
                </a:solidFill>
                <a:latin typeface="Times New Roman"/>
                <a:cs typeface="Times New Roman"/>
              </a:rPr>
              <a:t> </a:t>
            </a:r>
            <a:r>
              <a:rPr sz="1677" b="1" dirty="0">
                <a:solidFill>
                  <a:srgbClr val="FC0128"/>
                </a:solidFill>
                <a:latin typeface="Times New Roman"/>
                <a:cs typeface="Times New Roman"/>
              </a:rPr>
              <a:t>r9,</a:t>
            </a:r>
            <a:r>
              <a:rPr sz="1677" b="1" spc="49" dirty="0">
                <a:solidFill>
                  <a:srgbClr val="FC0128"/>
                </a:solidFill>
                <a:latin typeface="Times New Roman"/>
                <a:cs typeface="Times New Roman"/>
              </a:rPr>
              <a:t> </a:t>
            </a:r>
            <a:r>
              <a:rPr sz="1677" b="1" spc="-22" dirty="0">
                <a:solidFill>
                  <a:srgbClr val="FC0128"/>
                </a:solidFill>
                <a:latin typeface="Times New Roman"/>
                <a:cs typeface="Times New Roman"/>
              </a:rPr>
              <a:t>r11</a:t>
            </a:r>
            <a:endParaRPr sz="1677">
              <a:latin typeface="Times New Roman"/>
              <a:cs typeface="Times New Roman"/>
            </a:endParaRPr>
          </a:p>
        </p:txBody>
      </p:sp>
      <p:sp>
        <p:nvSpPr>
          <p:cNvPr id="8" name="object 8"/>
          <p:cNvSpPr txBox="1"/>
          <p:nvPr/>
        </p:nvSpPr>
        <p:spPr>
          <a:xfrm>
            <a:off x="666295" y="2244550"/>
            <a:ext cx="163046" cy="1473254"/>
          </a:xfrm>
          <a:prstGeom prst="rect">
            <a:avLst/>
          </a:prstGeom>
        </p:spPr>
        <p:txBody>
          <a:bodyPr vert="horz" wrap="square" lIns="0" tIns="11206" rIns="0" bIns="0" rtlCol="0">
            <a:spAutoFit/>
          </a:bodyPr>
          <a:lstStyle/>
          <a:p>
            <a:pPr marL="34180">
              <a:lnSpc>
                <a:spcPts val="2268"/>
              </a:lnSpc>
              <a:spcBef>
                <a:spcPts val="88"/>
              </a:spcBef>
            </a:pPr>
            <a:r>
              <a:rPr sz="1941" b="1" i="1" spc="-44" dirty="0">
                <a:latin typeface="Times New Roman"/>
                <a:cs typeface="Times New Roman"/>
              </a:rPr>
              <a:t>I</a:t>
            </a:r>
            <a:endParaRPr sz="1941">
              <a:latin typeface="Times New Roman"/>
              <a:cs typeface="Times New Roman"/>
            </a:endParaRPr>
          </a:p>
          <a:p>
            <a:pPr marL="34180" marR="4483" indent="-20732">
              <a:lnSpc>
                <a:spcPts val="2285"/>
              </a:lnSpc>
              <a:spcBef>
                <a:spcPts val="49"/>
              </a:spcBef>
            </a:pPr>
            <a:r>
              <a:rPr sz="1941" b="1" i="1" spc="-44" dirty="0">
                <a:latin typeface="Times New Roman"/>
                <a:cs typeface="Times New Roman"/>
              </a:rPr>
              <a:t>n s</a:t>
            </a:r>
            <a:endParaRPr sz="1941">
              <a:latin typeface="Times New Roman"/>
              <a:cs typeface="Times New Roman"/>
            </a:endParaRPr>
          </a:p>
          <a:p>
            <a:pPr marL="11206" marR="18491" indent="36981">
              <a:lnSpc>
                <a:spcPts val="2206"/>
              </a:lnSpc>
              <a:spcBef>
                <a:spcPts val="88"/>
              </a:spcBef>
            </a:pPr>
            <a:r>
              <a:rPr sz="1941" b="1" i="1" spc="-44" dirty="0">
                <a:latin typeface="Times New Roman"/>
                <a:cs typeface="Times New Roman"/>
              </a:rPr>
              <a:t>t </a:t>
            </a:r>
            <a:r>
              <a:rPr sz="1941" b="1" i="1" spc="-137" dirty="0">
                <a:latin typeface="Times New Roman"/>
                <a:cs typeface="Times New Roman"/>
              </a:rPr>
              <a:t>r.</a:t>
            </a:r>
            <a:endParaRPr sz="1941">
              <a:latin typeface="Times New Roman"/>
              <a:cs typeface="Times New Roman"/>
            </a:endParaRPr>
          </a:p>
        </p:txBody>
      </p:sp>
      <p:sp>
        <p:nvSpPr>
          <p:cNvPr id="9" name="object 9"/>
          <p:cNvSpPr txBox="1"/>
          <p:nvPr/>
        </p:nvSpPr>
        <p:spPr>
          <a:xfrm>
            <a:off x="649069" y="3971152"/>
            <a:ext cx="200584" cy="1474280"/>
          </a:xfrm>
          <a:prstGeom prst="rect">
            <a:avLst/>
          </a:prstGeom>
        </p:spPr>
        <p:txBody>
          <a:bodyPr vert="horz" wrap="square" lIns="0" tIns="11206" rIns="0" bIns="0" rtlCol="0">
            <a:spAutoFit/>
          </a:bodyPr>
          <a:lstStyle/>
          <a:p>
            <a:pPr marL="11206">
              <a:lnSpc>
                <a:spcPts val="2268"/>
              </a:lnSpc>
              <a:spcBef>
                <a:spcPts val="88"/>
              </a:spcBef>
            </a:pPr>
            <a:r>
              <a:rPr sz="1941" b="1" i="1" spc="-44" dirty="0">
                <a:latin typeface="Times New Roman"/>
                <a:cs typeface="Times New Roman"/>
              </a:rPr>
              <a:t>O</a:t>
            </a:r>
            <a:endParaRPr sz="1941">
              <a:latin typeface="Times New Roman"/>
              <a:cs typeface="Times New Roman"/>
            </a:endParaRPr>
          </a:p>
          <a:p>
            <a:pPr marL="38102" indent="13448">
              <a:lnSpc>
                <a:spcPts val="2255"/>
              </a:lnSpc>
            </a:pPr>
            <a:r>
              <a:rPr sz="1941" b="1" i="1" spc="-44" dirty="0">
                <a:latin typeface="Times New Roman"/>
                <a:cs typeface="Times New Roman"/>
              </a:rPr>
              <a:t>r</a:t>
            </a:r>
            <a:endParaRPr sz="1941">
              <a:latin typeface="Times New Roman"/>
              <a:cs typeface="Times New Roman"/>
            </a:endParaRPr>
          </a:p>
          <a:p>
            <a:pPr marL="44826" marR="31938" indent="-7284" algn="just">
              <a:lnSpc>
                <a:spcPct val="96400"/>
              </a:lnSpc>
              <a:spcBef>
                <a:spcPts val="75"/>
              </a:spcBef>
            </a:pPr>
            <a:r>
              <a:rPr sz="1941" b="1" i="1" spc="-44" dirty="0">
                <a:latin typeface="Times New Roman"/>
                <a:cs typeface="Times New Roman"/>
              </a:rPr>
              <a:t>d e r</a:t>
            </a:r>
            <a:endParaRPr sz="1941">
              <a:latin typeface="Times New Roman"/>
              <a:cs typeface="Times New Roman"/>
            </a:endParaRPr>
          </a:p>
        </p:txBody>
      </p:sp>
      <p:sp>
        <p:nvSpPr>
          <p:cNvPr id="10" name="object 10"/>
          <p:cNvSpPr/>
          <p:nvPr/>
        </p:nvSpPr>
        <p:spPr>
          <a:xfrm>
            <a:off x="1030478" y="2295261"/>
            <a:ext cx="72278" cy="2957793"/>
          </a:xfrm>
          <a:custGeom>
            <a:avLst/>
            <a:gdLst/>
            <a:ahLst/>
            <a:cxnLst/>
            <a:rect l="l" t="t" r="r" b="b"/>
            <a:pathLst>
              <a:path w="81915" h="3352165">
                <a:moveTo>
                  <a:pt x="27304" y="3269853"/>
                </a:moveTo>
                <a:lnTo>
                  <a:pt x="0" y="3269853"/>
                </a:lnTo>
                <a:lnTo>
                  <a:pt x="40957" y="3351838"/>
                </a:lnTo>
                <a:lnTo>
                  <a:pt x="75081" y="3283531"/>
                </a:lnTo>
                <a:lnTo>
                  <a:pt x="27305" y="3283531"/>
                </a:lnTo>
                <a:lnTo>
                  <a:pt x="27304" y="3269853"/>
                </a:lnTo>
                <a:close/>
              </a:path>
              <a:path w="81915" h="3352165">
                <a:moveTo>
                  <a:pt x="54608" y="0"/>
                </a:moveTo>
                <a:lnTo>
                  <a:pt x="27303" y="0"/>
                </a:lnTo>
                <a:lnTo>
                  <a:pt x="27305" y="3283531"/>
                </a:lnTo>
                <a:lnTo>
                  <a:pt x="54609" y="3283531"/>
                </a:lnTo>
                <a:lnTo>
                  <a:pt x="54608" y="0"/>
                </a:lnTo>
                <a:close/>
              </a:path>
              <a:path w="81915" h="3352165">
                <a:moveTo>
                  <a:pt x="81915" y="3269853"/>
                </a:moveTo>
                <a:lnTo>
                  <a:pt x="54609" y="3269853"/>
                </a:lnTo>
                <a:lnTo>
                  <a:pt x="54609" y="3283531"/>
                </a:lnTo>
                <a:lnTo>
                  <a:pt x="75081" y="3283531"/>
                </a:lnTo>
                <a:lnTo>
                  <a:pt x="81915" y="3269853"/>
                </a:lnTo>
                <a:close/>
              </a:path>
            </a:pathLst>
          </a:custGeom>
          <a:solidFill>
            <a:srgbClr val="000000"/>
          </a:solidFill>
        </p:spPr>
        <p:txBody>
          <a:bodyPr wrap="square" lIns="0" tIns="0" rIns="0" bIns="0" rtlCol="0"/>
          <a:lstStyle/>
          <a:p>
            <a:endParaRPr sz="1588"/>
          </a:p>
        </p:txBody>
      </p:sp>
      <p:grpSp>
        <p:nvGrpSpPr>
          <p:cNvPr id="11" name="object 11"/>
          <p:cNvGrpSpPr/>
          <p:nvPr/>
        </p:nvGrpSpPr>
        <p:grpSpPr>
          <a:xfrm>
            <a:off x="2225056" y="1609691"/>
            <a:ext cx="6375026" cy="1042147"/>
            <a:chOff x="2369330" y="1824316"/>
            <a:chExt cx="7225030" cy="1181100"/>
          </a:xfrm>
        </p:grpSpPr>
        <p:sp>
          <p:nvSpPr>
            <p:cNvPr id="12" name="object 12"/>
            <p:cNvSpPr/>
            <p:nvPr/>
          </p:nvSpPr>
          <p:spPr>
            <a:xfrm>
              <a:off x="2369330" y="1824316"/>
              <a:ext cx="7225030" cy="82550"/>
            </a:xfrm>
            <a:custGeom>
              <a:avLst/>
              <a:gdLst/>
              <a:ahLst/>
              <a:cxnLst/>
              <a:rect l="l" t="t" r="r" b="b"/>
              <a:pathLst>
                <a:path w="7225030" h="82550">
                  <a:moveTo>
                    <a:pt x="7143197" y="0"/>
                  </a:moveTo>
                  <a:lnTo>
                    <a:pt x="7143071" y="41244"/>
                  </a:lnTo>
                  <a:lnTo>
                    <a:pt x="7142946" y="81984"/>
                  </a:lnTo>
                  <a:lnTo>
                    <a:pt x="7197893" y="54698"/>
                  </a:lnTo>
                  <a:lnTo>
                    <a:pt x="7156739" y="54698"/>
                  </a:lnTo>
                  <a:lnTo>
                    <a:pt x="7156823" y="27371"/>
                  </a:lnTo>
                  <a:lnTo>
                    <a:pt x="7197475" y="27371"/>
                  </a:lnTo>
                  <a:lnTo>
                    <a:pt x="7143197" y="0"/>
                  </a:lnTo>
                  <a:close/>
                </a:path>
                <a:path w="7225030" h="82550">
                  <a:moveTo>
                    <a:pt x="85" y="5326"/>
                  </a:moveTo>
                  <a:lnTo>
                    <a:pt x="0" y="32654"/>
                  </a:lnTo>
                  <a:lnTo>
                    <a:pt x="7156739" y="54698"/>
                  </a:lnTo>
                  <a:lnTo>
                    <a:pt x="7143029" y="54698"/>
                  </a:lnTo>
                  <a:lnTo>
                    <a:pt x="7143113" y="27371"/>
                  </a:lnTo>
                  <a:lnTo>
                    <a:pt x="7156823" y="27371"/>
                  </a:lnTo>
                  <a:lnTo>
                    <a:pt x="85" y="5326"/>
                  </a:lnTo>
                  <a:close/>
                </a:path>
                <a:path w="7225030" h="82550">
                  <a:moveTo>
                    <a:pt x="7197475" y="27371"/>
                  </a:moveTo>
                  <a:lnTo>
                    <a:pt x="7156823" y="27371"/>
                  </a:lnTo>
                  <a:lnTo>
                    <a:pt x="7156739" y="54698"/>
                  </a:lnTo>
                  <a:lnTo>
                    <a:pt x="7197893" y="54698"/>
                  </a:lnTo>
                  <a:lnTo>
                    <a:pt x="7224986" y="41244"/>
                  </a:lnTo>
                  <a:lnTo>
                    <a:pt x="7197475" y="27371"/>
                  </a:lnTo>
                  <a:close/>
                </a:path>
              </a:pathLst>
            </a:custGeom>
            <a:solidFill>
              <a:srgbClr val="000000"/>
            </a:solidFill>
          </p:spPr>
          <p:txBody>
            <a:bodyPr wrap="square" lIns="0" tIns="0" rIns="0" bIns="0" rtlCol="0"/>
            <a:lstStyle/>
            <a:p>
              <a:endParaRPr sz="1588"/>
            </a:p>
          </p:txBody>
        </p:sp>
        <p:sp>
          <p:nvSpPr>
            <p:cNvPr id="13" name="object 13"/>
            <p:cNvSpPr/>
            <p:nvPr/>
          </p:nvSpPr>
          <p:spPr>
            <a:xfrm>
              <a:off x="3926829" y="2619039"/>
              <a:ext cx="217170" cy="366395"/>
            </a:xfrm>
            <a:custGeom>
              <a:avLst/>
              <a:gdLst/>
              <a:ahLst/>
              <a:cxnLst/>
              <a:rect l="l" t="t" r="r" b="b"/>
              <a:pathLst>
                <a:path w="217170" h="366394">
                  <a:moveTo>
                    <a:pt x="216566" y="0"/>
                  </a:moveTo>
                  <a:lnTo>
                    <a:pt x="0" y="0"/>
                  </a:lnTo>
                  <a:lnTo>
                    <a:pt x="0" y="366094"/>
                  </a:lnTo>
                  <a:lnTo>
                    <a:pt x="216566" y="366094"/>
                  </a:lnTo>
                  <a:lnTo>
                    <a:pt x="216566" y="0"/>
                  </a:lnTo>
                  <a:close/>
                </a:path>
              </a:pathLst>
            </a:custGeom>
            <a:solidFill>
              <a:srgbClr val="0099FF"/>
            </a:solidFill>
          </p:spPr>
          <p:txBody>
            <a:bodyPr wrap="square" lIns="0" tIns="0" rIns="0" bIns="0" rtlCol="0"/>
            <a:lstStyle/>
            <a:p>
              <a:endParaRPr sz="1588"/>
            </a:p>
          </p:txBody>
        </p:sp>
        <p:sp>
          <p:nvSpPr>
            <p:cNvPr id="14" name="object 14"/>
            <p:cNvSpPr/>
            <p:nvPr/>
          </p:nvSpPr>
          <p:spPr>
            <a:xfrm>
              <a:off x="3710261" y="2619039"/>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grpSp>
        <p:nvGrpSpPr>
          <p:cNvPr id="58" name="object 58"/>
          <p:cNvGrpSpPr/>
          <p:nvPr/>
        </p:nvGrpSpPr>
        <p:grpSpPr>
          <a:xfrm>
            <a:off x="3757674" y="3115082"/>
            <a:ext cx="2329703" cy="385482"/>
            <a:chOff x="4106297" y="3530426"/>
            <a:chExt cx="2640330" cy="436880"/>
          </a:xfrm>
        </p:grpSpPr>
        <p:sp>
          <p:nvSpPr>
            <p:cNvPr id="59" name="object 59"/>
            <p:cNvSpPr/>
            <p:nvPr/>
          </p:nvSpPr>
          <p:spPr>
            <a:xfrm>
              <a:off x="6060707" y="3657256"/>
              <a:ext cx="670560" cy="294640"/>
            </a:xfrm>
            <a:custGeom>
              <a:avLst/>
              <a:gdLst/>
              <a:ahLst/>
              <a:cxnLst/>
              <a:rect l="l" t="t" r="r" b="b"/>
              <a:pathLst>
                <a:path w="670559" h="294639">
                  <a:moveTo>
                    <a:pt x="0" y="0"/>
                  </a:moveTo>
                  <a:lnTo>
                    <a:pt x="0" y="294078"/>
                  </a:lnTo>
                  <a:lnTo>
                    <a:pt x="591424" y="294078"/>
                  </a:lnTo>
                  <a:lnTo>
                    <a:pt x="591424" y="110279"/>
                  </a:lnTo>
                  <a:lnTo>
                    <a:pt x="670280" y="110279"/>
                  </a:lnTo>
                </a:path>
              </a:pathLst>
            </a:custGeom>
            <a:ln w="30740">
              <a:solidFill>
                <a:srgbClr val="000000"/>
              </a:solidFill>
            </a:ln>
          </p:spPr>
          <p:txBody>
            <a:bodyPr wrap="square" lIns="0" tIns="0" rIns="0" bIns="0" rtlCol="0"/>
            <a:lstStyle/>
            <a:p>
              <a:endParaRPr sz="1588"/>
            </a:p>
          </p:txBody>
        </p:sp>
        <p:sp>
          <p:nvSpPr>
            <p:cNvPr id="60" name="object 60"/>
            <p:cNvSpPr/>
            <p:nvPr/>
          </p:nvSpPr>
          <p:spPr>
            <a:xfrm>
              <a:off x="4121854" y="3545983"/>
              <a:ext cx="412115" cy="222885"/>
            </a:xfrm>
            <a:custGeom>
              <a:avLst/>
              <a:gdLst/>
              <a:ahLst/>
              <a:cxnLst/>
              <a:rect l="l" t="t" r="r" b="b"/>
              <a:pathLst>
                <a:path w="412114" h="222885">
                  <a:moveTo>
                    <a:pt x="211703" y="222547"/>
                  </a:moveTo>
                  <a:lnTo>
                    <a:pt x="412101" y="222547"/>
                  </a:lnTo>
                </a:path>
                <a:path w="412114" h="222885">
                  <a:moveTo>
                    <a:pt x="0" y="222547"/>
                  </a:moveTo>
                  <a:lnTo>
                    <a:pt x="124000" y="222547"/>
                  </a:lnTo>
                </a:path>
                <a:path w="412114" h="222885">
                  <a:moveTo>
                    <a:pt x="211703" y="0"/>
                  </a:moveTo>
                  <a:lnTo>
                    <a:pt x="410142" y="0"/>
                  </a:lnTo>
                </a:path>
                <a:path w="412114" h="222885">
                  <a:moveTo>
                    <a:pt x="0" y="0"/>
                  </a:moveTo>
                  <a:lnTo>
                    <a:pt x="124000" y="0"/>
                  </a:lnTo>
                </a:path>
              </a:pathLst>
            </a:custGeom>
            <a:ln w="30745">
              <a:solidFill>
                <a:srgbClr val="000000"/>
              </a:solidFill>
            </a:ln>
          </p:spPr>
          <p:txBody>
            <a:bodyPr wrap="square" lIns="0" tIns="0" rIns="0" bIns="0" rtlCol="0"/>
            <a:lstStyle/>
            <a:p>
              <a:endParaRPr sz="1588"/>
            </a:p>
          </p:txBody>
        </p:sp>
      </p:grpSp>
      <p:sp>
        <p:nvSpPr>
          <p:cNvPr id="141" name="object 141"/>
          <p:cNvSpPr txBox="1"/>
          <p:nvPr/>
        </p:nvSpPr>
        <p:spPr>
          <a:xfrm>
            <a:off x="3796931" y="1260225"/>
            <a:ext cx="2173381" cy="770241"/>
          </a:xfrm>
          <a:prstGeom prst="rect">
            <a:avLst/>
          </a:prstGeom>
        </p:spPr>
        <p:txBody>
          <a:bodyPr vert="horz" wrap="square" lIns="0" tIns="11206" rIns="0" bIns="0" rtlCol="0">
            <a:spAutoFit/>
          </a:bodyPr>
          <a:lstStyle/>
          <a:p>
            <a:pPr marL="11206">
              <a:spcBef>
                <a:spcPts val="88"/>
              </a:spcBef>
            </a:pPr>
            <a:r>
              <a:rPr sz="1941" i="1" spc="-44" dirty="0">
                <a:latin typeface="Times New Roman"/>
                <a:cs typeface="Times New Roman"/>
              </a:rPr>
              <a:t>Time</a:t>
            </a:r>
            <a:r>
              <a:rPr sz="1941" i="1" spc="-79" dirty="0">
                <a:latin typeface="Times New Roman"/>
                <a:cs typeface="Times New Roman"/>
              </a:rPr>
              <a:t> </a:t>
            </a:r>
            <a:r>
              <a:rPr sz="1941" i="1" spc="-9" dirty="0">
                <a:latin typeface="Times New Roman"/>
                <a:cs typeface="Times New Roman"/>
              </a:rPr>
              <a:t>(clock</a:t>
            </a:r>
            <a:r>
              <a:rPr sz="1941" i="1" spc="-79" dirty="0">
                <a:latin typeface="Times New Roman"/>
                <a:cs typeface="Times New Roman"/>
              </a:rPr>
              <a:t> </a:t>
            </a:r>
            <a:r>
              <a:rPr sz="1941" i="1" spc="-9" dirty="0">
                <a:latin typeface="Times New Roman"/>
                <a:cs typeface="Times New Roman"/>
              </a:rPr>
              <a:t>cycles)</a:t>
            </a:r>
            <a:endParaRPr sz="1941">
              <a:latin typeface="Times New Roman"/>
              <a:cs typeface="Times New Roman"/>
            </a:endParaRPr>
          </a:p>
          <a:p>
            <a:pPr marL="212363">
              <a:spcBef>
                <a:spcPts val="2038"/>
              </a:spcBef>
              <a:tabLst>
                <a:tab pos="935181" algn="l"/>
                <a:tab pos="1632224" algn="l"/>
              </a:tabLst>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3</a:t>
            </a:r>
            <a:r>
              <a:rPr sz="1324" b="1" dirty="0">
                <a:latin typeface="Times New Roman"/>
                <a:cs typeface="Times New Roman"/>
              </a:rPr>
              <a:t>	Cycle</a:t>
            </a:r>
            <a:r>
              <a:rPr sz="1324" b="1" spc="-9" dirty="0">
                <a:latin typeface="Times New Roman"/>
                <a:cs typeface="Times New Roman"/>
              </a:rPr>
              <a:t> </a:t>
            </a:r>
            <a:r>
              <a:rPr sz="1324" b="1" spc="-44" dirty="0">
                <a:latin typeface="Times New Roman"/>
                <a:cs typeface="Times New Roman"/>
              </a:rPr>
              <a:t>4</a:t>
            </a:r>
            <a:r>
              <a:rPr sz="1324" b="1" dirty="0">
                <a:latin typeface="Times New Roman"/>
                <a:cs typeface="Times New Roman"/>
              </a:rPr>
              <a:t>	Cycle</a:t>
            </a:r>
            <a:r>
              <a:rPr sz="1324" b="1" spc="-9" dirty="0">
                <a:latin typeface="Times New Roman"/>
                <a:cs typeface="Times New Roman"/>
              </a:rPr>
              <a:t> </a:t>
            </a:r>
            <a:r>
              <a:rPr sz="1324" b="1" spc="-44" dirty="0">
                <a:latin typeface="Times New Roman"/>
                <a:cs typeface="Times New Roman"/>
              </a:rPr>
              <a:t>5</a:t>
            </a:r>
            <a:endParaRPr sz="1324">
              <a:latin typeface="Times New Roman"/>
              <a:cs typeface="Times New Roman"/>
            </a:endParaRPr>
          </a:p>
        </p:txBody>
      </p:sp>
      <p:sp>
        <p:nvSpPr>
          <p:cNvPr id="183" name="object 183"/>
          <p:cNvSpPr/>
          <p:nvPr/>
        </p:nvSpPr>
        <p:spPr>
          <a:xfrm>
            <a:off x="4617809" y="2477093"/>
            <a:ext cx="954741" cy="1380565"/>
          </a:xfrm>
          <a:custGeom>
            <a:avLst/>
            <a:gdLst/>
            <a:ahLst/>
            <a:cxnLst/>
            <a:rect l="l" t="t" r="r" b="b"/>
            <a:pathLst>
              <a:path w="1082039" h="1564639">
                <a:moveTo>
                  <a:pt x="243801" y="544461"/>
                </a:moveTo>
                <a:lnTo>
                  <a:pt x="183819" y="557796"/>
                </a:lnTo>
                <a:lnTo>
                  <a:pt x="59982" y="0"/>
                </a:lnTo>
                <a:lnTo>
                  <a:pt x="0" y="13335"/>
                </a:lnTo>
                <a:lnTo>
                  <a:pt x="123850" y="571131"/>
                </a:lnTo>
                <a:lnTo>
                  <a:pt x="63881" y="584479"/>
                </a:lnTo>
                <a:lnTo>
                  <a:pt x="193827" y="744537"/>
                </a:lnTo>
                <a:lnTo>
                  <a:pt x="229641" y="601141"/>
                </a:lnTo>
                <a:lnTo>
                  <a:pt x="243801" y="544461"/>
                </a:lnTo>
                <a:close/>
              </a:path>
              <a:path w="1082039" h="1564639">
                <a:moveTo>
                  <a:pt x="1081646" y="1369949"/>
                </a:moveTo>
                <a:lnTo>
                  <a:pt x="1020686" y="1377543"/>
                </a:lnTo>
                <a:lnTo>
                  <a:pt x="852322" y="24168"/>
                </a:lnTo>
                <a:lnTo>
                  <a:pt x="791362" y="31762"/>
                </a:lnTo>
                <a:lnTo>
                  <a:pt x="959713" y="1385138"/>
                </a:lnTo>
                <a:lnTo>
                  <a:pt x="898753" y="1392732"/>
                </a:lnTo>
                <a:lnTo>
                  <a:pt x="1012977" y="1564398"/>
                </a:lnTo>
                <a:lnTo>
                  <a:pt x="1065504" y="1415643"/>
                </a:lnTo>
                <a:lnTo>
                  <a:pt x="1081646" y="1369949"/>
                </a:lnTo>
                <a:close/>
              </a:path>
            </a:pathLst>
          </a:custGeom>
          <a:solidFill>
            <a:srgbClr val="FF0000"/>
          </a:solidFill>
        </p:spPr>
        <p:txBody>
          <a:bodyPr wrap="square" lIns="0" tIns="0" rIns="0" bIns="0" rtlCol="0"/>
          <a:lstStyle/>
          <a:p>
            <a:endParaRPr sz="1588"/>
          </a:p>
        </p:txBody>
      </p:sp>
      <p:grpSp>
        <p:nvGrpSpPr>
          <p:cNvPr id="186" name="Group 185">
            <a:extLst>
              <a:ext uri="{FF2B5EF4-FFF2-40B4-BE49-F238E27FC236}">
                <a16:creationId xmlns:a16="http://schemas.microsoft.com/office/drawing/2014/main" id="{3512E177-F2CA-8E65-661C-2C8EAE4FEDFC}"/>
              </a:ext>
            </a:extLst>
          </p:cNvPr>
          <p:cNvGrpSpPr/>
          <p:nvPr/>
        </p:nvGrpSpPr>
        <p:grpSpPr>
          <a:xfrm>
            <a:off x="2484468" y="1626446"/>
            <a:ext cx="6365834" cy="4690560"/>
            <a:chOff x="2484468" y="1626446"/>
            <a:chExt cx="6365834" cy="4690560"/>
          </a:xfrm>
        </p:grpSpPr>
        <p:sp>
          <p:nvSpPr>
            <p:cNvPr id="15" name="object 15"/>
            <p:cNvSpPr txBox="1"/>
            <p:nvPr/>
          </p:nvSpPr>
          <p:spPr>
            <a:xfrm>
              <a:off x="3479031" y="2354016"/>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6" name="object 16"/>
            <p:cNvGrpSpPr/>
            <p:nvPr/>
          </p:nvGrpSpPr>
          <p:grpSpPr>
            <a:xfrm>
              <a:off x="3778411" y="2200072"/>
              <a:ext cx="718296" cy="547968"/>
              <a:chOff x="4129798" y="2493415"/>
              <a:chExt cx="814069" cy="621030"/>
            </a:xfrm>
          </p:grpSpPr>
          <p:sp>
            <p:nvSpPr>
              <p:cNvPr id="17" name="object 17"/>
              <p:cNvSpPr/>
              <p:nvPr/>
            </p:nvSpPr>
            <p:spPr>
              <a:xfrm>
                <a:off x="4145356" y="2693751"/>
                <a:ext cx="478790" cy="220979"/>
              </a:xfrm>
              <a:custGeom>
                <a:avLst/>
                <a:gdLst/>
                <a:ahLst/>
                <a:cxnLst/>
                <a:rect l="l" t="t" r="r" b="b"/>
                <a:pathLst>
                  <a:path w="478789" h="220980">
                    <a:moveTo>
                      <a:pt x="0" y="0"/>
                    </a:moveTo>
                    <a:lnTo>
                      <a:pt x="93807" y="0"/>
                    </a:lnTo>
                  </a:path>
                  <a:path w="478789" h="220980">
                    <a:moveTo>
                      <a:pt x="181386" y="0"/>
                    </a:moveTo>
                    <a:lnTo>
                      <a:pt x="478211" y="0"/>
                    </a:lnTo>
                  </a:path>
                  <a:path w="478789" h="220980">
                    <a:moveTo>
                      <a:pt x="0" y="220957"/>
                    </a:moveTo>
                    <a:lnTo>
                      <a:pt x="93807" y="220957"/>
                    </a:lnTo>
                  </a:path>
                  <a:path w="478789" h="220980">
                    <a:moveTo>
                      <a:pt x="181386" y="220957"/>
                    </a:moveTo>
                    <a:lnTo>
                      <a:pt x="478211" y="220957"/>
                    </a:lnTo>
                  </a:path>
                </a:pathLst>
              </a:custGeom>
              <a:ln w="30745">
                <a:solidFill>
                  <a:srgbClr val="000000"/>
                </a:solidFill>
              </a:ln>
            </p:spPr>
            <p:txBody>
              <a:bodyPr wrap="square" lIns="0" tIns="0" rIns="0" bIns="0" rtlCol="0"/>
              <a:lstStyle/>
              <a:p>
                <a:endParaRPr sz="1588"/>
              </a:p>
            </p:txBody>
          </p:sp>
          <p:sp>
            <p:nvSpPr>
              <p:cNvPr id="18" name="object 18"/>
              <p:cNvSpPr/>
              <p:nvPr/>
            </p:nvSpPr>
            <p:spPr>
              <a:xfrm>
                <a:off x="4561777" y="2508972"/>
                <a:ext cx="366395" cy="589915"/>
              </a:xfrm>
              <a:custGeom>
                <a:avLst/>
                <a:gdLst/>
                <a:ahLst/>
                <a:cxnLst/>
                <a:rect l="l" t="t" r="r" b="b"/>
                <a:pathLst>
                  <a:path w="366395" h="589914">
                    <a:moveTo>
                      <a:pt x="0" y="0"/>
                    </a:moveTo>
                    <a:lnTo>
                      <a:pt x="0" y="589747"/>
                    </a:lnTo>
                    <a:lnTo>
                      <a:pt x="366115" y="442310"/>
                    </a:lnTo>
                    <a:lnTo>
                      <a:pt x="366115" y="147436"/>
                    </a:lnTo>
                    <a:lnTo>
                      <a:pt x="0" y="0"/>
                    </a:lnTo>
                    <a:close/>
                  </a:path>
                </a:pathLst>
              </a:custGeom>
              <a:solidFill>
                <a:srgbClr val="FFFFFF"/>
              </a:solidFill>
            </p:spPr>
            <p:txBody>
              <a:bodyPr wrap="square" lIns="0" tIns="0" rIns="0" bIns="0" rtlCol="0"/>
              <a:lstStyle/>
              <a:p>
                <a:endParaRPr sz="1588"/>
              </a:p>
            </p:txBody>
          </p:sp>
          <p:sp>
            <p:nvSpPr>
              <p:cNvPr id="19" name="object 19"/>
              <p:cNvSpPr/>
              <p:nvPr/>
            </p:nvSpPr>
            <p:spPr>
              <a:xfrm>
                <a:off x="4561777" y="2508972"/>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20" name="object 20"/>
              <p:cNvSpPr/>
              <p:nvPr/>
            </p:nvSpPr>
            <p:spPr>
              <a:xfrm>
                <a:off x="4537334" y="2709010"/>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21" name="object 21"/>
              <p:cNvSpPr/>
              <p:nvPr/>
            </p:nvSpPr>
            <p:spPr>
              <a:xfrm>
                <a:off x="4561777" y="2720144"/>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22" name="object 22"/>
            <p:cNvSpPr txBox="1"/>
            <p:nvPr/>
          </p:nvSpPr>
          <p:spPr>
            <a:xfrm>
              <a:off x="4278643" y="2316028"/>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23" name="object 23"/>
            <p:cNvGrpSpPr/>
            <p:nvPr/>
          </p:nvGrpSpPr>
          <p:grpSpPr>
            <a:xfrm>
              <a:off x="4471864" y="2298593"/>
              <a:ext cx="1060076" cy="352985"/>
              <a:chOff x="4915712" y="2605072"/>
              <a:chExt cx="1201420" cy="400050"/>
            </a:xfrm>
          </p:grpSpPr>
          <p:sp>
            <p:nvSpPr>
              <p:cNvPr id="24" name="object 24"/>
              <p:cNvSpPr/>
              <p:nvPr/>
            </p:nvSpPr>
            <p:spPr>
              <a:xfrm>
                <a:off x="4931270" y="2805025"/>
                <a:ext cx="1170305" cy="0"/>
              </a:xfrm>
              <a:custGeom>
                <a:avLst/>
                <a:gdLst/>
                <a:ahLst/>
                <a:cxnLst/>
                <a:rect l="l" t="t" r="r" b="b"/>
                <a:pathLst>
                  <a:path w="1170304">
                    <a:moveTo>
                      <a:pt x="0" y="0"/>
                    </a:moveTo>
                    <a:lnTo>
                      <a:pt x="116786" y="0"/>
                    </a:lnTo>
                  </a:path>
                  <a:path w="1170304">
                    <a:moveTo>
                      <a:pt x="203150" y="0"/>
                    </a:moveTo>
                    <a:lnTo>
                      <a:pt x="352463" y="0"/>
                    </a:lnTo>
                  </a:path>
                  <a:path w="1170304">
                    <a:moveTo>
                      <a:pt x="1013260" y="0"/>
                    </a:moveTo>
                    <a:lnTo>
                      <a:pt x="1170051" y="0"/>
                    </a:lnTo>
                  </a:path>
                  <a:path w="1170304">
                    <a:moveTo>
                      <a:pt x="795713" y="0"/>
                    </a:moveTo>
                    <a:lnTo>
                      <a:pt x="925681" y="0"/>
                    </a:lnTo>
                  </a:path>
                </a:pathLst>
              </a:custGeom>
              <a:ln w="30745">
                <a:solidFill>
                  <a:srgbClr val="000000"/>
                </a:solidFill>
              </a:ln>
            </p:spPr>
            <p:txBody>
              <a:bodyPr wrap="square" lIns="0" tIns="0" rIns="0" bIns="0" rtlCol="0"/>
              <a:lstStyle/>
              <a:p>
                <a:endParaRPr sz="1588"/>
              </a:p>
            </p:txBody>
          </p:sp>
          <p:sp>
            <p:nvSpPr>
              <p:cNvPr id="25" name="object 25"/>
              <p:cNvSpPr/>
              <p:nvPr/>
            </p:nvSpPr>
            <p:spPr>
              <a:xfrm>
                <a:off x="5283733" y="2620629"/>
                <a:ext cx="434340" cy="368935"/>
              </a:xfrm>
              <a:custGeom>
                <a:avLst/>
                <a:gdLst/>
                <a:ahLst/>
                <a:cxnLst/>
                <a:rect l="l" t="t" r="r" b="b"/>
                <a:pathLst>
                  <a:path w="434339"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26" name="object 26"/>
            <p:cNvSpPr txBox="1"/>
            <p:nvPr/>
          </p:nvSpPr>
          <p:spPr>
            <a:xfrm>
              <a:off x="4789496" y="2356705"/>
              <a:ext cx="392206" cy="174309"/>
            </a:xfrm>
            <a:prstGeom prst="rect">
              <a:avLst/>
            </a:prstGeom>
          </p:spPr>
          <p:txBody>
            <a:bodyPr vert="horz" wrap="square" lIns="0" tIns="11206" rIns="0" bIns="0" rtlCol="0">
              <a:spAutoFit/>
            </a:bodyPr>
            <a:lstStyle/>
            <a:p>
              <a:pPr>
                <a:spcBef>
                  <a:spcPts val="88"/>
                </a:spcBef>
              </a:pPr>
              <a:r>
                <a:rPr sz="1059" b="1" spc="-26" dirty="0">
                  <a:latin typeface="Times New Roman"/>
                  <a:cs typeface="Times New Roman"/>
                </a:rPr>
                <a:t>DMem</a:t>
              </a:r>
              <a:endParaRPr sz="1059">
                <a:latin typeface="Times New Roman"/>
                <a:cs typeface="Times New Roman"/>
              </a:endParaRPr>
            </a:p>
          </p:txBody>
        </p:sp>
        <p:grpSp>
          <p:nvGrpSpPr>
            <p:cNvPr id="27" name="object 27"/>
            <p:cNvGrpSpPr/>
            <p:nvPr/>
          </p:nvGrpSpPr>
          <p:grpSpPr>
            <a:xfrm>
              <a:off x="3030884" y="2363113"/>
              <a:ext cx="2312334" cy="385482"/>
              <a:chOff x="3282601" y="2678194"/>
              <a:chExt cx="2620645" cy="436880"/>
            </a:xfrm>
          </p:grpSpPr>
          <p:sp>
            <p:nvSpPr>
              <p:cNvPr id="28" name="object 28"/>
              <p:cNvSpPr/>
              <p:nvPr/>
            </p:nvSpPr>
            <p:spPr>
              <a:xfrm>
                <a:off x="5237012" y="2805024"/>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29" name="object 29"/>
              <p:cNvSpPr/>
              <p:nvPr/>
            </p:nvSpPr>
            <p:spPr>
              <a:xfrm>
                <a:off x="3298159" y="2693751"/>
                <a:ext cx="412115" cy="222885"/>
              </a:xfrm>
              <a:custGeom>
                <a:avLst/>
                <a:gdLst/>
                <a:ahLst/>
                <a:cxnLst/>
                <a:rect l="l" t="t" r="r" b="b"/>
                <a:pathLst>
                  <a:path w="412114" h="222885">
                    <a:moveTo>
                      <a:pt x="0" y="222547"/>
                    </a:moveTo>
                    <a:lnTo>
                      <a:pt x="135760" y="222547"/>
                    </a:lnTo>
                  </a:path>
                  <a:path w="412114" h="222885">
                    <a:moveTo>
                      <a:pt x="223339" y="222547"/>
                    </a:moveTo>
                    <a:lnTo>
                      <a:pt x="412103" y="222547"/>
                    </a:lnTo>
                  </a:path>
                  <a:path w="412114" h="222885">
                    <a:moveTo>
                      <a:pt x="223339" y="0"/>
                    </a:moveTo>
                    <a:lnTo>
                      <a:pt x="410142" y="0"/>
                    </a:lnTo>
                  </a:path>
                  <a:path w="412114" h="222885">
                    <a:moveTo>
                      <a:pt x="0" y="0"/>
                    </a:moveTo>
                    <a:lnTo>
                      <a:pt x="135760" y="0"/>
                    </a:lnTo>
                  </a:path>
                </a:pathLst>
              </a:custGeom>
              <a:ln w="30745">
                <a:solidFill>
                  <a:srgbClr val="000000"/>
                </a:solidFill>
              </a:ln>
            </p:spPr>
            <p:txBody>
              <a:bodyPr wrap="square" lIns="0" tIns="0" rIns="0" bIns="0" rtlCol="0"/>
              <a:lstStyle/>
              <a:p>
                <a:endParaRPr sz="1588"/>
              </a:p>
            </p:txBody>
          </p:sp>
        </p:grpSp>
        <p:sp>
          <p:nvSpPr>
            <p:cNvPr id="30" name="object 30"/>
            <p:cNvSpPr txBox="1"/>
            <p:nvPr/>
          </p:nvSpPr>
          <p:spPr>
            <a:xfrm>
              <a:off x="2659905" y="2312320"/>
              <a:ext cx="384922" cy="219004"/>
            </a:xfrm>
            <a:prstGeom prst="rect">
              <a:avLst/>
            </a:prstGeom>
            <a:ln w="30733">
              <a:solidFill>
                <a:srgbClr val="000000"/>
              </a:solidFill>
            </a:ln>
          </p:spPr>
          <p:txBody>
            <a:bodyPr vert="horz" wrap="square" lIns="0" tIns="55469" rIns="0" bIns="0" rtlCol="0">
              <a:spAutoFit/>
            </a:bodyPr>
            <a:lstStyle/>
            <a:p>
              <a:pPr marL="27456">
                <a:spcBef>
                  <a:spcPts val="437"/>
                </a:spcBef>
              </a:pPr>
              <a:r>
                <a:rPr sz="1059" b="1" spc="-9" dirty="0">
                  <a:latin typeface="Times New Roman"/>
                  <a:cs typeface="Times New Roman"/>
                </a:rPr>
                <a:t>Ifetch</a:t>
              </a:r>
              <a:endParaRPr sz="1059">
                <a:latin typeface="Times New Roman"/>
                <a:cs typeface="Times New Roman"/>
              </a:endParaRPr>
            </a:p>
          </p:txBody>
        </p:sp>
        <p:grpSp>
          <p:nvGrpSpPr>
            <p:cNvPr id="31" name="object 31"/>
            <p:cNvGrpSpPr/>
            <p:nvPr/>
          </p:nvGrpSpPr>
          <p:grpSpPr>
            <a:xfrm>
              <a:off x="3150673" y="2151320"/>
              <a:ext cx="2766732" cy="646019"/>
              <a:chOff x="3418362" y="2438162"/>
              <a:chExt cx="3135630" cy="732155"/>
            </a:xfrm>
          </p:grpSpPr>
          <p:sp>
            <p:nvSpPr>
              <p:cNvPr id="32" name="object 32"/>
              <p:cNvSpPr/>
              <p:nvPr/>
            </p:nvSpPr>
            <p:spPr>
              <a:xfrm>
                <a:off x="4239163" y="2453719"/>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33" name="object 33"/>
              <p:cNvSpPr/>
              <p:nvPr/>
            </p:nvSpPr>
            <p:spPr>
              <a:xfrm>
                <a:off x="4239163" y="2453719"/>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34" name="object 34"/>
              <p:cNvSpPr/>
              <p:nvPr/>
            </p:nvSpPr>
            <p:spPr>
              <a:xfrm>
                <a:off x="5856951" y="2453719"/>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35" name="object 35"/>
              <p:cNvSpPr/>
              <p:nvPr/>
            </p:nvSpPr>
            <p:spPr>
              <a:xfrm>
                <a:off x="5856951" y="2453719"/>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36" name="object 36"/>
              <p:cNvSpPr/>
              <p:nvPr/>
            </p:nvSpPr>
            <p:spPr>
              <a:xfrm>
                <a:off x="3433920" y="2453719"/>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37" name="object 37"/>
              <p:cNvSpPr/>
              <p:nvPr/>
            </p:nvSpPr>
            <p:spPr>
              <a:xfrm>
                <a:off x="3433920" y="2453719"/>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38" name="object 38"/>
              <p:cNvSpPr/>
              <p:nvPr/>
            </p:nvSpPr>
            <p:spPr>
              <a:xfrm>
                <a:off x="5048057" y="2457837"/>
                <a:ext cx="86360" cy="692150"/>
              </a:xfrm>
              <a:custGeom>
                <a:avLst/>
                <a:gdLst/>
                <a:ahLst/>
                <a:cxnLst/>
                <a:rect l="l" t="t" r="r" b="b"/>
                <a:pathLst>
                  <a:path w="86360" h="692150">
                    <a:moveTo>
                      <a:pt x="86363" y="0"/>
                    </a:moveTo>
                    <a:lnTo>
                      <a:pt x="0" y="0"/>
                    </a:lnTo>
                    <a:lnTo>
                      <a:pt x="0" y="691756"/>
                    </a:lnTo>
                    <a:lnTo>
                      <a:pt x="86363" y="691756"/>
                    </a:lnTo>
                    <a:lnTo>
                      <a:pt x="86363" y="0"/>
                    </a:lnTo>
                    <a:close/>
                  </a:path>
                </a:pathLst>
              </a:custGeom>
              <a:solidFill>
                <a:srgbClr val="00FF00"/>
              </a:solidFill>
            </p:spPr>
            <p:txBody>
              <a:bodyPr wrap="square" lIns="0" tIns="0" rIns="0" bIns="0" rtlCol="0"/>
              <a:lstStyle/>
              <a:p>
                <a:endParaRPr sz="1588"/>
              </a:p>
            </p:txBody>
          </p:sp>
          <p:sp>
            <p:nvSpPr>
              <p:cNvPr id="39" name="object 39"/>
              <p:cNvSpPr/>
              <p:nvPr/>
            </p:nvSpPr>
            <p:spPr>
              <a:xfrm>
                <a:off x="5048057" y="2457837"/>
                <a:ext cx="86360" cy="692150"/>
              </a:xfrm>
              <a:custGeom>
                <a:avLst/>
                <a:gdLst/>
                <a:ahLst/>
                <a:cxnLst/>
                <a:rect l="l" t="t" r="r" b="b"/>
                <a:pathLst>
                  <a:path w="86360" h="692150">
                    <a:moveTo>
                      <a:pt x="0" y="0"/>
                    </a:moveTo>
                    <a:lnTo>
                      <a:pt x="86363" y="0"/>
                    </a:lnTo>
                    <a:lnTo>
                      <a:pt x="86363"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40" name="object 40"/>
              <p:cNvSpPr/>
              <p:nvPr/>
            </p:nvSpPr>
            <p:spPr>
              <a:xfrm>
                <a:off x="6101321" y="2606322"/>
                <a:ext cx="219075" cy="366395"/>
              </a:xfrm>
              <a:custGeom>
                <a:avLst/>
                <a:gdLst/>
                <a:ahLst/>
                <a:cxnLst/>
                <a:rect l="l" t="t" r="r" b="b"/>
                <a:pathLst>
                  <a:path w="219075" h="366394">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41" name="object 41"/>
              <p:cNvSpPr/>
              <p:nvPr/>
            </p:nvSpPr>
            <p:spPr>
              <a:xfrm>
                <a:off x="6101321" y="2606323"/>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42" name="object 42"/>
            <p:cNvSpPr txBox="1"/>
            <p:nvPr/>
          </p:nvSpPr>
          <p:spPr>
            <a:xfrm>
              <a:off x="5531548" y="2343259"/>
              <a:ext cx="372596" cy="174309"/>
            </a:xfrm>
            <a:prstGeom prst="rect">
              <a:avLst/>
            </a:prstGeom>
          </p:spPr>
          <p:txBody>
            <a:bodyPr vert="horz" wrap="square" lIns="0" tIns="11206" rIns="0" bIns="0" rtlCol="0">
              <a:spAutoFit/>
            </a:bodyPr>
            <a:lstStyle/>
            <a:p>
              <a:pPr marL="71721">
                <a:spcBef>
                  <a:spcPts val="88"/>
                </a:spcBef>
              </a:pPr>
              <a:r>
                <a:rPr sz="1059" b="1" spc="-22" dirty="0">
                  <a:latin typeface="Times New Roman"/>
                  <a:cs typeface="Times New Roman"/>
                </a:rPr>
                <a:t>Reg</a:t>
              </a:r>
              <a:endParaRPr sz="1059">
                <a:latin typeface="Times New Roman"/>
                <a:cs typeface="Times New Roman"/>
              </a:endParaRPr>
            </a:p>
          </p:txBody>
        </p:sp>
        <p:grpSp>
          <p:nvGrpSpPr>
            <p:cNvPr id="43" name="object 43"/>
            <p:cNvGrpSpPr/>
            <p:nvPr/>
          </p:nvGrpSpPr>
          <p:grpSpPr>
            <a:xfrm>
              <a:off x="4121293" y="3049160"/>
              <a:ext cx="410135" cy="354666"/>
              <a:chOff x="4518399" y="3455714"/>
              <a:chExt cx="464820" cy="401955"/>
            </a:xfrm>
          </p:grpSpPr>
          <p:sp>
            <p:nvSpPr>
              <p:cNvPr id="44" name="object 44"/>
              <p:cNvSpPr/>
              <p:nvPr/>
            </p:nvSpPr>
            <p:spPr>
              <a:xfrm>
                <a:off x="4750524" y="3471271"/>
                <a:ext cx="217170" cy="366395"/>
              </a:xfrm>
              <a:custGeom>
                <a:avLst/>
                <a:gdLst/>
                <a:ahLst/>
                <a:cxnLst/>
                <a:rect l="l" t="t" r="r" b="b"/>
                <a:pathLst>
                  <a:path w="217170" h="366395">
                    <a:moveTo>
                      <a:pt x="216568" y="0"/>
                    </a:moveTo>
                    <a:lnTo>
                      <a:pt x="0" y="0"/>
                    </a:lnTo>
                    <a:lnTo>
                      <a:pt x="0" y="366094"/>
                    </a:lnTo>
                    <a:lnTo>
                      <a:pt x="216568" y="366094"/>
                    </a:lnTo>
                    <a:lnTo>
                      <a:pt x="216568" y="0"/>
                    </a:lnTo>
                    <a:close/>
                  </a:path>
                </a:pathLst>
              </a:custGeom>
              <a:solidFill>
                <a:srgbClr val="0099FF"/>
              </a:solidFill>
            </p:spPr>
            <p:txBody>
              <a:bodyPr wrap="square" lIns="0" tIns="0" rIns="0" bIns="0" rtlCol="0"/>
              <a:lstStyle/>
              <a:p>
                <a:endParaRPr sz="1588"/>
              </a:p>
            </p:txBody>
          </p:sp>
          <p:sp>
            <p:nvSpPr>
              <p:cNvPr id="45" name="object 45"/>
              <p:cNvSpPr/>
              <p:nvPr/>
            </p:nvSpPr>
            <p:spPr>
              <a:xfrm>
                <a:off x="4533957" y="3471271"/>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46" name="object 46"/>
            <p:cNvSpPr txBox="1"/>
            <p:nvPr/>
          </p:nvSpPr>
          <p:spPr>
            <a:xfrm>
              <a:off x="4205821" y="3107051"/>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47" name="object 47"/>
            <p:cNvGrpSpPr/>
            <p:nvPr/>
          </p:nvGrpSpPr>
          <p:grpSpPr>
            <a:xfrm>
              <a:off x="4505201" y="2952041"/>
              <a:ext cx="718296" cy="547968"/>
              <a:chOff x="4953494" y="3345647"/>
              <a:chExt cx="814069" cy="621030"/>
            </a:xfrm>
          </p:grpSpPr>
          <p:sp>
            <p:nvSpPr>
              <p:cNvPr id="48" name="object 48"/>
              <p:cNvSpPr/>
              <p:nvPr/>
            </p:nvSpPr>
            <p:spPr>
              <a:xfrm>
                <a:off x="4969051" y="3545983"/>
                <a:ext cx="478790" cy="220979"/>
              </a:xfrm>
              <a:custGeom>
                <a:avLst/>
                <a:gdLst/>
                <a:ahLst/>
                <a:cxnLst/>
                <a:rect l="l" t="t" r="r" b="b"/>
                <a:pathLst>
                  <a:path w="478789" h="220979">
                    <a:moveTo>
                      <a:pt x="167239" y="0"/>
                    </a:moveTo>
                    <a:lnTo>
                      <a:pt x="478211" y="0"/>
                    </a:lnTo>
                  </a:path>
                  <a:path w="478789" h="220979">
                    <a:moveTo>
                      <a:pt x="0" y="0"/>
                    </a:moveTo>
                    <a:lnTo>
                      <a:pt x="79536" y="0"/>
                    </a:lnTo>
                  </a:path>
                  <a:path w="478789" h="220979">
                    <a:moveTo>
                      <a:pt x="167239" y="220958"/>
                    </a:moveTo>
                    <a:lnTo>
                      <a:pt x="478211" y="220958"/>
                    </a:lnTo>
                  </a:path>
                  <a:path w="478789" h="220979">
                    <a:moveTo>
                      <a:pt x="0" y="220958"/>
                    </a:moveTo>
                    <a:lnTo>
                      <a:pt x="79536" y="220958"/>
                    </a:lnTo>
                  </a:path>
                </a:pathLst>
              </a:custGeom>
              <a:ln w="30745">
                <a:solidFill>
                  <a:srgbClr val="000000"/>
                </a:solidFill>
              </a:ln>
            </p:spPr>
            <p:txBody>
              <a:bodyPr wrap="square" lIns="0" tIns="0" rIns="0" bIns="0" rtlCol="0"/>
              <a:lstStyle/>
              <a:p>
                <a:endParaRPr sz="1588"/>
              </a:p>
            </p:txBody>
          </p:sp>
          <p:sp>
            <p:nvSpPr>
              <p:cNvPr id="49" name="object 49"/>
              <p:cNvSpPr/>
              <p:nvPr/>
            </p:nvSpPr>
            <p:spPr>
              <a:xfrm>
                <a:off x="5385471" y="3361204"/>
                <a:ext cx="366395" cy="589915"/>
              </a:xfrm>
              <a:custGeom>
                <a:avLst/>
                <a:gdLst/>
                <a:ahLst/>
                <a:cxnLst/>
                <a:rect l="l" t="t" r="r" b="b"/>
                <a:pathLst>
                  <a:path w="366395" h="589914">
                    <a:moveTo>
                      <a:pt x="0" y="0"/>
                    </a:moveTo>
                    <a:lnTo>
                      <a:pt x="0" y="589747"/>
                    </a:lnTo>
                    <a:lnTo>
                      <a:pt x="366116" y="442310"/>
                    </a:lnTo>
                    <a:lnTo>
                      <a:pt x="366116" y="147436"/>
                    </a:lnTo>
                    <a:lnTo>
                      <a:pt x="0" y="0"/>
                    </a:lnTo>
                    <a:close/>
                  </a:path>
                </a:pathLst>
              </a:custGeom>
              <a:solidFill>
                <a:srgbClr val="FFFFFF"/>
              </a:solidFill>
            </p:spPr>
            <p:txBody>
              <a:bodyPr wrap="square" lIns="0" tIns="0" rIns="0" bIns="0" rtlCol="0"/>
              <a:lstStyle/>
              <a:p>
                <a:endParaRPr sz="1588"/>
              </a:p>
            </p:txBody>
          </p:sp>
          <p:sp>
            <p:nvSpPr>
              <p:cNvPr id="50" name="object 50"/>
              <p:cNvSpPr/>
              <p:nvPr/>
            </p:nvSpPr>
            <p:spPr>
              <a:xfrm>
                <a:off x="5385471" y="3361204"/>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51" name="object 51"/>
              <p:cNvSpPr/>
              <p:nvPr/>
            </p:nvSpPr>
            <p:spPr>
              <a:xfrm>
                <a:off x="5361028" y="3561242"/>
                <a:ext cx="195580" cy="190500"/>
              </a:xfrm>
              <a:custGeom>
                <a:avLst/>
                <a:gdLst/>
                <a:ahLst/>
                <a:cxnLst/>
                <a:rect l="l" t="t" r="r" b="b"/>
                <a:pathLst>
                  <a:path w="195579" h="190500">
                    <a:moveTo>
                      <a:pt x="0" y="0"/>
                    </a:moveTo>
                    <a:lnTo>
                      <a:pt x="0" y="190439"/>
                    </a:lnTo>
                    <a:lnTo>
                      <a:pt x="195552" y="95219"/>
                    </a:lnTo>
                    <a:lnTo>
                      <a:pt x="0" y="0"/>
                    </a:lnTo>
                    <a:close/>
                  </a:path>
                </a:pathLst>
              </a:custGeom>
              <a:solidFill>
                <a:srgbClr val="FFFFFF"/>
              </a:solidFill>
            </p:spPr>
            <p:txBody>
              <a:bodyPr wrap="square" lIns="0" tIns="0" rIns="0" bIns="0" rtlCol="0"/>
              <a:lstStyle/>
              <a:p>
                <a:endParaRPr sz="1588"/>
              </a:p>
            </p:txBody>
          </p:sp>
          <p:sp>
            <p:nvSpPr>
              <p:cNvPr id="52" name="object 52"/>
              <p:cNvSpPr/>
              <p:nvPr/>
            </p:nvSpPr>
            <p:spPr>
              <a:xfrm>
                <a:off x="5385473" y="3572376"/>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53" name="object 53"/>
            <p:cNvSpPr txBox="1"/>
            <p:nvPr/>
          </p:nvSpPr>
          <p:spPr>
            <a:xfrm>
              <a:off x="5005431" y="3066374"/>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54" name="object 54"/>
            <p:cNvGrpSpPr/>
            <p:nvPr/>
          </p:nvGrpSpPr>
          <p:grpSpPr>
            <a:xfrm>
              <a:off x="5198654" y="3050563"/>
              <a:ext cx="1060076" cy="352985"/>
              <a:chOff x="5739408" y="3457304"/>
              <a:chExt cx="1201420" cy="400050"/>
            </a:xfrm>
          </p:grpSpPr>
          <p:sp>
            <p:nvSpPr>
              <p:cNvPr id="55" name="object 55"/>
              <p:cNvSpPr/>
              <p:nvPr/>
            </p:nvSpPr>
            <p:spPr>
              <a:xfrm>
                <a:off x="5754965" y="3657257"/>
                <a:ext cx="1170305" cy="0"/>
              </a:xfrm>
              <a:custGeom>
                <a:avLst/>
                <a:gdLst/>
                <a:ahLst/>
                <a:cxnLst/>
                <a:rect l="l" t="t" r="r" b="b"/>
                <a:pathLst>
                  <a:path w="1170304">
                    <a:moveTo>
                      <a:pt x="188930" y="0"/>
                    </a:moveTo>
                    <a:lnTo>
                      <a:pt x="352461" y="0"/>
                    </a:lnTo>
                  </a:path>
                  <a:path w="1170304">
                    <a:moveTo>
                      <a:pt x="0" y="0"/>
                    </a:moveTo>
                    <a:lnTo>
                      <a:pt x="102444" y="0"/>
                    </a:lnTo>
                  </a:path>
                  <a:path w="1170304">
                    <a:moveTo>
                      <a:pt x="829030" y="0"/>
                    </a:moveTo>
                    <a:lnTo>
                      <a:pt x="984352" y="0"/>
                    </a:lnTo>
                  </a:path>
                  <a:path w="1170304">
                    <a:moveTo>
                      <a:pt x="1072056" y="0"/>
                    </a:moveTo>
                    <a:lnTo>
                      <a:pt x="1170049" y="0"/>
                    </a:lnTo>
                  </a:path>
                </a:pathLst>
              </a:custGeom>
              <a:ln w="30745">
                <a:solidFill>
                  <a:srgbClr val="000000"/>
                </a:solidFill>
              </a:ln>
            </p:spPr>
            <p:txBody>
              <a:bodyPr wrap="square" lIns="0" tIns="0" rIns="0" bIns="0" rtlCol="0"/>
              <a:lstStyle/>
              <a:p>
                <a:endParaRPr sz="1588"/>
              </a:p>
            </p:txBody>
          </p:sp>
          <p:sp>
            <p:nvSpPr>
              <p:cNvPr id="56" name="object 56"/>
              <p:cNvSpPr/>
              <p:nvPr/>
            </p:nvSpPr>
            <p:spPr>
              <a:xfrm>
                <a:off x="6107427" y="3472861"/>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57" name="object 57"/>
            <p:cNvSpPr txBox="1"/>
            <p:nvPr/>
          </p:nvSpPr>
          <p:spPr>
            <a:xfrm>
              <a:off x="5505081" y="3107051"/>
              <a:ext cx="414618"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sp>
          <p:nvSpPr>
            <p:cNvPr id="61" name="object 61"/>
            <p:cNvSpPr txBox="1"/>
            <p:nvPr/>
          </p:nvSpPr>
          <p:spPr>
            <a:xfrm>
              <a:off x="3386695" y="3064291"/>
              <a:ext cx="384922" cy="217307"/>
            </a:xfrm>
            <a:prstGeom prst="rect">
              <a:avLst/>
            </a:prstGeom>
            <a:ln w="30733">
              <a:solidFill>
                <a:srgbClr val="000000"/>
              </a:solidFill>
            </a:ln>
          </p:spPr>
          <p:txBody>
            <a:bodyPr vert="horz" wrap="square" lIns="0" tIns="53788" rIns="0" bIns="0" rtlCol="0">
              <a:spAutoFit/>
            </a:bodyPr>
            <a:lstStyle/>
            <a:p>
              <a:pPr marL="27456">
                <a:spcBef>
                  <a:spcPts val="424"/>
                </a:spcBef>
              </a:pPr>
              <a:r>
                <a:rPr sz="1059" b="1" spc="-9" dirty="0">
                  <a:latin typeface="Times New Roman"/>
                  <a:cs typeface="Times New Roman"/>
                </a:rPr>
                <a:t>Ifetch</a:t>
              </a:r>
              <a:endParaRPr sz="1059">
                <a:latin typeface="Times New Roman"/>
                <a:cs typeface="Times New Roman"/>
              </a:endParaRPr>
            </a:p>
          </p:txBody>
        </p:sp>
        <p:grpSp>
          <p:nvGrpSpPr>
            <p:cNvPr id="62" name="object 62"/>
            <p:cNvGrpSpPr/>
            <p:nvPr/>
          </p:nvGrpSpPr>
          <p:grpSpPr>
            <a:xfrm>
              <a:off x="3867086" y="2903289"/>
              <a:ext cx="2777378" cy="646019"/>
              <a:chOff x="4230297" y="3290394"/>
              <a:chExt cx="3147695" cy="732155"/>
            </a:xfrm>
          </p:grpSpPr>
          <p:sp>
            <p:nvSpPr>
              <p:cNvPr id="63" name="object 63"/>
              <p:cNvSpPr/>
              <p:nvPr/>
            </p:nvSpPr>
            <p:spPr>
              <a:xfrm>
                <a:off x="5048587" y="3305952"/>
                <a:ext cx="88265" cy="701040"/>
              </a:xfrm>
              <a:custGeom>
                <a:avLst/>
                <a:gdLst/>
                <a:ahLst/>
                <a:cxnLst/>
                <a:rect l="l" t="t" r="r" b="b"/>
                <a:pathLst>
                  <a:path w="88264"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64" name="object 64"/>
              <p:cNvSpPr/>
              <p:nvPr/>
            </p:nvSpPr>
            <p:spPr>
              <a:xfrm>
                <a:off x="5048587" y="3305952"/>
                <a:ext cx="88265" cy="701040"/>
              </a:xfrm>
              <a:custGeom>
                <a:avLst/>
                <a:gdLst/>
                <a:ahLst/>
                <a:cxnLst/>
                <a:rect l="l" t="t" r="r" b="b"/>
                <a:pathLst>
                  <a:path w="88264"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65" name="object 65"/>
              <p:cNvSpPr/>
              <p:nvPr/>
            </p:nvSpPr>
            <p:spPr>
              <a:xfrm>
                <a:off x="6739318" y="3305952"/>
                <a:ext cx="88265" cy="701040"/>
              </a:xfrm>
              <a:custGeom>
                <a:avLst/>
                <a:gdLst/>
                <a:ahLst/>
                <a:cxnLst/>
                <a:rect l="l" t="t" r="r" b="b"/>
                <a:pathLst>
                  <a:path w="88265"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66" name="object 66"/>
              <p:cNvSpPr/>
              <p:nvPr/>
            </p:nvSpPr>
            <p:spPr>
              <a:xfrm>
                <a:off x="6739318" y="3305952"/>
                <a:ext cx="88265" cy="701040"/>
              </a:xfrm>
              <a:custGeom>
                <a:avLst/>
                <a:gdLst/>
                <a:ahLst/>
                <a:cxnLst/>
                <a:rect l="l" t="t" r="r" b="b"/>
                <a:pathLst>
                  <a:path w="88265"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67" name="object 67"/>
              <p:cNvSpPr/>
              <p:nvPr/>
            </p:nvSpPr>
            <p:spPr>
              <a:xfrm>
                <a:off x="4245855" y="3305952"/>
                <a:ext cx="88265" cy="701040"/>
              </a:xfrm>
              <a:custGeom>
                <a:avLst/>
                <a:gdLst/>
                <a:ahLst/>
                <a:cxnLst/>
                <a:rect l="l" t="t" r="r" b="b"/>
                <a:pathLst>
                  <a:path w="88264"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68" name="object 68"/>
              <p:cNvSpPr/>
              <p:nvPr/>
            </p:nvSpPr>
            <p:spPr>
              <a:xfrm>
                <a:off x="4245855" y="3305952"/>
                <a:ext cx="88265" cy="701040"/>
              </a:xfrm>
              <a:custGeom>
                <a:avLst/>
                <a:gdLst/>
                <a:ahLst/>
                <a:cxnLst/>
                <a:rect l="l" t="t" r="r" b="b"/>
                <a:pathLst>
                  <a:path w="88264"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69" name="object 69"/>
              <p:cNvSpPr/>
              <p:nvPr/>
            </p:nvSpPr>
            <p:spPr>
              <a:xfrm>
                <a:off x="5857410" y="3310069"/>
                <a:ext cx="86995" cy="692150"/>
              </a:xfrm>
              <a:custGeom>
                <a:avLst/>
                <a:gdLst/>
                <a:ahLst/>
                <a:cxnLst/>
                <a:rect l="l" t="t" r="r" b="b"/>
                <a:pathLst>
                  <a:path w="86995" h="692150">
                    <a:moveTo>
                      <a:pt x="86485" y="0"/>
                    </a:moveTo>
                    <a:lnTo>
                      <a:pt x="0" y="0"/>
                    </a:lnTo>
                    <a:lnTo>
                      <a:pt x="0" y="691756"/>
                    </a:lnTo>
                    <a:lnTo>
                      <a:pt x="86485" y="691756"/>
                    </a:lnTo>
                    <a:lnTo>
                      <a:pt x="86485" y="0"/>
                    </a:lnTo>
                    <a:close/>
                  </a:path>
                </a:pathLst>
              </a:custGeom>
              <a:solidFill>
                <a:srgbClr val="00FF00"/>
              </a:solidFill>
            </p:spPr>
            <p:txBody>
              <a:bodyPr wrap="square" lIns="0" tIns="0" rIns="0" bIns="0" rtlCol="0"/>
              <a:lstStyle/>
              <a:p>
                <a:endParaRPr sz="1588"/>
              </a:p>
            </p:txBody>
          </p:sp>
          <p:sp>
            <p:nvSpPr>
              <p:cNvPr id="70" name="object 70"/>
              <p:cNvSpPr/>
              <p:nvPr/>
            </p:nvSpPr>
            <p:spPr>
              <a:xfrm>
                <a:off x="5857410" y="3310069"/>
                <a:ext cx="86995" cy="692150"/>
              </a:xfrm>
              <a:custGeom>
                <a:avLst/>
                <a:gdLst/>
                <a:ahLst/>
                <a:cxnLst/>
                <a:rect l="l" t="t" r="r" b="b"/>
                <a:pathLst>
                  <a:path w="86995" h="692150">
                    <a:moveTo>
                      <a:pt x="0" y="0"/>
                    </a:moveTo>
                    <a:lnTo>
                      <a:pt x="86485" y="0"/>
                    </a:lnTo>
                    <a:lnTo>
                      <a:pt x="86485"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71" name="object 71"/>
              <p:cNvSpPr/>
              <p:nvPr/>
            </p:nvSpPr>
            <p:spPr>
              <a:xfrm>
                <a:off x="6925015" y="3458554"/>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72" name="object 72"/>
              <p:cNvSpPr/>
              <p:nvPr/>
            </p:nvSpPr>
            <p:spPr>
              <a:xfrm>
                <a:off x="6925016" y="3458555"/>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73" name="object 73"/>
            <p:cNvSpPr txBox="1"/>
            <p:nvPr/>
          </p:nvSpPr>
          <p:spPr>
            <a:xfrm>
              <a:off x="6318928" y="3096293"/>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4" name="object 74"/>
            <p:cNvGrpSpPr/>
            <p:nvPr/>
          </p:nvGrpSpPr>
          <p:grpSpPr>
            <a:xfrm>
              <a:off x="4834574" y="3789736"/>
              <a:ext cx="410135" cy="354666"/>
              <a:chOff x="5326784" y="4295033"/>
              <a:chExt cx="464820" cy="401955"/>
            </a:xfrm>
          </p:grpSpPr>
          <p:sp>
            <p:nvSpPr>
              <p:cNvPr id="75" name="object 75"/>
              <p:cNvSpPr/>
              <p:nvPr/>
            </p:nvSpPr>
            <p:spPr>
              <a:xfrm>
                <a:off x="5558910" y="4310590"/>
                <a:ext cx="217170" cy="366395"/>
              </a:xfrm>
              <a:custGeom>
                <a:avLst/>
                <a:gdLst/>
                <a:ahLst/>
                <a:cxnLst/>
                <a:rect l="l" t="t" r="r" b="b"/>
                <a:pathLst>
                  <a:path w="217170" h="366395">
                    <a:moveTo>
                      <a:pt x="216566" y="0"/>
                    </a:moveTo>
                    <a:lnTo>
                      <a:pt x="0" y="0"/>
                    </a:lnTo>
                    <a:lnTo>
                      <a:pt x="0" y="366092"/>
                    </a:lnTo>
                    <a:lnTo>
                      <a:pt x="216566" y="366092"/>
                    </a:lnTo>
                    <a:lnTo>
                      <a:pt x="216566" y="0"/>
                    </a:lnTo>
                    <a:close/>
                  </a:path>
                </a:pathLst>
              </a:custGeom>
              <a:solidFill>
                <a:srgbClr val="0099FF"/>
              </a:solidFill>
            </p:spPr>
            <p:txBody>
              <a:bodyPr wrap="square" lIns="0" tIns="0" rIns="0" bIns="0" rtlCol="0"/>
              <a:lstStyle/>
              <a:p>
                <a:endParaRPr sz="1588"/>
              </a:p>
            </p:txBody>
          </p:sp>
          <p:sp>
            <p:nvSpPr>
              <p:cNvPr id="76" name="object 76"/>
              <p:cNvSpPr/>
              <p:nvPr/>
            </p:nvSpPr>
            <p:spPr>
              <a:xfrm>
                <a:off x="5342342" y="4310590"/>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77" name="object 77"/>
            <p:cNvSpPr txBox="1"/>
            <p:nvPr/>
          </p:nvSpPr>
          <p:spPr>
            <a:xfrm>
              <a:off x="4919102" y="3849329"/>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8" name="object 78"/>
            <p:cNvGrpSpPr/>
            <p:nvPr/>
          </p:nvGrpSpPr>
          <p:grpSpPr>
            <a:xfrm>
              <a:off x="5218482" y="3692616"/>
              <a:ext cx="718296" cy="547968"/>
              <a:chOff x="5761879" y="4184965"/>
              <a:chExt cx="814069" cy="621030"/>
            </a:xfrm>
          </p:grpSpPr>
          <p:sp>
            <p:nvSpPr>
              <p:cNvPr id="79" name="object 79"/>
              <p:cNvSpPr/>
              <p:nvPr/>
            </p:nvSpPr>
            <p:spPr>
              <a:xfrm>
                <a:off x="5777437" y="4385301"/>
                <a:ext cx="478790" cy="220979"/>
              </a:xfrm>
              <a:custGeom>
                <a:avLst/>
                <a:gdLst/>
                <a:ahLst/>
                <a:cxnLst/>
                <a:rect l="l" t="t" r="r" b="b"/>
                <a:pathLst>
                  <a:path w="478789" h="220979">
                    <a:moveTo>
                      <a:pt x="166345" y="0"/>
                    </a:moveTo>
                    <a:lnTo>
                      <a:pt x="478211" y="0"/>
                    </a:lnTo>
                  </a:path>
                  <a:path w="478789" h="220979">
                    <a:moveTo>
                      <a:pt x="0" y="0"/>
                    </a:moveTo>
                    <a:lnTo>
                      <a:pt x="78750" y="0"/>
                    </a:lnTo>
                  </a:path>
                  <a:path w="478789" h="220979">
                    <a:moveTo>
                      <a:pt x="166345" y="220958"/>
                    </a:moveTo>
                    <a:lnTo>
                      <a:pt x="478211" y="220958"/>
                    </a:lnTo>
                  </a:path>
                  <a:path w="478789" h="220979">
                    <a:moveTo>
                      <a:pt x="0" y="220958"/>
                    </a:moveTo>
                    <a:lnTo>
                      <a:pt x="78750" y="220958"/>
                    </a:lnTo>
                  </a:path>
                </a:pathLst>
              </a:custGeom>
              <a:ln w="30745">
                <a:solidFill>
                  <a:srgbClr val="000000"/>
                </a:solidFill>
              </a:ln>
            </p:spPr>
            <p:txBody>
              <a:bodyPr wrap="square" lIns="0" tIns="0" rIns="0" bIns="0" rtlCol="0"/>
              <a:lstStyle/>
              <a:p>
                <a:endParaRPr sz="1588"/>
              </a:p>
            </p:txBody>
          </p:sp>
          <p:sp>
            <p:nvSpPr>
              <p:cNvPr id="80" name="object 80"/>
              <p:cNvSpPr/>
              <p:nvPr/>
            </p:nvSpPr>
            <p:spPr>
              <a:xfrm>
                <a:off x="6193858" y="4200522"/>
                <a:ext cx="366395" cy="589915"/>
              </a:xfrm>
              <a:custGeom>
                <a:avLst/>
                <a:gdLst/>
                <a:ahLst/>
                <a:cxnLst/>
                <a:rect l="l" t="t" r="r" b="b"/>
                <a:pathLst>
                  <a:path w="366395" h="589914">
                    <a:moveTo>
                      <a:pt x="0" y="0"/>
                    </a:moveTo>
                    <a:lnTo>
                      <a:pt x="0" y="589747"/>
                    </a:lnTo>
                    <a:lnTo>
                      <a:pt x="366115" y="442310"/>
                    </a:lnTo>
                    <a:lnTo>
                      <a:pt x="366115" y="147436"/>
                    </a:lnTo>
                    <a:lnTo>
                      <a:pt x="0" y="0"/>
                    </a:lnTo>
                    <a:close/>
                  </a:path>
                </a:pathLst>
              </a:custGeom>
              <a:solidFill>
                <a:srgbClr val="FFFFFF"/>
              </a:solidFill>
            </p:spPr>
            <p:txBody>
              <a:bodyPr wrap="square" lIns="0" tIns="0" rIns="0" bIns="0" rtlCol="0"/>
              <a:lstStyle/>
              <a:p>
                <a:endParaRPr sz="1588"/>
              </a:p>
            </p:txBody>
          </p:sp>
          <p:sp>
            <p:nvSpPr>
              <p:cNvPr id="81" name="object 81"/>
              <p:cNvSpPr/>
              <p:nvPr/>
            </p:nvSpPr>
            <p:spPr>
              <a:xfrm>
                <a:off x="6193858" y="4200522"/>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82" name="object 82"/>
              <p:cNvSpPr/>
              <p:nvPr/>
            </p:nvSpPr>
            <p:spPr>
              <a:xfrm>
                <a:off x="6169415" y="4400560"/>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83" name="object 83"/>
              <p:cNvSpPr/>
              <p:nvPr/>
            </p:nvSpPr>
            <p:spPr>
              <a:xfrm>
                <a:off x="6193858" y="4411694"/>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84" name="object 84"/>
            <p:cNvSpPr txBox="1"/>
            <p:nvPr/>
          </p:nvSpPr>
          <p:spPr>
            <a:xfrm>
              <a:off x="5718719" y="3808651"/>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85" name="object 85"/>
            <p:cNvGrpSpPr/>
            <p:nvPr/>
          </p:nvGrpSpPr>
          <p:grpSpPr>
            <a:xfrm>
              <a:off x="5911935" y="3791137"/>
              <a:ext cx="1060076" cy="352985"/>
              <a:chOff x="6547793" y="4296622"/>
              <a:chExt cx="1201420" cy="400050"/>
            </a:xfrm>
          </p:grpSpPr>
          <p:sp>
            <p:nvSpPr>
              <p:cNvPr id="86" name="object 86"/>
              <p:cNvSpPr/>
              <p:nvPr/>
            </p:nvSpPr>
            <p:spPr>
              <a:xfrm>
                <a:off x="6563350" y="4496575"/>
                <a:ext cx="1170305" cy="0"/>
              </a:xfrm>
              <a:custGeom>
                <a:avLst/>
                <a:gdLst/>
                <a:ahLst/>
                <a:cxnLst/>
                <a:rect l="l" t="t" r="r" b="b"/>
                <a:pathLst>
                  <a:path w="1170304">
                    <a:moveTo>
                      <a:pt x="0" y="0"/>
                    </a:moveTo>
                    <a:lnTo>
                      <a:pt x="173659" y="0"/>
                    </a:lnTo>
                  </a:path>
                  <a:path w="1170304">
                    <a:moveTo>
                      <a:pt x="260040" y="0"/>
                    </a:moveTo>
                    <a:lnTo>
                      <a:pt x="352463" y="0"/>
                    </a:lnTo>
                  </a:path>
                  <a:path w="1170304">
                    <a:moveTo>
                      <a:pt x="1064216" y="0"/>
                    </a:moveTo>
                    <a:lnTo>
                      <a:pt x="1170051" y="0"/>
                    </a:lnTo>
                  </a:path>
                  <a:path w="1170304">
                    <a:moveTo>
                      <a:pt x="786528" y="0"/>
                    </a:moveTo>
                    <a:lnTo>
                      <a:pt x="976621" y="0"/>
                    </a:lnTo>
                  </a:path>
                </a:pathLst>
              </a:custGeom>
              <a:ln w="30745">
                <a:solidFill>
                  <a:srgbClr val="000000"/>
                </a:solidFill>
              </a:ln>
            </p:spPr>
            <p:txBody>
              <a:bodyPr wrap="square" lIns="0" tIns="0" rIns="0" bIns="0" rtlCol="0"/>
              <a:lstStyle/>
              <a:p>
                <a:endParaRPr sz="1588"/>
              </a:p>
            </p:txBody>
          </p:sp>
          <p:sp>
            <p:nvSpPr>
              <p:cNvPr id="87" name="object 87"/>
              <p:cNvSpPr/>
              <p:nvPr/>
            </p:nvSpPr>
            <p:spPr>
              <a:xfrm>
                <a:off x="6915813" y="4312179"/>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88" name="object 88"/>
            <p:cNvSpPr txBox="1"/>
            <p:nvPr/>
          </p:nvSpPr>
          <p:spPr>
            <a:xfrm>
              <a:off x="6229568" y="3849329"/>
              <a:ext cx="392206" cy="174309"/>
            </a:xfrm>
            <a:prstGeom prst="rect">
              <a:avLst/>
            </a:prstGeom>
          </p:spPr>
          <p:txBody>
            <a:bodyPr vert="horz" wrap="square" lIns="0" tIns="11206" rIns="0" bIns="0" rtlCol="0">
              <a:spAutoFit/>
            </a:bodyPr>
            <a:lstStyle/>
            <a:p>
              <a:pPr>
                <a:spcBef>
                  <a:spcPts val="88"/>
                </a:spcBef>
              </a:pPr>
              <a:r>
                <a:rPr sz="1059" b="1" spc="-26" dirty="0">
                  <a:latin typeface="Times New Roman"/>
                  <a:cs typeface="Times New Roman"/>
                </a:rPr>
                <a:t>DMem</a:t>
              </a:r>
              <a:endParaRPr sz="1059">
                <a:latin typeface="Times New Roman"/>
                <a:cs typeface="Times New Roman"/>
              </a:endParaRPr>
            </a:p>
          </p:txBody>
        </p:sp>
        <p:grpSp>
          <p:nvGrpSpPr>
            <p:cNvPr id="89" name="object 89"/>
            <p:cNvGrpSpPr/>
            <p:nvPr/>
          </p:nvGrpSpPr>
          <p:grpSpPr>
            <a:xfrm>
              <a:off x="4470955" y="3855657"/>
              <a:ext cx="2312334" cy="385482"/>
              <a:chOff x="4914682" y="4369744"/>
              <a:chExt cx="2620645" cy="436880"/>
            </a:xfrm>
          </p:grpSpPr>
          <p:sp>
            <p:nvSpPr>
              <p:cNvPr id="90" name="object 90"/>
              <p:cNvSpPr/>
              <p:nvPr/>
            </p:nvSpPr>
            <p:spPr>
              <a:xfrm>
                <a:off x="6869093" y="4496574"/>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91" name="object 91"/>
              <p:cNvSpPr/>
              <p:nvPr/>
            </p:nvSpPr>
            <p:spPr>
              <a:xfrm>
                <a:off x="4930240" y="4385301"/>
                <a:ext cx="412115" cy="222885"/>
              </a:xfrm>
              <a:custGeom>
                <a:avLst/>
                <a:gdLst/>
                <a:ahLst/>
                <a:cxnLst/>
                <a:rect l="l" t="t" r="r" b="b"/>
                <a:pathLst>
                  <a:path w="412114" h="222885">
                    <a:moveTo>
                      <a:pt x="0" y="222547"/>
                    </a:moveTo>
                    <a:lnTo>
                      <a:pt x="118120" y="222547"/>
                    </a:lnTo>
                  </a:path>
                  <a:path w="412114" h="222885">
                    <a:moveTo>
                      <a:pt x="205715" y="222547"/>
                    </a:moveTo>
                    <a:lnTo>
                      <a:pt x="412103" y="222547"/>
                    </a:lnTo>
                  </a:path>
                  <a:path w="412114" h="222885">
                    <a:moveTo>
                      <a:pt x="205715" y="0"/>
                    </a:moveTo>
                    <a:lnTo>
                      <a:pt x="410143" y="0"/>
                    </a:lnTo>
                  </a:path>
                  <a:path w="412114" h="222885">
                    <a:moveTo>
                      <a:pt x="0" y="0"/>
                    </a:moveTo>
                    <a:lnTo>
                      <a:pt x="118120" y="0"/>
                    </a:lnTo>
                  </a:path>
                </a:pathLst>
              </a:custGeom>
              <a:ln w="30745">
                <a:solidFill>
                  <a:srgbClr val="000000"/>
                </a:solidFill>
              </a:ln>
            </p:spPr>
            <p:txBody>
              <a:bodyPr wrap="square" lIns="0" tIns="0" rIns="0" bIns="0" rtlCol="0"/>
              <a:lstStyle/>
              <a:p>
                <a:endParaRPr sz="1588"/>
              </a:p>
            </p:txBody>
          </p:sp>
        </p:grpSp>
        <p:sp>
          <p:nvSpPr>
            <p:cNvPr id="92" name="object 92"/>
            <p:cNvSpPr txBox="1"/>
            <p:nvPr/>
          </p:nvSpPr>
          <p:spPr>
            <a:xfrm>
              <a:off x="4099978" y="3804864"/>
              <a:ext cx="384922" cy="219004"/>
            </a:xfrm>
            <a:prstGeom prst="rect">
              <a:avLst/>
            </a:prstGeom>
            <a:ln w="30733">
              <a:solidFill>
                <a:srgbClr val="000000"/>
              </a:solidFill>
            </a:ln>
          </p:spPr>
          <p:txBody>
            <a:bodyPr vert="horz" wrap="square" lIns="0" tIns="55469" rIns="0" bIns="0" rtlCol="0">
              <a:spAutoFit/>
            </a:bodyPr>
            <a:lstStyle/>
            <a:p>
              <a:pPr marL="27456">
                <a:spcBef>
                  <a:spcPts val="437"/>
                </a:spcBef>
              </a:pPr>
              <a:r>
                <a:rPr sz="1059" b="1" spc="-9" dirty="0">
                  <a:latin typeface="Times New Roman"/>
                  <a:cs typeface="Times New Roman"/>
                </a:rPr>
                <a:t>Ifetch</a:t>
              </a:r>
              <a:endParaRPr sz="1059">
                <a:latin typeface="Times New Roman"/>
                <a:cs typeface="Times New Roman"/>
              </a:endParaRPr>
            </a:p>
          </p:txBody>
        </p:sp>
        <p:grpSp>
          <p:nvGrpSpPr>
            <p:cNvPr id="93" name="object 93"/>
            <p:cNvGrpSpPr/>
            <p:nvPr/>
          </p:nvGrpSpPr>
          <p:grpSpPr>
            <a:xfrm>
              <a:off x="4575178" y="3643864"/>
              <a:ext cx="2782421" cy="646019"/>
              <a:chOff x="5032802" y="4129712"/>
              <a:chExt cx="3153410" cy="732155"/>
            </a:xfrm>
          </p:grpSpPr>
          <p:sp>
            <p:nvSpPr>
              <p:cNvPr id="94" name="object 94"/>
              <p:cNvSpPr/>
              <p:nvPr/>
            </p:nvSpPr>
            <p:spPr>
              <a:xfrm>
                <a:off x="5856187" y="4145269"/>
                <a:ext cx="87630" cy="701040"/>
              </a:xfrm>
              <a:custGeom>
                <a:avLst/>
                <a:gdLst/>
                <a:ahLst/>
                <a:cxnLst/>
                <a:rect l="l" t="t" r="r" b="b"/>
                <a:pathLst>
                  <a:path w="87629" h="701039">
                    <a:moveTo>
                      <a:pt x="87595" y="0"/>
                    </a:moveTo>
                    <a:lnTo>
                      <a:pt x="0" y="0"/>
                    </a:lnTo>
                    <a:lnTo>
                      <a:pt x="0" y="701020"/>
                    </a:lnTo>
                    <a:lnTo>
                      <a:pt x="87595" y="701020"/>
                    </a:lnTo>
                    <a:lnTo>
                      <a:pt x="87595" y="0"/>
                    </a:lnTo>
                    <a:close/>
                  </a:path>
                </a:pathLst>
              </a:custGeom>
              <a:solidFill>
                <a:srgbClr val="00FF00"/>
              </a:solidFill>
            </p:spPr>
            <p:txBody>
              <a:bodyPr wrap="square" lIns="0" tIns="0" rIns="0" bIns="0" rtlCol="0"/>
              <a:lstStyle/>
              <a:p>
                <a:endParaRPr sz="1588"/>
              </a:p>
            </p:txBody>
          </p:sp>
          <p:sp>
            <p:nvSpPr>
              <p:cNvPr id="95" name="object 95"/>
              <p:cNvSpPr/>
              <p:nvPr/>
            </p:nvSpPr>
            <p:spPr>
              <a:xfrm>
                <a:off x="5856187" y="4145269"/>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96" name="object 96"/>
              <p:cNvSpPr/>
              <p:nvPr/>
            </p:nvSpPr>
            <p:spPr>
              <a:xfrm>
                <a:off x="7539972" y="4145269"/>
                <a:ext cx="87630" cy="701040"/>
              </a:xfrm>
              <a:custGeom>
                <a:avLst/>
                <a:gdLst/>
                <a:ahLst/>
                <a:cxnLst/>
                <a:rect l="l" t="t" r="r" b="b"/>
                <a:pathLst>
                  <a:path w="87629" h="701039">
                    <a:moveTo>
                      <a:pt x="87595" y="0"/>
                    </a:moveTo>
                    <a:lnTo>
                      <a:pt x="0" y="0"/>
                    </a:lnTo>
                    <a:lnTo>
                      <a:pt x="0" y="701020"/>
                    </a:lnTo>
                    <a:lnTo>
                      <a:pt x="87595" y="701020"/>
                    </a:lnTo>
                    <a:lnTo>
                      <a:pt x="87595" y="0"/>
                    </a:lnTo>
                    <a:close/>
                  </a:path>
                </a:pathLst>
              </a:custGeom>
              <a:solidFill>
                <a:srgbClr val="00FF00"/>
              </a:solidFill>
            </p:spPr>
            <p:txBody>
              <a:bodyPr wrap="square" lIns="0" tIns="0" rIns="0" bIns="0" rtlCol="0"/>
              <a:lstStyle/>
              <a:p>
                <a:endParaRPr sz="1588"/>
              </a:p>
            </p:txBody>
          </p:sp>
          <p:sp>
            <p:nvSpPr>
              <p:cNvPr id="97" name="object 97"/>
              <p:cNvSpPr/>
              <p:nvPr/>
            </p:nvSpPr>
            <p:spPr>
              <a:xfrm>
                <a:off x="7539972" y="4145269"/>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98" name="object 98"/>
              <p:cNvSpPr/>
              <p:nvPr/>
            </p:nvSpPr>
            <p:spPr>
              <a:xfrm>
                <a:off x="5048360" y="4145269"/>
                <a:ext cx="87630" cy="701040"/>
              </a:xfrm>
              <a:custGeom>
                <a:avLst/>
                <a:gdLst/>
                <a:ahLst/>
                <a:cxnLst/>
                <a:rect l="l" t="t" r="r" b="b"/>
                <a:pathLst>
                  <a:path w="87629" h="701039">
                    <a:moveTo>
                      <a:pt x="87595" y="0"/>
                    </a:moveTo>
                    <a:lnTo>
                      <a:pt x="0" y="0"/>
                    </a:lnTo>
                    <a:lnTo>
                      <a:pt x="0" y="701020"/>
                    </a:lnTo>
                    <a:lnTo>
                      <a:pt x="87595" y="701020"/>
                    </a:lnTo>
                    <a:lnTo>
                      <a:pt x="87595" y="0"/>
                    </a:lnTo>
                    <a:close/>
                  </a:path>
                </a:pathLst>
              </a:custGeom>
              <a:solidFill>
                <a:srgbClr val="00FF00"/>
              </a:solidFill>
            </p:spPr>
            <p:txBody>
              <a:bodyPr wrap="square" lIns="0" tIns="0" rIns="0" bIns="0" rtlCol="0"/>
              <a:lstStyle/>
              <a:p>
                <a:endParaRPr sz="1588"/>
              </a:p>
            </p:txBody>
          </p:sp>
          <p:sp>
            <p:nvSpPr>
              <p:cNvPr id="99" name="object 99"/>
              <p:cNvSpPr/>
              <p:nvPr/>
            </p:nvSpPr>
            <p:spPr>
              <a:xfrm>
                <a:off x="5048360" y="4145269"/>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00" name="object 100"/>
              <p:cNvSpPr/>
              <p:nvPr/>
            </p:nvSpPr>
            <p:spPr>
              <a:xfrm>
                <a:off x="6737010" y="4149387"/>
                <a:ext cx="86995" cy="692150"/>
              </a:xfrm>
              <a:custGeom>
                <a:avLst/>
                <a:gdLst/>
                <a:ahLst/>
                <a:cxnLst/>
                <a:rect l="l" t="t" r="r" b="b"/>
                <a:pathLst>
                  <a:path w="86995" h="692150">
                    <a:moveTo>
                      <a:pt x="86380" y="0"/>
                    </a:moveTo>
                    <a:lnTo>
                      <a:pt x="0" y="0"/>
                    </a:lnTo>
                    <a:lnTo>
                      <a:pt x="0" y="691756"/>
                    </a:lnTo>
                    <a:lnTo>
                      <a:pt x="86380" y="691756"/>
                    </a:lnTo>
                    <a:lnTo>
                      <a:pt x="86380" y="0"/>
                    </a:lnTo>
                    <a:close/>
                  </a:path>
                </a:pathLst>
              </a:custGeom>
              <a:solidFill>
                <a:srgbClr val="00FF00"/>
              </a:solidFill>
            </p:spPr>
            <p:txBody>
              <a:bodyPr wrap="square" lIns="0" tIns="0" rIns="0" bIns="0" rtlCol="0"/>
              <a:lstStyle/>
              <a:p>
                <a:endParaRPr sz="1588"/>
              </a:p>
            </p:txBody>
          </p:sp>
          <p:sp>
            <p:nvSpPr>
              <p:cNvPr id="101" name="object 101"/>
              <p:cNvSpPr/>
              <p:nvPr/>
            </p:nvSpPr>
            <p:spPr>
              <a:xfrm>
                <a:off x="6737010" y="4149387"/>
                <a:ext cx="86995" cy="692150"/>
              </a:xfrm>
              <a:custGeom>
                <a:avLst/>
                <a:gdLst/>
                <a:ahLst/>
                <a:cxnLst/>
                <a:rect l="l" t="t" r="r" b="b"/>
                <a:pathLst>
                  <a:path w="86995" h="692150">
                    <a:moveTo>
                      <a:pt x="0" y="0"/>
                    </a:moveTo>
                    <a:lnTo>
                      <a:pt x="86379" y="0"/>
                    </a:lnTo>
                    <a:lnTo>
                      <a:pt x="86379"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102" name="object 102"/>
              <p:cNvSpPr/>
              <p:nvPr/>
            </p:nvSpPr>
            <p:spPr>
              <a:xfrm>
                <a:off x="7733401" y="4297873"/>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103" name="object 103"/>
              <p:cNvSpPr/>
              <p:nvPr/>
            </p:nvSpPr>
            <p:spPr>
              <a:xfrm>
                <a:off x="7733401" y="4297872"/>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104" name="object 104"/>
            <p:cNvSpPr txBox="1"/>
            <p:nvPr/>
          </p:nvSpPr>
          <p:spPr>
            <a:xfrm>
              <a:off x="7032210" y="3835881"/>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5" name="object 105"/>
            <p:cNvGrpSpPr/>
            <p:nvPr/>
          </p:nvGrpSpPr>
          <p:grpSpPr>
            <a:xfrm>
              <a:off x="5547856" y="4530308"/>
              <a:ext cx="410135" cy="354666"/>
              <a:chOff x="6135170" y="5134349"/>
              <a:chExt cx="464820" cy="401955"/>
            </a:xfrm>
          </p:grpSpPr>
          <p:sp>
            <p:nvSpPr>
              <p:cNvPr id="106" name="object 106"/>
              <p:cNvSpPr/>
              <p:nvPr/>
            </p:nvSpPr>
            <p:spPr>
              <a:xfrm>
                <a:off x="6367295" y="5149907"/>
                <a:ext cx="217170" cy="366395"/>
              </a:xfrm>
              <a:custGeom>
                <a:avLst/>
                <a:gdLst/>
                <a:ahLst/>
                <a:cxnLst/>
                <a:rect l="l" t="t" r="r" b="b"/>
                <a:pathLst>
                  <a:path w="217170" h="366395">
                    <a:moveTo>
                      <a:pt x="216566" y="0"/>
                    </a:moveTo>
                    <a:lnTo>
                      <a:pt x="0" y="0"/>
                    </a:lnTo>
                    <a:lnTo>
                      <a:pt x="0" y="366094"/>
                    </a:lnTo>
                    <a:lnTo>
                      <a:pt x="216566" y="366094"/>
                    </a:lnTo>
                    <a:lnTo>
                      <a:pt x="216566" y="0"/>
                    </a:lnTo>
                    <a:close/>
                  </a:path>
                </a:pathLst>
              </a:custGeom>
              <a:solidFill>
                <a:srgbClr val="0099FF"/>
              </a:solidFill>
            </p:spPr>
            <p:txBody>
              <a:bodyPr wrap="square" lIns="0" tIns="0" rIns="0" bIns="0" rtlCol="0"/>
              <a:lstStyle/>
              <a:p>
                <a:endParaRPr sz="1588"/>
              </a:p>
            </p:txBody>
          </p:sp>
          <p:sp>
            <p:nvSpPr>
              <p:cNvPr id="107" name="object 107"/>
              <p:cNvSpPr/>
              <p:nvPr/>
            </p:nvSpPr>
            <p:spPr>
              <a:xfrm>
                <a:off x="6150727" y="5149907"/>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108" name="object 108"/>
            <p:cNvSpPr txBox="1"/>
            <p:nvPr/>
          </p:nvSpPr>
          <p:spPr>
            <a:xfrm>
              <a:off x="5632384" y="4588917"/>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9" name="object 109"/>
            <p:cNvGrpSpPr/>
            <p:nvPr/>
          </p:nvGrpSpPr>
          <p:grpSpPr>
            <a:xfrm>
              <a:off x="5931763" y="4433189"/>
              <a:ext cx="718296" cy="547968"/>
              <a:chOff x="6570264" y="5024281"/>
              <a:chExt cx="814069" cy="621030"/>
            </a:xfrm>
          </p:grpSpPr>
          <p:sp>
            <p:nvSpPr>
              <p:cNvPr id="110" name="object 110"/>
              <p:cNvSpPr/>
              <p:nvPr/>
            </p:nvSpPr>
            <p:spPr>
              <a:xfrm>
                <a:off x="6585822" y="5224619"/>
                <a:ext cx="478790" cy="220979"/>
              </a:xfrm>
              <a:custGeom>
                <a:avLst/>
                <a:gdLst/>
                <a:ahLst/>
                <a:cxnLst/>
                <a:rect l="l" t="t" r="r" b="b"/>
                <a:pathLst>
                  <a:path w="478790" h="220979">
                    <a:moveTo>
                      <a:pt x="0" y="0"/>
                    </a:moveTo>
                    <a:lnTo>
                      <a:pt x="151909" y="0"/>
                    </a:lnTo>
                  </a:path>
                  <a:path w="478790" h="220979">
                    <a:moveTo>
                      <a:pt x="239520" y="0"/>
                    </a:moveTo>
                    <a:lnTo>
                      <a:pt x="478211" y="0"/>
                    </a:lnTo>
                  </a:path>
                  <a:path w="478790" h="220979">
                    <a:moveTo>
                      <a:pt x="0" y="220957"/>
                    </a:moveTo>
                    <a:lnTo>
                      <a:pt x="151909" y="220957"/>
                    </a:lnTo>
                  </a:path>
                  <a:path w="478790" h="220979">
                    <a:moveTo>
                      <a:pt x="239520" y="220957"/>
                    </a:moveTo>
                    <a:lnTo>
                      <a:pt x="478211" y="220957"/>
                    </a:lnTo>
                  </a:path>
                </a:pathLst>
              </a:custGeom>
              <a:ln w="30745">
                <a:solidFill>
                  <a:srgbClr val="000000"/>
                </a:solidFill>
              </a:ln>
            </p:spPr>
            <p:txBody>
              <a:bodyPr wrap="square" lIns="0" tIns="0" rIns="0" bIns="0" rtlCol="0"/>
              <a:lstStyle/>
              <a:p>
                <a:endParaRPr sz="1588"/>
              </a:p>
            </p:txBody>
          </p:sp>
          <p:sp>
            <p:nvSpPr>
              <p:cNvPr id="111" name="object 111"/>
              <p:cNvSpPr/>
              <p:nvPr/>
            </p:nvSpPr>
            <p:spPr>
              <a:xfrm>
                <a:off x="7002242" y="5039838"/>
                <a:ext cx="366395" cy="589915"/>
              </a:xfrm>
              <a:custGeom>
                <a:avLst/>
                <a:gdLst/>
                <a:ahLst/>
                <a:cxnLst/>
                <a:rect l="l" t="t" r="r" b="b"/>
                <a:pathLst>
                  <a:path w="366395" h="589914">
                    <a:moveTo>
                      <a:pt x="0" y="0"/>
                    </a:moveTo>
                    <a:lnTo>
                      <a:pt x="0" y="589747"/>
                    </a:lnTo>
                    <a:lnTo>
                      <a:pt x="366116" y="442310"/>
                    </a:lnTo>
                    <a:lnTo>
                      <a:pt x="366116" y="147436"/>
                    </a:lnTo>
                    <a:lnTo>
                      <a:pt x="0" y="0"/>
                    </a:lnTo>
                    <a:close/>
                  </a:path>
                </a:pathLst>
              </a:custGeom>
              <a:solidFill>
                <a:srgbClr val="FFFFFF"/>
              </a:solidFill>
            </p:spPr>
            <p:txBody>
              <a:bodyPr wrap="square" lIns="0" tIns="0" rIns="0" bIns="0" rtlCol="0"/>
              <a:lstStyle/>
              <a:p>
                <a:endParaRPr sz="1588"/>
              </a:p>
            </p:txBody>
          </p:sp>
          <p:sp>
            <p:nvSpPr>
              <p:cNvPr id="112" name="object 112"/>
              <p:cNvSpPr/>
              <p:nvPr/>
            </p:nvSpPr>
            <p:spPr>
              <a:xfrm>
                <a:off x="7002242" y="5039838"/>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113" name="object 113"/>
              <p:cNvSpPr/>
              <p:nvPr/>
            </p:nvSpPr>
            <p:spPr>
              <a:xfrm>
                <a:off x="6977800" y="5239877"/>
                <a:ext cx="195580" cy="190500"/>
              </a:xfrm>
              <a:custGeom>
                <a:avLst/>
                <a:gdLst/>
                <a:ahLst/>
                <a:cxnLst/>
                <a:rect l="l" t="t" r="r" b="b"/>
                <a:pathLst>
                  <a:path w="195579" h="190500">
                    <a:moveTo>
                      <a:pt x="0" y="0"/>
                    </a:moveTo>
                    <a:lnTo>
                      <a:pt x="0" y="190437"/>
                    </a:lnTo>
                    <a:lnTo>
                      <a:pt x="195550" y="95219"/>
                    </a:lnTo>
                    <a:lnTo>
                      <a:pt x="0" y="0"/>
                    </a:lnTo>
                    <a:close/>
                  </a:path>
                </a:pathLst>
              </a:custGeom>
              <a:solidFill>
                <a:srgbClr val="FFFFFF"/>
              </a:solidFill>
            </p:spPr>
            <p:txBody>
              <a:bodyPr wrap="square" lIns="0" tIns="0" rIns="0" bIns="0" rtlCol="0"/>
              <a:lstStyle/>
              <a:p>
                <a:endParaRPr sz="1588"/>
              </a:p>
            </p:txBody>
          </p:sp>
          <p:sp>
            <p:nvSpPr>
              <p:cNvPr id="114" name="object 114"/>
              <p:cNvSpPr/>
              <p:nvPr/>
            </p:nvSpPr>
            <p:spPr>
              <a:xfrm>
                <a:off x="7002243" y="5251011"/>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115" name="object 115"/>
            <p:cNvSpPr txBox="1"/>
            <p:nvPr/>
          </p:nvSpPr>
          <p:spPr>
            <a:xfrm>
              <a:off x="6431996" y="4550929"/>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16" name="object 116"/>
            <p:cNvGrpSpPr/>
            <p:nvPr/>
          </p:nvGrpSpPr>
          <p:grpSpPr>
            <a:xfrm>
              <a:off x="6625216" y="4531710"/>
              <a:ext cx="1060076" cy="352985"/>
              <a:chOff x="7356178" y="5135938"/>
              <a:chExt cx="1201420" cy="400050"/>
            </a:xfrm>
          </p:grpSpPr>
          <p:sp>
            <p:nvSpPr>
              <p:cNvPr id="117" name="object 117"/>
              <p:cNvSpPr/>
              <p:nvPr/>
            </p:nvSpPr>
            <p:spPr>
              <a:xfrm>
                <a:off x="7371736" y="5335892"/>
                <a:ext cx="1170305" cy="0"/>
              </a:xfrm>
              <a:custGeom>
                <a:avLst/>
                <a:gdLst/>
                <a:ahLst/>
                <a:cxnLst/>
                <a:rect l="l" t="t" r="r" b="b"/>
                <a:pathLst>
                  <a:path w="1170304">
                    <a:moveTo>
                      <a:pt x="0" y="0"/>
                    </a:moveTo>
                    <a:lnTo>
                      <a:pt x="169103" y="0"/>
                    </a:lnTo>
                  </a:path>
                  <a:path w="1170304">
                    <a:moveTo>
                      <a:pt x="255497" y="0"/>
                    </a:moveTo>
                    <a:lnTo>
                      <a:pt x="352461" y="0"/>
                    </a:lnTo>
                  </a:path>
                  <a:path w="1170304">
                    <a:moveTo>
                      <a:pt x="829030" y="0"/>
                    </a:moveTo>
                    <a:lnTo>
                      <a:pt x="974646" y="0"/>
                    </a:lnTo>
                  </a:path>
                  <a:path w="1170304">
                    <a:moveTo>
                      <a:pt x="1062257" y="0"/>
                    </a:moveTo>
                    <a:lnTo>
                      <a:pt x="1170051" y="0"/>
                    </a:lnTo>
                  </a:path>
                </a:pathLst>
              </a:custGeom>
              <a:ln w="30745">
                <a:solidFill>
                  <a:srgbClr val="000000"/>
                </a:solidFill>
              </a:ln>
            </p:spPr>
            <p:txBody>
              <a:bodyPr wrap="square" lIns="0" tIns="0" rIns="0" bIns="0" rtlCol="0"/>
              <a:lstStyle/>
              <a:p>
                <a:endParaRPr sz="1588"/>
              </a:p>
            </p:txBody>
          </p:sp>
          <p:sp>
            <p:nvSpPr>
              <p:cNvPr id="118" name="object 118"/>
              <p:cNvSpPr/>
              <p:nvPr/>
            </p:nvSpPr>
            <p:spPr>
              <a:xfrm>
                <a:off x="7724198" y="5151495"/>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119" name="object 119"/>
            <p:cNvSpPr txBox="1"/>
            <p:nvPr/>
          </p:nvSpPr>
          <p:spPr>
            <a:xfrm>
              <a:off x="6942850" y="4591607"/>
              <a:ext cx="392206" cy="174309"/>
            </a:xfrm>
            <a:prstGeom prst="rect">
              <a:avLst/>
            </a:prstGeom>
          </p:spPr>
          <p:txBody>
            <a:bodyPr vert="horz" wrap="square" lIns="0" tIns="11206" rIns="0" bIns="0" rtlCol="0">
              <a:spAutoFit/>
            </a:bodyPr>
            <a:lstStyle/>
            <a:p>
              <a:pPr>
                <a:spcBef>
                  <a:spcPts val="88"/>
                </a:spcBef>
              </a:pPr>
              <a:r>
                <a:rPr sz="1059" b="1" spc="-26" dirty="0">
                  <a:latin typeface="Times New Roman"/>
                  <a:cs typeface="Times New Roman"/>
                </a:rPr>
                <a:t>DMem</a:t>
              </a:r>
              <a:endParaRPr sz="1059">
                <a:latin typeface="Times New Roman"/>
                <a:cs typeface="Times New Roman"/>
              </a:endParaRPr>
            </a:p>
          </p:txBody>
        </p:sp>
        <p:grpSp>
          <p:nvGrpSpPr>
            <p:cNvPr id="120" name="object 120"/>
            <p:cNvGrpSpPr/>
            <p:nvPr/>
          </p:nvGrpSpPr>
          <p:grpSpPr>
            <a:xfrm>
              <a:off x="5179468" y="4596230"/>
              <a:ext cx="2317376" cy="385482"/>
              <a:chOff x="5717663" y="5209061"/>
              <a:chExt cx="2626360" cy="436880"/>
            </a:xfrm>
          </p:grpSpPr>
          <p:sp>
            <p:nvSpPr>
              <p:cNvPr id="121" name="object 121"/>
              <p:cNvSpPr/>
              <p:nvPr/>
            </p:nvSpPr>
            <p:spPr>
              <a:xfrm>
                <a:off x="7677478" y="5335892"/>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122" name="object 122"/>
              <p:cNvSpPr/>
              <p:nvPr/>
            </p:nvSpPr>
            <p:spPr>
              <a:xfrm>
                <a:off x="5733220" y="5224619"/>
                <a:ext cx="417830" cy="222885"/>
              </a:xfrm>
              <a:custGeom>
                <a:avLst/>
                <a:gdLst/>
                <a:ahLst/>
                <a:cxnLst/>
                <a:rect l="l" t="t" r="r" b="b"/>
                <a:pathLst>
                  <a:path w="417829" h="222885">
                    <a:moveTo>
                      <a:pt x="0" y="222545"/>
                    </a:moveTo>
                    <a:lnTo>
                      <a:pt x="123525" y="222545"/>
                    </a:lnTo>
                  </a:path>
                  <a:path w="417829" h="222885">
                    <a:moveTo>
                      <a:pt x="211136" y="222545"/>
                    </a:moveTo>
                    <a:lnTo>
                      <a:pt x="417506" y="222545"/>
                    </a:lnTo>
                  </a:path>
                  <a:path w="417829" h="222885">
                    <a:moveTo>
                      <a:pt x="211136" y="0"/>
                    </a:moveTo>
                    <a:lnTo>
                      <a:pt x="415547" y="0"/>
                    </a:lnTo>
                  </a:path>
                  <a:path w="417829" h="222885">
                    <a:moveTo>
                      <a:pt x="0" y="0"/>
                    </a:moveTo>
                    <a:lnTo>
                      <a:pt x="123525" y="0"/>
                    </a:lnTo>
                  </a:path>
                </a:pathLst>
              </a:custGeom>
              <a:ln w="30745">
                <a:solidFill>
                  <a:srgbClr val="000000"/>
                </a:solidFill>
              </a:ln>
            </p:spPr>
            <p:txBody>
              <a:bodyPr wrap="square" lIns="0" tIns="0" rIns="0" bIns="0" rtlCol="0"/>
              <a:lstStyle/>
              <a:p>
                <a:endParaRPr sz="1588"/>
              </a:p>
            </p:txBody>
          </p:sp>
        </p:grpSp>
        <p:sp>
          <p:nvSpPr>
            <p:cNvPr id="123" name="object 123"/>
            <p:cNvSpPr/>
            <p:nvPr/>
          </p:nvSpPr>
          <p:spPr>
            <a:xfrm>
              <a:off x="4826825" y="4545438"/>
              <a:ext cx="366432" cy="325531"/>
            </a:xfrm>
            <a:custGeom>
              <a:avLst/>
              <a:gdLst/>
              <a:ahLst/>
              <a:cxnLst/>
              <a:rect l="l" t="t" r="r" b="b"/>
              <a:pathLst>
                <a:path w="415289" h="368935">
                  <a:moveTo>
                    <a:pt x="0" y="0"/>
                  </a:moveTo>
                  <a:lnTo>
                    <a:pt x="415217" y="0"/>
                  </a:lnTo>
                  <a:lnTo>
                    <a:pt x="415217" y="368790"/>
                  </a:lnTo>
                  <a:lnTo>
                    <a:pt x="0" y="368790"/>
                  </a:lnTo>
                  <a:lnTo>
                    <a:pt x="0" y="0"/>
                  </a:lnTo>
                  <a:close/>
                </a:path>
              </a:pathLst>
            </a:custGeom>
            <a:ln w="30732">
              <a:solidFill>
                <a:srgbClr val="000000"/>
              </a:solidFill>
            </a:ln>
          </p:spPr>
          <p:txBody>
            <a:bodyPr wrap="square" lIns="0" tIns="0" rIns="0" bIns="0" rtlCol="0"/>
            <a:lstStyle/>
            <a:p>
              <a:endParaRPr sz="1588"/>
            </a:p>
          </p:txBody>
        </p:sp>
        <p:sp>
          <p:nvSpPr>
            <p:cNvPr id="124" name="object 124"/>
            <p:cNvSpPr txBox="1"/>
            <p:nvPr/>
          </p:nvSpPr>
          <p:spPr>
            <a:xfrm>
              <a:off x="4829521" y="4591607"/>
              <a:ext cx="353546" cy="174309"/>
            </a:xfrm>
            <a:prstGeom prst="rect">
              <a:avLst/>
            </a:prstGeom>
          </p:spPr>
          <p:txBody>
            <a:bodyPr vert="horz" wrap="square" lIns="0" tIns="11206" rIns="0" bIns="0" rtlCol="0">
              <a:spAutoFit/>
            </a:bodyPr>
            <a:lstStyle/>
            <a:p>
              <a:pPr marL="11206">
                <a:spcBef>
                  <a:spcPts val="88"/>
                </a:spcBef>
              </a:pPr>
              <a:r>
                <a:rPr sz="1059" b="1" spc="-9" dirty="0">
                  <a:latin typeface="Times New Roman"/>
                  <a:cs typeface="Times New Roman"/>
                </a:rPr>
                <a:t>Ifetch</a:t>
              </a:r>
              <a:endParaRPr sz="1059">
                <a:latin typeface="Times New Roman"/>
                <a:cs typeface="Times New Roman"/>
              </a:endParaRPr>
            </a:p>
          </p:txBody>
        </p:sp>
        <p:grpSp>
          <p:nvGrpSpPr>
            <p:cNvPr id="125" name="object 125"/>
            <p:cNvGrpSpPr/>
            <p:nvPr/>
          </p:nvGrpSpPr>
          <p:grpSpPr>
            <a:xfrm>
              <a:off x="5288460" y="4384437"/>
              <a:ext cx="2782421" cy="646019"/>
              <a:chOff x="5841188" y="4969028"/>
              <a:chExt cx="3153410" cy="732155"/>
            </a:xfrm>
          </p:grpSpPr>
          <p:sp>
            <p:nvSpPr>
              <p:cNvPr id="126" name="object 126"/>
              <p:cNvSpPr/>
              <p:nvPr/>
            </p:nvSpPr>
            <p:spPr>
              <a:xfrm>
                <a:off x="6737732" y="4984585"/>
                <a:ext cx="87630" cy="701040"/>
              </a:xfrm>
              <a:custGeom>
                <a:avLst/>
                <a:gdLst/>
                <a:ahLst/>
                <a:cxnLst/>
                <a:rect l="l" t="t" r="r" b="b"/>
                <a:pathLst>
                  <a:path w="87629" h="701039">
                    <a:moveTo>
                      <a:pt x="87610" y="0"/>
                    </a:moveTo>
                    <a:lnTo>
                      <a:pt x="0" y="0"/>
                    </a:lnTo>
                    <a:lnTo>
                      <a:pt x="0" y="701020"/>
                    </a:lnTo>
                    <a:lnTo>
                      <a:pt x="87610" y="701020"/>
                    </a:lnTo>
                    <a:lnTo>
                      <a:pt x="87610" y="0"/>
                    </a:lnTo>
                    <a:close/>
                  </a:path>
                </a:pathLst>
              </a:custGeom>
              <a:solidFill>
                <a:srgbClr val="00FF00"/>
              </a:solidFill>
            </p:spPr>
            <p:txBody>
              <a:bodyPr wrap="square" lIns="0" tIns="0" rIns="0" bIns="0" rtlCol="0"/>
              <a:lstStyle/>
              <a:p>
                <a:endParaRPr sz="1588"/>
              </a:p>
            </p:txBody>
          </p:sp>
          <p:sp>
            <p:nvSpPr>
              <p:cNvPr id="127" name="object 127"/>
              <p:cNvSpPr/>
              <p:nvPr/>
            </p:nvSpPr>
            <p:spPr>
              <a:xfrm>
                <a:off x="6737732" y="4984585"/>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28" name="object 128"/>
              <p:cNvSpPr/>
              <p:nvPr/>
            </p:nvSpPr>
            <p:spPr>
              <a:xfrm>
                <a:off x="8346382" y="4984585"/>
                <a:ext cx="87630" cy="701040"/>
              </a:xfrm>
              <a:custGeom>
                <a:avLst/>
                <a:gdLst/>
                <a:ahLst/>
                <a:cxnLst/>
                <a:rect l="l" t="t" r="r" b="b"/>
                <a:pathLst>
                  <a:path w="87629" h="701039">
                    <a:moveTo>
                      <a:pt x="87610" y="0"/>
                    </a:moveTo>
                    <a:lnTo>
                      <a:pt x="0" y="0"/>
                    </a:lnTo>
                    <a:lnTo>
                      <a:pt x="0" y="701020"/>
                    </a:lnTo>
                    <a:lnTo>
                      <a:pt x="87610" y="701020"/>
                    </a:lnTo>
                    <a:lnTo>
                      <a:pt x="87610" y="0"/>
                    </a:lnTo>
                    <a:close/>
                  </a:path>
                </a:pathLst>
              </a:custGeom>
              <a:solidFill>
                <a:srgbClr val="00FF00"/>
              </a:solidFill>
            </p:spPr>
            <p:txBody>
              <a:bodyPr wrap="square" lIns="0" tIns="0" rIns="0" bIns="0" rtlCol="0"/>
              <a:lstStyle/>
              <a:p>
                <a:endParaRPr sz="1588"/>
              </a:p>
            </p:txBody>
          </p:sp>
          <p:sp>
            <p:nvSpPr>
              <p:cNvPr id="129" name="object 129"/>
              <p:cNvSpPr/>
              <p:nvPr/>
            </p:nvSpPr>
            <p:spPr>
              <a:xfrm>
                <a:off x="8346382" y="4984585"/>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30" name="object 130"/>
              <p:cNvSpPr/>
              <p:nvPr/>
            </p:nvSpPr>
            <p:spPr>
              <a:xfrm>
                <a:off x="5856745" y="4984585"/>
                <a:ext cx="87630" cy="701040"/>
              </a:xfrm>
              <a:custGeom>
                <a:avLst/>
                <a:gdLst/>
                <a:ahLst/>
                <a:cxnLst/>
                <a:rect l="l" t="t" r="r" b="b"/>
                <a:pathLst>
                  <a:path w="87629" h="701039">
                    <a:moveTo>
                      <a:pt x="87610" y="0"/>
                    </a:moveTo>
                    <a:lnTo>
                      <a:pt x="0" y="0"/>
                    </a:lnTo>
                    <a:lnTo>
                      <a:pt x="0" y="701020"/>
                    </a:lnTo>
                    <a:lnTo>
                      <a:pt x="87610" y="701020"/>
                    </a:lnTo>
                    <a:lnTo>
                      <a:pt x="87610" y="0"/>
                    </a:lnTo>
                    <a:close/>
                  </a:path>
                </a:pathLst>
              </a:custGeom>
              <a:solidFill>
                <a:srgbClr val="00FF00"/>
              </a:solidFill>
            </p:spPr>
            <p:txBody>
              <a:bodyPr wrap="square" lIns="0" tIns="0" rIns="0" bIns="0" rtlCol="0"/>
              <a:lstStyle/>
              <a:p>
                <a:endParaRPr sz="1588"/>
              </a:p>
            </p:txBody>
          </p:sp>
          <p:sp>
            <p:nvSpPr>
              <p:cNvPr id="131" name="object 131"/>
              <p:cNvSpPr/>
              <p:nvPr/>
            </p:nvSpPr>
            <p:spPr>
              <a:xfrm>
                <a:off x="5856745" y="4984585"/>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32" name="object 132"/>
              <p:cNvSpPr/>
              <p:nvPr/>
            </p:nvSpPr>
            <p:spPr>
              <a:xfrm>
                <a:off x="7540839" y="4988704"/>
                <a:ext cx="86995" cy="692150"/>
              </a:xfrm>
              <a:custGeom>
                <a:avLst/>
                <a:gdLst/>
                <a:ahLst/>
                <a:cxnLst/>
                <a:rect l="l" t="t" r="r" b="b"/>
                <a:pathLst>
                  <a:path w="86995" h="692150">
                    <a:moveTo>
                      <a:pt x="86394" y="0"/>
                    </a:moveTo>
                    <a:lnTo>
                      <a:pt x="0" y="0"/>
                    </a:lnTo>
                    <a:lnTo>
                      <a:pt x="0" y="691755"/>
                    </a:lnTo>
                    <a:lnTo>
                      <a:pt x="86394" y="691755"/>
                    </a:lnTo>
                    <a:lnTo>
                      <a:pt x="86394" y="0"/>
                    </a:lnTo>
                    <a:close/>
                  </a:path>
                </a:pathLst>
              </a:custGeom>
              <a:solidFill>
                <a:srgbClr val="00FF00"/>
              </a:solidFill>
            </p:spPr>
            <p:txBody>
              <a:bodyPr wrap="square" lIns="0" tIns="0" rIns="0" bIns="0" rtlCol="0"/>
              <a:lstStyle/>
              <a:p>
                <a:endParaRPr sz="1588"/>
              </a:p>
            </p:txBody>
          </p:sp>
          <p:sp>
            <p:nvSpPr>
              <p:cNvPr id="133" name="object 133"/>
              <p:cNvSpPr/>
              <p:nvPr/>
            </p:nvSpPr>
            <p:spPr>
              <a:xfrm>
                <a:off x="7540839" y="4988704"/>
                <a:ext cx="86995" cy="692150"/>
              </a:xfrm>
              <a:custGeom>
                <a:avLst/>
                <a:gdLst/>
                <a:ahLst/>
                <a:cxnLst/>
                <a:rect l="l" t="t" r="r" b="b"/>
                <a:pathLst>
                  <a:path w="86995" h="692150">
                    <a:moveTo>
                      <a:pt x="0" y="0"/>
                    </a:moveTo>
                    <a:lnTo>
                      <a:pt x="86394" y="0"/>
                    </a:lnTo>
                    <a:lnTo>
                      <a:pt x="86394"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134" name="object 134"/>
              <p:cNvSpPr/>
              <p:nvPr/>
            </p:nvSpPr>
            <p:spPr>
              <a:xfrm>
                <a:off x="8541787" y="5137189"/>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135" name="object 135"/>
              <p:cNvSpPr/>
              <p:nvPr/>
            </p:nvSpPr>
            <p:spPr>
              <a:xfrm>
                <a:off x="8541787" y="5137189"/>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136" name="object 136"/>
            <p:cNvSpPr txBox="1"/>
            <p:nvPr/>
          </p:nvSpPr>
          <p:spPr>
            <a:xfrm>
              <a:off x="7745491" y="4578159"/>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37" name="object 137"/>
            <p:cNvSpPr txBox="1"/>
            <p:nvPr/>
          </p:nvSpPr>
          <p:spPr>
            <a:xfrm>
              <a:off x="2567586" y="1814760"/>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1</a:t>
              </a:r>
              <a:endParaRPr sz="1324">
                <a:latin typeface="Times New Roman"/>
                <a:cs typeface="Times New Roman"/>
              </a:endParaRPr>
            </a:p>
          </p:txBody>
        </p:sp>
        <p:sp>
          <p:nvSpPr>
            <p:cNvPr id="138" name="object 138"/>
            <p:cNvSpPr txBox="1"/>
            <p:nvPr/>
          </p:nvSpPr>
          <p:spPr>
            <a:xfrm>
              <a:off x="3261955" y="1814760"/>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2</a:t>
              </a:r>
              <a:endParaRPr sz="1324">
                <a:latin typeface="Times New Roman"/>
                <a:cs typeface="Times New Roman"/>
              </a:endParaRPr>
            </a:p>
          </p:txBody>
        </p:sp>
        <p:sp>
          <p:nvSpPr>
            <p:cNvPr id="139" name="object 139"/>
            <p:cNvSpPr txBox="1"/>
            <p:nvPr/>
          </p:nvSpPr>
          <p:spPr>
            <a:xfrm>
              <a:off x="6196135" y="1814760"/>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6</a:t>
              </a:r>
              <a:endParaRPr sz="1324">
                <a:latin typeface="Times New Roman"/>
                <a:cs typeface="Times New Roman"/>
              </a:endParaRPr>
            </a:p>
          </p:txBody>
        </p:sp>
        <p:sp>
          <p:nvSpPr>
            <p:cNvPr id="140" name="object 140"/>
            <p:cNvSpPr txBox="1"/>
            <p:nvPr/>
          </p:nvSpPr>
          <p:spPr>
            <a:xfrm>
              <a:off x="6910090" y="1814760"/>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7</a:t>
              </a:r>
              <a:endParaRPr sz="1324">
                <a:latin typeface="Times New Roman"/>
                <a:cs typeface="Times New Roman"/>
              </a:endParaRPr>
            </a:p>
          </p:txBody>
        </p:sp>
        <p:grpSp>
          <p:nvGrpSpPr>
            <p:cNvPr id="142" name="object 142"/>
            <p:cNvGrpSpPr/>
            <p:nvPr/>
          </p:nvGrpSpPr>
          <p:grpSpPr>
            <a:xfrm>
              <a:off x="6327277" y="5268291"/>
              <a:ext cx="410135" cy="354666"/>
              <a:chOff x="7018514" y="5970729"/>
              <a:chExt cx="464820" cy="401955"/>
            </a:xfrm>
          </p:grpSpPr>
          <p:sp>
            <p:nvSpPr>
              <p:cNvPr id="143" name="object 143"/>
              <p:cNvSpPr/>
              <p:nvPr/>
            </p:nvSpPr>
            <p:spPr>
              <a:xfrm>
                <a:off x="7250639" y="5986287"/>
                <a:ext cx="217170" cy="366395"/>
              </a:xfrm>
              <a:custGeom>
                <a:avLst/>
                <a:gdLst/>
                <a:ahLst/>
                <a:cxnLst/>
                <a:rect l="l" t="t" r="r" b="b"/>
                <a:pathLst>
                  <a:path w="217170" h="366395">
                    <a:moveTo>
                      <a:pt x="216566" y="0"/>
                    </a:moveTo>
                    <a:lnTo>
                      <a:pt x="0" y="0"/>
                    </a:lnTo>
                    <a:lnTo>
                      <a:pt x="0" y="366092"/>
                    </a:lnTo>
                    <a:lnTo>
                      <a:pt x="216566" y="366092"/>
                    </a:lnTo>
                    <a:lnTo>
                      <a:pt x="216566" y="0"/>
                    </a:lnTo>
                    <a:close/>
                  </a:path>
                </a:pathLst>
              </a:custGeom>
              <a:solidFill>
                <a:srgbClr val="0099FF"/>
              </a:solidFill>
            </p:spPr>
            <p:txBody>
              <a:bodyPr wrap="square" lIns="0" tIns="0" rIns="0" bIns="0" rtlCol="0"/>
              <a:lstStyle/>
              <a:p>
                <a:endParaRPr sz="1588"/>
              </a:p>
            </p:txBody>
          </p:sp>
          <p:sp>
            <p:nvSpPr>
              <p:cNvPr id="144" name="object 144"/>
              <p:cNvSpPr/>
              <p:nvPr/>
            </p:nvSpPr>
            <p:spPr>
              <a:xfrm>
                <a:off x="7034071" y="5986287"/>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145" name="object 145"/>
            <p:cNvSpPr txBox="1"/>
            <p:nvPr/>
          </p:nvSpPr>
          <p:spPr>
            <a:xfrm>
              <a:off x="6411804" y="5328505"/>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46" name="object 146"/>
            <p:cNvGrpSpPr/>
            <p:nvPr/>
          </p:nvGrpSpPr>
          <p:grpSpPr>
            <a:xfrm>
              <a:off x="6711184" y="5171171"/>
              <a:ext cx="718296" cy="547968"/>
              <a:chOff x="7453608" y="5860661"/>
              <a:chExt cx="814069" cy="621030"/>
            </a:xfrm>
          </p:grpSpPr>
          <p:sp>
            <p:nvSpPr>
              <p:cNvPr id="147" name="object 147"/>
              <p:cNvSpPr/>
              <p:nvPr/>
            </p:nvSpPr>
            <p:spPr>
              <a:xfrm>
                <a:off x="7469166" y="6060997"/>
                <a:ext cx="478790" cy="220979"/>
              </a:xfrm>
              <a:custGeom>
                <a:avLst/>
                <a:gdLst/>
                <a:ahLst/>
                <a:cxnLst/>
                <a:rect l="l" t="t" r="r" b="b"/>
                <a:pathLst>
                  <a:path w="478790" h="220979">
                    <a:moveTo>
                      <a:pt x="0" y="0"/>
                    </a:moveTo>
                    <a:lnTo>
                      <a:pt x="77682" y="0"/>
                    </a:lnTo>
                  </a:path>
                  <a:path w="478790" h="220979">
                    <a:moveTo>
                      <a:pt x="165293" y="0"/>
                    </a:moveTo>
                    <a:lnTo>
                      <a:pt x="478211" y="0"/>
                    </a:lnTo>
                  </a:path>
                  <a:path w="478790" h="220979">
                    <a:moveTo>
                      <a:pt x="0" y="220958"/>
                    </a:moveTo>
                    <a:lnTo>
                      <a:pt x="77682" y="220958"/>
                    </a:lnTo>
                  </a:path>
                  <a:path w="478790" h="220979">
                    <a:moveTo>
                      <a:pt x="165293" y="220958"/>
                    </a:moveTo>
                    <a:lnTo>
                      <a:pt x="478211" y="220958"/>
                    </a:lnTo>
                  </a:path>
                </a:pathLst>
              </a:custGeom>
              <a:ln w="30745">
                <a:solidFill>
                  <a:srgbClr val="000000"/>
                </a:solidFill>
              </a:ln>
            </p:spPr>
            <p:txBody>
              <a:bodyPr wrap="square" lIns="0" tIns="0" rIns="0" bIns="0" rtlCol="0"/>
              <a:lstStyle/>
              <a:p>
                <a:endParaRPr sz="1588"/>
              </a:p>
            </p:txBody>
          </p:sp>
          <p:sp>
            <p:nvSpPr>
              <p:cNvPr id="148" name="object 148"/>
              <p:cNvSpPr/>
              <p:nvPr/>
            </p:nvSpPr>
            <p:spPr>
              <a:xfrm>
                <a:off x="7885587" y="5876218"/>
                <a:ext cx="366395" cy="589915"/>
              </a:xfrm>
              <a:custGeom>
                <a:avLst/>
                <a:gdLst/>
                <a:ahLst/>
                <a:cxnLst/>
                <a:rect l="l" t="t" r="r" b="b"/>
                <a:pathLst>
                  <a:path w="366395" h="589914">
                    <a:moveTo>
                      <a:pt x="0" y="0"/>
                    </a:moveTo>
                    <a:lnTo>
                      <a:pt x="0" y="589747"/>
                    </a:lnTo>
                    <a:lnTo>
                      <a:pt x="366115" y="442310"/>
                    </a:lnTo>
                    <a:lnTo>
                      <a:pt x="366115" y="147436"/>
                    </a:lnTo>
                    <a:lnTo>
                      <a:pt x="0" y="0"/>
                    </a:lnTo>
                    <a:close/>
                  </a:path>
                </a:pathLst>
              </a:custGeom>
              <a:solidFill>
                <a:srgbClr val="FFFFFF"/>
              </a:solidFill>
            </p:spPr>
            <p:txBody>
              <a:bodyPr wrap="square" lIns="0" tIns="0" rIns="0" bIns="0" rtlCol="0"/>
              <a:lstStyle/>
              <a:p>
                <a:endParaRPr sz="1588"/>
              </a:p>
            </p:txBody>
          </p:sp>
          <p:sp>
            <p:nvSpPr>
              <p:cNvPr id="149" name="object 149"/>
              <p:cNvSpPr/>
              <p:nvPr/>
            </p:nvSpPr>
            <p:spPr>
              <a:xfrm>
                <a:off x="7885587" y="5876218"/>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150" name="object 150"/>
              <p:cNvSpPr/>
              <p:nvPr/>
            </p:nvSpPr>
            <p:spPr>
              <a:xfrm>
                <a:off x="7861144" y="6076256"/>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151" name="object 151"/>
              <p:cNvSpPr/>
              <p:nvPr/>
            </p:nvSpPr>
            <p:spPr>
              <a:xfrm>
                <a:off x="7885587" y="6087390"/>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152" name="object 152"/>
            <p:cNvSpPr txBox="1"/>
            <p:nvPr/>
          </p:nvSpPr>
          <p:spPr>
            <a:xfrm>
              <a:off x="7211421" y="5287828"/>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53" name="object 153"/>
            <p:cNvGrpSpPr/>
            <p:nvPr/>
          </p:nvGrpSpPr>
          <p:grpSpPr>
            <a:xfrm>
              <a:off x="7404637" y="5269693"/>
              <a:ext cx="1060076" cy="352985"/>
              <a:chOff x="8239522" y="5972318"/>
              <a:chExt cx="1201420" cy="400050"/>
            </a:xfrm>
          </p:grpSpPr>
          <p:sp>
            <p:nvSpPr>
              <p:cNvPr id="154" name="object 154"/>
              <p:cNvSpPr/>
              <p:nvPr/>
            </p:nvSpPr>
            <p:spPr>
              <a:xfrm>
                <a:off x="8255080" y="6172271"/>
                <a:ext cx="1170305" cy="0"/>
              </a:xfrm>
              <a:custGeom>
                <a:avLst/>
                <a:gdLst/>
                <a:ahLst/>
                <a:cxnLst/>
                <a:rect l="l" t="t" r="r" b="b"/>
                <a:pathLst>
                  <a:path w="1170304">
                    <a:moveTo>
                      <a:pt x="188572" y="0"/>
                    </a:moveTo>
                    <a:lnTo>
                      <a:pt x="352463" y="0"/>
                    </a:lnTo>
                  </a:path>
                  <a:path w="1170304">
                    <a:moveTo>
                      <a:pt x="0" y="0"/>
                    </a:moveTo>
                    <a:lnTo>
                      <a:pt x="102177" y="0"/>
                    </a:lnTo>
                  </a:path>
                  <a:path w="1170304">
                    <a:moveTo>
                      <a:pt x="1062257" y="0"/>
                    </a:moveTo>
                    <a:lnTo>
                      <a:pt x="1170051" y="0"/>
                    </a:lnTo>
                  </a:path>
                  <a:path w="1170304">
                    <a:moveTo>
                      <a:pt x="829030" y="0"/>
                    </a:moveTo>
                    <a:lnTo>
                      <a:pt x="974644" y="0"/>
                    </a:lnTo>
                  </a:path>
                </a:pathLst>
              </a:custGeom>
              <a:ln w="30745">
                <a:solidFill>
                  <a:srgbClr val="000000"/>
                </a:solidFill>
              </a:ln>
            </p:spPr>
            <p:txBody>
              <a:bodyPr wrap="square" lIns="0" tIns="0" rIns="0" bIns="0" rtlCol="0"/>
              <a:lstStyle/>
              <a:p>
                <a:endParaRPr sz="1588"/>
              </a:p>
            </p:txBody>
          </p:sp>
          <p:sp>
            <p:nvSpPr>
              <p:cNvPr id="155" name="object 155"/>
              <p:cNvSpPr/>
              <p:nvPr/>
            </p:nvSpPr>
            <p:spPr>
              <a:xfrm>
                <a:off x="8607543" y="5987875"/>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156" name="object 156"/>
            <p:cNvSpPr txBox="1"/>
            <p:nvPr/>
          </p:nvSpPr>
          <p:spPr>
            <a:xfrm>
              <a:off x="7722270" y="5328505"/>
              <a:ext cx="392206" cy="174309"/>
            </a:xfrm>
            <a:prstGeom prst="rect">
              <a:avLst/>
            </a:prstGeom>
          </p:spPr>
          <p:txBody>
            <a:bodyPr vert="horz" wrap="square" lIns="0" tIns="11206" rIns="0" bIns="0" rtlCol="0">
              <a:spAutoFit/>
            </a:bodyPr>
            <a:lstStyle/>
            <a:p>
              <a:pPr>
                <a:spcBef>
                  <a:spcPts val="88"/>
                </a:spcBef>
              </a:pPr>
              <a:r>
                <a:rPr sz="1059" b="1" spc="-26" dirty="0">
                  <a:latin typeface="Times New Roman"/>
                  <a:cs typeface="Times New Roman"/>
                </a:rPr>
                <a:t>DMem</a:t>
              </a:r>
              <a:endParaRPr sz="1059">
                <a:latin typeface="Times New Roman"/>
                <a:cs typeface="Times New Roman"/>
              </a:endParaRPr>
            </a:p>
          </p:txBody>
        </p:sp>
        <p:grpSp>
          <p:nvGrpSpPr>
            <p:cNvPr id="157" name="object 157"/>
            <p:cNvGrpSpPr/>
            <p:nvPr/>
          </p:nvGrpSpPr>
          <p:grpSpPr>
            <a:xfrm>
              <a:off x="5963657" y="5334212"/>
              <a:ext cx="2312334" cy="385482"/>
              <a:chOff x="6606411" y="6045440"/>
              <a:chExt cx="2620645" cy="436880"/>
            </a:xfrm>
          </p:grpSpPr>
          <p:sp>
            <p:nvSpPr>
              <p:cNvPr id="158" name="object 158"/>
              <p:cNvSpPr/>
              <p:nvPr/>
            </p:nvSpPr>
            <p:spPr>
              <a:xfrm>
                <a:off x="8560822" y="6172271"/>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159" name="object 159"/>
              <p:cNvSpPr/>
              <p:nvPr/>
            </p:nvSpPr>
            <p:spPr>
              <a:xfrm>
                <a:off x="6621968" y="6060998"/>
                <a:ext cx="412115" cy="222885"/>
              </a:xfrm>
              <a:custGeom>
                <a:avLst/>
                <a:gdLst/>
                <a:ahLst/>
                <a:cxnLst/>
                <a:rect l="l" t="t" r="r" b="b"/>
                <a:pathLst>
                  <a:path w="412115" h="222885">
                    <a:moveTo>
                      <a:pt x="205731" y="222547"/>
                    </a:moveTo>
                    <a:lnTo>
                      <a:pt x="412101" y="222547"/>
                    </a:lnTo>
                  </a:path>
                  <a:path w="412115" h="222885">
                    <a:moveTo>
                      <a:pt x="0" y="222547"/>
                    </a:moveTo>
                    <a:lnTo>
                      <a:pt x="118120" y="222547"/>
                    </a:lnTo>
                  </a:path>
                  <a:path w="412115" h="222885">
                    <a:moveTo>
                      <a:pt x="205731" y="0"/>
                    </a:moveTo>
                    <a:lnTo>
                      <a:pt x="410142" y="0"/>
                    </a:lnTo>
                  </a:path>
                  <a:path w="412115" h="222885">
                    <a:moveTo>
                      <a:pt x="0" y="0"/>
                    </a:moveTo>
                    <a:lnTo>
                      <a:pt x="118120" y="0"/>
                    </a:lnTo>
                  </a:path>
                </a:pathLst>
              </a:custGeom>
              <a:ln w="30745">
                <a:solidFill>
                  <a:srgbClr val="000000"/>
                </a:solidFill>
              </a:ln>
            </p:spPr>
            <p:txBody>
              <a:bodyPr wrap="square" lIns="0" tIns="0" rIns="0" bIns="0" rtlCol="0"/>
              <a:lstStyle/>
              <a:p>
                <a:endParaRPr sz="1588"/>
              </a:p>
            </p:txBody>
          </p:sp>
        </p:grpSp>
        <p:sp>
          <p:nvSpPr>
            <p:cNvPr id="160" name="object 160"/>
            <p:cNvSpPr txBox="1"/>
            <p:nvPr/>
          </p:nvSpPr>
          <p:spPr>
            <a:xfrm>
              <a:off x="5592679" y="5283419"/>
              <a:ext cx="384922" cy="219569"/>
            </a:xfrm>
            <a:prstGeom prst="rect">
              <a:avLst/>
            </a:prstGeom>
            <a:ln w="30733">
              <a:solidFill>
                <a:srgbClr val="000000"/>
              </a:solidFill>
            </a:ln>
          </p:spPr>
          <p:txBody>
            <a:bodyPr vert="horz" wrap="square" lIns="0" tIns="56029" rIns="0" bIns="0" rtlCol="0">
              <a:spAutoFit/>
            </a:bodyPr>
            <a:lstStyle/>
            <a:p>
              <a:pPr marL="27456">
                <a:spcBef>
                  <a:spcPts val="441"/>
                </a:spcBef>
              </a:pPr>
              <a:r>
                <a:rPr sz="1059" b="1" spc="-9" dirty="0">
                  <a:latin typeface="Times New Roman"/>
                  <a:cs typeface="Times New Roman"/>
                </a:rPr>
                <a:t>Ifetch</a:t>
              </a:r>
              <a:endParaRPr sz="1059">
                <a:latin typeface="Times New Roman"/>
                <a:cs typeface="Times New Roman"/>
              </a:endParaRPr>
            </a:p>
          </p:txBody>
        </p:sp>
        <p:grpSp>
          <p:nvGrpSpPr>
            <p:cNvPr id="161" name="object 161"/>
            <p:cNvGrpSpPr/>
            <p:nvPr/>
          </p:nvGrpSpPr>
          <p:grpSpPr>
            <a:xfrm>
              <a:off x="6067881" y="5122419"/>
              <a:ext cx="2782421" cy="646019"/>
              <a:chOff x="6724532" y="5805408"/>
              <a:chExt cx="3153410" cy="732155"/>
            </a:xfrm>
          </p:grpSpPr>
          <p:sp>
            <p:nvSpPr>
              <p:cNvPr id="162" name="object 162"/>
              <p:cNvSpPr/>
              <p:nvPr/>
            </p:nvSpPr>
            <p:spPr>
              <a:xfrm>
                <a:off x="7546848" y="5820966"/>
                <a:ext cx="87630" cy="701040"/>
              </a:xfrm>
              <a:custGeom>
                <a:avLst/>
                <a:gdLst/>
                <a:ahLst/>
                <a:cxnLst/>
                <a:rect l="l" t="t" r="r" b="b"/>
                <a:pathLst>
                  <a:path w="87629" h="701040">
                    <a:moveTo>
                      <a:pt x="87610" y="0"/>
                    </a:moveTo>
                    <a:lnTo>
                      <a:pt x="0" y="0"/>
                    </a:lnTo>
                    <a:lnTo>
                      <a:pt x="0" y="701020"/>
                    </a:lnTo>
                    <a:lnTo>
                      <a:pt x="87610" y="701020"/>
                    </a:lnTo>
                    <a:lnTo>
                      <a:pt x="87610" y="0"/>
                    </a:lnTo>
                    <a:close/>
                  </a:path>
                </a:pathLst>
              </a:custGeom>
              <a:solidFill>
                <a:srgbClr val="00FF00"/>
              </a:solidFill>
            </p:spPr>
            <p:txBody>
              <a:bodyPr wrap="square" lIns="0" tIns="0" rIns="0" bIns="0" rtlCol="0"/>
              <a:lstStyle/>
              <a:p>
                <a:endParaRPr sz="1588"/>
              </a:p>
            </p:txBody>
          </p:sp>
          <p:sp>
            <p:nvSpPr>
              <p:cNvPr id="163" name="object 163"/>
              <p:cNvSpPr/>
              <p:nvPr/>
            </p:nvSpPr>
            <p:spPr>
              <a:xfrm>
                <a:off x="7546848" y="5820966"/>
                <a:ext cx="87630" cy="701040"/>
              </a:xfrm>
              <a:custGeom>
                <a:avLst/>
                <a:gdLst/>
                <a:ahLst/>
                <a:cxnLst/>
                <a:rect l="l" t="t" r="r" b="b"/>
                <a:pathLst>
                  <a:path w="87629" h="701040">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64" name="object 164"/>
              <p:cNvSpPr/>
              <p:nvPr/>
            </p:nvSpPr>
            <p:spPr>
              <a:xfrm>
                <a:off x="9229725" y="5820966"/>
                <a:ext cx="87630" cy="701040"/>
              </a:xfrm>
              <a:custGeom>
                <a:avLst/>
                <a:gdLst/>
                <a:ahLst/>
                <a:cxnLst/>
                <a:rect l="l" t="t" r="r" b="b"/>
                <a:pathLst>
                  <a:path w="87629" h="701040">
                    <a:moveTo>
                      <a:pt x="87612" y="0"/>
                    </a:moveTo>
                    <a:lnTo>
                      <a:pt x="0" y="0"/>
                    </a:lnTo>
                    <a:lnTo>
                      <a:pt x="0" y="701020"/>
                    </a:lnTo>
                    <a:lnTo>
                      <a:pt x="87612" y="701020"/>
                    </a:lnTo>
                    <a:lnTo>
                      <a:pt x="87612" y="0"/>
                    </a:lnTo>
                    <a:close/>
                  </a:path>
                </a:pathLst>
              </a:custGeom>
              <a:solidFill>
                <a:srgbClr val="00FF00"/>
              </a:solidFill>
            </p:spPr>
            <p:txBody>
              <a:bodyPr wrap="square" lIns="0" tIns="0" rIns="0" bIns="0" rtlCol="0"/>
              <a:lstStyle/>
              <a:p>
                <a:endParaRPr sz="1588"/>
              </a:p>
            </p:txBody>
          </p:sp>
          <p:sp>
            <p:nvSpPr>
              <p:cNvPr id="165" name="object 165"/>
              <p:cNvSpPr/>
              <p:nvPr/>
            </p:nvSpPr>
            <p:spPr>
              <a:xfrm>
                <a:off x="9229725" y="5820966"/>
                <a:ext cx="87630" cy="701040"/>
              </a:xfrm>
              <a:custGeom>
                <a:avLst/>
                <a:gdLst/>
                <a:ahLst/>
                <a:cxnLst/>
                <a:rect l="l" t="t" r="r" b="b"/>
                <a:pathLst>
                  <a:path w="87629" h="701040">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66" name="object 166"/>
              <p:cNvSpPr/>
              <p:nvPr/>
            </p:nvSpPr>
            <p:spPr>
              <a:xfrm>
                <a:off x="6740089" y="5820966"/>
                <a:ext cx="87630" cy="701040"/>
              </a:xfrm>
              <a:custGeom>
                <a:avLst/>
                <a:gdLst/>
                <a:ahLst/>
                <a:cxnLst/>
                <a:rect l="l" t="t" r="r" b="b"/>
                <a:pathLst>
                  <a:path w="87629" h="701040">
                    <a:moveTo>
                      <a:pt x="87610" y="0"/>
                    </a:moveTo>
                    <a:lnTo>
                      <a:pt x="0" y="0"/>
                    </a:lnTo>
                    <a:lnTo>
                      <a:pt x="0" y="701020"/>
                    </a:lnTo>
                    <a:lnTo>
                      <a:pt x="87610" y="701020"/>
                    </a:lnTo>
                    <a:lnTo>
                      <a:pt x="87610" y="0"/>
                    </a:lnTo>
                    <a:close/>
                  </a:path>
                </a:pathLst>
              </a:custGeom>
              <a:solidFill>
                <a:srgbClr val="00FF00"/>
              </a:solidFill>
            </p:spPr>
            <p:txBody>
              <a:bodyPr wrap="square" lIns="0" tIns="0" rIns="0" bIns="0" rtlCol="0"/>
              <a:lstStyle/>
              <a:p>
                <a:endParaRPr sz="1588"/>
              </a:p>
            </p:txBody>
          </p:sp>
          <p:sp>
            <p:nvSpPr>
              <p:cNvPr id="167" name="object 167"/>
              <p:cNvSpPr/>
              <p:nvPr/>
            </p:nvSpPr>
            <p:spPr>
              <a:xfrm>
                <a:off x="6740089" y="5820966"/>
                <a:ext cx="87630" cy="701040"/>
              </a:xfrm>
              <a:custGeom>
                <a:avLst/>
                <a:gdLst/>
                <a:ahLst/>
                <a:cxnLst/>
                <a:rect l="l" t="t" r="r" b="b"/>
                <a:pathLst>
                  <a:path w="87629" h="701040">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68" name="object 168"/>
              <p:cNvSpPr/>
              <p:nvPr/>
            </p:nvSpPr>
            <p:spPr>
              <a:xfrm>
                <a:off x="8357258" y="5825084"/>
                <a:ext cx="86995" cy="692150"/>
              </a:xfrm>
              <a:custGeom>
                <a:avLst/>
                <a:gdLst/>
                <a:ahLst/>
                <a:cxnLst/>
                <a:rect l="l" t="t" r="r" b="b"/>
                <a:pathLst>
                  <a:path w="86995" h="692150">
                    <a:moveTo>
                      <a:pt x="86394" y="0"/>
                    </a:moveTo>
                    <a:lnTo>
                      <a:pt x="0" y="0"/>
                    </a:lnTo>
                    <a:lnTo>
                      <a:pt x="0" y="691755"/>
                    </a:lnTo>
                    <a:lnTo>
                      <a:pt x="86394" y="691755"/>
                    </a:lnTo>
                    <a:lnTo>
                      <a:pt x="86394" y="0"/>
                    </a:lnTo>
                    <a:close/>
                  </a:path>
                </a:pathLst>
              </a:custGeom>
              <a:solidFill>
                <a:srgbClr val="00FF00"/>
              </a:solidFill>
            </p:spPr>
            <p:txBody>
              <a:bodyPr wrap="square" lIns="0" tIns="0" rIns="0" bIns="0" rtlCol="0"/>
              <a:lstStyle/>
              <a:p>
                <a:endParaRPr sz="1588"/>
              </a:p>
            </p:txBody>
          </p:sp>
          <p:sp>
            <p:nvSpPr>
              <p:cNvPr id="169" name="object 169"/>
              <p:cNvSpPr/>
              <p:nvPr/>
            </p:nvSpPr>
            <p:spPr>
              <a:xfrm>
                <a:off x="8357258" y="5825084"/>
                <a:ext cx="86995" cy="692150"/>
              </a:xfrm>
              <a:custGeom>
                <a:avLst/>
                <a:gdLst/>
                <a:ahLst/>
                <a:cxnLst/>
                <a:rect l="l" t="t" r="r" b="b"/>
                <a:pathLst>
                  <a:path w="86995" h="692150">
                    <a:moveTo>
                      <a:pt x="0" y="0"/>
                    </a:moveTo>
                    <a:lnTo>
                      <a:pt x="86394" y="0"/>
                    </a:lnTo>
                    <a:lnTo>
                      <a:pt x="86394"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170" name="object 170"/>
              <p:cNvSpPr/>
              <p:nvPr/>
            </p:nvSpPr>
            <p:spPr>
              <a:xfrm>
                <a:off x="9425131" y="5973570"/>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171" name="object 171"/>
              <p:cNvSpPr/>
              <p:nvPr/>
            </p:nvSpPr>
            <p:spPr>
              <a:xfrm>
                <a:off x="9425131" y="5973569"/>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172" name="object 172"/>
            <p:cNvSpPr txBox="1"/>
            <p:nvPr/>
          </p:nvSpPr>
          <p:spPr>
            <a:xfrm>
              <a:off x="8524911" y="5317747"/>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74" name="object 174"/>
            <p:cNvSpPr/>
            <p:nvPr/>
          </p:nvSpPr>
          <p:spPr>
            <a:xfrm>
              <a:off x="3197750" y="1626446"/>
              <a:ext cx="0" cy="4680136"/>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75" name="object 175"/>
            <p:cNvSpPr/>
            <p:nvPr/>
          </p:nvSpPr>
          <p:spPr>
            <a:xfrm>
              <a:off x="3911031" y="1626446"/>
              <a:ext cx="0" cy="4680136"/>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76" name="object 176"/>
            <p:cNvSpPr/>
            <p:nvPr/>
          </p:nvSpPr>
          <p:spPr>
            <a:xfrm>
              <a:off x="4624312" y="1626446"/>
              <a:ext cx="0" cy="4680136"/>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77" name="object 177"/>
            <p:cNvSpPr/>
            <p:nvPr/>
          </p:nvSpPr>
          <p:spPr>
            <a:xfrm>
              <a:off x="6115717" y="1626446"/>
              <a:ext cx="0" cy="4680136"/>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78" name="object 178"/>
            <p:cNvSpPr/>
            <p:nvPr/>
          </p:nvSpPr>
          <p:spPr>
            <a:xfrm>
              <a:off x="5337593" y="1626446"/>
              <a:ext cx="0" cy="4680136"/>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79" name="object 179"/>
            <p:cNvSpPr/>
            <p:nvPr/>
          </p:nvSpPr>
          <p:spPr>
            <a:xfrm>
              <a:off x="6828999" y="1626446"/>
              <a:ext cx="0" cy="4680136"/>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80" name="object 180"/>
            <p:cNvSpPr/>
            <p:nvPr/>
          </p:nvSpPr>
          <p:spPr>
            <a:xfrm>
              <a:off x="7542280" y="1626446"/>
              <a:ext cx="0" cy="4680136"/>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81" name="object 181"/>
            <p:cNvSpPr/>
            <p:nvPr/>
          </p:nvSpPr>
          <p:spPr>
            <a:xfrm>
              <a:off x="2484468" y="1626446"/>
              <a:ext cx="0" cy="4680136"/>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82" name="object 182"/>
            <p:cNvSpPr/>
            <p:nvPr/>
          </p:nvSpPr>
          <p:spPr>
            <a:xfrm>
              <a:off x="8311871" y="1636870"/>
              <a:ext cx="0" cy="4680136"/>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84" name="object 184"/>
            <p:cNvSpPr txBox="1"/>
            <p:nvPr/>
          </p:nvSpPr>
          <p:spPr>
            <a:xfrm>
              <a:off x="7629583" y="1814760"/>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8</a:t>
              </a:r>
              <a:endParaRPr sz="1324">
                <a:latin typeface="Times New Roman"/>
                <a:cs typeface="Times New Roman"/>
              </a:endParaRPr>
            </a:p>
          </p:txBody>
        </p:sp>
      </p:grpSp>
      <p:sp>
        <p:nvSpPr>
          <p:cNvPr id="185" name="object 185"/>
          <p:cNvSpPr/>
          <p:nvPr/>
        </p:nvSpPr>
        <p:spPr>
          <a:xfrm>
            <a:off x="6117846" y="3203338"/>
            <a:ext cx="179294" cy="798979"/>
          </a:xfrm>
          <a:custGeom>
            <a:avLst/>
            <a:gdLst/>
            <a:ahLst/>
            <a:cxnLst/>
            <a:rect l="l" t="t" r="r" b="b"/>
            <a:pathLst>
              <a:path w="203200" h="905510">
                <a:moveTo>
                  <a:pt x="80916" y="725420"/>
                </a:moveTo>
                <a:lnTo>
                  <a:pt x="19867" y="732307"/>
                </a:lnTo>
                <a:lnTo>
                  <a:pt x="132085" y="905283"/>
                </a:lnTo>
                <a:lnTo>
                  <a:pt x="186780" y="755971"/>
                </a:lnTo>
                <a:lnTo>
                  <a:pt x="84357" y="755971"/>
                </a:lnTo>
                <a:lnTo>
                  <a:pt x="80916" y="725420"/>
                </a:lnTo>
                <a:close/>
              </a:path>
              <a:path w="203200" h="905510">
                <a:moveTo>
                  <a:pt x="141966" y="718533"/>
                </a:moveTo>
                <a:lnTo>
                  <a:pt x="80916" y="725420"/>
                </a:lnTo>
                <a:lnTo>
                  <a:pt x="84357" y="755971"/>
                </a:lnTo>
                <a:lnTo>
                  <a:pt x="145407" y="749085"/>
                </a:lnTo>
                <a:lnTo>
                  <a:pt x="141966" y="718533"/>
                </a:lnTo>
                <a:close/>
              </a:path>
              <a:path w="203200" h="905510">
                <a:moveTo>
                  <a:pt x="203017" y="711647"/>
                </a:moveTo>
                <a:lnTo>
                  <a:pt x="141966" y="718533"/>
                </a:lnTo>
                <a:lnTo>
                  <a:pt x="145407" y="749085"/>
                </a:lnTo>
                <a:lnTo>
                  <a:pt x="84357" y="755971"/>
                </a:lnTo>
                <a:lnTo>
                  <a:pt x="186780" y="755971"/>
                </a:lnTo>
                <a:lnTo>
                  <a:pt x="203017" y="711647"/>
                </a:lnTo>
                <a:close/>
              </a:path>
              <a:path w="203200" h="905510">
                <a:moveTo>
                  <a:pt x="61050" y="0"/>
                </a:moveTo>
                <a:lnTo>
                  <a:pt x="0" y="6887"/>
                </a:lnTo>
                <a:lnTo>
                  <a:pt x="80916" y="725420"/>
                </a:lnTo>
                <a:lnTo>
                  <a:pt x="141966" y="718533"/>
                </a:lnTo>
                <a:lnTo>
                  <a:pt x="61050" y="0"/>
                </a:lnTo>
                <a:close/>
              </a:path>
            </a:pathLst>
          </a:custGeom>
          <a:solidFill>
            <a:srgbClr val="FF0000"/>
          </a:solidFill>
        </p:spPr>
        <p:txBody>
          <a:bodyPr wrap="square" lIns="0" tIns="0" rIns="0" bIns="0" rtlCol="0"/>
          <a:lstStyle/>
          <a:p>
            <a:endParaRPr sz="1588"/>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500"/>
                                        <p:tgtEl>
                                          <p:spTgt spid="1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5"/>
                                        </p:tgtEl>
                                        <p:attrNameLst>
                                          <p:attrName>style.visibility</p:attrName>
                                        </p:attrNameLst>
                                      </p:cBhvr>
                                      <p:to>
                                        <p:strVal val="visible"/>
                                      </p:to>
                                    </p:set>
                                    <p:animEffect transition="in" filter="fade">
                                      <p:cBhvr>
                                        <p:cTn id="12"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 grpId="0" animBg="1"/>
      <p:bldP spid="18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1954" y="457784"/>
            <a:ext cx="5939677" cy="665341"/>
          </a:xfrm>
          <a:prstGeom prst="rect">
            <a:avLst/>
          </a:prstGeom>
        </p:spPr>
        <p:txBody>
          <a:bodyPr vert="horz" wrap="square" lIns="0" tIns="11206" rIns="0" bIns="0" rtlCol="0" anchor="ctr">
            <a:spAutoFit/>
          </a:bodyPr>
          <a:lstStyle/>
          <a:p>
            <a:pPr marL="11206">
              <a:lnSpc>
                <a:spcPts val="3133"/>
              </a:lnSpc>
              <a:spcBef>
                <a:spcPts val="88"/>
              </a:spcBef>
            </a:pPr>
            <a:r>
              <a:rPr sz="2647" spc="-18" dirty="0"/>
              <a:t>LW-</a:t>
            </a:r>
            <a:r>
              <a:rPr sz="2647" dirty="0"/>
              <a:t>ALU</a:t>
            </a:r>
            <a:r>
              <a:rPr sz="2647" spc="-18" dirty="0"/>
              <a:t> </a:t>
            </a:r>
            <a:r>
              <a:rPr sz="2647" dirty="0"/>
              <a:t>Data</a:t>
            </a:r>
            <a:r>
              <a:rPr sz="2647" spc="-22" dirty="0"/>
              <a:t> </a:t>
            </a:r>
            <a:r>
              <a:rPr sz="2647" dirty="0"/>
              <a:t>Hazard</a:t>
            </a:r>
            <a:r>
              <a:rPr sz="2647" spc="-13" dirty="0"/>
              <a:t> </a:t>
            </a:r>
            <a:r>
              <a:rPr sz="2647" dirty="0"/>
              <a:t>Even</a:t>
            </a:r>
            <a:r>
              <a:rPr sz="2647" spc="-18" dirty="0"/>
              <a:t> </a:t>
            </a:r>
            <a:r>
              <a:rPr sz="2647" dirty="0"/>
              <a:t>with</a:t>
            </a:r>
            <a:r>
              <a:rPr sz="2647" spc="-13" dirty="0"/>
              <a:t> </a:t>
            </a:r>
            <a:r>
              <a:rPr sz="2647" spc="-9" dirty="0"/>
              <a:t>Forwarding</a:t>
            </a:r>
            <a:endParaRPr sz="2647"/>
          </a:p>
          <a:p>
            <a:pPr marL="11206">
              <a:lnSpc>
                <a:spcPts val="1968"/>
              </a:lnSpc>
            </a:pPr>
            <a:r>
              <a:rPr sz="1677" dirty="0"/>
              <a:t>Figure</a:t>
            </a:r>
            <a:r>
              <a:rPr sz="1677" spc="35" dirty="0"/>
              <a:t> </a:t>
            </a:r>
            <a:r>
              <a:rPr sz="1677" spc="-22" dirty="0"/>
              <a:t>C.9</a:t>
            </a:r>
            <a:endParaRPr sz="1677"/>
          </a:p>
        </p:txBody>
      </p:sp>
      <p:sp>
        <p:nvSpPr>
          <p:cNvPr id="162" name="Slide Number Placeholder 161">
            <a:extLst>
              <a:ext uri="{FF2B5EF4-FFF2-40B4-BE49-F238E27FC236}">
                <a16:creationId xmlns:a16="http://schemas.microsoft.com/office/drawing/2014/main" id="{CAF163AC-97D7-7258-02A7-078E4BCC3230}"/>
              </a:ext>
            </a:extLst>
          </p:cNvPr>
          <p:cNvSpPr>
            <a:spLocks noGrp="1"/>
          </p:cNvSpPr>
          <p:nvPr>
            <p:ph type="sldNum" sz="quarter" idx="7"/>
          </p:nvPr>
        </p:nvSpPr>
        <p:spPr/>
        <p:txBody>
          <a:bodyPr/>
          <a:lstStyle/>
          <a:p>
            <a:fld id="{4FE321F0-2018-4E50-8BB3-A5631EBD98DD}" type="slidenum">
              <a:rPr lang="en-US" smtClean="0"/>
              <a:t>47</a:t>
            </a:fld>
            <a:endParaRPr lang="en-US"/>
          </a:p>
        </p:txBody>
      </p:sp>
      <p:sp>
        <p:nvSpPr>
          <p:cNvPr id="3" name="object 3"/>
          <p:cNvSpPr txBox="1"/>
          <p:nvPr/>
        </p:nvSpPr>
        <p:spPr>
          <a:xfrm>
            <a:off x="1177283" y="2533691"/>
            <a:ext cx="1063438" cy="269399"/>
          </a:xfrm>
          <a:prstGeom prst="rect">
            <a:avLst/>
          </a:prstGeom>
        </p:spPr>
        <p:txBody>
          <a:bodyPr vert="horz" wrap="square" lIns="0" tIns="11206" rIns="0" bIns="0" rtlCol="0">
            <a:spAutoFit/>
          </a:bodyPr>
          <a:lstStyle/>
          <a:p>
            <a:pPr marL="11206">
              <a:spcBef>
                <a:spcPts val="88"/>
              </a:spcBef>
            </a:pPr>
            <a:r>
              <a:rPr sz="1677" b="1" dirty="0">
                <a:solidFill>
                  <a:srgbClr val="FF0000"/>
                </a:solidFill>
                <a:latin typeface="Times New Roman"/>
                <a:cs typeface="Times New Roman"/>
              </a:rPr>
              <a:t>lw</a:t>
            </a:r>
            <a:r>
              <a:rPr sz="1677" b="1" spc="31" dirty="0">
                <a:solidFill>
                  <a:srgbClr val="FF0000"/>
                </a:solidFill>
                <a:latin typeface="Times New Roman"/>
                <a:cs typeface="Times New Roman"/>
              </a:rPr>
              <a:t> </a:t>
            </a:r>
            <a:r>
              <a:rPr sz="1677" b="1" u="sng" dirty="0">
                <a:solidFill>
                  <a:srgbClr val="FF0000"/>
                </a:solidFill>
                <a:latin typeface="Times New Roman"/>
                <a:cs typeface="Times New Roman"/>
              </a:rPr>
              <a:t>r1</a:t>
            </a:r>
            <a:r>
              <a:rPr sz="1677" b="1" dirty="0">
                <a:solidFill>
                  <a:srgbClr val="FC0128"/>
                </a:solidFill>
                <a:latin typeface="Times New Roman"/>
                <a:cs typeface="Times New Roman"/>
              </a:rPr>
              <a:t>,</a:t>
            </a:r>
            <a:r>
              <a:rPr sz="1677" b="1" spc="31" dirty="0">
                <a:solidFill>
                  <a:srgbClr val="FC0128"/>
                </a:solidFill>
                <a:latin typeface="Times New Roman"/>
                <a:cs typeface="Times New Roman"/>
              </a:rPr>
              <a:t> </a:t>
            </a:r>
            <a:r>
              <a:rPr sz="1677" b="1" spc="-18" dirty="0">
                <a:solidFill>
                  <a:srgbClr val="FC0128"/>
                </a:solidFill>
                <a:latin typeface="Times New Roman"/>
                <a:cs typeface="Times New Roman"/>
              </a:rPr>
              <a:t>0(r2)</a:t>
            </a:r>
            <a:endParaRPr sz="1677" dirty="0">
              <a:latin typeface="Times New Roman"/>
              <a:cs typeface="Times New Roman"/>
            </a:endParaRPr>
          </a:p>
        </p:txBody>
      </p:sp>
      <p:grpSp>
        <p:nvGrpSpPr>
          <p:cNvPr id="4" name="object 4"/>
          <p:cNvGrpSpPr/>
          <p:nvPr/>
        </p:nvGrpSpPr>
        <p:grpSpPr>
          <a:xfrm>
            <a:off x="1857039" y="3355041"/>
            <a:ext cx="261097" cy="237004"/>
            <a:chOff x="1952244" y="3802379"/>
            <a:chExt cx="295910" cy="268605"/>
          </a:xfrm>
        </p:grpSpPr>
        <p:pic>
          <p:nvPicPr>
            <p:cNvPr id="5" name="object 5"/>
            <p:cNvPicPr/>
            <p:nvPr/>
          </p:nvPicPr>
          <p:blipFill>
            <a:blip r:embed="rId3" cstate="print"/>
            <a:stretch>
              <a:fillRect/>
            </a:stretch>
          </p:blipFill>
          <p:spPr>
            <a:xfrm>
              <a:off x="1970532" y="3802379"/>
              <a:ext cx="256031" cy="219456"/>
            </a:xfrm>
            <a:prstGeom prst="rect">
              <a:avLst/>
            </a:prstGeom>
          </p:spPr>
        </p:pic>
        <p:sp>
          <p:nvSpPr>
            <p:cNvPr id="6" name="object 6"/>
            <p:cNvSpPr/>
            <p:nvPr/>
          </p:nvSpPr>
          <p:spPr>
            <a:xfrm>
              <a:off x="1988409" y="3824383"/>
              <a:ext cx="202565" cy="163830"/>
            </a:xfrm>
            <a:custGeom>
              <a:avLst/>
              <a:gdLst/>
              <a:ahLst/>
              <a:cxnLst/>
              <a:rect l="l" t="t" r="r" b="b"/>
              <a:pathLst>
                <a:path w="202564" h="163829">
                  <a:moveTo>
                    <a:pt x="45008" y="52947"/>
                  </a:moveTo>
                  <a:lnTo>
                    <a:pt x="0" y="52947"/>
                  </a:lnTo>
                  <a:lnTo>
                    <a:pt x="0" y="57311"/>
                  </a:lnTo>
                  <a:lnTo>
                    <a:pt x="3770" y="57703"/>
                  </a:lnTo>
                  <a:lnTo>
                    <a:pt x="6402" y="58411"/>
                  </a:lnTo>
                  <a:lnTo>
                    <a:pt x="9386" y="60455"/>
                  </a:lnTo>
                  <a:lnTo>
                    <a:pt x="10525" y="62067"/>
                  </a:lnTo>
                  <a:lnTo>
                    <a:pt x="11939" y="65998"/>
                  </a:lnTo>
                  <a:lnTo>
                    <a:pt x="12254" y="70116"/>
                  </a:lnTo>
                  <a:lnTo>
                    <a:pt x="12254" y="146853"/>
                  </a:lnTo>
                  <a:lnTo>
                    <a:pt x="11409" y="152770"/>
                  </a:lnTo>
                  <a:lnTo>
                    <a:pt x="8031" y="157251"/>
                  </a:lnTo>
                  <a:lnTo>
                    <a:pt x="4791" y="158568"/>
                  </a:lnTo>
                  <a:lnTo>
                    <a:pt x="0" y="158960"/>
                  </a:lnTo>
                  <a:lnTo>
                    <a:pt x="0" y="163206"/>
                  </a:lnTo>
                  <a:lnTo>
                    <a:pt x="59500" y="163206"/>
                  </a:lnTo>
                  <a:lnTo>
                    <a:pt x="59500" y="158960"/>
                  </a:lnTo>
                  <a:lnTo>
                    <a:pt x="55101" y="158725"/>
                  </a:lnTo>
                  <a:lnTo>
                    <a:pt x="51979" y="158116"/>
                  </a:lnTo>
                  <a:lnTo>
                    <a:pt x="48287" y="156150"/>
                  </a:lnTo>
                  <a:lnTo>
                    <a:pt x="46893" y="154598"/>
                  </a:lnTo>
                  <a:lnTo>
                    <a:pt x="45401" y="151217"/>
                  </a:lnTo>
                  <a:lnTo>
                    <a:pt x="45125" y="148348"/>
                  </a:lnTo>
                  <a:lnTo>
                    <a:pt x="45244" y="105158"/>
                  </a:lnTo>
                  <a:lnTo>
                    <a:pt x="52837" y="77947"/>
                  </a:lnTo>
                  <a:lnTo>
                    <a:pt x="45008" y="77947"/>
                  </a:lnTo>
                  <a:lnTo>
                    <a:pt x="45008" y="52947"/>
                  </a:lnTo>
                  <a:close/>
                </a:path>
                <a:path w="202564" h="163829">
                  <a:moveTo>
                    <a:pt x="93935" y="72641"/>
                  </a:moveTo>
                  <a:lnTo>
                    <a:pt x="63585" y="72641"/>
                  </a:lnTo>
                  <a:lnTo>
                    <a:pt x="64488" y="72876"/>
                  </a:lnTo>
                  <a:lnTo>
                    <a:pt x="65824" y="73662"/>
                  </a:lnTo>
                  <a:lnTo>
                    <a:pt x="67720" y="75236"/>
                  </a:lnTo>
                  <a:lnTo>
                    <a:pt x="73756" y="80502"/>
                  </a:lnTo>
                  <a:lnTo>
                    <a:pt x="77369" y="81838"/>
                  </a:lnTo>
                  <a:lnTo>
                    <a:pt x="85145" y="81838"/>
                  </a:lnTo>
                  <a:lnTo>
                    <a:pt x="87978" y="80502"/>
                  </a:lnTo>
                  <a:lnTo>
                    <a:pt x="88125" y="80502"/>
                  </a:lnTo>
                  <a:lnTo>
                    <a:pt x="93334" y="74566"/>
                  </a:lnTo>
                  <a:lnTo>
                    <a:pt x="93862" y="72876"/>
                  </a:lnTo>
                  <a:lnTo>
                    <a:pt x="93935" y="72641"/>
                  </a:lnTo>
                  <a:close/>
                </a:path>
                <a:path w="202564" h="163829">
                  <a:moveTo>
                    <a:pt x="84518" y="49645"/>
                  </a:moveTo>
                  <a:lnTo>
                    <a:pt x="75013" y="49645"/>
                  </a:lnTo>
                  <a:lnTo>
                    <a:pt x="69711" y="51513"/>
                  </a:lnTo>
                  <a:lnTo>
                    <a:pt x="45008" y="77947"/>
                  </a:lnTo>
                  <a:lnTo>
                    <a:pt x="52815" y="77947"/>
                  </a:lnTo>
                  <a:lnTo>
                    <a:pt x="56083" y="75236"/>
                  </a:lnTo>
                  <a:lnTo>
                    <a:pt x="58125" y="73506"/>
                  </a:lnTo>
                  <a:lnTo>
                    <a:pt x="60285" y="72641"/>
                  </a:lnTo>
                  <a:lnTo>
                    <a:pt x="93935" y="72641"/>
                  </a:lnTo>
                  <a:lnTo>
                    <a:pt x="94611" y="70478"/>
                  </a:lnTo>
                  <a:lnTo>
                    <a:pt x="94611" y="60258"/>
                  </a:lnTo>
                  <a:lnTo>
                    <a:pt x="93295" y="56426"/>
                  </a:lnTo>
                  <a:lnTo>
                    <a:pt x="88032" y="51001"/>
                  </a:lnTo>
                  <a:lnTo>
                    <a:pt x="84518" y="49645"/>
                  </a:lnTo>
                  <a:close/>
                </a:path>
                <a:path w="202564" h="163829">
                  <a:moveTo>
                    <a:pt x="202535" y="158843"/>
                  </a:moveTo>
                  <a:lnTo>
                    <a:pt x="118409" y="158843"/>
                  </a:lnTo>
                  <a:lnTo>
                    <a:pt x="118409" y="163206"/>
                  </a:lnTo>
                  <a:lnTo>
                    <a:pt x="202535" y="163206"/>
                  </a:lnTo>
                  <a:lnTo>
                    <a:pt x="202535" y="158843"/>
                  </a:lnTo>
                  <a:close/>
                </a:path>
                <a:path w="202564" h="163829">
                  <a:moveTo>
                    <a:pt x="178970" y="27358"/>
                  </a:moveTo>
                  <a:lnTo>
                    <a:pt x="135534" y="27358"/>
                  </a:lnTo>
                  <a:lnTo>
                    <a:pt x="137753" y="28007"/>
                  </a:lnTo>
                  <a:lnTo>
                    <a:pt x="141601" y="30601"/>
                  </a:lnTo>
                  <a:lnTo>
                    <a:pt x="142916" y="32174"/>
                  </a:lnTo>
                  <a:lnTo>
                    <a:pt x="144331" y="35868"/>
                  </a:lnTo>
                  <a:lnTo>
                    <a:pt x="144684" y="40487"/>
                  </a:lnTo>
                  <a:lnTo>
                    <a:pt x="144684" y="140840"/>
                  </a:lnTo>
                  <a:lnTo>
                    <a:pt x="144203" y="146874"/>
                  </a:lnTo>
                  <a:lnTo>
                    <a:pt x="144174" y="147247"/>
                  </a:lnTo>
                  <a:lnTo>
                    <a:pt x="142132" y="152750"/>
                  </a:lnTo>
                  <a:lnTo>
                    <a:pt x="140168" y="154912"/>
                  </a:lnTo>
                  <a:lnTo>
                    <a:pt x="134355" y="158056"/>
                  </a:lnTo>
                  <a:lnTo>
                    <a:pt x="129485" y="158843"/>
                  </a:lnTo>
                  <a:lnTo>
                    <a:pt x="192834" y="158843"/>
                  </a:lnTo>
                  <a:lnTo>
                    <a:pt x="188830" y="158056"/>
                  </a:lnTo>
                  <a:lnTo>
                    <a:pt x="188559" y="158056"/>
                  </a:lnTo>
                  <a:lnTo>
                    <a:pt x="182937" y="154519"/>
                  </a:lnTo>
                  <a:lnTo>
                    <a:pt x="181131" y="152298"/>
                  </a:lnTo>
                  <a:lnTo>
                    <a:pt x="179521" y="147247"/>
                  </a:lnTo>
                  <a:lnTo>
                    <a:pt x="179402" y="146874"/>
                  </a:lnTo>
                  <a:lnTo>
                    <a:pt x="178987" y="140840"/>
                  </a:lnTo>
                  <a:lnTo>
                    <a:pt x="178970" y="27358"/>
                  </a:lnTo>
                  <a:close/>
                </a:path>
                <a:path w="202564" h="163829">
                  <a:moveTo>
                    <a:pt x="178970" y="0"/>
                  </a:moveTo>
                  <a:lnTo>
                    <a:pt x="175082" y="0"/>
                  </a:lnTo>
                  <a:lnTo>
                    <a:pt x="116290" y="26887"/>
                  </a:lnTo>
                  <a:lnTo>
                    <a:pt x="118409" y="31131"/>
                  </a:lnTo>
                  <a:lnTo>
                    <a:pt x="124143" y="28615"/>
                  </a:lnTo>
                  <a:lnTo>
                    <a:pt x="129014" y="27358"/>
                  </a:lnTo>
                  <a:lnTo>
                    <a:pt x="178970" y="27358"/>
                  </a:lnTo>
                  <a:lnTo>
                    <a:pt x="178970" y="0"/>
                  </a:lnTo>
                  <a:close/>
                </a:path>
              </a:pathLst>
            </a:custGeom>
            <a:solidFill>
              <a:srgbClr val="FF0000"/>
            </a:solidFill>
          </p:spPr>
          <p:txBody>
            <a:bodyPr wrap="square" lIns="0" tIns="0" rIns="0" bIns="0" rtlCol="0"/>
            <a:lstStyle/>
            <a:p>
              <a:endParaRPr sz="1588"/>
            </a:p>
          </p:txBody>
        </p:sp>
        <p:sp>
          <p:nvSpPr>
            <p:cNvPr id="7" name="object 7"/>
            <p:cNvSpPr/>
            <p:nvPr/>
          </p:nvSpPr>
          <p:spPr>
            <a:xfrm>
              <a:off x="1988409" y="3824383"/>
              <a:ext cx="202565" cy="163830"/>
            </a:xfrm>
            <a:custGeom>
              <a:avLst/>
              <a:gdLst/>
              <a:ahLst/>
              <a:cxnLst/>
              <a:rect l="l" t="t" r="r" b="b"/>
              <a:pathLst>
                <a:path w="202564" h="163829">
                  <a:moveTo>
                    <a:pt x="80119" y="49645"/>
                  </a:moveTo>
                  <a:lnTo>
                    <a:pt x="94611" y="60258"/>
                  </a:lnTo>
                  <a:lnTo>
                    <a:pt x="94611" y="65211"/>
                  </a:lnTo>
                  <a:lnTo>
                    <a:pt x="94611" y="70479"/>
                  </a:lnTo>
                  <a:lnTo>
                    <a:pt x="93334" y="74567"/>
                  </a:lnTo>
                  <a:lnTo>
                    <a:pt x="90782" y="77475"/>
                  </a:lnTo>
                  <a:lnTo>
                    <a:pt x="88229" y="80384"/>
                  </a:lnTo>
                  <a:lnTo>
                    <a:pt x="85146" y="81839"/>
                  </a:lnTo>
                  <a:lnTo>
                    <a:pt x="81533" y="81839"/>
                  </a:lnTo>
                  <a:lnTo>
                    <a:pt x="77369" y="81839"/>
                  </a:lnTo>
                  <a:lnTo>
                    <a:pt x="73756" y="80502"/>
                  </a:lnTo>
                  <a:lnTo>
                    <a:pt x="70693" y="77829"/>
                  </a:lnTo>
                  <a:lnTo>
                    <a:pt x="67629" y="75156"/>
                  </a:lnTo>
                  <a:lnTo>
                    <a:pt x="65823" y="73662"/>
                  </a:lnTo>
                  <a:lnTo>
                    <a:pt x="65273" y="73348"/>
                  </a:lnTo>
                  <a:lnTo>
                    <a:pt x="64488" y="72876"/>
                  </a:lnTo>
                  <a:lnTo>
                    <a:pt x="63584" y="72640"/>
                  </a:lnTo>
                  <a:lnTo>
                    <a:pt x="62563" y="72640"/>
                  </a:lnTo>
                  <a:lnTo>
                    <a:pt x="60285" y="72640"/>
                  </a:lnTo>
                  <a:lnTo>
                    <a:pt x="58125" y="73505"/>
                  </a:lnTo>
                  <a:lnTo>
                    <a:pt x="56083" y="75235"/>
                  </a:lnTo>
                  <a:lnTo>
                    <a:pt x="52862" y="77908"/>
                  </a:lnTo>
                  <a:lnTo>
                    <a:pt x="45008" y="111909"/>
                  </a:lnTo>
                  <a:lnTo>
                    <a:pt x="45008" y="137263"/>
                  </a:lnTo>
                  <a:lnTo>
                    <a:pt x="45125" y="143866"/>
                  </a:lnTo>
                  <a:lnTo>
                    <a:pt x="45125" y="148347"/>
                  </a:lnTo>
                  <a:lnTo>
                    <a:pt x="50133" y="157133"/>
                  </a:lnTo>
                  <a:lnTo>
                    <a:pt x="51979" y="158116"/>
                  </a:lnTo>
                  <a:lnTo>
                    <a:pt x="55101" y="158725"/>
                  </a:lnTo>
                  <a:lnTo>
                    <a:pt x="59500" y="158961"/>
                  </a:lnTo>
                  <a:lnTo>
                    <a:pt x="59500" y="163206"/>
                  </a:lnTo>
                  <a:lnTo>
                    <a:pt x="0" y="163206"/>
                  </a:lnTo>
                  <a:lnTo>
                    <a:pt x="0" y="158961"/>
                  </a:lnTo>
                  <a:lnTo>
                    <a:pt x="4791" y="158568"/>
                  </a:lnTo>
                  <a:lnTo>
                    <a:pt x="8031" y="157251"/>
                  </a:lnTo>
                  <a:lnTo>
                    <a:pt x="9720" y="155010"/>
                  </a:lnTo>
                  <a:lnTo>
                    <a:pt x="11409" y="152770"/>
                  </a:lnTo>
                  <a:lnTo>
                    <a:pt x="12253" y="146854"/>
                  </a:lnTo>
                  <a:lnTo>
                    <a:pt x="12253" y="137263"/>
                  </a:lnTo>
                  <a:lnTo>
                    <a:pt x="12253" y="76296"/>
                  </a:lnTo>
                  <a:lnTo>
                    <a:pt x="12253" y="70007"/>
                  </a:lnTo>
                  <a:lnTo>
                    <a:pt x="11939" y="65997"/>
                  </a:lnTo>
                  <a:lnTo>
                    <a:pt x="11310" y="64268"/>
                  </a:lnTo>
                  <a:lnTo>
                    <a:pt x="10525" y="62067"/>
                  </a:lnTo>
                  <a:lnTo>
                    <a:pt x="9386" y="60455"/>
                  </a:lnTo>
                  <a:lnTo>
                    <a:pt x="7894" y="59433"/>
                  </a:lnTo>
                  <a:lnTo>
                    <a:pt x="6401" y="58411"/>
                  </a:lnTo>
                  <a:lnTo>
                    <a:pt x="3770" y="57703"/>
                  </a:lnTo>
                  <a:lnTo>
                    <a:pt x="0" y="57310"/>
                  </a:lnTo>
                  <a:lnTo>
                    <a:pt x="0" y="52947"/>
                  </a:lnTo>
                  <a:lnTo>
                    <a:pt x="45008" y="52947"/>
                  </a:lnTo>
                  <a:lnTo>
                    <a:pt x="45008" y="77947"/>
                  </a:lnTo>
                  <a:lnTo>
                    <a:pt x="50317" y="70116"/>
                  </a:lnTo>
                  <a:lnTo>
                    <a:pt x="75013" y="49645"/>
                  </a:lnTo>
                  <a:lnTo>
                    <a:pt x="80119" y="49645"/>
                  </a:lnTo>
                  <a:close/>
                </a:path>
                <a:path w="202564" h="163829">
                  <a:moveTo>
                    <a:pt x="175082" y="0"/>
                  </a:moveTo>
                  <a:lnTo>
                    <a:pt x="178970" y="0"/>
                  </a:lnTo>
                  <a:lnTo>
                    <a:pt x="178970" y="130777"/>
                  </a:lnTo>
                  <a:lnTo>
                    <a:pt x="178970" y="140604"/>
                  </a:lnTo>
                  <a:lnTo>
                    <a:pt x="179402" y="146873"/>
                  </a:lnTo>
                  <a:lnTo>
                    <a:pt x="180266" y="149586"/>
                  </a:lnTo>
                  <a:lnTo>
                    <a:pt x="181130" y="152298"/>
                  </a:lnTo>
                  <a:lnTo>
                    <a:pt x="182937" y="154519"/>
                  </a:lnTo>
                  <a:lnTo>
                    <a:pt x="185686" y="156248"/>
                  </a:lnTo>
                  <a:lnTo>
                    <a:pt x="188435" y="157978"/>
                  </a:lnTo>
                  <a:lnTo>
                    <a:pt x="192834" y="158843"/>
                  </a:lnTo>
                  <a:lnTo>
                    <a:pt x="198882" y="158843"/>
                  </a:lnTo>
                  <a:lnTo>
                    <a:pt x="202535" y="158843"/>
                  </a:lnTo>
                  <a:lnTo>
                    <a:pt x="202535" y="163206"/>
                  </a:lnTo>
                  <a:lnTo>
                    <a:pt x="118410" y="163206"/>
                  </a:lnTo>
                  <a:lnTo>
                    <a:pt x="118410" y="158843"/>
                  </a:lnTo>
                  <a:lnTo>
                    <a:pt x="122651" y="158843"/>
                  </a:lnTo>
                  <a:lnTo>
                    <a:pt x="129485" y="158843"/>
                  </a:lnTo>
                  <a:lnTo>
                    <a:pt x="134355" y="158057"/>
                  </a:lnTo>
                  <a:lnTo>
                    <a:pt x="137261" y="156484"/>
                  </a:lnTo>
                  <a:lnTo>
                    <a:pt x="140167" y="154912"/>
                  </a:lnTo>
                  <a:lnTo>
                    <a:pt x="142131" y="152750"/>
                  </a:lnTo>
                  <a:lnTo>
                    <a:pt x="143152" y="149998"/>
                  </a:lnTo>
                  <a:lnTo>
                    <a:pt x="144173" y="147247"/>
                  </a:lnTo>
                  <a:lnTo>
                    <a:pt x="144684" y="140840"/>
                  </a:lnTo>
                  <a:lnTo>
                    <a:pt x="144684" y="130777"/>
                  </a:lnTo>
                  <a:lnTo>
                    <a:pt x="144684" y="47876"/>
                  </a:lnTo>
                  <a:lnTo>
                    <a:pt x="144684" y="40487"/>
                  </a:lnTo>
                  <a:lnTo>
                    <a:pt x="144331" y="35868"/>
                  </a:lnTo>
                  <a:lnTo>
                    <a:pt x="135533" y="27358"/>
                  </a:lnTo>
                  <a:lnTo>
                    <a:pt x="133020" y="27358"/>
                  </a:lnTo>
                  <a:lnTo>
                    <a:pt x="129014" y="27358"/>
                  </a:lnTo>
                  <a:lnTo>
                    <a:pt x="124144" y="28616"/>
                  </a:lnTo>
                  <a:lnTo>
                    <a:pt x="118410" y="31131"/>
                  </a:lnTo>
                  <a:lnTo>
                    <a:pt x="116289" y="26886"/>
                  </a:lnTo>
                  <a:lnTo>
                    <a:pt x="175082" y="0"/>
                  </a:lnTo>
                  <a:close/>
                </a:path>
              </a:pathLst>
            </a:custGeom>
            <a:ln w="12705">
              <a:solidFill>
                <a:srgbClr val="000000"/>
              </a:solidFill>
            </a:ln>
          </p:spPr>
          <p:txBody>
            <a:bodyPr wrap="square" lIns="0" tIns="0" rIns="0" bIns="0" rtlCol="0"/>
            <a:lstStyle/>
            <a:p>
              <a:endParaRPr sz="1588"/>
            </a:p>
          </p:txBody>
        </p:sp>
        <p:pic>
          <p:nvPicPr>
            <p:cNvPr id="8" name="object 8"/>
            <p:cNvPicPr/>
            <p:nvPr/>
          </p:nvPicPr>
          <p:blipFill>
            <a:blip r:embed="rId4" cstate="print"/>
            <a:stretch>
              <a:fillRect/>
            </a:stretch>
          </p:blipFill>
          <p:spPr>
            <a:xfrm>
              <a:off x="1952244" y="3991355"/>
              <a:ext cx="295656" cy="79248"/>
            </a:xfrm>
            <a:prstGeom prst="rect">
              <a:avLst/>
            </a:prstGeom>
          </p:spPr>
        </p:pic>
        <p:sp>
          <p:nvSpPr>
            <p:cNvPr id="9" name="object 9"/>
            <p:cNvSpPr/>
            <p:nvPr/>
          </p:nvSpPr>
          <p:spPr>
            <a:xfrm>
              <a:off x="1969254" y="4011565"/>
              <a:ext cx="241300" cy="26034"/>
            </a:xfrm>
            <a:custGeom>
              <a:avLst/>
              <a:gdLst/>
              <a:ahLst/>
              <a:cxnLst/>
              <a:rect l="l" t="t" r="r" b="b"/>
              <a:pathLst>
                <a:path w="241300" h="26035">
                  <a:moveTo>
                    <a:pt x="241300" y="0"/>
                  </a:moveTo>
                  <a:lnTo>
                    <a:pt x="0" y="0"/>
                  </a:lnTo>
                  <a:lnTo>
                    <a:pt x="0" y="25421"/>
                  </a:lnTo>
                  <a:lnTo>
                    <a:pt x="241300" y="25421"/>
                  </a:lnTo>
                  <a:lnTo>
                    <a:pt x="241300" y="0"/>
                  </a:lnTo>
                  <a:close/>
                </a:path>
              </a:pathLst>
            </a:custGeom>
            <a:solidFill>
              <a:srgbClr val="FF0000"/>
            </a:solidFill>
          </p:spPr>
          <p:txBody>
            <a:bodyPr wrap="square" lIns="0" tIns="0" rIns="0" bIns="0" rtlCol="0"/>
            <a:lstStyle/>
            <a:p>
              <a:endParaRPr sz="1588"/>
            </a:p>
          </p:txBody>
        </p:sp>
        <p:sp>
          <p:nvSpPr>
            <p:cNvPr id="10" name="object 10"/>
            <p:cNvSpPr/>
            <p:nvPr/>
          </p:nvSpPr>
          <p:spPr>
            <a:xfrm>
              <a:off x="1969254" y="4011565"/>
              <a:ext cx="241300" cy="26034"/>
            </a:xfrm>
            <a:custGeom>
              <a:avLst/>
              <a:gdLst/>
              <a:ahLst/>
              <a:cxnLst/>
              <a:rect l="l" t="t" r="r" b="b"/>
              <a:pathLst>
                <a:path w="241300" h="26035">
                  <a:moveTo>
                    <a:pt x="0" y="0"/>
                  </a:moveTo>
                  <a:lnTo>
                    <a:pt x="241299" y="0"/>
                  </a:lnTo>
                  <a:lnTo>
                    <a:pt x="241299" y="25421"/>
                  </a:lnTo>
                  <a:lnTo>
                    <a:pt x="0" y="25421"/>
                  </a:lnTo>
                  <a:lnTo>
                    <a:pt x="0" y="0"/>
                  </a:lnTo>
                  <a:close/>
                </a:path>
              </a:pathLst>
            </a:custGeom>
            <a:ln w="12710">
              <a:solidFill>
                <a:srgbClr val="000000"/>
              </a:solidFill>
            </a:ln>
          </p:spPr>
          <p:txBody>
            <a:bodyPr wrap="square" lIns="0" tIns="0" rIns="0" bIns="0" rtlCol="0"/>
            <a:lstStyle/>
            <a:p>
              <a:endParaRPr sz="1588"/>
            </a:p>
          </p:txBody>
        </p:sp>
      </p:grpSp>
      <p:sp>
        <p:nvSpPr>
          <p:cNvPr id="11" name="object 11"/>
          <p:cNvSpPr txBox="1"/>
          <p:nvPr/>
        </p:nvSpPr>
        <p:spPr>
          <a:xfrm>
            <a:off x="1177283" y="3294794"/>
            <a:ext cx="1231526" cy="269399"/>
          </a:xfrm>
          <a:prstGeom prst="rect">
            <a:avLst/>
          </a:prstGeom>
        </p:spPr>
        <p:txBody>
          <a:bodyPr vert="horz" wrap="square" lIns="0" tIns="11206" rIns="0" bIns="0" rtlCol="0">
            <a:spAutoFit/>
          </a:bodyPr>
          <a:lstStyle/>
          <a:p>
            <a:pPr marL="11206">
              <a:spcBef>
                <a:spcPts val="88"/>
              </a:spcBef>
              <a:tabLst>
                <a:tab pos="908285" algn="l"/>
              </a:tabLst>
            </a:pPr>
            <a:r>
              <a:rPr sz="1677" b="1" dirty="0">
                <a:solidFill>
                  <a:srgbClr val="FC0128"/>
                </a:solidFill>
                <a:latin typeface="Times New Roman"/>
                <a:cs typeface="Times New Roman"/>
              </a:rPr>
              <a:t>sub</a:t>
            </a:r>
            <a:r>
              <a:rPr sz="1677" b="1" spc="18" dirty="0">
                <a:solidFill>
                  <a:srgbClr val="FC0128"/>
                </a:solidFill>
                <a:latin typeface="Times New Roman"/>
                <a:cs typeface="Times New Roman"/>
              </a:rPr>
              <a:t> </a:t>
            </a:r>
            <a:r>
              <a:rPr sz="1677" b="1" spc="-22" dirty="0">
                <a:solidFill>
                  <a:srgbClr val="FC0128"/>
                </a:solidFill>
                <a:latin typeface="Times New Roman"/>
                <a:cs typeface="Times New Roman"/>
              </a:rPr>
              <a:t>r4,</a:t>
            </a:r>
            <a:r>
              <a:rPr sz="1677" b="1" dirty="0">
                <a:solidFill>
                  <a:srgbClr val="FC0128"/>
                </a:solidFill>
                <a:latin typeface="Times New Roman"/>
                <a:cs typeface="Times New Roman"/>
              </a:rPr>
              <a:t>	,</a:t>
            </a:r>
            <a:r>
              <a:rPr sz="1677" b="1" spc="13" dirty="0">
                <a:solidFill>
                  <a:srgbClr val="FC0128"/>
                </a:solidFill>
                <a:latin typeface="Times New Roman"/>
                <a:cs typeface="Times New Roman"/>
              </a:rPr>
              <a:t> </a:t>
            </a:r>
            <a:r>
              <a:rPr sz="1677" b="1" spc="-22" dirty="0">
                <a:solidFill>
                  <a:srgbClr val="FC0128"/>
                </a:solidFill>
                <a:latin typeface="Times New Roman"/>
                <a:cs typeface="Times New Roman"/>
              </a:rPr>
              <a:t>r6</a:t>
            </a:r>
            <a:endParaRPr sz="1677" dirty="0">
              <a:latin typeface="Times New Roman"/>
              <a:cs typeface="Times New Roman"/>
            </a:endParaRPr>
          </a:p>
        </p:txBody>
      </p:sp>
      <p:sp>
        <p:nvSpPr>
          <p:cNvPr id="12" name="object 12"/>
          <p:cNvSpPr txBox="1"/>
          <p:nvPr/>
        </p:nvSpPr>
        <p:spPr>
          <a:xfrm>
            <a:off x="1177283" y="4066656"/>
            <a:ext cx="1255619"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and</a:t>
            </a:r>
            <a:r>
              <a:rPr sz="1677" b="1" spc="40" dirty="0">
                <a:solidFill>
                  <a:srgbClr val="FC0128"/>
                </a:solidFill>
                <a:latin typeface="Times New Roman"/>
                <a:cs typeface="Times New Roman"/>
              </a:rPr>
              <a:t> </a:t>
            </a:r>
            <a:r>
              <a:rPr sz="1677" b="1" dirty="0">
                <a:solidFill>
                  <a:srgbClr val="FC0128"/>
                </a:solidFill>
                <a:latin typeface="Times New Roman"/>
                <a:cs typeface="Times New Roman"/>
              </a:rPr>
              <a:t>r6,</a:t>
            </a:r>
            <a:r>
              <a:rPr sz="1677" b="1" spc="26" dirty="0">
                <a:solidFill>
                  <a:srgbClr val="FC0128"/>
                </a:solidFill>
                <a:latin typeface="Times New Roman"/>
                <a:cs typeface="Times New Roman"/>
              </a:rPr>
              <a:t> </a:t>
            </a:r>
            <a:r>
              <a:rPr sz="1677" b="1" u="sng" dirty="0">
                <a:solidFill>
                  <a:srgbClr val="FF0000"/>
                </a:solidFill>
                <a:latin typeface="Times New Roman"/>
                <a:cs typeface="Times New Roman"/>
              </a:rPr>
              <a:t>r1</a:t>
            </a:r>
            <a:r>
              <a:rPr sz="1677" b="1" dirty="0">
                <a:solidFill>
                  <a:srgbClr val="FC0128"/>
                </a:solidFill>
                <a:latin typeface="Times New Roman"/>
                <a:cs typeface="Times New Roman"/>
              </a:rPr>
              <a:t>,</a:t>
            </a:r>
            <a:r>
              <a:rPr sz="1677" b="1" spc="31" dirty="0">
                <a:solidFill>
                  <a:srgbClr val="FC0128"/>
                </a:solidFill>
                <a:latin typeface="Times New Roman"/>
                <a:cs typeface="Times New Roman"/>
              </a:rPr>
              <a:t> </a:t>
            </a:r>
            <a:r>
              <a:rPr sz="1677" b="1" spc="-22" dirty="0">
                <a:solidFill>
                  <a:srgbClr val="FC0128"/>
                </a:solidFill>
                <a:latin typeface="Times New Roman"/>
                <a:cs typeface="Times New Roman"/>
              </a:rPr>
              <a:t>r7</a:t>
            </a:r>
            <a:endParaRPr sz="1677" dirty="0">
              <a:latin typeface="Times New Roman"/>
              <a:cs typeface="Times New Roman"/>
            </a:endParaRPr>
          </a:p>
        </p:txBody>
      </p:sp>
      <p:sp>
        <p:nvSpPr>
          <p:cNvPr id="13" name="object 13"/>
          <p:cNvSpPr txBox="1"/>
          <p:nvPr/>
        </p:nvSpPr>
        <p:spPr>
          <a:xfrm>
            <a:off x="1177283" y="4849274"/>
            <a:ext cx="1107141"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or</a:t>
            </a:r>
            <a:r>
              <a:rPr sz="1677" b="1" spc="4" dirty="0">
                <a:solidFill>
                  <a:srgbClr val="FC0128"/>
                </a:solidFill>
                <a:latin typeface="Times New Roman"/>
                <a:cs typeface="Times New Roman"/>
              </a:rPr>
              <a:t> </a:t>
            </a:r>
            <a:r>
              <a:rPr sz="1677" b="1" dirty="0">
                <a:solidFill>
                  <a:srgbClr val="FC0128"/>
                </a:solidFill>
                <a:latin typeface="Times New Roman"/>
                <a:cs typeface="Times New Roman"/>
              </a:rPr>
              <a:t>r8,</a:t>
            </a:r>
            <a:r>
              <a:rPr sz="1677" b="1" spc="35" dirty="0">
                <a:solidFill>
                  <a:srgbClr val="FC0128"/>
                </a:solidFill>
                <a:latin typeface="Times New Roman"/>
                <a:cs typeface="Times New Roman"/>
              </a:rPr>
              <a:t> </a:t>
            </a:r>
            <a:r>
              <a:rPr sz="1677" b="1" u="sng" dirty="0">
                <a:solidFill>
                  <a:srgbClr val="0099FF"/>
                </a:solidFill>
                <a:latin typeface="Times New Roman"/>
                <a:cs typeface="Times New Roman"/>
              </a:rPr>
              <a:t>r1</a:t>
            </a:r>
            <a:r>
              <a:rPr sz="1677" b="1" dirty="0">
                <a:solidFill>
                  <a:srgbClr val="FC0128"/>
                </a:solidFill>
                <a:latin typeface="Times New Roman"/>
                <a:cs typeface="Times New Roman"/>
              </a:rPr>
              <a:t>,</a:t>
            </a:r>
            <a:r>
              <a:rPr sz="1677" b="1" spc="40" dirty="0">
                <a:solidFill>
                  <a:srgbClr val="FC0128"/>
                </a:solidFill>
                <a:latin typeface="Times New Roman"/>
                <a:cs typeface="Times New Roman"/>
              </a:rPr>
              <a:t> </a:t>
            </a:r>
            <a:r>
              <a:rPr sz="1677" b="1" spc="-22" dirty="0">
                <a:solidFill>
                  <a:srgbClr val="FC0128"/>
                </a:solidFill>
                <a:latin typeface="Times New Roman"/>
                <a:cs typeface="Times New Roman"/>
              </a:rPr>
              <a:t>r9</a:t>
            </a:r>
            <a:endParaRPr sz="1677" dirty="0">
              <a:latin typeface="Times New Roman"/>
              <a:cs typeface="Times New Roman"/>
            </a:endParaRPr>
          </a:p>
        </p:txBody>
      </p:sp>
      <p:sp>
        <p:nvSpPr>
          <p:cNvPr id="14" name="object 14"/>
          <p:cNvSpPr txBox="1"/>
          <p:nvPr/>
        </p:nvSpPr>
        <p:spPr>
          <a:xfrm>
            <a:off x="666295" y="2475839"/>
            <a:ext cx="163046" cy="1474280"/>
          </a:xfrm>
          <a:prstGeom prst="rect">
            <a:avLst/>
          </a:prstGeom>
        </p:spPr>
        <p:txBody>
          <a:bodyPr vert="horz" wrap="square" lIns="0" tIns="11206" rIns="0" bIns="0" rtlCol="0">
            <a:spAutoFit/>
          </a:bodyPr>
          <a:lstStyle/>
          <a:p>
            <a:pPr marL="34180">
              <a:lnSpc>
                <a:spcPts val="2268"/>
              </a:lnSpc>
              <a:spcBef>
                <a:spcPts val="88"/>
              </a:spcBef>
            </a:pPr>
            <a:r>
              <a:rPr sz="1941" b="1" i="1" spc="-44" dirty="0">
                <a:latin typeface="Times New Roman"/>
                <a:cs typeface="Times New Roman"/>
              </a:rPr>
              <a:t>I</a:t>
            </a:r>
            <a:endParaRPr sz="1941">
              <a:latin typeface="Times New Roman"/>
              <a:cs typeface="Times New Roman"/>
            </a:endParaRPr>
          </a:p>
          <a:p>
            <a:pPr marL="34180" indent="-20732">
              <a:lnSpc>
                <a:spcPts val="2255"/>
              </a:lnSpc>
            </a:pPr>
            <a:r>
              <a:rPr sz="1941" b="1" i="1" spc="-44" dirty="0">
                <a:latin typeface="Times New Roman"/>
                <a:cs typeface="Times New Roman"/>
              </a:rPr>
              <a:t>n</a:t>
            </a:r>
            <a:endParaRPr sz="1941">
              <a:latin typeface="Times New Roman"/>
              <a:cs typeface="Times New Roman"/>
            </a:endParaRPr>
          </a:p>
          <a:p>
            <a:pPr marL="11206" marR="18491" indent="22972" algn="just">
              <a:lnSpc>
                <a:spcPct val="96400"/>
              </a:lnSpc>
              <a:spcBef>
                <a:spcPts val="75"/>
              </a:spcBef>
            </a:pPr>
            <a:r>
              <a:rPr sz="1941" b="1" i="1" spc="-44" dirty="0">
                <a:latin typeface="Times New Roman"/>
                <a:cs typeface="Times New Roman"/>
              </a:rPr>
              <a:t>s t </a:t>
            </a:r>
            <a:r>
              <a:rPr sz="1941" b="1" i="1" spc="-137" dirty="0">
                <a:latin typeface="Times New Roman"/>
                <a:cs typeface="Times New Roman"/>
              </a:rPr>
              <a:t>r.</a:t>
            </a:r>
            <a:endParaRPr sz="1941">
              <a:latin typeface="Times New Roman"/>
              <a:cs typeface="Times New Roman"/>
            </a:endParaRPr>
          </a:p>
        </p:txBody>
      </p:sp>
      <p:sp>
        <p:nvSpPr>
          <p:cNvPr id="15" name="object 15"/>
          <p:cNvSpPr txBox="1"/>
          <p:nvPr/>
        </p:nvSpPr>
        <p:spPr>
          <a:xfrm>
            <a:off x="649069" y="4202442"/>
            <a:ext cx="200584" cy="1465047"/>
          </a:xfrm>
          <a:prstGeom prst="rect">
            <a:avLst/>
          </a:prstGeom>
        </p:spPr>
        <p:txBody>
          <a:bodyPr vert="horz" wrap="square" lIns="0" tIns="11206" rIns="0" bIns="0" rtlCol="0">
            <a:spAutoFit/>
          </a:bodyPr>
          <a:lstStyle/>
          <a:p>
            <a:pPr marL="11206">
              <a:lnSpc>
                <a:spcPts val="2277"/>
              </a:lnSpc>
              <a:spcBef>
                <a:spcPts val="88"/>
              </a:spcBef>
            </a:pPr>
            <a:r>
              <a:rPr sz="1941" b="1" i="1" spc="-44" dirty="0">
                <a:latin typeface="Times New Roman"/>
                <a:cs typeface="Times New Roman"/>
              </a:rPr>
              <a:t>O</a:t>
            </a:r>
            <a:endParaRPr sz="1941">
              <a:latin typeface="Times New Roman"/>
              <a:cs typeface="Times New Roman"/>
            </a:endParaRPr>
          </a:p>
          <a:p>
            <a:pPr marL="38102" marR="31938" indent="13448" algn="just">
              <a:lnSpc>
                <a:spcPct val="97300"/>
              </a:lnSpc>
              <a:spcBef>
                <a:spcPts val="9"/>
              </a:spcBef>
            </a:pPr>
            <a:r>
              <a:rPr sz="1941" b="1" i="1" spc="-44" dirty="0">
                <a:latin typeface="Times New Roman"/>
                <a:cs typeface="Times New Roman"/>
              </a:rPr>
              <a:t>r d e r</a:t>
            </a:r>
            <a:endParaRPr sz="1941">
              <a:latin typeface="Times New Roman"/>
              <a:cs typeface="Times New Roman"/>
            </a:endParaRPr>
          </a:p>
        </p:txBody>
      </p:sp>
      <p:sp>
        <p:nvSpPr>
          <p:cNvPr id="16" name="object 16"/>
          <p:cNvSpPr/>
          <p:nvPr/>
        </p:nvSpPr>
        <p:spPr>
          <a:xfrm>
            <a:off x="1030478" y="2527472"/>
            <a:ext cx="72278" cy="2957793"/>
          </a:xfrm>
          <a:custGeom>
            <a:avLst/>
            <a:gdLst/>
            <a:ahLst/>
            <a:cxnLst/>
            <a:rect l="l" t="t" r="r" b="b"/>
            <a:pathLst>
              <a:path w="81915" h="3352165">
                <a:moveTo>
                  <a:pt x="27304" y="3269853"/>
                </a:moveTo>
                <a:lnTo>
                  <a:pt x="0" y="3269853"/>
                </a:lnTo>
                <a:lnTo>
                  <a:pt x="40957" y="3351839"/>
                </a:lnTo>
                <a:lnTo>
                  <a:pt x="75081" y="3283532"/>
                </a:lnTo>
                <a:lnTo>
                  <a:pt x="27305" y="3283532"/>
                </a:lnTo>
                <a:lnTo>
                  <a:pt x="27304" y="3269853"/>
                </a:lnTo>
                <a:close/>
              </a:path>
              <a:path w="81915" h="3352165">
                <a:moveTo>
                  <a:pt x="54608" y="0"/>
                </a:moveTo>
                <a:lnTo>
                  <a:pt x="27303" y="0"/>
                </a:lnTo>
                <a:lnTo>
                  <a:pt x="27305" y="3283532"/>
                </a:lnTo>
                <a:lnTo>
                  <a:pt x="54609" y="3283532"/>
                </a:lnTo>
                <a:lnTo>
                  <a:pt x="54608" y="0"/>
                </a:lnTo>
                <a:close/>
              </a:path>
              <a:path w="81915" h="3352165">
                <a:moveTo>
                  <a:pt x="81915" y="3269853"/>
                </a:moveTo>
                <a:lnTo>
                  <a:pt x="54609" y="3269853"/>
                </a:lnTo>
                <a:lnTo>
                  <a:pt x="54609" y="3283532"/>
                </a:lnTo>
                <a:lnTo>
                  <a:pt x="75081" y="3283532"/>
                </a:lnTo>
                <a:lnTo>
                  <a:pt x="81915" y="3269853"/>
                </a:lnTo>
                <a:close/>
              </a:path>
            </a:pathLst>
          </a:custGeom>
          <a:solidFill>
            <a:srgbClr val="000000"/>
          </a:solidFill>
        </p:spPr>
        <p:txBody>
          <a:bodyPr wrap="square" lIns="0" tIns="0" rIns="0" bIns="0" rtlCol="0"/>
          <a:lstStyle/>
          <a:p>
            <a:endParaRPr sz="1588"/>
          </a:p>
        </p:txBody>
      </p:sp>
      <p:grpSp>
        <p:nvGrpSpPr>
          <p:cNvPr id="17" name="object 17"/>
          <p:cNvGrpSpPr/>
          <p:nvPr/>
        </p:nvGrpSpPr>
        <p:grpSpPr>
          <a:xfrm>
            <a:off x="2225056" y="1841901"/>
            <a:ext cx="6375026" cy="1042147"/>
            <a:chOff x="2369330" y="2087488"/>
            <a:chExt cx="7225030" cy="1181100"/>
          </a:xfrm>
        </p:grpSpPr>
        <p:sp>
          <p:nvSpPr>
            <p:cNvPr id="18" name="object 18"/>
            <p:cNvSpPr/>
            <p:nvPr/>
          </p:nvSpPr>
          <p:spPr>
            <a:xfrm>
              <a:off x="2369330" y="2087488"/>
              <a:ext cx="7225030" cy="82550"/>
            </a:xfrm>
            <a:custGeom>
              <a:avLst/>
              <a:gdLst/>
              <a:ahLst/>
              <a:cxnLst/>
              <a:rect l="l" t="t" r="r" b="b"/>
              <a:pathLst>
                <a:path w="7225030" h="82550">
                  <a:moveTo>
                    <a:pt x="7143197" y="0"/>
                  </a:moveTo>
                  <a:lnTo>
                    <a:pt x="7143071" y="41245"/>
                  </a:lnTo>
                  <a:lnTo>
                    <a:pt x="7142946" y="81986"/>
                  </a:lnTo>
                  <a:lnTo>
                    <a:pt x="7197895" y="54698"/>
                  </a:lnTo>
                  <a:lnTo>
                    <a:pt x="7156739" y="54698"/>
                  </a:lnTo>
                  <a:lnTo>
                    <a:pt x="7156823" y="27371"/>
                  </a:lnTo>
                  <a:lnTo>
                    <a:pt x="7197473" y="27371"/>
                  </a:lnTo>
                  <a:lnTo>
                    <a:pt x="7143197" y="0"/>
                  </a:lnTo>
                  <a:close/>
                </a:path>
                <a:path w="7225030" h="82550">
                  <a:moveTo>
                    <a:pt x="85" y="5326"/>
                  </a:moveTo>
                  <a:lnTo>
                    <a:pt x="0" y="32655"/>
                  </a:lnTo>
                  <a:lnTo>
                    <a:pt x="7156739" y="54698"/>
                  </a:lnTo>
                  <a:lnTo>
                    <a:pt x="7143029" y="54698"/>
                  </a:lnTo>
                  <a:lnTo>
                    <a:pt x="7143113" y="27371"/>
                  </a:lnTo>
                  <a:lnTo>
                    <a:pt x="7156823" y="27371"/>
                  </a:lnTo>
                  <a:lnTo>
                    <a:pt x="85" y="5326"/>
                  </a:lnTo>
                  <a:close/>
                </a:path>
                <a:path w="7225030" h="82550">
                  <a:moveTo>
                    <a:pt x="7197473" y="27371"/>
                  </a:moveTo>
                  <a:lnTo>
                    <a:pt x="7156823" y="27371"/>
                  </a:lnTo>
                  <a:lnTo>
                    <a:pt x="7156739" y="54698"/>
                  </a:lnTo>
                  <a:lnTo>
                    <a:pt x="7197895" y="54698"/>
                  </a:lnTo>
                  <a:lnTo>
                    <a:pt x="7224986" y="41245"/>
                  </a:lnTo>
                  <a:lnTo>
                    <a:pt x="7197473" y="27371"/>
                  </a:lnTo>
                  <a:close/>
                </a:path>
              </a:pathLst>
            </a:custGeom>
            <a:solidFill>
              <a:srgbClr val="000000"/>
            </a:solidFill>
          </p:spPr>
          <p:txBody>
            <a:bodyPr wrap="square" lIns="0" tIns="0" rIns="0" bIns="0" rtlCol="0"/>
            <a:lstStyle/>
            <a:p>
              <a:endParaRPr sz="1588"/>
            </a:p>
          </p:txBody>
        </p:sp>
        <p:sp>
          <p:nvSpPr>
            <p:cNvPr id="19" name="object 19"/>
            <p:cNvSpPr/>
            <p:nvPr/>
          </p:nvSpPr>
          <p:spPr>
            <a:xfrm>
              <a:off x="3926829" y="2882212"/>
              <a:ext cx="217170" cy="366395"/>
            </a:xfrm>
            <a:custGeom>
              <a:avLst/>
              <a:gdLst/>
              <a:ahLst/>
              <a:cxnLst/>
              <a:rect l="l" t="t" r="r" b="b"/>
              <a:pathLst>
                <a:path w="217170" h="366394">
                  <a:moveTo>
                    <a:pt x="216566" y="0"/>
                  </a:moveTo>
                  <a:lnTo>
                    <a:pt x="0" y="0"/>
                  </a:lnTo>
                  <a:lnTo>
                    <a:pt x="0" y="366092"/>
                  </a:lnTo>
                  <a:lnTo>
                    <a:pt x="216566" y="366092"/>
                  </a:lnTo>
                  <a:lnTo>
                    <a:pt x="216566" y="0"/>
                  </a:lnTo>
                  <a:close/>
                </a:path>
              </a:pathLst>
            </a:custGeom>
            <a:solidFill>
              <a:srgbClr val="0099FF"/>
            </a:solidFill>
          </p:spPr>
          <p:txBody>
            <a:bodyPr wrap="square" lIns="0" tIns="0" rIns="0" bIns="0" rtlCol="0"/>
            <a:lstStyle/>
            <a:p>
              <a:endParaRPr sz="1588"/>
            </a:p>
          </p:txBody>
        </p:sp>
        <p:sp>
          <p:nvSpPr>
            <p:cNvPr id="20" name="object 20"/>
            <p:cNvSpPr/>
            <p:nvPr/>
          </p:nvSpPr>
          <p:spPr>
            <a:xfrm>
              <a:off x="3710261" y="2882212"/>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21" name="object 21"/>
          <p:cNvSpPr txBox="1"/>
          <p:nvPr/>
        </p:nvSpPr>
        <p:spPr>
          <a:xfrm>
            <a:off x="3479031" y="2587995"/>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22" name="object 22"/>
          <p:cNvGrpSpPr/>
          <p:nvPr/>
        </p:nvGrpSpPr>
        <p:grpSpPr>
          <a:xfrm>
            <a:off x="3778411" y="2432282"/>
            <a:ext cx="718296" cy="547968"/>
            <a:chOff x="4129798" y="2756587"/>
            <a:chExt cx="814069" cy="621030"/>
          </a:xfrm>
        </p:grpSpPr>
        <p:sp>
          <p:nvSpPr>
            <p:cNvPr id="23" name="object 23"/>
            <p:cNvSpPr/>
            <p:nvPr/>
          </p:nvSpPr>
          <p:spPr>
            <a:xfrm>
              <a:off x="4145356" y="2956923"/>
              <a:ext cx="478790" cy="220979"/>
            </a:xfrm>
            <a:custGeom>
              <a:avLst/>
              <a:gdLst/>
              <a:ahLst/>
              <a:cxnLst/>
              <a:rect l="l" t="t" r="r" b="b"/>
              <a:pathLst>
                <a:path w="478789" h="220980">
                  <a:moveTo>
                    <a:pt x="0" y="0"/>
                  </a:moveTo>
                  <a:lnTo>
                    <a:pt x="93807" y="0"/>
                  </a:lnTo>
                </a:path>
                <a:path w="478789" h="220980">
                  <a:moveTo>
                    <a:pt x="181386" y="0"/>
                  </a:moveTo>
                  <a:lnTo>
                    <a:pt x="478211" y="0"/>
                  </a:lnTo>
                </a:path>
                <a:path w="478789" h="220980">
                  <a:moveTo>
                    <a:pt x="0" y="220958"/>
                  </a:moveTo>
                  <a:lnTo>
                    <a:pt x="93807" y="220958"/>
                  </a:lnTo>
                </a:path>
                <a:path w="478789" h="220980">
                  <a:moveTo>
                    <a:pt x="181386" y="220958"/>
                  </a:moveTo>
                  <a:lnTo>
                    <a:pt x="478211" y="220958"/>
                  </a:lnTo>
                </a:path>
              </a:pathLst>
            </a:custGeom>
            <a:ln w="30745">
              <a:solidFill>
                <a:srgbClr val="000000"/>
              </a:solidFill>
            </a:ln>
          </p:spPr>
          <p:txBody>
            <a:bodyPr wrap="square" lIns="0" tIns="0" rIns="0" bIns="0" rtlCol="0"/>
            <a:lstStyle/>
            <a:p>
              <a:endParaRPr sz="1588"/>
            </a:p>
          </p:txBody>
        </p:sp>
        <p:sp>
          <p:nvSpPr>
            <p:cNvPr id="24" name="object 24"/>
            <p:cNvSpPr/>
            <p:nvPr/>
          </p:nvSpPr>
          <p:spPr>
            <a:xfrm>
              <a:off x="4561777" y="2772144"/>
              <a:ext cx="366395" cy="589915"/>
            </a:xfrm>
            <a:custGeom>
              <a:avLst/>
              <a:gdLst/>
              <a:ahLst/>
              <a:cxnLst/>
              <a:rect l="l" t="t" r="r" b="b"/>
              <a:pathLst>
                <a:path w="366395" h="589914">
                  <a:moveTo>
                    <a:pt x="0" y="0"/>
                  </a:moveTo>
                  <a:lnTo>
                    <a:pt x="0" y="589747"/>
                  </a:lnTo>
                  <a:lnTo>
                    <a:pt x="366115" y="442310"/>
                  </a:lnTo>
                  <a:lnTo>
                    <a:pt x="366115" y="147436"/>
                  </a:lnTo>
                  <a:lnTo>
                    <a:pt x="0" y="0"/>
                  </a:lnTo>
                  <a:close/>
                </a:path>
              </a:pathLst>
            </a:custGeom>
            <a:solidFill>
              <a:srgbClr val="FFFFFF"/>
            </a:solidFill>
          </p:spPr>
          <p:txBody>
            <a:bodyPr wrap="square" lIns="0" tIns="0" rIns="0" bIns="0" rtlCol="0"/>
            <a:lstStyle/>
            <a:p>
              <a:endParaRPr sz="1588"/>
            </a:p>
          </p:txBody>
        </p:sp>
        <p:sp>
          <p:nvSpPr>
            <p:cNvPr id="25" name="object 25"/>
            <p:cNvSpPr/>
            <p:nvPr/>
          </p:nvSpPr>
          <p:spPr>
            <a:xfrm>
              <a:off x="4561777" y="2772144"/>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26" name="object 26"/>
            <p:cNvSpPr/>
            <p:nvPr/>
          </p:nvSpPr>
          <p:spPr>
            <a:xfrm>
              <a:off x="4537334" y="2972182"/>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27" name="object 27"/>
            <p:cNvSpPr/>
            <p:nvPr/>
          </p:nvSpPr>
          <p:spPr>
            <a:xfrm>
              <a:off x="4561777" y="2983316"/>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28" name="object 28"/>
          <p:cNvSpPr txBox="1"/>
          <p:nvPr/>
        </p:nvSpPr>
        <p:spPr>
          <a:xfrm>
            <a:off x="4278643" y="2547317"/>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29" name="object 29"/>
          <p:cNvGrpSpPr/>
          <p:nvPr/>
        </p:nvGrpSpPr>
        <p:grpSpPr>
          <a:xfrm>
            <a:off x="4471864" y="2530804"/>
            <a:ext cx="1060076" cy="352985"/>
            <a:chOff x="4915712" y="2868244"/>
            <a:chExt cx="1201420" cy="400050"/>
          </a:xfrm>
        </p:grpSpPr>
        <p:sp>
          <p:nvSpPr>
            <p:cNvPr id="30" name="object 30"/>
            <p:cNvSpPr/>
            <p:nvPr/>
          </p:nvSpPr>
          <p:spPr>
            <a:xfrm>
              <a:off x="4931270" y="3068197"/>
              <a:ext cx="1170305" cy="0"/>
            </a:xfrm>
            <a:custGeom>
              <a:avLst/>
              <a:gdLst/>
              <a:ahLst/>
              <a:cxnLst/>
              <a:rect l="l" t="t" r="r" b="b"/>
              <a:pathLst>
                <a:path w="1170304">
                  <a:moveTo>
                    <a:pt x="0" y="0"/>
                  </a:moveTo>
                  <a:lnTo>
                    <a:pt x="116786" y="0"/>
                  </a:lnTo>
                </a:path>
                <a:path w="1170304">
                  <a:moveTo>
                    <a:pt x="203150" y="0"/>
                  </a:moveTo>
                  <a:lnTo>
                    <a:pt x="352463" y="0"/>
                  </a:lnTo>
                </a:path>
                <a:path w="1170304">
                  <a:moveTo>
                    <a:pt x="795713" y="0"/>
                  </a:moveTo>
                  <a:lnTo>
                    <a:pt x="925681" y="0"/>
                  </a:lnTo>
                </a:path>
                <a:path w="1170304">
                  <a:moveTo>
                    <a:pt x="1013260" y="0"/>
                  </a:moveTo>
                  <a:lnTo>
                    <a:pt x="1170051" y="0"/>
                  </a:lnTo>
                </a:path>
              </a:pathLst>
            </a:custGeom>
            <a:ln w="30745">
              <a:solidFill>
                <a:srgbClr val="000000"/>
              </a:solidFill>
            </a:ln>
          </p:spPr>
          <p:txBody>
            <a:bodyPr wrap="square" lIns="0" tIns="0" rIns="0" bIns="0" rtlCol="0"/>
            <a:lstStyle/>
            <a:p>
              <a:endParaRPr sz="1588"/>
            </a:p>
          </p:txBody>
        </p:sp>
        <p:sp>
          <p:nvSpPr>
            <p:cNvPr id="31" name="object 31"/>
            <p:cNvSpPr/>
            <p:nvPr/>
          </p:nvSpPr>
          <p:spPr>
            <a:xfrm>
              <a:off x="5283733" y="2883801"/>
              <a:ext cx="434340" cy="368935"/>
            </a:xfrm>
            <a:custGeom>
              <a:avLst/>
              <a:gdLst/>
              <a:ahLst/>
              <a:cxnLst/>
              <a:rect l="l" t="t" r="r" b="b"/>
              <a:pathLst>
                <a:path w="434339"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32" name="object 32"/>
          <p:cNvSpPr txBox="1"/>
          <p:nvPr/>
        </p:nvSpPr>
        <p:spPr>
          <a:xfrm>
            <a:off x="4778290" y="2587995"/>
            <a:ext cx="414618"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33" name="object 33"/>
          <p:cNvGrpSpPr/>
          <p:nvPr/>
        </p:nvGrpSpPr>
        <p:grpSpPr>
          <a:xfrm>
            <a:off x="3030884" y="2595323"/>
            <a:ext cx="2312334" cy="385482"/>
            <a:chOff x="3282601" y="2941366"/>
            <a:chExt cx="2620645" cy="436880"/>
          </a:xfrm>
        </p:grpSpPr>
        <p:sp>
          <p:nvSpPr>
            <p:cNvPr id="34" name="object 34"/>
            <p:cNvSpPr/>
            <p:nvPr/>
          </p:nvSpPr>
          <p:spPr>
            <a:xfrm>
              <a:off x="5237012" y="3068196"/>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35" name="object 35"/>
            <p:cNvSpPr/>
            <p:nvPr/>
          </p:nvSpPr>
          <p:spPr>
            <a:xfrm>
              <a:off x="3298159" y="2956923"/>
              <a:ext cx="412115" cy="222885"/>
            </a:xfrm>
            <a:custGeom>
              <a:avLst/>
              <a:gdLst/>
              <a:ahLst/>
              <a:cxnLst/>
              <a:rect l="l" t="t" r="r" b="b"/>
              <a:pathLst>
                <a:path w="412114" h="222885">
                  <a:moveTo>
                    <a:pt x="0" y="222547"/>
                  </a:moveTo>
                  <a:lnTo>
                    <a:pt x="135760" y="222547"/>
                  </a:lnTo>
                </a:path>
                <a:path w="412114" h="222885">
                  <a:moveTo>
                    <a:pt x="223339" y="222547"/>
                  </a:moveTo>
                  <a:lnTo>
                    <a:pt x="412103" y="222547"/>
                  </a:lnTo>
                </a:path>
                <a:path w="412114" h="222885">
                  <a:moveTo>
                    <a:pt x="223339" y="0"/>
                  </a:moveTo>
                  <a:lnTo>
                    <a:pt x="410142" y="0"/>
                  </a:lnTo>
                </a:path>
                <a:path w="412114" h="222885">
                  <a:moveTo>
                    <a:pt x="0" y="0"/>
                  </a:moveTo>
                  <a:lnTo>
                    <a:pt x="135760" y="0"/>
                  </a:lnTo>
                </a:path>
              </a:pathLst>
            </a:custGeom>
            <a:ln w="30745">
              <a:solidFill>
                <a:srgbClr val="000000"/>
              </a:solidFill>
            </a:ln>
          </p:spPr>
          <p:txBody>
            <a:bodyPr wrap="square" lIns="0" tIns="0" rIns="0" bIns="0" rtlCol="0"/>
            <a:lstStyle/>
            <a:p>
              <a:endParaRPr sz="1588"/>
            </a:p>
          </p:txBody>
        </p:sp>
      </p:grpSp>
      <p:sp>
        <p:nvSpPr>
          <p:cNvPr id="36" name="object 36"/>
          <p:cNvSpPr txBox="1"/>
          <p:nvPr/>
        </p:nvSpPr>
        <p:spPr>
          <a:xfrm>
            <a:off x="2659905" y="2544531"/>
            <a:ext cx="384922" cy="217872"/>
          </a:xfrm>
          <a:prstGeom prst="rect">
            <a:avLst/>
          </a:prstGeom>
          <a:ln w="30733">
            <a:solidFill>
              <a:srgbClr val="000000"/>
            </a:solidFill>
          </a:ln>
        </p:spPr>
        <p:txBody>
          <a:bodyPr vert="horz" wrap="square" lIns="0" tIns="54348" rIns="0" bIns="0" rtlCol="0">
            <a:spAutoFit/>
          </a:bodyPr>
          <a:lstStyle/>
          <a:p>
            <a:pPr marL="27456">
              <a:spcBef>
                <a:spcPts val="427"/>
              </a:spcBef>
            </a:pPr>
            <a:r>
              <a:rPr sz="1059" b="1" spc="-9" dirty="0">
                <a:latin typeface="Times New Roman"/>
                <a:cs typeface="Times New Roman"/>
              </a:rPr>
              <a:t>Ifetch</a:t>
            </a:r>
            <a:endParaRPr sz="1059">
              <a:latin typeface="Times New Roman"/>
              <a:cs typeface="Times New Roman"/>
            </a:endParaRPr>
          </a:p>
        </p:txBody>
      </p:sp>
      <p:grpSp>
        <p:nvGrpSpPr>
          <p:cNvPr id="37" name="object 37"/>
          <p:cNvGrpSpPr/>
          <p:nvPr/>
        </p:nvGrpSpPr>
        <p:grpSpPr>
          <a:xfrm>
            <a:off x="3150673" y="2383531"/>
            <a:ext cx="2766732" cy="646019"/>
            <a:chOff x="3418362" y="2701334"/>
            <a:chExt cx="3135630" cy="732155"/>
          </a:xfrm>
        </p:grpSpPr>
        <p:sp>
          <p:nvSpPr>
            <p:cNvPr id="38" name="object 38"/>
            <p:cNvSpPr/>
            <p:nvPr/>
          </p:nvSpPr>
          <p:spPr>
            <a:xfrm>
              <a:off x="4239163" y="2716892"/>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39" name="object 39"/>
            <p:cNvSpPr/>
            <p:nvPr/>
          </p:nvSpPr>
          <p:spPr>
            <a:xfrm>
              <a:off x="4239163" y="2716892"/>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40" name="object 40"/>
            <p:cNvSpPr/>
            <p:nvPr/>
          </p:nvSpPr>
          <p:spPr>
            <a:xfrm>
              <a:off x="5856951" y="2716892"/>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41" name="object 41"/>
            <p:cNvSpPr/>
            <p:nvPr/>
          </p:nvSpPr>
          <p:spPr>
            <a:xfrm>
              <a:off x="5856951" y="2716892"/>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42" name="object 42"/>
            <p:cNvSpPr/>
            <p:nvPr/>
          </p:nvSpPr>
          <p:spPr>
            <a:xfrm>
              <a:off x="3433920" y="2716892"/>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43" name="object 43"/>
            <p:cNvSpPr/>
            <p:nvPr/>
          </p:nvSpPr>
          <p:spPr>
            <a:xfrm>
              <a:off x="3433920" y="2716892"/>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44" name="object 44"/>
            <p:cNvSpPr/>
            <p:nvPr/>
          </p:nvSpPr>
          <p:spPr>
            <a:xfrm>
              <a:off x="5048057" y="2721009"/>
              <a:ext cx="86360" cy="692150"/>
            </a:xfrm>
            <a:custGeom>
              <a:avLst/>
              <a:gdLst/>
              <a:ahLst/>
              <a:cxnLst/>
              <a:rect l="l" t="t" r="r" b="b"/>
              <a:pathLst>
                <a:path w="86360" h="692150">
                  <a:moveTo>
                    <a:pt x="86363" y="0"/>
                  </a:moveTo>
                  <a:lnTo>
                    <a:pt x="0" y="0"/>
                  </a:lnTo>
                  <a:lnTo>
                    <a:pt x="0" y="691756"/>
                  </a:lnTo>
                  <a:lnTo>
                    <a:pt x="86363" y="691756"/>
                  </a:lnTo>
                  <a:lnTo>
                    <a:pt x="86363" y="0"/>
                  </a:lnTo>
                  <a:close/>
                </a:path>
              </a:pathLst>
            </a:custGeom>
            <a:solidFill>
              <a:srgbClr val="00FF00"/>
            </a:solidFill>
          </p:spPr>
          <p:txBody>
            <a:bodyPr wrap="square" lIns="0" tIns="0" rIns="0" bIns="0" rtlCol="0"/>
            <a:lstStyle/>
            <a:p>
              <a:endParaRPr sz="1588"/>
            </a:p>
          </p:txBody>
        </p:sp>
        <p:sp>
          <p:nvSpPr>
            <p:cNvPr id="45" name="object 45"/>
            <p:cNvSpPr/>
            <p:nvPr/>
          </p:nvSpPr>
          <p:spPr>
            <a:xfrm>
              <a:off x="5048057" y="2721009"/>
              <a:ext cx="86360" cy="692150"/>
            </a:xfrm>
            <a:custGeom>
              <a:avLst/>
              <a:gdLst/>
              <a:ahLst/>
              <a:cxnLst/>
              <a:rect l="l" t="t" r="r" b="b"/>
              <a:pathLst>
                <a:path w="86360" h="692150">
                  <a:moveTo>
                    <a:pt x="0" y="0"/>
                  </a:moveTo>
                  <a:lnTo>
                    <a:pt x="86363" y="0"/>
                  </a:lnTo>
                  <a:lnTo>
                    <a:pt x="86363"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46" name="object 46"/>
            <p:cNvSpPr/>
            <p:nvPr/>
          </p:nvSpPr>
          <p:spPr>
            <a:xfrm>
              <a:off x="6101321" y="2869495"/>
              <a:ext cx="219075" cy="366395"/>
            </a:xfrm>
            <a:custGeom>
              <a:avLst/>
              <a:gdLst/>
              <a:ahLst/>
              <a:cxnLst/>
              <a:rect l="l" t="t" r="r" b="b"/>
              <a:pathLst>
                <a:path w="219075" h="366394">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47" name="object 47"/>
            <p:cNvSpPr/>
            <p:nvPr/>
          </p:nvSpPr>
          <p:spPr>
            <a:xfrm>
              <a:off x="6101321" y="2869495"/>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48" name="object 48"/>
          <p:cNvSpPr txBox="1"/>
          <p:nvPr/>
        </p:nvSpPr>
        <p:spPr>
          <a:xfrm>
            <a:off x="5531548" y="2574547"/>
            <a:ext cx="372596" cy="174309"/>
          </a:xfrm>
          <a:prstGeom prst="rect">
            <a:avLst/>
          </a:prstGeom>
        </p:spPr>
        <p:txBody>
          <a:bodyPr vert="horz" wrap="square" lIns="0" tIns="11206" rIns="0" bIns="0" rtlCol="0">
            <a:spAutoFit/>
          </a:bodyPr>
          <a:lstStyle/>
          <a:p>
            <a:pPr marL="71721">
              <a:spcBef>
                <a:spcPts val="88"/>
              </a:spcBef>
            </a:pPr>
            <a:r>
              <a:rPr sz="1059" b="1" spc="-22" dirty="0">
                <a:latin typeface="Times New Roman"/>
                <a:cs typeface="Times New Roman"/>
              </a:rPr>
              <a:t>Reg</a:t>
            </a:r>
            <a:endParaRPr sz="1059">
              <a:latin typeface="Times New Roman"/>
              <a:cs typeface="Times New Roman"/>
            </a:endParaRPr>
          </a:p>
        </p:txBody>
      </p:sp>
      <p:grpSp>
        <p:nvGrpSpPr>
          <p:cNvPr id="49" name="object 49"/>
          <p:cNvGrpSpPr/>
          <p:nvPr/>
        </p:nvGrpSpPr>
        <p:grpSpPr>
          <a:xfrm>
            <a:off x="4121293" y="3281371"/>
            <a:ext cx="410135" cy="354666"/>
            <a:chOff x="4518399" y="3718887"/>
            <a:chExt cx="464820" cy="401955"/>
          </a:xfrm>
        </p:grpSpPr>
        <p:sp>
          <p:nvSpPr>
            <p:cNvPr id="50" name="object 50"/>
            <p:cNvSpPr/>
            <p:nvPr/>
          </p:nvSpPr>
          <p:spPr>
            <a:xfrm>
              <a:off x="4750524" y="3734445"/>
              <a:ext cx="217170" cy="366395"/>
            </a:xfrm>
            <a:custGeom>
              <a:avLst/>
              <a:gdLst/>
              <a:ahLst/>
              <a:cxnLst/>
              <a:rect l="l" t="t" r="r" b="b"/>
              <a:pathLst>
                <a:path w="217170" h="366395">
                  <a:moveTo>
                    <a:pt x="216568" y="0"/>
                  </a:moveTo>
                  <a:lnTo>
                    <a:pt x="0" y="0"/>
                  </a:lnTo>
                  <a:lnTo>
                    <a:pt x="0" y="366094"/>
                  </a:lnTo>
                  <a:lnTo>
                    <a:pt x="216568" y="366094"/>
                  </a:lnTo>
                  <a:lnTo>
                    <a:pt x="216568" y="0"/>
                  </a:lnTo>
                  <a:close/>
                </a:path>
              </a:pathLst>
            </a:custGeom>
            <a:solidFill>
              <a:srgbClr val="0099FF"/>
            </a:solidFill>
          </p:spPr>
          <p:txBody>
            <a:bodyPr wrap="square" lIns="0" tIns="0" rIns="0" bIns="0" rtlCol="0"/>
            <a:lstStyle/>
            <a:p>
              <a:endParaRPr sz="1588"/>
            </a:p>
          </p:txBody>
        </p:sp>
        <p:sp>
          <p:nvSpPr>
            <p:cNvPr id="51" name="object 51"/>
            <p:cNvSpPr/>
            <p:nvPr/>
          </p:nvSpPr>
          <p:spPr>
            <a:xfrm>
              <a:off x="4533957" y="3734445"/>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52" name="object 52"/>
          <p:cNvSpPr txBox="1"/>
          <p:nvPr/>
        </p:nvSpPr>
        <p:spPr>
          <a:xfrm>
            <a:off x="4205821" y="3338340"/>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53" name="object 53"/>
          <p:cNvGrpSpPr/>
          <p:nvPr/>
        </p:nvGrpSpPr>
        <p:grpSpPr>
          <a:xfrm>
            <a:off x="4505201" y="3184252"/>
            <a:ext cx="718296" cy="547968"/>
            <a:chOff x="4953494" y="3608819"/>
            <a:chExt cx="814069" cy="621030"/>
          </a:xfrm>
        </p:grpSpPr>
        <p:sp>
          <p:nvSpPr>
            <p:cNvPr id="54" name="object 54"/>
            <p:cNvSpPr/>
            <p:nvPr/>
          </p:nvSpPr>
          <p:spPr>
            <a:xfrm>
              <a:off x="4969051" y="3809155"/>
              <a:ext cx="478790" cy="220979"/>
            </a:xfrm>
            <a:custGeom>
              <a:avLst/>
              <a:gdLst/>
              <a:ahLst/>
              <a:cxnLst/>
              <a:rect l="l" t="t" r="r" b="b"/>
              <a:pathLst>
                <a:path w="478789" h="220979">
                  <a:moveTo>
                    <a:pt x="167239" y="0"/>
                  </a:moveTo>
                  <a:lnTo>
                    <a:pt x="478211" y="0"/>
                  </a:lnTo>
                </a:path>
                <a:path w="478789" h="220979">
                  <a:moveTo>
                    <a:pt x="0" y="0"/>
                  </a:moveTo>
                  <a:lnTo>
                    <a:pt x="79536" y="0"/>
                  </a:lnTo>
                </a:path>
                <a:path w="478789" h="220979">
                  <a:moveTo>
                    <a:pt x="167239" y="220958"/>
                  </a:moveTo>
                  <a:lnTo>
                    <a:pt x="478211" y="220958"/>
                  </a:lnTo>
                </a:path>
                <a:path w="478789" h="220979">
                  <a:moveTo>
                    <a:pt x="0" y="220958"/>
                  </a:moveTo>
                  <a:lnTo>
                    <a:pt x="79536" y="220958"/>
                  </a:lnTo>
                </a:path>
              </a:pathLst>
            </a:custGeom>
            <a:ln w="30745">
              <a:solidFill>
                <a:srgbClr val="000000"/>
              </a:solidFill>
            </a:ln>
          </p:spPr>
          <p:txBody>
            <a:bodyPr wrap="square" lIns="0" tIns="0" rIns="0" bIns="0" rtlCol="0"/>
            <a:lstStyle/>
            <a:p>
              <a:endParaRPr sz="1588"/>
            </a:p>
          </p:txBody>
        </p:sp>
        <p:sp>
          <p:nvSpPr>
            <p:cNvPr id="55" name="object 55"/>
            <p:cNvSpPr/>
            <p:nvPr/>
          </p:nvSpPr>
          <p:spPr>
            <a:xfrm>
              <a:off x="5385471" y="3624376"/>
              <a:ext cx="366395" cy="589915"/>
            </a:xfrm>
            <a:custGeom>
              <a:avLst/>
              <a:gdLst/>
              <a:ahLst/>
              <a:cxnLst/>
              <a:rect l="l" t="t" r="r" b="b"/>
              <a:pathLst>
                <a:path w="366395" h="589914">
                  <a:moveTo>
                    <a:pt x="0" y="0"/>
                  </a:moveTo>
                  <a:lnTo>
                    <a:pt x="0" y="589747"/>
                  </a:lnTo>
                  <a:lnTo>
                    <a:pt x="366116" y="442310"/>
                  </a:lnTo>
                  <a:lnTo>
                    <a:pt x="366116" y="147436"/>
                  </a:lnTo>
                  <a:lnTo>
                    <a:pt x="0" y="0"/>
                  </a:lnTo>
                  <a:close/>
                </a:path>
              </a:pathLst>
            </a:custGeom>
            <a:solidFill>
              <a:srgbClr val="FFFFFF"/>
            </a:solidFill>
          </p:spPr>
          <p:txBody>
            <a:bodyPr wrap="square" lIns="0" tIns="0" rIns="0" bIns="0" rtlCol="0"/>
            <a:lstStyle/>
            <a:p>
              <a:endParaRPr sz="1588"/>
            </a:p>
          </p:txBody>
        </p:sp>
        <p:sp>
          <p:nvSpPr>
            <p:cNvPr id="56" name="object 56"/>
            <p:cNvSpPr/>
            <p:nvPr/>
          </p:nvSpPr>
          <p:spPr>
            <a:xfrm>
              <a:off x="5385471" y="3624376"/>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57" name="object 57"/>
            <p:cNvSpPr/>
            <p:nvPr/>
          </p:nvSpPr>
          <p:spPr>
            <a:xfrm>
              <a:off x="5361028" y="3824414"/>
              <a:ext cx="195580" cy="190500"/>
            </a:xfrm>
            <a:custGeom>
              <a:avLst/>
              <a:gdLst/>
              <a:ahLst/>
              <a:cxnLst/>
              <a:rect l="l" t="t" r="r" b="b"/>
              <a:pathLst>
                <a:path w="195579" h="190500">
                  <a:moveTo>
                    <a:pt x="0" y="0"/>
                  </a:moveTo>
                  <a:lnTo>
                    <a:pt x="0" y="190439"/>
                  </a:lnTo>
                  <a:lnTo>
                    <a:pt x="195552" y="95219"/>
                  </a:lnTo>
                  <a:lnTo>
                    <a:pt x="0" y="0"/>
                  </a:lnTo>
                  <a:close/>
                </a:path>
              </a:pathLst>
            </a:custGeom>
            <a:solidFill>
              <a:srgbClr val="FFFFFF"/>
            </a:solidFill>
          </p:spPr>
          <p:txBody>
            <a:bodyPr wrap="square" lIns="0" tIns="0" rIns="0" bIns="0" rtlCol="0"/>
            <a:lstStyle/>
            <a:p>
              <a:endParaRPr sz="1588"/>
            </a:p>
          </p:txBody>
        </p:sp>
        <p:sp>
          <p:nvSpPr>
            <p:cNvPr id="58" name="object 58"/>
            <p:cNvSpPr/>
            <p:nvPr/>
          </p:nvSpPr>
          <p:spPr>
            <a:xfrm>
              <a:off x="5385473" y="3835549"/>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59" name="object 59"/>
          <p:cNvSpPr txBox="1"/>
          <p:nvPr/>
        </p:nvSpPr>
        <p:spPr>
          <a:xfrm>
            <a:off x="5005431" y="3300353"/>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60" name="object 60"/>
          <p:cNvGrpSpPr/>
          <p:nvPr/>
        </p:nvGrpSpPr>
        <p:grpSpPr>
          <a:xfrm>
            <a:off x="5198654" y="3282773"/>
            <a:ext cx="1060076" cy="352985"/>
            <a:chOff x="5739408" y="3720476"/>
            <a:chExt cx="1201420" cy="400050"/>
          </a:xfrm>
        </p:grpSpPr>
        <p:sp>
          <p:nvSpPr>
            <p:cNvPr id="61" name="object 61"/>
            <p:cNvSpPr/>
            <p:nvPr/>
          </p:nvSpPr>
          <p:spPr>
            <a:xfrm>
              <a:off x="5754965" y="3920429"/>
              <a:ext cx="1170305" cy="0"/>
            </a:xfrm>
            <a:custGeom>
              <a:avLst/>
              <a:gdLst/>
              <a:ahLst/>
              <a:cxnLst/>
              <a:rect l="l" t="t" r="r" b="b"/>
              <a:pathLst>
                <a:path w="1170304">
                  <a:moveTo>
                    <a:pt x="0" y="0"/>
                  </a:moveTo>
                  <a:lnTo>
                    <a:pt x="102444" y="0"/>
                  </a:lnTo>
                </a:path>
                <a:path w="1170304">
                  <a:moveTo>
                    <a:pt x="188930" y="0"/>
                  </a:moveTo>
                  <a:lnTo>
                    <a:pt x="352461" y="0"/>
                  </a:lnTo>
                </a:path>
                <a:path w="1170304">
                  <a:moveTo>
                    <a:pt x="1072056" y="0"/>
                  </a:moveTo>
                  <a:lnTo>
                    <a:pt x="1170049" y="0"/>
                  </a:lnTo>
                </a:path>
                <a:path w="1170304">
                  <a:moveTo>
                    <a:pt x="829030" y="0"/>
                  </a:moveTo>
                  <a:lnTo>
                    <a:pt x="984352" y="0"/>
                  </a:lnTo>
                </a:path>
              </a:pathLst>
            </a:custGeom>
            <a:ln w="30745">
              <a:solidFill>
                <a:srgbClr val="000000"/>
              </a:solidFill>
            </a:ln>
          </p:spPr>
          <p:txBody>
            <a:bodyPr wrap="square" lIns="0" tIns="0" rIns="0" bIns="0" rtlCol="0"/>
            <a:lstStyle/>
            <a:p>
              <a:endParaRPr sz="1588"/>
            </a:p>
          </p:txBody>
        </p:sp>
        <p:sp>
          <p:nvSpPr>
            <p:cNvPr id="62" name="object 62"/>
            <p:cNvSpPr/>
            <p:nvPr/>
          </p:nvSpPr>
          <p:spPr>
            <a:xfrm>
              <a:off x="6107427" y="3736033"/>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63" name="object 63"/>
          <p:cNvSpPr txBox="1"/>
          <p:nvPr/>
        </p:nvSpPr>
        <p:spPr>
          <a:xfrm>
            <a:off x="5505081" y="3341030"/>
            <a:ext cx="414618"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64" name="object 64"/>
          <p:cNvGrpSpPr/>
          <p:nvPr/>
        </p:nvGrpSpPr>
        <p:grpSpPr>
          <a:xfrm>
            <a:off x="3757674" y="3347293"/>
            <a:ext cx="2329703" cy="385482"/>
            <a:chOff x="4106297" y="3793598"/>
            <a:chExt cx="2640330" cy="436880"/>
          </a:xfrm>
        </p:grpSpPr>
        <p:sp>
          <p:nvSpPr>
            <p:cNvPr id="65" name="object 65"/>
            <p:cNvSpPr/>
            <p:nvPr/>
          </p:nvSpPr>
          <p:spPr>
            <a:xfrm>
              <a:off x="6060707" y="3920429"/>
              <a:ext cx="670560" cy="294640"/>
            </a:xfrm>
            <a:custGeom>
              <a:avLst/>
              <a:gdLst/>
              <a:ahLst/>
              <a:cxnLst/>
              <a:rect l="l" t="t" r="r" b="b"/>
              <a:pathLst>
                <a:path w="670559" h="294639">
                  <a:moveTo>
                    <a:pt x="0" y="0"/>
                  </a:moveTo>
                  <a:lnTo>
                    <a:pt x="0" y="294078"/>
                  </a:lnTo>
                  <a:lnTo>
                    <a:pt x="591424" y="294078"/>
                  </a:lnTo>
                  <a:lnTo>
                    <a:pt x="591424" y="110279"/>
                  </a:lnTo>
                  <a:lnTo>
                    <a:pt x="670280" y="110279"/>
                  </a:lnTo>
                </a:path>
              </a:pathLst>
            </a:custGeom>
            <a:ln w="30740">
              <a:solidFill>
                <a:srgbClr val="000000"/>
              </a:solidFill>
            </a:ln>
          </p:spPr>
          <p:txBody>
            <a:bodyPr wrap="square" lIns="0" tIns="0" rIns="0" bIns="0" rtlCol="0"/>
            <a:lstStyle/>
            <a:p>
              <a:endParaRPr sz="1588"/>
            </a:p>
          </p:txBody>
        </p:sp>
        <p:sp>
          <p:nvSpPr>
            <p:cNvPr id="66" name="object 66"/>
            <p:cNvSpPr/>
            <p:nvPr/>
          </p:nvSpPr>
          <p:spPr>
            <a:xfrm>
              <a:off x="4121854" y="3809156"/>
              <a:ext cx="412115" cy="222885"/>
            </a:xfrm>
            <a:custGeom>
              <a:avLst/>
              <a:gdLst/>
              <a:ahLst/>
              <a:cxnLst/>
              <a:rect l="l" t="t" r="r" b="b"/>
              <a:pathLst>
                <a:path w="412114" h="222885">
                  <a:moveTo>
                    <a:pt x="211703" y="222547"/>
                  </a:moveTo>
                  <a:lnTo>
                    <a:pt x="412101" y="222547"/>
                  </a:lnTo>
                </a:path>
                <a:path w="412114" h="222885">
                  <a:moveTo>
                    <a:pt x="0" y="222547"/>
                  </a:moveTo>
                  <a:lnTo>
                    <a:pt x="124000" y="222547"/>
                  </a:lnTo>
                </a:path>
                <a:path w="412114" h="222885">
                  <a:moveTo>
                    <a:pt x="211703" y="0"/>
                  </a:moveTo>
                  <a:lnTo>
                    <a:pt x="410142" y="0"/>
                  </a:lnTo>
                </a:path>
                <a:path w="412114" h="222885">
                  <a:moveTo>
                    <a:pt x="0" y="0"/>
                  </a:moveTo>
                  <a:lnTo>
                    <a:pt x="124000" y="0"/>
                  </a:lnTo>
                </a:path>
              </a:pathLst>
            </a:custGeom>
            <a:ln w="30745">
              <a:solidFill>
                <a:srgbClr val="000000"/>
              </a:solidFill>
            </a:ln>
          </p:spPr>
          <p:txBody>
            <a:bodyPr wrap="square" lIns="0" tIns="0" rIns="0" bIns="0" rtlCol="0"/>
            <a:lstStyle/>
            <a:p>
              <a:endParaRPr sz="1588"/>
            </a:p>
          </p:txBody>
        </p:sp>
      </p:grpSp>
      <p:sp>
        <p:nvSpPr>
          <p:cNvPr id="67" name="object 67"/>
          <p:cNvSpPr txBox="1"/>
          <p:nvPr/>
        </p:nvSpPr>
        <p:spPr>
          <a:xfrm>
            <a:off x="3386695" y="3296500"/>
            <a:ext cx="384922" cy="219004"/>
          </a:xfrm>
          <a:prstGeom prst="rect">
            <a:avLst/>
          </a:prstGeom>
          <a:ln w="30733">
            <a:solidFill>
              <a:srgbClr val="000000"/>
            </a:solidFill>
          </a:ln>
        </p:spPr>
        <p:txBody>
          <a:bodyPr vert="horz" wrap="square" lIns="0" tIns="55469" rIns="0" bIns="0" rtlCol="0">
            <a:spAutoFit/>
          </a:bodyPr>
          <a:lstStyle/>
          <a:p>
            <a:pPr marL="27456">
              <a:spcBef>
                <a:spcPts val="437"/>
              </a:spcBef>
            </a:pPr>
            <a:r>
              <a:rPr sz="1059" b="1" spc="-9" dirty="0">
                <a:latin typeface="Times New Roman"/>
                <a:cs typeface="Times New Roman"/>
              </a:rPr>
              <a:t>Ifetch</a:t>
            </a:r>
            <a:endParaRPr sz="1059">
              <a:latin typeface="Times New Roman"/>
              <a:cs typeface="Times New Roman"/>
            </a:endParaRPr>
          </a:p>
        </p:txBody>
      </p:sp>
      <p:grpSp>
        <p:nvGrpSpPr>
          <p:cNvPr id="68" name="object 68"/>
          <p:cNvGrpSpPr/>
          <p:nvPr/>
        </p:nvGrpSpPr>
        <p:grpSpPr>
          <a:xfrm>
            <a:off x="3867086" y="3135500"/>
            <a:ext cx="2777378" cy="646019"/>
            <a:chOff x="4230297" y="3553566"/>
            <a:chExt cx="3147695" cy="732155"/>
          </a:xfrm>
        </p:grpSpPr>
        <p:sp>
          <p:nvSpPr>
            <p:cNvPr id="69" name="object 69"/>
            <p:cNvSpPr/>
            <p:nvPr/>
          </p:nvSpPr>
          <p:spPr>
            <a:xfrm>
              <a:off x="5048587" y="3569124"/>
              <a:ext cx="88265" cy="701040"/>
            </a:xfrm>
            <a:custGeom>
              <a:avLst/>
              <a:gdLst/>
              <a:ahLst/>
              <a:cxnLst/>
              <a:rect l="l" t="t" r="r" b="b"/>
              <a:pathLst>
                <a:path w="88264"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70" name="object 70"/>
            <p:cNvSpPr/>
            <p:nvPr/>
          </p:nvSpPr>
          <p:spPr>
            <a:xfrm>
              <a:off x="5048587" y="3569124"/>
              <a:ext cx="88265" cy="701040"/>
            </a:xfrm>
            <a:custGeom>
              <a:avLst/>
              <a:gdLst/>
              <a:ahLst/>
              <a:cxnLst/>
              <a:rect l="l" t="t" r="r" b="b"/>
              <a:pathLst>
                <a:path w="88264"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71" name="object 71"/>
            <p:cNvSpPr/>
            <p:nvPr/>
          </p:nvSpPr>
          <p:spPr>
            <a:xfrm>
              <a:off x="6739318" y="3569124"/>
              <a:ext cx="88265" cy="701040"/>
            </a:xfrm>
            <a:custGeom>
              <a:avLst/>
              <a:gdLst/>
              <a:ahLst/>
              <a:cxnLst/>
              <a:rect l="l" t="t" r="r" b="b"/>
              <a:pathLst>
                <a:path w="88265"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72" name="object 72"/>
            <p:cNvSpPr/>
            <p:nvPr/>
          </p:nvSpPr>
          <p:spPr>
            <a:xfrm>
              <a:off x="6739318" y="3569124"/>
              <a:ext cx="88265" cy="701040"/>
            </a:xfrm>
            <a:custGeom>
              <a:avLst/>
              <a:gdLst/>
              <a:ahLst/>
              <a:cxnLst/>
              <a:rect l="l" t="t" r="r" b="b"/>
              <a:pathLst>
                <a:path w="88265"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73" name="object 73"/>
            <p:cNvSpPr/>
            <p:nvPr/>
          </p:nvSpPr>
          <p:spPr>
            <a:xfrm>
              <a:off x="4245855" y="3569124"/>
              <a:ext cx="88265" cy="701040"/>
            </a:xfrm>
            <a:custGeom>
              <a:avLst/>
              <a:gdLst/>
              <a:ahLst/>
              <a:cxnLst/>
              <a:rect l="l" t="t" r="r" b="b"/>
              <a:pathLst>
                <a:path w="88264"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74" name="object 74"/>
            <p:cNvSpPr/>
            <p:nvPr/>
          </p:nvSpPr>
          <p:spPr>
            <a:xfrm>
              <a:off x="4245855" y="3569124"/>
              <a:ext cx="88265" cy="701040"/>
            </a:xfrm>
            <a:custGeom>
              <a:avLst/>
              <a:gdLst/>
              <a:ahLst/>
              <a:cxnLst/>
              <a:rect l="l" t="t" r="r" b="b"/>
              <a:pathLst>
                <a:path w="88264"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75" name="object 75"/>
            <p:cNvSpPr/>
            <p:nvPr/>
          </p:nvSpPr>
          <p:spPr>
            <a:xfrm>
              <a:off x="5857410" y="3573242"/>
              <a:ext cx="86995" cy="692150"/>
            </a:xfrm>
            <a:custGeom>
              <a:avLst/>
              <a:gdLst/>
              <a:ahLst/>
              <a:cxnLst/>
              <a:rect l="l" t="t" r="r" b="b"/>
              <a:pathLst>
                <a:path w="86995" h="692150">
                  <a:moveTo>
                    <a:pt x="86485" y="0"/>
                  </a:moveTo>
                  <a:lnTo>
                    <a:pt x="0" y="0"/>
                  </a:lnTo>
                  <a:lnTo>
                    <a:pt x="0" y="691755"/>
                  </a:lnTo>
                  <a:lnTo>
                    <a:pt x="86485" y="691755"/>
                  </a:lnTo>
                  <a:lnTo>
                    <a:pt x="86485" y="0"/>
                  </a:lnTo>
                  <a:close/>
                </a:path>
              </a:pathLst>
            </a:custGeom>
            <a:solidFill>
              <a:srgbClr val="00FF00"/>
            </a:solidFill>
          </p:spPr>
          <p:txBody>
            <a:bodyPr wrap="square" lIns="0" tIns="0" rIns="0" bIns="0" rtlCol="0"/>
            <a:lstStyle/>
            <a:p>
              <a:endParaRPr sz="1588"/>
            </a:p>
          </p:txBody>
        </p:sp>
        <p:sp>
          <p:nvSpPr>
            <p:cNvPr id="76" name="object 76"/>
            <p:cNvSpPr/>
            <p:nvPr/>
          </p:nvSpPr>
          <p:spPr>
            <a:xfrm>
              <a:off x="5857410" y="3573242"/>
              <a:ext cx="86995" cy="692150"/>
            </a:xfrm>
            <a:custGeom>
              <a:avLst/>
              <a:gdLst/>
              <a:ahLst/>
              <a:cxnLst/>
              <a:rect l="l" t="t" r="r" b="b"/>
              <a:pathLst>
                <a:path w="86995" h="692150">
                  <a:moveTo>
                    <a:pt x="0" y="0"/>
                  </a:moveTo>
                  <a:lnTo>
                    <a:pt x="86485" y="0"/>
                  </a:lnTo>
                  <a:lnTo>
                    <a:pt x="86485"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77" name="object 77"/>
            <p:cNvSpPr/>
            <p:nvPr/>
          </p:nvSpPr>
          <p:spPr>
            <a:xfrm>
              <a:off x="6925015" y="3721728"/>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78" name="object 78"/>
            <p:cNvSpPr/>
            <p:nvPr/>
          </p:nvSpPr>
          <p:spPr>
            <a:xfrm>
              <a:off x="6925016" y="3721727"/>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79" name="object 79"/>
          <p:cNvSpPr txBox="1"/>
          <p:nvPr/>
        </p:nvSpPr>
        <p:spPr>
          <a:xfrm>
            <a:off x="6318928" y="3327583"/>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80" name="object 80"/>
          <p:cNvGrpSpPr/>
          <p:nvPr/>
        </p:nvGrpSpPr>
        <p:grpSpPr>
          <a:xfrm>
            <a:off x="4834574" y="4021946"/>
            <a:ext cx="410135" cy="354666"/>
            <a:chOff x="5326784" y="4558205"/>
            <a:chExt cx="464820" cy="401955"/>
          </a:xfrm>
        </p:grpSpPr>
        <p:sp>
          <p:nvSpPr>
            <p:cNvPr id="81" name="object 81"/>
            <p:cNvSpPr/>
            <p:nvPr/>
          </p:nvSpPr>
          <p:spPr>
            <a:xfrm>
              <a:off x="5558910" y="4573762"/>
              <a:ext cx="217170" cy="366395"/>
            </a:xfrm>
            <a:custGeom>
              <a:avLst/>
              <a:gdLst/>
              <a:ahLst/>
              <a:cxnLst/>
              <a:rect l="l" t="t" r="r" b="b"/>
              <a:pathLst>
                <a:path w="217170" h="366395">
                  <a:moveTo>
                    <a:pt x="216566" y="0"/>
                  </a:moveTo>
                  <a:lnTo>
                    <a:pt x="0" y="0"/>
                  </a:lnTo>
                  <a:lnTo>
                    <a:pt x="0" y="366094"/>
                  </a:lnTo>
                  <a:lnTo>
                    <a:pt x="216566" y="366094"/>
                  </a:lnTo>
                  <a:lnTo>
                    <a:pt x="216566" y="0"/>
                  </a:lnTo>
                  <a:close/>
                </a:path>
              </a:pathLst>
            </a:custGeom>
            <a:solidFill>
              <a:srgbClr val="0099FF"/>
            </a:solidFill>
          </p:spPr>
          <p:txBody>
            <a:bodyPr wrap="square" lIns="0" tIns="0" rIns="0" bIns="0" rtlCol="0"/>
            <a:lstStyle/>
            <a:p>
              <a:endParaRPr sz="1588"/>
            </a:p>
          </p:txBody>
        </p:sp>
        <p:sp>
          <p:nvSpPr>
            <p:cNvPr id="82" name="object 82"/>
            <p:cNvSpPr/>
            <p:nvPr/>
          </p:nvSpPr>
          <p:spPr>
            <a:xfrm>
              <a:off x="5342342" y="4573762"/>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83" name="object 83"/>
          <p:cNvSpPr txBox="1"/>
          <p:nvPr/>
        </p:nvSpPr>
        <p:spPr>
          <a:xfrm>
            <a:off x="4919102" y="4080619"/>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84" name="object 84"/>
          <p:cNvGrpSpPr/>
          <p:nvPr/>
        </p:nvGrpSpPr>
        <p:grpSpPr>
          <a:xfrm>
            <a:off x="5218482" y="3924827"/>
            <a:ext cx="718296" cy="547968"/>
            <a:chOff x="5761879" y="4448138"/>
            <a:chExt cx="814069" cy="621030"/>
          </a:xfrm>
        </p:grpSpPr>
        <p:sp>
          <p:nvSpPr>
            <p:cNvPr id="85" name="object 85"/>
            <p:cNvSpPr/>
            <p:nvPr/>
          </p:nvSpPr>
          <p:spPr>
            <a:xfrm>
              <a:off x="5777437" y="4648474"/>
              <a:ext cx="478790" cy="220979"/>
            </a:xfrm>
            <a:custGeom>
              <a:avLst/>
              <a:gdLst/>
              <a:ahLst/>
              <a:cxnLst/>
              <a:rect l="l" t="t" r="r" b="b"/>
              <a:pathLst>
                <a:path w="478789" h="220979">
                  <a:moveTo>
                    <a:pt x="166345" y="0"/>
                  </a:moveTo>
                  <a:lnTo>
                    <a:pt x="478211" y="0"/>
                  </a:lnTo>
                </a:path>
                <a:path w="478789" h="220979">
                  <a:moveTo>
                    <a:pt x="0" y="0"/>
                  </a:moveTo>
                  <a:lnTo>
                    <a:pt x="78750" y="0"/>
                  </a:lnTo>
                </a:path>
                <a:path w="478789" h="220979">
                  <a:moveTo>
                    <a:pt x="166345" y="220957"/>
                  </a:moveTo>
                  <a:lnTo>
                    <a:pt x="478211" y="220957"/>
                  </a:lnTo>
                </a:path>
                <a:path w="478789" h="220979">
                  <a:moveTo>
                    <a:pt x="0" y="220957"/>
                  </a:moveTo>
                  <a:lnTo>
                    <a:pt x="78750" y="220957"/>
                  </a:lnTo>
                </a:path>
              </a:pathLst>
            </a:custGeom>
            <a:ln w="30745">
              <a:solidFill>
                <a:srgbClr val="000000"/>
              </a:solidFill>
            </a:ln>
          </p:spPr>
          <p:txBody>
            <a:bodyPr wrap="square" lIns="0" tIns="0" rIns="0" bIns="0" rtlCol="0"/>
            <a:lstStyle/>
            <a:p>
              <a:endParaRPr sz="1588"/>
            </a:p>
          </p:txBody>
        </p:sp>
        <p:sp>
          <p:nvSpPr>
            <p:cNvPr id="86" name="object 86"/>
            <p:cNvSpPr/>
            <p:nvPr/>
          </p:nvSpPr>
          <p:spPr>
            <a:xfrm>
              <a:off x="6193858" y="4463695"/>
              <a:ext cx="366395" cy="589915"/>
            </a:xfrm>
            <a:custGeom>
              <a:avLst/>
              <a:gdLst/>
              <a:ahLst/>
              <a:cxnLst/>
              <a:rect l="l" t="t" r="r" b="b"/>
              <a:pathLst>
                <a:path w="366395" h="589914">
                  <a:moveTo>
                    <a:pt x="0" y="0"/>
                  </a:moveTo>
                  <a:lnTo>
                    <a:pt x="0" y="589747"/>
                  </a:lnTo>
                  <a:lnTo>
                    <a:pt x="366115" y="442310"/>
                  </a:lnTo>
                  <a:lnTo>
                    <a:pt x="366115" y="147436"/>
                  </a:lnTo>
                  <a:lnTo>
                    <a:pt x="0" y="0"/>
                  </a:lnTo>
                  <a:close/>
                </a:path>
              </a:pathLst>
            </a:custGeom>
            <a:solidFill>
              <a:srgbClr val="FFFFFF"/>
            </a:solidFill>
          </p:spPr>
          <p:txBody>
            <a:bodyPr wrap="square" lIns="0" tIns="0" rIns="0" bIns="0" rtlCol="0"/>
            <a:lstStyle/>
            <a:p>
              <a:endParaRPr sz="1588"/>
            </a:p>
          </p:txBody>
        </p:sp>
        <p:sp>
          <p:nvSpPr>
            <p:cNvPr id="87" name="object 87"/>
            <p:cNvSpPr/>
            <p:nvPr/>
          </p:nvSpPr>
          <p:spPr>
            <a:xfrm>
              <a:off x="6193858" y="4463695"/>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88" name="object 88"/>
            <p:cNvSpPr/>
            <p:nvPr/>
          </p:nvSpPr>
          <p:spPr>
            <a:xfrm>
              <a:off x="6169415" y="4663733"/>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89" name="object 89"/>
            <p:cNvSpPr/>
            <p:nvPr/>
          </p:nvSpPr>
          <p:spPr>
            <a:xfrm>
              <a:off x="6193858" y="4674867"/>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90" name="object 90"/>
          <p:cNvSpPr txBox="1"/>
          <p:nvPr/>
        </p:nvSpPr>
        <p:spPr>
          <a:xfrm>
            <a:off x="5718719" y="4039941"/>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91" name="object 91"/>
          <p:cNvGrpSpPr/>
          <p:nvPr/>
        </p:nvGrpSpPr>
        <p:grpSpPr>
          <a:xfrm>
            <a:off x="5911935" y="4023349"/>
            <a:ext cx="1060076" cy="352985"/>
            <a:chOff x="6547793" y="4559795"/>
            <a:chExt cx="1201420" cy="400050"/>
          </a:xfrm>
        </p:grpSpPr>
        <p:sp>
          <p:nvSpPr>
            <p:cNvPr id="92" name="object 92"/>
            <p:cNvSpPr/>
            <p:nvPr/>
          </p:nvSpPr>
          <p:spPr>
            <a:xfrm>
              <a:off x="6563350" y="4759748"/>
              <a:ext cx="1170305" cy="0"/>
            </a:xfrm>
            <a:custGeom>
              <a:avLst/>
              <a:gdLst/>
              <a:ahLst/>
              <a:cxnLst/>
              <a:rect l="l" t="t" r="r" b="b"/>
              <a:pathLst>
                <a:path w="1170304">
                  <a:moveTo>
                    <a:pt x="0" y="0"/>
                  </a:moveTo>
                  <a:lnTo>
                    <a:pt x="173659" y="0"/>
                  </a:lnTo>
                </a:path>
                <a:path w="1170304">
                  <a:moveTo>
                    <a:pt x="260040" y="0"/>
                  </a:moveTo>
                  <a:lnTo>
                    <a:pt x="352463" y="0"/>
                  </a:lnTo>
                </a:path>
                <a:path w="1170304">
                  <a:moveTo>
                    <a:pt x="1064216" y="0"/>
                  </a:moveTo>
                  <a:lnTo>
                    <a:pt x="1170051" y="0"/>
                  </a:lnTo>
                </a:path>
                <a:path w="1170304">
                  <a:moveTo>
                    <a:pt x="786528" y="0"/>
                  </a:moveTo>
                  <a:lnTo>
                    <a:pt x="976621" y="0"/>
                  </a:lnTo>
                </a:path>
              </a:pathLst>
            </a:custGeom>
            <a:ln w="30745">
              <a:solidFill>
                <a:srgbClr val="000000"/>
              </a:solidFill>
            </a:ln>
          </p:spPr>
          <p:txBody>
            <a:bodyPr wrap="square" lIns="0" tIns="0" rIns="0" bIns="0" rtlCol="0"/>
            <a:lstStyle/>
            <a:p>
              <a:endParaRPr sz="1588"/>
            </a:p>
          </p:txBody>
        </p:sp>
        <p:sp>
          <p:nvSpPr>
            <p:cNvPr id="93" name="object 93"/>
            <p:cNvSpPr/>
            <p:nvPr/>
          </p:nvSpPr>
          <p:spPr>
            <a:xfrm>
              <a:off x="6915813" y="4575352"/>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94" name="object 94"/>
          <p:cNvSpPr txBox="1"/>
          <p:nvPr/>
        </p:nvSpPr>
        <p:spPr>
          <a:xfrm>
            <a:off x="6218362" y="4080619"/>
            <a:ext cx="414618"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95" name="object 95"/>
          <p:cNvGrpSpPr/>
          <p:nvPr/>
        </p:nvGrpSpPr>
        <p:grpSpPr>
          <a:xfrm>
            <a:off x="4470955" y="4087868"/>
            <a:ext cx="2312334" cy="385482"/>
            <a:chOff x="4914682" y="4632917"/>
            <a:chExt cx="2620645" cy="436880"/>
          </a:xfrm>
        </p:grpSpPr>
        <p:sp>
          <p:nvSpPr>
            <p:cNvPr id="96" name="object 96"/>
            <p:cNvSpPr/>
            <p:nvPr/>
          </p:nvSpPr>
          <p:spPr>
            <a:xfrm>
              <a:off x="6869093" y="4759747"/>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97" name="object 97"/>
            <p:cNvSpPr/>
            <p:nvPr/>
          </p:nvSpPr>
          <p:spPr>
            <a:xfrm>
              <a:off x="4930240" y="4648474"/>
              <a:ext cx="412115" cy="222885"/>
            </a:xfrm>
            <a:custGeom>
              <a:avLst/>
              <a:gdLst/>
              <a:ahLst/>
              <a:cxnLst/>
              <a:rect l="l" t="t" r="r" b="b"/>
              <a:pathLst>
                <a:path w="412114" h="222885">
                  <a:moveTo>
                    <a:pt x="0" y="222547"/>
                  </a:moveTo>
                  <a:lnTo>
                    <a:pt x="118120" y="222547"/>
                  </a:lnTo>
                </a:path>
                <a:path w="412114" h="222885">
                  <a:moveTo>
                    <a:pt x="205715" y="222547"/>
                  </a:moveTo>
                  <a:lnTo>
                    <a:pt x="412103" y="222547"/>
                  </a:lnTo>
                </a:path>
                <a:path w="412114" h="222885">
                  <a:moveTo>
                    <a:pt x="205715" y="0"/>
                  </a:moveTo>
                  <a:lnTo>
                    <a:pt x="410143" y="0"/>
                  </a:lnTo>
                </a:path>
                <a:path w="412114" h="222885">
                  <a:moveTo>
                    <a:pt x="0" y="0"/>
                  </a:moveTo>
                  <a:lnTo>
                    <a:pt x="118120" y="0"/>
                  </a:lnTo>
                </a:path>
              </a:pathLst>
            </a:custGeom>
            <a:ln w="30745">
              <a:solidFill>
                <a:srgbClr val="000000"/>
              </a:solidFill>
            </a:ln>
          </p:spPr>
          <p:txBody>
            <a:bodyPr wrap="square" lIns="0" tIns="0" rIns="0" bIns="0" rtlCol="0"/>
            <a:lstStyle/>
            <a:p>
              <a:endParaRPr sz="1588"/>
            </a:p>
          </p:txBody>
        </p:sp>
      </p:grpSp>
      <p:sp>
        <p:nvSpPr>
          <p:cNvPr id="98" name="object 98"/>
          <p:cNvSpPr txBox="1"/>
          <p:nvPr/>
        </p:nvSpPr>
        <p:spPr>
          <a:xfrm>
            <a:off x="4099978" y="4037075"/>
            <a:ext cx="384922" cy="218438"/>
          </a:xfrm>
          <a:prstGeom prst="rect">
            <a:avLst/>
          </a:prstGeom>
          <a:ln w="30733">
            <a:solidFill>
              <a:srgbClr val="000000"/>
            </a:solidFill>
          </a:ln>
        </p:spPr>
        <p:txBody>
          <a:bodyPr vert="horz" wrap="square" lIns="0" tIns="54908" rIns="0" bIns="0" rtlCol="0">
            <a:spAutoFit/>
          </a:bodyPr>
          <a:lstStyle/>
          <a:p>
            <a:pPr marL="27456">
              <a:spcBef>
                <a:spcPts val="431"/>
              </a:spcBef>
            </a:pPr>
            <a:r>
              <a:rPr sz="1059" b="1" spc="-9" dirty="0">
                <a:latin typeface="Times New Roman"/>
                <a:cs typeface="Times New Roman"/>
              </a:rPr>
              <a:t>Ifetch</a:t>
            </a:r>
            <a:endParaRPr sz="1059">
              <a:latin typeface="Times New Roman"/>
              <a:cs typeface="Times New Roman"/>
            </a:endParaRPr>
          </a:p>
        </p:txBody>
      </p:sp>
      <p:grpSp>
        <p:nvGrpSpPr>
          <p:cNvPr id="99" name="object 99"/>
          <p:cNvGrpSpPr/>
          <p:nvPr/>
        </p:nvGrpSpPr>
        <p:grpSpPr>
          <a:xfrm>
            <a:off x="4575178" y="3876076"/>
            <a:ext cx="2782421" cy="646019"/>
            <a:chOff x="5032802" y="4392885"/>
            <a:chExt cx="3153410" cy="732155"/>
          </a:xfrm>
        </p:grpSpPr>
        <p:sp>
          <p:nvSpPr>
            <p:cNvPr id="100" name="object 100"/>
            <p:cNvSpPr/>
            <p:nvPr/>
          </p:nvSpPr>
          <p:spPr>
            <a:xfrm>
              <a:off x="5856187" y="4408443"/>
              <a:ext cx="87630" cy="701040"/>
            </a:xfrm>
            <a:custGeom>
              <a:avLst/>
              <a:gdLst/>
              <a:ahLst/>
              <a:cxnLst/>
              <a:rect l="l" t="t" r="r" b="b"/>
              <a:pathLst>
                <a:path w="87629" h="701039">
                  <a:moveTo>
                    <a:pt x="87595" y="0"/>
                  </a:moveTo>
                  <a:lnTo>
                    <a:pt x="0" y="0"/>
                  </a:lnTo>
                  <a:lnTo>
                    <a:pt x="0" y="701019"/>
                  </a:lnTo>
                  <a:lnTo>
                    <a:pt x="87595" y="701019"/>
                  </a:lnTo>
                  <a:lnTo>
                    <a:pt x="87595" y="0"/>
                  </a:lnTo>
                  <a:close/>
                </a:path>
              </a:pathLst>
            </a:custGeom>
            <a:solidFill>
              <a:srgbClr val="00FF00"/>
            </a:solidFill>
          </p:spPr>
          <p:txBody>
            <a:bodyPr wrap="square" lIns="0" tIns="0" rIns="0" bIns="0" rtlCol="0"/>
            <a:lstStyle/>
            <a:p>
              <a:endParaRPr sz="1588"/>
            </a:p>
          </p:txBody>
        </p:sp>
        <p:sp>
          <p:nvSpPr>
            <p:cNvPr id="101" name="object 101"/>
            <p:cNvSpPr/>
            <p:nvPr/>
          </p:nvSpPr>
          <p:spPr>
            <a:xfrm>
              <a:off x="5856187" y="4408443"/>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02" name="object 102"/>
            <p:cNvSpPr/>
            <p:nvPr/>
          </p:nvSpPr>
          <p:spPr>
            <a:xfrm>
              <a:off x="7539972" y="4408443"/>
              <a:ext cx="87630" cy="701040"/>
            </a:xfrm>
            <a:custGeom>
              <a:avLst/>
              <a:gdLst/>
              <a:ahLst/>
              <a:cxnLst/>
              <a:rect l="l" t="t" r="r" b="b"/>
              <a:pathLst>
                <a:path w="87629" h="701039">
                  <a:moveTo>
                    <a:pt x="87595" y="0"/>
                  </a:moveTo>
                  <a:lnTo>
                    <a:pt x="0" y="0"/>
                  </a:lnTo>
                  <a:lnTo>
                    <a:pt x="0" y="701019"/>
                  </a:lnTo>
                  <a:lnTo>
                    <a:pt x="87595" y="701019"/>
                  </a:lnTo>
                  <a:lnTo>
                    <a:pt x="87595" y="0"/>
                  </a:lnTo>
                  <a:close/>
                </a:path>
              </a:pathLst>
            </a:custGeom>
            <a:solidFill>
              <a:srgbClr val="00FF00"/>
            </a:solidFill>
          </p:spPr>
          <p:txBody>
            <a:bodyPr wrap="square" lIns="0" tIns="0" rIns="0" bIns="0" rtlCol="0"/>
            <a:lstStyle/>
            <a:p>
              <a:endParaRPr sz="1588"/>
            </a:p>
          </p:txBody>
        </p:sp>
        <p:sp>
          <p:nvSpPr>
            <p:cNvPr id="103" name="object 103"/>
            <p:cNvSpPr/>
            <p:nvPr/>
          </p:nvSpPr>
          <p:spPr>
            <a:xfrm>
              <a:off x="7539972" y="4408443"/>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04" name="object 104"/>
            <p:cNvSpPr/>
            <p:nvPr/>
          </p:nvSpPr>
          <p:spPr>
            <a:xfrm>
              <a:off x="5048360" y="4408443"/>
              <a:ext cx="87630" cy="701040"/>
            </a:xfrm>
            <a:custGeom>
              <a:avLst/>
              <a:gdLst/>
              <a:ahLst/>
              <a:cxnLst/>
              <a:rect l="l" t="t" r="r" b="b"/>
              <a:pathLst>
                <a:path w="87629" h="701039">
                  <a:moveTo>
                    <a:pt x="87595" y="0"/>
                  </a:moveTo>
                  <a:lnTo>
                    <a:pt x="0" y="0"/>
                  </a:lnTo>
                  <a:lnTo>
                    <a:pt x="0" y="701019"/>
                  </a:lnTo>
                  <a:lnTo>
                    <a:pt x="87595" y="701019"/>
                  </a:lnTo>
                  <a:lnTo>
                    <a:pt x="87595" y="0"/>
                  </a:lnTo>
                  <a:close/>
                </a:path>
              </a:pathLst>
            </a:custGeom>
            <a:solidFill>
              <a:srgbClr val="00FF00"/>
            </a:solidFill>
          </p:spPr>
          <p:txBody>
            <a:bodyPr wrap="square" lIns="0" tIns="0" rIns="0" bIns="0" rtlCol="0"/>
            <a:lstStyle/>
            <a:p>
              <a:endParaRPr sz="1588"/>
            </a:p>
          </p:txBody>
        </p:sp>
        <p:sp>
          <p:nvSpPr>
            <p:cNvPr id="105" name="object 105"/>
            <p:cNvSpPr/>
            <p:nvPr/>
          </p:nvSpPr>
          <p:spPr>
            <a:xfrm>
              <a:off x="5048360" y="4408443"/>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06" name="object 106"/>
            <p:cNvSpPr/>
            <p:nvPr/>
          </p:nvSpPr>
          <p:spPr>
            <a:xfrm>
              <a:off x="6737010" y="4412560"/>
              <a:ext cx="86995" cy="692150"/>
            </a:xfrm>
            <a:custGeom>
              <a:avLst/>
              <a:gdLst/>
              <a:ahLst/>
              <a:cxnLst/>
              <a:rect l="l" t="t" r="r" b="b"/>
              <a:pathLst>
                <a:path w="86995" h="692150">
                  <a:moveTo>
                    <a:pt x="86380" y="0"/>
                  </a:moveTo>
                  <a:lnTo>
                    <a:pt x="0" y="0"/>
                  </a:lnTo>
                  <a:lnTo>
                    <a:pt x="0" y="691756"/>
                  </a:lnTo>
                  <a:lnTo>
                    <a:pt x="86380" y="691756"/>
                  </a:lnTo>
                  <a:lnTo>
                    <a:pt x="86380" y="0"/>
                  </a:lnTo>
                  <a:close/>
                </a:path>
              </a:pathLst>
            </a:custGeom>
            <a:solidFill>
              <a:srgbClr val="00FF00"/>
            </a:solidFill>
          </p:spPr>
          <p:txBody>
            <a:bodyPr wrap="square" lIns="0" tIns="0" rIns="0" bIns="0" rtlCol="0"/>
            <a:lstStyle/>
            <a:p>
              <a:endParaRPr sz="1588"/>
            </a:p>
          </p:txBody>
        </p:sp>
        <p:sp>
          <p:nvSpPr>
            <p:cNvPr id="107" name="object 107"/>
            <p:cNvSpPr/>
            <p:nvPr/>
          </p:nvSpPr>
          <p:spPr>
            <a:xfrm>
              <a:off x="6737010" y="4412560"/>
              <a:ext cx="86995" cy="692150"/>
            </a:xfrm>
            <a:custGeom>
              <a:avLst/>
              <a:gdLst/>
              <a:ahLst/>
              <a:cxnLst/>
              <a:rect l="l" t="t" r="r" b="b"/>
              <a:pathLst>
                <a:path w="86995" h="692150">
                  <a:moveTo>
                    <a:pt x="0" y="0"/>
                  </a:moveTo>
                  <a:lnTo>
                    <a:pt x="86379" y="0"/>
                  </a:lnTo>
                  <a:lnTo>
                    <a:pt x="86379"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108" name="object 108"/>
            <p:cNvSpPr/>
            <p:nvPr/>
          </p:nvSpPr>
          <p:spPr>
            <a:xfrm>
              <a:off x="7733401" y="4561045"/>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109" name="object 109"/>
            <p:cNvSpPr/>
            <p:nvPr/>
          </p:nvSpPr>
          <p:spPr>
            <a:xfrm>
              <a:off x="7733401" y="4561045"/>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110" name="object 110"/>
          <p:cNvSpPr txBox="1"/>
          <p:nvPr/>
        </p:nvSpPr>
        <p:spPr>
          <a:xfrm>
            <a:off x="7032210" y="4069860"/>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11" name="object 111"/>
          <p:cNvGrpSpPr/>
          <p:nvPr/>
        </p:nvGrpSpPr>
        <p:grpSpPr>
          <a:xfrm>
            <a:off x="5547856" y="4762519"/>
            <a:ext cx="410135" cy="354666"/>
            <a:chOff x="6135170" y="5397521"/>
            <a:chExt cx="464820" cy="401955"/>
          </a:xfrm>
        </p:grpSpPr>
        <p:sp>
          <p:nvSpPr>
            <p:cNvPr id="112" name="object 112"/>
            <p:cNvSpPr/>
            <p:nvPr/>
          </p:nvSpPr>
          <p:spPr>
            <a:xfrm>
              <a:off x="6367295" y="5413079"/>
              <a:ext cx="217170" cy="366395"/>
            </a:xfrm>
            <a:custGeom>
              <a:avLst/>
              <a:gdLst/>
              <a:ahLst/>
              <a:cxnLst/>
              <a:rect l="l" t="t" r="r" b="b"/>
              <a:pathLst>
                <a:path w="217170" h="366395">
                  <a:moveTo>
                    <a:pt x="216566" y="0"/>
                  </a:moveTo>
                  <a:lnTo>
                    <a:pt x="0" y="0"/>
                  </a:lnTo>
                  <a:lnTo>
                    <a:pt x="0" y="366094"/>
                  </a:lnTo>
                  <a:lnTo>
                    <a:pt x="216566" y="366094"/>
                  </a:lnTo>
                  <a:lnTo>
                    <a:pt x="216566" y="0"/>
                  </a:lnTo>
                  <a:close/>
                </a:path>
              </a:pathLst>
            </a:custGeom>
            <a:solidFill>
              <a:srgbClr val="0099FF"/>
            </a:solidFill>
          </p:spPr>
          <p:txBody>
            <a:bodyPr wrap="square" lIns="0" tIns="0" rIns="0" bIns="0" rtlCol="0"/>
            <a:lstStyle/>
            <a:p>
              <a:endParaRPr sz="1588"/>
            </a:p>
          </p:txBody>
        </p:sp>
        <p:sp>
          <p:nvSpPr>
            <p:cNvPr id="113" name="object 113"/>
            <p:cNvSpPr/>
            <p:nvPr/>
          </p:nvSpPr>
          <p:spPr>
            <a:xfrm>
              <a:off x="6150727" y="5413079"/>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114" name="object 114"/>
          <p:cNvSpPr txBox="1"/>
          <p:nvPr/>
        </p:nvSpPr>
        <p:spPr>
          <a:xfrm>
            <a:off x="5632384" y="4822896"/>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15" name="object 115"/>
          <p:cNvGrpSpPr/>
          <p:nvPr/>
        </p:nvGrpSpPr>
        <p:grpSpPr>
          <a:xfrm>
            <a:off x="5931763" y="4665400"/>
            <a:ext cx="718296" cy="547968"/>
            <a:chOff x="6570264" y="5287454"/>
            <a:chExt cx="814069" cy="621030"/>
          </a:xfrm>
        </p:grpSpPr>
        <p:sp>
          <p:nvSpPr>
            <p:cNvPr id="116" name="object 116"/>
            <p:cNvSpPr/>
            <p:nvPr/>
          </p:nvSpPr>
          <p:spPr>
            <a:xfrm>
              <a:off x="6585822" y="5487791"/>
              <a:ext cx="478790" cy="220979"/>
            </a:xfrm>
            <a:custGeom>
              <a:avLst/>
              <a:gdLst/>
              <a:ahLst/>
              <a:cxnLst/>
              <a:rect l="l" t="t" r="r" b="b"/>
              <a:pathLst>
                <a:path w="478790" h="220979">
                  <a:moveTo>
                    <a:pt x="0" y="0"/>
                  </a:moveTo>
                  <a:lnTo>
                    <a:pt x="151909" y="0"/>
                  </a:lnTo>
                </a:path>
                <a:path w="478790" h="220979">
                  <a:moveTo>
                    <a:pt x="239520" y="0"/>
                  </a:moveTo>
                  <a:lnTo>
                    <a:pt x="478211" y="0"/>
                  </a:lnTo>
                </a:path>
                <a:path w="478790" h="220979">
                  <a:moveTo>
                    <a:pt x="0" y="220958"/>
                  </a:moveTo>
                  <a:lnTo>
                    <a:pt x="151909" y="220958"/>
                  </a:lnTo>
                </a:path>
                <a:path w="478790" h="220979">
                  <a:moveTo>
                    <a:pt x="239520" y="220958"/>
                  </a:moveTo>
                  <a:lnTo>
                    <a:pt x="478211" y="220958"/>
                  </a:lnTo>
                </a:path>
              </a:pathLst>
            </a:custGeom>
            <a:ln w="30745">
              <a:solidFill>
                <a:srgbClr val="000000"/>
              </a:solidFill>
            </a:ln>
          </p:spPr>
          <p:txBody>
            <a:bodyPr wrap="square" lIns="0" tIns="0" rIns="0" bIns="0" rtlCol="0"/>
            <a:lstStyle/>
            <a:p>
              <a:endParaRPr sz="1588"/>
            </a:p>
          </p:txBody>
        </p:sp>
        <p:sp>
          <p:nvSpPr>
            <p:cNvPr id="117" name="object 117"/>
            <p:cNvSpPr/>
            <p:nvPr/>
          </p:nvSpPr>
          <p:spPr>
            <a:xfrm>
              <a:off x="7002242" y="5303011"/>
              <a:ext cx="366395" cy="589915"/>
            </a:xfrm>
            <a:custGeom>
              <a:avLst/>
              <a:gdLst/>
              <a:ahLst/>
              <a:cxnLst/>
              <a:rect l="l" t="t" r="r" b="b"/>
              <a:pathLst>
                <a:path w="366395" h="589914">
                  <a:moveTo>
                    <a:pt x="0" y="0"/>
                  </a:moveTo>
                  <a:lnTo>
                    <a:pt x="0" y="589747"/>
                  </a:lnTo>
                  <a:lnTo>
                    <a:pt x="366116" y="442310"/>
                  </a:lnTo>
                  <a:lnTo>
                    <a:pt x="366116" y="147436"/>
                  </a:lnTo>
                  <a:lnTo>
                    <a:pt x="0" y="0"/>
                  </a:lnTo>
                  <a:close/>
                </a:path>
              </a:pathLst>
            </a:custGeom>
            <a:solidFill>
              <a:srgbClr val="FFFFFF"/>
            </a:solidFill>
          </p:spPr>
          <p:txBody>
            <a:bodyPr wrap="square" lIns="0" tIns="0" rIns="0" bIns="0" rtlCol="0"/>
            <a:lstStyle/>
            <a:p>
              <a:endParaRPr sz="1588"/>
            </a:p>
          </p:txBody>
        </p:sp>
        <p:sp>
          <p:nvSpPr>
            <p:cNvPr id="118" name="object 118"/>
            <p:cNvSpPr/>
            <p:nvPr/>
          </p:nvSpPr>
          <p:spPr>
            <a:xfrm>
              <a:off x="7002242" y="5303011"/>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119" name="object 119"/>
            <p:cNvSpPr/>
            <p:nvPr/>
          </p:nvSpPr>
          <p:spPr>
            <a:xfrm>
              <a:off x="6977800" y="5503049"/>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120" name="object 120"/>
            <p:cNvSpPr/>
            <p:nvPr/>
          </p:nvSpPr>
          <p:spPr>
            <a:xfrm>
              <a:off x="7002243" y="5514183"/>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121" name="object 121"/>
          <p:cNvSpPr txBox="1"/>
          <p:nvPr/>
        </p:nvSpPr>
        <p:spPr>
          <a:xfrm>
            <a:off x="6431996" y="4782219"/>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22" name="object 122"/>
          <p:cNvGrpSpPr/>
          <p:nvPr/>
        </p:nvGrpSpPr>
        <p:grpSpPr>
          <a:xfrm>
            <a:off x="6625216" y="4763922"/>
            <a:ext cx="1060076" cy="352985"/>
            <a:chOff x="7356178" y="5399111"/>
            <a:chExt cx="1201420" cy="400050"/>
          </a:xfrm>
        </p:grpSpPr>
        <p:sp>
          <p:nvSpPr>
            <p:cNvPr id="123" name="object 123"/>
            <p:cNvSpPr/>
            <p:nvPr/>
          </p:nvSpPr>
          <p:spPr>
            <a:xfrm>
              <a:off x="7371736" y="5599064"/>
              <a:ext cx="1170305" cy="0"/>
            </a:xfrm>
            <a:custGeom>
              <a:avLst/>
              <a:gdLst/>
              <a:ahLst/>
              <a:cxnLst/>
              <a:rect l="l" t="t" r="r" b="b"/>
              <a:pathLst>
                <a:path w="1170304">
                  <a:moveTo>
                    <a:pt x="0" y="0"/>
                  </a:moveTo>
                  <a:lnTo>
                    <a:pt x="169103" y="0"/>
                  </a:lnTo>
                </a:path>
                <a:path w="1170304">
                  <a:moveTo>
                    <a:pt x="255497" y="0"/>
                  </a:moveTo>
                  <a:lnTo>
                    <a:pt x="352461" y="0"/>
                  </a:lnTo>
                </a:path>
                <a:path w="1170304">
                  <a:moveTo>
                    <a:pt x="829030" y="0"/>
                  </a:moveTo>
                  <a:lnTo>
                    <a:pt x="974646" y="0"/>
                  </a:lnTo>
                </a:path>
                <a:path w="1170304">
                  <a:moveTo>
                    <a:pt x="1062257" y="0"/>
                  </a:moveTo>
                  <a:lnTo>
                    <a:pt x="1170051" y="0"/>
                  </a:lnTo>
                </a:path>
              </a:pathLst>
            </a:custGeom>
            <a:ln w="30745">
              <a:solidFill>
                <a:srgbClr val="000000"/>
              </a:solidFill>
            </a:ln>
          </p:spPr>
          <p:txBody>
            <a:bodyPr wrap="square" lIns="0" tIns="0" rIns="0" bIns="0" rtlCol="0"/>
            <a:lstStyle/>
            <a:p>
              <a:endParaRPr sz="1588"/>
            </a:p>
          </p:txBody>
        </p:sp>
        <p:sp>
          <p:nvSpPr>
            <p:cNvPr id="124" name="object 124"/>
            <p:cNvSpPr/>
            <p:nvPr/>
          </p:nvSpPr>
          <p:spPr>
            <a:xfrm>
              <a:off x="7724198" y="5414669"/>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125" name="object 125"/>
          <p:cNvSpPr txBox="1"/>
          <p:nvPr/>
        </p:nvSpPr>
        <p:spPr>
          <a:xfrm>
            <a:off x="6931644" y="4822896"/>
            <a:ext cx="414618"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126" name="object 126"/>
          <p:cNvGrpSpPr/>
          <p:nvPr/>
        </p:nvGrpSpPr>
        <p:grpSpPr>
          <a:xfrm>
            <a:off x="5179468" y="4828441"/>
            <a:ext cx="2317376" cy="385482"/>
            <a:chOff x="5717663" y="5472233"/>
            <a:chExt cx="2626360" cy="436880"/>
          </a:xfrm>
        </p:grpSpPr>
        <p:sp>
          <p:nvSpPr>
            <p:cNvPr id="127" name="object 127"/>
            <p:cNvSpPr/>
            <p:nvPr/>
          </p:nvSpPr>
          <p:spPr>
            <a:xfrm>
              <a:off x="7677478" y="5599064"/>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128" name="object 128"/>
            <p:cNvSpPr/>
            <p:nvPr/>
          </p:nvSpPr>
          <p:spPr>
            <a:xfrm>
              <a:off x="5733220" y="5487791"/>
              <a:ext cx="417830" cy="222885"/>
            </a:xfrm>
            <a:custGeom>
              <a:avLst/>
              <a:gdLst/>
              <a:ahLst/>
              <a:cxnLst/>
              <a:rect l="l" t="t" r="r" b="b"/>
              <a:pathLst>
                <a:path w="417829" h="222885">
                  <a:moveTo>
                    <a:pt x="211136" y="222547"/>
                  </a:moveTo>
                  <a:lnTo>
                    <a:pt x="417506" y="222547"/>
                  </a:lnTo>
                </a:path>
                <a:path w="417829" h="222885">
                  <a:moveTo>
                    <a:pt x="0" y="222547"/>
                  </a:moveTo>
                  <a:lnTo>
                    <a:pt x="123525" y="222547"/>
                  </a:lnTo>
                </a:path>
                <a:path w="417829" h="222885">
                  <a:moveTo>
                    <a:pt x="211136" y="0"/>
                  </a:moveTo>
                  <a:lnTo>
                    <a:pt x="415547" y="0"/>
                  </a:lnTo>
                </a:path>
                <a:path w="417829" h="222885">
                  <a:moveTo>
                    <a:pt x="0" y="0"/>
                  </a:moveTo>
                  <a:lnTo>
                    <a:pt x="123525" y="0"/>
                  </a:lnTo>
                </a:path>
              </a:pathLst>
            </a:custGeom>
            <a:ln w="30745">
              <a:solidFill>
                <a:srgbClr val="000000"/>
              </a:solidFill>
            </a:ln>
          </p:spPr>
          <p:txBody>
            <a:bodyPr wrap="square" lIns="0" tIns="0" rIns="0" bIns="0" rtlCol="0"/>
            <a:lstStyle/>
            <a:p>
              <a:endParaRPr sz="1588"/>
            </a:p>
          </p:txBody>
        </p:sp>
      </p:grpSp>
      <p:sp>
        <p:nvSpPr>
          <p:cNvPr id="129" name="object 129"/>
          <p:cNvSpPr/>
          <p:nvPr/>
        </p:nvSpPr>
        <p:spPr>
          <a:xfrm>
            <a:off x="4826825" y="4777650"/>
            <a:ext cx="366432" cy="325531"/>
          </a:xfrm>
          <a:custGeom>
            <a:avLst/>
            <a:gdLst/>
            <a:ahLst/>
            <a:cxnLst/>
            <a:rect l="l" t="t" r="r" b="b"/>
            <a:pathLst>
              <a:path w="415289" h="368935">
                <a:moveTo>
                  <a:pt x="0" y="0"/>
                </a:moveTo>
                <a:lnTo>
                  <a:pt x="415217" y="0"/>
                </a:lnTo>
                <a:lnTo>
                  <a:pt x="415217" y="368790"/>
                </a:lnTo>
                <a:lnTo>
                  <a:pt x="0" y="368790"/>
                </a:lnTo>
                <a:lnTo>
                  <a:pt x="0" y="0"/>
                </a:lnTo>
                <a:close/>
              </a:path>
            </a:pathLst>
          </a:custGeom>
          <a:ln w="30732">
            <a:solidFill>
              <a:srgbClr val="000000"/>
            </a:solidFill>
          </a:ln>
        </p:spPr>
        <p:txBody>
          <a:bodyPr wrap="square" lIns="0" tIns="0" rIns="0" bIns="0" rtlCol="0"/>
          <a:lstStyle/>
          <a:p>
            <a:endParaRPr sz="1588"/>
          </a:p>
        </p:txBody>
      </p:sp>
      <p:sp>
        <p:nvSpPr>
          <p:cNvPr id="130" name="object 130"/>
          <p:cNvSpPr txBox="1"/>
          <p:nvPr/>
        </p:nvSpPr>
        <p:spPr>
          <a:xfrm>
            <a:off x="4829521" y="4822896"/>
            <a:ext cx="353546" cy="174309"/>
          </a:xfrm>
          <a:prstGeom prst="rect">
            <a:avLst/>
          </a:prstGeom>
        </p:spPr>
        <p:txBody>
          <a:bodyPr vert="horz" wrap="square" lIns="0" tIns="11206" rIns="0" bIns="0" rtlCol="0">
            <a:spAutoFit/>
          </a:bodyPr>
          <a:lstStyle/>
          <a:p>
            <a:pPr marL="11206">
              <a:spcBef>
                <a:spcPts val="88"/>
              </a:spcBef>
            </a:pPr>
            <a:r>
              <a:rPr sz="1059" b="1" spc="-9" dirty="0">
                <a:latin typeface="Times New Roman"/>
                <a:cs typeface="Times New Roman"/>
              </a:rPr>
              <a:t>Ifetch</a:t>
            </a:r>
            <a:endParaRPr sz="1059">
              <a:latin typeface="Times New Roman"/>
              <a:cs typeface="Times New Roman"/>
            </a:endParaRPr>
          </a:p>
        </p:txBody>
      </p:sp>
      <p:grpSp>
        <p:nvGrpSpPr>
          <p:cNvPr id="131" name="object 131"/>
          <p:cNvGrpSpPr/>
          <p:nvPr/>
        </p:nvGrpSpPr>
        <p:grpSpPr>
          <a:xfrm>
            <a:off x="5288460" y="4616648"/>
            <a:ext cx="2782421" cy="646019"/>
            <a:chOff x="5841188" y="5232201"/>
            <a:chExt cx="3153410" cy="732155"/>
          </a:xfrm>
        </p:grpSpPr>
        <p:sp>
          <p:nvSpPr>
            <p:cNvPr id="132" name="object 132"/>
            <p:cNvSpPr/>
            <p:nvPr/>
          </p:nvSpPr>
          <p:spPr>
            <a:xfrm>
              <a:off x="6737732" y="5247759"/>
              <a:ext cx="87630" cy="701040"/>
            </a:xfrm>
            <a:custGeom>
              <a:avLst/>
              <a:gdLst/>
              <a:ahLst/>
              <a:cxnLst/>
              <a:rect l="l" t="t" r="r" b="b"/>
              <a:pathLst>
                <a:path w="87629" h="701039">
                  <a:moveTo>
                    <a:pt x="87610" y="0"/>
                  </a:moveTo>
                  <a:lnTo>
                    <a:pt x="0" y="0"/>
                  </a:lnTo>
                  <a:lnTo>
                    <a:pt x="0" y="701020"/>
                  </a:lnTo>
                  <a:lnTo>
                    <a:pt x="87610" y="701020"/>
                  </a:lnTo>
                  <a:lnTo>
                    <a:pt x="87610" y="0"/>
                  </a:lnTo>
                  <a:close/>
                </a:path>
              </a:pathLst>
            </a:custGeom>
            <a:solidFill>
              <a:srgbClr val="00FF00"/>
            </a:solidFill>
          </p:spPr>
          <p:txBody>
            <a:bodyPr wrap="square" lIns="0" tIns="0" rIns="0" bIns="0" rtlCol="0"/>
            <a:lstStyle/>
            <a:p>
              <a:endParaRPr sz="1588"/>
            </a:p>
          </p:txBody>
        </p:sp>
        <p:sp>
          <p:nvSpPr>
            <p:cNvPr id="133" name="object 133"/>
            <p:cNvSpPr/>
            <p:nvPr/>
          </p:nvSpPr>
          <p:spPr>
            <a:xfrm>
              <a:off x="6737732" y="5247759"/>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34" name="object 134"/>
            <p:cNvSpPr/>
            <p:nvPr/>
          </p:nvSpPr>
          <p:spPr>
            <a:xfrm>
              <a:off x="8346382" y="5247759"/>
              <a:ext cx="87630" cy="701040"/>
            </a:xfrm>
            <a:custGeom>
              <a:avLst/>
              <a:gdLst/>
              <a:ahLst/>
              <a:cxnLst/>
              <a:rect l="l" t="t" r="r" b="b"/>
              <a:pathLst>
                <a:path w="87629" h="701039">
                  <a:moveTo>
                    <a:pt x="87610" y="0"/>
                  </a:moveTo>
                  <a:lnTo>
                    <a:pt x="0" y="0"/>
                  </a:lnTo>
                  <a:lnTo>
                    <a:pt x="0" y="701020"/>
                  </a:lnTo>
                  <a:lnTo>
                    <a:pt x="87610" y="701020"/>
                  </a:lnTo>
                  <a:lnTo>
                    <a:pt x="87610" y="0"/>
                  </a:lnTo>
                  <a:close/>
                </a:path>
              </a:pathLst>
            </a:custGeom>
            <a:solidFill>
              <a:srgbClr val="00FF00"/>
            </a:solidFill>
          </p:spPr>
          <p:txBody>
            <a:bodyPr wrap="square" lIns="0" tIns="0" rIns="0" bIns="0" rtlCol="0"/>
            <a:lstStyle/>
            <a:p>
              <a:endParaRPr sz="1588"/>
            </a:p>
          </p:txBody>
        </p:sp>
        <p:sp>
          <p:nvSpPr>
            <p:cNvPr id="135" name="object 135"/>
            <p:cNvSpPr/>
            <p:nvPr/>
          </p:nvSpPr>
          <p:spPr>
            <a:xfrm>
              <a:off x="8346382" y="5247759"/>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36" name="object 136"/>
            <p:cNvSpPr/>
            <p:nvPr/>
          </p:nvSpPr>
          <p:spPr>
            <a:xfrm>
              <a:off x="5856745" y="5247759"/>
              <a:ext cx="87630" cy="701040"/>
            </a:xfrm>
            <a:custGeom>
              <a:avLst/>
              <a:gdLst/>
              <a:ahLst/>
              <a:cxnLst/>
              <a:rect l="l" t="t" r="r" b="b"/>
              <a:pathLst>
                <a:path w="87629" h="701039">
                  <a:moveTo>
                    <a:pt x="87610" y="0"/>
                  </a:moveTo>
                  <a:lnTo>
                    <a:pt x="0" y="0"/>
                  </a:lnTo>
                  <a:lnTo>
                    <a:pt x="0" y="701020"/>
                  </a:lnTo>
                  <a:lnTo>
                    <a:pt x="87610" y="701020"/>
                  </a:lnTo>
                  <a:lnTo>
                    <a:pt x="87610" y="0"/>
                  </a:lnTo>
                  <a:close/>
                </a:path>
              </a:pathLst>
            </a:custGeom>
            <a:solidFill>
              <a:srgbClr val="00FF00"/>
            </a:solidFill>
          </p:spPr>
          <p:txBody>
            <a:bodyPr wrap="square" lIns="0" tIns="0" rIns="0" bIns="0" rtlCol="0"/>
            <a:lstStyle/>
            <a:p>
              <a:endParaRPr sz="1588"/>
            </a:p>
          </p:txBody>
        </p:sp>
        <p:sp>
          <p:nvSpPr>
            <p:cNvPr id="137" name="object 137"/>
            <p:cNvSpPr/>
            <p:nvPr/>
          </p:nvSpPr>
          <p:spPr>
            <a:xfrm>
              <a:off x="5856745" y="5247759"/>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38" name="object 138"/>
            <p:cNvSpPr/>
            <p:nvPr/>
          </p:nvSpPr>
          <p:spPr>
            <a:xfrm>
              <a:off x="7540839" y="5251876"/>
              <a:ext cx="86995" cy="692150"/>
            </a:xfrm>
            <a:custGeom>
              <a:avLst/>
              <a:gdLst/>
              <a:ahLst/>
              <a:cxnLst/>
              <a:rect l="l" t="t" r="r" b="b"/>
              <a:pathLst>
                <a:path w="86995" h="692150">
                  <a:moveTo>
                    <a:pt x="86394" y="0"/>
                  </a:moveTo>
                  <a:lnTo>
                    <a:pt x="0" y="0"/>
                  </a:lnTo>
                  <a:lnTo>
                    <a:pt x="0" y="691756"/>
                  </a:lnTo>
                  <a:lnTo>
                    <a:pt x="86394" y="691756"/>
                  </a:lnTo>
                  <a:lnTo>
                    <a:pt x="86394" y="0"/>
                  </a:lnTo>
                  <a:close/>
                </a:path>
              </a:pathLst>
            </a:custGeom>
            <a:solidFill>
              <a:srgbClr val="00FF00"/>
            </a:solidFill>
          </p:spPr>
          <p:txBody>
            <a:bodyPr wrap="square" lIns="0" tIns="0" rIns="0" bIns="0" rtlCol="0"/>
            <a:lstStyle/>
            <a:p>
              <a:endParaRPr sz="1588"/>
            </a:p>
          </p:txBody>
        </p:sp>
        <p:sp>
          <p:nvSpPr>
            <p:cNvPr id="139" name="object 139"/>
            <p:cNvSpPr/>
            <p:nvPr/>
          </p:nvSpPr>
          <p:spPr>
            <a:xfrm>
              <a:off x="7540839" y="5251876"/>
              <a:ext cx="86995" cy="692150"/>
            </a:xfrm>
            <a:custGeom>
              <a:avLst/>
              <a:gdLst/>
              <a:ahLst/>
              <a:cxnLst/>
              <a:rect l="l" t="t" r="r" b="b"/>
              <a:pathLst>
                <a:path w="86995" h="692150">
                  <a:moveTo>
                    <a:pt x="0" y="0"/>
                  </a:moveTo>
                  <a:lnTo>
                    <a:pt x="86394" y="0"/>
                  </a:lnTo>
                  <a:lnTo>
                    <a:pt x="86394"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140" name="object 140"/>
            <p:cNvSpPr/>
            <p:nvPr/>
          </p:nvSpPr>
          <p:spPr>
            <a:xfrm>
              <a:off x="8541787" y="5400361"/>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141" name="object 141"/>
            <p:cNvSpPr/>
            <p:nvPr/>
          </p:nvSpPr>
          <p:spPr>
            <a:xfrm>
              <a:off x="8541787" y="5400362"/>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142" name="object 142"/>
          <p:cNvSpPr txBox="1"/>
          <p:nvPr/>
        </p:nvSpPr>
        <p:spPr>
          <a:xfrm>
            <a:off x="7745491" y="4809449"/>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43" name="object 143"/>
          <p:cNvSpPr txBox="1"/>
          <p:nvPr/>
        </p:nvSpPr>
        <p:spPr>
          <a:xfrm>
            <a:off x="2567586" y="2046048"/>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1</a:t>
            </a:r>
            <a:endParaRPr sz="1324">
              <a:latin typeface="Times New Roman"/>
              <a:cs typeface="Times New Roman"/>
            </a:endParaRPr>
          </a:p>
        </p:txBody>
      </p:sp>
      <p:sp>
        <p:nvSpPr>
          <p:cNvPr id="144" name="object 144"/>
          <p:cNvSpPr txBox="1"/>
          <p:nvPr/>
        </p:nvSpPr>
        <p:spPr>
          <a:xfrm>
            <a:off x="3261955" y="2046048"/>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2</a:t>
            </a:r>
            <a:endParaRPr sz="1324">
              <a:latin typeface="Times New Roman"/>
              <a:cs typeface="Times New Roman"/>
            </a:endParaRPr>
          </a:p>
        </p:txBody>
      </p:sp>
      <p:sp>
        <p:nvSpPr>
          <p:cNvPr id="145" name="object 145"/>
          <p:cNvSpPr txBox="1"/>
          <p:nvPr/>
        </p:nvSpPr>
        <p:spPr>
          <a:xfrm>
            <a:off x="3998201" y="2046048"/>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3</a:t>
            </a:r>
            <a:endParaRPr sz="1324">
              <a:latin typeface="Times New Roman"/>
              <a:cs typeface="Times New Roman"/>
            </a:endParaRPr>
          </a:p>
        </p:txBody>
      </p:sp>
      <p:grpSp>
        <p:nvGrpSpPr>
          <p:cNvPr id="146" name="object 146"/>
          <p:cNvGrpSpPr/>
          <p:nvPr/>
        </p:nvGrpSpPr>
        <p:grpSpPr>
          <a:xfrm>
            <a:off x="2470741" y="1844930"/>
            <a:ext cx="5085790" cy="3850341"/>
            <a:chOff x="2647773" y="2090921"/>
            <a:chExt cx="5763895" cy="4363720"/>
          </a:xfrm>
        </p:grpSpPr>
        <p:sp>
          <p:nvSpPr>
            <p:cNvPr id="147" name="object 147"/>
            <p:cNvSpPr/>
            <p:nvPr/>
          </p:nvSpPr>
          <p:spPr>
            <a:xfrm>
              <a:off x="3471716"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48" name="object 148"/>
            <p:cNvSpPr/>
            <p:nvPr/>
          </p:nvSpPr>
          <p:spPr>
            <a:xfrm>
              <a:off x="4280101"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49" name="object 149"/>
            <p:cNvSpPr/>
            <p:nvPr/>
          </p:nvSpPr>
          <p:spPr>
            <a:xfrm>
              <a:off x="5088487"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50" name="object 150"/>
            <p:cNvSpPr/>
            <p:nvPr/>
          </p:nvSpPr>
          <p:spPr>
            <a:xfrm>
              <a:off x="6778746"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51" name="object 151"/>
            <p:cNvSpPr/>
            <p:nvPr/>
          </p:nvSpPr>
          <p:spPr>
            <a:xfrm>
              <a:off x="5896872"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52" name="object 152"/>
            <p:cNvSpPr/>
            <p:nvPr/>
          </p:nvSpPr>
          <p:spPr>
            <a:xfrm>
              <a:off x="7587132" y="2106479"/>
              <a:ext cx="808990" cy="4332605"/>
            </a:xfrm>
            <a:custGeom>
              <a:avLst/>
              <a:gdLst/>
              <a:ahLst/>
              <a:cxnLst/>
              <a:rect l="l" t="t" r="r" b="b"/>
              <a:pathLst>
                <a:path w="808990" h="4332605">
                  <a:moveTo>
                    <a:pt x="0" y="2019327"/>
                  </a:moveTo>
                  <a:lnTo>
                    <a:pt x="0" y="4332139"/>
                  </a:lnTo>
                </a:path>
                <a:path w="808990" h="4332605">
                  <a:moveTo>
                    <a:pt x="0" y="0"/>
                  </a:moveTo>
                  <a:lnTo>
                    <a:pt x="0" y="625572"/>
                  </a:lnTo>
                </a:path>
                <a:path w="808990" h="4332605">
                  <a:moveTo>
                    <a:pt x="808385" y="2019327"/>
                  </a:moveTo>
                  <a:lnTo>
                    <a:pt x="808385" y="4332139"/>
                  </a:lnTo>
                </a:path>
                <a:path w="808990" h="4332605">
                  <a:moveTo>
                    <a:pt x="808385" y="0"/>
                  </a:moveTo>
                  <a:lnTo>
                    <a:pt x="808385" y="625572"/>
                  </a:lnTo>
                </a:path>
              </a:pathLst>
            </a:custGeom>
            <a:ln w="30719">
              <a:solidFill>
                <a:srgbClr val="000000"/>
              </a:solidFill>
            </a:ln>
          </p:spPr>
          <p:txBody>
            <a:bodyPr wrap="square" lIns="0" tIns="0" rIns="0" bIns="0" rtlCol="0"/>
            <a:lstStyle/>
            <a:p>
              <a:endParaRPr sz="1588"/>
            </a:p>
          </p:txBody>
        </p:sp>
        <p:sp>
          <p:nvSpPr>
            <p:cNvPr id="153" name="object 153"/>
            <p:cNvSpPr/>
            <p:nvPr/>
          </p:nvSpPr>
          <p:spPr>
            <a:xfrm>
              <a:off x="2663330"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54" name="object 154"/>
            <p:cNvSpPr/>
            <p:nvPr/>
          </p:nvSpPr>
          <p:spPr>
            <a:xfrm>
              <a:off x="5274945" y="3093427"/>
              <a:ext cx="890269" cy="1541780"/>
            </a:xfrm>
            <a:custGeom>
              <a:avLst/>
              <a:gdLst/>
              <a:ahLst/>
              <a:cxnLst/>
              <a:rect l="l" t="t" r="r" b="b"/>
              <a:pathLst>
                <a:path w="890270" h="1541779">
                  <a:moveTo>
                    <a:pt x="890016" y="1347851"/>
                  </a:moveTo>
                  <a:lnTo>
                    <a:pt x="828967" y="1354759"/>
                  </a:lnTo>
                  <a:lnTo>
                    <a:pt x="676008" y="0"/>
                  </a:lnTo>
                  <a:lnTo>
                    <a:pt x="614972" y="6896"/>
                  </a:lnTo>
                  <a:lnTo>
                    <a:pt x="618909" y="41884"/>
                  </a:lnTo>
                  <a:lnTo>
                    <a:pt x="106616" y="568083"/>
                  </a:lnTo>
                  <a:lnTo>
                    <a:pt x="62623" y="525170"/>
                  </a:lnTo>
                  <a:lnTo>
                    <a:pt x="0" y="721652"/>
                  </a:lnTo>
                  <a:lnTo>
                    <a:pt x="194627" y="653910"/>
                  </a:lnTo>
                  <a:lnTo>
                    <a:pt x="173202" y="633018"/>
                  </a:lnTo>
                  <a:lnTo>
                    <a:pt x="150622" y="610997"/>
                  </a:lnTo>
                  <a:lnTo>
                    <a:pt x="627824" y="120840"/>
                  </a:lnTo>
                  <a:lnTo>
                    <a:pt x="767918" y="1361668"/>
                  </a:lnTo>
                  <a:lnTo>
                    <a:pt x="706882" y="1368564"/>
                  </a:lnTo>
                  <a:lnTo>
                    <a:pt x="819137" y="1541513"/>
                  </a:lnTo>
                  <a:lnTo>
                    <a:pt x="873785" y="1392212"/>
                  </a:lnTo>
                  <a:lnTo>
                    <a:pt x="890016" y="1347851"/>
                  </a:lnTo>
                  <a:close/>
                </a:path>
              </a:pathLst>
            </a:custGeom>
            <a:solidFill>
              <a:srgbClr val="FF0000"/>
            </a:solidFill>
          </p:spPr>
          <p:txBody>
            <a:bodyPr wrap="square" lIns="0" tIns="0" rIns="0" bIns="0" rtlCol="0"/>
            <a:lstStyle/>
            <a:p>
              <a:endParaRPr sz="1588"/>
            </a:p>
          </p:txBody>
        </p:sp>
        <p:sp>
          <p:nvSpPr>
            <p:cNvPr id="155" name="object 155"/>
            <p:cNvSpPr/>
            <p:nvPr/>
          </p:nvSpPr>
          <p:spPr>
            <a:xfrm>
              <a:off x="6227290" y="3221694"/>
              <a:ext cx="273050" cy="2216150"/>
            </a:xfrm>
            <a:custGeom>
              <a:avLst/>
              <a:gdLst/>
              <a:ahLst/>
              <a:cxnLst/>
              <a:rect l="l" t="t" r="r" b="b"/>
              <a:pathLst>
                <a:path w="273050" h="2216150">
                  <a:moveTo>
                    <a:pt x="150215" y="2034188"/>
                  </a:moveTo>
                  <a:lnTo>
                    <a:pt x="88946" y="2038731"/>
                  </a:lnTo>
                  <a:lnTo>
                    <a:pt x="194464" y="2215882"/>
                  </a:lnTo>
                  <a:lnTo>
                    <a:pt x="256442" y="2064849"/>
                  </a:lnTo>
                  <a:lnTo>
                    <a:pt x="152485" y="2064849"/>
                  </a:lnTo>
                  <a:lnTo>
                    <a:pt x="150215" y="2034188"/>
                  </a:lnTo>
                  <a:close/>
                </a:path>
                <a:path w="273050" h="2216150">
                  <a:moveTo>
                    <a:pt x="211483" y="2029646"/>
                  </a:moveTo>
                  <a:lnTo>
                    <a:pt x="150215" y="2034188"/>
                  </a:lnTo>
                  <a:lnTo>
                    <a:pt x="152485" y="2064849"/>
                  </a:lnTo>
                  <a:lnTo>
                    <a:pt x="213752" y="2060307"/>
                  </a:lnTo>
                  <a:lnTo>
                    <a:pt x="211483" y="2029646"/>
                  </a:lnTo>
                  <a:close/>
                </a:path>
                <a:path w="273050" h="2216150">
                  <a:moveTo>
                    <a:pt x="272752" y="2025103"/>
                  </a:moveTo>
                  <a:lnTo>
                    <a:pt x="211483" y="2029646"/>
                  </a:lnTo>
                  <a:lnTo>
                    <a:pt x="213752" y="2060307"/>
                  </a:lnTo>
                  <a:lnTo>
                    <a:pt x="152485" y="2064849"/>
                  </a:lnTo>
                  <a:lnTo>
                    <a:pt x="256442" y="2064849"/>
                  </a:lnTo>
                  <a:lnTo>
                    <a:pt x="272752" y="2025103"/>
                  </a:lnTo>
                  <a:close/>
                </a:path>
                <a:path w="273050" h="2216150">
                  <a:moveTo>
                    <a:pt x="61268" y="0"/>
                  </a:moveTo>
                  <a:lnTo>
                    <a:pt x="0" y="4542"/>
                  </a:lnTo>
                  <a:lnTo>
                    <a:pt x="150215" y="2034188"/>
                  </a:lnTo>
                  <a:lnTo>
                    <a:pt x="211483" y="2029646"/>
                  </a:lnTo>
                  <a:lnTo>
                    <a:pt x="61268" y="0"/>
                  </a:lnTo>
                  <a:close/>
                </a:path>
              </a:pathLst>
            </a:custGeom>
            <a:solidFill>
              <a:srgbClr val="0099FF"/>
            </a:solidFill>
          </p:spPr>
          <p:txBody>
            <a:bodyPr wrap="square" lIns="0" tIns="0" rIns="0" bIns="0" rtlCol="0"/>
            <a:lstStyle/>
            <a:p>
              <a:endParaRPr sz="1588"/>
            </a:p>
          </p:txBody>
        </p:sp>
      </p:grpSp>
      <p:sp>
        <p:nvSpPr>
          <p:cNvPr id="156" name="object 156"/>
          <p:cNvSpPr txBox="1"/>
          <p:nvPr/>
        </p:nvSpPr>
        <p:spPr>
          <a:xfrm>
            <a:off x="4665264" y="1478067"/>
            <a:ext cx="2083174" cy="783065"/>
          </a:xfrm>
          <a:prstGeom prst="rect">
            <a:avLst/>
          </a:prstGeom>
        </p:spPr>
        <p:txBody>
          <a:bodyPr vert="horz" wrap="square" lIns="0" tIns="11206" rIns="0" bIns="0" rtlCol="0">
            <a:spAutoFit/>
          </a:bodyPr>
          <a:lstStyle/>
          <a:p>
            <a:pPr marL="11206">
              <a:spcBef>
                <a:spcPts val="88"/>
              </a:spcBef>
            </a:pPr>
            <a:r>
              <a:rPr sz="1941" i="1" spc="-44" dirty="0">
                <a:latin typeface="Times New Roman"/>
                <a:cs typeface="Times New Roman"/>
              </a:rPr>
              <a:t>Time</a:t>
            </a:r>
            <a:r>
              <a:rPr sz="1941" i="1" spc="-79" dirty="0">
                <a:latin typeface="Times New Roman"/>
                <a:cs typeface="Times New Roman"/>
              </a:rPr>
              <a:t> </a:t>
            </a:r>
            <a:r>
              <a:rPr sz="1941" i="1" spc="-9" dirty="0">
                <a:latin typeface="Times New Roman"/>
                <a:cs typeface="Times New Roman"/>
              </a:rPr>
              <a:t>(clock</a:t>
            </a:r>
            <a:r>
              <a:rPr sz="1941" i="1" spc="-79" dirty="0">
                <a:latin typeface="Times New Roman"/>
                <a:cs typeface="Times New Roman"/>
              </a:rPr>
              <a:t> </a:t>
            </a:r>
            <a:r>
              <a:rPr sz="1941" i="1" spc="-9" dirty="0">
                <a:latin typeface="Times New Roman"/>
                <a:cs typeface="Times New Roman"/>
              </a:rPr>
              <a:t>cycles)</a:t>
            </a:r>
            <a:endParaRPr sz="1941">
              <a:latin typeface="Times New Roman"/>
              <a:cs typeface="Times New Roman"/>
            </a:endParaRPr>
          </a:p>
          <a:p>
            <a:pPr marL="66679">
              <a:spcBef>
                <a:spcPts val="2144"/>
              </a:spcBef>
              <a:tabLst>
                <a:tab pos="763722" algn="l"/>
                <a:tab pos="1542012" algn="l"/>
              </a:tabLst>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4</a:t>
            </a:r>
            <a:r>
              <a:rPr sz="1324" b="1" dirty="0">
                <a:latin typeface="Times New Roman"/>
                <a:cs typeface="Times New Roman"/>
              </a:rPr>
              <a:t>	Cycle</a:t>
            </a:r>
            <a:r>
              <a:rPr sz="1324" b="1" spc="-9" dirty="0">
                <a:latin typeface="Times New Roman"/>
                <a:cs typeface="Times New Roman"/>
              </a:rPr>
              <a:t> </a:t>
            </a:r>
            <a:r>
              <a:rPr sz="1324" b="1" spc="-44" dirty="0">
                <a:latin typeface="Times New Roman"/>
                <a:cs typeface="Times New Roman"/>
              </a:rPr>
              <a:t>5</a:t>
            </a:r>
            <a:r>
              <a:rPr sz="1324" b="1" dirty="0">
                <a:latin typeface="Times New Roman"/>
                <a:cs typeface="Times New Roman"/>
              </a:rPr>
              <a:t>	Cycle</a:t>
            </a:r>
            <a:r>
              <a:rPr sz="1324" b="1" spc="-9" dirty="0">
                <a:latin typeface="Times New Roman"/>
                <a:cs typeface="Times New Roman"/>
              </a:rPr>
              <a:t> </a:t>
            </a:r>
            <a:r>
              <a:rPr sz="1324" b="1" spc="-44" dirty="0">
                <a:latin typeface="Times New Roman"/>
                <a:cs typeface="Times New Roman"/>
              </a:rPr>
              <a:t>6</a:t>
            </a:r>
            <a:endParaRPr sz="1324">
              <a:latin typeface="Times New Roman"/>
              <a:cs typeface="Times New Roman"/>
            </a:endParaRPr>
          </a:p>
        </p:txBody>
      </p:sp>
      <p:grpSp>
        <p:nvGrpSpPr>
          <p:cNvPr id="157" name="object 157"/>
          <p:cNvGrpSpPr/>
          <p:nvPr/>
        </p:nvGrpSpPr>
        <p:grpSpPr>
          <a:xfrm>
            <a:off x="5687278" y="2392549"/>
            <a:ext cx="3118597" cy="1497666"/>
            <a:chOff x="6293182" y="2711555"/>
            <a:chExt cx="3534410" cy="1697355"/>
          </a:xfrm>
        </p:grpSpPr>
        <p:sp>
          <p:nvSpPr>
            <p:cNvPr id="158" name="object 158"/>
            <p:cNvSpPr/>
            <p:nvPr/>
          </p:nvSpPr>
          <p:spPr>
            <a:xfrm>
              <a:off x="7568563" y="2732051"/>
              <a:ext cx="2238375" cy="1393825"/>
            </a:xfrm>
            <a:custGeom>
              <a:avLst/>
              <a:gdLst/>
              <a:ahLst/>
              <a:cxnLst/>
              <a:rect l="l" t="t" r="r" b="b"/>
              <a:pathLst>
                <a:path w="2238375" h="1393825">
                  <a:moveTo>
                    <a:pt x="2238375" y="0"/>
                  </a:moveTo>
                  <a:lnTo>
                    <a:pt x="0" y="0"/>
                  </a:lnTo>
                  <a:lnTo>
                    <a:pt x="0" y="1393755"/>
                  </a:lnTo>
                  <a:lnTo>
                    <a:pt x="2238375" y="1393755"/>
                  </a:lnTo>
                  <a:lnTo>
                    <a:pt x="2238375" y="0"/>
                  </a:lnTo>
                  <a:close/>
                </a:path>
              </a:pathLst>
            </a:custGeom>
            <a:solidFill>
              <a:srgbClr val="BCFFBC"/>
            </a:solidFill>
          </p:spPr>
          <p:txBody>
            <a:bodyPr wrap="square" lIns="0" tIns="0" rIns="0" bIns="0" rtlCol="0"/>
            <a:lstStyle/>
            <a:p>
              <a:endParaRPr sz="1588"/>
            </a:p>
          </p:txBody>
        </p:sp>
        <p:sp>
          <p:nvSpPr>
            <p:cNvPr id="159" name="object 159"/>
            <p:cNvSpPr/>
            <p:nvPr/>
          </p:nvSpPr>
          <p:spPr>
            <a:xfrm>
              <a:off x="6293180" y="2711564"/>
              <a:ext cx="3534410" cy="1697355"/>
            </a:xfrm>
            <a:custGeom>
              <a:avLst/>
              <a:gdLst/>
              <a:ahLst/>
              <a:cxnLst/>
              <a:rect l="l" t="t" r="r" b="b"/>
              <a:pathLst>
                <a:path w="3534409" h="1697354">
                  <a:moveTo>
                    <a:pt x="3534232" y="20497"/>
                  </a:moveTo>
                  <a:lnTo>
                    <a:pt x="3532619" y="12522"/>
                  </a:lnTo>
                  <a:lnTo>
                    <a:pt x="3528237" y="6007"/>
                  </a:lnTo>
                  <a:lnTo>
                    <a:pt x="3521722" y="1612"/>
                  </a:lnTo>
                  <a:lnTo>
                    <a:pt x="3513747" y="0"/>
                  </a:lnTo>
                  <a:lnTo>
                    <a:pt x="3493274" y="0"/>
                  </a:lnTo>
                  <a:lnTo>
                    <a:pt x="3493274" y="40995"/>
                  </a:lnTo>
                  <a:lnTo>
                    <a:pt x="3493274" y="1393748"/>
                  </a:lnTo>
                  <a:lnTo>
                    <a:pt x="1295857" y="1393748"/>
                  </a:lnTo>
                  <a:lnTo>
                    <a:pt x="1295857" y="40995"/>
                  </a:lnTo>
                  <a:lnTo>
                    <a:pt x="3493274" y="40995"/>
                  </a:lnTo>
                  <a:lnTo>
                    <a:pt x="3493274" y="0"/>
                  </a:lnTo>
                  <a:lnTo>
                    <a:pt x="1275372" y="0"/>
                  </a:lnTo>
                  <a:lnTo>
                    <a:pt x="1267409" y="1612"/>
                  </a:lnTo>
                  <a:lnTo>
                    <a:pt x="1260894" y="6007"/>
                  </a:lnTo>
                  <a:lnTo>
                    <a:pt x="1256512" y="12522"/>
                  </a:lnTo>
                  <a:lnTo>
                    <a:pt x="1254899" y="20497"/>
                  </a:lnTo>
                  <a:lnTo>
                    <a:pt x="1254899" y="1313268"/>
                  </a:lnTo>
                  <a:lnTo>
                    <a:pt x="1244155" y="1277556"/>
                  </a:lnTo>
                  <a:lnTo>
                    <a:pt x="111760" y="1618551"/>
                  </a:lnTo>
                  <a:lnTo>
                    <a:pt x="99961" y="1579295"/>
                  </a:lnTo>
                  <a:lnTo>
                    <a:pt x="0" y="1673618"/>
                  </a:lnTo>
                  <a:lnTo>
                    <a:pt x="135356" y="1697062"/>
                  </a:lnTo>
                  <a:lnTo>
                    <a:pt x="125336" y="1663712"/>
                  </a:lnTo>
                  <a:lnTo>
                    <a:pt x="123558" y="1657807"/>
                  </a:lnTo>
                  <a:lnTo>
                    <a:pt x="1254899" y="1317142"/>
                  </a:lnTo>
                  <a:lnTo>
                    <a:pt x="1254899" y="1414246"/>
                  </a:lnTo>
                  <a:lnTo>
                    <a:pt x="1256512" y="1422222"/>
                  </a:lnTo>
                  <a:lnTo>
                    <a:pt x="1260894" y="1428737"/>
                  </a:lnTo>
                  <a:lnTo>
                    <a:pt x="1267409" y="1433131"/>
                  </a:lnTo>
                  <a:lnTo>
                    <a:pt x="1275372" y="1434744"/>
                  </a:lnTo>
                  <a:lnTo>
                    <a:pt x="3513747" y="1434744"/>
                  </a:lnTo>
                  <a:lnTo>
                    <a:pt x="3521722" y="1433131"/>
                  </a:lnTo>
                  <a:lnTo>
                    <a:pt x="3528237" y="1428737"/>
                  </a:lnTo>
                  <a:lnTo>
                    <a:pt x="3532619" y="1422222"/>
                  </a:lnTo>
                  <a:lnTo>
                    <a:pt x="3534232" y="1414246"/>
                  </a:lnTo>
                  <a:lnTo>
                    <a:pt x="3534232" y="1393748"/>
                  </a:lnTo>
                  <a:lnTo>
                    <a:pt x="3534232" y="40995"/>
                  </a:lnTo>
                  <a:lnTo>
                    <a:pt x="3534232" y="20497"/>
                  </a:lnTo>
                  <a:close/>
                </a:path>
              </a:pathLst>
            </a:custGeom>
            <a:solidFill>
              <a:srgbClr val="0099FF"/>
            </a:solidFill>
          </p:spPr>
          <p:txBody>
            <a:bodyPr wrap="square" lIns="0" tIns="0" rIns="0" bIns="0" rtlCol="0"/>
            <a:lstStyle/>
            <a:p>
              <a:endParaRPr sz="1588"/>
            </a:p>
          </p:txBody>
        </p:sp>
      </p:grpSp>
      <p:sp>
        <p:nvSpPr>
          <p:cNvPr id="160" name="object 160"/>
          <p:cNvSpPr txBox="1"/>
          <p:nvPr/>
        </p:nvSpPr>
        <p:spPr>
          <a:xfrm>
            <a:off x="6854525" y="2046049"/>
            <a:ext cx="1888751" cy="1464534"/>
          </a:xfrm>
          <a:prstGeom prst="rect">
            <a:avLst/>
          </a:prstGeom>
        </p:spPr>
        <p:txBody>
          <a:bodyPr vert="horz" wrap="square" lIns="0" tIns="11206" rIns="0" bIns="0" rtlCol="0">
            <a:spAutoFit/>
          </a:bodyPr>
          <a:lstStyle/>
          <a:p>
            <a:pPr marL="66679">
              <a:spcBef>
                <a:spcPts val="88"/>
              </a:spcBef>
              <a:tabLst>
                <a:tab pos="786135" algn="l"/>
              </a:tabLst>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7</a:t>
            </a:r>
            <a:r>
              <a:rPr sz="1324" b="1" dirty="0">
                <a:latin typeface="Times New Roman"/>
                <a:cs typeface="Times New Roman"/>
              </a:rPr>
              <a:t>	Cycle</a:t>
            </a:r>
            <a:r>
              <a:rPr sz="1324" b="1" spc="-9" dirty="0">
                <a:latin typeface="Times New Roman"/>
                <a:cs typeface="Times New Roman"/>
              </a:rPr>
              <a:t> </a:t>
            </a:r>
            <a:r>
              <a:rPr sz="1324" b="1" spc="-44" dirty="0">
                <a:latin typeface="Times New Roman"/>
                <a:cs typeface="Times New Roman"/>
              </a:rPr>
              <a:t>8</a:t>
            </a:r>
            <a:endParaRPr sz="1324">
              <a:latin typeface="Times New Roman"/>
              <a:cs typeface="Times New Roman"/>
            </a:endParaRPr>
          </a:p>
          <a:p>
            <a:pPr>
              <a:spcBef>
                <a:spcPts val="789"/>
              </a:spcBef>
            </a:pPr>
            <a:endParaRPr sz="1324">
              <a:latin typeface="Times New Roman"/>
              <a:cs typeface="Times New Roman"/>
            </a:endParaRPr>
          </a:p>
          <a:p>
            <a:pPr marL="44826" marR="38102">
              <a:lnSpc>
                <a:spcPct val="100600"/>
              </a:lnSpc>
            </a:pPr>
            <a:r>
              <a:rPr sz="1500" b="1" dirty="0">
                <a:solidFill>
                  <a:srgbClr val="660066"/>
                </a:solidFill>
                <a:latin typeface="Calibri"/>
                <a:cs typeface="Calibri"/>
              </a:rPr>
              <a:t>No</a:t>
            </a:r>
            <a:r>
              <a:rPr sz="1500" b="1" spc="4" dirty="0">
                <a:solidFill>
                  <a:srgbClr val="660066"/>
                </a:solidFill>
                <a:latin typeface="Calibri"/>
                <a:cs typeface="Calibri"/>
              </a:rPr>
              <a:t> </a:t>
            </a:r>
            <a:r>
              <a:rPr sz="1500" b="1" dirty="0">
                <a:solidFill>
                  <a:srgbClr val="660066"/>
                </a:solidFill>
                <a:latin typeface="Calibri"/>
                <a:cs typeface="Calibri"/>
              </a:rPr>
              <a:t>forwarding</a:t>
            </a:r>
            <a:r>
              <a:rPr sz="1500" b="1" spc="9" dirty="0">
                <a:solidFill>
                  <a:srgbClr val="660066"/>
                </a:solidFill>
                <a:latin typeface="Calibri"/>
                <a:cs typeface="Calibri"/>
              </a:rPr>
              <a:t> </a:t>
            </a:r>
            <a:r>
              <a:rPr sz="1500" b="1" spc="-9" dirty="0">
                <a:solidFill>
                  <a:srgbClr val="660066"/>
                </a:solidFill>
                <a:latin typeface="Calibri"/>
                <a:cs typeface="Calibri"/>
              </a:rPr>
              <a:t>needed </a:t>
            </a:r>
            <a:r>
              <a:rPr sz="1500" b="1" dirty="0">
                <a:solidFill>
                  <a:srgbClr val="660066"/>
                </a:solidFill>
                <a:latin typeface="Calibri"/>
                <a:cs typeface="Calibri"/>
              </a:rPr>
              <a:t>since write</a:t>
            </a:r>
            <a:r>
              <a:rPr sz="1500" b="1" spc="4" dirty="0">
                <a:solidFill>
                  <a:srgbClr val="660066"/>
                </a:solidFill>
                <a:latin typeface="Calibri"/>
                <a:cs typeface="Calibri"/>
              </a:rPr>
              <a:t> </a:t>
            </a:r>
            <a:r>
              <a:rPr sz="1500" b="1" dirty="0">
                <a:solidFill>
                  <a:srgbClr val="660066"/>
                </a:solidFill>
                <a:latin typeface="Calibri"/>
                <a:cs typeface="Calibri"/>
              </a:rPr>
              <a:t>reg. in</a:t>
            </a:r>
            <a:r>
              <a:rPr sz="1500" b="1" spc="13" dirty="0">
                <a:solidFill>
                  <a:srgbClr val="660066"/>
                </a:solidFill>
                <a:latin typeface="Calibri"/>
                <a:cs typeface="Calibri"/>
              </a:rPr>
              <a:t> </a:t>
            </a:r>
            <a:r>
              <a:rPr sz="1500" b="1" spc="-22" dirty="0">
                <a:solidFill>
                  <a:srgbClr val="660066"/>
                </a:solidFill>
                <a:latin typeface="Calibri"/>
                <a:cs typeface="Calibri"/>
              </a:rPr>
              <a:t>1</a:t>
            </a:r>
            <a:r>
              <a:rPr sz="1456" b="1" spc="-33" baseline="25252" dirty="0">
                <a:solidFill>
                  <a:srgbClr val="660066"/>
                </a:solidFill>
                <a:latin typeface="Calibri"/>
                <a:cs typeface="Calibri"/>
              </a:rPr>
              <a:t>st </a:t>
            </a:r>
            <a:r>
              <a:rPr sz="1500" b="1" dirty="0">
                <a:solidFill>
                  <a:srgbClr val="660066"/>
                </a:solidFill>
                <a:latin typeface="Calibri"/>
                <a:cs typeface="Calibri"/>
              </a:rPr>
              <a:t>half</a:t>
            </a:r>
            <a:r>
              <a:rPr sz="1500" b="1" spc="13" dirty="0">
                <a:solidFill>
                  <a:srgbClr val="660066"/>
                </a:solidFill>
                <a:latin typeface="Calibri"/>
                <a:cs typeface="Calibri"/>
              </a:rPr>
              <a:t> </a:t>
            </a:r>
            <a:r>
              <a:rPr sz="1500" b="1" dirty="0">
                <a:solidFill>
                  <a:srgbClr val="660066"/>
                </a:solidFill>
                <a:latin typeface="Calibri"/>
                <a:cs typeface="Calibri"/>
              </a:rPr>
              <a:t>cycle,</a:t>
            </a:r>
            <a:r>
              <a:rPr sz="1500" b="1" spc="13" dirty="0">
                <a:solidFill>
                  <a:srgbClr val="660066"/>
                </a:solidFill>
                <a:latin typeface="Calibri"/>
                <a:cs typeface="Calibri"/>
              </a:rPr>
              <a:t> </a:t>
            </a:r>
            <a:r>
              <a:rPr sz="1500" b="1" dirty="0">
                <a:solidFill>
                  <a:srgbClr val="660066"/>
                </a:solidFill>
                <a:latin typeface="Calibri"/>
                <a:cs typeface="Calibri"/>
              </a:rPr>
              <a:t>read</a:t>
            </a:r>
            <a:r>
              <a:rPr sz="1500" b="1" spc="22" dirty="0">
                <a:solidFill>
                  <a:srgbClr val="660066"/>
                </a:solidFill>
                <a:latin typeface="Calibri"/>
                <a:cs typeface="Calibri"/>
              </a:rPr>
              <a:t> </a:t>
            </a:r>
            <a:r>
              <a:rPr sz="1500" b="1" spc="-18" dirty="0">
                <a:solidFill>
                  <a:srgbClr val="660066"/>
                </a:solidFill>
                <a:latin typeface="Calibri"/>
                <a:cs typeface="Calibri"/>
              </a:rPr>
              <a:t>reg.</a:t>
            </a:r>
            <a:endParaRPr sz="1500">
              <a:latin typeface="Calibri"/>
              <a:cs typeface="Calibri"/>
            </a:endParaRPr>
          </a:p>
          <a:p>
            <a:pPr marL="44826">
              <a:spcBef>
                <a:spcPts val="62"/>
              </a:spcBef>
            </a:pPr>
            <a:r>
              <a:rPr sz="1500" b="1" dirty="0">
                <a:solidFill>
                  <a:srgbClr val="660066"/>
                </a:solidFill>
                <a:latin typeface="Calibri"/>
                <a:cs typeface="Calibri"/>
              </a:rPr>
              <a:t>in</a:t>
            </a:r>
            <a:r>
              <a:rPr sz="1500" b="1" spc="22" dirty="0">
                <a:solidFill>
                  <a:srgbClr val="660066"/>
                </a:solidFill>
                <a:latin typeface="Calibri"/>
                <a:cs typeface="Calibri"/>
              </a:rPr>
              <a:t> </a:t>
            </a:r>
            <a:r>
              <a:rPr sz="1500" b="1" dirty="0">
                <a:solidFill>
                  <a:srgbClr val="660066"/>
                </a:solidFill>
                <a:latin typeface="Calibri"/>
                <a:cs typeface="Calibri"/>
              </a:rPr>
              <a:t>2</a:t>
            </a:r>
            <a:r>
              <a:rPr sz="1456" b="1" baseline="25252" dirty="0">
                <a:solidFill>
                  <a:srgbClr val="660066"/>
                </a:solidFill>
                <a:latin typeface="Calibri"/>
                <a:cs typeface="Calibri"/>
              </a:rPr>
              <a:t>nd</a:t>
            </a:r>
            <a:r>
              <a:rPr sz="1456" b="1" spc="238" baseline="25252" dirty="0">
                <a:solidFill>
                  <a:srgbClr val="660066"/>
                </a:solidFill>
                <a:latin typeface="Calibri"/>
                <a:cs typeface="Calibri"/>
              </a:rPr>
              <a:t> </a:t>
            </a:r>
            <a:r>
              <a:rPr sz="1500" b="1" dirty="0">
                <a:solidFill>
                  <a:srgbClr val="660066"/>
                </a:solidFill>
                <a:latin typeface="Calibri"/>
                <a:cs typeface="Calibri"/>
              </a:rPr>
              <a:t>half</a:t>
            </a:r>
            <a:r>
              <a:rPr sz="1500" b="1" spc="26" dirty="0">
                <a:solidFill>
                  <a:srgbClr val="660066"/>
                </a:solidFill>
                <a:latin typeface="Calibri"/>
                <a:cs typeface="Calibri"/>
              </a:rPr>
              <a:t> </a:t>
            </a:r>
            <a:r>
              <a:rPr sz="1500" b="1" spc="-9" dirty="0">
                <a:solidFill>
                  <a:srgbClr val="660066"/>
                </a:solidFill>
                <a:latin typeface="Calibri"/>
                <a:cs typeface="Calibri"/>
              </a:rPr>
              <a:t>cycle.</a:t>
            </a:r>
            <a:endParaRPr sz="1500">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458439" y="3361019"/>
            <a:ext cx="131109" cy="0"/>
          </a:xfrm>
          <a:custGeom>
            <a:avLst/>
            <a:gdLst/>
            <a:ahLst/>
            <a:cxnLst/>
            <a:rect l="l" t="t" r="r" b="b"/>
            <a:pathLst>
              <a:path w="148589">
                <a:moveTo>
                  <a:pt x="0" y="0"/>
                </a:moveTo>
                <a:lnTo>
                  <a:pt x="148089" y="0"/>
                </a:lnTo>
              </a:path>
            </a:pathLst>
          </a:custGeom>
          <a:ln w="30745">
            <a:solidFill>
              <a:srgbClr val="000000"/>
            </a:solidFill>
          </a:ln>
        </p:spPr>
        <p:txBody>
          <a:bodyPr wrap="square" lIns="0" tIns="0" rIns="0" bIns="0" rtlCol="0"/>
          <a:lstStyle/>
          <a:p>
            <a:endParaRPr sz="1588"/>
          </a:p>
        </p:txBody>
      </p:sp>
      <p:sp>
        <p:nvSpPr>
          <p:cNvPr id="3" name="object 3"/>
          <p:cNvSpPr/>
          <p:nvPr/>
        </p:nvSpPr>
        <p:spPr>
          <a:xfrm>
            <a:off x="4666492" y="3361019"/>
            <a:ext cx="636494" cy="0"/>
          </a:xfrm>
          <a:custGeom>
            <a:avLst/>
            <a:gdLst/>
            <a:ahLst/>
            <a:cxnLst/>
            <a:rect l="l" t="t" r="r" b="b"/>
            <a:pathLst>
              <a:path w="721360">
                <a:moveTo>
                  <a:pt x="0" y="0"/>
                </a:moveTo>
                <a:lnTo>
                  <a:pt x="721118" y="0"/>
                </a:lnTo>
              </a:path>
            </a:pathLst>
          </a:custGeom>
          <a:ln w="30745">
            <a:solidFill>
              <a:srgbClr val="000000"/>
            </a:solidFill>
          </a:ln>
        </p:spPr>
        <p:txBody>
          <a:bodyPr wrap="square" lIns="0" tIns="0" rIns="0" bIns="0" rtlCol="0"/>
          <a:lstStyle/>
          <a:p>
            <a:endParaRPr sz="1588"/>
          </a:p>
        </p:txBody>
      </p:sp>
      <p:sp>
        <p:nvSpPr>
          <p:cNvPr id="4" name="object 4"/>
          <p:cNvSpPr/>
          <p:nvPr/>
        </p:nvSpPr>
        <p:spPr>
          <a:xfrm>
            <a:off x="5379084" y="3361019"/>
            <a:ext cx="276225" cy="0"/>
          </a:xfrm>
          <a:custGeom>
            <a:avLst/>
            <a:gdLst/>
            <a:ahLst/>
            <a:cxnLst/>
            <a:rect l="l" t="t" r="r" b="b"/>
            <a:pathLst>
              <a:path w="313054">
                <a:moveTo>
                  <a:pt x="0" y="0"/>
                </a:moveTo>
                <a:lnTo>
                  <a:pt x="312733" y="0"/>
                </a:lnTo>
              </a:path>
            </a:pathLst>
          </a:custGeom>
          <a:ln w="30745">
            <a:solidFill>
              <a:srgbClr val="000000"/>
            </a:solidFill>
          </a:ln>
        </p:spPr>
        <p:txBody>
          <a:bodyPr wrap="square" lIns="0" tIns="0" rIns="0" bIns="0" rtlCol="0"/>
          <a:lstStyle/>
          <a:p>
            <a:endParaRPr sz="1588"/>
          </a:p>
        </p:txBody>
      </p:sp>
      <p:sp>
        <p:nvSpPr>
          <p:cNvPr id="5" name="object 5"/>
          <p:cNvSpPr/>
          <p:nvPr/>
        </p:nvSpPr>
        <p:spPr>
          <a:xfrm>
            <a:off x="4458439" y="3555983"/>
            <a:ext cx="131109" cy="0"/>
          </a:xfrm>
          <a:custGeom>
            <a:avLst/>
            <a:gdLst/>
            <a:ahLst/>
            <a:cxnLst/>
            <a:rect l="l" t="t" r="r" b="b"/>
            <a:pathLst>
              <a:path w="148589">
                <a:moveTo>
                  <a:pt x="0" y="0"/>
                </a:moveTo>
                <a:lnTo>
                  <a:pt x="148089" y="0"/>
                </a:lnTo>
              </a:path>
            </a:pathLst>
          </a:custGeom>
          <a:ln w="30745">
            <a:solidFill>
              <a:srgbClr val="000000"/>
            </a:solidFill>
          </a:ln>
        </p:spPr>
        <p:txBody>
          <a:bodyPr wrap="square" lIns="0" tIns="0" rIns="0" bIns="0" rtlCol="0"/>
          <a:lstStyle/>
          <a:p>
            <a:endParaRPr sz="1588"/>
          </a:p>
        </p:txBody>
      </p:sp>
      <p:sp>
        <p:nvSpPr>
          <p:cNvPr id="6" name="object 6"/>
          <p:cNvSpPr/>
          <p:nvPr/>
        </p:nvSpPr>
        <p:spPr>
          <a:xfrm>
            <a:off x="4666492" y="3555983"/>
            <a:ext cx="636494" cy="0"/>
          </a:xfrm>
          <a:custGeom>
            <a:avLst/>
            <a:gdLst/>
            <a:ahLst/>
            <a:cxnLst/>
            <a:rect l="l" t="t" r="r" b="b"/>
            <a:pathLst>
              <a:path w="721360">
                <a:moveTo>
                  <a:pt x="0" y="0"/>
                </a:moveTo>
                <a:lnTo>
                  <a:pt x="721118" y="0"/>
                </a:lnTo>
              </a:path>
            </a:pathLst>
          </a:custGeom>
          <a:ln w="30745">
            <a:solidFill>
              <a:srgbClr val="000000"/>
            </a:solidFill>
          </a:ln>
        </p:spPr>
        <p:txBody>
          <a:bodyPr wrap="square" lIns="0" tIns="0" rIns="0" bIns="0" rtlCol="0"/>
          <a:lstStyle/>
          <a:p>
            <a:endParaRPr sz="1588"/>
          </a:p>
        </p:txBody>
      </p:sp>
      <p:sp>
        <p:nvSpPr>
          <p:cNvPr id="7" name="object 7"/>
          <p:cNvSpPr/>
          <p:nvPr/>
        </p:nvSpPr>
        <p:spPr>
          <a:xfrm>
            <a:off x="5379084" y="3555983"/>
            <a:ext cx="276225" cy="0"/>
          </a:xfrm>
          <a:custGeom>
            <a:avLst/>
            <a:gdLst/>
            <a:ahLst/>
            <a:cxnLst/>
            <a:rect l="l" t="t" r="r" b="b"/>
            <a:pathLst>
              <a:path w="313054">
                <a:moveTo>
                  <a:pt x="0" y="0"/>
                </a:moveTo>
                <a:lnTo>
                  <a:pt x="312733" y="0"/>
                </a:lnTo>
              </a:path>
            </a:pathLst>
          </a:custGeom>
          <a:ln w="30745">
            <a:solidFill>
              <a:srgbClr val="000000"/>
            </a:solidFill>
          </a:ln>
        </p:spPr>
        <p:txBody>
          <a:bodyPr wrap="square" lIns="0" tIns="0" rIns="0" bIns="0" rtlCol="0"/>
          <a:lstStyle/>
          <a:p>
            <a:endParaRPr sz="1588"/>
          </a:p>
        </p:txBody>
      </p:sp>
      <p:sp>
        <p:nvSpPr>
          <p:cNvPr id="8" name="object 8"/>
          <p:cNvSpPr/>
          <p:nvPr/>
        </p:nvSpPr>
        <p:spPr>
          <a:xfrm>
            <a:off x="3771400" y="3557385"/>
            <a:ext cx="109818" cy="0"/>
          </a:xfrm>
          <a:custGeom>
            <a:avLst/>
            <a:gdLst/>
            <a:ahLst/>
            <a:cxnLst/>
            <a:rect l="l" t="t" r="r" b="b"/>
            <a:pathLst>
              <a:path w="124460">
                <a:moveTo>
                  <a:pt x="0" y="0"/>
                </a:moveTo>
                <a:lnTo>
                  <a:pt x="124000" y="0"/>
                </a:lnTo>
              </a:path>
            </a:pathLst>
          </a:custGeom>
          <a:ln w="30745">
            <a:solidFill>
              <a:srgbClr val="000000"/>
            </a:solidFill>
          </a:ln>
        </p:spPr>
        <p:txBody>
          <a:bodyPr wrap="square" lIns="0" tIns="0" rIns="0" bIns="0" rtlCol="0"/>
          <a:lstStyle/>
          <a:p>
            <a:endParaRPr sz="1588"/>
          </a:p>
        </p:txBody>
      </p:sp>
      <p:sp>
        <p:nvSpPr>
          <p:cNvPr id="9" name="object 9"/>
          <p:cNvSpPr/>
          <p:nvPr/>
        </p:nvSpPr>
        <p:spPr>
          <a:xfrm>
            <a:off x="3958199" y="3557385"/>
            <a:ext cx="108137" cy="0"/>
          </a:xfrm>
          <a:custGeom>
            <a:avLst/>
            <a:gdLst/>
            <a:ahLst/>
            <a:cxnLst/>
            <a:rect l="l" t="t" r="r" b="b"/>
            <a:pathLst>
              <a:path w="122554">
                <a:moveTo>
                  <a:pt x="0" y="0"/>
                </a:moveTo>
                <a:lnTo>
                  <a:pt x="122236" y="0"/>
                </a:lnTo>
              </a:path>
            </a:pathLst>
          </a:custGeom>
          <a:ln w="30745">
            <a:solidFill>
              <a:srgbClr val="000000"/>
            </a:solidFill>
          </a:ln>
        </p:spPr>
        <p:txBody>
          <a:bodyPr wrap="square" lIns="0" tIns="0" rIns="0" bIns="0" rtlCol="0"/>
          <a:lstStyle/>
          <a:p>
            <a:endParaRPr sz="1588"/>
          </a:p>
        </p:txBody>
      </p:sp>
      <p:sp>
        <p:nvSpPr>
          <p:cNvPr id="10" name="object 10"/>
          <p:cNvSpPr/>
          <p:nvPr/>
        </p:nvSpPr>
        <p:spPr>
          <a:xfrm>
            <a:off x="3771400" y="3361019"/>
            <a:ext cx="109818" cy="0"/>
          </a:xfrm>
          <a:custGeom>
            <a:avLst/>
            <a:gdLst/>
            <a:ahLst/>
            <a:cxnLst/>
            <a:rect l="l" t="t" r="r" b="b"/>
            <a:pathLst>
              <a:path w="124460">
                <a:moveTo>
                  <a:pt x="0" y="0"/>
                </a:moveTo>
                <a:lnTo>
                  <a:pt x="124000" y="0"/>
                </a:lnTo>
              </a:path>
            </a:pathLst>
          </a:custGeom>
          <a:ln w="30745">
            <a:solidFill>
              <a:srgbClr val="000000"/>
            </a:solidFill>
          </a:ln>
        </p:spPr>
        <p:txBody>
          <a:bodyPr wrap="square" lIns="0" tIns="0" rIns="0" bIns="0" rtlCol="0"/>
          <a:lstStyle/>
          <a:p>
            <a:endParaRPr sz="1588"/>
          </a:p>
        </p:txBody>
      </p:sp>
      <p:sp>
        <p:nvSpPr>
          <p:cNvPr id="11" name="object 11"/>
          <p:cNvSpPr/>
          <p:nvPr/>
        </p:nvSpPr>
        <p:spPr>
          <a:xfrm>
            <a:off x="3958199" y="3361019"/>
            <a:ext cx="108137" cy="0"/>
          </a:xfrm>
          <a:custGeom>
            <a:avLst/>
            <a:gdLst/>
            <a:ahLst/>
            <a:cxnLst/>
            <a:rect l="l" t="t" r="r" b="b"/>
            <a:pathLst>
              <a:path w="122554">
                <a:moveTo>
                  <a:pt x="0" y="0"/>
                </a:moveTo>
                <a:lnTo>
                  <a:pt x="122235" y="0"/>
                </a:lnTo>
              </a:path>
            </a:pathLst>
          </a:custGeom>
          <a:ln w="30745">
            <a:solidFill>
              <a:srgbClr val="000000"/>
            </a:solidFill>
          </a:ln>
        </p:spPr>
        <p:txBody>
          <a:bodyPr wrap="square" lIns="0" tIns="0" rIns="0" bIns="0" rtlCol="0"/>
          <a:lstStyle/>
          <a:p>
            <a:endParaRPr sz="1588"/>
          </a:p>
        </p:txBody>
      </p:sp>
      <p:grpSp>
        <p:nvGrpSpPr>
          <p:cNvPr id="12" name="object 12"/>
          <p:cNvGrpSpPr/>
          <p:nvPr/>
        </p:nvGrpSpPr>
        <p:grpSpPr>
          <a:xfrm>
            <a:off x="2225056" y="1841901"/>
            <a:ext cx="6375026" cy="1937497"/>
            <a:chOff x="2369330" y="2087488"/>
            <a:chExt cx="7225030" cy="2195830"/>
          </a:xfrm>
        </p:grpSpPr>
        <p:sp>
          <p:nvSpPr>
            <p:cNvPr id="13" name="object 13"/>
            <p:cNvSpPr/>
            <p:nvPr/>
          </p:nvSpPr>
          <p:spPr>
            <a:xfrm>
              <a:off x="7540871" y="3566523"/>
              <a:ext cx="88265" cy="701040"/>
            </a:xfrm>
            <a:custGeom>
              <a:avLst/>
              <a:gdLst/>
              <a:ahLst/>
              <a:cxnLst/>
              <a:rect l="l" t="t" r="r" b="b"/>
              <a:pathLst>
                <a:path w="88265"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14" name="object 14"/>
            <p:cNvSpPr/>
            <p:nvPr/>
          </p:nvSpPr>
          <p:spPr>
            <a:xfrm>
              <a:off x="7540871" y="3566523"/>
              <a:ext cx="88265" cy="701040"/>
            </a:xfrm>
            <a:custGeom>
              <a:avLst/>
              <a:gdLst/>
              <a:ahLst/>
              <a:cxnLst/>
              <a:rect l="l" t="t" r="r" b="b"/>
              <a:pathLst>
                <a:path w="88265"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5" name="object 15"/>
            <p:cNvSpPr/>
            <p:nvPr/>
          </p:nvSpPr>
          <p:spPr>
            <a:xfrm>
              <a:off x="2369330" y="2087488"/>
              <a:ext cx="7225030" cy="82550"/>
            </a:xfrm>
            <a:custGeom>
              <a:avLst/>
              <a:gdLst/>
              <a:ahLst/>
              <a:cxnLst/>
              <a:rect l="l" t="t" r="r" b="b"/>
              <a:pathLst>
                <a:path w="7225030" h="82550">
                  <a:moveTo>
                    <a:pt x="7143197" y="0"/>
                  </a:moveTo>
                  <a:lnTo>
                    <a:pt x="7143071" y="41245"/>
                  </a:lnTo>
                  <a:lnTo>
                    <a:pt x="7142946" y="81986"/>
                  </a:lnTo>
                  <a:lnTo>
                    <a:pt x="7197895" y="54698"/>
                  </a:lnTo>
                  <a:lnTo>
                    <a:pt x="7156739" y="54698"/>
                  </a:lnTo>
                  <a:lnTo>
                    <a:pt x="7156823" y="27371"/>
                  </a:lnTo>
                  <a:lnTo>
                    <a:pt x="7197473" y="27371"/>
                  </a:lnTo>
                  <a:lnTo>
                    <a:pt x="7143197" y="0"/>
                  </a:lnTo>
                  <a:close/>
                </a:path>
                <a:path w="7225030" h="82550">
                  <a:moveTo>
                    <a:pt x="85" y="5326"/>
                  </a:moveTo>
                  <a:lnTo>
                    <a:pt x="0" y="32655"/>
                  </a:lnTo>
                  <a:lnTo>
                    <a:pt x="7156739" y="54698"/>
                  </a:lnTo>
                  <a:lnTo>
                    <a:pt x="7143029" y="54698"/>
                  </a:lnTo>
                  <a:lnTo>
                    <a:pt x="7143113" y="27371"/>
                  </a:lnTo>
                  <a:lnTo>
                    <a:pt x="7156823" y="27371"/>
                  </a:lnTo>
                  <a:lnTo>
                    <a:pt x="85" y="5326"/>
                  </a:lnTo>
                  <a:close/>
                </a:path>
                <a:path w="7225030" h="82550">
                  <a:moveTo>
                    <a:pt x="7197473" y="27371"/>
                  </a:moveTo>
                  <a:lnTo>
                    <a:pt x="7156823" y="27371"/>
                  </a:lnTo>
                  <a:lnTo>
                    <a:pt x="7156739" y="54698"/>
                  </a:lnTo>
                  <a:lnTo>
                    <a:pt x="7197895" y="54698"/>
                  </a:lnTo>
                  <a:lnTo>
                    <a:pt x="7224986" y="41245"/>
                  </a:lnTo>
                  <a:lnTo>
                    <a:pt x="7197473" y="27371"/>
                  </a:lnTo>
                  <a:close/>
                </a:path>
              </a:pathLst>
            </a:custGeom>
            <a:solidFill>
              <a:srgbClr val="000000"/>
            </a:solidFill>
          </p:spPr>
          <p:txBody>
            <a:bodyPr wrap="square" lIns="0" tIns="0" rIns="0" bIns="0" rtlCol="0"/>
            <a:lstStyle/>
            <a:p>
              <a:endParaRPr sz="1588"/>
            </a:p>
          </p:txBody>
        </p:sp>
        <p:sp>
          <p:nvSpPr>
            <p:cNvPr id="16" name="object 16"/>
            <p:cNvSpPr/>
            <p:nvPr/>
          </p:nvSpPr>
          <p:spPr>
            <a:xfrm>
              <a:off x="3926829" y="2882212"/>
              <a:ext cx="217170" cy="366395"/>
            </a:xfrm>
            <a:custGeom>
              <a:avLst/>
              <a:gdLst/>
              <a:ahLst/>
              <a:cxnLst/>
              <a:rect l="l" t="t" r="r" b="b"/>
              <a:pathLst>
                <a:path w="217170" h="366394">
                  <a:moveTo>
                    <a:pt x="216566" y="0"/>
                  </a:moveTo>
                  <a:lnTo>
                    <a:pt x="0" y="0"/>
                  </a:lnTo>
                  <a:lnTo>
                    <a:pt x="0" y="366092"/>
                  </a:lnTo>
                  <a:lnTo>
                    <a:pt x="216566" y="366092"/>
                  </a:lnTo>
                  <a:lnTo>
                    <a:pt x="216566" y="0"/>
                  </a:lnTo>
                  <a:close/>
                </a:path>
              </a:pathLst>
            </a:custGeom>
            <a:solidFill>
              <a:srgbClr val="0099FF"/>
            </a:solidFill>
          </p:spPr>
          <p:txBody>
            <a:bodyPr wrap="square" lIns="0" tIns="0" rIns="0" bIns="0" rtlCol="0"/>
            <a:lstStyle/>
            <a:p>
              <a:endParaRPr sz="1588"/>
            </a:p>
          </p:txBody>
        </p:sp>
        <p:sp>
          <p:nvSpPr>
            <p:cNvPr id="17" name="object 17"/>
            <p:cNvSpPr/>
            <p:nvPr/>
          </p:nvSpPr>
          <p:spPr>
            <a:xfrm>
              <a:off x="3710261" y="2882212"/>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18" name="object 18"/>
          <p:cNvSpPr txBox="1">
            <a:spLocks noGrp="1"/>
          </p:cNvSpPr>
          <p:nvPr>
            <p:ph type="title"/>
          </p:nvPr>
        </p:nvSpPr>
        <p:spPr>
          <a:xfrm>
            <a:off x="961955" y="196589"/>
            <a:ext cx="5449981" cy="1191126"/>
          </a:xfrm>
          <a:prstGeom prst="rect">
            <a:avLst/>
          </a:prstGeom>
        </p:spPr>
        <p:txBody>
          <a:bodyPr vert="horz" wrap="square" lIns="0" tIns="11206" rIns="0" bIns="0" rtlCol="0" anchor="ctr">
            <a:spAutoFit/>
          </a:bodyPr>
          <a:lstStyle/>
          <a:p>
            <a:pPr marL="11206">
              <a:lnSpc>
                <a:spcPts val="3565"/>
              </a:lnSpc>
              <a:spcBef>
                <a:spcPts val="88"/>
              </a:spcBef>
            </a:pPr>
            <a:r>
              <a:rPr dirty="0"/>
              <a:t>Data</a:t>
            </a:r>
            <a:r>
              <a:rPr spc="66" dirty="0"/>
              <a:t> </a:t>
            </a:r>
            <a:r>
              <a:rPr dirty="0"/>
              <a:t>Hazard</a:t>
            </a:r>
            <a:r>
              <a:rPr spc="66" dirty="0"/>
              <a:t> </a:t>
            </a:r>
            <a:r>
              <a:rPr dirty="0"/>
              <a:t>Even</a:t>
            </a:r>
            <a:r>
              <a:rPr spc="71" dirty="0"/>
              <a:t> </a:t>
            </a:r>
            <a:r>
              <a:rPr dirty="0"/>
              <a:t>with</a:t>
            </a:r>
            <a:r>
              <a:rPr spc="66" dirty="0"/>
              <a:t> </a:t>
            </a:r>
            <a:r>
              <a:rPr spc="-9" dirty="0"/>
              <a:t>Forwarding</a:t>
            </a:r>
          </a:p>
          <a:p>
            <a:pPr marL="11206">
              <a:lnSpc>
                <a:spcPts val="1977"/>
              </a:lnSpc>
            </a:pPr>
            <a:r>
              <a:rPr sz="1677" dirty="0"/>
              <a:t>(Similar</a:t>
            </a:r>
            <a:r>
              <a:rPr sz="1677" spc="26" dirty="0"/>
              <a:t> </a:t>
            </a:r>
            <a:r>
              <a:rPr sz="1677" dirty="0"/>
              <a:t>to</a:t>
            </a:r>
            <a:r>
              <a:rPr sz="1677" spc="35" dirty="0"/>
              <a:t> </a:t>
            </a:r>
            <a:r>
              <a:rPr sz="1677" dirty="0"/>
              <a:t>Figure</a:t>
            </a:r>
            <a:r>
              <a:rPr sz="1677" spc="44" dirty="0"/>
              <a:t> </a:t>
            </a:r>
            <a:r>
              <a:rPr sz="1677" spc="-18" dirty="0"/>
              <a:t>C.10)</a:t>
            </a:r>
            <a:endParaRPr sz="1677"/>
          </a:p>
        </p:txBody>
      </p:sp>
      <p:sp>
        <p:nvSpPr>
          <p:cNvPr id="175" name="Slide Number Placeholder 174">
            <a:extLst>
              <a:ext uri="{FF2B5EF4-FFF2-40B4-BE49-F238E27FC236}">
                <a16:creationId xmlns:a16="http://schemas.microsoft.com/office/drawing/2014/main" id="{0EEC9DD3-36D5-9E6C-66EA-D159E32FABD7}"/>
              </a:ext>
            </a:extLst>
          </p:cNvPr>
          <p:cNvSpPr>
            <a:spLocks noGrp="1"/>
          </p:cNvSpPr>
          <p:nvPr>
            <p:ph type="sldNum" sz="quarter" idx="7"/>
          </p:nvPr>
        </p:nvSpPr>
        <p:spPr/>
        <p:txBody>
          <a:bodyPr/>
          <a:lstStyle/>
          <a:p>
            <a:fld id="{4FE321F0-2018-4E50-8BB3-A5631EBD98DD}" type="slidenum">
              <a:rPr lang="en-US" smtClean="0"/>
              <a:t>48</a:t>
            </a:fld>
            <a:endParaRPr lang="en-US"/>
          </a:p>
        </p:txBody>
      </p:sp>
      <p:sp>
        <p:nvSpPr>
          <p:cNvPr id="19" name="object 19"/>
          <p:cNvSpPr txBox="1"/>
          <p:nvPr/>
        </p:nvSpPr>
        <p:spPr>
          <a:xfrm>
            <a:off x="1177283" y="2533691"/>
            <a:ext cx="1063438" cy="269399"/>
          </a:xfrm>
          <a:prstGeom prst="rect">
            <a:avLst/>
          </a:prstGeom>
        </p:spPr>
        <p:txBody>
          <a:bodyPr vert="horz" wrap="square" lIns="0" tIns="11206" rIns="0" bIns="0" rtlCol="0">
            <a:spAutoFit/>
          </a:bodyPr>
          <a:lstStyle/>
          <a:p>
            <a:pPr marL="11206">
              <a:spcBef>
                <a:spcPts val="88"/>
              </a:spcBef>
            </a:pPr>
            <a:r>
              <a:rPr sz="1677" b="1" dirty="0">
                <a:solidFill>
                  <a:srgbClr val="FF0000"/>
                </a:solidFill>
                <a:latin typeface="Times New Roman"/>
                <a:cs typeface="Times New Roman"/>
              </a:rPr>
              <a:t>lw</a:t>
            </a:r>
            <a:r>
              <a:rPr sz="1677" b="1" spc="31" dirty="0">
                <a:solidFill>
                  <a:srgbClr val="FF0000"/>
                </a:solidFill>
                <a:latin typeface="Times New Roman"/>
                <a:cs typeface="Times New Roman"/>
              </a:rPr>
              <a:t> </a:t>
            </a:r>
            <a:r>
              <a:rPr sz="1677" b="1" u="sng" dirty="0">
                <a:solidFill>
                  <a:srgbClr val="FF0000"/>
                </a:solidFill>
                <a:latin typeface="Times New Roman"/>
                <a:cs typeface="Times New Roman"/>
              </a:rPr>
              <a:t>r1</a:t>
            </a:r>
            <a:r>
              <a:rPr sz="1677" b="1" dirty="0">
                <a:solidFill>
                  <a:srgbClr val="FC0128"/>
                </a:solidFill>
                <a:latin typeface="Times New Roman"/>
                <a:cs typeface="Times New Roman"/>
              </a:rPr>
              <a:t>,</a:t>
            </a:r>
            <a:r>
              <a:rPr sz="1677" b="1" spc="31" dirty="0">
                <a:solidFill>
                  <a:srgbClr val="FC0128"/>
                </a:solidFill>
                <a:latin typeface="Times New Roman"/>
                <a:cs typeface="Times New Roman"/>
              </a:rPr>
              <a:t> </a:t>
            </a:r>
            <a:r>
              <a:rPr sz="1677" b="1" spc="-18" dirty="0">
                <a:solidFill>
                  <a:srgbClr val="FC0128"/>
                </a:solidFill>
                <a:latin typeface="Times New Roman"/>
                <a:cs typeface="Times New Roman"/>
              </a:rPr>
              <a:t>0(r2)</a:t>
            </a:r>
            <a:endParaRPr sz="1677" dirty="0">
              <a:latin typeface="Times New Roman"/>
              <a:cs typeface="Times New Roman"/>
            </a:endParaRPr>
          </a:p>
        </p:txBody>
      </p:sp>
      <p:sp>
        <p:nvSpPr>
          <p:cNvPr id="20" name="object 20"/>
          <p:cNvSpPr txBox="1"/>
          <p:nvPr/>
        </p:nvSpPr>
        <p:spPr>
          <a:xfrm>
            <a:off x="1177283" y="3294794"/>
            <a:ext cx="1231526"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sub</a:t>
            </a:r>
            <a:r>
              <a:rPr sz="1677" b="1" spc="35" dirty="0">
                <a:solidFill>
                  <a:srgbClr val="FC0128"/>
                </a:solidFill>
                <a:latin typeface="Times New Roman"/>
                <a:cs typeface="Times New Roman"/>
              </a:rPr>
              <a:t> </a:t>
            </a:r>
            <a:r>
              <a:rPr sz="1677" b="1" dirty="0">
                <a:solidFill>
                  <a:srgbClr val="FC0128"/>
                </a:solidFill>
                <a:latin typeface="Times New Roman"/>
                <a:cs typeface="Times New Roman"/>
              </a:rPr>
              <a:t>r4,</a:t>
            </a:r>
            <a:r>
              <a:rPr sz="1677" b="1" spc="31" dirty="0">
                <a:solidFill>
                  <a:srgbClr val="FC0128"/>
                </a:solidFill>
                <a:latin typeface="Times New Roman"/>
                <a:cs typeface="Times New Roman"/>
              </a:rPr>
              <a:t> </a:t>
            </a:r>
            <a:r>
              <a:rPr sz="1677" b="1" u="sng" dirty="0">
                <a:solidFill>
                  <a:srgbClr val="FF0000"/>
                </a:solidFill>
                <a:latin typeface="Times New Roman"/>
                <a:cs typeface="Times New Roman"/>
              </a:rPr>
              <a:t>r1</a:t>
            </a:r>
            <a:r>
              <a:rPr sz="1677" b="1" dirty="0">
                <a:solidFill>
                  <a:srgbClr val="FC0128"/>
                </a:solidFill>
                <a:latin typeface="Times New Roman"/>
                <a:cs typeface="Times New Roman"/>
              </a:rPr>
              <a:t>,</a:t>
            </a:r>
            <a:r>
              <a:rPr sz="1677" b="1" spc="31" dirty="0">
                <a:solidFill>
                  <a:srgbClr val="FC0128"/>
                </a:solidFill>
                <a:latin typeface="Times New Roman"/>
                <a:cs typeface="Times New Roman"/>
              </a:rPr>
              <a:t> </a:t>
            </a:r>
            <a:r>
              <a:rPr sz="1677" b="1" spc="-22" dirty="0">
                <a:solidFill>
                  <a:srgbClr val="FC0128"/>
                </a:solidFill>
                <a:latin typeface="Times New Roman"/>
                <a:cs typeface="Times New Roman"/>
              </a:rPr>
              <a:t>r6</a:t>
            </a:r>
            <a:endParaRPr sz="1677" dirty="0">
              <a:latin typeface="Times New Roman"/>
              <a:cs typeface="Times New Roman"/>
            </a:endParaRPr>
          </a:p>
        </p:txBody>
      </p:sp>
      <p:sp>
        <p:nvSpPr>
          <p:cNvPr id="21" name="object 21"/>
          <p:cNvSpPr txBox="1"/>
          <p:nvPr/>
        </p:nvSpPr>
        <p:spPr>
          <a:xfrm>
            <a:off x="1177283" y="4066656"/>
            <a:ext cx="1255619"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and</a:t>
            </a:r>
            <a:r>
              <a:rPr sz="1677" b="1" spc="40" dirty="0">
                <a:solidFill>
                  <a:srgbClr val="FC0128"/>
                </a:solidFill>
                <a:latin typeface="Times New Roman"/>
                <a:cs typeface="Times New Roman"/>
              </a:rPr>
              <a:t> </a:t>
            </a:r>
            <a:r>
              <a:rPr sz="1677" b="1" dirty="0">
                <a:solidFill>
                  <a:srgbClr val="FC0128"/>
                </a:solidFill>
                <a:latin typeface="Times New Roman"/>
                <a:cs typeface="Times New Roman"/>
              </a:rPr>
              <a:t>r6,</a:t>
            </a:r>
            <a:r>
              <a:rPr sz="1677" b="1" spc="26" dirty="0">
                <a:solidFill>
                  <a:srgbClr val="FC0128"/>
                </a:solidFill>
                <a:latin typeface="Times New Roman"/>
                <a:cs typeface="Times New Roman"/>
              </a:rPr>
              <a:t> </a:t>
            </a:r>
            <a:r>
              <a:rPr sz="1677" b="1" u="sng" dirty="0">
                <a:solidFill>
                  <a:srgbClr val="0099FF"/>
                </a:solidFill>
                <a:latin typeface="Times New Roman"/>
                <a:cs typeface="Times New Roman"/>
              </a:rPr>
              <a:t>r1</a:t>
            </a:r>
            <a:r>
              <a:rPr sz="1677" b="1" dirty="0">
                <a:solidFill>
                  <a:srgbClr val="FC0128"/>
                </a:solidFill>
                <a:latin typeface="Times New Roman"/>
                <a:cs typeface="Times New Roman"/>
              </a:rPr>
              <a:t>,</a:t>
            </a:r>
            <a:r>
              <a:rPr sz="1677" b="1" spc="31" dirty="0">
                <a:solidFill>
                  <a:srgbClr val="FC0128"/>
                </a:solidFill>
                <a:latin typeface="Times New Roman"/>
                <a:cs typeface="Times New Roman"/>
              </a:rPr>
              <a:t> </a:t>
            </a:r>
            <a:r>
              <a:rPr sz="1677" b="1" spc="-22" dirty="0">
                <a:solidFill>
                  <a:srgbClr val="FC0128"/>
                </a:solidFill>
                <a:latin typeface="Times New Roman"/>
                <a:cs typeface="Times New Roman"/>
              </a:rPr>
              <a:t>r7</a:t>
            </a:r>
            <a:endParaRPr sz="1677" dirty="0">
              <a:latin typeface="Times New Roman"/>
              <a:cs typeface="Times New Roman"/>
            </a:endParaRPr>
          </a:p>
        </p:txBody>
      </p:sp>
      <p:sp>
        <p:nvSpPr>
          <p:cNvPr id="22" name="object 22"/>
          <p:cNvSpPr txBox="1"/>
          <p:nvPr/>
        </p:nvSpPr>
        <p:spPr>
          <a:xfrm>
            <a:off x="1177283" y="4849274"/>
            <a:ext cx="1107141"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or</a:t>
            </a:r>
            <a:r>
              <a:rPr sz="1677" b="1" spc="4" dirty="0">
                <a:solidFill>
                  <a:srgbClr val="FC0128"/>
                </a:solidFill>
                <a:latin typeface="Times New Roman"/>
                <a:cs typeface="Times New Roman"/>
              </a:rPr>
              <a:t> </a:t>
            </a:r>
            <a:r>
              <a:rPr sz="1677" b="1" dirty="0">
                <a:solidFill>
                  <a:srgbClr val="FC0128"/>
                </a:solidFill>
                <a:latin typeface="Times New Roman"/>
                <a:cs typeface="Times New Roman"/>
              </a:rPr>
              <a:t>r8,</a:t>
            </a:r>
            <a:r>
              <a:rPr sz="1677" b="1" spc="35" dirty="0">
                <a:solidFill>
                  <a:srgbClr val="FC0128"/>
                </a:solidFill>
                <a:latin typeface="Times New Roman"/>
                <a:cs typeface="Times New Roman"/>
              </a:rPr>
              <a:t> </a:t>
            </a:r>
            <a:r>
              <a:rPr sz="1677" b="1" dirty="0">
                <a:solidFill>
                  <a:srgbClr val="008000"/>
                </a:solidFill>
                <a:latin typeface="Times New Roman"/>
                <a:cs typeface="Times New Roman"/>
              </a:rPr>
              <a:t>r1</a:t>
            </a:r>
            <a:r>
              <a:rPr sz="1677" b="1" dirty="0">
                <a:solidFill>
                  <a:srgbClr val="FC0128"/>
                </a:solidFill>
                <a:latin typeface="Times New Roman"/>
                <a:cs typeface="Times New Roman"/>
              </a:rPr>
              <a:t>,</a:t>
            </a:r>
            <a:r>
              <a:rPr sz="1677" b="1" spc="40" dirty="0">
                <a:solidFill>
                  <a:srgbClr val="FC0128"/>
                </a:solidFill>
                <a:latin typeface="Times New Roman"/>
                <a:cs typeface="Times New Roman"/>
              </a:rPr>
              <a:t> </a:t>
            </a:r>
            <a:r>
              <a:rPr sz="1677" b="1" spc="-22" dirty="0">
                <a:solidFill>
                  <a:srgbClr val="FC0128"/>
                </a:solidFill>
                <a:latin typeface="Times New Roman"/>
                <a:cs typeface="Times New Roman"/>
              </a:rPr>
              <a:t>r9</a:t>
            </a:r>
            <a:endParaRPr sz="1677">
              <a:latin typeface="Times New Roman"/>
              <a:cs typeface="Times New Roman"/>
            </a:endParaRPr>
          </a:p>
        </p:txBody>
      </p:sp>
      <p:sp>
        <p:nvSpPr>
          <p:cNvPr id="23" name="object 23"/>
          <p:cNvSpPr txBox="1"/>
          <p:nvPr/>
        </p:nvSpPr>
        <p:spPr>
          <a:xfrm>
            <a:off x="666295" y="2475839"/>
            <a:ext cx="163046" cy="1474280"/>
          </a:xfrm>
          <a:prstGeom prst="rect">
            <a:avLst/>
          </a:prstGeom>
        </p:spPr>
        <p:txBody>
          <a:bodyPr vert="horz" wrap="square" lIns="0" tIns="11206" rIns="0" bIns="0" rtlCol="0">
            <a:spAutoFit/>
          </a:bodyPr>
          <a:lstStyle/>
          <a:p>
            <a:pPr marL="34180">
              <a:lnSpc>
                <a:spcPts val="2268"/>
              </a:lnSpc>
              <a:spcBef>
                <a:spcPts val="88"/>
              </a:spcBef>
            </a:pPr>
            <a:r>
              <a:rPr sz="1941" b="1" i="1" spc="-44" dirty="0">
                <a:latin typeface="Times New Roman"/>
                <a:cs typeface="Times New Roman"/>
              </a:rPr>
              <a:t>I</a:t>
            </a:r>
            <a:endParaRPr sz="1941">
              <a:latin typeface="Times New Roman"/>
              <a:cs typeface="Times New Roman"/>
            </a:endParaRPr>
          </a:p>
          <a:p>
            <a:pPr marL="34180" indent="-20732">
              <a:lnSpc>
                <a:spcPts val="2255"/>
              </a:lnSpc>
            </a:pPr>
            <a:r>
              <a:rPr sz="1941" b="1" i="1" spc="-44" dirty="0">
                <a:latin typeface="Times New Roman"/>
                <a:cs typeface="Times New Roman"/>
              </a:rPr>
              <a:t>n</a:t>
            </a:r>
            <a:endParaRPr sz="1941">
              <a:latin typeface="Times New Roman"/>
              <a:cs typeface="Times New Roman"/>
            </a:endParaRPr>
          </a:p>
          <a:p>
            <a:pPr marL="11206" marR="18491" indent="22972" algn="just">
              <a:lnSpc>
                <a:spcPct val="96400"/>
              </a:lnSpc>
              <a:spcBef>
                <a:spcPts val="75"/>
              </a:spcBef>
            </a:pPr>
            <a:r>
              <a:rPr sz="1941" b="1" i="1" spc="-44" dirty="0">
                <a:latin typeface="Times New Roman"/>
                <a:cs typeface="Times New Roman"/>
              </a:rPr>
              <a:t>s t </a:t>
            </a:r>
            <a:r>
              <a:rPr sz="1941" b="1" i="1" spc="-137" dirty="0">
                <a:latin typeface="Times New Roman"/>
                <a:cs typeface="Times New Roman"/>
              </a:rPr>
              <a:t>r.</a:t>
            </a:r>
            <a:endParaRPr sz="1941">
              <a:latin typeface="Times New Roman"/>
              <a:cs typeface="Times New Roman"/>
            </a:endParaRPr>
          </a:p>
        </p:txBody>
      </p:sp>
      <p:sp>
        <p:nvSpPr>
          <p:cNvPr id="24" name="object 24"/>
          <p:cNvSpPr txBox="1"/>
          <p:nvPr/>
        </p:nvSpPr>
        <p:spPr>
          <a:xfrm>
            <a:off x="649069" y="4202442"/>
            <a:ext cx="200584" cy="1465047"/>
          </a:xfrm>
          <a:prstGeom prst="rect">
            <a:avLst/>
          </a:prstGeom>
        </p:spPr>
        <p:txBody>
          <a:bodyPr vert="horz" wrap="square" lIns="0" tIns="11206" rIns="0" bIns="0" rtlCol="0">
            <a:spAutoFit/>
          </a:bodyPr>
          <a:lstStyle/>
          <a:p>
            <a:pPr marL="11206">
              <a:lnSpc>
                <a:spcPts val="2277"/>
              </a:lnSpc>
              <a:spcBef>
                <a:spcPts val="88"/>
              </a:spcBef>
            </a:pPr>
            <a:r>
              <a:rPr sz="1941" b="1" i="1" spc="-44" dirty="0">
                <a:latin typeface="Times New Roman"/>
                <a:cs typeface="Times New Roman"/>
              </a:rPr>
              <a:t>O</a:t>
            </a:r>
            <a:endParaRPr sz="1941">
              <a:latin typeface="Times New Roman"/>
              <a:cs typeface="Times New Roman"/>
            </a:endParaRPr>
          </a:p>
          <a:p>
            <a:pPr marL="38102" marR="31938" indent="13448" algn="just">
              <a:lnSpc>
                <a:spcPct val="97300"/>
              </a:lnSpc>
              <a:spcBef>
                <a:spcPts val="9"/>
              </a:spcBef>
            </a:pPr>
            <a:r>
              <a:rPr sz="1941" b="1" i="1" spc="-44" dirty="0">
                <a:latin typeface="Times New Roman"/>
                <a:cs typeface="Times New Roman"/>
              </a:rPr>
              <a:t>r d e r</a:t>
            </a:r>
            <a:endParaRPr sz="1941">
              <a:latin typeface="Times New Roman"/>
              <a:cs typeface="Times New Roman"/>
            </a:endParaRPr>
          </a:p>
        </p:txBody>
      </p:sp>
      <p:sp>
        <p:nvSpPr>
          <p:cNvPr id="25" name="object 25"/>
          <p:cNvSpPr/>
          <p:nvPr/>
        </p:nvSpPr>
        <p:spPr>
          <a:xfrm>
            <a:off x="1030478" y="2527472"/>
            <a:ext cx="72278" cy="2957793"/>
          </a:xfrm>
          <a:custGeom>
            <a:avLst/>
            <a:gdLst/>
            <a:ahLst/>
            <a:cxnLst/>
            <a:rect l="l" t="t" r="r" b="b"/>
            <a:pathLst>
              <a:path w="81915" h="3352165">
                <a:moveTo>
                  <a:pt x="27304" y="3269853"/>
                </a:moveTo>
                <a:lnTo>
                  <a:pt x="0" y="3269853"/>
                </a:lnTo>
                <a:lnTo>
                  <a:pt x="40957" y="3351839"/>
                </a:lnTo>
                <a:lnTo>
                  <a:pt x="75081" y="3283532"/>
                </a:lnTo>
                <a:lnTo>
                  <a:pt x="27305" y="3283532"/>
                </a:lnTo>
                <a:lnTo>
                  <a:pt x="27304" y="3269853"/>
                </a:lnTo>
                <a:close/>
              </a:path>
              <a:path w="81915" h="3352165">
                <a:moveTo>
                  <a:pt x="54608" y="0"/>
                </a:moveTo>
                <a:lnTo>
                  <a:pt x="27303" y="0"/>
                </a:lnTo>
                <a:lnTo>
                  <a:pt x="27305" y="3283532"/>
                </a:lnTo>
                <a:lnTo>
                  <a:pt x="54609" y="3283532"/>
                </a:lnTo>
                <a:lnTo>
                  <a:pt x="54608" y="0"/>
                </a:lnTo>
                <a:close/>
              </a:path>
              <a:path w="81915" h="3352165">
                <a:moveTo>
                  <a:pt x="81915" y="3269853"/>
                </a:moveTo>
                <a:lnTo>
                  <a:pt x="54609" y="3269853"/>
                </a:lnTo>
                <a:lnTo>
                  <a:pt x="54609" y="3283532"/>
                </a:lnTo>
                <a:lnTo>
                  <a:pt x="75081" y="3283532"/>
                </a:lnTo>
                <a:lnTo>
                  <a:pt x="81915" y="3269853"/>
                </a:lnTo>
                <a:close/>
              </a:path>
            </a:pathLst>
          </a:custGeom>
          <a:solidFill>
            <a:srgbClr val="000000"/>
          </a:solidFill>
        </p:spPr>
        <p:txBody>
          <a:bodyPr wrap="square" lIns="0" tIns="0" rIns="0" bIns="0" rtlCol="0"/>
          <a:lstStyle/>
          <a:p>
            <a:endParaRPr sz="1588"/>
          </a:p>
        </p:txBody>
      </p:sp>
      <p:sp>
        <p:nvSpPr>
          <p:cNvPr id="26" name="object 26"/>
          <p:cNvSpPr txBox="1"/>
          <p:nvPr/>
        </p:nvSpPr>
        <p:spPr>
          <a:xfrm>
            <a:off x="3479031" y="2587995"/>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27" name="object 27"/>
          <p:cNvGrpSpPr/>
          <p:nvPr/>
        </p:nvGrpSpPr>
        <p:grpSpPr>
          <a:xfrm>
            <a:off x="3778411" y="2432282"/>
            <a:ext cx="718296" cy="547968"/>
            <a:chOff x="4129798" y="2756587"/>
            <a:chExt cx="814069" cy="621030"/>
          </a:xfrm>
        </p:grpSpPr>
        <p:sp>
          <p:nvSpPr>
            <p:cNvPr id="28" name="object 28"/>
            <p:cNvSpPr/>
            <p:nvPr/>
          </p:nvSpPr>
          <p:spPr>
            <a:xfrm>
              <a:off x="4145356" y="2956923"/>
              <a:ext cx="478790" cy="220979"/>
            </a:xfrm>
            <a:custGeom>
              <a:avLst/>
              <a:gdLst/>
              <a:ahLst/>
              <a:cxnLst/>
              <a:rect l="l" t="t" r="r" b="b"/>
              <a:pathLst>
                <a:path w="478789" h="220980">
                  <a:moveTo>
                    <a:pt x="181386" y="0"/>
                  </a:moveTo>
                  <a:lnTo>
                    <a:pt x="478211" y="0"/>
                  </a:lnTo>
                </a:path>
                <a:path w="478789" h="220980">
                  <a:moveTo>
                    <a:pt x="0" y="0"/>
                  </a:moveTo>
                  <a:lnTo>
                    <a:pt x="93807" y="0"/>
                  </a:lnTo>
                </a:path>
                <a:path w="478789" h="220980">
                  <a:moveTo>
                    <a:pt x="181386" y="220958"/>
                  </a:moveTo>
                  <a:lnTo>
                    <a:pt x="478211" y="220958"/>
                  </a:lnTo>
                </a:path>
                <a:path w="478789" h="220980">
                  <a:moveTo>
                    <a:pt x="0" y="220958"/>
                  </a:moveTo>
                  <a:lnTo>
                    <a:pt x="93807" y="220958"/>
                  </a:lnTo>
                </a:path>
              </a:pathLst>
            </a:custGeom>
            <a:ln w="30745">
              <a:solidFill>
                <a:srgbClr val="000000"/>
              </a:solidFill>
            </a:ln>
          </p:spPr>
          <p:txBody>
            <a:bodyPr wrap="square" lIns="0" tIns="0" rIns="0" bIns="0" rtlCol="0"/>
            <a:lstStyle/>
            <a:p>
              <a:endParaRPr sz="1588"/>
            </a:p>
          </p:txBody>
        </p:sp>
        <p:sp>
          <p:nvSpPr>
            <p:cNvPr id="29" name="object 29"/>
            <p:cNvSpPr/>
            <p:nvPr/>
          </p:nvSpPr>
          <p:spPr>
            <a:xfrm>
              <a:off x="4561777" y="2772144"/>
              <a:ext cx="366395" cy="589915"/>
            </a:xfrm>
            <a:custGeom>
              <a:avLst/>
              <a:gdLst/>
              <a:ahLst/>
              <a:cxnLst/>
              <a:rect l="l" t="t" r="r" b="b"/>
              <a:pathLst>
                <a:path w="366395" h="589914">
                  <a:moveTo>
                    <a:pt x="0" y="0"/>
                  </a:moveTo>
                  <a:lnTo>
                    <a:pt x="0" y="589747"/>
                  </a:lnTo>
                  <a:lnTo>
                    <a:pt x="366115" y="442310"/>
                  </a:lnTo>
                  <a:lnTo>
                    <a:pt x="366115" y="147436"/>
                  </a:lnTo>
                  <a:lnTo>
                    <a:pt x="0" y="0"/>
                  </a:lnTo>
                  <a:close/>
                </a:path>
              </a:pathLst>
            </a:custGeom>
            <a:solidFill>
              <a:srgbClr val="FFFFFF"/>
            </a:solidFill>
          </p:spPr>
          <p:txBody>
            <a:bodyPr wrap="square" lIns="0" tIns="0" rIns="0" bIns="0" rtlCol="0"/>
            <a:lstStyle/>
            <a:p>
              <a:endParaRPr sz="1588"/>
            </a:p>
          </p:txBody>
        </p:sp>
        <p:sp>
          <p:nvSpPr>
            <p:cNvPr id="30" name="object 30"/>
            <p:cNvSpPr/>
            <p:nvPr/>
          </p:nvSpPr>
          <p:spPr>
            <a:xfrm>
              <a:off x="4561777" y="2772144"/>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31" name="object 31"/>
            <p:cNvSpPr/>
            <p:nvPr/>
          </p:nvSpPr>
          <p:spPr>
            <a:xfrm>
              <a:off x="4537334" y="2972182"/>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32" name="object 32"/>
            <p:cNvSpPr/>
            <p:nvPr/>
          </p:nvSpPr>
          <p:spPr>
            <a:xfrm>
              <a:off x="4561777" y="2983316"/>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33" name="object 33"/>
          <p:cNvSpPr txBox="1"/>
          <p:nvPr/>
        </p:nvSpPr>
        <p:spPr>
          <a:xfrm>
            <a:off x="4278643" y="2547317"/>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34" name="object 34"/>
          <p:cNvGrpSpPr/>
          <p:nvPr/>
        </p:nvGrpSpPr>
        <p:grpSpPr>
          <a:xfrm>
            <a:off x="4471864" y="2530804"/>
            <a:ext cx="1060076" cy="352985"/>
            <a:chOff x="4915712" y="2868244"/>
            <a:chExt cx="1201420" cy="400050"/>
          </a:xfrm>
        </p:grpSpPr>
        <p:sp>
          <p:nvSpPr>
            <p:cNvPr id="35" name="object 35"/>
            <p:cNvSpPr/>
            <p:nvPr/>
          </p:nvSpPr>
          <p:spPr>
            <a:xfrm>
              <a:off x="4931270" y="3068197"/>
              <a:ext cx="1170305" cy="0"/>
            </a:xfrm>
            <a:custGeom>
              <a:avLst/>
              <a:gdLst/>
              <a:ahLst/>
              <a:cxnLst/>
              <a:rect l="l" t="t" r="r" b="b"/>
              <a:pathLst>
                <a:path w="1170304">
                  <a:moveTo>
                    <a:pt x="0" y="0"/>
                  </a:moveTo>
                  <a:lnTo>
                    <a:pt x="116786" y="0"/>
                  </a:lnTo>
                </a:path>
                <a:path w="1170304">
                  <a:moveTo>
                    <a:pt x="203150" y="0"/>
                  </a:moveTo>
                  <a:lnTo>
                    <a:pt x="352463" y="0"/>
                  </a:lnTo>
                </a:path>
                <a:path w="1170304">
                  <a:moveTo>
                    <a:pt x="1013260" y="0"/>
                  </a:moveTo>
                  <a:lnTo>
                    <a:pt x="1170051" y="0"/>
                  </a:lnTo>
                </a:path>
                <a:path w="1170304">
                  <a:moveTo>
                    <a:pt x="795713" y="0"/>
                  </a:moveTo>
                  <a:lnTo>
                    <a:pt x="925681" y="0"/>
                  </a:lnTo>
                </a:path>
              </a:pathLst>
            </a:custGeom>
            <a:ln w="30745">
              <a:solidFill>
                <a:srgbClr val="000000"/>
              </a:solidFill>
            </a:ln>
          </p:spPr>
          <p:txBody>
            <a:bodyPr wrap="square" lIns="0" tIns="0" rIns="0" bIns="0" rtlCol="0"/>
            <a:lstStyle/>
            <a:p>
              <a:endParaRPr sz="1588"/>
            </a:p>
          </p:txBody>
        </p:sp>
        <p:sp>
          <p:nvSpPr>
            <p:cNvPr id="36" name="object 36"/>
            <p:cNvSpPr/>
            <p:nvPr/>
          </p:nvSpPr>
          <p:spPr>
            <a:xfrm>
              <a:off x="5283733" y="2883801"/>
              <a:ext cx="434340" cy="368935"/>
            </a:xfrm>
            <a:custGeom>
              <a:avLst/>
              <a:gdLst/>
              <a:ahLst/>
              <a:cxnLst/>
              <a:rect l="l" t="t" r="r" b="b"/>
              <a:pathLst>
                <a:path w="434339"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37" name="object 37"/>
          <p:cNvSpPr txBox="1"/>
          <p:nvPr/>
        </p:nvSpPr>
        <p:spPr>
          <a:xfrm>
            <a:off x="4789496" y="2587995"/>
            <a:ext cx="392206" cy="174309"/>
          </a:xfrm>
          <a:prstGeom prst="rect">
            <a:avLst/>
          </a:prstGeom>
        </p:spPr>
        <p:txBody>
          <a:bodyPr vert="horz" wrap="square" lIns="0" tIns="11206" rIns="0" bIns="0" rtlCol="0">
            <a:spAutoFit/>
          </a:bodyPr>
          <a:lstStyle/>
          <a:p>
            <a:pPr>
              <a:spcBef>
                <a:spcPts val="88"/>
              </a:spcBef>
            </a:pPr>
            <a:r>
              <a:rPr sz="1059" b="1" spc="-26" dirty="0">
                <a:latin typeface="Times New Roman"/>
                <a:cs typeface="Times New Roman"/>
              </a:rPr>
              <a:t>DMem</a:t>
            </a:r>
            <a:endParaRPr sz="1059">
              <a:latin typeface="Times New Roman"/>
              <a:cs typeface="Times New Roman"/>
            </a:endParaRPr>
          </a:p>
        </p:txBody>
      </p:sp>
      <p:grpSp>
        <p:nvGrpSpPr>
          <p:cNvPr id="38" name="object 38"/>
          <p:cNvGrpSpPr/>
          <p:nvPr/>
        </p:nvGrpSpPr>
        <p:grpSpPr>
          <a:xfrm>
            <a:off x="3030884" y="2595323"/>
            <a:ext cx="2312334" cy="385482"/>
            <a:chOff x="3282601" y="2941366"/>
            <a:chExt cx="2620645" cy="436880"/>
          </a:xfrm>
        </p:grpSpPr>
        <p:sp>
          <p:nvSpPr>
            <p:cNvPr id="39" name="object 39"/>
            <p:cNvSpPr/>
            <p:nvPr/>
          </p:nvSpPr>
          <p:spPr>
            <a:xfrm>
              <a:off x="5237012" y="3068196"/>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40" name="object 40"/>
            <p:cNvSpPr/>
            <p:nvPr/>
          </p:nvSpPr>
          <p:spPr>
            <a:xfrm>
              <a:off x="3298159" y="2956923"/>
              <a:ext cx="412115" cy="222885"/>
            </a:xfrm>
            <a:custGeom>
              <a:avLst/>
              <a:gdLst/>
              <a:ahLst/>
              <a:cxnLst/>
              <a:rect l="l" t="t" r="r" b="b"/>
              <a:pathLst>
                <a:path w="412114" h="222885">
                  <a:moveTo>
                    <a:pt x="223339" y="222547"/>
                  </a:moveTo>
                  <a:lnTo>
                    <a:pt x="412103" y="222547"/>
                  </a:lnTo>
                </a:path>
                <a:path w="412114" h="222885">
                  <a:moveTo>
                    <a:pt x="0" y="222547"/>
                  </a:moveTo>
                  <a:lnTo>
                    <a:pt x="135760" y="222547"/>
                  </a:lnTo>
                </a:path>
                <a:path w="412114" h="222885">
                  <a:moveTo>
                    <a:pt x="223339" y="0"/>
                  </a:moveTo>
                  <a:lnTo>
                    <a:pt x="410142" y="0"/>
                  </a:lnTo>
                </a:path>
                <a:path w="412114" h="222885">
                  <a:moveTo>
                    <a:pt x="0" y="0"/>
                  </a:moveTo>
                  <a:lnTo>
                    <a:pt x="135760" y="0"/>
                  </a:lnTo>
                </a:path>
              </a:pathLst>
            </a:custGeom>
            <a:ln w="30745">
              <a:solidFill>
                <a:srgbClr val="000000"/>
              </a:solidFill>
            </a:ln>
          </p:spPr>
          <p:txBody>
            <a:bodyPr wrap="square" lIns="0" tIns="0" rIns="0" bIns="0" rtlCol="0"/>
            <a:lstStyle/>
            <a:p>
              <a:endParaRPr sz="1588"/>
            </a:p>
          </p:txBody>
        </p:sp>
      </p:grpSp>
      <p:sp>
        <p:nvSpPr>
          <p:cNvPr id="41" name="object 41"/>
          <p:cNvSpPr txBox="1"/>
          <p:nvPr/>
        </p:nvSpPr>
        <p:spPr>
          <a:xfrm>
            <a:off x="2659905" y="2544531"/>
            <a:ext cx="384922" cy="217872"/>
          </a:xfrm>
          <a:prstGeom prst="rect">
            <a:avLst/>
          </a:prstGeom>
          <a:ln w="30733">
            <a:solidFill>
              <a:srgbClr val="000000"/>
            </a:solidFill>
          </a:ln>
        </p:spPr>
        <p:txBody>
          <a:bodyPr vert="horz" wrap="square" lIns="0" tIns="54348" rIns="0" bIns="0" rtlCol="0">
            <a:spAutoFit/>
          </a:bodyPr>
          <a:lstStyle/>
          <a:p>
            <a:pPr marL="27456">
              <a:spcBef>
                <a:spcPts val="427"/>
              </a:spcBef>
            </a:pPr>
            <a:r>
              <a:rPr sz="1059" b="1" spc="-9" dirty="0">
                <a:latin typeface="Times New Roman"/>
                <a:cs typeface="Times New Roman"/>
              </a:rPr>
              <a:t>Ifetch</a:t>
            </a:r>
            <a:endParaRPr sz="1059">
              <a:latin typeface="Times New Roman"/>
              <a:cs typeface="Times New Roman"/>
            </a:endParaRPr>
          </a:p>
        </p:txBody>
      </p:sp>
      <p:grpSp>
        <p:nvGrpSpPr>
          <p:cNvPr id="42" name="object 42"/>
          <p:cNvGrpSpPr/>
          <p:nvPr/>
        </p:nvGrpSpPr>
        <p:grpSpPr>
          <a:xfrm>
            <a:off x="3150673" y="2383531"/>
            <a:ext cx="2766732" cy="646019"/>
            <a:chOff x="3418362" y="2701334"/>
            <a:chExt cx="3135630" cy="732155"/>
          </a:xfrm>
        </p:grpSpPr>
        <p:sp>
          <p:nvSpPr>
            <p:cNvPr id="43" name="object 43"/>
            <p:cNvSpPr/>
            <p:nvPr/>
          </p:nvSpPr>
          <p:spPr>
            <a:xfrm>
              <a:off x="4239163" y="2716892"/>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44" name="object 44"/>
            <p:cNvSpPr/>
            <p:nvPr/>
          </p:nvSpPr>
          <p:spPr>
            <a:xfrm>
              <a:off x="4239163" y="2716892"/>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45" name="object 45"/>
            <p:cNvSpPr/>
            <p:nvPr/>
          </p:nvSpPr>
          <p:spPr>
            <a:xfrm>
              <a:off x="5856951" y="2716892"/>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46" name="object 46"/>
            <p:cNvSpPr/>
            <p:nvPr/>
          </p:nvSpPr>
          <p:spPr>
            <a:xfrm>
              <a:off x="5856951" y="2716892"/>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47" name="object 47"/>
            <p:cNvSpPr/>
            <p:nvPr/>
          </p:nvSpPr>
          <p:spPr>
            <a:xfrm>
              <a:off x="3433920" y="2716892"/>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48" name="object 48"/>
            <p:cNvSpPr/>
            <p:nvPr/>
          </p:nvSpPr>
          <p:spPr>
            <a:xfrm>
              <a:off x="3433920" y="2716892"/>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49" name="object 49"/>
            <p:cNvSpPr/>
            <p:nvPr/>
          </p:nvSpPr>
          <p:spPr>
            <a:xfrm>
              <a:off x="5048057" y="2721009"/>
              <a:ext cx="86360" cy="692150"/>
            </a:xfrm>
            <a:custGeom>
              <a:avLst/>
              <a:gdLst/>
              <a:ahLst/>
              <a:cxnLst/>
              <a:rect l="l" t="t" r="r" b="b"/>
              <a:pathLst>
                <a:path w="86360" h="692150">
                  <a:moveTo>
                    <a:pt x="86363" y="0"/>
                  </a:moveTo>
                  <a:lnTo>
                    <a:pt x="0" y="0"/>
                  </a:lnTo>
                  <a:lnTo>
                    <a:pt x="0" y="691756"/>
                  </a:lnTo>
                  <a:lnTo>
                    <a:pt x="86363" y="691756"/>
                  </a:lnTo>
                  <a:lnTo>
                    <a:pt x="86363" y="0"/>
                  </a:lnTo>
                  <a:close/>
                </a:path>
              </a:pathLst>
            </a:custGeom>
            <a:solidFill>
              <a:srgbClr val="00FF00"/>
            </a:solidFill>
          </p:spPr>
          <p:txBody>
            <a:bodyPr wrap="square" lIns="0" tIns="0" rIns="0" bIns="0" rtlCol="0"/>
            <a:lstStyle/>
            <a:p>
              <a:endParaRPr sz="1588"/>
            </a:p>
          </p:txBody>
        </p:sp>
        <p:sp>
          <p:nvSpPr>
            <p:cNvPr id="50" name="object 50"/>
            <p:cNvSpPr/>
            <p:nvPr/>
          </p:nvSpPr>
          <p:spPr>
            <a:xfrm>
              <a:off x="5048057" y="2721009"/>
              <a:ext cx="86360" cy="692150"/>
            </a:xfrm>
            <a:custGeom>
              <a:avLst/>
              <a:gdLst/>
              <a:ahLst/>
              <a:cxnLst/>
              <a:rect l="l" t="t" r="r" b="b"/>
              <a:pathLst>
                <a:path w="86360" h="692150">
                  <a:moveTo>
                    <a:pt x="0" y="0"/>
                  </a:moveTo>
                  <a:lnTo>
                    <a:pt x="86363" y="0"/>
                  </a:lnTo>
                  <a:lnTo>
                    <a:pt x="86363"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51" name="object 51"/>
            <p:cNvSpPr/>
            <p:nvPr/>
          </p:nvSpPr>
          <p:spPr>
            <a:xfrm>
              <a:off x="6101321" y="2869495"/>
              <a:ext cx="219075" cy="366395"/>
            </a:xfrm>
            <a:custGeom>
              <a:avLst/>
              <a:gdLst/>
              <a:ahLst/>
              <a:cxnLst/>
              <a:rect l="l" t="t" r="r" b="b"/>
              <a:pathLst>
                <a:path w="219075" h="366394">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52" name="object 52"/>
            <p:cNvSpPr/>
            <p:nvPr/>
          </p:nvSpPr>
          <p:spPr>
            <a:xfrm>
              <a:off x="6101321" y="2869495"/>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53" name="object 53"/>
          <p:cNvSpPr txBox="1"/>
          <p:nvPr/>
        </p:nvSpPr>
        <p:spPr>
          <a:xfrm>
            <a:off x="5592139" y="2574547"/>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54" name="object 54"/>
          <p:cNvGrpSpPr/>
          <p:nvPr/>
        </p:nvGrpSpPr>
        <p:grpSpPr>
          <a:xfrm>
            <a:off x="4062702" y="3281539"/>
            <a:ext cx="409574" cy="354106"/>
            <a:chOff x="4451996" y="3719078"/>
            <a:chExt cx="464184" cy="401320"/>
          </a:xfrm>
        </p:grpSpPr>
        <p:sp>
          <p:nvSpPr>
            <p:cNvPr id="55" name="object 55"/>
            <p:cNvSpPr/>
            <p:nvPr/>
          </p:nvSpPr>
          <p:spPr>
            <a:xfrm>
              <a:off x="4683931" y="3734445"/>
              <a:ext cx="217170" cy="366395"/>
            </a:xfrm>
            <a:custGeom>
              <a:avLst/>
              <a:gdLst/>
              <a:ahLst/>
              <a:cxnLst/>
              <a:rect l="l" t="t" r="r" b="b"/>
              <a:pathLst>
                <a:path w="217170" h="366395">
                  <a:moveTo>
                    <a:pt x="216566" y="0"/>
                  </a:moveTo>
                  <a:lnTo>
                    <a:pt x="0" y="0"/>
                  </a:lnTo>
                  <a:lnTo>
                    <a:pt x="0" y="366094"/>
                  </a:lnTo>
                  <a:lnTo>
                    <a:pt x="216566" y="366094"/>
                  </a:lnTo>
                  <a:lnTo>
                    <a:pt x="216566" y="0"/>
                  </a:lnTo>
                  <a:close/>
                </a:path>
              </a:pathLst>
            </a:custGeom>
            <a:solidFill>
              <a:srgbClr val="0099FF"/>
            </a:solidFill>
          </p:spPr>
          <p:txBody>
            <a:bodyPr wrap="square" lIns="0" tIns="0" rIns="0" bIns="0" rtlCol="0"/>
            <a:lstStyle/>
            <a:p>
              <a:endParaRPr sz="1588"/>
            </a:p>
          </p:txBody>
        </p:sp>
        <p:sp>
          <p:nvSpPr>
            <p:cNvPr id="56" name="object 56"/>
            <p:cNvSpPr/>
            <p:nvPr/>
          </p:nvSpPr>
          <p:spPr>
            <a:xfrm>
              <a:off x="4467363" y="3734445"/>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57" name="object 57"/>
          <p:cNvSpPr txBox="1"/>
          <p:nvPr/>
        </p:nvSpPr>
        <p:spPr>
          <a:xfrm>
            <a:off x="4147062" y="3338340"/>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58" name="object 58"/>
          <p:cNvGrpSpPr/>
          <p:nvPr/>
        </p:nvGrpSpPr>
        <p:grpSpPr>
          <a:xfrm>
            <a:off x="5578937" y="3184252"/>
            <a:ext cx="358588" cy="547968"/>
            <a:chOff x="6170395" y="3608819"/>
            <a:chExt cx="406400" cy="621030"/>
          </a:xfrm>
        </p:grpSpPr>
        <p:sp>
          <p:nvSpPr>
            <p:cNvPr id="59" name="object 59"/>
            <p:cNvSpPr/>
            <p:nvPr/>
          </p:nvSpPr>
          <p:spPr>
            <a:xfrm>
              <a:off x="6194839" y="3624376"/>
              <a:ext cx="366395" cy="589915"/>
            </a:xfrm>
            <a:custGeom>
              <a:avLst/>
              <a:gdLst/>
              <a:ahLst/>
              <a:cxnLst/>
              <a:rect l="l" t="t" r="r" b="b"/>
              <a:pathLst>
                <a:path w="366395" h="589914">
                  <a:moveTo>
                    <a:pt x="0" y="0"/>
                  </a:moveTo>
                  <a:lnTo>
                    <a:pt x="0" y="589747"/>
                  </a:lnTo>
                  <a:lnTo>
                    <a:pt x="366115" y="442310"/>
                  </a:lnTo>
                  <a:lnTo>
                    <a:pt x="366115" y="147436"/>
                  </a:lnTo>
                  <a:lnTo>
                    <a:pt x="0" y="0"/>
                  </a:lnTo>
                  <a:close/>
                </a:path>
              </a:pathLst>
            </a:custGeom>
            <a:solidFill>
              <a:srgbClr val="FFFFFF"/>
            </a:solidFill>
          </p:spPr>
          <p:txBody>
            <a:bodyPr wrap="square" lIns="0" tIns="0" rIns="0" bIns="0" rtlCol="0"/>
            <a:lstStyle/>
            <a:p>
              <a:endParaRPr sz="1588"/>
            </a:p>
          </p:txBody>
        </p:sp>
        <p:sp>
          <p:nvSpPr>
            <p:cNvPr id="60" name="object 60"/>
            <p:cNvSpPr/>
            <p:nvPr/>
          </p:nvSpPr>
          <p:spPr>
            <a:xfrm>
              <a:off x="6194839" y="3624376"/>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61" name="object 61"/>
            <p:cNvSpPr/>
            <p:nvPr/>
          </p:nvSpPr>
          <p:spPr>
            <a:xfrm>
              <a:off x="6170395" y="3824414"/>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62" name="object 62"/>
            <p:cNvSpPr/>
            <p:nvPr/>
          </p:nvSpPr>
          <p:spPr>
            <a:xfrm>
              <a:off x="6194838" y="3835549"/>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63" name="object 63"/>
          <p:cNvSpPr txBox="1"/>
          <p:nvPr/>
        </p:nvSpPr>
        <p:spPr>
          <a:xfrm>
            <a:off x="5719582" y="3300353"/>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64" name="object 64"/>
          <p:cNvGrpSpPr/>
          <p:nvPr/>
        </p:nvGrpSpPr>
        <p:grpSpPr>
          <a:xfrm>
            <a:off x="5912802" y="3282773"/>
            <a:ext cx="1060076" cy="352985"/>
            <a:chOff x="6548775" y="3720476"/>
            <a:chExt cx="1201420" cy="400050"/>
          </a:xfrm>
        </p:grpSpPr>
        <p:sp>
          <p:nvSpPr>
            <p:cNvPr id="65" name="object 65"/>
            <p:cNvSpPr/>
            <p:nvPr/>
          </p:nvSpPr>
          <p:spPr>
            <a:xfrm>
              <a:off x="6564332" y="3920429"/>
              <a:ext cx="1170305" cy="0"/>
            </a:xfrm>
            <a:custGeom>
              <a:avLst/>
              <a:gdLst/>
              <a:ahLst/>
              <a:cxnLst/>
              <a:rect l="l" t="t" r="r" b="b"/>
              <a:pathLst>
                <a:path w="1170304">
                  <a:moveTo>
                    <a:pt x="262689" y="0"/>
                  </a:moveTo>
                  <a:lnTo>
                    <a:pt x="352461" y="0"/>
                  </a:lnTo>
                </a:path>
                <a:path w="1170304">
                  <a:moveTo>
                    <a:pt x="0" y="0"/>
                  </a:moveTo>
                  <a:lnTo>
                    <a:pt x="174985" y="0"/>
                  </a:lnTo>
                </a:path>
                <a:path w="1170304">
                  <a:moveTo>
                    <a:pt x="829029" y="0"/>
                  </a:moveTo>
                  <a:lnTo>
                    <a:pt x="1170049" y="0"/>
                  </a:lnTo>
                </a:path>
              </a:pathLst>
            </a:custGeom>
            <a:ln w="30745">
              <a:solidFill>
                <a:srgbClr val="000000"/>
              </a:solidFill>
            </a:ln>
          </p:spPr>
          <p:txBody>
            <a:bodyPr wrap="square" lIns="0" tIns="0" rIns="0" bIns="0" rtlCol="0"/>
            <a:lstStyle/>
            <a:p>
              <a:endParaRPr sz="1588"/>
            </a:p>
          </p:txBody>
        </p:sp>
        <p:sp>
          <p:nvSpPr>
            <p:cNvPr id="66" name="object 66"/>
            <p:cNvSpPr/>
            <p:nvPr/>
          </p:nvSpPr>
          <p:spPr>
            <a:xfrm>
              <a:off x="6916794" y="3736033"/>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67" name="object 67"/>
          <p:cNvSpPr txBox="1"/>
          <p:nvPr/>
        </p:nvSpPr>
        <p:spPr>
          <a:xfrm>
            <a:off x="6219227" y="3341030"/>
            <a:ext cx="414618"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68" name="object 68"/>
          <p:cNvGrpSpPr/>
          <p:nvPr/>
        </p:nvGrpSpPr>
        <p:grpSpPr>
          <a:xfrm>
            <a:off x="3867086" y="3135500"/>
            <a:ext cx="3491753" cy="646019"/>
            <a:chOff x="4230297" y="3553566"/>
            <a:chExt cx="3957320" cy="732155"/>
          </a:xfrm>
        </p:grpSpPr>
        <p:sp>
          <p:nvSpPr>
            <p:cNvPr id="69" name="object 69"/>
            <p:cNvSpPr/>
            <p:nvPr/>
          </p:nvSpPr>
          <p:spPr>
            <a:xfrm>
              <a:off x="6870073" y="3920429"/>
              <a:ext cx="670560" cy="294640"/>
            </a:xfrm>
            <a:custGeom>
              <a:avLst/>
              <a:gdLst/>
              <a:ahLst/>
              <a:cxnLst/>
              <a:rect l="l" t="t" r="r" b="b"/>
              <a:pathLst>
                <a:path w="670559" h="294639">
                  <a:moveTo>
                    <a:pt x="0" y="0"/>
                  </a:moveTo>
                  <a:lnTo>
                    <a:pt x="0" y="294078"/>
                  </a:lnTo>
                  <a:lnTo>
                    <a:pt x="591424" y="294078"/>
                  </a:lnTo>
                  <a:lnTo>
                    <a:pt x="591424" y="110279"/>
                  </a:lnTo>
                  <a:lnTo>
                    <a:pt x="670280" y="110279"/>
                  </a:lnTo>
                </a:path>
              </a:pathLst>
            </a:custGeom>
            <a:ln w="30740">
              <a:solidFill>
                <a:srgbClr val="000000"/>
              </a:solidFill>
            </a:ln>
          </p:spPr>
          <p:txBody>
            <a:bodyPr wrap="square" lIns="0" tIns="0" rIns="0" bIns="0" rtlCol="0"/>
            <a:lstStyle/>
            <a:p>
              <a:endParaRPr sz="1588"/>
            </a:p>
          </p:txBody>
        </p:sp>
        <p:sp>
          <p:nvSpPr>
            <p:cNvPr id="70" name="object 70"/>
            <p:cNvSpPr/>
            <p:nvPr/>
          </p:nvSpPr>
          <p:spPr>
            <a:xfrm>
              <a:off x="5048587" y="3569124"/>
              <a:ext cx="88265" cy="701040"/>
            </a:xfrm>
            <a:custGeom>
              <a:avLst/>
              <a:gdLst/>
              <a:ahLst/>
              <a:cxnLst/>
              <a:rect l="l" t="t" r="r" b="b"/>
              <a:pathLst>
                <a:path w="88264"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71" name="object 71"/>
            <p:cNvSpPr/>
            <p:nvPr/>
          </p:nvSpPr>
          <p:spPr>
            <a:xfrm>
              <a:off x="5048587" y="3569124"/>
              <a:ext cx="88265" cy="701040"/>
            </a:xfrm>
            <a:custGeom>
              <a:avLst/>
              <a:gdLst/>
              <a:ahLst/>
              <a:cxnLst/>
              <a:rect l="l" t="t" r="r" b="b"/>
              <a:pathLst>
                <a:path w="88264"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72" name="object 72"/>
            <p:cNvSpPr/>
            <p:nvPr/>
          </p:nvSpPr>
          <p:spPr>
            <a:xfrm>
              <a:off x="6739318" y="3569124"/>
              <a:ext cx="88265" cy="701040"/>
            </a:xfrm>
            <a:custGeom>
              <a:avLst/>
              <a:gdLst/>
              <a:ahLst/>
              <a:cxnLst/>
              <a:rect l="l" t="t" r="r" b="b"/>
              <a:pathLst>
                <a:path w="88265"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73" name="object 73"/>
            <p:cNvSpPr/>
            <p:nvPr/>
          </p:nvSpPr>
          <p:spPr>
            <a:xfrm>
              <a:off x="6739318" y="3569124"/>
              <a:ext cx="88265" cy="701040"/>
            </a:xfrm>
            <a:custGeom>
              <a:avLst/>
              <a:gdLst/>
              <a:ahLst/>
              <a:cxnLst/>
              <a:rect l="l" t="t" r="r" b="b"/>
              <a:pathLst>
                <a:path w="88265"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74" name="object 74"/>
            <p:cNvSpPr/>
            <p:nvPr/>
          </p:nvSpPr>
          <p:spPr>
            <a:xfrm>
              <a:off x="4245855" y="3569124"/>
              <a:ext cx="88265" cy="701040"/>
            </a:xfrm>
            <a:custGeom>
              <a:avLst/>
              <a:gdLst/>
              <a:ahLst/>
              <a:cxnLst/>
              <a:rect l="l" t="t" r="r" b="b"/>
              <a:pathLst>
                <a:path w="88264"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75" name="object 75"/>
            <p:cNvSpPr/>
            <p:nvPr/>
          </p:nvSpPr>
          <p:spPr>
            <a:xfrm>
              <a:off x="4245855" y="3569124"/>
              <a:ext cx="88265" cy="701040"/>
            </a:xfrm>
            <a:custGeom>
              <a:avLst/>
              <a:gdLst/>
              <a:ahLst/>
              <a:cxnLst/>
              <a:rect l="l" t="t" r="r" b="b"/>
              <a:pathLst>
                <a:path w="88264"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76" name="object 76"/>
            <p:cNvSpPr/>
            <p:nvPr/>
          </p:nvSpPr>
          <p:spPr>
            <a:xfrm>
              <a:off x="5857410" y="3573242"/>
              <a:ext cx="86995" cy="692150"/>
            </a:xfrm>
            <a:custGeom>
              <a:avLst/>
              <a:gdLst/>
              <a:ahLst/>
              <a:cxnLst/>
              <a:rect l="l" t="t" r="r" b="b"/>
              <a:pathLst>
                <a:path w="86995" h="692150">
                  <a:moveTo>
                    <a:pt x="86485" y="0"/>
                  </a:moveTo>
                  <a:lnTo>
                    <a:pt x="0" y="0"/>
                  </a:lnTo>
                  <a:lnTo>
                    <a:pt x="0" y="691755"/>
                  </a:lnTo>
                  <a:lnTo>
                    <a:pt x="86485" y="691755"/>
                  </a:lnTo>
                  <a:lnTo>
                    <a:pt x="86485" y="0"/>
                  </a:lnTo>
                  <a:close/>
                </a:path>
              </a:pathLst>
            </a:custGeom>
            <a:solidFill>
              <a:srgbClr val="00FF00"/>
            </a:solidFill>
          </p:spPr>
          <p:txBody>
            <a:bodyPr wrap="square" lIns="0" tIns="0" rIns="0" bIns="0" rtlCol="0"/>
            <a:lstStyle/>
            <a:p>
              <a:endParaRPr sz="1588"/>
            </a:p>
          </p:txBody>
        </p:sp>
        <p:sp>
          <p:nvSpPr>
            <p:cNvPr id="77" name="object 77"/>
            <p:cNvSpPr/>
            <p:nvPr/>
          </p:nvSpPr>
          <p:spPr>
            <a:xfrm>
              <a:off x="5857410" y="3573242"/>
              <a:ext cx="86995" cy="692150"/>
            </a:xfrm>
            <a:custGeom>
              <a:avLst/>
              <a:gdLst/>
              <a:ahLst/>
              <a:cxnLst/>
              <a:rect l="l" t="t" r="r" b="b"/>
              <a:pathLst>
                <a:path w="86995" h="692150">
                  <a:moveTo>
                    <a:pt x="0" y="0"/>
                  </a:moveTo>
                  <a:lnTo>
                    <a:pt x="86485" y="0"/>
                  </a:lnTo>
                  <a:lnTo>
                    <a:pt x="86485"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78" name="object 78"/>
            <p:cNvSpPr/>
            <p:nvPr/>
          </p:nvSpPr>
          <p:spPr>
            <a:xfrm>
              <a:off x="7734382" y="3721728"/>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79" name="object 79"/>
            <p:cNvSpPr/>
            <p:nvPr/>
          </p:nvSpPr>
          <p:spPr>
            <a:xfrm>
              <a:off x="7734382" y="3721727"/>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80" name="object 80"/>
          <p:cNvSpPr txBox="1"/>
          <p:nvPr/>
        </p:nvSpPr>
        <p:spPr>
          <a:xfrm>
            <a:off x="3386695" y="3296500"/>
            <a:ext cx="384922" cy="219004"/>
          </a:xfrm>
          <a:prstGeom prst="rect">
            <a:avLst/>
          </a:prstGeom>
          <a:ln w="30733">
            <a:solidFill>
              <a:srgbClr val="000000"/>
            </a:solidFill>
          </a:ln>
        </p:spPr>
        <p:txBody>
          <a:bodyPr vert="horz" wrap="square" lIns="0" tIns="55469" rIns="0" bIns="0" rtlCol="0">
            <a:spAutoFit/>
          </a:bodyPr>
          <a:lstStyle/>
          <a:p>
            <a:pPr marL="27456">
              <a:spcBef>
                <a:spcPts val="437"/>
              </a:spcBef>
            </a:pPr>
            <a:r>
              <a:rPr sz="1059" b="1" spc="-9" dirty="0">
                <a:latin typeface="Times New Roman"/>
                <a:cs typeface="Times New Roman"/>
              </a:rPr>
              <a:t>Ifetch</a:t>
            </a:r>
            <a:endParaRPr sz="1059">
              <a:latin typeface="Times New Roman"/>
              <a:cs typeface="Times New Roman"/>
            </a:endParaRPr>
          </a:p>
        </p:txBody>
      </p:sp>
      <p:sp>
        <p:nvSpPr>
          <p:cNvPr id="81" name="object 81"/>
          <p:cNvSpPr txBox="1"/>
          <p:nvPr/>
        </p:nvSpPr>
        <p:spPr>
          <a:xfrm>
            <a:off x="7033075" y="3327583"/>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82" name="object 82"/>
          <p:cNvGrpSpPr/>
          <p:nvPr/>
        </p:nvGrpSpPr>
        <p:grpSpPr>
          <a:xfrm>
            <a:off x="5551968" y="4021946"/>
            <a:ext cx="410135" cy="354666"/>
            <a:chOff x="6139830" y="4558205"/>
            <a:chExt cx="464820" cy="401955"/>
          </a:xfrm>
        </p:grpSpPr>
        <p:sp>
          <p:nvSpPr>
            <p:cNvPr id="83" name="object 83"/>
            <p:cNvSpPr/>
            <p:nvPr/>
          </p:nvSpPr>
          <p:spPr>
            <a:xfrm>
              <a:off x="6371955" y="4573762"/>
              <a:ext cx="217170" cy="366395"/>
            </a:xfrm>
            <a:custGeom>
              <a:avLst/>
              <a:gdLst/>
              <a:ahLst/>
              <a:cxnLst/>
              <a:rect l="l" t="t" r="r" b="b"/>
              <a:pathLst>
                <a:path w="217170" h="366395">
                  <a:moveTo>
                    <a:pt x="216566" y="0"/>
                  </a:moveTo>
                  <a:lnTo>
                    <a:pt x="0" y="0"/>
                  </a:lnTo>
                  <a:lnTo>
                    <a:pt x="0" y="366094"/>
                  </a:lnTo>
                  <a:lnTo>
                    <a:pt x="216566" y="366094"/>
                  </a:lnTo>
                  <a:lnTo>
                    <a:pt x="216566" y="0"/>
                  </a:lnTo>
                  <a:close/>
                </a:path>
              </a:pathLst>
            </a:custGeom>
            <a:solidFill>
              <a:srgbClr val="0099FF"/>
            </a:solidFill>
          </p:spPr>
          <p:txBody>
            <a:bodyPr wrap="square" lIns="0" tIns="0" rIns="0" bIns="0" rtlCol="0"/>
            <a:lstStyle/>
            <a:p>
              <a:endParaRPr sz="1588"/>
            </a:p>
          </p:txBody>
        </p:sp>
        <p:sp>
          <p:nvSpPr>
            <p:cNvPr id="84" name="object 84"/>
            <p:cNvSpPr/>
            <p:nvPr/>
          </p:nvSpPr>
          <p:spPr>
            <a:xfrm>
              <a:off x="6155387" y="4573762"/>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85" name="object 85"/>
          <p:cNvSpPr txBox="1"/>
          <p:nvPr/>
        </p:nvSpPr>
        <p:spPr>
          <a:xfrm>
            <a:off x="5636495" y="4080619"/>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86" name="object 86"/>
          <p:cNvGrpSpPr/>
          <p:nvPr/>
        </p:nvGrpSpPr>
        <p:grpSpPr>
          <a:xfrm>
            <a:off x="5935876" y="3924827"/>
            <a:ext cx="718296" cy="547968"/>
            <a:chOff x="6574925" y="4448138"/>
            <a:chExt cx="814069" cy="621030"/>
          </a:xfrm>
        </p:grpSpPr>
        <p:sp>
          <p:nvSpPr>
            <p:cNvPr id="87" name="object 87"/>
            <p:cNvSpPr/>
            <p:nvPr/>
          </p:nvSpPr>
          <p:spPr>
            <a:xfrm>
              <a:off x="6590483" y="4648474"/>
              <a:ext cx="478790" cy="220979"/>
            </a:xfrm>
            <a:custGeom>
              <a:avLst/>
              <a:gdLst/>
              <a:ahLst/>
              <a:cxnLst/>
              <a:rect l="l" t="t" r="r" b="b"/>
              <a:pathLst>
                <a:path w="478790" h="220979">
                  <a:moveTo>
                    <a:pt x="232907" y="0"/>
                  </a:moveTo>
                  <a:lnTo>
                    <a:pt x="478211" y="0"/>
                  </a:lnTo>
                </a:path>
                <a:path w="478790" h="220979">
                  <a:moveTo>
                    <a:pt x="0" y="0"/>
                  </a:moveTo>
                  <a:lnTo>
                    <a:pt x="146527" y="0"/>
                  </a:lnTo>
                </a:path>
                <a:path w="478790" h="220979">
                  <a:moveTo>
                    <a:pt x="232907" y="220957"/>
                  </a:moveTo>
                  <a:lnTo>
                    <a:pt x="478211" y="220957"/>
                  </a:lnTo>
                </a:path>
                <a:path w="478790" h="220979">
                  <a:moveTo>
                    <a:pt x="0" y="220957"/>
                  </a:moveTo>
                  <a:lnTo>
                    <a:pt x="146527" y="220957"/>
                  </a:lnTo>
                </a:path>
              </a:pathLst>
            </a:custGeom>
            <a:ln w="30745">
              <a:solidFill>
                <a:srgbClr val="000000"/>
              </a:solidFill>
            </a:ln>
          </p:spPr>
          <p:txBody>
            <a:bodyPr wrap="square" lIns="0" tIns="0" rIns="0" bIns="0" rtlCol="0"/>
            <a:lstStyle/>
            <a:p>
              <a:endParaRPr sz="1588"/>
            </a:p>
          </p:txBody>
        </p:sp>
        <p:sp>
          <p:nvSpPr>
            <p:cNvPr id="88" name="object 88"/>
            <p:cNvSpPr/>
            <p:nvPr/>
          </p:nvSpPr>
          <p:spPr>
            <a:xfrm>
              <a:off x="7006903" y="4463695"/>
              <a:ext cx="366395" cy="589915"/>
            </a:xfrm>
            <a:custGeom>
              <a:avLst/>
              <a:gdLst/>
              <a:ahLst/>
              <a:cxnLst/>
              <a:rect l="l" t="t" r="r" b="b"/>
              <a:pathLst>
                <a:path w="366395" h="589914">
                  <a:moveTo>
                    <a:pt x="0" y="0"/>
                  </a:moveTo>
                  <a:lnTo>
                    <a:pt x="0" y="589747"/>
                  </a:lnTo>
                  <a:lnTo>
                    <a:pt x="366115" y="442310"/>
                  </a:lnTo>
                  <a:lnTo>
                    <a:pt x="366115" y="147436"/>
                  </a:lnTo>
                  <a:lnTo>
                    <a:pt x="0" y="0"/>
                  </a:lnTo>
                  <a:close/>
                </a:path>
              </a:pathLst>
            </a:custGeom>
            <a:solidFill>
              <a:srgbClr val="FFFFFF"/>
            </a:solidFill>
          </p:spPr>
          <p:txBody>
            <a:bodyPr wrap="square" lIns="0" tIns="0" rIns="0" bIns="0" rtlCol="0"/>
            <a:lstStyle/>
            <a:p>
              <a:endParaRPr sz="1588"/>
            </a:p>
          </p:txBody>
        </p:sp>
        <p:sp>
          <p:nvSpPr>
            <p:cNvPr id="89" name="object 89"/>
            <p:cNvSpPr/>
            <p:nvPr/>
          </p:nvSpPr>
          <p:spPr>
            <a:xfrm>
              <a:off x="7006903" y="4463695"/>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90" name="object 90"/>
            <p:cNvSpPr/>
            <p:nvPr/>
          </p:nvSpPr>
          <p:spPr>
            <a:xfrm>
              <a:off x="6982459" y="4663733"/>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91" name="object 91"/>
            <p:cNvSpPr/>
            <p:nvPr/>
          </p:nvSpPr>
          <p:spPr>
            <a:xfrm>
              <a:off x="7006903" y="4674867"/>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92" name="object 92"/>
          <p:cNvSpPr txBox="1"/>
          <p:nvPr/>
        </p:nvSpPr>
        <p:spPr>
          <a:xfrm>
            <a:off x="6436109" y="4039941"/>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93" name="object 93"/>
          <p:cNvGrpSpPr/>
          <p:nvPr/>
        </p:nvGrpSpPr>
        <p:grpSpPr>
          <a:xfrm>
            <a:off x="6629329" y="4023349"/>
            <a:ext cx="1060076" cy="352985"/>
            <a:chOff x="7360839" y="4559795"/>
            <a:chExt cx="1201420" cy="400050"/>
          </a:xfrm>
        </p:grpSpPr>
        <p:sp>
          <p:nvSpPr>
            <p:cNvPr id="94" name="object 94"/>
            <p:cNvSpPr/>
            <p:nvPr/>
          </p:nvSpPr>
          <p:spPr>
            <a:xfrm>
              <a:off x="7376396" y="4759748"/>
              <a:ext cx="1170305" cy="0"/>
            </a:xfrm>
            <a:custGeom>
              <a:avLst/>
              <a:gdLst/>
              <a:ahLst/>
              <a:cxnLst/>
              <a:rect l="l" t="t" r="r" b="b"/>
              <a:pathLst>
                <a:path w="1170304">
                  <a:moveTo>
                    <a:pt x="0" y="0"/>
                  </a:moveTo>
                  <a:lnTo>
                    <a:pt x="163576" y="0"/>
                  </a:lnTo>
                </a:path>
                <a:path w="1170304">
                  <a:moveTo>
                    <a:pt x="251171" y="0"/>
                  </a:moveTo>
                  <a:lnTo>
                    <a:pt x="352463" y="0"/>
                  </a:lnTo>
                </a:path>
                <a:path w="1170304">
                  <a:moveTo>
                    <a:pt x="786528" y="0"/>
                  </a:moveTo>
                  <a:lnTo>
                    <a:pt x="1170051" y="0"/>
                  </a:lnTo>
                </a:path>
              </a:pathLst>
            </a:custGeom>
            <a:ln w="30745">
              <a:solidFill>
                <a:srgbClr val="000000"/>
              </a:solidFill>
            </a:ln>
          </p:spPr>
          <p:txBody>
            <a:bodyPr wrap="square" lIns="0" tIns="0" rIns="0" bIns="0" rtlCol="0"/>
            <a:lstStyle/>
            <a:p>
              <a:endParaRPr sz="1588"/>
            </a:p>
          </p:txBody>
        </p:sp>
        <p:sp>
          <p:nvSpPr>
            <p:cNvPr id="95" name="object 95"/>
            <p:cNvSpPr/>
            <p:nvPr/>
          </p:nvSpPr>
          <p:spPr>
            <a:xfrm>
              <a:off x="7728859" y="4575352"/>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96" name="object 96"/>
          <p:cNvSpPr txBox="1"/>
          <p:nvPr/>
        </p:nvSpPr>
        <p:spPr>
          <a:xfrm>
            <a:off x="6935755" y="4080619"/>
            <a:ext cx="414618"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97" name="object 97"/>
          <p:cNvGrpSpPr/>
          <p:nvPr/>
        </p:nvGrpSpPr>
        <p:grpSpPr>
          <a:xfrm>
            <a:off x="4470955" y="4087868"/>
            <a:ext cx="3030070" cy="385482"/>
            <a:chOff x="4914682" y="4632917"/>
            <a:chExt cx="3434079" cy="436880"/>
          </a:xfrm>
        </p:grpSpPr>
        <p:sp>
          <p:nvSpPr>
            <p:cNvPr id="98" name="object 98"/>
            <p:cNvSpPr/>
            <p:nvPr/>
          </p:nvSpPr>
          <p:spPr>
            <a:xfrm>
              <a:off x="7682138" y="4759747"/>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99" name="object 99"/>
            <p:cNvSpPr/>
            <p:nvPr/>
          </p:nvSpPr>
          <p:spPr>
            <a:xfrm>
              <a:off x="4930240" y="4648474"/>
              <a:ext cx="1238885" cy="222885"/>
            </a:xfrm>
            <a:custGeom>
              <a:avLst/>
              <a:gdLst/>
              <a:ahLst/>
              <a:cxnLst/>
              <a:rect l="l" t="t" r="r" b="b"/>
              <a:pathLst>
                <a:path w="1238885" h="222885">
                  <a:moveTo>
                    <a:pt x="1013542" y="222547"/>
                  </a:moveTo>
                  <a:lnTo>
                    <a:pt x="1238308" y="222547"/>
                  </a:lnTo>
                </a:path>
                <a:path w="1238885" h="222885">
                  <a:moveTo>
                    <a:pt x="205715" y="222547"/>
                  </a:moveTo>
                  <a:lnTo>
                    <a:pt x="925946" y="222547"/>
                  </a:lnTo>
                </a:path>
                <a:path w="1238885" h="222885">
                  <a:moveTo>
                    <a:pt x="0" y="222547"/>
                  </a:moveTo>
                  <a:lnTo>
                    <a:pt x="118120" y="222547"/>
                  </a:lnTo>
                </a:path>
                <a:path w="1238885" h="222885">
                  <a:moveTo>
                    <a:pt x="0" y="0"/>
                  </a:moveTo>
                  <a:lnTo>
                    <a:pt x="118120" y="0"/>
                  </a:lnTo>
                </a:path>
                <a:path w="1238885" h="222885">
                  <a:moveTo>
                    <a:pt x="205715" y="0"/>
                  </a:moveTo>
                  <a:lnTo>
                    <a:pt x="925946" y="0"/>
                  </a:lnTo>
                </a:path>
                <a:path w="1238885" h="222885">
                  <a:moveTo>
                    <a:pt x="1013542" y="0"/>
                  </a:moveTo>
                  <a:lnTo>
                    <a:pt x="1238308" y="0"/>
                  </a:lnTo>
                </a:path>
              </a:pathLst>
            </a:custGeom>
            <a:ln w="30745">
              <a:solidFill>
                <a:srgbClr val="000000"/>
              </a:solidFill>
            </a:ln>
          </p:spPr>
          <p:txBody>
            <a:bodyPr wrap="square" lIns="0" tIns="0" rIns="0" bIns="0" rtlCol="0"/>
            <a:lstStyle/>
            <a:p>
              <a:endParaRPr sz="1588"/>
            </a:p>
          </p:txBody>
        </p:sp>
      </p:grpSp>
      <p:sp>
        <p:nvSpPr>
          <p:cNvPr id="100" name="object 100"/>
          <p:cNvSpPr txBox="1"/>
          <p:nvPr/>
        </p:nvSpPr>
        <p:spPr>
          <a:xfrm>
            <a:off x="4099978" y="4037075"/>
            <a:ext cx="384922" cy="218438"/>
          </a:xfrm>
          <a:prstGeom prst="rect">
            <a:avLst/>
          </a:prstGeom>
          <a:ln w="30733">
            <a:solidFill>
              <a:srgbClr val="000000"/>
            </a:solidFill>
          </a:ln>
        </p:spPr>
        <p:txBody>
          <a:bodyPr vert="horz" wrap="square" lIns="0" tIns="54908" rIns="0" bIns="0" rtlCol="0">
            <a:spAutoFit/>
          </a:bodyPr>
          <a:lstStyle/>
          <a:p>
            <a:pPr marL="27456">
              <a:spcBef>
                <a:spcPts val="431"/>
              </a:spcBef>
            </a:pPr>
            <a:r>
              <a:rPr sz="1059" b="1" spc="-9" dirty="0">
                <a:latin typeface="Times New Roman"/>
                <a:cs typeface="Times New Roman"/>
              </a:rPr>
              <a:t>Ifetch</a:t>
            </a:r>
            <a:endParaRPr sz="1059">
              <a:latin typeface="Times New Roman"/>
              <a:cs typeface="Times New Roman"/>
            </a:endParaRPr>
          </a:p>
        </p:txBody>
      </p:sp>
      <p:grpSp>
        <p:nvGrpSpPr>
          <p:cNvPr id="101" name="object 101"/>
          <p:cNvGrpSpPr/>
          <p:nvPr/>
        </p:nvGrpSpPr>
        <p:grpSpPr>
          <a:xfrm>
            <a:off x="4575179" y="3876076"/>
            <a:ext cx="3500157" cy="646019"/>
            <a:chOff x="5032802" y="4392885"/>
            <a:chExt cx="3966845" cy="732155"/>
          </a:xfrm>
        </p:grpSpPr>
        <p:sp>
          <p:nvSpPr>
            <p:cNvPr id="102" name="object 102"/>
            <p:cNvSpPr/>
            <p:nvPr/>
          </p:nvSpPr>
          <p:spPr>
            <a:xfrm>
              <a:off x="5856187" y="4408443"/>
              <a:ext cx="87630" cy="701040"/>
            </a:xfrm>
            <a:custGeom>
              <a:avLst/>
              <a:gdLst/>
              <a:ahLst/>
              <a:cxnLst/>
              <a:rect l="l" t="t" r="r" b="b"/>
              <a:pathLst>
                <a:path w="87629" h="701039">
                  <a:moveTo>
                    <a:pt x="87595" y="0"/>
                  </a:moveTo>
                  <a:lnTo>
                    <a:pt x="0" y="0"/>
                  </a:lnTo>
                  <a:lnTo>
                    <a:pt x="0" y="701019"/>
                  </a:lnTo>
                  <a:lnTo>
                    <a:pt x="87595" y="701019"/>
                  </a:lnTo>
                  <a:lnTo>
                    <a:pt x="87595" y="0"/>
                  </a:lnTo>
                  <a:close/>
                </a:path>
              </a:pathLst>
            </a:custGeom>
            <a:solidFill>
              <a:srgbClr val="00FF00"/>
            </a:solidFill>
          </p:spPr>
          <p:txBody>
            <a:bodyPr wrap="square" lIns="0" tIns="0" rIns="0" bIns="0" rtlCol="0"/>
            <a:lstStyle/>
            <a:p>
              <a:endParaRPr sz="1588"/>
            </a:p>
          </p:txBody>
        </p:sp>
        <p:sp>
          <p:nvSpPr>
            <p:cNvPr id="103" name="object 103"/>
            <p:cNvSpPr/>
            <p:nvPr/>
          </p:nvSpPr>
          <p:spPr>
            <a:xfrm>
              <a:off x="5856187" y="4408443"/>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04" name="object 104"/>
            <p:cNvSpPr/>
            <p:nvPr/>
          </p:nvSpPr>
          <p:spPr>
            <a:xfrm>
              <a:off x="7539972" y="4408443"/>
              <a:ext cx="87630" cy="701040"/>
            </a:xfrm>
            <a:custGeom>
              <a:avLst/>
              <a:gdLst/>
              <a:ahLst/>
              <a:cxnLst/>
              <a:rect l="l" t="t" r="r" b="b"/>
              <a:pathLst>
                <a:path w="87629" h="701039">
                  <a:moveTo>
                    <a:pt x="87595" y="0"/>
                  </a:moveTo>
                  <a:lnTo>
                    <a:pt x="0" y="0"/>
                  </a:lnTo>
                  <a:lnTo>
                    <a:pt x="0" y="701019"/>
                  </a:lnTo>
                  <a:lnTo>
                    <a:pt x="87595" y="701019"/>
                  </a:lnTo>
                  <a:lnTo>
                    <a:pt x="87595" y="0"/>
                  </a:lnTo>
                  <a:close/>
                </a:path>
              </a:pathLst>
            </a:custGeom>
            <a:solidFill>
              <a:srgbClr val="00FF00"/>
            </a:solidFill>
          </p:spPr>
          <p:txBody>
            <a:bodyPr wrap="square" lIns="0" tIns="0" rIns="0" bIns="0" rtlCol="0"/>
            <a:lstStyle/>
            <a:p>
              <a:endParaRPr sz="1588"/>
            </a:p>
          </p:txBody>
        </p:sp>
        <p:sp>
          <p:nvSpPr>
            <p:cNvPr id="105" name="object 105"/>
            <p:cNvSpPr/>
            <p:nvPr/>
          </p:nvSpPr>
          <p:spPr>
            <a:xfrm>
              <a:off x="7539972" y="4408443"/>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06" name="object 106"/>
            <p:cNvSpPr/>
            <p:nvPr/>
          </p:nvSpPr>
          <p:spPr>
            <a:xfrm>
              <a:off x="5048360" y="4408443"/>
              <a:ext cx="87630" cy="701040"/>
            </a:xfrm>
            <a:custGeom>
              <a:avLst/>
              <a:gdLst/>
              <a:ahLst/>
              <a:cxnLst/>
              <a:rect l="l" t="t" r="r" b="b"/>
              <a:pathLst>
                <a:path w="87629" h="701039">
                  <a:moveTo>
                    <a:pt x="87595" y="0"/>
                  </a:moveTo>
                  <a:lnTo>
                    <a:pt x="0" y="0"/>
                  </a:lnTo>
                  <a:lnTo>
                    <a:pt x="0" y="701019"/>
                  </a:lnTo>
                  <a:lnTo>
                    <a:pt x="87595" y="701019"/>
                  </a:lnTo>
                  <a:lnTo>
                    <a:pt x="87595" y="0"/>
                  </a:lnTo>
                  <a:close/>
                </a:path>
              </a:pathLst>
            </a:custGeom>
            <a:solidFill>
              <a:srgbClr val="00FF00"/>
            </a:solidFill>
          </p:spPr>
          <p:txBody>
            <a:bodyPr wrap="square" lIns="0" tIns="0" rIns="0" bIns="0" rtlCol="0"/>
            <a:lstStyle/>
            <a:p>
              <a:endParaRPr sz="1588"/>
            </a:p>
          </p:txBody>
        </p:sp>
        <p:sp>
          <p:nvSpPr>
            <p:cNvPr id="107" name="object 107"/>
            <p:cNvSpPr/>
            <p:nvPr/>
          </p:nvSpPr>
          <p:spPr>
            <a:xfrm>
              <a:off x="5048360" y="4408443"/>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08" name="object 108"/>
            <p:cNvSpPr/>
            <p:nvPr/>
          </p:nvSpPr>
          <p:spPr>
            <a:xfrm>
              <a:off x="6737010" y="4412560"/>
              <a:ext cx="86995" cy="692150"/>
            </a:xfrm>
            <a:custGeom>
              <a:avLst/>
              <a:gdLst/>
              <a:ahLst/>
              <a:cxnLst/>
              <a:rect l="l" t="t" r="r" b="b"/>
              <a:pathLst>
                <a:path w="86995" h="692150">
                  <a:moveTo>
                    <a:pt x="86380" y="0"/>
                  </a:moveTo>
                  <a:lnTo>
                    <a:pt x="0" y="0"/>
                  </a:lnTo>
                  <a:lnTo>
                    <a:pt x="0" y="691756"/>
                  </a:lnTo>
                  <a:lnTo>
                    <a:pt x="86380" y="691756"/>
                  </a:lnTo>
                  <a:lnTo>
                    <a:pt x="86380" y="0"/>
                  </a:lnTo>
                  <a:close/>
                </a:path>
              </a:pathLst>
            </a:custGeom>
            <a:solidFill>
              <a:srgbClr val="00FF00"/>
            </a:solidFill>
          </p:spPr>
          <p:txBody>
            <a:bodyPr wrap="square" lIns="0" tIns="0" rIns="0" bIns="0" rtlCol="0"/>
            <a:lstStyle/>
            <a:p>
              <a:endParaRPr sz="1588"/>
            </a:p>
          </p:txBody>
        </p:sp>
        <p:sp>
          <p:nvSpPr>
            <p:cNvPr id="109" name="object 109"/>
            <p:cNvSpPr/>
            <p:nvPr/>
          </p:nvSpPr>
          <p:spPr>
            <a:xfrm>
              <a:off x="6737010" y="4412560"/>
              <a:ext cx="86995" cy="692150"/>
            </a:xfrm>
            <a:custGeom>
              <a:avLst/>
              <a:gdLst/>
              <a:ahLst/>
              <a:cxnLst/>
              <a:rect l="l" t="t" r="r" b="b"/>
              <a:pathLst>
                <a:path w="86995" h="692150">
                  <a:moveTo>
                    <a:pt x="0" y="0"/>
                  </a:moveTo>
                  <a:lnTo>
                    <a:pt x="86379" y="0"/>
                  </a:lnTo>
                  <a:lnTo>
                    <a:pt x="86379"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110" name="object 110"/>
            <p:cNvSpPr/>
            <p:nvPr/>
          </p:nvSpPr>
          <p:spPr>
            <a:xfrm>
              <a:off x="8546446" y="4561045"/>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111" name="object 111"/>
            <p:cNvSpPr/>
            <p:nvPr/>
          </p:nvSpPr>
          <p:spPr>
            <a:xfrm>
              <a:off x="8546446" y="4561045"/>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112" name="object 112"/>
          <p:cNvSpPr txBox="1"/>
          <p:nvPr/>
        </p:nvSpPr>
        <p:spPr>
          <a:xfrm>
            <a:off x="7749603" y="4069860"/>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13" name="object 113"/>
          <p:cNvGrpSpPr/>
          <p:nvPr/>
        </p:nvGrpSpPr>
        <p:grpSpPr>
          <a:xfrm>
            <a:off x="6262240" y="4762519"/>
            <a:ext cx="410135" cy="354666"/>
            <a:chOff x="6944805" y="5397521"/>
            <a:chExt cx="464820" cy="401955"/>
          </a:xfrm>
        </p:grpSpPr>
        <p:sp>
          <p:nvSpPr>
            <p:cNvPr id="114" name="object 114"/>
            <p:cNvSpPr/>
            <p:nvPr/>
          </p:nvSpPr>
          <p:spPr>
            <a:xfrm>
              <a:off x="7176929" y="5413079"/>
              <a:ext cx="217170" cy="366395"/>
            </a:xfrm>
            <a:custGeom>
              <a:avLst/>
              <a:gdLst/>
              <a:ahLst/>
              <a:cxnLst/>
              <a:rect l="l" t="t" r="r" b="b"/>
              <a:pathLst>
                <a:path w="217170" h="366395">
                  <a:moveTo>
                    <a:pt x="216568" y="0"/>
                  </a:moveTo>
                  <a:lnTo>
                    <a:pt x="0" y="0"/>
                  </a:lnTo>
                  <a:lnTo>
                    <a:pt x="0" y="366094"/>
                  </a:lnTo>
                  <a:lnTo>
                    <a:pt x="216568" y="366094"/>
                  </a:lnTo>
                  <a:lnTo>
                    <a:pt x="216568" y="0"/>
                  </a:lnTo>
                  <a:close/>
                </a:path>
              </a:pathLst>
            </a:custGeom>
            <a:solidFill>
              <a:srgbClr val="0099FF"/>
            </a:solidFill>
          </p:spPr>
          <p:txBody>
            <a:bodyPr wrap="square" lIns="0" tIns="0" rIns="0" bIns="0" rtlCol="0"/>
            <a:lstStyle/>
            <a:p>
              <a:endParaRPr sz="1588"/>
            </a:p>
          </p:txBody>
        </p:sp>
        <p:sp>
          <p:nvSpPr>
            <p:cNvPr id="115" name="object 115"/>
            <p:cNvSpPr/>
            <p:nvPr/>
          </p:nvSpPr>
          <p:spPr>
            <a:xfrm>
              <a:off x="6960363" y="5413079"/>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116" name="object 116"/>
          <p:cNvSpPr txBox="1"/>
          <p:nvPr/>
        </p:nvSpPr>
        <p:spPr>
          <a:xfrm>
            <a:off x="6346767" y="4822896"/>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17" name="object 117"/>
          <p:cNvGrpSpPr/>
          <p:nvPr/>
        </p:nvGrpSpPr>
        <p:grpSpPr>
          <a:xfrm>
            <a:off x="6646147" y="4665400"/>
            <a:ext cx="718296" cy="547968"/>
            <a:chOff x="7379899" y="5287454"/>
            <a:chExt cx="814069" cy="621030"/>
          </a:xfrm>
        </p:grpSpPr>
        <p:sp>
          <p:nvSpPr>
            <p:cNvPr id="118" name="object 118"/>
            <p:cNvSpPr/>
            <p:nvPr/>
          </p:nvSpPr>
          <p:spPr>
            <a:xfrm>
              <a:off x="7395457" y="5487791"/>
              <a:ext cx="478790" cy="220979"/>
            </a:xfrm>
            <a:custGeom>
              <a:avLst/>
              <a:gdLst/>
              <a:ahLst/>
              <a:cxnLst/>
              <a:rect l="l" t="t" r="r" b="b"/>
              <a:pathLst>
                <a:path w="478790" h="220979">
                  <a:moveTo>
                    <a:pt x="238782" y="0"/>
                  </a:moveTo>
                  <a:lnTo>
                    <a:pt x="478211" y="0"/>
                  </a:lnTo>
                </a:path>
                <a:path w="478790" h="220979">
                  <a:moveTo>
                    <a:pt x="0" y="0"/>
                  </a:moveTo>
                  <a:lnTo>
                    <a:pt x="151168" y="0"/>
                  </a:lnTo>
                </a:path>
                <a:path w="478790" h="220979">
                  <a:moveTo>
                    <a:pt x="238782" y="220958"/>
                  </a:moveTo>
                  <a:lnTo>
                    <a:pt x="478211" y="220958"/>
                  </a:lnTo>
                </a:path>
                <a:path w="478790" h="220979">
                  <a:moveTo>
                    <a:pt x="0" y="220958"/>
                  </a:moveTo>
                  <a:lnTo>
                    <a:pt x="151168" y="220958"/>
                  </a:lnTo>
                </a:path>
              </a:pathLst>
            </a:custGeom>
            <a:ln w="30745">
              <a:solidFill>
                <a:srgbClr val="000000"/>
              </a:solidFill>
            </a:ln>
          </p:spPr>
          <p:txBody>
            <a:bodyPr wrap="square" lIns="0" tIns="0" rIns="0" bIns="0" rtlCol="0"/>
            <a:lstStyle/>
            <a:p>
              <a:endParaRPr sz="1588"/>
            </a:p>
          </p:txBody>
        </p:sp>
        <p:sp>
          <p:nvSpPr>
            <p:cNvPr id="119" name="object 119"/>
            <p:cNvSpPr/>
            <p:nvPr/>
          </p:nvSpPr>
          <p:spPr>
            <a:xfrm>
              <a:off x="7811878" y="5303011"/>
              <a:ext cx="366395" cy="589915"/>
            </a:xfrm>
            <a:custGeom>
              <a:avLst/>
              <a:gdLst/>
              <a:ahLst/>
              <a:cxnLst/>
              <a:rect l="l" t="t" r="r" b="b"/>
              <a:pathLst>
                <a:path w="366395" h="589914">
                  <a:moveTo>
                    <a:pt x="0" y="0"/>
                  </a:moveTo>
                  <a:lnTo>
                    <a:pt x="0" y="589747"/>
                  </a:lnTo>
                  <a:lnTo>
                    <a:pt x="366115" y="442310"/>
                  </a:lnTo>
                  <a:lnTo>
                    <a:pt x="366115" y="147436"/>
                  </a:lnTo>
                  <a:lnTo>
                    <a:pt x="0" y="0"/>
                  </a:lnTo>
                  <a:close/>
                </a:path>
              </a:pathLst>
            </a:custGeom>
            <a:solidFill>
              <a:srgbClr val="FFFFFF"/>
            </a:solidFill>
          </p:spPr>
          <p:txBody>
            <a:bodyPr wrap="square" lIns="0" tIns="0" rIns="0" bIns="0" rtlCol="0"/>
            <a:lstStyle/>
            <a:p>
              <a:endParaRPr sz="1588"/>
            </a:p>
          </p:txBody>
        </p:sp>
        <p:sp>
          <p:nvSpPr>
            <p:cNvPr id="120" name="object 120"/>
            <p:cNvSpPr/>
            <p:nvPr/>
          </p:nvSpPr>
          <p:spPr>
            <a:xfrm>
              <a:off x="7811878" y="5303011"/>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121" name="object 121"/>
            <p:cNvSpPr/>
            <p:nvPr/>
          </p:nvSpPr>
          <p:spPr>
            <a:xfrm>
              <a:off x="7787434" y="5503049"/>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122" name="object 122"/>
            <p:cNvSpPr/>
            <p:nvPr/>
          </p:nvSpPr>
          <p:spPr>
            <a:xfrm>
              <a:off x="7811877" y="5514183"/>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123" name="object 123"/>
          <p:cNvSpPr txBox="1"/>
          <p:nvPr/>
        </p:nvSpPr>
        <p:spPr>
          <a:xfrm>
            <a:off x="7146382" y="4782219"/>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24" name="object 124"/>
          <p:cNvGrpSpPr/>
          <p:nvPr/>
        </p:nvGrpSpPr>
        <p:grpSpPr>
          <a:xfrm>
            <a:off x="7339600" y="4763922"/>
            <a:ext cx="721659" cy="352985"/>
            <a:chOff x="8165813" y="5399111"/>
            <a:chExt cx="817880" cy="400050"/>
          </a:xfrm>
        </p:grpSpPr>
        <p:sp>
          <p:nvSpPr>
            <p:cNvPr id="125" name="object 125"/>
            <p:cNvSpPr/>
            <p:nvPr/>
          </p:nvSpPr>
          <p:spPr>
            <a:xfrm>
              <a:off x="8181370" y="5599064"/>
              <a:ext cx="353060" cy="0"/>
            </a:xfrm>
            <a:custGeom>
              <a:avLst/>
              <a:gdLst/>
              <a:ahLst/>
              <a:cxnLst/>
              <a:rect l="l" t="t" r="r" b="b"/>
              <a:pathLst>
                <a:path w="353059">
                  <a:moveTo>
                    <a:pt x="254784" y="0"/>
                  </a:moveTo>
                  <a:lnTo>
                    <a:pt x="352464" y="0"/>
                  </a:lnTo>
                </a:path>
                <a:path w="353059">
                  <a:moveTo>
                    <a:pt x="0" y="0"/>
                  </a:moveTo>
                  <a:lnTo>
                    <a:pt x="168386" y="0"/>
                  </a:lnTo>
                </a:path>
              </a:pathLst>
            </a:custGeom>
            <a:ln w="30745">
              <a:solidFill>
                <a:srgbClr val="000000"/>
              </a:solidFill>
            </a:ln>
          </p:spPr>
          <p:txBody>
            <a:bodyPr wrap="square" lIns="0" tIns="0" rIns="0" bIns="0" rtlCol="0"/>
            <a:lstStyle/>
            <a:p>
              <a:endParaRPr sz="1588"/>
            </a:p>
          </p:txBody>
        </p:sp>
        <p:sp>
          <p:nvSpPr>
            <p:cNvPr id="126" name="object 126"/>
            <p:cNvSpPr/>
            <p:nvPr/>
          </p:nvSpPr>
          <p:spPr>
            <a:xfrm>
              <a:off x="8533835" y="5414669"/>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127" name="object 127"/>
          <p:cNvSpPr txBox="1"/>
          <p:nvPr/>
        </p:nvSpPr>
        <p:spPr>
          <a:xfrm>
            <a:off x="7646026" y="4822896"/>
            <a:ext cx="414618"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sp>
        <p:nvSpPr>
          <p:cNvPr id="128" name="object 128"/>
          <p:cNvSpPr/>
          <p:nvPr/>
        </p:nvSpPr>
        <p:spPr>
          <a:xfrm>
            <a:off x="5907578" y="4842169"/>
            <a:ext cx="368674" cy="196663"/>
          </a:xfrm>
          <a:custGeom>
            <a:avLst/>
            <a:gdLst/>
            <a:ahLst/>
            <a:cxnLst/>
            <a:rect l="l" t="t" r="r" b="b"/>
            <a:pathLst>
              <a:path w="417829" h="222885">
                <a:moveTo>
                  <a:pt x="0" y="222547"/>
                </a:moveTo>
                <a:lnTo>
                  <a:pt x="192120" y="222547"/>
                </a:lnTo>
              </a:path>
              <a:path w="417829" h="222885">
                <a:moveTo>
                  <a:pt x="279735" y="222547"/>
                </a:moveTo>
                <a:lnTo>
                  <a:pt x="417508" y="222547"/>
                </a:lnTo>
              </a:path>
              <a:path w="417829" h="222885">
                <a:moveTo>
                  <a:pt x="0" y="0"/>
                </a:moveTo>
                <a:lnTo>
                  <a:pt x="192120" y="0"/>
                </a:lnTo>
              </a:path>
              <a:path w="417829" h="222885">
                <a:moveTo>
                  <a:pt x="279735" y="0"/>
                </a:moveTo>
                <a:lnTo>
                  <a:pt x="415548" y="0"/>
                </a:lnTo>
              </a:path>
            </a:pathLst>
          </a:custGeom>
          <a:ln w="30745">
            <a:solidFill>
              <a:srgbClr val="000000"/>
            </a:solidFill>
          </a:ln>
        </p:spPr>
        <p:txBody>
          <a:bodyPr wrap="square" lIns="0" tIns="0" rIns="0" bIns="0" rtlCol="0"/>
          <a:lstStyle/>
          <a:p>
            <a:endParaRPr sz="1588"/>
          </a:p>
        </p:txBody>
      </p:sp>
      <p:sp>
        <p:nvSpPr>
          <p:cNvPr id="129" name="object 129"/>
          <p:cNvSpPr/>
          <p:nvPr/>
        </p:nvSpPr>
        <p:spPr>
          <a:xfrm>
            <a:off x="5541210" y="4777650"/>
            <a:ext cx="366432" cy="325531"/>
          </a:xfrm>
          <a:custGeom>
            <a:avLst/>
            <a:gdLst/>
            <a:ahLst/>
            <a:cxnLst/>
            <a:rect l="l" t="t" r="r" b="b"/>
            <a:pathLst>
              <a:path w="415290" h="368935">
                <a:moveTo>
                  <a:pt x="0" y="0"/>
                </a:moveTo>
                <a:lnTo>
                  <a:pt x="415217" y="0"/>
                </a:lnTo>
                <a:lnTo>
                  <a:pt x="415217" y="368790"/>
                </a:lnTo>
                <a:lnTo>
                  <a:pt x="0" y="368790"/>
                </a:lnTo>
                <a:lnTo>
                  <a:pt x="0" y="0"/>
                </a:lnTo>
                <a:close/>
              </a:path>
            </a:pathLst>
          </a:custGeom>
          <a:ln w="30732">
            <a:solidFill>
              <a:srgbClr val="000000"/>
            </a:solidFill>
          </a:ln>
        </p:spPr>
        <p:txBody>
          <a:bodyPr wrap="square" lIns="0" tIns="0" rIns="0" bIns="0" rtlCol="0"/>
          <a:lstStyle/>
          <a:p>
            <a:endParaRPr sz="1588"/>
          </a:p>
        </p:txBody>
      </p:sp>
      <p:sp>
        <p:nvSpPr>
          <p:cNvPr id="130" name="object 130"/>
          <p:cNvSpPr txBox="1"/>
          <p:nvPr/>
        </p:nvSpPr>
        <p:spPr>
          <a:xfrm>
            <a:off x="5543905" y="4822896"/>
            <a:ext cx="353546" cy="174309"/>
          </a:xfrm>
          <a:prstGeom prst="rect">
            <a:avLst/>
          </a:prstGeom>
        </p:spPr>
        <p:txBody>
          <a:bodyPr vert="horz" wrap="square" lIns="0" tIns="11206" rIns="0" bIns="0" rtlCol="0">
            <a:spAutoFit/>
          </a:bodyPr>
          <a:lstStyle/>
          <a:p>
            <a:pPr marL="11206">
              <a:spcBef>
                <a:spcPts val="88"/>
              </a:spcBef>
            </a:pPr>
            <a:r>
              <a:rPr sz="1059" b="1" spc="-9" dirty="0">
                <a:latin typeface="Times New Roman"/>
                <a:cs typeface="Times New Roman"/>
              </a:rPr>
              <a:t>Ifetch</a:t>
            </a:r>
            <a:endParaRPr sz="1059">
              <a:latin typeface="Times New Roman"/>
              <a:cs typeface="Times New Roman"/>
            </a:endParaRPr>
          </a:p>
        </p:txBody>
      </p:sp>
      <p:grpSp>
        <p:nvGrpSpPr>
          <p:cNvPr id="131" name="object 131"/>
          <p:cNvGrpSpPr/>
          <p:nvPr/>
        </p:nvGrpSpPr>
        <p:grpSpPr>
          <a:xfrm>
            <a:off x="2470741" y="1844930"/>
            <a:ext cx="5121649" cy="3850341"/>
            <a:chOff x="2647773" y="2090921"/>
            <a:chExt cx="5804535" cy="4363720"/>
          </a:xfrm>
        </p:grpSpPr>
        <p:sp>
          <p:nvSpPr>
            <p:cNvPr id="132" name="object 132"/>
            <p:cNvSpPr/>
            <p:nvPr/>
          </p:nvSpPr>
          <p:spPr>
            <a:xfrm>
              <a:off x="7546625" y="5247759"/>
              <a:ext cx="87630" cy="701040"/>
            </a:xfrm>
            <a:custGeom>
              <a:avLst/>
              <a:gdLst/>
              <a:ahLst/>
              <a:cxnLst/>
              <a:rect l="l" t="t" r="r" b="b"/>
              <a:pathLst>
                <a:path w="87629" h="701039">
                  <a:moveTo>
                    <a:pt x="87614" y="0"/>
                  </a:moveTo>
                  <a:lnTo>
                    <a:pt x="0" y="0"/>
                  </a:lnTo>
                  <a:lnTo>
                    <a:pt x="0" y="701020"/>
                  </a:lnTo>
                  <a:lnTo>
                    <a:pt x="87614" y="701020"/>
                  </a:lnTo>
                  <a:lnTo>
                    <a:pt x="87614" y="0"/>
                  </a:lnTo>
                  <a:close/>
                </a:path>
              </a:pathLst>
            </a:custGeom>
            <a:solidFill>
              <a:srgbClr val="00FF00"/>
            </a:solidFill>
          </p:spPr>
          <p:txBody>
            <a:bodyPr wrap="square" lIns="0" tIns="0" rIns="0" bIns="0" rtlCol="0"/>
            <a:lstStyle/>
            <a:p>
              <a:endParaRPr sz="1588"/>
            </a:p>
          </p:txBody>
        </p:sp>
        <p:sp>
          <p:nvSpPr>
            <p:cNvPr id="133" name="object 133"/>
            <p:cNvSpPr/>
            <p:nvPr/>
          </p:nvSpPr>
          <p:spPr>
            <a:xfrm>
              <a:off x="7546625" y="5247759"/>
              <a:ext cx="87630" cy="701040"/>
            </a:xfrm>
            <a:custGeom>
              <a:avLst/>
              <a:gdLst/>
              <a:ahLst/>
              <a:cxnLst/>
              <a:rect l="l" t="t" r="r" b="b"/>
              <a:pathLst>
                <a:path w="87629" h="701039">
                  <a:moveTo>
                    <a:pt x="0" y="0"/>
                  </a:moveTo>
                  <a:lnTo>
                    <a:pt x="87614" y="0"/>
                  </a:lnTo>
                  <a:lnTo>
                    <a:pt x="87614"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34" name="object 134"/>
            <p:cNvSpPr/>
            <p:nvPr/>
          </p:nvSpPr>
          <p:spPr>
            <a:xfrm>
              <a:off x="6734976" y="5247759"/>
              <a:ext cx="87630" cy="701040"/>
            </a:xfrm>
            <a:custGeom>
              <a:avLst/>
              <a:gdLst/>
              <a:ahLst/>
              <a:cxnLst/>
              <a:rect l="l" t="t" r="r" b="b"/>
              <a:pathLst>
                <a:path w="87629" h="701039">
                  <a:moveTo>
                    <a:pt x="87614" y="0"/>
                  </a:moveTo>
                  <a:lnTo>
                    <a:pt x="0" y="0"/>
                  </a:lnTo>
                  <a:lnTo>
                    <a:pt x="0" y="701020"/>
                  </a:lnTo>
                  <a:lnTo>
                    <a:pt x="87614" y="701020"/>
                  </a:lnTo>
                  <a:lnTo>
                    <a:pt x="87614" y="0"/>
                  </a:lnTo>
                  <a:close/>
                </a:path>
              </a:pathLst>
            </a:custGeom>
            <a:solidFill>
              <a:srgbClr val="00FF00"/>
            </a:solidFill>
          </p:spPr>
          <p:txBody>
            <a:bodyPr wrap="square" lIns="0" tIns="0" rIns="0" bIns="0" rtlCol="0"/>
            <a:lstStyle/>
            <a:p>
              <a:endParaRPr sz="1588"/>
            </a:p>
          </p:txBody>
        </p:sp>
        <p:sp>
          <p:nvSpPr>
            <p:cNvPr id="135" name="object 135"/>
            <p:cNvSpPr/>
            <p:nvPr/>
          </p:nvSpPr>
          <p:spPr>
            <a:xfrm>
              <a:off x="6734976" y="5247759"/>
              <a:ext cx="87630" cy="701040"/>
            </a:xfrm>
            <a:custGeom>
              <a:avLst/>
              <a:gdLst/>
              <a:ahLst/>
              <a:cxnLst/>
              <a:rect l="l" t="t" r="r" b="b"/>
              <a:pathLst>
                <a:path w="87629" h="701039">
                  <a:moveTo>
                    <a:pt x="0" y="0"/>
                  </a:moveTo>
                  <a:lnTo>
                    <a:pt x="87614" y="0"/>
                  </a:lnTo>
                  <a:lnTo>
                    <a:pt x="87614"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36" name="object 136"/>
            <p:cNvSpPr/>
            <p:nvPr/>
          </p:nvSpPr>
          <p:spPr>
            <a:xfrm>
              <a:off x="8349757" y="5251876"/>
              <a:ext cx="86995" cy="692150"/>
            </a:xfrm>
            <a:custGeom>
              <a:avLst/>
              <a:gdLst/>
              <a:ahLst/>
              <a:cxnLst/>
              <a:rect l="l" t="t" r="r" b="b"/>
              <a:pathLst>
                <a:path w="86995" h="692150">
                  <a:moveTo>
                    <a:pt x="86398" y="0"/>
                  </a:moveTo>
                  <a:lnTo>
                    <a:pt x="0" y="0"/>
                  </a:lnTo>
                  <a:lnTo>
                    <a:pt x="0" y="691756"/>
                  </a:lnTo>
                  <a:lnTo>
                    <a:pt x="86398" y="691756"/>
                  </a:lnTo>
                  <a:lnTo>
                    <a:pt x="86398" y="0"/>
                  </a:lnTo>
                  <a:close/>
                </a:path>
              </a:pathLst>
            </a:custGeom>
            <a:solidFill>
              <a:srgbClr val="00FF00"/>
            </a:solidFill>
          </p:spPr>
          <p:txBody>
            <a:bodyPr wrap="square" lIns="0" tIns="0" rIns="0" bIns="0" rtlCol="0"/>
            <a:lstStyle/>
            <a:p>
              <a:endParaRPr sz="1588"/>
            </a:p>
          </p:txBody>
        </p:sp>
        <p:sp>
          <p:nvSpPr>
            <p:cNvPr id="137" name="object 137"/>
            <p:cNvSpPr/>
            <p:nvPr/>
          </p:nvSpPr>
          <p:spPr>
            <a:xfrm>
              <a:off x="8349757" y="5251876"/>
              <a:ext cx="86995" cy="692150"/>
            </a:xfrm>
            <a:custGeom>
              <a:avLst/>
              <a:gdLst/>
              <a:ahLst/>
              <a:cxnLst/>
              <a:rect l="l" t="t" r="r" b="b"/>
              <a:pathLst>
                <a:path w="86995" h="692150">
                  <a:moveTo>
                    <a:pt x="0" y="0"/>
                  </a:moveTo>
                  <a:lnTo>
                    <a:pt x="86397" y="0"/>
                  </a:lnTo>
                  <a:lnTo>
                    <a:pt x="86397"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138" name="object 138"/>
            <p:cNvSpPr/>
            <p:nvPr/>
          </p:nvSpPr>
          <p:spPr>
            <a:xfrm>
              <a:off x="3471716"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39" name="object 139"/>
            <p:cNvSpPr/>
            <p:nvPr/>
          </p:nvSpPr>
          <p:spPr>
            <a:xfrm>
              <a:off x="4280101"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40" name="object 140"/>
            <p:cNvSpPr/>
            <p:nvPr/>
          </p:nvSpPr>
          <p:spPr>
            <a:xfrm>
              <a:off x="5088487"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41" name="object 141"/>
            <p:cNvSpPr/>
            <p:nvPr/>
          </p:nvSpPr>
          <p:spPr>
            <a:xfrm>
              <a:off x="6778746"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42" name="object 142"/>
            <p:cNvSpPr/>
            <p:nvPr/>
          </p:nvSpPr>
          <p:spPr>
            <a:xfrm>
              <a:off x="5896872"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43" name="object 143"/>
            <p:cNvSpPr/>
            <p:nvPr/>
          </p:nvSpPr>
          <p:spPr>
            <a:xfrm>
              <a:off x="7587132"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44" name="object 144"/>
            <p:cNvSpPr/>
            <p:nvPr/>
          </p:nvSpPr>
          <p:spPr>
            <a:xfrm>
              <a:off x="8395517"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45" name="object 145"/>
            <p:cNvSpPr/>
            <p:nvPr/>
          </p:nvSpPr>
          <p:spPr>
            <a:xfrm>
              <a:off x="2663330" y="2106479"/>
              <a:ext cx="0" cy="4332605"/>
            </a:xfrm>
            <a:custGeom>
              <a:avLst/>
              <a:gdLst/>
              <a:ahLst/>
              <a:cxnLst/>
              <a:rect l="l" t="t" r="r" b="b"/>
              <a:pathLst>
                <a:path h="4332605">
                  <a:moveTo>
                    <a:pt x="0" y="0"/>
                  </a:moveTo>
                  <a:lnTo>
                    <a:pt x="1" y="4332139"/>
                  </a:lnTo>
                </a:path>
              </a:pathLst>
            </a:custGeom>
            <a:ln w="30718">
              <a:solidFill>
                <a:srgbClr val="000000"/>
              </a:solidFill>
            </a:ln>
          </p:spPr>
          <p:txBody>
            <a:bodyPr wrap="square" lIns="0" tIns="0" rIns="0" bIns="0" rtlCol="0"/>
            <a:lstStyle/>
            <a:p>
              <a:endParaRPr sz="1588"/>
            </a:p>
          </p:txBody>
        </p:sp>
        <p:sp>
          <p:nvSpPr>
            <p:cNvPr id="146" name="object 146"/>
            <p:cNvSpPr/>
            <p:nvPr/>
          </p:nvSpPr>
          <p:spPr>
            <a:xfrm>
              <a:off x="6227265" y="3222047"/>
              <a:ext cx="193675" cy="1313815"/>
            </a:xfrm>
            <a:custGeom>
              <a:avLst/>
              <a:gdLst/>
              <a:ahLst/>
              <a:cxnLst/>
              <a:rect l="l" t="t" r="r" b="b"/>
              <a:pathLst>
                <a:path w="193675" h="1313814">
                  <a:moveTo>
                    <a:pt x="70419" y="1131497"/>
                  </a:moveTo>
                  <a:lnTo>
                    <a:pt x="9102" y="1135333"/>
                  </a:lnTo>
                  <a:lnTo>
                    <a:pt x="112574" y="1313686"/>
                  </a:lnTo>
                  <a:lnTo>
                    <a:pt x="176793" y="1162182"/>
                  </a:lnTo>
                  <a:lnTo>
                    <a:pt x="72335" y="1162182"/>
                  </a:lnTo>
                  <a:lnTo>
                    <a:pt x="70419" y="1131497"/>
                  </a:lnTo>
                  <a:close/>
                </a:path>
                <a:path w="193675" h="1313814">
                  <a:moveTo>
                    <a:pt x="131734" y="1127661"/>
                  </a:moveTo>
                  <a:lnTo>
                    <a:pt x="70419" y="1131497"/>
                  </a:lnTo>
                  <a:lnTo>
                    <a:pt x="72335" y="1162182"/>
                  </a:lnTo>
                  <a:lnTo>
                    <a:pt x="133650" y="1158346"/>
                  </a:lnTo>
                  <a:lnTo>
                    <a:pt x="131734" y="1127661"/>
                  </a:lnTo>
                  <a:close/>
                </a:path>
                <a:path w="193675" h="1313814">
                  <a:moveTo>
                    <a:pt x="193051" y="1123825"/>
                  </a:moveTo>
                  <a:lnTo>
                    <a:pt x="131734" y="1127661"/>
                  </a:lnTo>
                  <a:lnTo>
                    <a:pt x="133650" y="1158346"/>
                  </a:lnTo>
                  <a:lnTo>
                    <a:pt x="72335" y="1162182"/>
                  </a:lnTo>
                  <a:lnTo>
                    <a:pt x="176793" y="1162182"/>
                  </a:lnTo>
                  <a:lnTo>
                    <a:pt x="193051" y="1123825"/>
                  </a:lnTo>
                  <a:close/>
                </a:path>
                <a:path w="193675" h="1313814">
                  <a:moveTo>
                    <a:pt x="61316" y="0"/>
                  </a:moveTo>
                  <a:lnTo>
                    <a:pt x="0" y="3836"/>
                  </a:lnTo>
                  <a:lnTo>
                    <a:pt x="70419" y="1131497"/>
                  </a:lnTo>
                  <a:lnTo>
                    <a:pt x="131734" y="1127661"/>
                  </a:lnTo>
                  <a:lnTo>
                    <a:pt x="61316" y="0"/>
                  </a:lnTo>
                  <a:close/>
                </a:path>
              </a:pathLst>
            </a:custGeom>
            <a:solidFill>
              <a:srgbClr val="0099FF"/>
            </a:solidFill>
          </p:spPr>
          <p:txBody>
            <a:bodyPr wrap="square" lIns="0" tIns="0" rIns="0" bIns="0" rtlCol="0"/>
            <a:lstStyle/>
            <a:p>
              <a:endParaRPr sz="1588"/>
            </a:p>
          </p:txBody>
        </p:sp>
      </p:grpSp>
      <p:sp>
        <p:nvSpPr>
          <p:cNvPr id="147" name="object 147"/>
          <p:cNvSpPr txBox="1"/>
          <p:nvPr/>
        </p:nvSpPr>
        <p:spPr>
          <a:xfrm>
            <a:off x="2567586" y="2046048"/>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1</a:t>
            </a:r>
            <a:endParaRPr sz="1324">
              <a:latin typeface="Times New Roman"/>
              <a:cs typeface="Times New Roman"/>
            </a:endParaRPr>
          </a:p>
        </p:txBody>
      </p:sp>
      <p:sp>
        <p:nvSpPr>
          <p:cNvPr id="148" name="object 148"/>
          <p:cNvSpPr txBox="1"/>
          <p:nvPr/>
        </p:nvSpPr>
        <p:spPr>
          <a:xfrm>
            <a:off x="3261955" y="2046048"/>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2</a:t>
            </a:r>
            <a:endParaRPr sz="1324">
              <a:latin typeface="Times New Roman"/>
              <a:cs typeface="Times New Roman"/>
            </a:endParaRPr>
          </a:p>
        </p:txBody>
      </p:sp>
      <p:sp>
        <p:nvSpPr>
          <p:cNvPr id="149" name="object 149"/>
          <p:cNvSpPr txBox="1"/>
          <p:nvPr/>
        </p:nvSpPr>
        <p:spPr>
          <a:xfrm>
            <a:off x="3998201" y="2046048"/>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3</a:t>
            </a:r>
            <a:endParaRPr sz="1324">
              <a:latin typeface="Times New Roman"/>
              <a:cs typeface="Times New Roman"/>
            </a:endParaRPr>
          </a:p>
        </p:txBody>
      </p:sp>
      <p:sp>
        <p:nvSpPr>
          <p:cNvPr id="150" name="object 150"/>
          <p:cNvSpPr txBox="1"/>
          <p:nvPr/>
        </p:nvSpPr>
        <p:spPr>
          <a:xfrm>
            <a:off x="6910090" y="2046048"/>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7</a:t>
            </a:r>
            <a:endParaRPr sz="1324">
              <a:latin typeface="Times New Roman"/>
              <a:cs typeface="Times New Roman"/>
            </a:endParaRPr>
          </a:p>
        </p:txBody>
      </p:sp>
      <p:sp>
        <p:nvSpPr>
          <p:cNvPr id="151" name="object 151"/>
          <p:cNvSpPr txBox="1"/>
          <p:nvPr/>
        </p:nvSpPr>
        <p:spPr>
          <a:xfrm>
            <a:off x="7629583" y="2046048"/>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8</a:t>
            </a:r>
            <a:endParaRPr sz="1324">
              <a:latin typeface="Times New Roman"/>
              <a:cs typeface="Times New Roman"/>
            </a:endParaRPr>
          </a:p>
        </p:txBody>
      </p:sp>
      <p:sp>
        <p:nvSpPr>
          <p:cNvPr id="152" name="object 152"/>
          <p:cNvSpPr txBox="1"/>
          <p:nvPr/>
        </p:nvSpPr>
        <p:spPr>
          <a:xfrm>
            <a:off x="4665264" y="1478067"/>
            <a:ext cx="2083174" cy="783065"/>
          </a:xfrm>
          <a:prstGeom prst="rect">
            <a:avLst/>
          </a:prstGeom>
        </p:spPr>
        <p:txBody>
          <a:bodyPr vert="horz" wrap="square" lIns="0" tIns="11206" rIns="0" bIns="0" rtlCol="0">
            <a:spAutoFit/>
          </a:bodyPr>
          <a:lstStyle/>
          <a:p>
            <a:pPr marL="11206">
              <a:spcBef>
                <a:spcPts val="88"/>
              </a:spcBef>
            </a:pPr>
            <a:r>
              <a:rPr sz="1941" i="1" spc="-44" dirty="0">
                <a:latin typeface="Times New Roman"/>
                <a:cs typeface="Times New Roman"/>
              </a:rPr>
              <a:t>Time</a:t>
            </a:r>
            <a:r>
              <a:rPr sz="1941" i="1" spc="-79" dirty="0">
                <a:latin typeface="Times New Roman"/>
                <a:cs typeface="Times New Roman"/>
              </a:rPr>
              <a:t> </a:t>
            </a:r>
            <a:r>
              <a:rPr sz="1941" i="1" spc="-9" dirty="0">
                <a:latin typeface="Times New Roman"/>
                <a:cs typeface="Times New Roman"/>
              </a:rPr>
              <a:t>(clock</a:t>
            </a:r>
            <a:r>
              <a:rPr sz="1941" i="1" spc="-79" dirty="0">
                <a:latin typeface="Times New Roman"/>
                <a:cs typeface="Times New Roman"/>
              </a:rPr>
              <a:t> </a:t>
            </a:r>
            <a:r>
              <a:rPr sz="1941" i="1" spc="-9" dirty="0">
                <a:latin typeface="Times New Roman"/>
                <a:cs typeface="Times New Roman"/>
              </a:rPr>
              <a:t>cycles)</a:t>
            </a:r>
            <a:endParaRPr sz="1941">
              <a:latin typeface="Times New Roman"/>
              <a:cs typeface="Times New Roman"/>
            </a:endParaRPr>
          </a:p>
          <a:p>
            <a:pPr marL="66679">
              <a:spcBef>
                <a:spcPts val="2144"/>
              </a:spcBef>
              <a:tabLst>
                <a:tab pos="763722" algn="l"/>
                <a:tab pos="1542012" algn="l"/>
              </a:tabLst>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4</a:t>
            </a:r>
            <a:r>
              <a:rPr sz="1324" b="1" dirty="0">
                <a:latin typeface="Times New Roman"/>
                <a:cs typeface="Times New Roman"/>
              </a:rPr>
              <a:t>	Cycle</a:t>
            </a:r>
            <a:r>
              <a:rPr sz="1324" b="1" spc="-9" dirty="0">
                <a:latin typeface="Times New Roman"/>
                <a:cs typeface="Times New Roman"/>
              </a:rPr>
              <a:t> </a:t>
            </a:r>
            <a:r>
              <a:rPr sz="1324" b="1" spc="-44" dirty="0">
                <a:latin typeface="Times New Roman"/>
                <a:cs typeface="Times New Roman"/>
              </a:rPr>
              <a:t>5</a:t>
            </a:r>
            <a:r>
              <a:rPr sz="1324" b="1" dirty="0">
                <a:latin typeface="Times New Roman"/>
                <a:cs typeface="Times New Roman"/>
              </a:rPr>
              <a:t>	Cycle</a:t>
            </a:r>
            <a:r>
              <a:rPr sz="1324" b="1" spc="-9" dirty="0">
                <a:latin typeface="Times New Roman"/>
                <a:cs typeface="Times New Roman"/>
              </a:rPr>
              <a:t> </a:t>
            </a:r>
            <a:r>
              <a:rPr sz="1324" b="1" spc="-44" dirty="0">
                <a:latin typeface="Times New Roman"/>
                <a:cs typeface="Times New Roman"/>
              </a:rPr>
              <a:t>6</a:t>
            </a:r>
            <a:endParaRPr sz="1324">
              <a:latin typeface="Times New Roman"/>
              <a:cs typeface="Times New Roman"/>
            </a:endParaRPr>
          </a:p>
        </p:txBody>
      </p:sp>
      <p:grpSp>
        <p:nvGrpSpPr>
          <p:cNvPr id="153" name="object 153"/>
          <p:cNvGrpSpPr/>
          <p:nvPr/>
        </p:nvGrpSpPr>
        <p:grpSpPr>
          <a:xfrm>
            <a:off x="5657062" y="511704"/>
            <a:ext cx="3053043" cy="2654674"/>
            <a:chOff x="6258937" y="579931"/>
            <a:chExt cx="3460115" cy="3008630"/>
          </a:xfrm>
        </p:grpSpPr>
        <p:sp>
          <p:nvSpPr>
            <p:cNvPr id="154" name="object 154"/>
            <p:cNvSpPr/>
            <p:nvPr/>
          </p:nvSpPr>
          <p:spPr>
            <a:xfrm>
              <a:off x="7393362" y="600428"/>
              <a:ext cx="2305050" cy="1393825"/>
            </a:xfrm>
            <a:custGeom>
              <a:avLst/>
              <a:gdLst/>
              <a:ahLst/>
              <a:cxnLst/>
              <a:rect l="l" t="t" r="r" b="b"/>
              <a:pathLst>
                <a:path w="2305050" h="1393825">
                  <a:moveTo>
                    <a:pt x="2304992" y="0"/>
                  </a:moveTo>
                  <a:lnTo>
                    <a:pt x="0" y="0"/>
                  </a:lnTo>
                  <a:lnTo>
                    <a:pt x="0" y="1393753"/>
                  </a:lnTo>
                  <a:lnTo>
                    <a:pt x="2304992" y="1393753"/>
                  </a:lnTo>
                  <a:lnTo>
                    <a:pt x="2304992" y="0"/>
                  </a:lnTo>
                  <a:close/>
                </a:path>
              </a:pathLst>
            </a:custGeom>
            <a:solidFill>
              <a:srgbClr val="BCFFBC"/>
            </a:solidFill>
          </p:spPr>
          <p:txBody>
            <a:bodyPr wrap="square" lIns="0" tIns="0" rIns="0" bIns="0" rtlCol="0"/>
            <a:lstStyle/>
            <a:p>
              <a:endParaRPr sz="1588"/>
            </a:p>
          </p:txBody>
        </p:sp>
        <p:sp>
          <p:nvSpPr>
            <p:cNvPr id="155" name="object 155"/>
            <p:cNvSpPr/>
            <p:nvPr/>
          </p:nvSpPr>
          <p:spPr>
            <a:xfrm>
              <a:off x="6258928" y="579932"/>
              <a:ext cx="3460115" cy="3008630"/>
            </a:xfrm>
            <a:custGeom>
              <a:avLst/>
              <a:gdLst/>
              <a:ahLst/>
              <a:cxnLst/>
              <a:rect l="l" t="t" r="r" b="b"/>
              <a:pathLst>
                <a:path w="3460115" h="3008629">
                  <a:moveTo>
                    <a:pt x="1103782" y="1246720"/>
                  </a:moveTo>
                  <a:lnTo>
                    <a:pt x="1068870" y="1225283"/>
                  </a:lnTo>
                  <a:lnTo>
                    <a:pt x="46799" y="2892590"/>
                  </a:lnTo>
                  <a:lnTo>
                    <a:pt x="11899" y="2871152"/>
                  </a:lnTo>
                  <a:lnTo>
                    <a:pt x="0" y="3008122"/>
                  </a:lnTo>
                  <a:lnTo>
                    <a:pt x="116624" y="2935452"/>
                  </a:lnTo>
                  <a:lnTo>
                    <a:pt x="110172" y="2931490"/>
                  </a:lnTo>
                  <a:lnTo>
                    <a:pt x="81711" y="2914027"/>
                  </a:lnTo>
                  <a:lnTo>
                    <a:pt x="1103782" y="1246720"/>
                  </a:lnTo>
                  <a:close/>
                </a:path>
                <a:path w="3460115" h="3008629">
                  <a:moveTo>
                    <a:pt x="3459899" y="20497"/>
                  </a:moveTo>
                  <a:lnTo>
                    <a:pt x="3458286" y="12522"/>
                  </a:lnTo>
                  <a:lnTo>
                    <a:pt x="3453904" y="6007"/>
                  </a:lnTo>
                  <a:lnTo>
                    <a:pt x="3447389" y="1612"/>
                  </a:lnTo>
                  <a:lnTo>
                    <a:pt x="3439426" y="0"/>
                  </a:lnTo>
                  <a:lnTo>
                    <a:pt x="3418941" y="0"/>
                  </a:lnTo>
                  <a:lnTo>
                    <a:pt x="3418941" y="40995"/>
                  </a:lnTo>
                  <a:lnTo>
                    <a:pt x="3418941" y="1393761"/>
                  </a:lnTo>
                  <a:lnTo>
                    <a:pt x="1154912" y="1393761"/>
                  </a:lnTo>
                  <a:lnTo>
                    <a:pt x="1154912" y="40995"/>
                  </a:lnTo>
                  <a:lnTo>
                    <a:pt x="3418941" y="40995"/>
                  </a:lnTo>
                  <a:lnTo>
                    <a:pt x="3418941" y="0"/>
                  </a:lnTo>
                  <a:lnTo>
                    <a:pt x="1134427" y="0"/>
                  </a:lnTo>
                  <a:lnTo>
                    <a:pt x="1126451" y="1612"/>
                  </a:lnTo>
                  <a:lnTo>
                    <a:pt x="1119949" y="6007"/>
                  </a:lnTo>
                  <a:lnTo>
                    <a:pt x="1115555" y="12522"/>
                  </a:lnTo>
                  <a:lnTo>
                    <a:pt x="1113955" y="20497"/>
                  </a:lnTo>
                  <a:lnTo>
                    <a:pt x="1113955" y="1414259"/>
                  </a:lnTo>
                  <a:lnTo>
                    <a:pt x="1115555" y="1422234"/>
                  </a:lnTo>
                  <a:lnTo>
                    <a:pt x="1119949" y="1428750"/>
                  </a:lnTo>
                  <a:lnTo>
                    <a:pt x="1126451" y="1433144"/>
                  </a:lnTo>
                  <a:lnTo>
                    <a:pt x="1134427" y="1434757"/>
                  </a:lnTo>
                  <a:lnTo>
                    <a:pt x="3439426" y="1434757"/>
                  </a:lnTo>
                  <a:lnTo>
                    <a:pt x="3447389" y="1433144"/>
                  </a:lnTo>
                  <a:lnTo>
                    <a:pt x="3453904" y="1428750"/>
                  </a:lnTo>
                  <a:lnTo>
                    <a:pt x="3458286" y="1422234"/>
                  </a:lnTo>
                  <a:lnTo>
                    <a:pt x="3459899" y="1414259"/>
                  </a:lnTo>
                  <a:lnTo>
                    <a:pt x="3459899" y="1393761"/>
                  </a:lnTo>
                  <a:lnTo>
                    <a:pt x="3459899" y="40995"/>
                  </a:lnTo>
                  <a:lnTo>
                    <a:pt x="3459899" y="20497"/>
                  </a:lnTo>
                  <a:close/>
                </a:path>
              </a:pathLst>
            </a:custGeom>
            <a:solidFill>
              <a:srgbClr val="0099FF"/>
            </a:solidFill>
          </p:spPr>
          <p:txBody>
            <a:bodyPr wrap="square" lIns="0" tIns="0" rIns="0" bIns="0" rtlCol="0"/>
            <a:lstStyle/>
            <a:p>
              <a:endParaRPr sz="1588"/>
            </a:p>
          </p:txBody>
        </p:sp>
      </p:grpSp>
      <p:sp>
        <p:nvSpPr>
          <p:cNvPr id="156" name="object 156"/>
          <p:cNvSpPr txBox="1"/>
          <p:nvPr/>
        </p:nvSpPr>
        <p:spPr>
          <a:xfrm>
            <a:off x="6711141" y="660085"/>
            <a:ext cx="1866340" cy="702104"/>
          </a:xfrm>
          <a:prstGeom prst="rect">
            <a:avLst/>
          </a:prstGeom>
        </p:spPr>
        <p:txBody>
          <a:bodyPr vert="horz" wrap="square" lIns="0" tIns="10085" rIns="0" bIns="0" rtlCol="0">
            <a:spAutoFit/>
          </a:bodyPr>
          <a:lstStyle/>
          <a:p>
            <a:pPr marL="33619" marR="26896">
              <a:lnSpc>
                <a:spcPct val="100600"/>
              </a:lnSpc>
              <a:spcBef>
                <a:spcPts val="79"/>
              </a:spcBef>
            </a:pPr>
            <a:r>
              <a:rPr sz="1500" b="1" dirty="0">
                <a:solidFill>
                  <a:srgbClr val="660066"/>
                </a:solidFill>
                <a:latin typeface="Calibri"/>
                <a:cs typeface="Calibri"/>
              </a:rPr>
              <a:t>No</a:t>
            </a:r>
            <a:r>
              <a:rPr sz="1500" b="1" spc="4" dirty="0">
                <a:solidFill>
                  <a:srgbClr val="660066"/>
                </a:solidFill>
                <a:latin typeface="Calibri"/>
                <a:cs typeface="Calibri"/>
              </a:rPr>
              <a:t> </a:t>
            </a:r>
            <a:r>
              <a:rPr sz="1500" b="1" dirty="0">
                <a:solidFill>
                  <a:srgbClr val="660066"/>
                </a:solidFill>
                <a:latin typeface="Calibri"/>
                <a:cs typeface="Calibri"/>
              </a:rPr>
              <a:t>forwarding</a:t>
            </a:r>
            <a:r>
              <a:rPr sz="1500" b="1" spc="9" dirty="0">
                <a:solidFill>
                  <a:srgbClr val="660066"/>
                </a:solidFill>
                <a:latin typeface="Calibri"/>
                <a:cs typeface="Calibri"/>
              </a:rPr>
              <a:t> </a:t>
            </a:r>
            <a:r>
              <a:rPr sz="1500" b="1" spc="-9" dirty="0">
                <a:solidFill>
                  <a:srgbClr val="660066"/>
                </a:solidFill>
                <a:latin typeface="Calibri"/>
                <a:cs typeface="Calibri"/>
              </a:rPr>
              <a:t>needed </a:t>
            </a:r>
            <a:r>
              <a:rPr sz="1500" b="1" dirty="0">
                <a:solidFill>
                  <a:srgbClr val="660066"/>
                </a:solidFill>
                <a:latin typeface="Calibri"/>
                <a:cs typeface="Calibri"/>
              </a:rPr>
              <a:t>since write</a:t>
            </a:r>
            <a:r>
              <a:rPr sz="1500" b="1" spc="4" dirty="0">
                <a:solidFill>
                  <a:srgbClr val="660066"/>
                </a:solidFill>
                <a:latin typeface="Calibri"/>
                <a:cs typeface="Calibri"/>
              </a:rPr>
              <a:t> </a:t>
            </a:r>
            <a:r>
              <a:rPr sz="1500" b="1" dirty="0">
                <a:solidFill>
                  <a:srgbClr val="660066"/>
                </a:solidFill>
                <a:latin typeface="Calibri"/>
                <a:cs typeface="Calibri"/>
              </a:rPr>
              <a:t>reg. in</a:t>
            </a:r>
            <a:r>
              <a:rPr sz="1500" b="1" spc="13" dirty="0">
                <a:solidFill>
                  <a:srgbClr val="660066"/>
                </a:solidFill>
                <a:latin typeface="Calibri"/>
                <a:cs typeface="Calibri"/>
              </a:rPr>
              <a:t> </a:t>
            </a:r>
            <a:r>
              <a:rPr sz="1500" b="1" spc="-22" dirty="0">
                <a:solidFill>
                  <a:srgbClr val="660066"/>
                </a:solidFill>
                <a:latin typeface="Calibri"/>
                <a:cs typeface="Calibri"/>
              </a:rPr>
              <a:t>1</a:t>
            </a:r>
            <a:r>
              <a:rPr sz="1456" b="1" spc="-33" baseline="25252" dirty="0">
                <a:solidFill>
                  <a:srgbClr val="660066"/>
                </a:solidFill>
                <a:latin typeface="Calibri"/>
                <a:cs typeface="Calibri"/>
              </a:rPr>
              <a:t>st </a:t>
            </a:r>
            <a:r>
              <a:rPr sz="1500" b="1" dirty="0">
                <a:solidFill>
                  <a:srgbClr val="660066"/>
                </a:solidFill>
                <a:latin typeface="Calibri"/>
                <a:cs typeface="Calibri"/>
              </a:rPr>
              <a:t>half</a:t>
            </a:r>
            <a:r>
              <a:rPr sz="1500" b="1" spc="13" dirty="0">
                <a:solidFill>
                  <a:srgbClr val="660066"/>
                </a:solidFill>
                <a:latin typeface="Calibri"/>
                <a:cs typeface="Calibri"/>
              </a:rPr>
              <a:t> </a:t>
            </a:r>
            <a:r>
              <a:rPr sz="1500" b="1" dirty="0">
                <a:solidFill>
                  <a:srgbClr val="660066"/>
                </a:solidFill>
                <a:latin typeface="Calibri"/>
                <a:cs typeface="Calibri"/>
              </a:rPr>
              <a:t>cycle,</a:t>
            </a:r>
            <a:r>
              <a:rPr sz="1500" b="1" spc="13" dirty="0">
                <a:solidFill>
                  <a:srgbClr val="660066"/>
                </a:solidFill>
                <a:latin typeface="Calibri"/>
                <a:cs typeface="Calibri"/>
              </a:rPr>
              <a:t> </a:t>
            </a:r>
            <a:r>
              <a:rPr sz="1500" b="1" dirty="0">
                <a:solidFill>
                  <a:srgbClr val="660066"/>
                </a:solidFill>
                <a:latin typeface="Calibri"/>
                <a:cs typeface="Calibri"/>
              </a:rPr>
              <a:t>read</a:t>
            </a:r>
            <a:r>
              <a:rPr sz="1500" b="1" spc="22" dirty="0">
                <a:solidFill>
                  <a:srgbClr val="660066"/>
                </a:solidFill>
                <a:latin typeface="Calibri"/>
                <a:cs typeface="Calibri"/>
              </a:rPr>
              <a:t> </a:t>
            </a:r>
            <a:r>
              <a:rPr sz="1500" b="1" spc="-18" dirty="0">
                <a:solidFill>
                  <a:srgbClr val="660066"/>
                </a:solidFill>
                <a:latin typeface="Calibri"/>
                <a:cs typeface="Calibri"/>
              </a:rPr>
              <a:t>reg.</a:t>
            </a:r>
            <a:endParaRPr sz="1500">
              <a:latin typeface="Calibri"/>
              <a:cs typeface="Calibri"/>
            </a:endParaRPr>
          </a:p>
        </p:txBody>
      </p:sp>
      <p:sp>
        <p:nvSpPr>
          <p:cNvPr id="157" name="object 157"/>
          <p:cNvSpPr txBox="1"/>
          <p:nvPr/>
        </p:nvSpPr>
        <p:spPr>
          <a:xfrm>
            <a:off x="6711140" y="1356644"/>
            <a:ext cx="1339103" cy="242148"/>
          </a:xfrm>
          <a:prstGeom prst="rect">
            <a:avLst/>
          </a:prstGeom>
        </p:spPr>
        <p:txBody>
          <a:bodyPr vert="horz" wrap="square" lIns="0" tIns="11206" rIns="0" bIns="0" rtlCol="0">
            <a:spAutoFit/>
          </a:bodyPr>
          <a:lstStyle/>
          <a:p>
            <a:pPr marL="33619">
              <a:spcBef>
                <a:spcPts val="88"/>
              </a:spcBef>
            </a:pPr>
            <a:r>
              <a:rPr sz="1500" b="1" dirty="0">
                <a:solidFill>
                  <a:srgbClr val="660066"/>
                </a:solidFill>
                <a:latin typeface="Calibri"/>
                <a:cs typeface="Calibri"/>
              </a:rPr>
              <a:t>in</a:t>
            </a:r>
            <a:r>
              <a:rPr sz="1500" b="1" spc="22" dirty="0">
                <a:solidFill>
                  <a:srgbClr val="660066"/>
                </a:solidFill>
                <a:latin typeface="Calibri"/>
                <a:cs typeface="Calibri"/>
              </a:rPr>
              <a:t> </a:t>
            </a:r>
            <a:r>
              <a:rPr sz="1500" b="1" dirty="0">
                <a:solidFill>
                  <a:srgbClr val="660066"/>
                </a:solidFill>
                <a:latin typeface="Calibri"/>
                <a:cs typeface="Calibri"/>
              </a:rPr>
              <a:t>2</a:t>
            </a:r>
            <a:r>
              <a:rPr sz="1456" b="1" baseline="25252" dirty="0">
                <a:solidFill>
                  <a:srgbClr val="660066"/>
                </a:solidFill>
                <a:latin typeface="Calibri"/>
                <a:cs typeface="Calibri"/>
              </a:rPr>
              <a:t>nd</a:t>
            </a:r>
            <a:r>
              <a:rPr sz="1456" b="1" spc="238" baseline="25252" dirty="0">
                <a:solidFill>
                  <a:srgbClr val="660066"/>
                </a:solidFill>
                <a:latin typeface="Calibri"/>
                <a:cs typeface="Calibri"/>
              </a:rPr>
              <a:t> </a:t>
            </a:r>
            <a:r>
              <a:rPr sz="1500" b="1" dirty="0">
                <a:solidFill>
                  <a:srgbClr val="660066"/>
                </a:solidFill>
                <a:latin typeface="Calibri"/>
                <a:cs typeface="Calibri"/>
              </a:rPr>
              <a:t>half</a:t>
            </a:r>
            <a:r>
              <a:rPr sz="1500" b="1" spc="26" dirty="0">
                <a:solidFill>
                  <a:srgbClr val="660066"/>
                </a:solidFill>
                <a:latin typeface="Calibri"/>
                <a:cs typeface="Calibri"/>
              </a:rPr>
              <a:t> </a:t>
            </a:r>
            <a:r>
              <a:rPr sz="1500" b="1" spc="-9" dirty="0">
                <a:solidFill>
                  <a:srgbClr val="660066"/>
                </a:solidFill>
                <a:latin typeface="Calibri"/>
                <a:cs typeface="Calibri"/>
              </a:rPr>
              <a:t>cycle.</a:t>
            </a:r>
            <a:endParaRPr sz="1500">
              <a:latin typeface="Calibri"/>
              <a:cs typeface="Calibri"/>
            </a:endParaRPr>
          </a:p>
        </p:txBody>
      </p:sp>
      <p:grpSp>
        <p:nvGrpSpPr>
          <p:cNvPr id="158" name="object 158"/>
          <p:cNvGrpSpPr/>
          <p:nvPr/>
        </p:nvGrpSpPr>
        <p:grpSpPr>
          <a:xfrm>
            <a:off x="4680931" y="3194419"/>
            <a:ext cx="605678" cy="533400"/>
            <a:chOff x="5152655" y="3620342"/>
            <a:chExt cx="686435" cy="604520"/>
          </a:xfrm>
        </p:grpSpPr>
        <p:sp>
          <p:nvSpPr>
            <p:cNvPr id="159" name="object 159"/>
            <p:cNvSpPr/>
            <p:nvPr/>
          </p:nvSpPr>
          <p:spPr>
            <a:xfrm>
              <a:off x="5168213" y="3635899"/>
              <a:ext cx="655320" cy="573405"/>
            </a:xfrm>
            <a:custGeom>
              <a:avLst/>
              <a:gdLst/>
              <a:ahLst/>
              <a:cxnLst/>
              <a:rect l="l" t="t" r="r" b="b"/>
              <a:pathLst>
                <a:path w="655320" h="573404">
                  <a:moveTo>
                    <a:pt x="404069" y="0"/>
                  </a:moveTo>
                  <a:lnTo>
                    <a:pt x="378901" y="3940"/>
                  </a:lnTo>
                  <a:lnTo>
                    <a:pt x="356808" y="18848"/>
                  </a:lnTo>
                  <a:lnTo>
                    <a:pt x="340647" y="43587"/>
                  </a:lnTo>
                  <a:lnTo>
                    <a:pt x="335079" y="37046"/>
                  </a:lnTo>
                  <a:lnTo>
                    <a:pt x="328746" y="31504"/>
                  </a:lnTo>
                  <a:lnTo>
                    <a:pt x="321847" y="27130"/>
                  </a:lnTo>
                  <a:lnTo>
                    <a:pt x="291055" y="16202"/>
                  </a:lnTo>
                  <a:lnTo>
                    <a:pt x="260212" y="20078"/>
                  </a:lnTo>
                  <a:lnTo>
                    <a:pt x="232838" y="37473"/>
                  </a:lnTo>
                  <a:lnTo>
                    <a:pt x="212452" y="67101"/>
                  </a:lnTo>
                  <a:lnTo>
                    <a:pt x="197053" y="58313"/>
                  </a:lnTo>
                  <a:lnTo>
                    <a:pt x="180757" y="52723"/>
                  </a:lnTo>
                  <a:lnTo>
                    <a:pt x="163910" y="50413"/>
                  </a:lnTo>
                  <a:lnTo>
                    <a:pt x="146860" y="51466"/>
                  </a:lnTo>
                  <a:lnTo>
                    <a:pt x="108435" y="67378"/>
                  </a:lnTo>
                  <a:lnTo>
                    <a:pt x="79129" y="98534"/>
                  </a:lnTo>
                  <a:lnTo>
                    <a:pt x="61765" y="140513"/>
                  </a:lnTo>
                  <a:lnTo>
                    <a:pt x="59163" y="188894"/>
                  </a:lnTo>
                  <a:lnTo>
                    <a:pt x="58611" y="190680"/>
                  </a:lnTo>
                  <a:lnTo>
                    <a:pt x="17865" y="214495"/>
                  </a:lnTo>
                  <a:lnTo>
                    <a:pt x="0" y="258995"/>
                  </a:lnTo>
                  <a:lnTo>
                    <a:pt x="1601" y="289211"/>
                  </a:lnTo>
                  <a:lnTo>
                    <a:pt x="12542" y="316503"/>
                  </a:lnTo>
                  <a:lnTo>
                    <a:pt x="32062" y="337393"/>
                  </a:lnTo>
                  <a:lnTo>
                    <a:pt x="23412" y="351116"/>
                  </a:lnTo>
                  <a:lnTo>
                    <a:pt x="17522" y="366554"/>
                  </a:lnTo>
                  <a:lnTo>
                    <a:pt x="14553" y="383135"/>
                  </a:lnTo>
                  <a:lnTo>
                    <a:pt x="14662" y="400283"/>
                  </a:lnTo>
                  <a:lnTo>
                    <a:pt x="22825" y="429956"/>
                  </a:lnTo>
                  <a:lnTo>
                    <a:pt x="39353" y="452811"/>
                  </a:lnTo>
                  <a:lnTo>
                    <a:pt x="61884" y="466632"/>
                  </a:lnTo>
                  <a:lnTo>
                    <a:pt x="88059" y="469200"/>
                  </a:lnTo>
                  <a:lnTo>
                    <a:pt x="89298" y="471723"/>
                  </a:lnTo>
                  <a:lnTo>
                    <a:pt x="120670" y="512778"/>
                  </a:lnTo>
                  <a:lnTo>
                    <a:pt x="161358" y="535470"/>
                  </a:lnTo>
                  <a:lnTo>
                    <a:pt x="206191" y="538260"/>
                  </a:lnTo>
                  <a:lnTo>
                    <a:pt x="250001" y="519605"/>
                  </a:lnTo>
                  <a:lnTo>
                    <a:pt x="261035" y="536065"/>
                  </a:lnTo>
                  <a:lnTo>
                    <a:pt x="274168" y="549925"/>
                  </a:lnTo>
                  <a:lnTo>
                    <a:pt x="289084" y="560908"/>
                  </a:lnTo>
                  <a:lnTo>
                    <a:pt x="305471" y="568737"/>
                  </a:lnTo>
                  <a:lnTo>
                    <a:pt x="345960" y="573338"/>
                  </a:lnTo>
                  <a:lnTo>
                    <a:pt x="383481" y="559504"/>
                  </a:lnTo>
                  <a:lnTo>
                    <a:pt x="413924" y="529864"/>
                  </a:lnTo>
                  <a:lnTo>
                    <a:pt x="433181" y="487046"/>
                  </a:lnTo>
                  <a:lnTo>
                    <a:pt x="443849" y="493810"/>
                  </a:lnTo>
                  <a:lnTo>
                    <a:pt x="455143" y="498745"/>
                  </a:lnTo>
                  <a:lnTo>
                    <a:pt x="466898" y="501793"/>
                  </a:lnTo>
                  <a:lnTo>
                    <a:pt x="478949" y="502900"/>
                  </a:lnTo>
                  <a:lnTo>
                    <a:pt x="513161" y="495014"/>
                  </a:lnTo>
                  <a:lnTo>
                    <a:pt x="541205" y="472883"/>
                  </a:lnTo>
                  <a:lnTo>
                    <a:pt x="560234" y="439844"/>
                  </a:lnTo>
                  <a:lnTo>
                    <a:pt x="567404" y="399231"/>
                  </a:lnTo>
                  <a:lnTo>
                    <a:pt x="580322" y="396010"/>
                  </a:lnTo>
                  <a:lnTo>
                    <a:pt x="615459" y="375119"/>
                  </a:lnTo>
                  <a:lnTo>
                    <a:pt x="642265" y="338444"/>
                  </a:lnTo>
                  <a:lnTo>
                    <a:pt x="654757" y="293911"/>
                  </a:lnTo>
                  <a:lnTo>
                    <a:pt x="652326" y="247045"/>
                  </a:lnTo>
                  <a:lnTo>
                    <a:pt x="634364" y="203370"/>
                  </a:lnTo>
                  <a:lnTo>
                    <a:pt x="635843" y="199247"/>
                  </a:lnTo>
                  <a:lnTo>
                    <a:pt x="637082" y="195006"/>
                  </a:lnTo>
                  <a:lnTo>
                    <a:pt x="638068" y="190678"/>
                  </a:lnTo>
                  <a:lnTo>
                    <a:pt x="640207" y="152395"/>
                  </a:lnTo>
                  <a:lnTo>
                    <a:pt x="630235" y="117322"/>
                  </a:lnTo>
                  <a:lnTo>
                    <a:pt x="609978" y="89275"/>
                  </a:lnTo>
                  <a:lnTo>
                    <a:pt x="581265" y="72068"/>
                  </a:lnTo>
                  <a:lnTo>
                    <a:pt x="577935" y="57457"/>
                  </a:lnTo>
                  <a:lnTo>
                    <a:pt x="556395" y="20766"/>
                  </a:lnTo>
                  <a:lnTo>
                    <a:pt x="502699" y="284"/>
                  </a:lnTo>
                  <a:lnTo>
                    <a:pt x="475511" y="9387"/>
                  </a:lnTo>
                  <a:lnTo>
                    <a:pt x="452551" y="30950"/>
                  </a:lnTo>
                  <a:lnTo>
                    <a:pt x="447626" y="24098"/>
                  </a:lnTo>
                  <a:lnTo>
                    <a:pt x="442097" y="17980"/>
                  </a:lnTo>
                  <a:lnTo>
                    <a:pt x="436022" y="12651"/>
                  </a:lnTo>
                  <a:lnTo>
                    <a:pt x="429456" y="8168"/>
                  </a:lnTo>
                  <a:lnTo>
                    <a:pt x="404069" y="0"/>
                  </a:lnTo>
                  <a:close/>
                </a:path>
              </a:pathLst>
            </a:custGeom>
            <a:solidFill>
              <a:srgbClr val="0FEFEA"/>
            </a:solidFill>
          </p:spPr>
          <p:txBody>
            <a:bodyPr wrap="square" lIns="0" tIns="0" rIns="0" bIns="0" rtlCol="0"/>
            <a:lstStyle/>
            <a:p>
              <a:endParaRPr sz="1588"/>
            </a:p>
          </p:txBody>
        </p:sp>
        <p:pic>
          <p:nvPicPr>
            <p:cNvPr id="160" name="object 160"/>
            <p:cNvPicPr/>
            <p:nvPr/>
          </p:nvPicPr>
          <p:blipFill>
            <a:blip r:embed="rId3" cstate="print"/>
            <a:stretch>
              <a:fillRect/>
            </a:stretch>
          </p:blipFill>
          <p:spPr>
            <a:xfrm>
              <a:off x="5689441" y="4076067"/>
              <a:ext cx="97844" cy="95650"/>
            </a:xfrm>
            <a:prstGeom prst="rect">
              <a:avLst/>
            </a:prstGeom>
          </p:spPr>
        </p:pic>
        <p:sp>
          <p:nvSpPr>
            <p:cNvPr id="161" name="object 161"/>
            <p:cNvSpPr/>
            <p:nvPr/>
          </p:nvSpPr>
          <p:spPr>
            <a:xfrm>
              <a:off x="5168213" y="3635899"/>
              <a:ext cx="655320" cy="573405"/>
            </a:xfrm>
            <a:custGeom>
              <a:avLst/>
              <a:gdLst/>
              <a:ahLst/>
              <a:cxnLst/>
              <a:rect l="l" t="t" r="r" b="b"/>
              <a:pathLst>
                <a:path w="655320" h="573404">
                  <a:moveTo>
                    <a:pt x="59163" y="188894"/>
                  </a:moveTo>
                  <a:lnTo>
                    <a:pt x="61765" y="140513"/>
                  </a:lnTo>
                  <a:lnTo>
                    <a:pt x="79129" y="98534"/>
                  </a:lnTo>
                  <a:lnTo>
                    <a:pt x="108435" y="67378"/>
                  </a:lnTo>
                  <a:lnTo>
                    <a:pt x="146860" y="51466"/>
                  </a:lnTo>
                  <a:lnTo>
                    <a:pt x="163910" y="50413"/>
                  </a:lnTo>
                  <a:lnTo>
                    <a:pt x="180757" y="52723"/>
                  </a:lnTo>
                  <a:lnTo>
                    <a:pt x="197053" y="58313"/>
                  </a:lnTo>
                  <a:lnTo>
                    <a:pt x="212452" y="67100"/>
                  </a:lnTo>
                  <a:lnTo>
                    <a:pt x="232838" y="37473"/>
                  </a:lnTo>
                  <a:lnTo>
                    <a:pt x="260212" y="20078"/>
                  </a:lnTo>
                  <a:lnTo>
                    <a:pt x="291055" y="16202"/>
                  </a:lnTo>
                  <a:lnTo>
                    <a:pt x="321847" y="27130"/>
                  </a:lnTo>
                  <a:lnTo>
                    <a:pt x="328747" y="31503"/>
                  </a:lnTo>
                  <a:lnTo>
                    <a:pt x="335079" y="37047"/>
                  </a:lnTo>
                  <a:lnTo>
                    <a:pt x="340647" y="43587"/>
                  </a:lnTo>
                  <a:lnTo>
                    <a:pt x="356808" y="18848"/>
                  </a:lnTo>
                  <a:lnTo>
                    <a:pt x="378901" y="3939"/>
                  </a:lnTo>
                  <a:lnTo>
                    <a:pt x="404069" y="0"/>
                  </a:lnTo>
                  <a:lnTo>
                    <a:pt x="429455" y="8168"/>
                  </a:lnTo>
                  <a:lnTo>
                    <a:pt x="436022" y="12651"/>
                  </a:lnTo>
                  <a:lnTo>
                    <a:pt x="442098" y="17980"/>
                  </a:lnTo>
                  <a:lnTo>
                    <a:pt x="447627" y="24098"/>
                  </a:lnTo>
                  <a:lnTo>
                    <a:pt x="452551" y="30950"/>
                  </a:lnTo>
                  <a:lnTo>
                    <a:pt x="475511" y="9387"/>
                  </a:lnTo>
                  <a:lnTo>
                    <a:pt x="502699" y="284"/>
                  </a:lnTo>
                  <a:lnTo>
                    <a:pt x="530774" y="3968"/>
                  </a:lnTo>
                  <a:lnTo>
                    <a:pt x="556395" y="20766"/>
                  </a:lnTo>
                  <a:lnTo>
                    <a:pt x="565358" y="31515"/>
                  </a:lnTo>
                  <a:lnTo>
                    <a:pt x="572586" y="43843"/>
                  </a:lnTo>
                  <a:lnTo>
                    <a:pt x="577935" y="57458"/>
                  </a:lnTo>
                  <a:lnTo>
                    <a:pt x="581266" y="72068"/>
                  </a:lnTo>
                  <a:lnTo>
                    <a:pt x="609979" y="89275"/>
                  </a:lnTo>
                  <a:lnTo>
                    <a:pt x="630235" y="117323"/>
                  </a:lnTo>
                  <a:lnTo>
                    <a:pt x="640207" y="152395"/>
                  </a:lnTo>
                  <a:lnTo>
                    <a:pt x="638069" y="190678"/>
                  </a:lnTo>
                  <a:lnTo>
                    <a:pt x="637082" y="195006"/>
                  </a:lnTo>
                  <a:lnTo>
                    <a:pt x="635844" y="199247"/>
                  </a:lnTo>
                  <a:lnTo>
                    <a:pt x="634363" y="203370"/>
                  </a:lnTo>
                  <a:lnTo>
                    <a:pt x="652326" y="247045"/>
                  </a:lnTo>
                  <a:lnTo>
                    <a:pt x="654757" y="293911"/>
                  </a:lnTo>
                  <a:lnTo>
                    <a:pt x="642265" y="338444"/>
                  </a:lnTo>
                  <a:lnTo>
                    <a:pt x="615459" y="375119"/>
                  </a:lnTo>
                  <a:lnTo>
                    <a:pt x="580322" y="396010"/>
                  </a:lnTo>
                  <a:lnTo>
                    <a:pt x="567405" y="399231"/>
                  </a:lnTo>
                  <a:lnTo>
                    <a:pt x="560235" y="439844"/>
                  </a:lnTo>
                  <a:lnTo>
                    <a:pt x="541205" y="472883"/>
                  </a:lnTo>
                  <a:lnTo>
                    <a:pt x="513161" y="495014"/>
                  </a:lnTo>
                  <a:lnTo>
                    <a:pt x="478948" y="502900"/>
                  </a:lnTo>
                  <a:lnTo>
                    <a:pt x="466898" y="501794"/>
                  </a:lnTo>
                  <a:lnTo>
                    <a:pt x="455143" y="498745"/>
                  </a:lnTo>
                  <a:lnTo>
                    <a:pt x="443850" y="493810"/>
                  </a:lnTo>
                  <a:lnTo>
                    <a:pt x="433181" y="487046"/>
                  </a:lnTo>
                  <a:lnTo>
                    <a:pt x="413924" y="529864"/>
                  </a:lnTo>
                  <a:lnTo>
                    <a:pt x="383481" y="559504"/>
                  </a:lnTo>
                  <a:lnTo>
                    <a:pt x="345960" y="573338"/>
                  </a:lnTo>
                  <a:lnTo>
                    <a:pt x="305470" y="568737"/>
                  </a:lnTo>
                  <a:lnTo>
                    <a:pt x="289084" y="560908"/>
                  </a:lnTo>
                  <a:lnTo>
                    <a:pt x="274168" y="549925"/>
                  </a:lnTo>
                  <a:lnTo>
                    <a:pt x="261036" y="536065"/>
                  </a:lnTo>
                  <a:lnTo>
                    <a:pt x="250001" y="519605"/>
                  </a:lnTo>
                  <a:lnTo>
                    <a:pt x="206192" y="538260"/>
                  </a:lnTo>
                  <a:lnTo>
                    <a:pt x="161358" y="535470"/>
                  </a:lnTo>
                  <a:lnTo>
                    <a:pt x="120670" y="512778"/>
                  </a:lnTo>
                  <a:lnTo>
                    <a:pt x="89297" y="471723"/>
                  </a:lnTo>
                  <a:lnTo>
                    <a:pt x="88059" y="469201"/>
                  </a:lnTo>
                  <a:lnTo>
                    <a:pt x="61885" y="466632"/>
                  </a:lnTo>
                  <a:lnTo>
                    <a:pt x="39353" y="452811"/>
                  </a:lnTo>
                  <a:lnTo>
                    <a:pt x="22825" y="429956"/>
                  </a:lnTo>
                  <a:lnTo>
                    <a:pt x="14662" y="400283"/>
                  </a:lnTo>
                  <a:lnTo>
                    <a:pt x="14552" y="383135"/>
                  </a:lnTo>
                  <a:lnTo>
                    <a:pt x="17522" y="366555"/>
                  </a:lnTo>
                  <a:lnTo>
                    <a:pt x="23412" y="351116"/>
                  </a:lnTo>
                  <a:lnTo>
                    <a:pt x="32063" y="337393"/>
                  </a:lnTo>
                  <a:lnTo>
                    <a:pt x="12542" y="316502"/>
                  </a:lnTo>
                  <a:lnTo>
                    <a:pt x="1601" y="289211"/>
                  </a:lnTo>
                  <a:lnTo>
                    <a:pt x="0" y="258995"/>
                  </a:lnTo>
                  <a:lnTo>
                    <a:pt x="8495" y="229331"/>
                  </a:lnTo>
                  <a:lnTo>
                    <a:pt x="17865" y="214494"/>
                  </a:lnTo>
                  <a:lnTo>
                    <a:pt x="29699" y="202831"/>
                  </a:lnTo>
                  <a:lnTo>
                    <a:pt x="43459" y="194755"/>
                  </a:lnTo>
                  <a:lnTo>
                    <a:pt x="58611" y="190681"/>
                  </a:lnTo>
                  <a:lnTo>
                    <a:pt x="59163" y="188894"/>
                  </a:lnTo>
                  <a:close/>
                </a:path>
                <a:path w="655320" h="573404">
                  <a:moveTo>
                    <a:pt x="575284" y="478048"/>
                  </a:moveTo>
                  <a:lnTo>
                    <a:pt x="575284" y="486852"/>
                  </a:lnTo>
                  <a:lnTo>
                    <a:pt x="568153" y="493989"/>
                  </a:lnTo>
                  <a:lnTo>
                    <a:pt x="559356" y="493989"/>
                  </a:lnTo>
                  <a:lnTo>
                    <a:pt x="550560" y="493989"/>
                  </a:lnTo>
                  <a:lnTo>
                    <a:pt x="543428" y="486852"/>
                  </a:lnTo>
                  <a:lnTo>
                    <a:pt x="543428" y="478048"/>
                  </a:lnTo>
                  <a:lnTo>
                    <a:pt x="543428" y="469243"/>
                  </a:lnTo>
                  <a:lnTo>
                    <a:pt x="550560" y="462106"/>
                  </a:lnTo>
                  <a:lnTo>
                    <a:pt x="559356" y="462106"/>
                  </a:lnTo>
                  <a:lnTo>
                    <a:pt x="568153" y="462106"/>
                  </a:lnTo>
                  <a:lnTo>
                    <a:pt x="575284" y="469243"/>
                  </a:lnTo>
                  <a:lnTo>
                    <a:pt x="575284" y="478048"/>
                  </a:lnTo>
                  <a:close/>
                </a:path>
                <a:path w="655320" h="573404">
                  <a:moveTo>
                    <a:pt x="584939" y="472819"/>
                  </a:moveTo>
                  <a:lnTo>
                    <a:pt x="582435" y="485229"/>
                  </a:lnTo>
                  <a:lnTo>
                    <a:pt x="575608" y="495364"/>
                  </a:lnTo>
                  <a:lnTo>
                    <a:pt x="565482" y="502196"/>
                  </a:lnTo>
                  <a:lnTo>
                    <a:pt x="553083" y="504702"/>
                  </a:lnTo>
                  <a:lnTo>
                    <a:pt x="540683" y="502196"/>
                  </a:lnTo>
                  <a:lnTo>
                    <a:pt x="530557" y="495364"/>
                  </a:lnTo>
                  <a:lnTo>
                    <a:pt x="523730" y="485229"/>
                  </a:lnTo>
                  <a:lnTo>
                    <a:pt x="521227" y="472819"/>
                  </a:lnTo>
                  <a:lnTo>
                    <a:pt x="523730" y="460408"/>
                  </a:lnTo>
                  <a:lnTo>
                    <a:pt x="530557" y="450274"/>
                  </a:lnTo>
                  <a:lnTo>
                    <a:pt x="540683" y="443441"/>
                  </a:lnTo>
                  <a:lnTo>
                    <a:pt x="553083" y="440935"/>
                  </a:lnTo>
                  <a:lnTo>
                    <a:pt x="565482" y="443441"/>
                  </a:lnTo>
                  <a:lnTo>
                    <a:pt x="575608" y="450274"/>
                  </a:lnTo>
                  <a:lnTo>
                    <a:pt x="582435" y="460408"/>
                  </a:lnTo>
                  <a:lnTo>
                    <a:pt x="584939" y="472819"/>
                  </a:lnTo>
                  <a:close/>
                </a:path>
                <a:path w="655320" h="573404">
                  <a:moveTo>
                    <a:pt x="619072" y="487992"/>
                  </a:moveTo>
                  <a:lnTo>
                    <a:pt x="615317" y="506608"/>
                  </a:lnTo>
                  <a:lnTo>
                    <a:pt x="605076" y="521809"/>
                  </a:lnTo>
                  <a:lnTo>
                    <a:pt x="589888" y="532059"/>
                  </a:lnTo>
                  <a:lnTo>
                    <a:pt x="571288" y="535817"/>
                  </a:lnTo>
                  <a:lnTo>
                    <a:pt x="552689" y="532059"/>
                  </a:lnTo>
                  <a:lnTo>
                    <a:pt x="537500" y="521809"/>
                  </a:lnTo>
                  <a:lnTo>
                    <a:pt x="527260" y="506608"/>
                  </a:lnTo>
                  <a:lnTo>
                    <a:pt x="523504" y="487992"/>
                  </a:lnTo>
                  <a:lnTo>
                    <a:pt x="527260" y="469377"/>
                  </a:lnTo>
                  <a:lnTo>
                    <a:pt x="537500" y="454175"/>
                  </a:lnTo>
                  <a:lnTo>
                    <a:pt x="552689" y="443925"/>
                  </a:lnTo>
                  <a:lnTo>
                    <a:pt x="571288" y="440167"/>
                  </a:lnTo>
                  <a:lnTo>
                    <a:pt x="589888" y="443925"/>
                  </a:lnTo>
                  <a:lnTo>
                    <a:pt x="605076" y="454175"/>
                  </a:lnTo>
                  <a:lnTo>
                    <a:pt x="615317" y="469377"/>
                  </a:lnTo>
                  <a:lnTo>
                    <a:pt x="619072" y="487992"/>
                  </a:lnTo>
                  <a:close/>
                </a:path>
                <a:path w="655320" h="573404">
                  <a:moveTo>
                    <a:pt x="71192" y="345746"/>
                  </a:moveTo>
                  <a:lnTo>
                    <a:pt x="61163" y="345765"/>
                  </a:lnTo>
                  <a:lnTo>
                    <a:pt x="51303" y="343976"/>
                  </a:lnTo>
                  <a:lnTo>
                    <a:pt x="41781" y="340425"/>
                  </a:lnTo>
                  <a:lnTo>
                    <a:pt x="32766" y="335158"/>
                  </a:lnTo>
                </a:path>
                <a:path w="655320" h="573404">
                  <a:moveTo>
                    <a:pt x="105096" y="461615"/>
                  </a:moveTo>
                  <a:lnTo>
                    <a:pt x="99703" y="464174"/>
                  </a:lnTo>
                  <a:lnTo>
                    <a:pt x="94050" y="465878"/>
                  </a:lnTo>
                  <a:lnTo>
                    <a:pt x="88283" y="466683"/>
                  </a:lnTo>
                </a:path>
                <a:path w="655320" h="573404">
                  <a:moveTo>
                    <a:pt x="249964" y="517291"/>
                  </a:moveTo>
                  <a:lnTo>
                    <a:pt x="245908" y="510040"/>
                  </a:lnTo>
                  <a:lnTo>
                    <a:pt x="242512" y="502290"/>
                  </a:lnTo>
                  <a:lnTo>
                    <a:pt x="239834" y="494176"/>
                  </a:lnTo>
                </a:path>
                <a:path w="655320" h="573404">
                  <a:moveTo>
                    <a:pt x="437291" y="459649"/>
                  </a:moveTo>
                  <a:lnTo>
                    <a:pt x="436702" y="466079"/>
                  </a:lnTo>
                  <a:lnTo>
                    <a:pt x="435830" y="472459"/>
                  </a:lnTo>
                  <a:lnTo>
                    <a:pt x="434677" y="478775"/>
                  </a:lnTo>
                  <a:lnTo>
                    <a:pt x="433246" y="485013"/>
                  </a:lnTo>
                </a:path>
                <a:path w="655320" h="573404">
                  <a:moveTo>
                    <a:pt x="517720" y="302930"/>
                  </a:moveTo>
                  <a:lnTo>
                    <a:pt x="538292" y="319519"/>
                  </a:lnTo>
                  <a:lnTo>
                    <a:pt x="553885" y="341837"/>
                  </a:lnTo>
                  <a:lnTo>
                    <a:pt x="563726" y="368401"/>
                  </a:lnTo>
                  <a:lnTo>
                    <a:pt x="567042" y="397724"/>
                  </a:lnTo>
                </a:path>
                <a:path w="655320" h="573404">
                  <a:moveTo>
                    <a:pt x="634054" y="201966"/>
                  </a:moveTo>
                  <a:lnTo>
                    <a:pt x="629884" y="211947"/>
                  </a:lnTo>
                  <a:lnTo>
                    <a:pt x="624797" y="221258"/>
                  </a:lnTo>
                  <a:lnTo>
                    <a:pt x="618848" y="229809"/>
                  </a:lnTo>
                  <a:lnTo>
                    <a:pt x="612092" y="237512"/>
                  </a:lnTo>
                </a:path>
                <a:path w="655320" h="573404">
                  <a:moveTo>
                    <a:pt x="581355" y="70075"/>
                  </a:moveTo>
                  <a:lnTo>
                    <a:pt x="582194" y="75614"/>
                  </a:lnTo>
                  <a:lnTo>
                    <a:pt x="582583" y="81236"/>
                  </a:lnTo>
                  <a:lnTo>
                    <a:pt x="582515" y="86863"/>
                  </a:lnTo>
                </a:path>
                <a:path w="655320" h="573404">
                  <a:moveTo>
                    <a:pt x="441099" y="50494"/>
                  </a:moveTo>
                  <a:lnTo>
                    <a:pt x="443960" y="42749"/>
                  </a:lnTo>
                  <a:lnTo>
                    <a:pt x="447750" y="35538"/>
                  </a:lnTo>
                  <a:lnTo>
                    <a:pt x="452350" y="29085"/>
                  </a:lnTo>
                </a:path>
                <a:path w="655320" h="573404">
                  <a:moveTo>
                    <a:pt x="335868" y="60696"/>
                  </a:moveTo>
                  <a:lnTo>
                    <a:pt x="337036" y="54296"/>
                  </a:lnTo>
                  <a:lnTo>
                    <a:pt x="338866" y="48094"/>
                  </a:lnTo>
                  <a:lnTo>
                    <a:pt x="341318" y="42233"/>
                  </a:lnTo>
                </a:path>
                <a:path w="655320" h="573404">
                  <a:moveTo>
                    <a:pt x="212374" y="66967"/>
                  </a:moveTo>
                  <a:lnTo>
                    <a:pt x="217639" y="70904"/>
                  </a:lnTo>
                  <a:lnTo>
                    <a:pt x="222689" y="75210"/>
                  </a:lnTo>
                  <a:lnTo>
                    <a:pt x="227512" y="79872"/>
                  </a:lnTo>
                  <a:lnTo>
                    <a:pt x="232092" y="84880"/>
                  </a:lnTo>
                </a:path>
                <a:path w="655320" h="573404">
                  <a:moveTo>
                    <a:pt x="62606" y="207745"/>
                  </a:moveTo>
                  <a:lnTo>
                    <a:pt x="61044" y="201580"/>
                  </a:lnTo>
                  <a:lnTo>
                    <a:pt x="59893" y="195279"/>
                  </a:lnTo>
                  <a:lnTo>
                    <a:pt x="59165" y="188898"/>
                  </a:lnTo>
                </a:path>
              </a:pathLst>
            </a:custGeom>
            <a:ln w="30731">
              <a:solidFill>
                <a:srgbClr val="000000"/>
              </a:solidFill>
            </a:ln>
          </p:spPr>
          <p:txBody>
            <a:bodyPr wrap="square" lIns="0" tIns="0" rIns="0" bIns="0" rtlCol="0"/>
            <a:lstStyle/>
            <a:p>
              <a:endParaRPr sz="1588"/>
            </a:p>
          </p:txBody>
        </p:sp>
      </p:grpSp>
      <p:sp>
        <p:nvSpPr>
          <p:cNvPr id="162" name="object 162"/>
          <p:cNvSpPr txBox="1"/>
          <p:nvPr/>
        </p:nvSpPr>
        <p:spPr>
          <a:xfrm>
            <a:off x="4694516" y="3328899"/>
            <a:ext cx="536762" cy="215089"/>
          </a:xfrm>
          <a:prstGeom prst="rect">
            <a:avLst/>
          </a:prstGeom>
        </p:spPr>
        <p:txBody>
          <a:bodyPr vert="horz" wrap="square" lIns="0" tIns="11206" rIns="0" bIns="0" rtlCol="0">
            <a:spAutoFit/>
          </a:bodyPr>
          <a:lstStyle/>
          <a:p>
            <a:pPr marL="11206">
              <a:spcBef>
                <a:spcPts val="88"/>
              </a:spcBef>
            </a:pPr>
            <a:r>
              <a:rPr sz="1324" b="1" spc="-9" dirty="0">
                <a:latin typeface="Times New Roman"/>
                <a:cs typeface="Times New Roman"/>
              </a:rPr>
              <a:t>Bubble</a:t>
            </a:r>
            <a:endParaRPr sz="1324">
              <a:latin typeface="Times New Roman"/>
              <a:cs typeface="Times New Roman"/>
            </a:endParaRPr>
          </a:p>
        </p:txBody>
      </p:sp>
      <p:grpSp>
        <p:nvGrpSpPr>
          <p:cNvPr id="163" name="object 163"/>
          <p:cNvGrpSpPr/>
          <p:nvPr/>
        </p:nvGrpSpPr>
        <p:grpSpPr>
          <a:xfrm>
            <a:off x="4689661" y="3917822"/>
            <a:ext cx="605678" cy="533400"/>
            <a:chOff x="5162549" y="4440198"/>
            <a:chExt cx="686435" cy="604520"/>
          </a:xfrm>
        </p:grpSpPr>
        <p:sp>
          <p:nvSpPr>
            <p:cNvPr id="164" name="object 164"/>
            <p:cNvSpPr/>
            <p:nvPr/>
          </p:nvSpPr>
          <p:spPr>
            <a:xfrm>
              <a:off x="5178106" y="4455755"/>
              <a:ext cx="655320" cy="573405"/>
            </a:xfrm>
            <a:custGeom>
              <a:avLst/>
              <a:gdLst/>
              <a:ahLst/>
              <a:cxnLst/>
              <a:rect l="l" t="t" r="r" b="b"/>
              <a:pathLst>
                <a:path w="655320" h="573404">
                  <a:moveTo>
                    <a:pt x="404070" y="0"/>
                  </a:moveTo>
                  <a:lnTo>
                    <a:pt x="378902" y="3939"/>
                  </a:lnTo>
                  <a:lnTo>
                    <a:pt x="356809" y="18848"/>
                  </a:lnTo>
                  <a:lnTo>
                    <a:pt x="340648" y="43587"/>
                  </a:lnTo>
                  <a:lnTo>
                    <a:pt x="335079" y="37047"/>
                  </a:lnTo>
                  <a:lnTo>
                    <a:pt x="328747" y="31503"/>
                  </a:lnTo>
                  <a:lnTo>
                    <a:pt x="321847" y="27131"/>
                  </a:lnTo>
                  <a:lnTo>
                    <a:pt x="291055" y="16202"/>
                  </a:lnTo>
                  <a:lnTo>
                    <a:pt x="260212" y="20078"/>
                  </a:lnTo>
                  <a:lnTo>
                    <a:pt x="232838" y="37473"/>
                  </a:lnTo>
                  <a:lnTo>
                    <a:pt x="212451" y="67100"/>
                  </a:lnTo>
                  <a:lnTo>
                    <a:pt x="197053" y="58313"/>
                  </a:lnTo>
                  <a:lnTo>
                    <a:pt x="180757" y="52723"/>
                  </a:lnTo>
                  <a:lnTo>
                    <a:pt x="163911" y="50413"/>
                  </a:lnTo>
                  <a:lnTo>
                    <a:pt x="146860" y="51466"/>
                  </a:lnTo>
                  <a:lnTo>
                    <a:pt x="108435" y="67378"/>
                  </a:lnTo>
                  <a:lnTo>
                    <a:pt x="79130" y="98534"/>
                  </a:lnTo>
                  <a:lnTo>
                    <a:pt x="61765" y="140513"/>
                  </a:lnTo>
                  <a:lnTo>
                    <a:pt x="59162" y="188894"/>
                  </a:lnTo>
                  <a:lnTo>
                    <a:pt x="58611" y="190681"/>
                  </a:lnTo>
                  <a:lnTo>
                    <a:pt x="17865" y="214494"/>
                  </a:lnTo>
                  <a:lnTo>
                    <a:pt x="0" y="258995"/>
                  </a:lnTo>
                  <a:lnTo>
                    <a:pt x="1601" y="289211"/>
                  </a:lnTo>
                  <a:lnTo>
                    <a:pt x="12542" y="316503"/>
                  </a:lnTo>
                  <a:lnTo>
                    <a:pt x="32063" y="337394"/>
                  </a:lnTo>
                  <a:lnTo>
                    <a:pt x="23412" y="351116"/>
                  </a:lnTo>
                  <a:lnTo>
                    <a:pt x="17522" y="366555"/>
                  </a:lnTo>
                  <a:lnTo>
                    <a:pt x="14552" y="383136"/>
                  </a:lnTo>
                  <a:lnTo>
                    <a:pt x="14662" y="400283"/>
                  </a:lnTo>
                  <a:lnTo>
                    <a:pt x="22825" y="429957"/>
                  </a:lnTo>
                  <a:lnTo>
                    <a:pt x="39353" y="452812"/>
                  </a:lnTo>
                  <a:lnTo>
                    <a:pt x="61885" y="466633"/>
                  </a:lnTo>
                  <a:lnTo>
                    <a:pt x="88060" y="469201"/>
                  </a:lnTo>
                  <a:lnTo>
                    <a:pt x="89297" y="471723"/>
                  </a:lnTo>
                  <a:lnTo>
                    <a:pt x="120670" y="512779"/>
                  </a:lnTo>
                  <a:lnTo>
                    <a:pt x="161358" y="535471"/>
                  </a:lnTo>
                  <a:lnTo>
                    <a:pt x="206192" y="538260"/>
                  </a:lnTo>
                  <a:lnTo>
                    <a:pt x="250002" y="519606"/>
                  </a:lnTo>
                  <a:lnTo>
                    <a:pt x="261036" y="536066"/>
                  </a:lnTo>
                  <a:lnTo>
                    <a:pt x="274168" y="549926"/>
                  </a:lnTo>
                  <a:lnTo>
                    <a:pt x="289084" y="560909"/>
                  </a:lnTo>
                  <a:lnTo>
                    <a:pt x="305470" y="568737"/>
                  </a:lnTo>
                  <a:lnTo>
                    <a:pt x="345960" y="573338"/>
                  </a:lnTo>
                  <a:lnTo>
                    <a:pt x="383481" y="559505"/>
                  </a:lnTo>
                  <a:lnTo>
                    <a:pt x="413924" y="529864"/>
                  </a:lnTo>
                  <a:lnTo>
                    <a:pt x="433181" y="487046"/>
                  </a:lnTo>
                  <a:lnTo>
                    <a:pt x="443850" y="493810"/>
                  </a:lnTo>
                  <a:lnTo>
                    <a:pt x="455144" y="498745"/>
                  </a:lnTo>
                  <a:lnTo>
                    <a:pt x="466898" y="501794"/>
                  </a:lnTo>
                  <a:lnTo>
                    <a:pt x="478948" y="502901"/>
                  </a:lnTo>
                  <a:lnTo>
                    <a:pt x="513161" y="495014"/>
                  </a:lnTo>
                  <a:lnTo>
                    <a:pt x="541205" y="472884"/>
                  </a:lnTo>
                  <a:lnTo>
                    <a:pt x="560235" y="439845"/>
                  </a:lnTo>
                  <a:lnTo>
                    <a:pt x="567405" y="399232"/>
                  </a:lnTo>
                  <a:lnTo>
                    <a:pt x="580322" y="396010"/>
                  </a:lnTo>
                  <a:lnTo>
                    <a:pt x="615459" y="375119"/>
                  </a:lnTo>
                  <a:lnTo>
                    <a:pt x="642266" y="338444"/>
                  </a:lnTo>
                  <a:lnTo>
                    <a:pt x="654757" y="293911"/>
                  </a:lnTo>
                  <a:lnTo>
                    <a:pt x="652326" y="247045"/>
                  </a:lnTo>
                  <a:lnTo>
                    <a:pt x="634363" y="203371"/>
                  </a:lnTo>
                  <a:lnTo>
                    <a:pt x="635844" y="199247"/>
                  </a:lnTo>
                  <a:lnTo>
                    <a:pt x="637082" y="195007"/>
                  </a:lnTo>
                  <a:lnTo>
                    <a:pt x="638069" y="190677"/>
                  </a:lnTo>
                  <a:lnTo>
                    <a:pt x="640208" y="152396"/>
                  </a:lnTo>
                  <a:lnTo>
                    <a:pt x="630236" y="117323"/>
                  </a:lnTo>
                  <a:lnTo>
                    <a:pt x="609979" y="89275"/>
                  </a:lnTo>
                  <a:lnTo>
                    <a:pt x="581266" y="72068"/>
                  </a:lnTo>
                  <a:lnTo>
                    <a:pt x="577935" y="57458"/>
                  </a:lnTo>
                  <a:lnTo>
                    <a:pt x="556395" y="20767"/>
                  </a:lnTo>
                  <a:lnTo>
                    <a:pt x="502699" y="285"/>
                  </a:lnTo>
                  <a:lnTo>
                    <a:pt x="475511" y="9388"/>
                  </a:lnTo>
                  <a:lnTo>
                    <a:pt x="452551" y="30951"/>
                  </a:lnTo>
                  <a:lnTo>
                    <a:pt x="447627" y="24099"/>
                  </a:lnTo>
                  <a:lnTo>
                    <a:pt x="442098" y="17980"/>
                  </a:lnTo>
                  <a:lnTo>
                    <a:pt x="436022" y="12651"/>
                  </a:lnTo>
                  <a:lnTo>
                    <a:pt x="429456" y="8168"/>
                  </a:lnTo>
                  <a:lnTo>
                    <a:pt x="404070" y="0"/>
                  </a:lnTo>
                  <a:close/>
                </a:path>
              </a:pathLst>
            </a:custGeom>
            <a:solidFill>
              <a:srgbClr val="0FEFEA"/>
            </a:solidFill>
          </p:spPr>
          <p:txBody>
            <a:bodyPr wrap="square" lIns="0" tIns="0" rIns="0" bIns="0" rtlCol="0"/>
            <a:lstStyle/>
            <a:p>
              <a:endParaRPr sz="1588"/>
            </a:p>
          </p:txBody>
        </p:sp>
        <p:pic>
          <p:nvPicPr>
            <p:cNvPr id="165" name="object 165"/>
            <p:cNvPicPr/>
            <p:nvPr/>
          </p:nvPicPr>
          <p:blipFill>
            <a:blip r:embed="rId3" cstate="print"/>
            <a:stretch>
              <a:fillRect/>
            </a:stretch>
          </p:blipFill>
          <p:spPr>
            <a:xfrm>
              <a:off x="5699334" y="4895923"/>
              <a:ext cx="97844" cy="95650"/>
            </a:xfrm>
            <a:prstGeom prst="rect">
              <a:avLst/>
            </a:prstGeom>
          </p:spPr>
        </p:pic>
        <p:sp>
          <p:nvSpPr>
            <p:cNvPr id="166" name="object 166"/>
            <p:cNvSpPr/>
            <p:nvPr/>
          </p:nvSpPr>
          <p:spPr>
            <a:xfrm>
              <a:off x="5178106" y="4455755"/>
              <a:ext cx="655320" cy="573405"/>
            </a:xfrm>
            <a:custGeom>
              <a:avLst/>
              <a:gdLst/>
              <a:ahLst/>
              <a:cxnLst/>
              <a:rect l="l" t="t" r="r" b="b"/>
              <a:pathLst>
                <a:path w="655320" h="573404">
                  <a:moveTo>
                    <a:pt x="59163" y="188894"/>
                  </a:moveTo>
                  <a:lnTo>
                    <a:pt x="61765" y="140513"/>
                  </a:lnTo>
                  <a:lnTo>
                    <a:pt x="79129" y="98534"/>
                  </a:lnTo>
                  <a:lnTo>
                    <a:pt x="108435" y="67378"/>
                  </a:lnTo>
                  <a:lnTo>
                    <a:pt x="146860" y="51466"/>
                  </a:lnTo>
                  <a:lnTo>
                    <a:pt x="163910" y="50413"/>
                  </a:lnTo>
                  <a:lnTo>
                    <a:pt x="180757" y="52723"/>
                  </a:lnTo>
                  <a:lnTo>
                    <a:pt x="197053" y="58313"/>
                  </a:lnTo>
                  <a:lnTo>
                    <a:pt x="212452" y="67100"/>
                  </a:lnTo>
                  <a:lnTo>
                    <a:pt x="232838" y="37473"/>
                  </a:lnTo>
                  <a:lnTo>
                    <a:pt x="260212" y="20078"/>
                  </a:lnTo>
                  <a:lnTo>
                    <a:pt x="291055" y="16202"/>
                  </a:lnTo>
                  <a:lnTo>
                    <a:pt x="321847" y="27130"/>
                  </a:lnTo>
                  <a:lnTo>
                    <a:pt x="328747" y="31503"/>
                  </a:lnTo>
                  <a:lnTo>
                    <a:pt x="335079" y="37047"/>
                  </a:lnTo>
                  <a:lnTo>
                    <a:pt x="340647" y="43587"/>
                  </a:lnTo>
                  <a:lnTo>
                    <a:pt x="356808" y="18848"/>
                  </a:lnTo>
                  <a:lnTo>
                    <a:pt x="378901" y="3939"/>
                  </a:lnTo>
                  <a:lnTo>
                    <a:pt x="404069" y="0"/>
                  </a:lnTo>
                  <a:lnTo>
                    <a:pt x="429455" y="8168"/>
                  </a:lnTo>
                  <a:lnTo>
                    <a:pt x="436022" y="12651"/>
                  </a:lnTo>
                  <a:lnTo>
                    <a:pt x="442098" y="17980"/>
                  </a:lnTo>
                  <a:lnTo>
                    <a:pt x="447627" y="24098"/>
                  </a:lnTo>
                  <a:lnTo>
                    <a:pt x="452551" y="30950"/>
                  </a:lnTo>
                  <a:lnTo>
                    <a:pt x="475511" y="9387"/>
                  </a:lnTo>
                  <a:lnTo>
                    <a:pt x="502699" y="284"/>
                  </a:lnTo>
                  <a:lnTo>
                    <a:pt x="530774" y="3968"/>
                  </a:lnTo>
                  <a:lnTo>
                    <a:pt x="556395" y="20766"/>
                  </a:lnTo>
                  <a:lnTo>
                    <a:pt x="565358" y="31515"/>
                  </a:lnTo>
                  <a:lnTo>
                    <a:pt x="572586" y="43843"/>
                  </a:lnTo>
                  <a:lnTo>
                    <a:pt x="577935" y="57458"/>
                  </a:lnTo>
                  <a:lnTo>
                    <a:pt x="581266" y="72068"/>
                  </a:lnTo>
                  <a:lnTo>
                    <a:pt x="609979" y="89275"/>
                  </a:lnTo>
                  <a:lnTo>
                    <a:pt x="630235" y="117323"/>
                  </a:lnTo>
                  <a:lnTo>
                    <a:pt x="640207" y="152395"/>
                  </a:lnTo>
                  <a:lnTo>
                    <a:pt x="638069" y="190678"/>
                  </a:lnTo>
                  <a:lnTo>
                    <a:pt x="637082" y="195006"/>
                  </a:lnTo>
                  <a:lnTo>
                    <a:pt x="635844" y="199247"/>
                  </a:lnTo>
                  <a:lnTo>
                    <a:pt x="634363" y="203370"/>
                  </a:lnTo>
                  <a:lnTo>
                    <a:pt x="652326" y="247045"/>
                  </a:lnTo>
                  <a:lnTo>
                    <a:pt x="654757" y="293911"/>
                  </a:lnTo>
                  <a:lnTo>
                    <a:pt x="642265" y="338444"/>
                  </a:lnTo>
                  <a:lnTo>
                    <a:pt x="615459" y="375119"/>
                  </a:lnTo>
                  <a:lnTo>
                    <a:pt x="580322" y="396010"/>
                  </a:lnTo>
                  <a:lnTo>
                    <a:pt x="567405" y="399231"/>
                  </a:lnTo>
                  <a:lnTo>
                    <a:pt x="560235" y="439844"/>
                  </a:lnTo>
                  <a:lnTo>
                    <a:pt x="541205" y="472883"/>
                  </a:lnTo>
                  <a:lnTo>
                    <a:pt x="513161" y="495014"/>
                  </a:lnTo>
                  <a:lnTo>
                    <a:pt x="478948" y="502900"/>
                  </a:lnTo>
                  <a:lnTo>
                    <a:pt x="466898" y="501794"/>
                  </a:lnTo>
                  <a:lnTo>
                    <a:pt x="455143" y="498745"/>
                  </a:lnTo>
                  <a:lnTo>
                    <a:pt x="443850" y="493810"/>
                  </a:lnTo>
                  <a:lnTo>
                    <a:pt x="433181" y="487046"/>
                  </a:lnTo>
                  <a:lnTo>
                    <a:pt x="413924" y="529864"/>
                  </a:lnTo>
                  <a:lnTo>
                    <a:pt x="383481" y="559504"/>
                  </a:lnTo>
                  <a:lnTo>
                    <a:pt x="345960" y="573338"/>
                  </a:lnTo>
                  <a:lnTo>
                    <a:pt x="305470" y="568737"/>
                  </a:lnTo>
                  <a:lnTo>
                    <a:pt x="289084" y="560908"/>
                  </a:lnTo>
                  <a:lnTo>
                    <a:pt x="274168" y="549925"/>
                  </a:lnTo>
                  <a:lnTo>
                    <a:pt x="261036" y="536065"/>
                  </a:lnTo>
                  <a:lnTo>
                    <a:pt x="250001" y="519605"/>
                  </a:lnTo>
                  <a:lnTo>
                    <a:pt x="206192" y="538260"/>
                  </a:lnTo>
                  <a:lnTo>
                    <a:pt x="161358" y="535470"/>
                  </a:lnTo>
                  <a:lnTo>
                    <a:pt x="120670" y="512778"/>
                  </a:lnTo>
                  <a:lnTo>
                    <a:pt x="89297" y="471723"/>
                  </a:lnTo>
                  <a:lnTo>
                    <a:pt x="88059" y="469201"/>
                  </a:lnTo>
                  <a:lnTo>
                    <a:pt x="61885" y="466632"/>
                  </a:lnTo>
                  <a:lnTo>
                    <a:pt x="39353" y="452811"/>
                  </a:lnTo>
                  <a:lnTo>
                    <a:pt x="22825" y="429956"/>
                  </a:lnTo>
                  <a:lnTo>
                    <a:pt x="14662" y="400283"/>
                  </a:lnTo>
                  <a:lnTo>
                    <a:pt x="14552" y="383135"/>
                  </a:lnTo>
                  <a:lnTo>
                    <a:pt x="17522" y="366555"/>
                  </a:lnTo>
                  <a:lnTo>
                    <a:pt x="23412" y="351116"/>
                  </a:lnTo>
                  <a:lnTo>
                    <a:pt x="32063" y="337393"/>
                  </a:lnTo>
                  <a:lnTo>
                    <a:pt x="12542" y="316502"/>
                  </a:lnTo>
                  <a:lnTo>
                    <a:pt x="1601" y="289211"/>
                  </a:lnTo>
                  <a:lnTo>
                    <a:pt x="0" y="258995"/>
                  </a:lnTo>
                  <a:lnTo>
                    <a:pt x="8495" y="229331"/>
                  </a:lnTo>
                  <a:lnTo>
                    <a:pt x="17865" y="214494"/>
                  </a:lnTo>
                  <a:lnTo>
                    <a:pt x="29699" y="202831"/>
                  </a:lnTo>
                  <a:lnTo>
                    <a:pt x="43459" y="194755"/>
                  </a:lnTo>
                  <a:lnTo>
                    <a:pt x="58611" y="190681"/>
                  </a:lnTo>
                  <a:lnTo>
                    <a:pt x="59163" y="188894"/>
                  </a:lnTo>
                  <a:close/>
                </a:path>
                <a:path w="655320" h="573404">
                  <a:moveTo>
                    <a:pt x="575284" y="478048"/>
                  </a:moveTo>
                  <a:lnTo>
                    <a:pt x="575284" y="486852"/>
                  </a:lnTo>
                  <a:lnTo>
                    <a:pt x="568153" y="493989"/>
                  </a:lnTo>
                  <a:lnTo>
                    <a:pt x="559356" y="493989"/>
                  </a:lnTo>
                  <a:lnTo>
                    <a:pt x="550560" y="493989"/>
                  </a:lnTo>
                  <a:lnTo>
                    <a:pt x="543428" y="486852"/>
                  </a:lnTo>
                  <a:lnTo>
                    <a:pt x="543428" y="478048"/>
                  </a:lnTo>
                  <a:lnTo>
                    <a:pt x="543428" y="469243"/>
                  </a:lnTo>
                  <a:lnTo>
                    <a:pt x="550560" y="462106"/>
                  </a:lnTo>
                  <a:lnTo>
                    <a:pt x="559356" y="462106"/>
                  </a:lnTo>
                  <a:lnTo>
                    <a:pt x="568153" y="462106"/>
                  </a:lnTo>
                  <a:lnTo>
                    <a:pt x="575284" y="469243"/>
                  </a:lnTo>
                  <a:lnTo>
                    <a:pt x="575284" y="478048"/>
                  </a:lnTo>
                  <a:close/>
                </a:path>
                <a:path w="655320" h="573404">
                  <a:moveTo>
                    <a:pt x="584939" y="472819"/>
                  </a:moveTo>
                  <a:lnTo>
                    <a:pt x="582435" y="485229"/>
                  </a:lnTo>
                  <a:lnTo>
                    <a:pt x="575608" y="495364"/>
                  </a:lnTo>
                  <a:lnTo>
                    <a:pt x="565482" y="502196"/>
                  </a:lnTo>
                  <a:lnTo>
                    <a:pt x="553083" y="504702"/>
                  </a:lnTo>
                  <a:lnTo>
                    <a:pt x="540683" y="502196"/>
                  </a:lnTo>
                  <a:lnTo>
                    <a:pt x="530557" y="495364"/>
                  </a:lnTo>
                  <a:lnTo>
                    <a:pt x="523730" y="485229"/>
                  </a:lnTo>
                  <a:lnTo>
                    <a:pt x="521227" y="472819"/>
                  </a:lnTo>
                  <a:lnTo>
                    <a:pt x="523730" y="460408"/>
                  </a:lnTo>
                  <a:lnTo>
                    <a:pt x="530557" y="450274"/>
                  </a:lnTo>
                  <a:lnTo>
                    <a:pt x="540683" y="443441"/>
                  </a:lnTo>
                  <a:lnTo>
                    <a:pt x="553083" y="440935"/>
                  </a:lnTo>
                  <a:lnTo>
                    <a:pt x="565482" y="443441"/>
                  </a:lnTo>
                  <a:lnTo>
                    <a:pt x="575608" y="450274"/>
                  </a:lnTo>
                  <a:lnTo>
                    <a:pt x="582435" y="460408"/>
                  </a:lnTo>
                  <a:lnTo>
                    <a:pt x="584939" y="472819"/>
                  </a:lnTo>
                  <a:close/>
                </a:path>
                <a:path w="655320" h="573404">
                  <a:moveTo>
                    <a:pt x="619072" y="487992"/>
                  </a:moveTo>
                  <a:lnTo>
                    <a:pt x="615317" y="506608"/>
                  </a:lnTo>
                  <a:lnTo>
                    <a:pt x="605076" y="521809"/>
                  </a:lnTo>
                  <a:lnTo>
                    <a:pt x="589888" y="532059"/>
                  </a:lnTo>
                  <a:lnTo>
                    <a:pt x="571288" y="535817"/>
                  </a:lnTo>
                  <a:lnTo>
                    <a:pt x="552689" y="532059"/>
                  </a:lnTo>
                  <a:lnTo>
                    <a:pt x="537500" y="521809"/>
                  </a:lnTo>
                  <a:lnTo>
                    <a:pt x="527260" y="506608"/>
                  </a:lnTo>
                  <a:lnTo>
                    <a:pt x="523504" y="487992"/>
                  </a:lnTo>
                  <a:lnTo>
                    <a:pt x="527260" y="469377"/>
                  </a:lnTo>
                  <a:lnTo>
                    <a:pt x="537500" y="454175"/>
                  </a:lnTo>
                  <a:lnTo>
                    <a:pt x="552689" y="443925"/>
                  </a:lnTo>
                  <a:lnTo>
                    <a:pt x="571288" y="440167"/>
                  </a:lnTo>
                  <a:lnTo>
                    <a:pt x="589888" y="443925"/>
                  </a:lnTo>
                  <a:lnTo>
                    <a:pt x="605076" y="454175"/>
                  </a:lnTo>
                  <a:lnTo>
                    <a:pt x="615317" y="469377"/>
                  </a:lnTo>
                  <a:lnTo>
                    <a:pt x="619072" y="487992"/>
                  </a:lnTo>
                  <a:close/>
                </a:path>
                <a:path w="655320" h="573404">
                  <a:moveTo>
                    <a:pt x="71192" y="345746"/>
                  </a:moveTo>
                  <a:lnTo>
                    <a:pt x="61163" y="345765"/>
                  </a:lnTo>
                  <a:lnTo>
                    <a:pt x="51303" y="343976"/>
                  </a:lnTo>
                  <a:lnTo>
                    <a:pt x="41781" y="340425"/>
                  </a:lnTo>
                  <a:lnTo>
                    <a:pt x="32766" y="335158"/>
                  </a:lnTo>
                </a:path>
                <a:path w="655320" h="573404">
                  <a:moveTo>
                    <a:pt x="105096" y="461615"/>
                  </a:moveTo>
                  <a:lnTo>
                    <a:pt x="99703" y="464174"/>
                  </a:lnTo>
                  <a:lnTo>
                    <a:pt x="94050" y="465878"/>
                  </a:lnTo>
                  <a:lnTo>
                    <a:pt x="88283" y="466683"/>
                  </a:lnTo>
                </a:path>
                <a:path w="655320" h="573404">
                  <a:moveTo>
                    <a:pt x="249964" y="517291"/>
                  </a:moveTo>
                  <a:lnTo>
                    <a:pt x="245908" y="510040"/>
                  </a:lnTo>
                  <a:lnTo>
                    <a:pt x="242512" y="502290"/>
                  </a:lnTo>
                  <a:lnTo>
                    <a:pt x="239834" y="494176"/>
                  </a:lnTo>
                </a:path>
                <a:path w="655320" h="573404">
                  <a:moveTo>
                    <a:pt x="437291" y="459649"/>
                  </a:moveTo>
                  <a:lnTo>
                    <a:pt x="436702" y="466079"/>
                  </a:lnTo>
                  <a:lnTo>
                    <a:pt x="435830" y="472459"/>
                  </a:lnTo>
                  <a:lnTo>
                    <a:pt x="434677" y="478775"/>
                  </a:lnTo>
                  <a:lnTo>
                    <a:pt x="433246" y="485013"/>
                  </a:lnTo>
                </a:path>
                <a:path w="655320" h="573404">
                  <a:moveTo>
                    <a:pt x="517720" y="302930"/>
                  </a:moveTo>
                  <a:lnTo>
                    <a:pt x="538292" y="319519"/>
                  </a:lnTo>
                  <a:lnTo>
                    <a:pt x="553885" y="341837"/>
                  </a:lnTo>
                  <a:lnTo>
                    <a:pt x="563726" y="368401"/>
                  </a:lnTo>
                  <a:lnTo>
                    <a:pt x="567042" y="397724"/>
                  </a:lnTo>
                </a:path>
                <a:path w="655320" h="573404">
                  <a:moveTo>
                    <a:pt x="634054" y="201966"/>
                  </a:moveTo>
                  <a:lnTo>
                    <a:pt x="629884" y="211947"/>
                  </a:lnTo>
                  <a:lnTo>
                    <a:pt x="624797" y="221258"/>
                  </a:lnTo>
                  <a:lnTo>
                    <a:pt x="618848" y="229809"/>
                  </a:lnTo>
                  <a:lnTo>
                    <a:pt x="612092" y="237512"/>
                  </a:lnTo>
                </a:path>
                <a:path w="655320" h="573404">
                  <a:moveTo>
                    <a:pt x="581355" y="70075"/>
                  </a:moveTo>
                  <a:lnTo>
                    <a:pt x="582194" y="75614"/>
                  </a:lnTo>
                  <a:lnTo>
                    <a:pt x="582583" y="81236"/>
                  </a:lnTo>
                  <a:lnTo>
                    <a:pt x="582515" y="86863"/>
                  </a:lnTo>
                </a:path>
                <a:path w="655320" h="573404">
                  <a:moveTo>
                    <a:pt x="441099" y="50494"/>
                  </a:moveTo>
                  <a:lnTo>
                    <a:pt x="443960" y="42749"/>
                  </a:lnTo>
                  <a:lnTo>
                    <a:pt x="447750" y="35538"/>
                  </a:lnTo>
                  <a:lnTo>
                    <a:pt x="452350" y="29085"/>
                  </a:lnTo>
                </a:path>
                <a:path w="655320" h="573404">
                  <a:moveTo>
                    <a:pt x="335868" y="60696"/>
                  </a:moveTo>
                  <a:lnTo>
                    <a:pt x="337036" y="54296"/>
                  </a:lnTo>
                  <a:lnTo>
                    <a:pt x="338866" y="48094"/>
                  </a:lnTo>
                  <a:lnTo>
                    <a:pt x="341318" y="42233"/>
                  </a:lnTo>
                </a:path>
                <a:path w="655320" h="573404">
                  <a:moveTo>
                    <a:pt x="212374" y="66967"/>
                  </a:moveTo>
                  <a:lnTo>
                    <a:pt x="217639" y="70904"/>
                  </a:lnTo>
                  <a:lnTo>
                    <a:pt x="222689" y="75210"/>
                  </a:lnTo>
                  <a:lnTo>
                    <a:pt x="227512" y="79872"/>
                  </a:lnTo>
                  <a:lnTo>
                    <a:pt x="232092" y="84880"/>
                  </a:lnTo>
                </a:path>
                <a:path w="655320" h="573404">
                  <a:moveTo>
                    <a:pt x="62606" y="207745"/>
                  </a:moveTo>
                  <a:lnTo>
                    <a:pt x="61044" y="201580"/>
                  </a:lnTo>
                  <a:lnTo>
                    <a:pt x="59893" y="195279"/>
                  </a:lnTo>
                  <a:lnTo>
                    <a:pt x="59165" y="188898"/>
                  </a:lnTo>
                </a:path>
              </a:pathLst>
            </a:custGeom>
            <a:ln w="30731">
              <a:solidFill>
                <a:srgbClr val="000000"/>
              </a:solidFill>
            </a:ln>
          </p:spPr>
          <p:txBody>
            <a:bodyPr wrap="square" lIns="0" tIns="0" rIns="0" bIns="0" rtlCol="0"/>
            <a:lstStyle/>
            <a:p>
              <a:endParaRPr sz="1588"/>
            </a:p>
          </p:txBody>
        </p:sp>
      </p:grpSp>
      <p:sp>
        <p:nvSpPr>
          <p:cNvPr id="167" name="object 167"/>
          <p:cNvSpPr txBox="1"/>
          <p:nvPr/>
        </p:nvSpPr>
        <p:spPr>
          <a:xfrm>
            <a:off x="4703246" y="4052351"/>
            <a:ext cx="536762" cy="215089"/>
          </a:xfrm>
          <a:prstGeom prst="rect">
            <a:avLst/>
          </a:prstGeom>
        </p:spPr>
        <p:txBody>
          <a:bodyPr vert="horz" wrap="square" lIns="0" tIns="11206" rIns="0" bIns="0" rtlCol="0">
            <a:spAutoFit/>
          </a:bodyPr>
          <a:lstStyle/>
          <a:p>
            <a:pPr marL="11206">
              <a:spcBef>
                <a:spcPts val="88"/>
              </a:spcBef>
            </a:pPr>
            <a:r>
              <a:rPr sz="1324" b="1" spc="-9" dirty="0">
                <a:latin typeface="Times New Roman"/>
                <a:cs typeface="Times New Roman"/>
              </a:rPr>
              <a:t>Bubble</a:t>
            </a:r>
            <a:endParaRPr sz="1324">
              <a:latin typeface="Times New Roman"/>
              <a:cs typeface="Times New Roman"/>
            </a:endParaRPr>
          </a:p>
        </p:txBody>
      </p:sp>
      <p:grpSp>
        <p:nvGrpSpPr>
          <p:cNvPr id="168" name="object 168"/>
          <p:cNvGrpSpPr/>
          <p:nvPr/>
        </p:nvGrpSpPr>
        <p:grpSpPr>
          <a:xfrm>
            <a:off x="4696245" y="4678100"/>
            <a:ext cx="605678" cy="533400"/>
            <a:chOff x="5170010" y="5301847"/>
            <a:chExt cx="686435" cy="604520"/>
          </a:xfrm>
        </p:grpSpPr>
        <p:sp>
          <p:nvSpPr>
            <p:cNvPr id="169" name="object 169"/>
            <p:cNvSpPr/>
            <p:nvPr/>
          </p:nvSpPr>
          <p:spPr>
            <a:xfrm>
              <a:off x="5185567" y="5317405"/>
              <a:ext cx="655320" cy="573405"/>
            </a:xfrm>
            <a:custGeom>
              <a:avLst/>
              <a:gdLst/>
              <a:ahLst/>
              <a:cxnLst/>
              <a:rect l="l" t="t" r="r" b="b"/>
              <a:pathLst>
                <a:path w="655320" h="573404">
                  <a:moveTo>
                    <a:pt x="404069" y="0"/>
                  </a:moveTo>
                  <a:lnTo>
                    <a:pt x="378900" y="3940"/>
                  </a:lnTo>
                  <a:lnTo>
                    <a:pt x="356807" y="18848"/>
                  </a:lnTo>
                  <a:lnTo>
                    <a:pt x="340646" y="43587"/>
                  </a:lnTo>
                  <a:lnTo>
                    <a:pt x="335079" y="37046"/>
                  </a:lnTo>
                  <a:lnTo>
                    <a:pt x="328747" y="31504"/>
                  </a:lnTo>
                  <a:lnTo>
                    <a:pt x="321847" y="27130"/>
                  </a:lnTo>
                  <a:lnTo>
                    <a:pt x="291055" y="16202"/>
                  </a:lnTo>
                  <a:lnTo>
                    <a:pt x="260212" y="20078"/>
                  </a:lnTo>
                  <a:lnTo>
                    <a:pt x="232838" y="37473"/>
                  </a:lnTo>
                  <a:lnTo>
                    <a:pt x="212451" y="67101"/>
                  </a:lnTo>
                  <a:lnTo>
                    <a:pt x="197052" y="58313"/>
                  </a:lnTo>
                  <a:lnTo>
                    <a:pt x="180756" y="52723"/>
                  </a:lnTo>
                  <a:lnTo>
                    <a:pt x="163910" y="50413"/>
                  </a:lnTo>
                  <a:lnTo>
                    <a:pt x="146860" y="51466"/>
                  </a:lnTo>
                  <a:lnTo>
                    <a:pt x="108435" y="67378"/>
                  </a:lnTo>
                  <a:lnTo>
                    <a:pt x="79130" y="98534"/>
                  </a:lnTo>
                  <a:lnTo>
                    <a:pt x="61765" y="140513"/>
                  </a:lnTo>
                  <a:lnTo>
                    <a:pt x="59162" y="188894"/>
                  </a:lnTo>
                  <a:lnTo>
                    <a:pt x="58610" y="190680"/>
                  </a:lnTo>
                  <a:lnTo>
                    <a:pt x="17864" y="214495"/>
                  </a:lnTo>
                  <a:lnTo>
                    <a:pt x="0" y="258996"/>
                  </a:lnTo>
                  <a:lnTo>
                    <a:pt x="1601" y="289211"/>
                  </a:lnTo>
                  <a:lnTo>
                    <a:pt x="12542" y="316503"/>
                  </a:lnTo>
                  <a:lnTo>
                    <a:pt x="32063" y="337393"/>
                  </a:lnTo>
                  <a:lnTo>
                    <a:pt x="23412" y="351116"/>
                  </a:lnTo>
                  <a:lnTo>
                    <a:pt x="17522" y="366554"/>
                  </a:lnTo>
                  <a:lnTo>
                    <a:pt x="14552" y="383135"/>
                  </a:lnTo>
                  <a:lnTo>
                    <a:pt x="14662" y="400283"/>
                  </a:lnTo>
                  <a:lnTo>
                    <a:pt x="22825" y="429956"/>
                  </a:lnTo>
                  <a:lnTo>
                    <a:pt x="39353" y="452812"/>
                  </a:lnTo>
                  <a:lnTo>
                    <a:pt x="61885" y="466632"/>
                  </a:lnTo>
                  <a:lnTo>
                    <a:pt x="88059" y="469202"/>
                  </a:lnTo>
                  <a:lnTo>
                    <a:pt x="89297" y="471723"/>
                  </a:lnTo>
                  <a:lnTo>
                    <a:pt x="120670" y="512778"/>
                  </a:lnTo>
                  <a:lnTo>
                    <a:pt x="161358" y="535470"/>
                  </a:lnTo>
                  <a:lnTo>
                    <a:pt x="206192" y="538260"/>
                  </a:lnTo>
                  <a:lnTo>
                    <a:pt x="250002" y="519605"/>
                  </a:lnTo>
                  <a:lnTo>
                    <a:pt x="261036" y="536065"/>
                  </a:lnTo>
                  <a:lnTo>
                    <a:pt x="274168" y="549926"/>
                  </a:lnTo>
                  <a:lnTo>
                    <a:pt x="289084" y="560909"/>
                  </a:lnTo>
                  <a:lnTo>
                    <a:pt x="305470" y="568737"/>
                  </a:lnTo>
                  <a:lnTo>
                    <a:pt x="345960" y="573338"/>
                  </a:lnTo>
                  <a:lnTo>
                    <a:pt x="383481" y="559504"/>
                  </a:lnTo>
                  <a:lnTo>
                    <a:pt x="413923" y="529864"/>
                  </a:lnTo>
                  <a:lnTo>
                    <a:pt x="433180" y="487046"/>
                  </a:lnTo>
                  <a:lnTo>
                    <a:pt x="443849" y="493810"/>
                  </a:lnTo>
                  <a:lnTo>
                    <a:pt x="455143" y="498745"/>
                  </a:lnTo>
                  <a:lnTo>
                    <a:pt x="466897" y="501793"/>
                  </a:lnTo>
                  <a:lnTo>
                    <a:pt x="478948" y="502900"/>
                  </a:lnTo>
                  <a:lnTo>
                    <a:pt x="513161" y="495014"/>
                  </a:lnTo>
                  <a:lnTo>
                    <a:pt x="541205" y="472883"/>
                  </a:lnTo>
                  <a:lnTo>
                    <a:pt x="560235" y="439844"/>
                  </a:lnTo>
                  <a:lnTo>
                    <a:pt x="567405" y="399231"/>
                  </a:lnTo>
                  <a:lnTo>
                    <a:pt x="580322" y="396010"/>
                  </a:lnTo>
                  <a:lnTo>
                    <a:pt x="615459" y="375119"/>
                  </a:lnTo>
                  <a:lnTo>
                    <a:pt x="642265" y="338444"/>
                  </a:lnTo>
                  <a:lnTo>
                    <a:pt x="654757" y="293911"/>
                  </a:lnTo>
                  <a:lnTo>
                    <a:pt x="652326" y="247045"/>
                  </a:lnTo>
                  <a:lnTo>
                    <a:pt x="634363" y="203370"/>
                  </a:lnTo>
                  <a:lnTo>
                    <a:pt x="635844" y="199248"/>
                  </a:lnTo>
                  <a:lnTo>
                    <a:pt x="637081" y="195006"/>
                  </a:lnTo>
                  <a:lnTo>
                    <a:pt x="638068" y="190678"/>
                  </a:lnTo>
                  <a:lnTo>
                    <a:pt x="640207" y="152395"/>
                  </a:lnTo>
                  <a:lnTo>
                    <a:pt x="630235" y="117322"/>
                  </a:lnTo>
                  <a:lnTo>
                    <a:pt x="609978" y="89275"/>
                  </a:lnTo>
                  <a:lnTo>
                    <a:pt x="581266" y="72068"/>
                  </a:lnTo>
                  <a:lnTo>
                    <a:pt x="577935" y="57458"/>
                  </a:lnTo>
                  <a:lnTo>
                    <a:pt x="556394" y="20766"/>
                  </a:lnTo>
                  <a:lnTo>
                    <a:pt x="502699" y="284"/>
                  </a:lnTo>
                  <a:lnTo>
                    <a:pt x="475511" y="9387"/>
                  </a:lnTo>
                  <a:lnTo>
                    <a:pt x="452550" y="30950"/>
                  </a:lnTo>
                  <a:lnTo>
                    <a:pt x="447626" y="24098"/>
                  </a:lnTo>
                  <a:lnTo>
                    <a:pt x="442098" y="17980"/>
                  </a:lnTo>
                  <a:lnTo>
                    <a:pt x="436022" y="12651"/>
                  </a:lnTo>
                  <a:lnTo>
                    <a:pt x="429455" y="8168"/>
                  </a:lnTo>
                  <a:lnTo>
                    <a:pt x="404069" y="0"/>
                  </a:lnTo>
                  <a:close/>
                </a:path>
              </a:pathLst>
            </a:custGeom>
            <a:solidFill>
              <a:srgbClr val="0FEFEA"/>
            </a:solidFill>
          </p:spPr>
          <p:txBody>
            <a:bodyPr wrap="square" lIns="0" tIns="0" rIns="0" bIns="0" rtlCol="0"/>
            <a:lstStyle/>
            <a:p>
              <a:endParaRPr sz="1588"/>
            </a:p>
          </p:txBody>
        </p:sp>
        <p:pic>
          <p:nvPicPr>
            <p:cNvPr id="170" name="object 170"/>
            <p:cNvPicPr/>
            <p:nvPr/>
          </p:nvPicPr>
          <p:blipFill>
            <a:blip r:embed="rId4" cstate="print"/>
            <a:stretch>
              <a:fillRect/>
            </a:stretch>
          </p:blipFill>
          <p:spPr>
            <a:xfrm>
              <a:off x="5706794" y="5757572"/>
              <a:ext cx="97845" cy="95650"/>
            </a:xfrm>
            <a:prstGeom prst="rect">
              <a:avLst/>
            </a:prstGeom>
          </p:spPr>
        </p:pic>
        <p:sp>
          <p:nvSpPr>
            <p:cNvPr id="171" name="object 171"/>
            <p:cNvSpPr/>
            <p:nvPr/>
          </p:nvSpPr>
          <p:spPr>
            <a:xfrm>
              <a:off x="5185567" y="5317405"/>
              <a:ext cx="655320" cy="573405"/>
            </a:xfrm>
            <a:custGeom>
              <a:avLst/>
              <a:gdLst/>
              <a:ahLst/>
              <a:cxnLst/>
              <a:rect l="l" t="t" r="r" b="b"/>
              <a:pathLst>
                <a:path w="655320" h="573404">
                  <a:moveTo>
                    <a:pt x="59163" y="188894"/>
                  </a:moveTo>
                  <a:lnTo>
                    <a:pt x="61765" y="140513"/>
                  </a:lnTo>
                  <a:lnTo>
                    <a:pt x="79129" y="98534"/>
                  </a:lnTo>
                  <a:lnTo>
                    <a:pt x="108435" y="67378"/>
                  </a:lnTo>
                  <a:lnTo>
                    <a:pt x="146860" y="51466"/>
                  </a:lnTo>
                  <a:lnTo>
                    <a:pt x="163910" y="50413"/>
                  </a:lnTo>
                  <a:lnTo>
                    <a:pt x="180757" y="52723"/>
                  </a:lnTo>
                  <a:lnTo>
                    <a:pt x="197053" y="58313"/>
                  </a:lnTo>
                  <a:lnTo>
                    <a:pt x="212452" y="67100"/>
                  </a:lnTo>
                  <a:lnTo>
                    <a:pt x="232838" y="37473"/>
                  </a:lnTo>
                  <a:lnTo>
                    <a:pt x="260212" y="20078"/>
                  </a:lnTo>
                  <a:lnTo>
                    <a:pt x="291055" y="16202"/>
                  </a:lnTo>
                  <a:lnTo>
                    <a:pt x="321847" y="27130"/>
                  </a:lnTo>
                  <a:lnTo>
                    <a:pt x="328747" y="31503"/>
                  </a:lnTo>
                  <a:lnTo>
                    <a:pt x="335079" y="37047"/>
                  </a:lnTo>
                  <a:lnTo>
                    <a:pt x="340647" y="43587"/>
                  </a:lnTo>
                  <a:lnTo>
                    <a:pt x="356808" y="18848"/>
                  </a:lnTo>
                  <a:lnTo>
                    <a:pt x="378901" y="3939"/>
                  </a:lnTo>
                  <a:lnTo>
                    <a:pt x="404069" y="0"/>
                  </a:lnTo>
                  <a:lnTo>
                    <a:pt x="429455" y="8168"/>
                  </a:lnTo>
                  <a:lnTo>
                    <a:pt x="436022" y="12651"/>
                  </a:lnTo>
                  <a:lnTo>
                    <a:pt x="442098" y="17980"/>
                  </a:lnTo>
                  <a:lnTo>
                    <a:pt x="447627" y="24098"/>
                  </a:lnTo>
                  <a:lnTo>
                    <a:pt x="452551" y="30950"/>
                  </a:lnTo>
                  <a:lnTo>
                    <a:pt x="475511" y="9387"/>
                  </a:lnTo>
                  <a:lnTo>
                    <a:pt x="502699" y="284"/>
                  </a:lnTo>
                  <a:lnTo>
                    <a:pt x="530774" y="3968"/>
                  </a:lnTo>
                  <a:lnTo>
                    <a:pt x="556395" y="20766"/>
                  </a:lnTo>
                  <a:lnTo>
                    <a:pt x="565358" y="31515"/>
                  </a:lnTo>
                  <a:lnTo>
                    <a:pt x="572586" y="43843"/>
                  </a:lnTo>
                  <a:lnTo>
                    <a:pt x="577935" y="57458"/>
                  </a:lnTo>
                  <a:lnTo>
                    <a:pt x="581266" y="72068"/>
                  </a:lnTo>
                  <a:lnTo>
                    <a:pt x="609979" y="89275"/>
                  </a:lnTo>
                  <a:lnTo>
                    <a:pt x="630235" y="117323"/>
                  </a:lnTo>
                  <a:lnTo>
                    <a:pt x="640207" y="152395"/>
                  </a:lnTo>
                  <a:lnTo>
                    <a:pt x="638069" y="190678"/>
                  </a:lnTo>
                  <a:lnTo>
                    <a:pt x="637082" y="195006"/>
                  </a:lnTo>
                  <a:lnTo>
                    <a:pt x="635844" y="199247"/>
                  </a:lnTo>
                  <a:lnTo>
                    <a:pt x="634363" y="203370"/>
                  </a:lnTo>
                  <a:lnTo>
                    <a:pt x="652326" y="247045"/>
                  </a:lnTo>
                  <a:lnTo>
                    <a:pt x="654757" y="293911"/>
                  </a:lnTo>
                  <a:lnTo>
                    <a:pt x="642265" y="338444"/>
                  </a:lnTo>
                  <a:lnTo>
                    <a:pt x="615459" y="375119"/>
                  </a:lnTo>
                  <a:lnTo>
                    <a:pt x="580322" y="396010"/>
                  </a:lnTo>
                  <a:lnTo>
                    <a:pt x="567405" y="399231"/>
                  </a:lnTo>
                  <a:lnTo>
                    <a:pt x="560235" y="439844"/>
                  </a:lnTo>
                  <a:lnTo>
                    <a:pt x="541205" y="472883"/>
                  </a:lnTo>
                  <a:lnTo>
                    <a:pt x="513161" y="495014"/>
                  </a:lnTo>
                  <a:lnTo>
                    <a:pt x="478948" y="502900"/>
                  </a:lnTo>
                  <a:lnTo>
                    <a:pt x="466898" y="501794"/>
                  </a:lnTo>
                  <a:lnTo>
                    <a:pt x="455143" y="498745"/>
                  </a:lnTo>
                  <a:lnTo>
                    <a:pt x="443850" y="493810"/>
                  </a:lnTo>
                  <a:lnTo>
                    <a:pt x="433181" y="487046"/>
                  </a:lnTo>
                  <a:lnTo>
                    <a:pt x="413924" y="529864"/>
                  </a:lnTo>
                  <a:lnTo>
                    <a:pt x="383481" y="559504"/>
                  </a:lnTo>
                  <a:lnTo>
                    <a:pt x="345960" y="573338"/>
                  </a:lnTo>
                  <a:lnTo>
                    <a:pt x="305470" y="568737"/>
                  </a:lnTo>
                  <a:lnTo>
                    <a:pt x="289084" y="560908"/>
                  </a:lnTo>
                  <a:lnTo>
                    <a:pt x="274168" y="549925"/>
                  </a:lnTo>
                  <a:lnTo>
                    <a:pt x="261036" y="536065"/>
                  </a:lnTo>
                  <a:lnTo>
                    <a:pt x="250001" y="519605"/>
                  </a:lnTo>
                  <a:lnTo>
                    <a:pt x="206192" y="538260"/>
                  </a:lnTo>
                  <a:lnTo>
                    <a:pt x="161358" y="535470"/>
                  </a:lnTo>
                  <a:lnTo>
                    <a:pt x="120670" y="512778"/>
                  </a:lnTo>
                  <a:lnTo>
                    <a:pt x="89297" y="471723"/>
                  </a:lnTo>
                  <a:lnTo>
                    <a:pt x="88059" y="469201"/>
                  </a:lnTo>
                  <a:lnTo>
                    <a:pt x="61885" y="466632"/>
                  </a:lnTo>
                  <a:lnTo>
                    <a:pt x="39353" y="452811"/>
                  </a:lnTo>
                  <a:lnTo>
                    <a:pt x="22825" y="429956"/>
                  </a:lnTo>
                  <a:lnTo>
                    <a:pt x="14662" y="400283"/>
                  </a:lnTo>
                  <a:lnTo>
                    <a:pt x="14552" y="383135"/>
                  </a:lnTo>
                  <a:lnTo>
                    <a:pt x="17522" y="366555"/>
                  </a:lnTo>
                  <a:lnTo>
                    <a:pt x="23412" y="351116"/>
                  </a:lnTo>
                  <a:lnTo>
                    <a:pt x="32063" y="337393"/>
                  </a:lnTo>
                  <a:lnTo>
                    <a:pt x="12542" y="316502"/>
                  </a:lnTo>
                  <a:lnTo>
                    <a:pt x="1601" y="289211"/>
                  </a:lnTo>
                  <a:lnTo>
                    <a:pt x="0" y="258995"/>
                  </a:lnTo>
                  <a:lnTo>
                    <a:pt x="8495" y="229331"/>
                  </a:lnTo>
                  <a:lnTo>
                    <a:pt x="17865" y="214494"/>
                  </a:lnTo>
                  <a:lnTo>
                    <a:pt x="29699" y="202831"/>
                  </a:lnTo>
                  <a:lnTo>
                    <a:pt x="43459" y="194755"/>
                  </a:lnTo>
                  <a:lnTo>
                    <a:pt x="58611" y="190681"/>
                  </a:lnTo>
                  <a:lnTo>
                    <a:pt x="59163" y="188894"/>
                  </a:lnTo>
                  <a:close/>
                </a:path>
                <a:path w="655320" h="573404">
                  <a:moveTo>
                    <a:pt x="575284" y="478048"/>
                  </a:moveTo>
                  <a:lnTo>
                    <a:pt x="575284" y="486852"/>
                  </a:lnTo>
                  <a:lnTo>
                    <a:pt x="568153" y="493989"/>
                  </a:lnTo>
                  <a:lnTo>
                    <a:pt x="559356" y="493989"/>
                  </a:lnTo>
                  <a:lnTo>
                    <a:pt x="550560" y="493989"/>
                  </a:lnTo>
                  <a:lnTo>
                    <a:pt x="543428" y="486852"/>
                  </a:lnTo>
                  <a:lnTo>
                    <a:pt x="543428" y="478048"/>
                  </a:lnTo>
                  <a:lnTo>
                    <a:pt x="543428" y="469243"/>
                  </a:lnTo>
                  <a:lnTo>
                    <a:pt x="550560" y="462106"/>
                  </a:lnTo>
                  <a:lnTo>
                    <a:pt x="559356" y="462106"/>
                  </a:lnTo>
                  <a:lnTo>
                    <a:pt x="568153" y="462106"/>
                  </a:lnTo>
                  <a:lnTo>
                    <a:pt x="575284" y="469243"/>
                  </a:lnTo>
                  <a:lnTo>
                    <a:pt x="575284" y="478048"/>
                  </a:lnTo>
                  <a:close/>
                </a:path>
                <a:path w="655320" h="573404">
                  <a:moveTo>
                    <a:pt x="584939" y="472819"/>
                  </a:moveTo>
                  <a:lnTo>
                    <a:pt x="582435" y="485229"/>
                  </a:lnTo>
                  <a:lnTo>
                    <a:pt x="575608" y="495364"/>
                  </a:lnTo>
                  <a:lnTo>
                    <a:pt x="565482" y="502196"/>
                  </a:lnTo>
                  <a:lnTo>
                    <a:pt x="553083" y="504702"/>
                  </a:lnTo>
                  <a:lnTo>
                    <a:pt x="540683" y="502196"/>
                  </a:lnTo>
                  <a:lnTo>
                    <a:pt x="530557" y="495364"/>
                  </a:lnTo>
                  <a:lnTo>
                    <a:pt x="523730" y="485229"/>
                  </a:lnTo>
                  <a:lnTo>
                    <a:pt x="521227" y="472819"/>
                  </a:lnTo>
                  <a:lnTo>
                    <a:pt x="523730" y="460408"/>
                  </a:lnTo>
                  <a:lnTo>
                    <a:pt x="530557" y="450274"/>
                  </a:lnTo>
                  <a:lnTo>
                    <a:pt x="540683" y="443441"/>
                  </a:lnTo>
                  <a:lnTo>
                    <a:pt x="553083" y="440935"/>
                  </a:lnTo>
                  <a:lnTo>
                    <a:pt x="565482" y="443441"/>
                  </a:lnTo>
                  <a:lnTo>
                    <a:pt x="575608" y="450274"/>
                  </a:lnTo>
                  <a:lnTo>
                    <a:pt x="582435" y="460408"/>
                  </a:lnTo>
                  <a:lnTo>
                    <a:pt x="584939" y="472819"/>
                  </a:lnTo>
                  <a:close/>
                </a:path>
                <a:path w="655320" h="573404">
                  <a:moveTo>
                    <a:pt x="619072" y="487992"/>
                  </a:moveTo>
                  <a:lnTo>
                    <a:pt x="615317" y="506608"/>
                  </a:lnTo>
                  <a:lnTo>
                    <a:pt x="605076" y="521809"/>
                  </a:lnTo>
                  <a:lnTo>
                    <a:pt x="589888" y="532059"/>
                  </a:lnTo>
                  <a:lnTo>
                    <a:pt x="571288" y="535817"/>
                  </a:lnTo>
                  <a:lnTo>
                    <a:pt x="552689" y="532059"/>
                  </a:lnTo>
                  <a:lnTo>
                    <a:pt x="537500" y="521809"/>
                  </a:lnTo>
                  <a:lnTo>
                    <a:pt x="527260" y="506608"/>
                  </a:lnTo>
                  <a:lnTo>
                    <a:pt x="523504" y="487992"/>
                  </a:lnTo>
                  <a:lnTo>
                    <a:pt x="527260" y="469377"/>
                  </a:lnTo>
                  <a:lnTo>
                    <a:pt x="537500" y="454175"/>
                  </a:lnTo>
                  <a:lnTo>
                    <a:pt x="552689" y="443925"/>
                  </a:lnTo>
                  <a:lnTo>
                    <a:pt x="571288" y="440167"/>
                  </a:lnTo>
                  <a:lnTo>
                    <a:pt x="589888" y="443925"/>
                  </a:lnTo>
                  <a:lnTo>
                    <a:pt x="605076" y="454175"/>
                  </a:lnTo>
                  <a:lnTo>
                    <a:pt x="615317" y="469377"/>
                  </a:lnTo>
                  <a:lnTo>
                    <a:pt x="619072" y="487992"/>
                  </a:lnTo>
                  <a:close/>
                </a:path>
                <a:path w="655320" h="573404">
                  <a:moveTo>
                    <a:pt x="71192" y="345746"/>
                  </a:moveTo>
                  <a:lnTo>
                    <a:pt x="61163" y="345765"/>
                  </a:lnTo>
                  <a:lnTo>
                    <a:pt x="51303" y="343976"/>
                  </a:lnTo>
                  <a:lnTo>
                    <a:pt x="41781" y="340425"/>
                  </a:lnTo>
                  <a:lnTo>
                    <a:pt x="32766" y="335158"/>
                  </a:lnTo>
                </a:path>
                <a:path w="655320" h="573404">
                  <a:moveTo>
                    <a:pt x="105096" y="461615"/>
                  </a:moveTo>
                  <a:lnTo>
                    <a:pt x="99703" y="464174"/>
                  </a:lnTo>
                  <a:lnTo>
                    <a:pt x="94050" y="465878"/>
                  </a:lnTo>
                  <a:lnTo>
                    <a:pt x="88283" y="466683"/>
                  </a:lnTo>
                </a:path>
                <a:path w="655320" h="573404">
                  <a:moveTo>
                    <a:pt x="249964" y="517291"/>
                  </a:moveTo>
                  <a:lnTo>
                    <a:pt x="245908" y="510040"/>
                  </a:lnTo>
                  <a:lnTo>
                    <a:pt x="242512" y="502290"/>
                  </a:lnTo>
                  <a:lnTo>
                    <a:pt x="239834" y="494176"/>
                  </a:lnTo>
                </a:path>
                <a:path w="655320" h="573404">
                  <a:moveTo>
                    <a:pt x="437291" y="459649"/>
                  </a:moveTo>
                  <a:lnTo>
                    <a:pt x="436702" y="466079"/>
                  </a:lnTo>
                  <a:lnTo>
                    <a:pt x="435830" y="472459"/>
                  </a:lnTo>
                  <a:lnTo>
                    <a:pt x="434677" y="478775"/>
                  </a:lnTo>
                  <a:lnTo>
                    <a:pt x="433246" y="485013"/>
                  </a:lnTo>
                </a:path>
                <a:path w="655320" h="573404">
                  <a:moveTo>
                    <a:pt x="517720" y="302930"/>
                  </a:moveTo>
                  <a:lnTo>
                    <a:pt x="538292" y="319519"/>
                  </a:lnTo>
                  <a:lnTo>
                    <a:pt x="553885" y="341837"/>
                  </a:lnTo>
                  <a:lnTo>
                    <a:pt x="563726" y="368401"/>
                  </a:lnTo>
                  <a:lnTo>
                    <a:pt x="567042" y="397724"/>
                  </a:lnTo>
                </a:path>
                <a:path w="655320" h="573404">
                  <a:moveTo>
                    <a:pt x="634054" y="201966"/>
                  </a:moveTo>
                  <a:lnTo>
                    <a:pt x="629884" y="211947"/>
                  </a:lnTo>
                  <a:lnTo>
                    <a:pt x="624797" y="221258"/>
                  </a:lnTo>
                  <a:lnTo>
                    <a:pt x="618848" y="229809"/>
                  </a:lnTo>
                  <a:lnTo>
                    <a:pt x="612092" y="237512"/>
                  </a:lnTo>
                </a:path>
                <a:path w="655320" h="573404">
                  <a:moveTo>
                    <a:pt x="581355" y="70075"/>
                  </a:moveTo>
                  <a:lnTo>
                    <a:pt x="582194" y="75614"/>
                  </a:lnTo>
                  <a:lnTo>
                    <a:pt x="582583" y="81236"/>
                  </a:lnTo>
                  <a:lnTo>
                    <a:pt x="582515" y="86863"/>
                  </a:lnTo>
                </a:path>
                <a:path w="655320" h="573404">
                  <a:moveTo>
                    <a:pt x="441099" y="50494"/>
                  </a:moveTo>
                  <a:lnTo>
                    <a:pt x="443960" y="42749"/>
                  </a:lnTo>
                  <a:lnTo>
                    <a:pt x="447750" y="35538"/>
                  </a:lnTo>
                  <a:lnTo>
                    <a:pt x="452350" y="29085"/>
                  </a:lnTo>
                </a:path>
                <a:path w="655320" h="573404">
                  <a:moveTo>
                    <a:pt x="335868" y="60696"/>
                  </a:moveTo>
                  <a:lnTo>
                    <a:pt x="337036" y="54296"/>
                  </a:lnTo>
                  <a:lnTo>
                    <a:pt x="338866" y="48094"/>
                  </a:lnTo>
                  <a:lnTo>
                    <a:pt x="341318" y="42233"/>
                  </a:lnTo>
                </a:path>
                <a:path w="655320" h="573404">
                  <a:moveTo>
                    <a:pt x="212374" y="66967"/>
                  </a:moveTo>
                  <a:lnTo>
                    <a:pt x="217639" y="70904"/>
                  </a:lnTo>
                  <a:lnTo>
                    <a:pt x="222689" y="75210"/>
                  </a:lnTo>
                  <a:lnTo>
                    <a:pt x="227512" y="79872"/>
                  </a:lnTo>
                  <a:lnTo>
                    <a:pt x="232092" y="84880"/>
                  </a:lnTo>
                </a:path>
                <a:path w="655320" h="573404">
                  <a:moveTo>
                    <a:pt x="62606" y="207745"/>
                  </a:moveTo>
                  <a:lnTo>
                    <a:pt x="61044" y="201580"/>
                  </a:lnTo>
                  <a:lnTo>
                    <a:pt x="59893" y="195279"/>
                  </a:lnTo>
                  <a:lnTo>
                    <a:pt x="59165" y="188898"/>
                  </a:lnTo>
                </a:path>
              </a:pathLst>
            </a:custGeom>
            <a:ln w="30731">
              <a:solidFill>
                <a:srgbClr val="000000"/>
              </a:solidFill>
            </a:ln>
          </p:spPr>
          <p:txBody>
            <a:bodyPr wrap="square" lIns="0" tIns="0" rIns="0" bIns="0" rtlCol="0"/>
            <a:lstStyle/>
            <a:p>
              <a:endParaRPr sz="1588"/>
            </a:p>
          </p:txBody>
        </p:sp>
      </p:grpSp>
      <p:sp>
        <p:nvSpPr>
          <p:cNvPr id="172" name="object 172"/>
          <p:cNvSpPr txBox="1"/>
          <p:nvPr/>
        </p:nvSpPr>
        <p:spPr>
          <a:xfrm>
            <a:off x="4709829" y="4813454"/>
            <a:ext cx="536762" cy="215089"/>
          </a:xfrm>
          <a:prstGeom prst="rect">
            <a:avLst/>
          </a:prstGeom>
        </p:spPr>
        <p:txBody>
          <a:bodyPr vert="horz" wrap="square" lIns="0" tIns="11206" rIns="0" bIns="0" rtlCol="0">
            <a:spAutoFit/>
          </a:bodyPr>
          <a:lstStyle/>
          <a:p>
            <a:pPr marL="11206">
              <a:spcBef>
                <a:spcPts val="88"/>
              </a:spcBef>
            </a:pPr>
            <a:r>
              <a:rPr sz="1324" b="1" spc="-9" dirty="0">
                <a:latin typeface="Times New Roman"/>
                <a:cs typeface="Times New Roman"/>
              </a:rPr>
              <a:t>Bubble</a:t>
            </a:r>
            <a:endParaRPr sz="1324">
              <a:latin typeface="Times New Roman"/>
              <a:cs typeface="Times New Roman"/>
            </a:endParaRPr>
          </a:p>
        </p:txBody>
      </p:sp>
      <p:sp>
        <p:nvSpPr>
          <p:cNvPr id="173" name="object 173"/>
          <p:cNvSpPr/>
          <p:nvPr/>
        </p:nvSpPr>
        <p:spPr>
          <a:xfrm>
            <a:off x="5340597" y="2694112"/>
            <a:ext cx="215153" cy="657225"/>
          </a:xfrm>
          <a:custGeom>
            <a:avLst/>
            <a:gdLst/>
            <a:ahLst/>
            <a:cxnLst/>
            <a:rect l="l" t="t" r="r" b="b"/>
            <a:pathLst>
              <a:path w="243839" h="744854">
                <a:moveTo>
                  <a:pt x="123847" y="571132"/>
                </a:moveTo>
                <a:lnTo>
                  <a:pt x="63874" y="584471"/>
                </a:lnTo>
                <a:lnTo>
                  <a:pt x="193817" y="744537"/>
                </a:lnTo>
                <a:lnTo>
                  <a:pt x="229634" y="601145"/>
                </a:lnTo>
                <a:lnTo>
                  <a:pt x="130511" y="601145"/>
                </a:lnTo>
                <a:lnTo>
                  <a:pt x="123847" y="571132"/>
                </a:lnTo>
                <a:close/>
              </a:path>
              <a:path w="243839" h="744854">
                <a:moveTo>
                  <a:pt x="183821" y="557794"/>
                </a:moveTo>
                <a:lnTo>
                  <a:pt x="123847" y="571132"/>
                </a:lnTo>
                <a:lnTo>
                  <a:pt x="130511" y="601145"/>
                </a:lnTo>
                <a:lnTo>
                  <a:pt x="190484" y="587806"/>
                </a:lnTo>
                <a:lnTo>
                  <a:pt x="183821" y="557794"/>
                </a:lnTo>
                <a:close/>
              </a:path>
              <a:path w="243839" h="744854">
                <a:moveTo>
                  <a:pt x="243794" y="544455"/>
                </a:moveTo>
                <a:lnTo>
                  <a:pt x="183821" y="557794"/>
                </a:lnTo>
                <a:lnTo>
                  <a:pt x="190484" y="587806"/>
                </a:lnTo>
                <a:lnTo>
                  <a:pt x="130511" y="601145"/>
                </a:lnTo>
                <a:lnTo>
                  <a:pt x="229634" y="601145"/>
                </a:lnTo>
                <a:lnTo>
                  <a:pt x="243794" y="544455"/>
                </a:lnTo>
                <a:close/>
              </a:path>
              <a:path w="243839" h="744854">
                <a:moveTo>
                  <a:pt x="59973" y="0"/>
                </a:moveTo>
                <a:lnTo>
                  <a:pt x="0" y="13338"/>
                </a:lnTo>
                <a:lnTo>
                  <a:pt x="123847" y="571132"/>
                </a:lnTo>
                <a:lnTo>
                  <a:pt x="183821" y="557794"/>
                </a:lnTo>
                <a:lnTo>
                  <a:pt x="59973" y="0"/>
                </a:lnTo>
                <a:close/>
              </a:path>
            </a:pathLst>
          </a:custGeom>
          <a:solidFill>
            <a:srgbClr val="FF0000"/>
          </a:solidFill>
        </p:spPr>
        <p:txBody>
          <a:bodyPr wrap="square" lIns="0" tIns="0" rIns="0" bIns="0" rtlCol="0"/>
          <a:lstStyle/>
          <a:p>
            <a:endParaRPr sz="1588"/>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97419" y="670487"/>
            <a:ext cx="6815871" cy="472980"/>
          </a:xfrm>
          <a:prstGeom prst="rect">
            <a:avLst/>
          </a:prstGeom>
        </p:spPr>
        <p:txBody>
          <a:bodyPr vert="horz" wrap="square" lIns="0" tIns="11206" rIns="0" bIns="0" rtlCol="0" anchor="ctr">
            <a:spAutoFit/>
          </a:bodyPr>
          <a:lstStyle/>
          <a:p>
            <a:pPr marL="11206">
              <a:lnSpc>
                <a:spcPct val="100000"/>
              </a:lnSpc>
              <a:spcBef>
                <a:spcPts val="88"/>
              </a:spcBef>
            </a:pPr>
            <a:r>
              <a:rPr dirty="0"/>
              <a:t>Review</a:t>
            </a:r>
            <a:r>
              <a:rPr spc="97" dirty="0"/>
              <a:t> </a:t>
            </a:r>
            <a:r>
              <a:rPr spc="-9" dirty="0"/>
              <a:t>Question</a:t>
            </a:r>
          </a:p>
        </p:txBody>
      </p:sp>
      <p:sp>
        <p:nvSpPr>
          <p:cNvPr id="8" name="object 8"/>
          <p:cNvSpPr txBox="1">
            <a:spLocks noGrp="1"/>
          </p:cNvSpPr>
          <p:nvPr>
            <p:ph type="body" idx="1"/>
          </p:nvPr>
        </p:nvSpPr>
        <p:spPr>
          <a:xfrm>
            <a:off x="832144" y="3925630"/>
            <a:ext cx="7050215" cy="2464445"/>
          </a:xfrm>
          <a:prstGeom prst="rect">
            <a:avLst/>
          </a:prstGeom>
        </p:spPr>
        <p:txBody>
          <a:bodyPr vert="horz" wrap="square" lIns="0" tIns="10085" rIns="0" bIns="0" rtlCol="0">
            <a:spAutoFit/>
          </a:bodyPr>
          <a:lstStyle/>
          <a:p>
            <a:pPr marL="11206" marR="4483">
              <a:lnSpc>
                <a:spcPct val="100600"/>
              </a:lnSpc>
              <a:spcBef>
                <a:spcPts val="79"/>
              </a:spcBef>
              <a:spcAft>
                <a:spcPts val="1800"/>
              </a:spcAft>
            </a:pPr>
            <a:r>
              <a:rPr lang="en-US" sz="2400" dirty="0"/>
              <a:t>How</a:t>
            </a:r>
            <a:r>
              <a:rPr lang="en-US" sz="2400" spc="18" dirty="0"/>
              <a:t> </a:t>
            </a:r>
            <a:r>
              <a:rPr lang="en-US" sz="2400" dirty="0"/>
              <a:t>many</a:t>
            </a:r>
            <a:r>
              <a:rPr lang="en-US" sz="2400" spc="4" dirty="0"/>
              <a:t> </a:t>
            </a:r>
            <a:r>
              <a:rPr lang="en-US" sz="2400" dirty="0"/>
              <a:t>cycles</a:t>
            </a:r>
            <a:r>
              <a:rPr lang="en-US" sz="2400" spc="9" dirty="0"/>
              <a:t> </a:t>
            </a:r>
            <a:r>
              <a:rPr lang="en-US" sz="2400" dirty="0"/>
              <a:t>are</a:t>
            </a:r>
            <a:r>
              <a:rPr lang="en-US" sz="2400" spc="4" dirty="0"/>
              <a:t> </a:t>
            </a:r>
            <a:r>
              <a:rPr lang="en-US" sz="2400" dirty="0"/>
              <a:t>needed</a:t>
            </a:r>
            <a:r>
              <a:rPr lang="en-US" sz="2400" spc="9" dirty="0"/>
              <a:t> </a:t>
            </a:r>
            <a:r>
              <a:rPr lang="en-US" sz="2400" dirty="0"/>
              <a:t>to</a:t>
            </a:r>
            <a:r>
              <a:rPr lang="en-US" sz="2400" spc="4" dirty="0"/>
              <a:t> </a:t>
            </a:r>
            <a:r>
              <a:rPr lang="en-US" sz="2400" dirty="0"/>
              <a:t>run</a:t>
            </a:r>
            <a:r>
              <a:rPr lang="en-US" sz="2400" spc="9" dirty="0"/>
              <a:t> </a:t>
            </a:r>
            <a:r>
              <a:rPr lang="en-US" sz="2400" spc="-22" dirty="0"/>
              <a:t>the </a:t>
            </a:r>
            <a:r>
              <a:rPr lang="en-US" sz="2400" dirty="0"/>
              <a:t>instruction</a:t>
            </a:r>
            <a:r>
              <a:rPr lang="en-US" sz="2400" spc="18" dirty="0"/>
              <a:t> </a:t>
            </a:r>
            <a:r>
              <a:rPr lang="en-US" sz="2400" dirty="0"/>
              <a:t>stream</a:t>
            </a:r>
            <a:r>
              <a:rPr lang="en-US" sz="2400" spc="31" dirty="0"/>
              <a:t> </a:t>
            </a:r>
            <a:r>
              <a:rPr lang="en-US" sz="2400" dirty="0"/>
              <a:t>on</a:t>
            </a:r>
            <a:r>
              <a:rPr lang="en-US" sz="2400" spc="18" dirty="0"/>
              <a:t> </a:t>
            </a:r>
            <a:r>
              <a:rPr lang="en-US" sz="2400" spc="-9" dirty="0"/>
              <a:t>a</a:t>
            </a:r>
            <a:r>
              <a:rPr lang="en-US" sz="2400" spc="-97" dirty="0"/>
              <a:t> </a:t>
            </a:r>
            <a:r>
              <a:rPr lang="en-US" sz="2400" u="heavy" spc="-274" dirty="0">
                <a:uFill>
                  <a:solidFill>
                    <a:srgbClr val="000000"/>
                  </a:solidFill>
                </a:uFill>
              </a:rPr>
              <a:t> </a:t>
            </a:r>
            <a:r>
              <a:rPr lang="en-US" sz="2400" u="heavy" dirty="0">
                <a:uFill>
                  <a:solidFill>
                    <a:srgbClr val="000000"/>
                  </a:solidFill>
                </a:uFill>
              </a:rPr>
              <a:t>pipelined</a:t>
            </a:r>
            <a:r>
              <a:rPr lang="en-US" sz="2400" spc="13" dirty="0"/>
              <a:t> </a:t>
            </a:r>
            <a:r>
              <a:rPr lang="en-US" sz="2400" dirty="0"/>
              <a:t>MIPS</a:t>
            </a:r>
            <a:r>
              <a:rPr lang="en-US" sz="2400" spc="18" dirty="0"/>
              <a:t> </a:t>
            </a:r>
            <a:r>
              <a:rPr lang="en-US" sz="2400" spc="-18" dirty="0"/>
              <a:t>with </a:t>
            </a:r>
            <a:r>
              <a:rPr lang="en-US" sz="2400" dirty="0"/>
              <a:t>forwarding</a:t>
            </a:r>
            <a:r>
              <a:rPr lang="en-US" sz="2400" spc="44" dirty="0"/>
              <a:t> </a:t>
            </a:r>
            <a:r>
              <a:rPr lang="en-US" sz="2400" spc="-9" dirty="0"/>
              <a:t>enabled?</a:t>
            </a:r>
          </a:p>
          <a:p>
            <a:pPr marL="336194" indent="-324988">
              <a:lnSpc>
                <a:spcPct val="100000"/>
              </a:lnSpc>
              <a:buAutoNum type="alphaUcPeriod"/>
              <a:tabLst>
                <a:tab pos="336194" algn="l"/>
              </a:tabLst>
            </a:pPr>
            <a:r>
              <a:rPr lang="en-US" sz="2400" spc="-44" dirty="0"/>
              <a:t>9</a:t>
            </a:r>
          </a:p>
          <a:p>
            <a:pPr marL="336194" indent="-324988">
              <a:lnSpc>
                <a:spcPct val="100000"/>
              </a:lnSpc>
              <a:buAutoNum type="alphaUcPeriod"/>
              <a:tabLst>
                <a:tab pos="336194" algn="l"/>
              </a:tabLst>
            </a:pPr>
            <a:r>
              <a:rPr lang="en-US" sz="2400" spc="-22" dirty="0"/>
              <a:t>10</a:t>
            </a:r>
          </a:p>
          <a:p>
            <a:pPr marL="336194" indent="-324988">
              <a:lnSpc>
                <a:spcPct val="100000"/>
              </a:lnSpc>
              <a:buAutoNum type="alphaUcPeriod"/>
              <a:tabLst>
                <a:tab pos="336194" algn="l"/>
              </a:tabLst>
            </a:pPr>
            <a:r>
              <a:rPr lang="en-US" sz="2400" spc="-22" dirty="0"/>
              <a:t>11</a:t>
            </a:r>
          </a:p>
          <a:p>
            <a:pPr marL="336194" indent="-324988">
              <a:lnSpc>
                <a:spcPct val="100000"/>
              </a:lnSpc>
              <a:buAutoNum type="alphaUcPeriod"/>
              <a:tabLst>
                <a:tab pos="336194" algn="l"/>
              </a:tabLst>
            </a:pPr>
            <a:r>
              <a:rPr lang="en-US" sz="2400" spc="-22" dirty="0"/>
              <a:t>25</a:t>
            </a:r>
          </a:p>
        </p:txBody>
      </p:sp>
      <p:sp>
        <p:nvSpPr>
          <p:cNvPr id="9" name="Slide Number Placeholder 8">
            <a:extLst>
              <a:ext uri="{FF2B5EF4-FFF2-40B4-BE49-F238E27FC236}">
                <a16:creationId xmlns:a16="http://schemas.microsoft.com/office/drawing/2014/main" id="{49783D23-F837-45CF-667F-2BC3095B5B1C}"/>
              </a:ext>
            </a:extLst>
          </p:cNvPr>
          <p:cNvSpPr>
            <a:spLocks noGrp="1"/>
          </p:cNvSpPr>
          <p:nvPr>
            <p:ph type="sldNum" sz="quarter" idx="7"/>
          </p:nvPr>
        </p:nvSpPr>
        <p:spPr>
          <a:xfrm>
            <a:off x="8568187" y="6346231"/>
            <a:ext cx="290500" cy="302625"/>
          </a:xfrm>
        </p:spPr>
        <p:txBody>
          <a:bodyPr/>
          <a:lstStyle/>
          <a:p>
            <a:fld id="{4FE321F0-2018-4E50-8BB3-A5631EBD98DD}" type="slidenum">
              <a:rPr lang="en-US" smtClean="0"/>
              <a:t>49</a:t>
            </a:fld>
            <a:endParaRPr lang="en-US" dirty="0"/>
          </a:p>
        </p:txBody>
      </p:sp>
      <p:pic>
        <p:nvPicPr>
          <p:cNvPr id="4" name="object 4"/>
          <p:cNvPicPr/>
          <p:nvPr/>
        </p:nvPicPr>
        <p:blipFill>
          <a:blip r:embed="rId3" cstate="print"/>
          <a:stretch>
            <a:fillRect/>
          </a:stretch>
        </p:blipFill>
        <p:spPr>
          <a:xfrm>
            <a:off x="832144" y="1265134"/>
            <a:ext cx="5788575" cy="246444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04912" y="224212"/>
            <a:ext cx="6958853" cy="1365532"/>
          </a:xfrm>
          <a:prstGeom prst="rect">
            <a:avLst/>
          </a:prstGeom>
        </p:spPr>
        <p:txBody>
          <a:bodyPr vert="horz" wrap="square" lIns="0" tIns="11206" rIns="0" bIns="0" rtlCol="0" anchor="ctr">
            <a:spAutoFit/>
          </a:bodyPr>
          <a:lstStyle/>
          <a:p>
            <a:pPr marL="11206">
              <a:lnSpc>
                <a:spcPct val="100000"/>
              </a:lnSpc>
              <a:spcBef>
                <a:spcPts val="88"/>
              </a:spcBef>
            </a:pPr>
            <a:r>
              <a:rPr dirty="0"/>
              <a:t>Software</a:t>
            </a:r>
            <a:r>
              <a:rPr spc="71" dirty="0"/>
              <a:t> </a:t>
            </a:r>
            <a:r>
              <a:rPr dirty="0"/>
              <a:t>Scheduling</a:t>
            </a:r>
            <a:r>
              <a:rPr spc="88" dirty="0"/>
              <a:t> </a:t>
            </a:r>
            <a:r>
              <a:rPr dirty="0"/>
              <a:t>to</a:t>
            </a:r>
            <a:r>
              <a:rPr spc="84" dirty="0"/>
              <a:t> </a:t>
            </a:r>
            <a:r>
              <a:rPr dirty="0"/>
              <a:t>Avoid</a:t>
            </a:r>
            <a:r>
              <a:rPr spc="88" dirty="0"/>
              <a:t> </a:t>
            </a:r>
            <a:r>
              <a:rPr dirty="0"/>
              <a:t>Load</a:t>
            </a:r>
            <a:r>
              <a:rPr spc="88" dirty="0"/>
              <a:t> </a:t>
            </a:r>
            <a:r>
              <a:rPr spc="-9" dirty="0"/>
              <a:t>Hazards</a:t>
            </a:r>
          </a:p>
        </p:txBody>
      </p:sp>
      <p:sp>
        <p:nvSpPr>
          <p:cNvPr id="38" name="Slide Number Placeholder 37">
            <a:extLst>
              <a:ext uri="{FF2B5EF4-FFF2-40B4-BE49-F238E27FC236}">
                <a16:creationId xmlns:a16="http://schemas.microsoft.com/office/drawing/2014/main" id="{E75B6AF9-D163-6463-E757-798E3F151FF6}"/>
              </a:ext>
            </a:extLst>
          </p:cNvPr>
          <p:cNvSpPr>
            <a:spLocks noGrp="1"/>
          </p:cNvSpPr>
          <p:nvPr>
            <p:ph type="sldNum" sz="quarter" idx="7"/>
          </p:nvPr>
        </p:nvSpPr>
        <p:spPr/>
        <p:txBody>
          <a:bodyPr/>
          <a:lstStyle/>
          <a:p>
            <a:fld id="{4FE321F0-2018-4E50-8BB3-A5631EBD98DD}" type="slidenum">
              <a:rPr lang="en-US" smtClean="0"/>
              <a:t>50</a:t>
            </a:fld>
            <a:endParaRPr lang="en-US"/>
          </a:p>
        </p:txBody>
      </p:sp>
      <p:sp>
        <p:nvSpPr>
          <p:cNvPr id="4" name="object 4"/>
          <p:cNvSpPr txBox="1"/>
          <p:nvPr/>
        </p:nvSpPr>
        <p:spPr>
          <a:xfrm>
            <a:off x="983274" y="1082840"/>
            <a:ext cx="6789763" cy="2261826"/>
          </a:xfrm>
          <a:prstGeom prst="rect">
            <a:avLst/>
          </a:prstGeom>
        </p:spPr>
        <p:txBody>
          <a:bodyPr vert="horz" wrap="square" lIns="0" tIns="210110" rIns="0" bIns="0" rtlCol="0">
            <a:spAutoFit/>
          </a:bodyPr>
          <a:lstStyle/>
          <a:p>
            <a:pPr indent="-270636">
              <a:buChar char="•"/>
              <a:tabLst>
                <a:tab pos="281843" algn="l"/>
              </a:tabLst>
            </a:pPr>
            <a:r>
              <a:rPr sz="2294" dirty="0">
                <a:latin typeface="Calibri"/>
                <a:cs typeface="Calibri"/>
              </a:rPr>
              <a:t>Try</a:t>
            </a:r>
            <a:r>
              <a:rPr sz="2294" spc="-66" dirty="0">
                <a:latin typeface="Calibri"/>
                <a:cs typeface="Calibri"/>
              </a:rPr>
              <a:t> </a:t>
            </a:r>
            <a:r>
              <a:rPr sz="2294" spc="-9" dirty="0">
                <a:latin typeface="Calibri"/>
                <a:cs typeface="Calibri"/>
              </a:rPr>
              <a:t>producing</a:t>
            </a:r>
            <a:r>
              <a:rPr sz="2294" spc="-75" dirty="0">
                <a:latin typeface="Calibri"/>
                <a:cs typeface="Calibri"/>
              </a:rPr>
              <a:t> </a:t>
            </a:r>
            <a:r>
              <a:rPr sz="2294" dirty="0">
                <a:latin typeface="Calibri"/>
                <a:cs typeface="Calibri"/>
              </a:rPr>
              <a:t>fast</a:t>
            </a:r>
            <a:r>
              <a:rPr sz="2294" spc="-71" dirty="0">
                <a:latin typeface="Calibri"/>
                <a:cs typeface="Calibri"/>
              </a:rPr>
              <a:t> </a:t>
            </a:r>
            <a:r>
              <a:rPr sz="2294" dirty="0">
                <a:latin typeface="Calibri"/>
                <a:cs typeface="Calibri"/>
              </a:rPr>
              <a:t>code</a:t>
            </a:r>
            <a:r>
              <a:rPr sz="2294" spc="-62" dirty="0">
                <a:latin typeface="Calibri"/>
                <a:cs typeface="Calibri"/>
              </a:rPr>
              <a:t> </a:t>
            </a:r>
            <a:r>
              <a:rPr sz="2294" dirty="0">
                <a:latin typeface="Calibri"/>
                <a:cs typeface="Calibri"/>
              </a:rPr>
              <a:t>with</a:t>
            </a:r>
            <a:r>
              <a:rPr sz="2294" spc="-71" dirty="0">
                <a:latin typeface="Calibri"/>
                <a:cs typeface="Calibri"/>
              </a:rPr>
              <a:t> </a:t>
            </a:r>
            <a:r>
              <a:rPr sz="2294" dirty="0">
                <a:latin typeface="Calibri"/>
                <a:cs typeface="Calibri"/>
              </a:rPr>
              <a:t>no</a:t>
            </a:r>
            <a:r>
              <a:rPr sz="2294" spc="-75" dirty="0">
                <a:latin typeface="Calibri"/>
                <a:cs typeface="Calibri"/>
              </a:rPr>
              <a:t> </a:t>
            </a:r>
            <a:r>
              <a:rPr sz="2294" dirty="0">
                <a:latin typeface="Calibri"/>
                <a:cs typeface="Calibri"/>
              </a:rPr>
              <a:t>stalls</a:t>
            </a:r>
            <a:r>
              <a:rPr sz="2294" spc="-62" dirty="0">
                <a:latin typeface="Calibri"/>
                <a:cs typeface="Calibri"/>
              </a:rPr>
              <a:t> </a:t>
            </a:r>
            <a:r>
              <a:rPr sz="2294" spc="-22" dirty="0">
                <a:latin typeface="Calibri"/>
                <a:cs typeface="Calibri"/>
              </a:rPr>
              <a:t>for</a:t>
            </a:r>
            <a:endParaRPr sz="2294" dirty="0">
              <a:latin typeface="Calibri"/>
              <a:cs typeface="Calibri"/>
            </a:endParaRPr>
          </a:p>
          <a:p>
            <a:pPr marL="878027" marR="3405089">
              <a:lnSpc>
                <a:spcPct val="126299"/>
              </a:lnSpc>
              <a:spcBef>
                <a:spcPts val="618"/>
              </a:spcBef>
            </a:pPr>
            <a:r>
              <a:rPr sz="2000" dirty="0">
                <a:latin typeface="Calibri"/>
                <a:cs typeface="Calibri"/>
              </a:rPr>
              <a:t>a</a:t>
            </a:r>
            <a:r>
              <a:rPr sz="2000" spc="18" dirty="0">
                <a:latin typeface="Calibri"/>
                <a:cs typeface="Calibri"/>
              </a:rPr>
              <a:t> </a:t>
            </a:r>
            <a:r>
              <a:rPr sz="2000" dirty="0">
                <a:latin typeface="Calibri"/>
                <a:cs typeface="Calibri"/>
              </a:rPr>
              <a:t>=</a:t>
            </a:r>
            <a:r>
              <a:rPr sz="2000" spc="18" dirty="0">
                <a:latin typeface="Calibri"/>
                <a:cs typeface="Calibri"/>
              </a:rPr>
              <a:t> </a:t>
            </a:r>
            <a:r>
              <a:rPr sz="2000" dirty="0">
                <a:latin typeface="Calibri"/>
                <a:cs typeface="Calibri"/>
              </a:rPr>
              <a:t>b</a:t>
            </a:r>
            <a:r>
              <a:rPr sz="2000" spc="22" dirty="0">
                <a:latin typeface="Calibri"/>
                <a:cs typeface="Calibri"/>
              </a:rPr>
              <a:t> </a:t>
            </a:r>
            <a:r>
              <a:rPr sz="2000" dirty="0">
                <a:latin typeface="Calibri"/>
                <a:cs typeface="Calibri"/>
              </a:rPr>
              <a:t>+</a:t>
            </a:r>
            <a:r>
              <a:rPr sz="2000" spc="18" dirty="0">
                <a:latin typeface="Calibri"/>
                <a:cs typeface="Calibri"/>
              </a:rPr>
              <a:t> </a:t>
            </a:r>
            <a:r>
              <a:rPr sz="2000" spc="-22" dirty="0">
                <a:latin typeface="Calibri"/>
                <a:cs typeface="Calibri"/>
              </a:rPr>
              <a:t>c; </a:t>
            </a:r>
            <a:br>
              <a:rPr lang="en-US" sz="2000" spc="-22" dirty="0">
                <a:latin typeface="Calibri"/>
                <a:cs typeface="Calibri"/>
              </a:rPr>
            </a:br>
            <a:r>
              <a:rPr sz="2000" dirty="0">
                <a:latin typeface="Calibri"/>
                <a:cs typeface="Calibri"/>
              </a:rPr>
              <a:t>d</a:t>
            </a:r>
            <a:r>
              <a:rPr sz="2000" spc="22" dirty="0">
                <a:latin typeface="Calibri"/>
                <a:cs typeface="Calibri"/>
              </a:rPr>
              <a:t> </a:t>
            </a:r>
            <a:r>
              <a:rPr sz="2000" dirty="0">
                <a:latin typeface="Calibri"/>
                <a:cs typeface="Calibri"/>
              </a:rPr>
              <a:t>=</a:t>
            </a:r>
            <a:r>
              <a:rPr sz="2000" spc="22" dirty="0">
                <a:latin typeface="Calibri"/>
                <a:cs typeface="Calibri"/>
              </a:rPr>
              <a:t> </a:t>
            </a:r>
            <a:r>
              <a:rPr sz="2000" dirty="0">
                <a:latin typeface="Calibri"/>
                <a:cs typeface="Calibri"/>
              </a:rPr>
              <a:t>e</a:t>
            </a:r>
            <a:r>
              <a:rPr lang="en-US" sz="2000" spc="22" dirty="0">
                <a:latin typeface="Calibri"/>
                <a:cs typeface="Calibri"/>
              </a:rPr>
              <a:t> </a:t>
            </a:r>
            <a:r>
              <a:rPr sz="2000" dirty="0">
                <a:latin typeface="Calibri"/>
                <a:cs typeface="Calibri"/>
              </a:rPr>
              <a:t>–</a:t>
            </a:r>
            <a:r>
              <a:rPr sz="2000" spc="22" dirty="0">
                <a:latin typeface="Calibri"/>
                <a:cs typeface="Calibri"/>
              </a:rPr>
              <a:t> </a:t>
            </a:r>
            <a:r>
              <a:rPr sz="2000" spc="-22" dirty="0">
                <a:latin typeface="Calibri"/>
                <a:cs typeface="Calibri"/>
              </a:rPr>
              <a:t>f;</a:t>
            </a:r>
            <a:endParaRPr sz="2000" dirty="0">
              <a:latin typeface="Calibri"/>
              <a:cs typeface="Calibri"/>
            </a:endParaRPr>
          </a:p>
          <a:p>
            <a:pPr marL="444337">
              <a:spcBef>
                <a:spcPts val="476"/>
              </a:spcBef>
              <a:spcAft>
                <a:spcPts val="600"/>
              </a:spcAft>
            </a:pPr>
            <a:r>
              <a:rPr sz="1941" dirty="0">
                <a:latin typeface="Calibri"/>
                <a:cs typeface="Calibri"/>
              </a:rPr>
              <a:t>–</a:t>
            </a:r>
            <a:r>
              <a:rPr sz="1941" spc="256" dirty="0">
                <a:latin typeface="Calibri"/>
                <a:cs typeface="Calibri"/>
              </a:rPr>
              <a:t> </a:t>
            </a:r>
            <a:r>
              <a:rPr sz="1941" spc="-18" dirty="0">
                <a:latin typeface="Calibri"/>
                <a:cs typeface="Calibri"/>
              </a:rPr>
              <a:t>assuming</a:t>
            </a:r>
            <a:r>
              <a:rPr sz="1941" spc="-57" dirty="0">
                <a:latin typeface="Calibri"/>
                <a:cs typeface="Calibri"/>
              </a:rPr>
              <a:t> </a:t>
            </a:r>
            <a:r>
              <a:rPr sz="1941" dirty="0">
                <a:latin typeface="Calibri"/>
                <a:cs typeface="Calibri"/>
              </a:rPr>
              <a:t>a,</a:t>
            </a:r>
            <a:r>
              <a:rPr sz="1941" spc="-44" dirty="0">
                <a:latin typeface="Calibri"/>
                <a:cs typeface="Calibri"/>
              </a:rPr>
              <a:t> </a:t>
            </a:r>
            <a:r>
              <a:rPr sz="1941" dirty="0">
                <a:latin typeface="Calibri"/>
                <a:cs typeface="Calibri"/>
              </a:rPr>
              <a:t>b,</a:t>
            </a:r>
            <a:r>
              <a:rPr sz="1941" spc="-44" dirty="0">
                <a:latin typeface="Calibri"/>
                <a:cs typeface="Calibri"/>
              </a:rPr>
              <a:t> </a:t>
            </a:r>
            <a:r>
              <a:rPr sz="1941" dirty="0">
                <a:latin typeface="Calibri"/>
                <a:cs typeface="Calibri"/>
              </a:rPr>
              <a:t>c,</a:t>
            </a:r>
            <a:r>
              <a:rPr sz="1941" spc="-44" dirty="0">
                <a:latin typeface="Calibri"/>
                <a:cs typeface="Calibri"/>
              </a:rPr>
              <a:t> </a:t>
            </a:r>
            <a:r>
              <a:rPr sz="1941" dirty="0">
                <a:latin typeface="Calibri"/>
                <a:cs typeface="Calibri"/>
              </a:rPr>
              <a:t>d</a:t>
            </a:r>
            <a:r>
              <a:rPr sz="1941" spc="-62" dirty="0">
                <a:latin typeface="Calibri"/>
                <a:cs typeface="Calibri"/>
              </a:rPr>
              <a:t> </a:t>
            </a:r>
            <a:r>
              <a:rPr sz="1941" dirty="0">
                <a:latin typeface="Calibri"/>
                <a:cs typeface="Calibri"/>
              </a:rPr>
              <a:t>,e,</a:t>
            </a:r>
            <a:r>
              <a:rPr sz="1941" spc="-44" dirty="0">
                <a:latin typeface="Calibri"/>
                <a:cs typeface="Calibri"/>
              </a:rPr>
              <a:t> </a:t>
            </a:r>
            <a:r>
              <a:rPr sz="1941" dirty="0">
                <a:latin typeface="Calibri"/>
                <a:cs typeface="Calibri"/>
              </a:rPr>
              <a:t>and</a:t>
            </a:r>
            <a:r>
              <a:rPr sz="1941" spc="-57" dirty="0">
                <a:latin typeface="Calibri"/>
                <a:cs typeface="Calibri"/>
              </a:rPr>
              <a:t> </a:t>
            </a:r>
            <a:r>
              <a:rPr sz="1941" dirty="0">
                <a:latin typeface="Calibri"/>
                <a:cs typeface="Calibri"/>
              </a:rPr>
              <a:t>f</a:t>
            </a:r>
            <a:r>
              <a:rPr sz="1941" spc="-49" dirty="0">
                <a:latin typeface="Calibri"/>
                <a:cs typeface="Calibri"/>
              </a:rPr>
              <a:t> </a:t>
            </a:r>
            <a:r>
              <a:rPr sz="1941" dirty="0">
                <a:latin typeface="Calibri"/>
                <a:cs typeface="Calibri"/>
              </a:rPr>
              <a:t>are</a:t>
            </a:r>
            <a:r>
              <a:rPr sz="1941" spc="-53" dirty="0">
                <a:latin typeface="Calibri"/>
                <a:cs typeface="Calibri"/>
              </a:rPr>
              <a:t> </a:t>
            </a:r>
            <a:r>
              <a:rPr sz="1941" dirty="0">
                <a:latin typeface="Calibri"/>
                <a:cs typeface="Calibri"/>
              </a:rPr>
              <a:t>in</a:t>
            </a:r>
            <a:r>
              <a:rPr sz="1941" spc="-57" dirty="0">
                <a:latin typeface="Calibri"/>
                <a:cs typeface="Calibri"/>
              </a:rPr>
              <a:t> </a:t>
            </a:r>
            <a:r>
              <a:rPr sz="1941" spc="-9" dirty="0">
                <a:latin typeface="Calibri"/>
                <a:cs typeface="Calibri"/>
              </a:rPr>
              <a:t>memory.</a:t>
            </a:r>
            <a:endParaRPr sz="1941" dirty="0">
              <a:latin typeface="Calibri"/>
              <a:cs typeface="Calibri"/>
            </a:endParaRPr>
          </a:p>
          <a:p>
            <a:pPr marL="878027">
              <a:spcBef>
                <a:spcPts val="410"/>
              </a:spcBef>
            </a:pPr>
            <a:r>
              <a:rPr sz="2294" dirty="0">
                <a:latin typeface="Calibri"/>
                <a:cs typeface="Calibri"/>
              </a:rPr>
              <a:t>Slow</a:t>
            </a:r>
            <a:r>
              <a:rPr sz="2294" spc="-106" dirty="0">
                <a:latin typeface="Calibri"/>
                <a:cs typeface="Calibri"/>
              </a:rPr>
              <a:t> </a:t>
            </a:r>
            <a:r>
              <a:rPr sz="2294" spc="-18" dirty="0">
                <a:latin typeface="Calibri"/>
                <a:cs typeface="Calibri"/>
              </a:rPr>
              <a:t>code:</a:t>
            </a:r>
            <a:endParaRPr sz="2294" dirty="0">
              <a:latin typeface="Calibri"/>
              <a:cs typeface="Calibri"/>
            </a:endParaRPr>
          </a:p>
        </p:txBody>
      </p:sp>
      <p:grpSp>
        <p:nvGrpSpPr>
          <p:cNvPr id="34" name="Group 33">
            <a:extLst>
              <a:ext uri="{FF2B5EF4-FFF2-40B4-BE49-F238E27FC236}">
                <a16:creationId xmlns:a16="http://schemas.microsoft.com/office/drawing/2014/main" id="{7DE49B15-DCA8-791A-1395-A6ACEACE132B}"/>
              </a:ext>
            </a:extLst>
          </p:cNvPr>
          <p:cNvGrpSpPr/>
          <p:nvPr/>
        </p:nvGrpSpPr>
        <p:grpSpPr>
          <a:xfrm>
            <a:off x="2621478" y="3394680"/>
            <a:ext cx="1766837" cy="2545931"/>
            <a:chOff x="2621478" y="3260210"/>
            <a:chExt cx="1766837" cy="2545931"/>
          </a:xfrm>
        </p:grpSpPr>
        <p:sp>
          <p:nvSpPr>
            <p:cNvPr id="30" name="object 30"/>
            <p:cNvSpPr txBox="1"/>
            <p:nvPr/>
          </p:nvSpPr>
          <p:spPr>
            <a:xfrm>
              <a:off x="2621478" y="3263163"/>
              <a:ext cx="412376" cy="2511997"/>
            </a:xfrm>
            <a:prstGeom prst="rect">
              <a:avLst/>
            </a:prstGeom>
          </p:spPr>
          <p:txBody>
            <a:bodyPr vert="horz" wrap="square" lIns="0" tIns="14568" rIns="0" bIns="0" rtlCol="0">
              <a:spAutoFit/>
            </a:bodyPr>
            <a:lstStyle/>
            <a:p>
              <a:pPr marL="11206" marR="4483">
                <a:lnSpc>
                  <a:spcPct val="121700"/>
                </a:lnSpc>
                <a:spcBef>
                  <a:spcPts val="115"/>
                </a:spcBef>
              </a:pPr>
              <a:r>
                <a:rPr sz="1677" spc="-22" dirty="0">
                  <a:latin typeface="Calibri"/>
                  <a:cs typeface="Calibri"/>
                </a:rPr>
                <a:t>LW LW ADD SW LW LW SUB SW</a:t>
              </a:r>
              <a:endParaRPr sz="1677" dirty="0">
                <a:latin typeface="Calibri"/>
                <a:cs typeface="Calibri"/>
              </a:endParaRPr>
            </a:p>
          </p:txBody>
        </p:sp>
        <p:sp>
          <p:nvSpPr>
            <p:cNvPr id="31" name="object 31"/>
            <p:cNvSpPr txBox="1"/>
            <p:nvPr/>
          </p:nvSpPr>
          <p:spPr>
            <a:xfrm>
              <a:off x="3495206" y="3260210"/>
              <a:ext cx="893109" cy="2545931"/>
            </a:xfrm>
            <a:prstGeom prst="rect">
              <a:avLst/>
            </a:prstGeom>
          </p:spPr>
          <p:txBody>
            <a:bodyPr vert="horz" wrap="square" lIns="0" tIns="10646" rIns="0" bIns="0" rtlCol="0">
              <a:spAutoFit/>
            </a:bodyPr>
            <a:lstStyle/>
            <a:p>
              <a:pPr marL="11206" marR="426967">
                <a:lnSpc>
                  <a:spcPct val="123200"/>
                </a:lnSpc>
                <a:spcBef>
                  <a:spcPts val="84"/>
                </a:spcBef>
              </a:pPr>
              <a:r>
                <a:rPr sz="1677" dirty="0">
                  <a:latin typeface="Calibri"/>
                  <a:cs typeface="Calibri"/>
                </a:rPr>
                <a:t>Rb,</a:t>
              </a:r>
              <a:r>
                <a:rPr sz="1677" spc="22" dirty="0">
                  <a:latin typeface="Calibri"/>
                  <a:cs typeface="Calibri"/>
                </a:rPr>
                <a:t> </a:t>
              </a:r>
              <a:r>
                <a:rPr sz="1677" spc="-44" dirty="0">
                  <a:latin typeface="Calibri"/>
                  <a:cs typeface="Calibri"/>
                </a:rPr>
                <a:t>b </a:t>
              </a:r>
              <a:r>
                <a:rPr sz="1677" dirty="0">
                  <a:latin typeface="Calibri"/>
                  <a:cs typeface="Calibri"/>
                </a:rPr>
                <a:t>Rc,</a:t>
              </a:r>
              <a:r>
                <a:rPr sz="1677" spc="22" dirty="0">
                  <a:latin typeface="Calibri"/>
                  <a:cs typeface="Calibri"/>
                </a:rPr>
                <a:t> </a:t>
              </a:r>
              <a:r>
                <a:rPr sz="1677" spc="-44" dirty="0">
                  <a:latin typeface="Calibri"/>
                  <a:cs typeface="Calibri"/>
                </a:rPr>
                <a:t>c</a:t>
              </a:r>
              <a:endParaRPr sz="1677" dirty="0">
                <a:latin typeface="Calibri"/>
                <a:cs typeface="Calibri"/>
              </a:endParaRPr>
            </a:p>
            <a:p>
              <a:pPr marL="11206" marR="4483">
                <a:lnSpc>
                  <a:spcPts val="2480"/>
                </a:lnSpc>
                <a:spcBef>
                  <a:spcPts val="53"/>
                </a:spcBef>
              </a:pPr>
              <a:r>
                <a:rPr sz="1677" dirty="0">
                  <a:latin typeface="Calibri"/>
                  <a:cs typeface="Calibri"/>
                </a:rPr>
                <a:t>Ra,</a:t>
              </a:r>
              <a:r>
                <a:rPr sz="1677" spc="22" dirty="0">
                  <a:latin typeface="Calibri"/>
                  <a:cs typeface="Calibri"/>
                </a:rPr>
                <a:t> </a:t>
              </a:r>
              <a:r>
                <a:rPr sz="1677" dirty="0">
                  <a:latin typeface="Calibri"/>
                  <a:cs typeface="Calibri"/>
                </a:rPr>
                <a:t>Rb,</a:t>
              </a:r>
              <a:r>
                <a:rPr sz="1677" spc="26" dirty="0">
                  <a:latin typeface="Calibri"/>
                  <a:cs typeface="Calibri"/>
                </a:rPr>
                <a:t> </a:t>
              </a:r>
              <a:r>
                <a:rPr sz="1677" spc="-22" dirty="0">
                  <a:latin typeface="Calibri"/>
                  <a:cs typeface="Calibri"/>
                </a:rPr>
                <a:t>Rc </a:t>
              </a:r>
              <a:r>
                <a:rPr sz="1677" dirty="0">
                  <a:latin typeface="Calibri"/>
                  <a:cs typeface="Calibri"/>
                </a:rPr>
                <a:t>a,</a:t>
              </a:r>
              <a:r>
                <a:rPr sz="1677" spc="18" dirty="0">
                  <a:latin typeface="Calibri"/>
                  <a:cs typeface="Calibri"/>
                </a:rPr>
                <a:t> </a:t>
              </a:r>
              <a:r>
                <a:rPr sz="1677" spc="-22" dirty="0">
                  <a:latin typeface="Calibri"/>
                  <a:cs typeface="Calibri"/>
                </a:rPr>
                <a:t>Ra</a:t>
              </a:r>
              <a:endParaRPr sz="1677" dirty="0">
                <a:latin typeface="Calibri"/>
                <a:cs typeface="Calibri"/>
              </a:endParaRPr>
            </a:p>
            <a:p>
              <a:pPr marL="11206" marR="438734">
                <a:lnSpc>
                  <a:spcPts val="2374"/>
                </a:lnSpc>
                <a:spcBef>
                  <a:spcPts val="84"/>
                </a:spcBef>
              </a:pPr>
              <a:r>
                <a:rPr sz="1677" dirty="0">
                  <a:latin typeface="Calibri"/>
                  <a:cs typeface="Calibri"/>
                </a:rPr>
                <a:t>Re,</a:t>
              </a:r>
              <a:r>
                <a:rPr sz="1677" spc="26" dirty="0">
                  <a:latin typeface="Calibri"/>
                  <a:cs typeface="Calibri"/>
                </a:rPr>
                <a:t> </a:t>
              </a:r>
              <a:r>
                <a:rPr sz="1677" spc="-44" dirty="0">
                  <a:latin typeface="Calibri"/>
                  <a:cs typeface="Calibri"/>
                </a:rPr>
                <a:t>e </a:t>
              </a:r>
              <a:r>
                <a:rPr sz="1677" dirty="0">
                  <a:latin typeface="Calibri"/>
                  <a:cs typeface="Calibri"/>
                </a:rPr>
                <a:t>Rf,</a:t>
              </a:r>
              <a:r>
                <a:rPr sz="1677" spc="18" dirty="0">
                  <a:latin typeface="Calibri"/>
                  <a:cs typeface="Calibri"/>
                </a:rPr>
                <a:t> </a:t>
              </a:r>
              <a:r>
                <a:rPr sz="1677" spc="-44" dirty="0">
                  <a:latin typeface="Calibri"/>
                  <a:cs typeface="Calibri"/>
                </a:rPr>
                <a:t>f</a:t>
              </a:r>
              <a:endParaRPr sz="1677" dirty="0">
                <a:latin typeface="Calibri"/>
                <a:cs typeface="Calibri"/>
              </a:endParaRPr>
            </a:p>
            <a:p>
              <a:pPr marL="11206" marR="24654">
                <a:lnSpc>
                  <a:spcPts val="2480"/>
                </a:lnSpc>
              </a:pPr>
              <a:r>
                <a:rPr sz="1677" dirty="0">
                  <a:latin typeface="Calibri"/>
                  <a:cs typeface="Calibri"/>
                </a:rPr>
                <a:t>Rd,</a:t>
              </a:r>
              <a:r>
                <a:rPr sz="1677" spc="26" dirty="0">
                  <a:latin typeface="Calibri"/>
                  <a:cs typeface="Calibri"/>
                </a:rPr>
                <a:t> </a:t>
              </a:r>
              <a:r>
                <a:rPr sz="1677" dirty="0">
                  <a:latin typeface="Calibri"/>
                  <a:cs typeface="Calibri"/>
                </a:rPr>
                <a:t>Re,</a:t>
              </a:r>
              <a:r>
                <a:rPr sz="1677" spc="26" dirty="0">
                  <a:latin typeface="Calibri"/>
                  <a:cs typeface="Calibri"/>
                </a:rPr>
                <a:t> </a:t>
              </a:r>
              <a:r>
                <a:rPr sz="1677" spc="-22" dirty="0">
                  <a:latin typeface="Calibri"/>
                  <a:cs typeface="Calibri"/>
                </a:rPr>
                <a:t>Rf </a:t>
              </a:r>
              <a:r>
                <a:rPr sz="1677" dirty="0">
                  <a:latin typeface="Calibri"/>
                  <a:cs typeface="Calibri"/>
                </a:rPr>
                <a:t>d,</a:t>
              </a:r>
              <a:r>
                <a:rPr sz="1677" spc="22" dirty="0">
                  <a:latin typeface="Calibri"/>
                  <a:cs typeface="Calibri"/>
                </a:rPr>
                <a:t> </a:t>
              </a:r>
              <a:r>
                <a:rPr sz="1677" spc="-22" dirty="0">
                  <a:latin typeface="Calibri"/>
                  <a:cs typeface="Calibri"/>
                </a:rPr>
                <a:t>Rd</a:t>
              </a:r>
              <a:endParaRPr sz="1677" dirty="0">
                <a:latin typeface="Calibri"/>
                <a:cs typeface="Calibri"/>
              </a:endParaRPr>
            </a:p>
          </p:txBody>
        </p:sp>
      </p:grpSp>
      <p:grpSp>
        <p:nvGrpSpPr>
          <p:cNvPr id="35" name="Group 34">
            <a:extLst>
              <a:ext uri="{FF2B5EF4-FFF2-40B4-BE49-F238E27FC236}">
                <a16:creationId xmlns:a16="http://schemas.microsoft.com/office/drawing/2014/main" id="{AF07EF6F-164C-DAA7-C3FF-BC58B9BBDAE4}"/>
              </a:ext>
            </a:extLst>
          </p:cNvPr>
          <p:cNvGrpSpPr/>
          <p:nvPr/>
        </p:nvGrpSpPr>
        <p:grpSpPr>
          <a:xfrm>
            <a:off x="5303195" y="3131042"/>
            <a:ext cx="3334311" cy="2706279"/>
            <a:chOff x="5303195" y="2996572"/>
            <a:chExt cx="3334311" cy="2706279"/>
          </a:xfrm>
        </p:grpSpPr>
        <p:sp>
          <p:nvSpPr>
            <p:cNvPr id="32" name="object 32"/>
            <p:cNvSpPr txBox="1"/>
            <p:nvPr/>
          </p:nvSpPr>
          <p:spPr>
            <a:xfrm>
              <a:off x="6230917" y="2996572"/>
              <a:ext cx="1765487" cy="472980"/>
            </a:xfrm>
            <a:prstGeom prst="rect">
              <a:avLst/>
            </a:prstGeom>
          </p:spPr>
          <p:txBody>
            <a:bodyPr vert="horz" wrap="square" lIns="0" tIns="11206" rIns="0" bIns="0" rtlCol="0">
              <a:spAutoFit/>
            </a:bodyPr>
            <a:lstStyle/>
            <a:p>
              <a:pPr marL="11206">
                <a:spcBef>
                  <a:spcPts val="88"/>
                </a:spcBef>
              </a:pPr>
              <a:r>
                <a:rPr sz="3000" b="1" dirty="0">
                  <a:solidFill>
                    <a:srgbClr val="FC0128"/>
                  </a:solidFill>
                  <a:latin typeface="Calibri"/>
                  <a:cs typeface="Calibri"/>
                </a:rPr>
                <a:t>Find</a:t>
              </a:r>
              <a:r>
                <a:rPr sz="3000" b="1" spc="9" dirty="0">
                  <a:solidFill>
                    <a:srgbClr val="FC0128"/>
                  </a:solidFill>
                  <a:latin typeface="Calibri"/>
                  <a:cs typeface="Calibri"/>
                </a:rPr>
                <a:t> </a:t>
              </a:r>
              <a:r>
                <a:rPr sz="3000" b="1" spc="-9" dirty="0">
                  <a:solidFill>
                    <a:srgbClr val="FC0128"/>
                  </a:solidFill>
                  <a:latin typeface="Calibri"/>
                  <a:cs typeface="Calibri"/>
                </a:rPr>
                <a:t>Stalls!</a:t>
              </a:r>
              <a:endParaRPr sz="3000" dirty="0">
                <a:latin typeface="Calibri"/>
                <a:cs typeface="Calibri"/>
              </a:endParaRPr>
            </a:p>
          </p:txBody>
        </p:sp>
        <p:sp>
          <p:nvSpPr>
            <p:cNvPr id="36" name="object 36"/>
            <p:cNvSpPr txBox="1"/>
            <p:nvPr/>
          </p:nvSpPr>
          <p:spPr>
            <a:xfrm>
              <a:off x="5303196" y="3706293"/>
              <a:ext cx="3334310" cy="242148"/>
            </a:xfrm>
            <a:prstGeom prst="rect">
              <a:avLst/>
            </a:prstGeom>
          </p:spPr>
          <p:txBody>
            <a:bodyPr vert="horz" wrap="square" lIns="0" tIns="11206" rIns="0" bIns="0" rtlCol="0">
              <a:spAutoFit/>
            </a:bodyPr>
            <a:lstStyle/>
            <a:p>
              <a:pPr marL="11206">
                <a:spcBef>
                  <a:spcPts val="88"/>
                </a:spcBef>
              </a:pPr>
              <a:r>
                <a:rPr sz="1500" b="1" dirty="0">
                  <a:latin typeface="Arial"/>
                  <a:cs typeface="Arial"/>
                </a:rPr>
                <a:t>How</a:t>
              </a:r>
              <a:r>
                <a:rPr sz="1500" b="1" spc="18" dirty="0">
                  <a:latin typeface="Arial"/>
                  <a:cs typeface="Arial"/>
                </a:rPr>
                <a:t> </a:t>
              </a:r>
              <a:r>
                <a:rPr sz="1500" b="1" dirty="0">
                  <a:latin typeface="Arial"/>
                  <a:cs typeface="Arial"/>
                </a:rPr>
                <a:t>many</a:t>
              </a:r>
              <a:r>
                <a:rPr sz="1500" b="1" spc="4" dirty="0">
                  <a:latin typeface="Arial"/>
                  <a:cs typeface="Arial"/>
                </a:rPr>
                <a:t> </a:t>
              </a:r>
              <a:r>
                <a:rPr sz="1500" b="1" dirty="0">
                  <a:latin typeface="Arial"/>
                  <a:cs typeface="Arial"/>
                </a:rPr>
                <a:t>stall</a:t>
              </a:r>
              <a:r>
                <a:rPr sz="1500" b="1" spc="9" dirty="0">
                  <a:latin typeface="Arial"/>
                  <a:cs typeface="Arial"/>
                </a:rPr>
                <a:t> </a:t>
              </a:r>
              <a:r>
                <a:rPr sz="1500" b="1" dirty="0">
                  <a:latin typeface="Arial"/>
                  <a:cs typeface="Arial"/>
                </a:rPr>
                <a:t>cycles</a:t>
              </a:r>
              <a:r>
                <a:rPr sz="1500" b="1" spc="9" dirty="0">
                  <a:latin typeface="Arial"/>
                  <a:cs typeface="Arial"/>
                </a:rPr>
                <a:t> </a:t>
              </a:r>
              <a:r>
                <a:rPr sz="1500" b="1" dirty="0">
                  <a:latin typeface="Arial"/>
                  <a:cs typeface="Arial"/>
                </a:rPr>
                <a:t>did</a:t>
              </a:r>
              <a:r>
                <a:rPr sz="1500" b="1" spc="4" dirty="0">
                  <a:latin typeface="Arial"/>
                  <a:cs typeface="Arial"/>
                </a:rPr>
                <a:t> </a:t>
              </a:r>
              <a:r>
                <a:rPr sz="1500" b="1" dirty="0">
                  <a:latin typeface="Arial"/>
                  <a:cs typeface="Arial"/>
                </a:rPr>
                <a:t>you</a:t>
              </a:r>
              <a:r>
                <a:rPr sz="1500" b="1" spc="4" dirty="0">
                  <a:latin typeface="Arial"/>
                  <a:cs typeface="Arial"/>
                </a:rPr>
                <a:t> </a:t>
              </a:r>
              <a:r>
                <a:rPr sz="1500" b="1" spc="-9" dirty="0">
                  <a:latin typeface="Arial"/>
                  <a:cs typeface="Arial"/>
                </a:rPr>
                <a:t>find?</a:t>
              </a:r>
              <a:endParaRPr sz="1500" dirty="0">
                <a:latin typeface="Arial"/>
                <a:cs typeface="Arial"/>
              </a:endParaRPr>
            </a:p>
          </p:txBody>
        </p:sp>
        <p:sp>
          <p:nvSpPr>
            <p:cNvPr id="37" name="object 37"/>
            <p:cNvSpPr txBox="1"/>
            <p:nvPr/>
          </p:nvSpPr>
          <p:spPr>
            <a:xfrm>
              <a:off x="5303195" y="3969156"/>
              <a:ext cx="453838" cy="1733695"/>
            </a:xfrm>
            <a:prstGeom prst="rect">
              <a:avLst/>
            </a:prstGeom>
          </p:spPr>
          <p:txBody>
            <a:bodyPr vert="horz" wrap="square" lIns="0" tIns="129428" rIns="0" bIns="0" rtlCol="0">
              <a:spAutoFit/>
            </a:bodyPr>
            <a:lstStyle/>
            <a:p>
              <a:pPr marL="11206">
                <a:spcBef>
                  <a:spcPts val="1019"/>
                </a:spcBef>
                <a:tabLst>
                  <a:tab pos="336194" algn="l"/>
                </a:tabLst>
              </a:pPr>
              <a:r>
                <a:rPr sz="1500" b="1" spc="-22" dirty="0">
                  <a:latin typeface="Arial"/>
                  <a:cs typeface="Arial"/>
                </a:rPr>
                <a:t>A.</a:t>
              </a:r>
              <a:r>
                <a:rPr sz="1500" b="1" dirty="0">
                  <a:latin typeface="Arial"/>
                  <a:cs typeface="Arial"/>
                </a:rPr>
                <a:t>	</a:t>
              </a:r>
              <a:r>
                <a:rPr sz="1500" b="1" spc="-44" dirty="0">
                  <a:latin typeface="Arial"/>
                  <a:cs typeface="Arial"/>
                </a:rPr>
                <a:t>0</a:t>
              </a:r>
              <a:endParaRPr sz="1500" dirty="0">
                <a:latin typeface="Arial"/>
                <a:cs typeface="Arial"/>
              </a:endParaRPr>
            </a:p>
            <a:p>
              <a:pPr marL="11206">
                <a:spcBef>
                  <a:spcPts val="931"/>
                </a:spcBef>
                <a:tabLst>
                  <a:tab pos="336194" algn="l"/>
                </a:tabLst>
              </a:pPr>
              <a:r>
                <a:rPr sz="1500" b="1" spc="-22" dirty="0">
                  <a:latin typeface="Arial"/>
                  <a:cs typeface="Arial"/>
                </a:rPr>
                <a:t>B.</a:t>
              </a:r>
              <a:r>
                <a:rPr sz="1500" b="1" dirty="0">
                  <a:latin typeface="Arial"/>
                  <a:cs typeface="Arial"/>
                </a:rPr>
                <a:t>	</a:t>
              </a:r>
              <a:r>
                <a:rPr sz="1500" b="1" spc="-44" dirty="0">
                  <a:latin typeface="Arial"/>
                  <a:cs typeface="Arial"/>
                </a:rPr>
                <a:t>1</a:t>
              </a:r>
              <a:endParaRPr sz="1500" dirty="0">
                <a:latin typeface="Arial"/>
                <a:cs typeface="Arial"/>
              </a:endParaRPr>
            </a:p>
            <a:p>
              <a:pPr marL="11206">
                <a:spcBef>
                  <a:spcPts val="931"/>
                </a:spcBef>
                <a:tabLst>
                  <a:tab pos="336194" algn="l"/>
                </a:tabLst>
              </a:pPr>
              <a:r>
                <a:rPr sz="1500" b="1" spc="-22" dirty="0">
                  <a:latin typeface="Arial"/>
                  <a:cs typeface="Arial"/>
                </a:rPr>
                <a:t>C.</a:t>
              </a:r>
              <a:r>
                <a:rPr sz="1500" b="1" dirty="0">
                  <a:latin typeface="Arial"/>
                  <a:cs typeface="Arial"/>
                </a:rPr>
                <a:t>	</a:t>
              </a:r>
              <a:r>
                <a:rPr sz="1500" b="1" spc="-44" dirty="0">
                  <a:latin typeface="Arial"/>
                  <a:cs typeface="Arial"/>
                </a:rPr>
                <a:t>2</a:t>
              </a:r>
              <a:endParaRPr sz="1500" dirty="0">
                <a:latin typeface="Arial"/>
                <a:cs typeface="Arial"/>
              </a:endParaRPr>
            </a:p>
            <a:p>
              <a:pPr marL="11206">
                <a:spcBef>
                  <a:spcPts val="931"/>
                </a:spcBef>
                <a:tabLst>
                  <a:tab pos="336194" algn="l"/>
                </a:tabLst>
              </a:pPr>
              <a:r>
                <a:rPr sz="1500" b="1" spc="-22" dirty="0">
                  <a:latin typeface="Arial"/>
                  <a:cs typeface="Arial"/>
                </a:rPr>
                <a:t>D.</a:t>
              </a:r>
              <a:r>
                <a:rPr sz="1500" b="1" dirty="0">
                  <a:latin typeface="Arial"/>
                  <a:cs typeface="Arial"/>
                </a:rPr>
                <a:t>	</a:t>
              </a:r>
              <a:r>
                <a:rPr sz="1500" b="1" spc="-44" dirty="0">
                  <a:latin typeface="Arial"/>
                  <a:cs typeface="Arial"/>
                </a:rPr>
                <a:t>3</a:t>
              </a:r>
              <a:endParaRPr sz="1500" dirty="0">
                <a:latin typeface="Arial"/>
                <a:cs typeface="Arial"/>
              </a:endParaRPr>
            </a:p>
            <a:p>
              <a:pPr marL="11206">
                <a:spcBef>
                  <a:spcPts val="847"/>
                </a:spcBef>
                <a:tabLst>
                  <a:tab pos="336194" algn="l"/>
                </a:tabLst>
              </a:pPr>
              <a:r>
                <a:rPr sz="1500" b="1" spc="-22" dirty="0">
                  <a:latin typeface="Arial"/>
                  <a:cs typeface="Arial"/>
                </a:rPr>
                <a:t>E.</a:t>
              </a:r>
              <a:r>
                <a:rPr sz="1500" b="1" dirty="0">
                  <a:latin typeface="Arial"/>
                  <a:cs typeface="Arial"/>
                </a:rPr>
                <a:t>	</a:t>
              </a:r>
              <a:r>
                <a:rPr sz="1500" b="1" spc="-44" dirty="0">
                  <a:latin typeface="Arial"/>
                  <a:cs typeface="Arial"/>
                </a:rPr>
                <a:t>4</a:t>
              </a:r>
              <a:endParaRPr sz="1500" dirty="0">
                <a:latin typeface="Arial"/>
                <a:cs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4912" y="224212"/>
            <a:ext cx="6958853" cy="1365532"/>
          </a:xfrm>
          <a:prstGeom prst="rect">
            <a:avLst/>
          </a:prstGeom>
        </p:spPr>
        <p:txBody>
          <a:bodyPr vert="horz" wrap="square" lIns="0" tIns="11206" rIns="0" bIns="0" rtlCol="0" anchor="ctr">
            <a:spAutoFit/>
          </a:bodyPr>
          <a:lstStyle/>
          <a:p>
            <a:pPr marL="11206">
              <a:lnSpc>
                <a:spcPct val="100000"/>
              </a:lnSpc>
              <a:spcBef>
                <a:spcPts val="88"/>
              </a:spcBef>
            </a:pPr>
            <a:r>
              <a:rPr dirty="0"/>
              <a:t>Software</a:t>
            </a:r>
            <a:r>
              <a:rPr spc="71" dirty="0"/>
              <a:t> </a:t>
            </a:r>
            <a:r>
              <a:rPr dirty="0"/>
              <a:t>Scheduling</a:t>
            </a:r>
            <a:r>
              <a:rPr spc="88" dirty="0"/>
              <a:t> </a:t>
            </a:r>
            <a:r>
              <a:rPr dirty="0"/>
              <a:t>to</a:t>
            </a:r>
            <a:r>
              <a:rPr spc="84" dirty="0"/>
              <a:t> </a:t>
            </a:r>
            <a:r>
              <a:rPr dirty="0"/>
              <a:t>Avoid</a:t>
            </a:r>
            <a:r>
              <a:rPr spc="88" dirty="0"/>
              <a:t> </a:t>
            </a:r>
            <a:r>
              <a:rPr dirty="0"/>
              <a:t>Load</a:t>
            </a:r>
            <a:r>
              <a:rPr spc="88" dirty="0"/>
              <a:t> </a:t>
            </a:r>
            <a:r>
              <a:rPr spc="-9" dirty="0"/>
              <a:t>Hazards</a:t>
            </a:r>
          </a:p>
        </p:txBody>
      </p:sp>
      <p:sp>
        <p:nvSpPr>
          <p:cNvPr id="22" name="Slide Number Placeholder 21">
            <a:extLst>
              <a:ext uri="{FF2B5EF4-FFF2-40B4-BE49-F238E27FC236}">
                <a16:creationId xmlns:a16="http://schemas.microsoft.com/office/drawing/2014/main" id="{EBC539DD-0714-A461-0CA5-528FDFD05598}"/>
              </a:ext>
            </a:extLst>
          </p:cNvPr>
          <p:cNvSpPr>
            <a:spLocks noGrp="1"/>
          </p:cNvSpPr>
          <p:nvPr>
            <p:ph type="sldNum" sz="quarter" idx="7"/>
          </p:nvPr>
        </p:nvSpPr>
        <p:spPr/>
        <p:txBody>
          <a:bodyPr/>
          <a:lstStyle/>
          <a:p>
            <a:fld id="{4FE321F0-2018-4E50-8BB3-A5631EBD98DD}" type="slidenum">
              <a:rPr lang="en-US" smtClean="0"/>
              <a:t>51</a:t>
            </a:fld>
            <a:endParaRPr lang="en-US"/>
          </a:p>
        </p:txBody>
      </p:sp>
      <p:grpSp>
        <p:nvGrpSpPr>
          <p:cNvPr id="21" name="Group 20">
            <a:extLst>
              <a:ext uri="{FF2B5EF4-FFF2-40B4-BE49-F238E27FC236}">
                <a16:creationId xmlns:a16="http://schemas.microsoft.com/office/drawing/2014/main" id="{B0D54212-4C76-F602-AEA1-CCE79E9A9CB2}"/>
              </a:ext>
            </a:extLst>
          </p:cNvPr>
          <p:cNvGrpSpPr/>
          <p:nvPr/>
        </p:nvGrpSpPr>
        <p:grpSpPr>
          <a:xfrm>
            <a:off x="1830994" y="3404393"/>
            <a:ext cx="2556841" cy="2507194"/>
            <a:chOff x="1912274" y="3117512"/>
            <a:chExt cx="2556841" cy="2507194"/>
          </a:xfrm>
        </p:grpSpPr>
        <p:sp>
          <p:nvSpPr>
            <p:cNvPr id="4" name="object 4"/>
            <p:cNvSpPr txBox="1"/>
            <p:nvPr/>
          </p:nvSpPr>
          <p:spPr>
            <a:xfrm>
              <a:off x="3576006" y="3117513"/>
              <a:ext cx="893109" cy="955047"/>
            </a:xfrm>
            <a:prstGeom prst="rect">
              <a:avLst/>
            </a:prstGeom>
          </p:spPr>
          <p:txBody>
            <a:bodyPr vert="horz" wrap="square" lIns="0" tIns="10646" rIns="0" bIns="0" rtlCol="0">
              <a:spAutoFit/>
            </a:bodyPr>
            <a:lstStyle/>
            <a:p>
              <a:pPr marL="11206" marR="426967">
                <a:lnSpc>
                  <a:spcPct val="123200"/>
                </a:lnSpc>
                <a:spcBef>
                  <a:spcPts val="84"/>
                </a:spcBef>
              </a:pPr>
              <a:r>
                <a:rPr sz="1677" dirty="0">
                  <a:latin typeface="Calibri"/>
                  <a:cs typeface="Calibri"/>
                </a:rPr>
                <a:t>Rb,</a:t>
              </a:r>
              <a:r>
                <a:rPr sz="1677" spc="22" dirty="0">
                  <a:latin typeface="Calibri"/>
                  <a:cs typeface="Calibri"/>
                </a:rPr>
                <a:t> </a:t>
              </a:r>
              <a:r>
                <a:rPr sz="1677" spc="-44" dirty="0">
                  <a:latin typeface="Calibri"/>
                  <a:cs typeface="Calibri"/>
                </a:rPr>
                <a:t>b </a:t>
              </a:r>
              <a:r>
                <a:rPr sz="1677" dirty="0">
                  <a:solidFill>
                    <a:srgbClr val="FF0000"/>
                  </a:solidFill>
                  <a:latin typeface="Calibri"/>
                  <a:cs typeface="Calibri"/>
                </a:rPr>
                <a:t>Rc</a:t>
              </a:r>
              <a:r>
                <a:rPr sz="1677" dirty="0">
                  <a:latin typeface="Calibri"/>
                  <a:cs typeface="Calibri"/>
                </a:rPr>
                <a:t>,</a:t>
              </a:r>
              <a:r>
                <a:rPr sz="1677" spc="22" dirty="0">
                  <a:latin typeface="Calibri"/>
                  <a:cs typeface="Calibri"/>
                </a:rPr>
                <a:t> </a:t>
              </a:r>
              <a:r>
                <a:rPr sz="1677" spc="-44" dirty="0">
                  <a:latin typeface="Calibri"/>
                  <a:cs typeface="Calibri"/>
                </a:rPr>
                <a:t>c</a:t>
              </a:r>
              <a:endParaRPr sz="1677">
                <a:latin typeface="Calibri"/>
                <a:cs typeface="Calibri"/>
              </a:endParaRPr>
            </a:p>
            <a:p>
              <a:pPr marL="11206">
                <a:spcBef>
                  <a:spcPts val="361"/>
                </a:spcBef>
              </a:pPr>
              <a:r>
                <a:rPr sz="1677" dirty="0">
                  <a:latin typeface="Calibri"/>
                  <a:cs typeface="Calibri"/>
                </a:rPr>
                <a:t>Ra,</a:t>
              </a:r>
              <a:r>
                <a:rPr sz="1677" spc="22" dirty="0">
                  <a:latin typeface="Calibri"/>
                  <a:cs typeface="Calibri"/>
                </a:rPr>
                <a:t> </a:t>
              </a:r>
              <a:r>
                <a:rPr sz="1677" dirty="0">
                  <a:latin typeface="Calibri"/>
                  <a:cs typeface="Calibri"/>
                </a:rPr>
                <a:t>Rb,</a:t>
              </a:r>
              <a:r>
                <a:rPr sz="1677" spc="26" dirty="0">
                  <a:latin typeface="Calibri"/>
                  <a:cs typeface="Calibri"/>
                </a:rPr>
                <a:t> </a:t>
              </a:r>
              <a:r>
                <a:rPr sz="1677" spc="-22" dirty="0">
                  <a:solidFill>
                    <a:srgbClr val="FF0000"/>
                  </a:solidFill>
                  <a:latin typeface="Calibri"/>
                  <a:cs typeface="Calibri"/>
                </a:rPr>
                <a:t>Rc</a:t>
              </a:r>
              <a:endParaRPr sz="1677">
                <a:latin typeface="Calibri"/>
                <a:cs typeface="Calibri"/>
              </a:endParaRPr>
            </a:p>
          </p:txBody>
        </p:sp>
        <p:sp>
          <p:nvSpPr>
            <p:cNvPr id="5" name="object 5"/>
            <p:cNvSpPr txBox="1"/>
            <p:nvPr/>
          </p:nvSpPr>
          <p:spPr>
            <a:xfrm>
              <a:off x="1912274" y="3117512"/>
              <a:ext cx="1231526" cy="980695"/>
            </a:xfrm>
            <a:prstGeom prst="rect">
              <a:avLst/>
            </a:prstGeom>
          </p:spPr>
          <p:txBody>
            <a:bodyPr vert="horz" wrap="square" lIns="0" tIns="10646" rIns="0" bIns="0" rtlCol="0">
              <a:spAutoFit/>
            </a:bodyPr>
            <a:lstStyle/>
            <a:p>
              <a:pPr marL="807427" marR="132236">
                <a:lnSpc>
                  <a:spcPct val="123200"/>
                </a:lnSpc>
                <a:spcBef>
                  <a:spcPts val="84"/>
                </a:spcBef>
              </a:pPr>
              <a:r>
                <a:rPr sz="1677" spc="-22" dirty="0">
                  <a:latin typeface="Calibri"/>
                  <a:cs typeface="Calibri"/>
                </a:rPr>
                <a:t>LW LW</a:t>
              </a:r>
              <a:endParaRPr sz="1677" dirty="0">
                <a:latin typeface="Calibri"/>
                <a:cs typeface="Calibri"/>
              </a:endParaRPr>
            </a:p>
            <a:p>
              <a:pPr marL="33619">
                <a:spcBef>
                  <a:spcPts val="596"/>
                </a:spcBef>
                <a:tabLst>
                  <a:tab pos="807427" algn="l"/>
                </a:tabLst>
              </a:pPr>
              <a:r>
                <a:rPr sz="1677" b="1" spc="-9" dirty="0">
                  <a:solidFill>
                    <a:srgbClr val="FF0000"/>
                  </a:solidFill>
                  <a:latin typeface="Times New Roman"/>
                  <a:cs typeface="Times New Roman"/>
                </a:rPr>
                <a:t>Stall</a:t>
              </a:r>
              <a:r>
                <a:rPr sz="1632" spc="-9" dirty="0">
                  <a:solidFill>
                    <a:srgbClr val="FF0000"/>
                  </a:solidFill>
                  <a:latin typeface="Wingdings"/>
                  <a:cs typeface="Wingdings"/>
                </a:rPr>
                <a:t></a:t>
              </a:r>
              <a:r>
                <a:rPr sz="1632" dirty="0">
                  <a:solidFill>
                    <a:srgbClr val="FF0000"/>
                  </a:solidFill>
                  <a:latin typeface="Times New Roman"/>
                  <a:cs typeface="Times New Roman"/>
                </a:rPr>
                <a:t>	</a:t>
              </a:r>
              <a:r>
                <a:rPr sz="2515" spc="-33" baseline="7309" dirty="0">
                  <a:latin typeface="Calibri"/>
                  <a:cs typeface="Calibri"/>
                </a:rPr>
                <a:t>ADD</a:t>
              </a:r>
              <a:endParaRPr sz="2515" baseline="7309" dirty="0">
                <a:latin typeface="Calibri"/>
                <a:cs typeface="Calibri"/>
              </a:endParaRPr>
            </a:p>
          </p:txBody>
        </p:sp>
        <p:grpSp>
          <p:nvGrpSpPr>
            <p:cNvPr id="6" name="object 6"/>
            <p:cNvGrpSpPr/>
            <p:nvPr/>
          </p:nvGrpSpPr>
          <p:grpSpPr>
            <a:xfrm>
              <a:off x="2712271" y="4175312"/>
              <a:ext cx="322729" cy="186018"/>
              <a:chOff x="2921507" y="4732020"/>
              <a:chExt cx="365760" cy="210820"/>
            </a:xfrm>
          </p:grpSpPr>
          <p:pic>
            <p:nvPicPr>
              <p:cNvPr id="7" name="object 7"/>
              <p:cNvPicPr/>
              <p:nvPr/>
            </p:nvPicPr>
            <p:blipFill>
              <a:blip r:embed="rId3" cstate="print"/>
              <a:stretch>
                <a:fillRect/>
              </a:stretch>
            </p:blipFill>
            <p:spPr>
              <a:xfrm>
                <a:off x="2921507" y="4732020"/>
                <a:ext cx="365759" cy="210312"/>
              </a:xfrm>
              <a:prstGeom prst="rect">
                <a:avLst/>
              </a:prstGeom>
            </p:spPr>
          </p:pic>
          <p:pic>
            <p:nvPicPr>
              <p:cNvPr id="8" name="object 8"/>
              <p:cNvPicPr/>
              <p:nvPr/>
            </p:nvPicPr>
            <p:blipFill>
              <a:blip r:embed="rId4" cstate="print"/>
              <a:stretch>
                <a:fillRect/>
              </a:stretch>
            </p:blipFill>
            <p:spPr>
              <a:xfrm>
                <a:off x="2932141" y="4747298"/>
                <a:ext cx="324320" cy="169777"/>
              </a:xfrm>
              <a:prstGeom prst="rect">
                <a:avLst/>
              </a:prstGeom>
            </p:spPr>
          </p:pic>
        </p:grpSp>
        <p:grpSp>
          <p:nvGrpSpPr>
            <p:cNvPr id="9" name="object 9"/>
            <p:cNvGrpSpPr/>
            <p:nvPr/>
          </p:nvGrpSpPr>
          <p:grpSpPr>
            <a:xfrm>
              <a:off x="3580952" y="4178000"/>
              <a:ext cx="452157" cy="212912"/>
              <a:chOff x="3906011" y="4735067"/>
              <a:chExt cx="512445" cy="241300"/>
            </a:xfrm>
          </p:grpSpPr>
          <p:pic>
            <p:nvPicPr>
              <p:cNvPr id="10" name="object 10"/>
              <p:cNvPicPr/>
              <p:nvPr/>
            </p:nvPicPr>
            <p:blipFill>
              <a:blip r:embed="rId5" cstate="print"/>
              <a:stretch>
                <a:fillRect/>
              </a:stretch>
            </p:blipFill>
            <p:spPr>
              <a:xfrm>
                <a:off x="3906011" y="4735067"/>
                <a:ext cx="512063" cy="240792"/>
              </a:xfrm>
              <a:prstGeom prst="rect">
                <a:avLst/>
              </a:prstGeom>
            </p:spPr>
          </p:pic>
          <p:pic>
            <p:nvPicPr>
              <p:cNvPr id="11" name="object 11"/>
              <p:cNvPicPr/>
              <p:nvPr/>
            </p:nvPicPr>
            <p:blipFill>
              <a:blip r:embed="rId6" cstate="print"/>
              <a:stretch>
                <a:fillRect/>
              </a:stretch>
            </p:blipFill>
            <p:spPr>
              <a:xfrm>
                <a:off x="3917595" y="4749538"/>
                <a:ext cx="468392" cy="199494"/>
              </a:xfrm>
              <a:prstGeom prst="rect">
                <a:avLst/>
              </a:prstGeom>
            </p:spPr>
          </p:pic>
        </p:grpSp>
        <p:grpSp>
          <p:nvGrpSpPr>
            <p:cNvPr id="12" name="object 12"/>
            <p:cNvGrpSpPr/>
            <p:nvPr/>
          </p:nvGrpSpPr>
          <p:grpSpPr>
            <a:xfrm>
              <a:off x="2723030" y="4489972"/>
              <a:ext cx="304240" cy="186018"/>
              <a:chOff x="2933700" y="5088635"/>
              <a:chExt cx="344805" cy="210820"/>
            </a:xfrm>
          </p:grpSpPr>
          <p:pic>
            <p:nvPicPr>
              <p:cNvPr id="13" name="object 13"/>
              <p:cNvPicPr/>
              <p:nvPr/>
            </p:nvPicPr>
            <p:blipFill>
              <a:blip r:embed="rId7" cstate="print"/>
              <a:stretch>
                <a:fillRect/>
              </a:stretch>
            </p:blipFill>
            <p:spPr>
              <a:xfrm>
                <a:off x="2933700" y="5088635"/>
                <a:ext cx="344424" cy="210312"/>
              </a:xfrm>
              <a:prstGeom prst="rect">
                <a:avLst/>
              </a:prstGeom>
            </p:spPr>
          </p:pic>
          <p:sp>
            <p:nvSpPr>
              <p:cNvPr id="14" name="object 14"/>
              <p:cNvSpPr/>
              <p:nvPr/>
            </p:nvSpPr>
            <p:spPr>
              <a:xfrm>
                <a:off x="2950392" y="5111187"/>
                <a:ext cx="291465" cy="154305"/>
              </a:xfrm>
              <a:custGeom>
                <a:avLst/>
                <a:gdLst/>
                <a:ahLst/>
                <a:cxnLst/>
                <a:rect l="l" t="t" r="r" b="b"/>
                <a:pathLst>
                  <a:path w="291464" h="154304">
                    <a:moveTo>
                      <a:pt x="110381" y="767"/>
                    </a:moveTo>
                    <a:lnTo>
                      <a:pt x="92548" y="767"/>
                    </a:lnTo>
                    <a:lnTo>
                      <a:pt x="91522" y="1611"/>
                    </a:lnTo>
                    <a:lnTo>
                      <a:pt x="91309" y="1866"/>
                    </a:lnTo>
                    <a:lnTo>
                      <a:pt x="91047" y="2653"/>
                    </a:lnTo>
                    <a:lnTo>
                      <a:pt x="91142" y="4697"/>
                    </a:lnTo>
                    <a:lnTo>
                      <a:pt x="91407" y="6112"/>
                    </a:lnTo>
                    <a:lnTo>
                      <a:pt x="91881" y="7920"/>
                    </a:lnTo>
                    <a:lnTo>
                      <a:pt x="132142" y="148722"/>
                    </a:lnTo>
                    <a:lnTo>
                      <a:pt x="132378" y="149821"/>
                    </a:lnTo>
                    <a:lnTo>
                      <a:pt x="141883" y="153831"/>
                    </a:lnTo>
                    <a:lnTo>
                      <a:pt x="151210" y="153831"/>
                    </a:lnTo>
                    <a:lnTo>
                      <a:pt x="160301" y="148722"/>
                    </a:lnTo>
                    <a:lnTo>
                      <a:pt x="164583" y="131975"/>
                    </a:lnTo>
                    <a:lnTo>
                      <a:pt x="146752" y="131975"/>
                    </a:lnTo>
                    <a:lnTo>
                      <a:pt x="112613" y="4697"/>
                    </a:lnTo>
                    <a:lnTo>
                      <a:pt x="112529" y="4382"/>
                    </a:lnTo>
                    <a:lnTo>
                      <a:pt x="112351" y="3517"/>
                    </a:lnTo>
                    <a:lnTo>
                      <a:pt x="112308" y="3281"/>
                    </a:lnTo>
                    <a:lnTo>
                      <a:pt x="112159" y="2791"/>
                    </a:lnTo>
                    <a:lnTo>
                      <a:pt x="112116" y="2653"/>
                    </a:lnTo>
                    <a:lnTo>
                      <a:pt x="111611" y="1611"/>
                    </a:lnTo>
                    <a:lnTo>
                      <a:pt x="111542" y="1474"/>
                    </a:lnTo>
                    <a:lnTo>
                      <a:pt x="111171" y="1159"/>
                    </a:lnTo>
                    <a:lnTo>
                      <a:pt x="111312" y="1159"/>
                    </a:lnTo>
                    <a:lnTo>
                      <a:pt x="110381" y="767"/>
                    </a:lnTo>
                    <a:close/>
                  </a:path>
                  <a:path w="291464" h="154304">
                    <a:moveTo>
                      <a:pt x="210000" y="33510"/>
                    </a:moveTo>
                    <a:lnTo>
                      <a:pt x="189993" y="33510"/>
                    </a:lnTo>
                    <a:lnTo>
                      <a:pt x="222237" y="149821"/>
                    </a:lnTo>
                    <a:lnTo>
                      <a:pt x="231565" y="153831"/>
                    </a:lnTo>
                    <a:lnTo>
                      <a:pt x="240402" y="153831"/>
                    </a:lnTo>
                    <a:lnTo>
                      <a:pt x="254890" y="131975"/>
                    </a:lnTo>
                    <a:lnTo>
                      <a:pt x="237004" y="131975"/>
                    </a:lnTo>
                    <a:lnTo>
                      <a:pt x="210000" y="33510"/>
                    </a:lnTo>
                    <a:close/>
                  </a:path>
                  <a:path w="291464" h="154304">
                    <a:moveTo>
                      <a:pt x="199223" y="767"/>
                    </a:moveTo>
                    <a:lnTo>
                      <a:pt x="182176" y="767"/>
                    </a:lnTo>
                    <a:lnTo>
                      <a:pt x="181195" y="1159"/>
                    </a:lnTo>
                    <a:lnTo>
                      <a:pt x="180627" y="1611"/>
                    </a:lnTo>
                    <a:lnTo>
                      <a:pt x="180002" y="2653"/>
                    </a:lnTo>
                    <a:lnTo>
                      <a:pt x="179919" y="2791"/>
                    </a:lnTo>
                    <a:lnTo>
                      <a:pt x="179720" y="3281"/>
                    </a:lnTo>
                    <a:lnTo>
                      <a:pt x="179624" y="3517"/>
                    </a:lnTo>
                    <a:lnTo>
                      <a:pt x="179388" y="4382"/>
                    </a:lnTo>
                    <a:lnTo>
                      <a:pt x="146752" y="131975"/>
                    </a:lnTo>
                    <a:lnTo>
                      <a:pt x="164583" y="131975"/>
                    </a:lnTo>
                    <a:lnTo>
                      <a:pt x="189758" y="33510"/>
                    </a:lnTo>
                    <a:lnTo>
                      <a:pt x="210000" y="33510"/>
                    </a:lnTo>
                    <a:lnTo>
                      <a:pt x="201775" y="3517"/>
                    </a:lnTo>
                    <a:lnTo>
                      <a:pt x="201480" y="2791"/>
                    </a:lnTo>
                    <a:lnTo>
                      <a:pt x="200774" y="1611"/>
                    </a:lnTo>
                    <a:lnTo>
                      <a:pt x="200204" y="1159"/>
                    </a:lnTo>
                    <a:lnTo>
                      <a:pt x="199223" y="767"/>
                    </a:lnTo>
                    <a:close/>
                  </a:path>
                  <a:path w="291464" h="154304">
                    <a:moveTo>
                      <a:pt x="289631" y="767"/>
                    </a:moveTo>
                    <a:lnTo>
                      <a:pt x="273183" y="767"/>
                    </a:lnTo>
                    <a:lnTo>
                      <a:pt x="272252" y="1159"/>
                    </a:lnTo>
                    <a:lnTo>
                      <a:pt x="237239" y="131975"/>
                    </a:lnTo>
                    <a:lnTo>
                      <a:pt x="254890" y="131975"/>
                    </a:lnTo>
                    <a:lnTo>
                      <a:pt x="290495" y="7920"/>
                    </a:lnTo>
                    <a:lnTo>
                      <a:pt x="290888" y="6112"/>
                    </a:lnTo>
                    <a:lnTo>
                      <a:pt x="291104" y="4697"/>
                    </a:lnTo>
                    <a:lnTo>
                      <a:pt x="291183" y="2653"/>
                    </a:lnTo>
                    <a:lnTo>
                      <a:pt x="290888" y="1866"/>
                    </a:lnTo>
                    <a:lnTo>
                      <a:pt x="289631" y="767"/>
                    </a:lnTo>
                    <a:close/>
                  </a:path>
                  <a:path w="291464" h="154304">
                    <a:moveTo>
                      <a:pt x="13727" y="0"/>
                    </a:moveTo>
                    <a:lnTo>
                      <a:pt x="6638" y="0"/>
                    </a:lnTo>
                    <a:lnTo>
                      <a:pt x="3967" y="393"/>
                    </a:lnTo>
                    <a:lnTo>
                      <a:pt x="0" y="3046"/>
                    </a:lnTo>
                    <a:lnTo>
                      <a:pt x="0" y="148013"/>
                    </a:lnTo>
                    <a:lnTo>
                      <a:pt x="509" y="149369"/>
                    </a:lnTo>
                    <a:lnTo>
                      <a:pt x="961" y="150274"/>
                    </a:lnTo>
                    <a:lnTo>
                      <a:pt x="4025" y="152593"/>
                    </a:lnTo>
                    <a:lnTo>
                      <a:pt x="5734" y="153202"/>
                    </a:lnTo>
                    <a:lnTo>
                      <a:pt x="75642" y="153202"/>
                    </a:lnTo>
                    <a:lnTo>
                      <a:pt x="78981" y="141450"/>
                    </a:lnTo>
                    <a:lnTo>
                      <a:pt x="78666" y="139247"/>
                    </a:lnTo>
                    <a:lnTo>
                      <a:pt x="20266" y="135632"/>
                    </a:lnTo>
                    <a:lnTo>
                      <a:pt x="20266" y="3046"/>
                    </a:lnTo>
                    <a:lnTo>
                      <a:pt x="16319" y="393"/>
                    </a:lnTo>
                    <a:lnTo>
                      <a:pt x="13727" y="0"/>
                    </a:lnTo>
                    <a:close/>
                  </a:path>
                </a:pathLst>
              </a:custGeom>
              <a:solidFill>
                <a:srgbClr val="000090"/>
              </a:solidFill>
            </p:spPr>
            <p:txBody>
              <a:bodyPr wrap="square" lIns="0" tIns="0" rIns="0" bIns="0" rtlCol="0"/>
              <a:lstStyle/>
              <a:p>
                <a:endParaRPr sz="1588"/>
              </a:p>
            </p:txBody>
          </p:sp>
          <p:pic>
            <p:nvPicPr>
              <p:cNvPr id="15" name="object 15"/>
              <p:cNvPicPr/>
              <p:nvPr/>
            </p:nvPicPr>
            <p:blipFill>
              <a:blip r:embed="rId8" cstate="print"/>
              <a:stretch>
                <a:fillRect/>
              </a:stretch>
            </p:blipFill>
            <p:spPr>
              <a:xfrm>
                <a:off x="2944041" y="5104735"/>
                <a:ext cx="303886" cy="166715"/>
              </a:xfrm>
              <a:prstGeom prst="rect">
                <a:avLst/>
              </a:prstGeom>
            </p:spPr>
          </p:pic>
        </p:grpSp>
        <p:grpSp>
          <p:nvGrpSpPr>
            <p:cNvPr id="16" name="object 16"/>
            <p:cNvGrpSpPr/>
            <p:nvPr/>
          </p:nvGrpSpPr>
          <p:grpSpPr>
            <a:xfrm>
              <a:off x="3589020" y="4489972"/>
              <a:ext cx="457199" cy="215153"/>
              <a:chOff x="3915155" y="5088635"/>
              <a:chExt cx="518159" cy="243840"/>
            </a:xfrm>
          </p:grpSpPr>
          <p:pic>
            <p:nvPicPr>
              <p:cNvPr id="17" name="object 17"/>
              <p:cNvPicPr/>
              <p:nvPr/>
            </p:nvPicPr>
            <p:blipFill>
              <a:blip r:embed="rId9" cstate="print"/>
              <a:stretch>
                <a:fillRect/>
              </a:stretch>
            </p:blipFill>
            <p:spPr>
              <a:xfrm>
                <a:off x="3915155" y="5088635"/>
                <a:ext cx="518160" cy="243839"/>
              </a:xfrm>
              <a:prstGeom prst="rect">
                <a:avLst/>
              </a:prstGeom>
            </p:spPr>
          </p:pic>
          <p:pic>
            <p:nvPicPr>
              <p:cNvPr id="18" name="object 18"/>
              <p:cNvPicPr/>
              <p:nvPr/>
            </p:nvPicPr>
            <p:blipFill>
              <a:blip r:embed="rId10" cstate="print"/>
              <a:stretch>
                <a:fillRect/>
              </a:stretch>
            </p:blipFill>
            <p:spPr>
              <a:xfrm>
                <a:off x="3927021" y="5105445"/>
                <a:ext cx="474689" cy="199494"/>
              </a:xfrm>
              <a:prstGeom prst="rect">
                <a:avLst/>
              </a:prstGeom>
            </p:spPr>
          </p:pic>
        </p:grpSp>
        <p:sp>
          <p:nvSpPr>
            <p:cNvPr id="19" name="object 19"/>
            <p:cNvSpPr txBox="1"/>
            <p:nvPr/>
          </p:nvSpPr>
          <p:spPr>
            <a:xfrm>
              <a:off x="1912274" y="4623583"/>
              <a:ext cx="1195668" cy="1001123"/>
            </a:xfrm>
            <a:prstGeom prst="rect">
              <a:avLst/>
            </a:prstGeom>
          </p:spPr>
          <p:txBody>
            <a:bodyPr vert="horz" wrap="square" lIns="0" tIns="110378" rIns="0" bIns="0" rtlCol="0">
              <a:spAutoFit/>
            </a:bodyPr>
            <a:lstStyle/>
            <a:p>
              <a:pPr marL="807427">
                <a:spcBef>
                  <a:spcPts val="869"/>
                </a:spcBef>
              </a:pPr>
              <a:r>
                <a:rPr sz="1677" spc="-22" dirty="0">
                  <a:latin typeface="Calibri"/>
                  <a:cs typeface="Calibri"/>
                </a:rPr>
                <a:t>LW</a:t>
              </a:r>
              <a:endParaRPr sz="1677">
                <a:latin typeface="Calibri"/>
                <a:cs typeface="Calibri"/>
              </a:endParaRPr>
            </a:p>
            <a:p>
              <a:pPr marL="33619">
                <a:spcBef>
                  <a:spcPts val="785"/>
                </a:spcBef>
                <a:tabLst>
                  <a:tab pos="807427" algn="l"/>
                </a:tabLst>
              </a:pPr>
              <a:r>
                <a:rPr sz="1677" b="1" spc="-9" dirty="0">
                  <a:solidFill>
                    <a:srgbClr val="FF0000"/>
                  </a:solidFill>
                  <a:latin typeface="Times New Roman"/>
                  <a:cs typeface="Times New Roman"/>
                </a:rPr>
                <a:t>Stall</a:t>
              </a:r>
              <a:r>
                <a:rPr sz="1632" spc="-9" dirty="0">
                  <a:solidFill>
                    <a:srgbClr val="FF0000"/>
                  </a:solidFill>
                  <a:latin typeface="Wingdings"/>
                  <a:cs typeface="Wingdings"/>
                </a:rPr>
                <a:t></a:t>
              </a:r>
              <a:r>
                <a:rPr sz="1632" dirty="0">
                  <a:solidFill>
                    <a:srgbClr val="FF0000"/>
                  </a:solidFill>
                  <a:latin typeface="Times New Roman"/>
                  <a:cs typeface="Times New Roman"/>
                </a:rPr>
                <a:t>	</a:t>
              </a:r>
              <a:r>
                <a:rPr sz="2515" spc="-33" baseline="10233" dirty="0">
                  <a:latin typeface="Calibri"/>
                  <a:cs typeface="Calibri"/>
                </a:rPr>
                <a:t>SUB</a:t>
              </a:r>
              <a:endParaRPr sz="2515" baseline="10233">
                <a:latin typeface="Calibri"/>
                <a:cs typeface="Calibri"/>
              </a:endParaRPr>
            </a:p>
            <a:p>
              <a:pPr marL="807427">
                <a:spcBef>
                  <a:spcPts val="146"/>
                </a:spcBef>
              </a:pPr>
              <a:r>
                <a:rPr sz="1677" spc="-22" dirty="0">
                  <a:latin typeface="Calibri"/>
                  <a:cs typeface="Calibri"/>
                </a:rPr>
                <a:t>SW</a:t>
              </a:r>
              <a:endParaRPr sz="1677">
                <a:latin typeface="Calibri"/>
                <a:cs typeface="Calibri"/>
              </a:endParaRPr>
            </a:p>
          </p:txBody>
        </p:sp>
        <p:sp>
          <p:nvSpPr>
            <p:cNvPr id="20" name="object 20"/>
            <p:cNvSpPr txBox="1"/>
            <p:nvPr/>
          </p:nvSpPr>
          <p:spPr>
            <a:xfrm>
              <a:off x="3576006" y="4663925"/>
              <a:ext cx="872377" cy="941216"/>
            </a:xfrm>
            <a:prstGeom prst="rect">
              <a:avLst/>
            </a:prstGeom>
          </p:spPr>
          <p:txBody>
            <a:bodyPr vert="horz" wrap="square" lIns="0" tIns="70037" rIns="0" bIns="0" rtlCol="0">
              <a:spAutoFit/>
            </a:bodyPr>
            <a:lstStyle/>
            <a:p>
              <a:pPr marL="11206">
                <a:spcBef>
                  <a:spcPts val="552"/>
                </a:spcBef>
              </a:pPr>
              <a:r>
                <a:rPr sz="1677" dirty="0">
                  <a:solidFill>
                    <a:srgbClr val="FF0000"/>
                  </a:solidFill>
                  <a:latin typeface="Calibri"/>
                  <a:cs typeface="Calibri"/>
                </a:rPr>
                <a:t>Rf</a:t>
              </a:r>
              <a:r>
                <a:rPr sz="1677" dirty="0">
                  <a:latin typeface="Calibri"/>
                  <a:cs typeface="Calibri"/>
                </a:rPr>
                <a:t>,</a:t>
              </a:r>
              <a:r>
                <a:rPr sz="1677" spc="18" dirty="0">
                  <a:latin typeface="Calibri"/>
                  <a:cs typeface="Calibri"/>
                </a:rPr>
                <a:t> </a:t>
              </a:r>
              <a:r>
                <a:rPr sz="1677" spc="-44" dirty="0">
                  <a:latin typeface="Calibri"/>
                  <a:cs typeface="Calibri"/>
                </a:rPr>
                <a:t>f</a:t>
              </a:r>
              <a:endParaRPr sz="1677">
                <a:latin typeface="Calibri"/>
                <a:cs typeface="Calibri"/>
              </a:endParaRPr>
            </a:p>
            <a:p>
              <a:pPr marL="11206" marR="4483">
                <a:lnSpc>
                  <a:spcPct val="123200"/>
                </a:lnSpc>
              </a:pPr>
              <a:r>
                <a:rPr sz="1677" dirty="0">
                  <a:latin typeface="Calibri"/>
                  <a:cs typeface="Calibri"/>
                </a:rPr>
                <a:t>Rd,</a:t>
              </a:r>
              <a:r>
                <a:rPr sz="1677" spc="26" dirty="0">
                  <a:latin typeface="Calibri"/>
                  <a:cs typeface="Calibri"/>
                </a:rPr>
                <a:t> </a:t>
              </a:r>
              <a:r>
                <a:rPr sz="1677" dirty="0">
                  <a:latin typeface="Calibri"/>
                  <a:cs typeface="Calibri"/>
                </a:rPr>
                <a:t>Re,</a:t>
              </a:r>
              <a:r>
                <a:rPr sz="1677" spc="26" dirty="0">
                  <a:latin typeface="Calibri"/>
                  <a:cs typeface="Calibri"/>
                </a:rPr>
                <a:t> </a:t>
              </a:r>
              <a:r>
                <a:rPr sz="1677" spc="-22" dirty="0">
                  <a:solidFill>
                    <a:srgbClr val="FF0000"/>
                  </a:solidFill>
                  <a:latin typeface="Calibri"/>
                  <a:cs typeface="Calibri"/>
                </a:rPr>
                <a:t>Rf </a:t>
              </a:r>
              <a:r>
                <a:rPr sz="1677" dirty="0">
                  <a:latin typeface="Calibri"/>
                  <a:cs typeface="Calibri"/>
                </a:rPr>
                <a:t>d,</a:t>
              </a:r>
              <a:r>
                <a:rPr sz="1677" spc="22" dirty="0">
                  <a:latin typeface="Calibri"/>
                  <a:cs typeface="Calibri"/>
                </a:rPr>
                <a:t> </a:t>
              </a:r>
              <a:r>
                <a:rPr sz="1677" spc="-22" dirty="0">
                  <a:latin typeface="Calibri"/>
                  <a:cs typeface="Calibri"/>
                </a:rPr>
                <a:t>Rd</a:t>
              </a:r>
              <a:endParaRPr sz="1677">
                <a:latin typeface="Calibri"/>
                <a:cs typeface="Calibri"/>
              </a:endParaRPr>
            </a:p>
          </p:txBody>
        </p:sp>
      </p:grpSp>
      <p:sp>
        <p:nvSpPr>
          <p:cNvPr id="23" name="object 4">
            <a:extLst>
              <a:ext uri="{FF2B5EF4-FFF2-40B4-BE49-F238E27FC236}">
                <a16:creationId xmlns:a16="http://schemas.microsoft.com/office/drawing/2014/main" id="{B26C59C3-9FC3-37A4-F530-B58E9D45650A}"/>
              </a:ext>
            </a:extLst>
          </p:cNvPr>
          <p:cNvSpPr txBox="1"/>
          <p:nvPr/>
        </p:nvSpPr>
        <p:spPr>
          <a:xfrm>
            <a:off x="983274" y="1082840"/>
            <a:ext cx="6789763" cy="2261826"/>
          </a:xfrm>
          <a:prstGeom prst="rect">
            <a:avLst/>
          </a:prstGeom>
        </p:spPr>
        <p:txBody>
          <a:bodyPr vert="horz" wrap="square" lIns="0" tIns="210110" rIns="0" bIns="0" rtlCol="0">
            <a:spAutoFit/>
          </a:bodyPr>
          <a:lstStyle/>
          <a:p>
            <a:pPr indent="-270636">
              <a:buChar char="•"/>
              <a:tabLst>
                <a:tab pos="281843" algn="l"/>
              </a:tabLst>
            </a:pPr>
            <a:r>
              <a:rPr sz="2294" dirty="0">
                <a:latin typeface="Calibri"/>
                <a:cs typeface="Calibri"/>
              </a:rPr>
              <a:t>Try</a:t>
            </a:r>
            <a:r>
              <a:rPr sz="2294" spc="-66" dirty="0">
                <a:latin typeface="Calibri"/>
                <a:cs typeface="Calibri"/>
              </a:rPr>
              <a:t> </a:t>
            </a:r>
            <a:r>
              <a:rPr sz="2294" spc="-9" dirty="0">
                <a:latin typeface="Calibri"/>
                <a:cs typeface="Calibri"/>
              </a:rPr>
              <a:t>producing</a:t>
            </a:r>
            <a:r>
              <a:rPr sz="2294" spc="-75" dirty="0">
                <a:latin typeface="Calibri"/>
                <a:cs typeface="Calibri"/>
              </a:rPr>
              <a:t> </a:t>
            </a:r>
            <a:r>
              <a:rPr sz="2294" dirty="0">
                <a:latin typeface="Calibri"/>
                <a:cs typeface="Calibri"/>
              </a:rPr>
              <a:t>fast</a:t>
            </a:r>
            <a:r>
              <a:rPr sz="2294" spc="-71" dirty="0">
                <a:latin typeface="Calibri"/>
                <a:cs typeface="Calibri"/>
              </a:rPr>
              <a:t> </a:t>
            </a:r>
            <a:r>
              <a:rPr sz="2294" dirty="0">
                <a:latin typeface="Calibri"/>
                <a:cs typeface="Calibri"/>
              </a:rPr>
              <a:t>code</a:t>
            </a:r>
            <a:r>
              <a:rPr sz="2294" spc="-62" dirty="0">
                <a:latin typeface="Calibri"/>
                <a:cs typeface="Calibri"/>
              </a:rPr>
              <a:t> </a:t>
            </a:r>
            <a:r>
              <a:rPr sz="2294" dirty="0">
                <a:latin typeface="Calibri"/>
                <a:cs typeface="Calibri"/>
              </a:rPr>
              <a:t>with</a:t>
            </a:r>
            <a:r>
              <a:rPr sz="2294" spc="-71" dirty="0">
                <a:latin typeface="Calibri"/>
                <a:cs typeface="Calibri"/>
              </a:rPr>
              <a:t> </a:t>
            </a:r>
            <a:r>
              <a:rPr sz="2294" dirty="0">
                <a:latin typeface="Calibri"/>
                <a:cs typeface="Calibri"/>
              </a:rPr>
              <a:t>no</a:t>
            </a:r>
            <a:r>
              <a:rPr sz="2294" spc="-75" dirty="0">
                <a:latin typeface="Calibri"/>
                <a:cs typeface="Calibri"/>
              </a:rPr>
              <a:t> </a:t>
            </a:r>
            <a:r>
              <a:rPr sz="2294" dirty="0">
                <a:latin typeface="Calibri"/>
                <a:cs typeface="Calibri"/>
              </a:rPr>
              <a:t>stalls</a:t>
            </a:r>
            <a:r>
              <a:rPr sz="2294" spc="-62" dirty="0">
                <a:latin typeface="Calibri"/>
                <a:cs typeface="Calibri"/>
              </a:rPr>
              <a:t> </a:t>
            </a:r>
            <a:r>
              <a:rPr sz="2294" spc="-22" dirty="0">
                <a:latin typeface="Calibri"/>
                <a:cs typeface="Calibri"/>
              </a:rPr>
              <a:t>for</a:t>
            </a:r>
            <a:endParaRPr sz="2294" dirty="0">
              <a:latin typeface="Calibri"/>
              <a:cs typeface="Calibri"/>
            </a:endParaRPr>
          </a:p>
          <a:p>
            <a:pPr marL="878027" marR="3405089">
              <a:lnSpc>
                <a:spcPct val="126299"/>
              </a:lnSpc>
              <a:spcBef>
                <a:spcPts val="618"/>
              </a:spcBef>
            </a:pPr>
            <a:r>
              <a:rPr sz="2000" dirty="0">
                <a:latin typeface="Calibri"/>
                <a:cs typeface="Calibri"/>
              </a:rPr>
              <a:t>a</a:t>
            </a:r>
            <a:r>
              <a:rPr sz="2000" spc="18" dirty="0">
                <a:latin typeface="Calibri"/>
                <a:cs typeface="Calibri"/>
              </a:rPr>
              <a:t> </a:t>
            </a:r>
            <a:r>
              <a:rPr sz="2000" dirty="0">
                <a:latin typeface="Calibri"/>
                <a:cs typeface="Calibri"/>
              </a:rPr>
              <a:t>=</a:t>
            </a:r>
            <a:r>
              <a:rPr sz="2000" spc="18" dirty="0">
                <a:latin typeface="Calibri"/>
                <a:cs typeface="Calibri"/>
              </a:rPr>
              <a:t> </a:t>
            </a:r>
            <a:r>
              <a:rPr sz="2000" dirty="0">
                <a:latin typeface="Calibri"/>
                <a:cs typeface="Calibri"/>
              </a:rPr>
              <a:t>b</a:t>
            </a:r>
            <a:r>
              <a:rPr sz="2000" spc="22" dirty="0">
                <a:latin typeface="Calibri"/>
                <a:cs typeface="Calibri"/>
              </a:rPr>
              <a:t> </a:t>
            </a:r>
            <a:r>
              <a:rPr sz="2000" dirty="0">
                <a:latin typeface="Calibri"/>
                <a:cs typeface="Calibri"/>
              </a:rPr>
              <a:t>+</a:t>
            </a:r>
            <a:r>
              <a:rPr sz="2000" spc="18" dirty="0">
                <a:latin typeface="Calibri"/>
                <a:cs typeface="Calibri"/>
              </a:rPr>
              <a:t> </a:t>
            </a:r>
            <a:r>
              <a:rPr sz="2000" spc="-22" dirty="0">
                <a:latin typeface="Calibri"/>
                <a:cs typeface="Calibri"/>
              </a:rPr>
              <a:t>c; </a:t>
            </a:r>
            <a:br>
              <a:rPr lang="en-US" sz="2000" spc="-22" dirty="0">
                <a:latin typeface="Calibri"/>
                <a:cs typeface="Calibri"/>
              </a:rPr>
            </a:br>
            <a:r>
              <a:rPr sz="2000" dirty="0">
                <a:latin typeface="Calibri"/>
                <a:cs typeface="Calibri"/>
              </a:rPr>
              <a:t>d</a:t>
            </a:r>
            <a:r>
              <a:rPr sz="2000" spc="22" dirty="0">
                <a:latin typeface="Calibri"/>
                <a:cs typeface="Calibri"/>
              </a:rPr>
              <a:t> </a:t>
            </a:r>
            <a:r>
              <a:rPr sz="2000" dirty="0">
                <a:latin typeface="Calibri"/>
                <a:cs typeface="Calibri"/>
              </a:rPr>
              <a:t>=</a:t>
            </a:r>
            <a:r>
              <a:rPr sz="2000" spc="22" dirty="0">
                <a:latin typeface="Calibri"/>
                <a:cs typeface="Calibri"/>
              </a:rPr>
              <a:t> </a:t>
            </a:r>
            <a:r>
              <a:rPr sz="2000" dirty="0">
                <a:latin typeface="Calibri"/>
                <a:cs typeface="Calibri"/>
              </a:rPr>
              <a:t>e</a:t>
            </a:r>
            <a:r>
              <a:rPr lang="en-US" sz="2000" spc="22" dirty="0">
                <a:latin typeface="Calibri"/>
                <a:cs typeface="Calibri"/>
              </a:rPr>
              <a:t> </a:t>
            </a:r>
            <a:r>
              <a:rPr sz="2000" dirty="0">
                <a:latin typeface="Calibri"/>
                <a:cs typeface="Calibri"/>
              </a:rPr>
              <a:t>–</a:t>
            </a:r>
            <a:r>
              <a:rPr sz="2000" spc="22" dirty="0">
                <a:latin typeface="Calibri"/>
                <a:cs typeface="Calibri"/>
              </a:rPr>
              <a:t> </a:t>
            </a:r>
            <a:r>
              <a:rPr sz="2000" spc="-22" dirty="0">
                <a:latin typeface="Calibri"/>
                <a:cs typeface="Calibri"/>
              </a:rPr>
              <a:t>f;</a:t>
            </a:r>
            <a:endParaRPr sz="2000" dirty="0">
              <a:latin typeface="Calibri"/>
              <a:cs typeface="Calibri"/>
            </a:endParaRPr>
          </a:p>
          <a:p>
            <a:pPr marL="444337">
              <a:spcBef>
                <a:spcPts val="476"/>
              </a:spcBef>
              <a:spcAft>
                <a:spcPts val="600"/>
              </a:spcAft>
            </a:pPr>
            <a:r>
              <a:rPr sz="1941" dirty="0">
                <a:latin typeface="Calibri"/>
                <a:cs typeface="Calibri"/>
              </a:rPr>
              <a:t>–</a:t>
            </a:r>
            <a:r>
              <a:rPr sz="1941" spc="256" dirty="0">
                <a:latin typeface="Calibri"/>
                <a:cs typeface="Calibri"/>
              </a:rPr>
              <a:t> </a:t>
            </a:r>
            <a:r>
              <a:rPr sz="1941" spc="-18" dirty="0">
                <a:latin typeface="Calibri"/>
                <a:cs typeface="Calibri"/>
              </a:rPr>
              <a:t>assuming</a:t>
            </a:r>
            <a:r>
              <a:rPr sz="1941" spc="-57" dirty="0">
                <a:latin typeface="Calibri"/>
                <a:cs typeface="Calibri"/>
              </a:rPr>
              <a:t> </a:t>
            </a:r>
            <a:r>
              <a:rPr sz="1941" dirty="0">
                <a:latin typeface="Calibri"/>
                <a:cs typeface="Calibri"/>
              </a:rPr>
              <a:t>a,</a:t>
            </a:r>
            <a:r>
              <a:rPr sz="1941" spc="-44" dirty="0">
                <a:latin typeface="Calibri"/>
                <a:cs typeface="Calibri"/>
              </a:rPr>
              <a:t> </a:t>
            </a:r>
            <a:r>
              <a:rPr sz="1941" dirty="0">
                <a:latin typeface="Calibri"/>
                <a:cs typeface="Calibri"/>
              </a:rPr>
              <a:t>b,</a:t>
            </a:r>
            <a:r>
              <a:rPr sz="1941" spc="-44" dirty="0">
                <a:latin typeface="Calibri"/>
                <a:cs typeface="Calibri"/>
              </a:rPr>
              <a:t> </a:t>
            </a:r>
            <a:r>
              <a:rPr sz="1941" dirty="0">
                <a:latin typeface="Calibri"/>
                <a:cs typeface="Calibri"/>
              </a:rPr>
              <a:t>c,</a:t>
            </a:r>
            <a:r>
              <a:rPr sz="1941" spc="-44" dirty="0">
                <a:latin typeface="Calibri"/>
                <a:cs typeface="Calibri"/>
              </a:rPr>
              <a:t> </a:t>
            </a:r>
            <a:r>
              <a:rPr sz="1941" dirty="0">
                <a:latin typeface="Calibri"/>
                <a:cs typeface="Calibri"/>
              </a:rPr>
              <a:t>d</a:t>
            </a:r>
            <a:r>
              <a:rPr sz="1941" spc="-62" dirty="0">
                <a:latin typeface="Calibri"/>
                <a:cs typeface="Calibri"/>
              </a:rPr>
              <a:t> </a:t>
            </a:r>
            <a:r>
              <a:rPr sz="1941" dirty="0">
                <a:latin typeface="Calibri"/>
                <a:cs typeface="Calibri"/>
              </a:rPr>
              <a:t>,e,</a:t>
            </a:r>
            <a:r>
              <a:rPr sz="1941" spc="-44" dirty="0">
                <a:latin typeface="Calibri"/>
                <a:cs typeface="Calibri"/>
              </a:rPr>
              <a:t> </a:t>
            </a:r>
            <a:r>
              <a:rPr sz="1941" dirty="0">
                <a:latin typeface="Calibri"/>
                <a:cs typeface="Calibri"/>
              </a:rPr>
              <a:t>and</a:t>
            </a:r>
            <a:r>
              <a:rPr sz="1941" spc="-57" dirty="0">
                <a:latin typeface="Calibri"/>
                <a:cs typeface="Calibri"/>
              </a:rPr>
              <a:t> </a:t>
            </a:r>
            <a:r>
              <a:rPr sz="1941" dirty="0">
                <a:latin typeface="Calibri"/>
                <a:cs typeface="Calibri"/>
              </a:rPr>
              <a:t>f</a:t>
            </a:r>
            <a:r>
              <a:rPr sz="1941" spc="-49" dirty="0">
                <a:latin typeface="Calibri"/>
                <a:cs typeface="Calibri"/>
              </a:rPr>
              <a:t> </a:t>
            </a:r>
            <a:r>
              <a:rPr sz="1941" dirty="0">
                <a:latin typeface="Calibri"/>
                <a:cs typeface="Calibri"/>
              </a:rPr>
              <a:t>are</a:t>
            </a:r>
            <a:r>
              <a:rPr sz="1941" spc="-53" dirty="0">
                <a:latin typeface="Calibri"/>
                <a:cs typeface="Calibri"/>
              </a:rPr>
              <a:t> </a:t>
            </a:r>
            <a:r>
              <a:rPr sz="1941" dirty="0">
                <a:latin typeface="Calibri"/>
                <a:cs typeface="Calibri"/>
              </a:rPr>
              <a:t>in</a:t>
            </a:r>
            <a:r>
              <a:rPr sz="1941" spc="-57" dirty="0">
                <a:latin typeface="Calibri"/>
                <a:cs typeface="Calibri"/>
              </a:rPr>
              <a:t> </a:t>
            </a:r>
            <a:r>
              <a:rPr sz="1941" spc="-9" dirty="0">
                <a:latin typeface="Calibri"/>
                <a:cs typeface="Calibri"/>
              </a:rPr>
              <a:t>memory.</a:t>
            </a:r>
            <a:endParaRPr sz="1941" dirty="0">
              <a:latin typeface="Calibri"/>
              <a:cs typeface="Calibri"/>
            </a:endParaRPr>
          </a:p>
          <a:p>
            <a:pPr marL="878027">
              <a:spcBef>
                <a:spcPts val="410"/>
              </a:spcBef>
            </a:pPr>
            <a:r>
              <a:rPr sz="2294" dirty="0">
                <a:latin typeface="Calibri"/>
                <a:cs typeface="Calibri"/>
              </a:rPr>
              <a:t>Slow</a:t>
            </a:r>
            <a:r>
              <a:rPr sz="2294" spc="-106" dirty="0">
                <a:latin typeface="Calibri"/>
                <a:cs typeface="Calibri"/>
              </a:rPr>
              <a:t> </a:t>
            </a:r>
            <a:r>
              <a:rPr sz="2294" spc="-18" dirty="0">
                <a:latin typeface="Calibri"/>
                <a:cs typeface="Calibri"/>
              </a:rPr>
              <a:t>code:</a:t>
            </a:r>
            <a:endParaRPr sz="2294" dirty="0">
              <a:latin typeface="Calibri"/>
              <a:cs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4912" y="224212"/>
            <a:ext cx="6958853" cy="1365532"/>
          </a:xfrm>
          <a:prstGeom prst="rect">
            <a:avLst/>
          </a:prstGeom>
        </p:spPr>
        <p:txBody>
          <a:bodyPr vert="horz" wrap="square" lIns="0" tIns="11206" rIns="0" bIns="0" rtlCol="0" anchor="ctr">
            <a:spAutoFit/>
          </a:bodyPr>
          <a:lstStyle/>
          <a:p>
            <a:pPr marL="11206">
              <a:lnSpc>
                <a:spcPct val="100000"/>
              </a:lnSpc>
              <a:spcBef>
                <a:spcPts val="88"/>
              </a:spcBef>
            </a:pPr>
            <a:r>
              <a:rPr dirty="0"/>
              <a:t>Software</a:t>
            </a:r>
            <a:r>
              <a:rPr spc="71" dirty="0"/>
              <a:t> </a:t>
            </a:r>
            <a:r>
              <a:rPr dirty="0"/>
              <a:t>Scheduling</a:t>
            </a:r>
            <a:r>
              <a:rPr spc="88" dirty="0"/>
              <a:t> </a:t>
            </a:r>
            <a:r>
              <a:rPr dirty="0"/>
              <a:t>to</a:t>
            </a:r>
            <a:r>
              <a:rPr spc="84" dirty="0"/>
              <a:t> </a:t>
            </a:r>
            <a:r>
              <a:rPr dirty="0"/>
              <a:t>Avoid</a:t>
            </a:r>
            <a:r>
              <a:rPr spc="88" dirty="0"/>
              <a:t> </a:t>
            </a:r>
            <a:r>
              <a:rPr dirty="0"/>
              <a:t>Load</a:t>
            </a:r>
            <a:r>
              <a:rPr spc="88" dirty="0"/>
              <a:t> </a:t>
            </a:r>
            <a:r>
              <a:rPr spc="-9" dirty="0"/>
              <a:t>Hazards</a:t>
            </a:r>
          </a:p>
        </p:txBody>
      </p:sp>
      <p:sp>
        <p:nvSpPr>
          <p:cNvPr id="23" name="Slide Number Placeholder 22">
            <a:extLst>
              <a:ext uri="{FF2B5EF4-FFF2-40B4-BE49-F238E27FC236}">
                <a16:creationId xmlns:a16="http://schemas.microsoft.com/office/drawing/2014/main" id="{C2114CB0-1BE1-319A-4F0A-D83F0C829EDE}"/>
              </a:ext>
            </a:extLst>
          </p:cNvPr>
          <p:cNvSpPr>
            <a:spLocks noGrp="1"/>
          </p:cNvSpPr>
          <p:nvPr>
            <p:ph type="sldNum" sz="quarter" idx="7"/>
          </p:nvPr>
        </p:nvSpPr>
        <p:spPr/>
        <p:txBody>
          <a:bodyPr/>
          <a:lstStyle/>
          <a:p>
            <a:fld id="{4FE321F0-2018-4E50-8BB3-A5631EBD98DD}" type="slidenum">
              <a:rPr lang="en-US" smtClean="0"/>
              <a:t>52</a:t>
            </a:fld>
            <a:endParaRPr lang="en-US"/>
          </a:p>
        </p:txBody>
      </p:sp>
      <p:grpSp>
        <p:nvGrpSpPr>
          <p:cNvPr id="22" name="Group 21">
            <a:extLst>
              <a:ext uri="{FF2B5EF4-FFF2-40B4-BE49-F238E27FC236}">
                <a16:creationId xmlns:a16="http://schemas.microsoft.com/office/drawing/2014/main" id="{F556E79A-0910-0468-2C84-E545F6E6A643}"/>
              </a:ext>
            </a:extLst>
          </p:cNvPr>
          <p:cNvGrpSpPr/>
          <p:nvPr/>
        </p:nvGrpSpPr>
        <p:grpSpPr>
          <a:xfrm>
            <a:off x="1834761" y="3402106"/>
            <a:ext cx="2556841" cy="2507194"/>
            <a:chOff x="1912274" y="3117512"/>
            <a:chExt cx="2556841" cy="2507194"/>
          </a:xfrm>
        </p:grpSpPr>
        <p:sp>
          <p:nvSpPr>
            <p:cNvPr id="4" name="object 4"/>
            <p:cNvSpPr txBox="1"/>
            <p:nvPr/>
          </p:nvSpPr>
          <p:spPr>
            <a:xfrm>
              <a:off x="3576006" y="3117513"/>
              <a:ext cx="893109" cy="955047"/>
            </a:xfrm>
            <a:prstGeom prst="rect">
              <a:avLst/>
            </a:prstGeom>
          </p:spPr>
          <p:txBody>
            <a:bodyPr vert="horz" wrap="square" lIns="0" tIns="10646" rIns="0" bIns="0" rtlCol="0">
              <a:spAutoFit/>
            </a:bodyPr>
            <a:lstStyle/>
            <a:p>
              <a:pPr marL="11206" marR="426967">
                <a:lnSpc>
                  <a:spcPct val="123200"/>
                </a:lnSpc>
                <a:spcBef>
                  <a:spcPts val="84"/>
                </a:spcBef>
              </a:pPr>
              <a:r>
                <a:rPr sz="1677" dirty="0">
                  <a:latin typeface="Calibri"/>
                  <a:cs typeface="Calibri"/>
                </a:rPr>
                <a:t>Rb,</a:t>
              </a:r>
              <a:r>
                <a:rPr sz="1677" spc="22" dirty="0">
                  <a:latin typeface="Calibri"/>
                  <a:cs typeface="Calibri"/>
                </a:rPr>
                <a:t> </a:t>
              </a:r>
              <a:r>
                <a:rPr sz="1677" spc="-44" dirty="0">
                  <a:latin typeface="Calibri"/>
                  <a:cs typeface="Calibri"/>
                </a:rPr>
                <a:t>b </a:t>
              </a:r>
              <a:r>
                <a:rPr sz="1677" dirty="0">
                  <a:solidFill>
                    <a:srgbClr val="FF0000"/>
                  </a:solidFill>
                  <a:latin typeface="Calibri"/>
                  <a:cs typeface="Calibri"/>
                </a:rPr>
                <a:t>Rc</a:t>
              </a:r>
              <a:r>
                <a:rPr sz="1677" dirty="0">
                  <a:latin typeface="Calibri"/>
                  <a:cs typeface="Calibri"/>
                </a:rPr>
                <a:t>,</a:t>
              </a:r>
              <a:r>
                <a:rPr sz="1677" spc="22" dirty="0">
                  <a:latin typeface="Calibri"/>
                  <a:cs typeface="Calibri"/>
                </a:rPr>
                <a:t> </a:t>
              </a:r>
              <a:r>
                <a:rPr sz="1677" spc="-44" dirty="0">
                  <a:latin typeface="Calibri"/>
                  <a:cs typeface="Calibri"/>
                </a:rPr>
                <a:t>c</a:t>
              </a:r>
              <a:endParaRPr sz="1677">
                <a:latin typeface="Calibri"/>
                <a:cs typeface="Calibri"/>
              </a:endParaRPr>
            </a:p>
            <a:p>
              <a:pPr marL="11206">
                <a:spcBef>
                  <a:spcPts val="361"/>
                </a:spcBef>
              </a:pPr>
              <a:r>
                <a:rPr sz="1677" dirty="0">
                  <a:latin typeface="Calibri"/>
                  <a:cs typeface="Calibri"/>
                </a:rPr>
                <a:t>Ra,</a:t>
              </a:r>
              <a:r>
                <a:rPr sz="1677" spc="22" dirty="0">
                  <a:latin typeface="Calibri"/>
                  <a:cs typeface="Calibri"/>
                </a:rPr>
                <a:t> </a:t>
              </a:r>
              <a:r>
                <a:rPr sz="1677" dirty="0">
                  <a:latin typeface="Calibri"/>
                  <a:cs typeface="Calibri"/>
                </a:rPr>
                <a:t>Rb,</a:t>
              </a:r>
              <a:r>
                <a:rPr sz="1677" spc="26" dirty="0">
                  <a:latin typeface="Calibri"/>
                  <a:cs typeface="Calibri"/>
                </a:rPr>
                <a:t> </a:t>
              </a:r>
              <a:r>
                <a:rPr sz="1677" spc="-22" dirty="0">
                  <a:solidFill>
                    <a:srgbClr val="FF0000"/>
                  </a:solidFill>
                  <a:latin typeface="Calibri"/>
                  <a:cs typeface="Calibri"/>
                </a:rPr>
                <a:t>Rc</a:t>
              </a:r>
              <a:endParaRPr sz="1677">
                <a:latin typeface="Calibri"/>
                <a:cs typeface="Calibri"/>
              </a:endParaRPr>
            </a:p>
          </p:txBody>
        </p:sp>
        <p:sp>
          <p:nvSpPr>
            <p:cNvPr id="5" name="object 5"/>
            <p:cNvSpPr txBox="1"/>
            <p:nvPr/>
          </p:nvSpPr>
          <p:spPr>
            <a:xfrm>
              <a:off x="1912274" y="3117512"/>
              <a:ext cx="1231526" cy="980695"/>
            </a:xfrm>
            <a:prstGeom prst="rect">
              <a:avLst/>
            </a:prstGeom>
          </p:spPr>
          <p:txBody>
            <a:bodyPr vert="horz" wrap="square" lIns="0" tIns="10646" rIns="0" bIns="0" rtlCol="0">
              <a:spAutoFit/>
            </a:bodyPr>
            <a:lstStyle/>
            <a:p>
              <a:pPr marL="807427" marR="132236">
                <a:lnSpc>
                  <a:spcPct val="123200"/>
                </a:lnSpc>
                <a:spcBef>
                  <a:spcPts val="84"/>
                </a:spcBef>
              </a:pPr>
              <a:r>
                <a:rPr sz="1677" spc="-22" dirty="0">
                  <a:latin typeface="Calibri"/>
                  <a:cs typeface="Calibri"/>
                </a:rPr>
                <a:t>LW LW</a:t>
              </a:r>
              <a:endParaRPr sz="1677" dirty="0">
                <a:latin typeface="Calibri"/>
                <a:cs typeface="Calibri"/>
              </a:endParaRPr>
            </a:p>
            <a:p>
              <a:pPr marL="33619">
                <a:spcBef>
                  <a:spcPts val="596"/>
                </a:spcBef>
                <a:tabLst>
                  <a:tab pos="807427" algn="l"/>
                </a:tabLst>
              </a:pPr>
              <a:r>
                <a:rPr sz="1677" b="1" spc="-9" dirty="0">
                  <a:solidFill>
                    <a:srgbClr val="FF0000"/>
                  </a:solidFill>
                  <a:latin typeface="Times New Roman"/>
                  <a:cs typeface="Times New Roman"/>
                </a:rPr>
                <a:t>Stall</a:t>
              </a:r>
              <a:r>
                <a:rPr sz="1632" spc="-9" dirty="0">
                  <a:solidFill>
                    <a:srgbClr val="FF0000"/>
                  </a:solidFill>
                  <a:latin typeface="Wingdings"/>
                  <a:cs typeface="Wingdings"/>
                </a:rPr>
                <a:t></a:t>
              </a:r>
              <a:r>
                <a:rPr sz="1632" dirty="0">
                  <a:solidFill>
                    <a:srgbClr val="FF0000"/>
                  </a:solidFill>
                  <a:latin typeface="Times New Roman"/>
                  <a:cs typeface="Times New Roman"/>
                </a:rPr>
                <a:t>	</a:t>
              </a:r>
              <a:r>
                <a:rPr sz="2515" spc="-33" baseline="7309" dirty="0">
                  <a:latin typeface="Calibri"/>
                  <a:cs typeface="Calibri"/>
                </a:rPr>
                <a:t>ADD</a:t>
              </a:r>
              <a:endParaRPr sz="2515" baseline="7309" dirty="0">
                <a:latin typeface="Calibri"/>
                <a:cs typeface="Calibri"/>
              </a:endParaRPr>
            </a:p>
          </p:txBody>
        </p:sp>
        <p:grpSp>
          <p:nvGrpSpPr>
            <p:cNvPr id="6" name="object 6"/>
            <p:cNvGrpSpPr/>
            <p:nvPr/>
          </p:nvGrpSpPr>
          <p:grpSpPr>
            <a:xfrm>
              <a:off x="2712271" y="4175312"/>
              <a:ext cx="322729" cy="186018"/>
              <a:chOff x="2921507" y="4732020"/>
              <a:chExt cx="365760" cy="210820"/>
            </a:xfrm>
          </p:grpSpPr>
          <p:pic>
            <p:nvPicPr>
              <p:cNvPr id="7" name="object 7"/>
              <p:cNvPicPr/>
              <p:nvPr/>
            </p:nvPicPr>
            <p:blipFill>
              <a:blip r:embed="rId3" cstate="print"/>
              <a:stretch>
                <a:fillRect/>
              </a:stretch>
            </p:blipFill>
            <p:spPr>
              <a:xfrm>
                <a:off x="2921507" y="4732020"/>
                <a:ext cx="365759" cy="210312"/>
              </a:xfrm>
              <a:prstGeom prst="rect">
                <a:avLst/>
              </a:prstGeom>
            </p:spPr>
          </p:pic>
          <p:pic>
            <p:nvPicPr>
              <p:cNvPr id="8" name="object 8"/>
              <p:cNvPicPr/>
              <p:nvPr/>
            </p:nvPicPr>
            <p:blipFill>
              <a:blip r:embed="rId4" cstate="print"/>
              <a:stretch>
                <a:fillRect/>
              </a:stretch>
            </p:blipFill>
            <p:spPr>
              <a:xfrm>
                <a:off x="2932141" y="4747298"/>
                <a:ext cx="324320" cy="169777"/>
              </a:xfrm>
              <a:prstGeom prst="rect">
                <a:avLst/>
              </a:prstGeom>
            </p:spPr>
          </p:pic>
        </p:grpSp>
        <p:grpSp>
          <p:nvGrpSpPr>
            <p:cNvPr id="9" name="object 9"/>
            <p:cNvGrpSpPr/>
            <p:nvPr/>
          </p:nvGrpSpPr>
          <p:grpSpPr>
            <a:xfrm>
              <a:off x="3580952" y="4178000"/>
              <a:ext cx="452157" cy="212912"/>
              <a:chOff x="3906011" y="4735067"/>
              <a:chExt cx="512445" cy="241300"/>
            </a:xfrm>
          </p:grpSpPr>
          <p:pic>
            <p:nvPicPr>
              <p:cNvPr id="10" name="object 10"/>
              <p:cNvPicPr/>
              <p:nvPr/>
            </p:nvPicPr>
            <p:blipFill>
              <a:blip r:embed="rId5" cstate="print"/>
              <a:stretch>
                <a:fillRect/>
              </a:stretch>
            </p:blipFill>
            <p:spPr>
              <a:xfrm>
                <a:off x="3906011" y="4735067"/>
                <a:ext cx="512063" cy="240792"/>
              </a:xfrm>
              <a:prstGeom prst="rect">
                <a:avLst/>
              </a:prstGeom>
            </p:spPr>
          </p:pic>
          <p:pic>
            <p:nvPicPr>
              <p:cNvPr id="11" name="object 11"/>
              <p:cNvPicPr/>
              <p:nvPr/>
            </p:nvPicPr>
            <p:blipFill>
              <a:blip r:embed="rId6" cstate="print"/>
              <a:stretch>
                <a:fillRect/>
              </a:stretch>
            </p:blipFill>
            <p:spPr>
              <a:xfrm>
                <a:off x="3917595" y="4749538"/>
                <a:ext cx="468392" cy="199494"/>
              </a:xfrm>
              <a:prstGeom prst="rect">
                <a:avLst/>
              </a:prstGeom>
            </p:spPr>
          </p:pic>
        </p:grpSp>
        <p:grpSp>
          <p:nvGrpSpPr>
            <p:cNvPr id="12" name="object 12"/>
            <p:cNvGrpSpPr/>
            <p:nvPr/>
          </p:nvGrpSpPr>
          <p:grpSpPr>
            <a:xfrm>
              <a:off x="2723030" y="4489972"/>
              <a:ext cx="304240" cy="186018"/>
              <a:chOff x="2933700" y="5088635"/>
              <a:chExt cx="344805" cy="210820"/>
            </a:xfrm>
          </p:grpSpPr>
          <p:pic>
            <p:nvPicPr>
              <p:cNvPr id="13" name="object 13"/>
              <p:cNvPicPr/>
              <p:nvPr/>
            </p:nvPicPr>
            <p:blipFill>
              <a:blip r:embed="rId7" cstate="print"/>
              <a:stretch>
                <a:fillRect/>
              </a:stretch>
            </p:blipFill>
            <p:spPr>
              <a:xfrm>
                <a:off x="2933700" y="5088635"/>
                <a:ext cx="344424" cy="210312"/>
              </a:xfrm>
              <a:prstGeom prst="rect">
                <a:avLst/>
              </a:prstGeom>
            </p:spPr>
          </p:pic>
          <p:sp>
            <p:nvSpPr>
              <p:cNvPr id="14" name="object 14"/>
              <p:cNvSpPr/>
              <p:nvPr/>
            </p:nvSpPr>
            <p:spPr>
              <a:xfrm>
                <a:off x="2950392" y="5111187"/>
                <a:ext cx="291465" cy="154305"/>
              </a:xfrm>
              <a:custGeom>
                <a:avLst/>
                <a:gdLst/>
                <a:ahLst/>
                <a:cxnLst/>
                <a:rect l="l" t="t" r="r" b="b"/>
                <a:pathLst>
                  <a:path w="291464" h="154304">
                    <a:moveTo>
                      <a:pt x="110381" y="767"/>
                    </a:moveTo>
                    <a:lnTo>
                      <a:pt x="92548" y="767"/>
                    </a:lnTo>
                    <a:lnTo>
                      <a:pt x="91522" y="1611"/>
                    </a:lnTo>
                    <a:lnTo>
                      <a:pt x="91309" y="1866"/>
                    </a:lnTo>
                    <a:lnTo>
                      <a:pt x="91047" y="2653"/>
                    </a:lnTo>
                    <a:lnTo>
                      <a:pt x="91142" y="4697"/>
                    </a:lnTo>
                    <a:lnTo>
                      <a:pt x="91407" y="6112"/>
                    </a:lnTo>
                    <a:lnTo>
                      <a:pt x="91881" y="7920"/>
                    </a:lnTo>
                    <a:lnTo>
                      <a:pt x="132142" y="148722"/>
                    </a:lnTo>
                    <a:lnTo>
                      <a:pt x="132378" y="149821"/>
                    </a:lnTo>
                    <a:lnTo>
                      <a:pt x="141883" y="153831"/>
                    </a:lnTo>
                    <a:lnTo>
                      <a:pt x="151210" y="153831"/>
                    </a:lnTo>
                    <a:lnTo>
                      <a:pt x="160301" y="148722"/>
                    </a:lnTo>
                    <a:lnTo>
                      <a:pt x="164583" y="131975"/>
                    </a:lnTo>
                    <a:lnTo>
                      <a:pt x="146752" y="131975"/>
                    </a:lnTo>
                    <a:lnTo>
                      <a:pt x="112613" y="4697"/>
                    </a:lnTo>
                    <a:lnTo>
                      <a:pt x="112529" y="4382"/>
                    </a:lnTo>
                    <a:lnTo>
                      <a:pt x="112351" y="3517"/>
                    </a:lnTo>
                    <a:lnTo>
                      <a:pt x="112308" y="3281"/>
                    </a:lnTo>
                    <a:lnTo>
                      <a:pt x="112159" y="2791"/>
                    </a:lnTo>
                    <a:lnTo>
                      <a:pt x="112116" y="2653"/>
                    </a:lnTo>
                    <a:lnTo>
                      <a:pt x="111611" y="1611"/>
                    </a:lnTo>
                    <a:lnTo>
                      <a:pt x="111542" y="1474"/>
                    </a:lnTo>
                    <a:lnTo>
                      <a:pt x="111171" y="1159"/>
                    </a:lnTo>
                    <a:lnTo>
                      <a:pt x="111312" y="1159"/>
                    </a:lnTo>
                    <a:lnTo>
                      <a:pt x="110381" y="767"/>
                    </a:lnTo>
                    <a:close/>
                  </a:path>
                  <a:path w="291464" h="154304">
                    <a:moveTo>
                      <a:pt x="210000" y="33510"/>
                    </a:moveTo>
                    <a:lnTo>
                      <a:pt x="189993" y="33510"/>
                    </a:lnTo>
                    <a:lnTo>
                      <a:pt x="222237" y="149821"/>
                    </a:lnTo>
                    <a:lnTo>
                      <a:pt x="231565" y="153831"/>
                    </a:lnTo>
                    <a:lnTo>
                      <a:pt x="240402" y="153831"/>
                    </a:lnTo>
                    <a:lnTo>
                      <a:pt x="254890" y="131975"/>
                    </a:lnTo>
                    <a:lnTo>
                      <a:pt x="237004" y="131975"/>
                    </a:lnTo>
                    <a:lnTo>
                      <a:pt x="210000" y="33510"/>
                    </a:lnTo>
                    <a:close/>
                  </a:path>
                  <a:path w="291464" h="154304">
                    <a:moveTo>
                      <a:pt x="199223" y="767"/>
                    </a:moveTo>
                    <a:lnTo>
                      <a:pt x="182176" y="767"/>
                    </a:lnTo>
                    <a:lnTo>
                      <a:pt x="181195" y="1159"/>
                    </a:lnTo>
                    <a:lnTo>
                      <a:pt x="180627" y="1611"/>
                    </a:lnTo>
                    <a:lnTo>
                      <a:pt x="180002" y="2653"/>
                    </a:lnTo>
                    <a:lnTo>
                      <a:pt x="179919" y="2791"/>
                    </a:lnTo>
                    <a:lnTo>
                      <a:pt x="179720" y="3281"/>
                    </a:lnTo>
                    <a:lnTo>
                      <a:pt x="179624" y="3517"/>
                    </a:lnTo>
                    <a:lnTo>
                      <a:pt x="179388" y="4382"/>
                    </a:lnTo>
                    <a:lnTo>
                      <a:pt x="146752" y="131975"/>
                    </a:lnTo>
                    <a:lnTo>
                      <a:pt x="164583" y="131975"/>
                    </a:lnTo>
                    <a:lnTo>
                      <a:pt x="189758" y="33510"/>
                    </a:lnTo>
                    <a:lnTo>
                      <a:pt x="210000" y="33510"/>
                    </a:lnTo>
                    <a:lnTo>
                      <a:pt x="201775" y="3517"/>
                    </a:lnTo>
                    <a:lnTo>
                      <a:pt x="201480" y="2791"/>
                    </a:lnTo>
                    <a:lnTo>
                      <a:pt x="200774" y="1611"/>
                    </a:lnTo>
                    <a:lnTo>
                      <a:pt x="200204" y="1159"/>
                    </a:lnTo>
                    <a:lnTo>
                      <a:pt x="199223" y="767"/>
                    </a:lnTo>
                    <a:close/>
                  </a:path>
                  <a:path w="291464" h="154304">
                    <a:moveTo>
                      <a:pt x="289631" y="767"/>
                    </a:moveTo>
                    <a:lnTo>
                      <a:pt x="273183" y="767"/>
                    </a:lnTo>
                    <a:lnTo>
                      <a:pt x="272252" y="1159"/>
                    </a:lnTo>
                    <a:lnTo>
                      <a:pt x="237239" y="131975"/>
                    </a:lnTo>
                    <a:lnTo>
                      <a:pt x="254890" y="131975"/>
                    </a:lnTo>
                    <a:lnTo>
                      <a:pt x="290495" y="7920"/>
                    </a:lnTo>
                    <a:lnTo>
                      <a:pt x="290888" y="6112"/>
                    </a:lnTo>
                    <a:lnTo>
                      <a:pt x="291104" y="4697"/>
                    </a:lnTo>
                    <a:lnTo>
                      <a:pt x="291183" y="2653"/>
                    </a:lnTo>
                    <a:lnTo>
                      <a:pt x="290888" y="1866"/>
                    </a:lnTo>
                    <a:lnTo>
                      <a:pt x="289631" y="767"/>
                    </a:lnTo>
                    <a:close/>
                  </a:path>
                  <a:path w="291464" h="154304">
                    <a:moveTo>
                      <a:pt x="13727" y="0"/>
                    </a:moveTo>
                    <a:lnTo>
                      <a:pt x="6638" y="0"/>
                    </a:lnTo>
                    <a:lnTo>
                      <a:pt x="3967" y="393"/>
                    </a:lnTo>
                    <a:lnTo>
                      <a:pt x="0" y="3046"/>
                    </a:lnTo>
                    <a:lnTo>
                      <a:pt x="0" y="148013"/>
                    </a:lnTo>
                    <a:lnTo>
                      <a:pt x="509" y="149369"/>
                    </a:lnTo>
                    <a:lnTo>
                      <a:pt x="961" y="150274"/>
                    </a:lnTo>
                    <a:lnTo>
                      <a:pt x="4025" y="152593"/>
                    </a:lnTo>
                    <a:lnTo>
                      <a:pt x="5734" y="153202"/>
                    </a:lnTo>
                    <a:lnTo>
                      <a:pt x="75642" y="153202"/>
                    </a:lnTo>
                    <a:lnTo>
                      <a:pt x="78981" y="141450"/>
                    </a:lnTo>
                    <a:lnTo>
                      <a:pt x="78666" y="139247"/>
                    </a:lnTo>
                    <a:lnTo>
                      <a:pt x="20266" y="135632"/>
                    </a:lnTo>
                    <a:lnTo>
                      <a:pt x="20266" y="3046"/>
                    </a:lnTo>
                    <a:lnTo>
                      <a:pt x="16319" y="393"/>
                    </a:lnTo>
                    <a:lnTo>
                      <a:pt x="13727" y="0"/>
                    </a:lnTo>
                    <a:close/>
                  </a:path>
                </a:pathLst>
              </a:custGeom>
              <a:solidFill>
                <a:srgbClr val="000090"/>
              </a:solidFill>
            </p:spPr>
            <p:txBody>
              <a:bodyPr wrap="square" lIns="0" tIns="0" rIns="0" bIns="0" rtlCol="0"/>
              <a:lstStyle/>
              <a:p>
                <a:endParaRPr sz="1588"/>
              </a:p>
            </p:txBody>
          </p:sp>
          <p:pic>
            <p:nvPicPr>
              <p:cNvPr id="15" name="object 15"/>
              <p:cNvPicPr/>
              <p:nvPr/>
            </p:nvPicPr>
            <p:blipFill>
              <a:blip r:embed="rId8" cstate="print"/>
              <a:stretch>
                <a:fillRect/>
              </a:stretch>
            </p:blipFill>
            <p:spPr>
              <a:xfrm>
                <a:off x="2944041" y="5104735"/>
                <a:ext cx="303886" cy="166715"/>
              </a:xfrm>
              <a:prstGeom prst="rect">
                <a:avLst/>
              </a:prstGeom>
            </p:spPr>
          </p:pic>
        </p:grpSp>
        <p:grpSp>
          <p:nvGrpSpPr>
            <p:cNvPr id="16" name="object 16"/>
            <p:cNvGrpSpPr/>
            <p:nvPr/>
          </p:nvGrpSpPr>
          <p:grpSpPr>
            <a:xfrm>
              <a:off x="3589020" y="4489972"/>
              <a:ext cx="457199" cy="215153"/>
              <a:chOff x="3915155" y="5088635"/>
              <a:chExt cx="518159" cy="243840"/>
            </a:xfrm>
          </p:grpSpPr>
          <p:pic>
            <p:nvPicPr>
              <p:cNvPr id="17" name="object 17"/>
              <p:cNvPicPr/>
              <p:nvPr/>
            </p:nvPicPr>
            <p:blipFill>
              <a:blip r:embed="rId9" cstate="print"/>
              <a:stretch>
                <a:fillRect/>
              </a:stretch>
            </p:blipFill>
            <p:spPr>
              <a:xfrm>
                <a:off x="3915155" y="5088635"/>
                <a:ext cx="518160" cy="243839"/>
              </a:xfrm>
              <a:prstGeom prst="rect">
                <a:avLst/>
              </a:prstGeom>
            </p:spPr>
          </p:pic>
          <p:pic>
            <p:nvPicPr>
              <p:cNvPr id="18" name="object 18"/>
              <p:cNvPicPr/>
              <p:nvPr/>
            </p:nvPicPr>
            <p:blipFill>
              <a:blip r:embed="rId10" cstate="print"/>
              <a:stretch>
                <a:fillRect/>
              </a:stretch>
            </p:blipFill>
            <p:spPr>
              <a:xfrm>
                <a:off x="3927021" y="5105445"/>
                <a:ext cx="474689" cy="199494"/>
              </a:xfrm>
              <a:prstGeom prst="rect">
                <a:avLst/>
              </a:prstGeom>
            </p:spPr>
          </p:pic>
        </p:grpSp>
        <p:sp>
          <p:nvSpPr>
            <p:cNvPr id="19" name="object 19"/>
            <p:cNvSpPr txBox="1"/>
            <p:nvPr/>
          </p:nvSpPr>
          <p:spPr>
            <a:xfrm>
              <a:off x="1912274" y="4623583"/>
              <a:ext cx="1195668" cy="1001123"/>
            </a:xfrm>
            <a:prstGeom prst="rect">
              <a:avLst/>
            </a:prstGeom>
          </p:spPr>
          <p:txBody>
            <a:bodyPr vert="horz" wrap="square" lIns="0" tIns="110378" rIns="0" bIns="0" rtlCol="0">
              <a:spAutoFit/>
            </a:bodyPr>
            <a:lstStyle/>
            <a:p>
              <a:pPr marL="807427">
                <a:spcBef>
                  <a:spcPts val="869"/>
                </a:spcBef>
              </a:pPr>
              <a:r>
                <a:rPr sz="1677" spc="-22" dirty="0">
                  <a:latin typeface="Calibri"/>
                  <a:cs typeface="Calibri"/>
                </a:rPr>
                <a:t>LW</a:t>
              </a:r>
              <a:endParaRPr sz="1677">
                <a:latin typeface="Calibri"/>
                <a:cs typeface="Calibri"/>
              </a:endParaRPr>
            </a:p>
            <a:p>
              <a:pPr marL="33619">
                <a:spcBef>
                  <a:spcPts val="785"/>
                </a:spcBef>
                <a:tabLst>
                  <a:tab pos="807427" algn="l"/>
                </a:tabLst>
              </a:pPr>
              <a:r>
                <a:rPr sz="1677" b="1" spc="-9" dirty="0">
                  <a:solidFill>
                    <a:srgbClr val="FF0000"/>
                  </a:solidFill>
                  <a:latin typeface="Times New Roman"/>
                  <a:cs typeface="Times New Roman"/>
                </a:rPr>
                <a:t>Stall</a:t>
              </a:r>
              <a:r>
                <a:rPr sz="1632" spc="-9" dirty="0">
                  <a:solidFill>
                    <a:srgbClr val="FF0000"/>
                  </a:solidFill>
                  <a:latin typeface="Wingdings"/>
                  <a:cs typeface="Wingdings"/>
                </a:rPr>
                <a:t></a:t>
              </a:r>
              <a:r>
                <a:rPr sz="1632" dirty="0">
                  <a:solidFill>
                    <a:srgbClr val="FF0000"/>
                  </a:solidFill>
                  <a:latin typeface="Times New Roman"/>
                  <a:cs typeface="Times New Roman"/>
                </a:rPr>
                <a:t>	</a:t>
              </a:r>
              <a:r>
                <a:rPr sz="2515" spc="-33" baseline="10233" dirty="0">
                  <a:latin typeface="Calibri"/>
                  <a:cs typeface="Calibri"/>
                </a:rPr>
                <a:t>SUB</a:t>
              </a:r>
              <a:endParaRPr sz="2515" baseline="10233">
                <a:latin typeface="Calibri"/>
                <a:cs typeface="Calibri"/>
              </a:endParaRPr>
            </a:p>
            <a:p>
              <a:pPr marL="807427">
                <a:spcBef>
                  <a:spcPts val="146"/>
                </a:spcBef>
              </a:pPr>
              <a:r>
                <a:rPr sz="1677" spc="-22" dirty="0">
                  <a:latin typeface="Calibri"/>
                  <a:cs typeface="Calibri"/>
                </a:rPr>
                <a:t>SW</a:t>
              </a:r>
              <a:endParaRPr sz="1677">
                <a:latin typeface="Calibri"/>
                <a:cs typeface="Calibri"/>
              </a:endParaRPr>
            </a:p>
          </p:txBody>
        </p:sp>
        <p:sp>
          <p:nvSpPr>
            <p:cNvPr id="20" name="object 20"/>
            <p:cNvSpPr txBox="1"/>
            <p:nvPr/>
          </p:nvSpPr>
          <p:spPr>
            <a:xfrm>
              <a:off x="3576006" y="4663925"/>
              <a:ext cx="872377" cy="941216"/>
            </a:xfrm>
            <a:prstGeom prst="rect">
              <a:avLst/>
            </a:prstGeom>
          </p:spPr>
          <p:txBody>
            <a:bodyPr vert="horz" wrap="square" lIns="0" tIns="70037" rIns="0" bIns="0" rtlCol="0">
              <a:spAutoFit/>
            </a:bodyPr>
            <a:lstStyle/>
            <a:p>
              <a:pPr marL="11206">
                <a:spcBef>
                  <a:spcPts val="552"/>
                </a:spcBef>
              </a:pPr>
              <a:r>
                <a:rPr sz="1677" dirty="0">
                  <a:solidFill>
                    <a:srgbClr val="FF0000"/>
                  </a:solidFill>
                  <a:latin typeface="Calibri"/>
                  <a:cs typeface="Calibri"/>
                </a:rPr>
                <a:t>Rf</a:t>
              </a:r>
              <a:r>
                <a:rPr sz="1677" dirty="0">
                  <a:latin typeface="Calibri"/>
                  <a:cs typeface="Calibri"/>
                </a:rPr>
                <a:t>,</a:t>
              </a:r>
              <a:r>
                <a:rPr sz="1677" spc="18" dirty="0">
                  <a:latin typeface="Calibri"/>
                  <a:cs typeface="Calibri"/>
                </a:rPr>
                <a:t> </a:t>
              </a:r>
              <a:r>
                <a:rPr sz="1677" spc="-44" dirty="0">
                  <a:latin typeface="Calibri"/>
                  <a:cs typeface="Calibri"/>
                </a:rPr>
                <a:t>f</a:t>
              </a:r>
              <a:endParaRPr sz="1677">
                <a:latin typeface="Calibri"/>
                <a:cs typeface="Calibri"/>
              </a:endParaRPr>
            </a:p>
            <a:p>
              <a:pPr marL="11206" marR="4483">
                <a:lnSpc>
                  <a:spcPct val="123200"/>
                </a:lnSpc>
              </a:pPr>
              <a:r>
                <a:rPr sz="1677" dirty="0">
                  <a:latin typeface="Calibri"/>
                  <a:cs typeface="Calibri"/>
                </a:rPr>
                <a:t>Rd,</a:t>
              </a:r>
              <a:r>
                <a:rPr sz="1677" spc="26" dirty="0">
                  <a:latin typeface="Calibri"/>
                  <a:cs typeface="Calibri"/>
                </a:rPr>
                <a:t> </a:t>
              </a:r>
              <a:r>
                <a:rPr sz="1677" dirty="0">
                  <a:latin typeface="Calibri"/>
                  <a:cs typeface="Calibri"/>
                </a:rPr>
                <a:t>Re,</a:t>
              </a:r>
              <a:r>
                <a:rPr sz="1677" spc="26" dirty="0">
                  <a:latin typeface="Calibri"/>
                  <a:cs typeface="Calibri"/>
                </a:rPr>
                <a:t> </a:t>
              </a:r>
              <a:r>
                <a:rPr sz="1677" spc="-22" dirty="0">
                  <a:solidFill>
                    <a:srgbClr val="FF0000"/>
                  </a:solidFill>
                  <a:latin typeface="Calibri"/>
                  <a:cs typeface="Calibri"/>
                </a:rPr>
                <a:t>Rf </a:t>
              </a:r>
              <a:r>
                <a:rPr sz="1677" dirty="0">
                  <a:latin typeface="Calibri"/>
                  <a:cs typeface="Calibri"/>
                </a:rPr>
                <a:t>d,</a:t>
              </a:r>
              <a:r>
                <a:rPr sz="1677" spc="22" dirty="0">
                  <a:latin typeface="Calibri"/>
                  <a:cs typeface="Calibri"/>
                </a:rPr>
                <a:t> </a:t>
              </a:r>
              <a:r>
                <a:rPr sz="1677" spc="-22" dirty="0">
                  <a:latin typeface="Calibri"/>
                  <a:cs typeface="Calibri"/>
                </a:rPr>
                <a:t>Rd</a:t>
              </a:r>
              <a:endParaRPr sz="1677">
                <a:latin typeface="Calibri"/>
                <a:cs typeface="Calibri"/>
              </a:endParaRPr>
            </a:p>
          </p:txBody>
        </p:sp>
      </p:grpSp>
      <p:sp>
        <p:nvSpPr>
          <p:cNvPr id="21" name="object 21"/>
          <p:cNvSpPr txBox="1"/>
          <p:nvPr/>
        </p:nvSpPr>
        <p:spPr>
          <a:xfrm>
            <a:off x="5699761" y="3868839"/>
            <a:ext cx="2033307" cy="934645"/>
          </a:xfrm>
          <a:prstGeom prst="rect">
            <a:avLst/>
          </a:prstGeom>
        </p:spPr>
        <p:txBody>
          <a:bodyPr vert="horz" wrap="square" lIns="0" tIns="11206" rIns="0" bIns="0" rtlCol="0">
            <a:spAutoFit/>
          </a:bodyPr>
          <a:lstStyle/>
          <a:p>
            <a:pPr marL="11206" marR="4483">
              <a:spcBef>
                <a:spcPts val="88"/>
              </a:spcBef>
            </a:pPr>
            <a:r>
              <a:rPr sz="3000" b="1" spc="-9" dirty="0">
                <a:solidFill>
                  <a:srgbClr val="FC0128"/>
                </a:solidFill>
                <a:latin typeface="Calibri"/>
                <a:cs typeface="Calibri"/>
              </a:rPr>
              <a:t>Reorder instructions!</a:t>
            </a:r>
            <a:endParaRPr sz="3000">
              <a:latin typeface="Calibri"/>
              <a:cs typeface="Calibri"/>
            </a:endParaRPr>
          </a:p>
        </p:txBody>
      </p:sp>
      <p:sp>
        <p:nvSpPr>
          <p:cNvPr id="24" name="object 4">
            <a:extLst>
              <a:ext uri="{FF2B5EF4-FFF2-40B4-BE49-F238E27FC236}">
                <a16:creationId xmlns:a16="http://schemas.microsoft.com/office/drawing/2014/main" id="{AACBC643-11D2-375E-6E0E-BCC8DE559BE8}"/>
              </a:ext>
            </a:extLst>
          </p:cNvPr>
          <p:cNvSpPr txBox="1"/>
          <p:nvPr/>
        </p:nvSpPr>
        <p:spPr>
          <a:xfrm>
            <a:off x="983274" y="1082840"/>
            <a:ext cx="6789763" cy="2261826"/>
          </a:xfrm>
          <a:prstGeom prst="rect">
            <a:avLst/>
          </a:prstGeom>
        </p:spPr>
        <p:txBody>
          <a:bodyPr vert="horz" wrap="square" lIns="0" tIns="210110" rIns="0" bIns="0" rtlCol="0">
            <a:spAutoFit/>
          </a:bodyPr>
          <a:lstStyle/>
          <a:p>
            <a:pPr indent="-270636">
              <a:buChar char="•"/>
              <a:tabLst>
                <a:tab pos="281843" algn="l"/>
              </a:tabLst>
            </a:pPr>
            <a:r>
              <a:rPr sz="2294" dirty="0">
                <a:latin typeface="Calibri"/>
                <a:cs typeface="Calibri"/>
              </a:rPr>
              <a:t>Try</a:t>
            </a:r>
            <a:r>
              <a:rPr sz="2294" spc="-66" dirty="0">
                <a:latin typeface="Calibri"/>
                <a:cs typeface="Calibri"/>
              </a:rPr>
              <a:t> </a:t>
            </a:r>
            <a:r>
              <a:rPr sz="2294" spc="-9" dirty="0">
                <a:latin typeface="Calibri"/>
                <a:cs typeface="Calibri"/>
              </a:rPr>
              <a:t>producing</a:t>
            </a:r>
            <a:r>
              <a:rPr sz="2294" spc="-75" dirty="0">
                <a:latin typeface="Calibri"/>
                <a:cs typeface="Calibri"/>
              </a:rPr>
              <a:t> </a:t>
            </a:r>
            <a:r>
              <a:rPr sz="2294" dirty="0">
                <a:latin typeface="Calibri"/>
                <a:cs typeface="Calibri"/>
              </a:rPr>
              <a:t>fast</a:t>
            </a:r>
            <a:r>
              <a:rPr sz="2294" spc="-71" dirty="0">
                <a:latin typeface="Calibri"/>
                <a:cs typeface="Calibri"/>
              </a:rPr>
              <a:t> </a:t>
            </a:r>
            <a:r>
              <a:rPr sz="2294" dirty="0">
                <a:latin typeface="Calibri"/>
                <a:cs typeface="Calibri"/>
              </a:rPr>
              <a:t>code</a:t>
            </a:r>
            <a:r>
              <a:rPr sz="2294" spc="-62" dirty="0">
                <a:latin typeface="Calibri"/>
                <a:cs typeface="Calibri"/>
              </a:rPr>
              <a:t> </a:t>
            </a:r>
            <a:r>
              <a:rPr sz="2294" dirty="0">
                <a:latin typeface="Calibri"/>
                <a:cs typeface="Calibri"/>
              </a:rPr>
              <a:t>with</a:t>
            </a:r>
            <a:r>
              <a:rPr sz="2294" spc="-71" dirty="0">
                <a:latin typeface="Calibri"/>
                <a:cs typeface="Calibri"/>
              </a:rPr>
              <a:t> </a:t>
            </a:r>
            <a:r>
              <a:rPr sz="2294" dirty="0">
                <a:latin typeface="Calibri"/>
                <a:cs typeface="Calibri"/>
              </a:rPr>
              <a:t>no</a:t>
            </a:r>
            <a:r>
              <a:rPr sz="2294" spc="-75" dirty="0">
                <a:latin typeface="Calibri"/>
                <a:cs typeface="Calibri"/>
              </a:rPr>
              <a:t> </a:t>
            </a:r>
            <a:r>
              <a:rPr sz="2294" dirty="0">
                <a:latin typeface="Calibri"/>
                <a:cs typeface="Calibri"/>
              </a:rPr>
              <a:t>stalls</a:t>
            </a:r>
            <a:r>
              <a:rPr sz="2294" spc="-62" dirty="0">
                <a:latin typeface="Calibri"/>
                <a:cs typeface="Calibri"/>
              </a:rPr>
              <a:t> </a:t>
            </a:r>
            <a:r>
              <a:rPr sz="2294" spc="-22" dirty="0">
                <a:latin typeface="Calibri"/>
                <a:cs typeface="Calibri"/>
              </a:rPr>
              <a:t>for</a:t>
            </a:r>
            <a:endParaRPr sz="2294" dirty="0">
              <a:latin typeface="Calibri"/>
              <a:cs typeface="Calibri"/>
            </a:endParaRPr>
          </a:p>
          <a:p>
            <a:pPr marL="878027" marR="3405089">
              <a:lnSpc>
                <a:spcPct val="126299"/>
              </a:lnSpc>
              <a:spcBef>
                <a:spcPts val="618"/>
              </a:spcBef>
            </a:pPr>
            <a:r>
              <a:rPr sz="2000" dirty="0">
                <a:latin typeface="Calibri"/>
                <a:cs typeface="Calibri"/>
              </a:rPr>
              <a:t>a</a:t>
            </a:r>
            <a:r>
              <a:rPr sz="2000" spc="18" dirty="0">
                <a:latin typeface="Calibri"/>
                <a:cs typeface="Calibri"/>
              </a:rPr>
              <a:t> </a:t>
            </a:r>
            <a:r>
              <a:rPr sz="2000" dirty="0">
                <a:latin typeface="Calibri"/>
                <a:cs typeface="Calibri"/>
              </a:rPr>
              <a:t>=</a:t>
            </a:r>
            <a:r>
              <a:rPr sz="2000" spc="18" dirty="0">
                <a:latin typeface="Calibri"/>
                <a:cs typeface="Calibri"/>
              </a:rPr>
              <a:t> </a:t>
            </a:r>
            <a:r>
              <a:rPr sz="2000" dirty="0">
                <a:latin typeface="Calibri"/>
                <a:cs typeface="Calibri"/>
              </a:rPr>
              <a:t>b</a:t>
            </a:r>
            <a:r>
              <a:rPr sz="2000" spc="22" dirty="0">
                <a:latin typeface="Calibri"/>
                <a:cs typeface="Calibri"/>
              </a:rPr>
              <a:t> </a:t>
            </a:r>
            <a:r>
              <a:rPr sz="2000" dirty="0">
                <a:latin typeface="Calibri"/>
                <a:cs typeface="Calibri"/>
              </a:rPr>
              <a:t>+</a:t>
            </a:r>
            <a:r>
              <a:rPr sz="2000" spc="18" dirty="0">
                <a:latin typeface="Calibri"/>
                <a:cs typeface="Calibri"/>
              </a:rPr>
              <a:t> </a:t>
            </a:r>
            <a:r>
              <a:rPr sz="2000" spc="-22" dirty="0">
                <a:latin typeface="Calibri"/>
                <a:cs typeface="Calibri"/>
              </a:rPr>
              <a:t>c; </a:t>
            </a:r>
            <a:br>
              <a:rPr lang="en-US" sz="2000" spc="-22" dirty="0">
                <a:latin typeface="Calibri"/>
                <a:cs typeface="Calibri"/>
              </a:rPr>
            </a:br>
            <a:r>
              <a:rPr sz="2000" dirty="0">
                <a:latin typeface="Calibri"/>
                <a:cs typeface="Calibri"/>
              </a:rPr>
              <a:t>d</a:t>
            </a:r>
            <a:r>
              <a:rPr sz="2000" spc="22" dirty="0">
                <a:latin typeface="Calibri"/>
                <a:cs typeface="Calibri"/>
              </a:rPr>
              <a:t> </a:t>
            </a:r>
            <a:r>
              <a:rPr sz="2000" dirty="0">
                <a:latin typeface="Calibri"/>
                <a:cs typeface="Calibri"/>
              </a:rPr>
              <a:t>=</a:t>
            </a:r>
            <a:r>
              <a:rPr sz="2000" spc="22" dirty="0">
                <a:latin typeface="Calibri"/>
                <a:cs typeface="Calibri"/>
              </a:rPr>
              <a:t> </a:t>
            </a:r>
            <a:r>
              <a:rPr sz="2000" dirty="0">
                <a:latin typeface="Calibri"/>
                <a:cs typeface="Calibri"/>
              </a:rPr>
              <a:t>e</a:t>
            </a:r>
            <a:r>
              <a:rPr lang="en-US" sz="2000" spc="22" dirty="0">
                <a:latin typeface="Calibri"/>
                <a:cs typeface="Calibri"/>
              </a:rPr>
              <a:t> </a:t>
            </a:r>
            <a:r>
              <a:rPr sz="2000" dirty="0">
                <a:latin typeface="Calibri"/>
                <a:cs typeface="Calibri"/>
              </a:rPr>
              <a:t>–</a:t>
            </a:r>
            <a:r>
              <a:rPr sz="2000" spc="22" dirty="0">
                <a:latin typeface="Calibri"/>
                <a:cs typeface="Calibri"/>
              </a:rPr>
              <a:t> </a:t>
            </a:r>
            <a:r>
              <a:rPr sz="2000" spc="-22" dirty="0">
                <a:latin typeface="Calibri"/>
                <a:cs typeface="Calibri"/>
              </a:rPr>
              <a:t>f;</a:t>
            </a:r>
            <a:endParaRPr sz="2000" dirty="0">
              <a:latin typeface="Calibri"/>
              <a:cs typeface="Calibri"/>
            </a:endParaRPr>
          </a:p>
          <a:p>
            <a:pPr marL="444337">
              <a:spcBef>
                <a:spcPts val="476"/>
              </a:spcBef>
              <a:spcAft>
                <a:spcPts val="600"/>
              </a:spcAft>
            </a:pPr>
            <a:r>
              <a:rPr sz="1941" dirty="0">
                <a:latin typeface="Calibri"/>
                <a:cs typeface="Calibri"/>
              </a:rPr>
              <a:t>–</a:t>
            </a:r>
            <a:r>
              <a:rPr sz="1941" spc="256" dirty="0">
                <a:latin typeface="Calibri"/>
                <a:cs typeface="Calibri"/>
              </a:rPr>
              <a:t> </a:t>
            </a:r>
            <a:r>
              <a:rPr sz="1941" spc="-18" dirty="0">
                <a:latin typeface="Calibri"/>
                <a:cs typeface="Calibri"/>
              </a:rPr>
              <a:t>assuming</a:t>
            </a:r>
            <a:r>
              <a:rPr sz="1941" spc="-57" dirty="0">
                <a:latin typeface="Calibri"/>
                <a:cs typeface="Calibri"/>
              </a:rPr>
              <a:t> </a:t>
            </a:r>
            <a:r>
              <a:rPr sz="1941" dirty="0">
                <a:latin typeface="Calibri"/>
                <a:cs typeface="Calibri"/>
              </a:rPr>
              <a:t>a,</a:t>
            </a:r>
            <a:r>
              <a:rPr sz="1941" spc="-44" dirty="0">
                <a:latin typeface="Calibri"/>
                <a:cs typeface="Calibri"/>
              </a:rPr>
              <a:t> </a:t>
            </a:r>
            <a:r>
              <a:rPr sz="1941" dirty="0">
                <a:latin typeface="Calibri"/>
                <a:cs typeface="Calibri"/>
              </a:rPr>
              <a:t>b,</a:t>
            </a:r>
            <a:r>
              <a:rPr sz="1941" spc="-44" dirty="0">
                <a:latin typeface="Calibri"/>
                <a:cs typeface="Calibri"/>
              </a:rPr>
              <a:t> </a:t>
            </a:r>
            <a:r>
              <a:rPr sz="1941" dirty="0">
                <a:latin typeface="Calibri"/>
                <a:cs typeface="Calibri"/>
              </a:rPr>
              <a:t>c,</a:t>
            </a:r>
            <a:r>
              <a:rPr sz="1941" spc="-44" dirty="0">
                <a:latin typeface="Calibri"/>
                <a:cs typeface="Calibri"/>
              </a:rPr>
              <a:t> </a:t>
            </a:r>
            <a:r>
              <a:rPr sz="1941" dirty="0">
                <a:latin typeface="Calibri"/>
                <a:cs typeface="Calibri"/>
              </a:rPr>
              <a:t>d</a:t>
            </a:r>
            <a:r>
              <a:rPr sz="1941" spc="-62" dirty="0">
                <a:latin typeface="Calibri"/>
                <a:cs typeface="Calibri"/>
              </a:rPr>
              <a:t> </a:t>
            </a:r>
            <a:r>
              <a:rPr sz="1941" dirty="0">
                <a:latin typeface="Calibri"/>
                <a:cs typeface="Calibri"/>
              </a:rPr>
              <a:t>,e,</a:t>
            </a:r>
            <a:r>
              <a:rPr sz="1941" spc="-44" dirty="0">
                <a:latin typeface="Calibri"/>
                <a:cs typeface="Calibri"/>
              </a:rPr>
              <a:t> </a:t>
            </a:r>
            <a:r>
              <a:rPr sz="1941" dirty="0">
                <a:latin typeface="Calibri"/>
                <a:cs typeface="Calibri"/>
              </a:rPr>
              <a:t>and</a:t>
            </a:r>
            <a:r>
              <a:rPr sz="1941" spc="-57" dirty="0">
                <a:latin typeface="Calibri"/>
                <a:cs typeface="Calibri"/>
              </a:rPr>
              <a:t> </a:t>
            </a:r>
            <a:r>
              <a:rPr sz="1941" dirty="0">
                <a:latin typeface="Calibri"/>
                <a:cs typeface="Calibri"/>
              </a:rPr>
              <a:t>f</a:t>
            </a:r>
            <a:r>
              <a:rPr sz="1941" spc="-49" dirty="0">
                <a:latin typeface="Calibri"/>
                <a:cs typeface="Calibri"/>
              </a:rPr>
              <a:t> </a:t>
            </a:r>
            <a:r>
              <a:rPr sz="1941" dirty="0">
                <a:latin typeface="Calibri"/>
                <a:cs typeface="Calibri"/>
              </a:rPr>
              <a:t>are</a:t>
            </a:r>
            <a:r>
              <a:rPr sz="1941" spc="-53" dirty="0">
                <a:latin typeface="Calibri"/>
                <a:cs typeface="Calibri"/>
              </a:rPr>
              <a:t> </a:t>
            </a:r>
            <a:r>
              <a:rPr sz="1941" dirty="0">
                <a:latin typeface="Calibri"/>
                <a:cs typeface="Calibri"/>
              </a:rPr>
              <a:t>in</a:t>
            </a:r>
            <a:r>
              <a:rPr sz="1941" spc="-57" dirty="0">
                <a:latin typeface="Calibri"/>
                <a:cs typeface="Calibri"/>
              </a:rPr>
              <a:t> </a:t>
            </a:r>
            <a:r>
              <a:rPr sz="1941" spc="-9" dirty="0">
                <a:latin typeface="Calibri"/>
                <a:cs typeface="Calibri"/>
              </a:rPr>
              <a:t>memory.</a:t>
            </a:r>
            <a:endParaRPr sz="1941" dirty="0">
              <a:latin typeface="Calibri"/>
              <a:cs typeface="Calibri"/>
            </a:endParaRPr>
          </a:p>
          <a:p>
            <a:pPr marL="878027">
              <a:spcBef>
                <a:spcPts val="410"/>
              </a:spcBef>
            </a:pPr>
            <a:r>
              <a:rPr sz="2294" dirty="0">
                <a:latin typeface="Calibri"/>
                <a:cs typeface="Calibri"/>
              </a:rPr>
              <a:t>Slow</a:t>
            </a:r>
            <a:r>
              <a:rPr sz="2294" spc="-106" dirty="0">
                <a:latin typeface="Calibri"/>
                <a:cs typeface="Calibri"/>
              </a:rPr>
              <a:t> </a:t>
            </a:r>
            <a:r>
              <a:rPr sz="2294" spc="-18" dirty="0">
                <a:latin typeface="Calibri"/>
                <a:cs typeface="Calibri"/>
              </a:rPr>
              <a:t>code:</a:t>
            </a:r>
            <a:endParaRPr sz="2294" dirty="0">
              <a:latin typeface="Calibri"/>
              <a:cs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4912" y="224212"/>
            <a:ext cx="6958853" cy="1365532"/>
          </a:xfrm>
          <a:prstGeom prst="rect">
            <a:avLst/>
          </a:prstGeom>
        </p:spPr>
        <p:txBody>
          <a:bodyPr vert="horz" wrap="square" lIns="0" tIns="11206" rIns="0" bIns="0" rtlCol="0" anchor="ctr">
            <a:spAutoFit/>
          </a:bodyPr>
          <a:lstStyle/>
          <a:p>
            <a:pPr marL="11206">
              <a:lnSpc>
                <a:spcPct val="100000"/>
              </a:lnSpc>
              <a:spcBef>
                <a:spcPts val="88"/>
              </a:spcBef>
            </a:pPr>
            <a:r>
              <a:rPr dirty="0"/>
              <a:t>Software</a:t>
            </a:r>
            <a:r>
              <a:rPr spc="71" dirty="0"/>
              <a:t> </a:t>
            </a:r>
            <a:r>
              <a:rPr dirty="0"/>
              <a:t>Scheduling</a:t>
            </a:r>
            <a:r>
              <a:rPr spc="88" dirty="0"/>
              <a:t> </a:t>
            </a:r>
            <a:r>
              <a:rPr dirty="0"/>
              <a:t>to</a:t>
            </a:r>
            <a:r>
              <a:rPr spc="84" dirty="0"/>
              <a:t> </a:t>
            </a:r>
            <a:r>
              <a:rPr dirty="0"/>
              <a:t>Avoid</a:t>
            </a:r>
            <a:r>
              <a:rPr spc="88" dirty="0"/>
              <a:t> </a:t>
            </a:r>
            <a:r>
              <a:rPr dirty="0"/>
              <a:t>Load</a:t>
            </a:r>
            <a:r>
              <a:rPr spc="88" dirty="0"/>
              <a:t> </a:t>
            </a:r>
            <a:r>
              <a:rPr spc="-9" dirty="0"/>
              <a:t>Hazards</a:t>
            </a:r>
          </a:p>
        </p:txBody>
      </p:sp>
      <p:sp>
        <p:nvSpPr>
          <p:cNvPr id="43" name="Slide Number Placeholder 42">
            <a:extLst>
              <a:ext uri="{FF2B5EF4-FFF2-40B4-BE49-F238E27FC236}">
                <a16:creationId xmlns:a16="http://schemas.microsoft.com/office/drawing/2014/main" id="{192F4745-E2A0-85D8-F4DB-862406C7FF7B}"/>
              </a:ext>
            </a:extLst>
          </p:cNvPr>
          <p:cNvSpPr>
            <a:spLocks noGrp="1"/>
          </p:cNvSpPr>
          <p:nvPr>
            <p:ph type="sldNum" sz="quarter" idx="7"/>
          </p:nvPr>
        </p:nvSpPr>
        <p:spPr/>
        <p:txBody>
          <a:bodyPr/>
          <a:lstStyle/>
          <a:p>
            <a:fld id="{4FE321F0-2018-4E50-8BB3-A5631EBD98DD}" type="slidenum">
              <a:rPr lang="en-US" smtClean="0"/>
              <a:t>53</a:t>
            </a:fld>
            <a:endParaRPr lang="en-US"/>
          </a:p>
        </p:txBody>
      </p:sp>
      <p:grpSp>
        <p:nvGrpSpPr>
          <p:cNvPr id="45" name="Group 44">
            <a:extLst>
              <a:ext uri="{FF2B5EF4-FFF2-40B4-BE49-F238E27FC236}">
                <a16:creationId xmlns:a16="http://schemas.microsoft.com/office/drawing/2014/main" id="{24AC6955-E967-A5B0-3C32-5D284DE13297}"/>
              </a:ext>
            </a:extLst>
          </p:cNvPr>
          <p:cNvGrpSpPr/>
          <p:nvPr/>
        </p:nvGrpSpPr>
        <p:grpSpPr>
          <a:xfrm>
            <a:off x="1830994" y="3038186"/>
            <a:ext cx="6380110" cy="2996771"/>
            <a:chOff x="1912274" y="2753706"/>
            <a:chExt cx="6380110" cy="2996771"/>
          </a:xfrm>
        </p:grpSpPr>
        <p:sp>
          <p:nvSpPr>
            <p:cNvPr id="4" name="object 4"/>
            <p:cNvSpPr txBox="1"/>
            <p:nvPr/>
          </p:nvSpPr>
          <p:spPr>
            <a:xfrm>
              <a:off x="1914390" y="3029069"/>
              <a:ext cx="1337422" cy="1070651"/>
            </a:xfrm>
            <a:prstGeom prst="rect">
              <a:avLst/>
            </a:prstGeom>
          </p:spPr>
          <p:txBody>
            <a:bodyPr vert="horz" wrap="square" lIns="0" tIns="99732" rIns="0" bIns="0" rtlCol="0">
              <a:spAutoFit/>
            </a:bodyPr>
            <a:lstStyle/>
            <a:p>
              <a:pPr marL="807427" marR="132236">
                <a:lnSpc>
                  <a:spcPct val="123200"/>
                </a:lnSpc>
                <a:spcBef>
                  <a:spcPts val="84"/>
                </a:spcBef>
              </a:pPr>
              <a:r>
                <a:rPr lang="en-US" sz="1677" spc="-22" dirty="0">
                  <a:cs typeface="Calibri"/>
                </a:rPr>
                <a:t>LW </a:t>
              </a:r>
              <a:r>
                <a:rPr lang="en-US" sz="1677" spc="-22" dirty="0" err="1">
                  <a:cs typeface="Calibri"/>
                </a:rPr>
                <a:t>LW</a:t>
              </a:r>
              <a:endParaRPr lang="en-US" sz="1677" dirty="0">
                <a:cs typeface="Calibri"/>
              </a:endParaRPr>
            </a:p>
            <a:p>
              <a:pPr marL="33619">
                <a:spcBef>
                  <a:spcPts val="596"/>
                </a:spcBef>
                <a:tabLst>
                  <a:tab pos="807427" algn="l"/>
                </a:tabLst>
              </a:pPr>
              <a:r>
                <a:rPr lang="en-US" sz="1677" b="1" spc="-9" dirty="0">
                  <a:solidFill>
                    <a:srgbClr val="FF0000"/>
                  </a:solidFill>
                  <a:latin typeface="Times New Roman"/>
                  <a:cs typeface="Times New Roman"/>
                </a:rPr>
                <a:t>Stall</a:t>
              </a:r>
              <a:r>
                <a:rPr lang="en-US" sz="1632" spc="-9" dirty="0">
                  <a:solidFill>
                    <a:srgbClr val="FF0000"/>
                  </a:solidFill>
                  <a:latin typeface="Wingdings"/>
                  <a:cs typeface="Wingdings"/>
                </a:rPr>
                <a:t></a:t>
              </a:r>
              <a:r>
                <a:rPr lang="en-US" sz="1632" dirty="0">
                  <a:solidFill>
                    <a:srgbClr val="FF0000"/>
                  </a:solidFill>
                  <a:latin typeface="Times New Roman"/>
                  <a:cs typeface="Times New Roman"/>
                </a:rPr>
                <a:t>	</a:t>
              </a:r>
              <a:r>
                <a:rPr lang="en-US" sz="2515" spc="-33" baseline="7309" dirty="0">
                  <a:cs typeface="Calibri"/>
                </a:rPr>
                <a:t>ADD</a:t>
              </a:r>
              <a:endParaRPr sz="2515" baseline="7309" dirty="0">
                <a:latin typeface="Calibri"/>
                <a:cs typeface="Calibri"/>
              </a:endParaRPr>
            </a:p>
          </p:txBody>
        </p:sp>
        <p:sp>
          <p:nvSpPr>
            <p:cNvPr id="5" name="object 5"/>
            <p:cNvSpPr txBox="1"/>
            <p:nvPr/>
          </p:nvSpPr>
          <p:spPr>
            <a:xfrm>
              <a:off x="3576006" y="3117513"/>
              <a:ext cx="893109" cy="955047"/>
            </a:xfrm>
            <a:prstGeom prst="rect">
              <a:avLst/>
            </a:prstGeom>
          </p:spPr>
          <p:txBody>
            <a:bodyPr vert="horz" wrap="square" lIns="0" tIns="10646" rIns="0" bIns="0" rtlCol="0">
              <a:spAutoFit/>
            </a:bodyPr>
            <a:lstStyle/>
            <a:p>
              <a:pPr marL="11206" marR="426967">
                <a:lnSpc>
                  <a:spcPct val="123200"/>
                </a:lnSpc>
                <a:spcBef>
                  <a:spcPts val="84"/>
                </a:spcBef>
              </a:pPr>
              <a:r>
                <a:rPr sz="1677" dirty="0">
                  <a:latin typeface="Calibri"/>
                  <a:cs typeface="Calibri"/>
                </a:rPr>
                <a:t>Rb,</a:t>
              </a:r>
              <a:r>
                <a:rPr sz="1677" spc="22" dirty="0">
                  <a:latin typeface="Calibri"/>
                  <a:cs typeface="Calibri"/>
                </a:rPr>
                <a:t> </a:t>
              </a:r>
              <a:r>
                <a:rPr sz="1677" spc="-44" dirty="0">
                  <a:latin typeface="Calibri"/>
                  <a:cs typeface="Calibri"/>
                </a:rPr>
                <a:t>b </a:t>
              </a:r>
              <a:r>
                <a:rPr sz="1677" dirty="0">
                  <a:solidFill>
                    <a:srgbClr val="FF0000"/>
                  </a:solidFill>
                  <a:latin typeface="Calibri"/>
                  <a:cs typeface="Calibri"/>
                </a:rPr>
                <a:t>Rc</a:t>
              </a:r>
              <a:r>
                <a:rPr sz="1677" dirty="0">
                  <a:latin typeface="Calibri"/>
                  <a:cs typeface="Calibri"/>
                </a:rPr>
                <a:t>,</a:t>
              </a:r>
              <a:r>
                <a:rPr sz="1677" spc="22" dirty="0">
                  <a:latin typeface="Calibri"/>
                  <a:cs typeface="Calibri"/>
                </a:rPr>
                <a:t> </a:t>
              </a:r>
              <a:r>
                <a:rPr sz="1677" spc="-44" dirty="0">
                  <a:latin typeface="Calibri"/>
                  <a:cs typeface="Calibri"/>
                </a:rPr>
                <a:t>c</a:t>
              </a:r>
              <a:endParaRPr sz="1677" dirty="0">
                <a:latin typeface="Calibri"/>
                <a:cs typeface="Calibri"/>
              </a:endParaRPr>
            </a:p>
            <a:p>
              <a:pPr marL="11206">
                <a:spcBef>
                  <a:spcPts val="361"/>
                </a:spcBef>
              </a:pPr>
              <a:r>
                <a:rPr sz="1677" dirty="0">
                  <a:latin typeface="Calibri"/>
                  <a:cs typeface="Calibri"/>
                </a:rPr>
                <a:t>Ra,</a:t>
              </a:r>
              <a:r>
                <a:rPr sz="1677" spc="22" dirty="0">
                  <a:latin typeface="Calibri"/>
                  <a:cs typeface="Calibri"/>
                </a:rPr>
                <a:t> </a:t>
              </a:r>
              <a:r>
                <a:rPr sz="1677" dirty="0">
                  <a:latin typeface="Calibri"/>
                  <a:cs typeface="Calibri"/>
                </a:rPr>
                <a:t>Rb,</a:t>
              </a:r>
              <a:r>
                <a:rPr sz="1677" spc="26" dirty="0">
                  <a:latin typeface="Calibri"/>
                  <a:cs typeface="Calibri"/>
                </a:rPr>
                <a:t> </a:t>
              </a:r>
              <a:r>
                <a:rPr sz="1677" spc="-22" dirty="0">
                  <a:solidFill>
                    <a:srgbClr val="FF0000"/>
                  </a:solidFill>
                  <a:latin typeface="Calibri"/>
                  <a:cs typeface="Calibri"/>
                </a:rPr>
                <a:t>Rc</a:t>
              </a:r>
              <a:endParaRPr sz="1677" dirty="0">
                <a:latin typeface="Calibri"/>
                <a:cs typeface="Calibri"/>
              </a:endParaRPr>
            </a:p>
          </p:txBody>
        </p:sp>
        <p:grpSp>
          <p:nvGrpSpPr>
            <p:cNvPr id="6" name="object 6"/>
            <p:cNvGrpSpPr/>
            <p:nvPr/>
          </p:nvGrpSpPr>
          <p:grpSpPr>
            <a:xfrm>
              <a:off x="2712271" y="4175312"/>
              <a:ext cx="331134" cy="188259"/>
              <a:chOff x="2921507" y="4732020"/>
              <a:chExt cx="375285" cy="213360"/>
            </a:xfrm>
          </p:grpSpPr>
          <p:pic>
            <p:nvPicPr>
              <p:cNvPr id="7" name="object 7"/>
              <p:cNvPicPr/>
              <p:nvPr/>
            </p:nvPicPr>
            <p:blipFill>
              <a:blip r:embed="rId2" cstate="print"/>
              <a:stretch>
                <a:fillRect/>
              </a:stretch>
            </p:blipFill>
            <p:spPr>
              <a:xfrm>
                <a:off x="2921507" y="4732020"/>
                <a:ext cx="374904" cy="213360"/>
              </a:xfrm>
              <a:prstGeom prst="rect">
                <a:avLst/>
              </a:prstGeom>
            </p:spPr>
          </p:pic>
          <p:pic>
            <p:nvPicPr>
              <p:cNvPr id="8" name="object 8"/>
              <p:cNvPicPr/>
              <p:nvPr/>
            </p:nvPicPr>
            <p:blipFill>
              <a:blip r:embed="rId3" cstate="print"/>
              <a:stretch>
                <a:fillRect/>
              </a:stretch>
            </p:blipFill>
            <p:spPr>
              <a:xfrm>
                <a:off x="2931198" y="4746826"/>
                <a:ext cx="334763" cy="170720"/>
              </a:xfrm>
              <a:prstGeom prst="rect">
                <a:avLst/>
              </a:prstGeom>
            </p:spPr>
          </p:pic>
        </p:grpSp>
        <p:grpSp>
          <p:nvGrpSpPr>
            <p:cNvPr id="9" name="object 9"/>
            <p:cNvGrpSpPr/>
            <p:nvPr/>
          </p:nvGrpSpPr>
          <p:grpSpPr>
            <a:xfrm>
              <a:off x="3578262" y="4178000"/>
              <a:ext cx="468406" cy="212912"/>
              <a:chOff x="3902964" y="4735067"/>
              <a:chExt cx="530860" cy="241300"/>
            </a:xfrm>
          </p:grpSpPr>
          <p:pic>
            <p:nvPicPr>
              <p:cNvPr id="10" name="object 10"/>
              <p:cNvPicPr/>
              <p:nvPr/>
            </p:nvPicPr>
            <p:blipFill>
              <a:blip r:embed="rId4" cstate="print"/>
              <a:stretch>
                <a:fillRect/>
              </a:stretch>
            </p:blipFill>
            <p:spPr>
              <a:xfrm>
                <a:off x="3902964" y="4735067"/>
                <a:ext cx="530351" cy="240792"/>
              </a:xfrm>
              <a:prstGeom prst="rect">
                <a:avLst/>
              </a:prstGeom>
            </p:spPr>
          </p:pic>
          <p:pic>
            <p:nvPicPr>
              <p:cNvPr id="11" name="object 11"/>
              <p:cNvPicPr/>
              <p:nvPr/>
            </p:nvPicPr>
            <p:blipFill>
              <a:blip r:embed="rId5" cstate="print"/>
              <a:stretch>
                <a:fillRect/>
              </a:stretch>
            </p:blipFill>
            <p:spPr>
              <a:xfrm>
                <a:off x="3915120" y="4749538"/>
                <a:ext cx="487586" cy="199730"/>
              </a:xfrm>
              <a:prstGeom prst="rect">
                <a:avLst/>
              </a:prstGeom>
            </p:spPr>
          </p:pic>
        </p:grpSp>
        <p:grpSp>
          <p:nvGrpSpPr>
            <p:cNvPr id="12" name="object 12"/>
            <p:cNvGrpSpPr/>
            <p:nvPr/>
          </p:nvGrpSpPr>
          <p:grpSpPr>
            <a:xfrm>
              <a:off x="2720339" y="4489972"/>
              <a:ext cx="312084" cy="186018"/>
              <a:chOff x="2930651" y="5088635"/>
              <a:chExt cx="353695" cy="210820"/>
            </a:xfrm>
          </p:grpSpPr>
          <p:pic>
            <p:nvPicPr>
              <p:cNvPr id="13" name="object 13"/>
              <p:cNvPicPr/>
              <p:nvPr/>
            </p:nvPicPr>
            <p:blipFill>
              <a:blip r:embed="rId6" cstate="print"/>
              <a:stretch>
                <a:fillRect/>
              </a:stretch>
            </p:blipFill>
            <p:spPr>
              <a:xfrm>
                <a:off x="2930651" y="5088635"/>
                <a:ext cx="353567" cy="210312"/>
              </a:xfrm>
              <a:prstGeom prst="rect">
                <a:avLst/>
              </a:prstGeom>
            </p:spPr>
          </p:pic>
          <p:sp>
            <p:nvSpPr>
              <p:cNvPr id="14" name="object 14"/>
              <p:cNvSpPr/>
              <p:nvPr/>
            </p:nvSpPr>
            <p:spPr>
              <a:xfrm>
                <a:off x="2946741" y="5111206"/>
                <a:ext cx="300990" cy="154305"/>
              </a:xfrm>
              <a:custGeom>
                <a:avLst/>
                <a:gdLst/>
                <a:ahLst/>
                <a:cxnLst/>
                <a:rect l="l" t="t" r="r" b="b"/>
                <a:pathLst>
                  <a:path w="300989" h="154304">
                    <a:moveTo>
                      <a:pt x="120790" y="452"/>
                    </a:moveTo>
                    <a:lnTo>
                      <a:pt x="96382" y="452"/>
                    </a:lnTo>
                    <a:lnTo>
                      <a:pt x="95007" y="904"/>
                    </a:lnTo>
                    <a:lnTo>
                      <a:pt x="93044" y="2633"/>
                    </a:lnTo>
                    <a:lnTo>
                      <a:pt x="92692" y="3597"/>
                    </a:lnTo>
                    <a:lnTo>
                      <a:pt x="92784" y="7292"/>
                    </a:lnTo>
                    <a:lnTo>
                      <a:pt x="93141" y="9316"/>
                    </a:lnTo>
                    <a:lnTo>
                      <a:pt x="93849" y="12146"/>
                    </a:lnTo>
                    <a:lnTo>
                      <a:pt x="128488" y="145282"/>
                    </a:lnTo>
                    <a:lnTo>
                      <a:pt x="128959" y="147168"/>
                    </a:lnTo>
                    <a:lnTo>
                      <a:pt x="142803" y="153793"/>
                    </a:lnTo>
                    <a:lnTo>
                      <a:pt x="158789" y="153793"/>
                    </a:lnTo>
                    <a:lnTo>
                      <a:pt x="172671" y="145282"/>
                    </a:lnTo>
                    <a:lnTo>
                      <a:pt x="177966" y="123112"/>
                    </a:lnTo>
                    <a:lnTo>
                      <a:pt x="151817" y="123112"/>
                    </a:lnTo>
                    <a:lnTo>
                      <a:pt x="125310" y="7292"/>
                    </a:lnTo>
                    <a:lnTo>
                      <a:pt x="125265" y="7095"/>
                    </a:lnTo>
                    <a:lnTo>
                      <a:pt x="125152" y="6604"/>
                    </a:lnTo>
                    <a:lnTo>
                      <a:pt x="125072" y="6250"/>
                    </a:lnTo>
                    <a:lnTo>
                      <a:pt x="124969" y="5601"/>
                    </a:lnTo>
                    <a:lnTo>
                      <a:pt x="124929" y="5346"/>
                    </a:lnTo>
                    <a:lnTo>
                      <a:pt x="124835" y="4757"/>
                    </a:lnTo>
                    <a:lnTo>
                      <a:pt x="124729" y="4363"/>
                    </a:lnTo>
                    <a:lnTo>
                      <a:pt x="124607" y="3911"/>
                    </a:lnTo>
                    <a:lnTo>
                      <a:pt x="124522" y="3597"/>
                    </a:lnTo>
                    <a:lnTo>
                      <a:pt x="123736" y="1946"/>
                    </a:lnTo>
                    <a:lnTo>
                      <a:pt x="122990" y="1316"/>
                    </a:lnTo>
                    <a:lnTo>
                      <a:pt x="120790" y="452"/>
                    </a:lnTo>
                    <a:close/>
                  </a:path>
                  <a:path w="300989" h="154304">
                    <a:moveTo>
                      <a:pt x="225490" y="48585"/>
                    </a:moveTo>
                    <a:lnTo>
                      <a:pt x="196001" y="48585"/>
                    </a:lnTo>
                    <a:lnTo>
                      <a:pt x="220390" y="145282"/>
                    </a:lnTo>
                    <a:lnTo>
                      <a:pt x="220783" y="147168"/>
                    </a:lnTo>
                    <a:lnTo>
                      <a:pt x="234588" y="153793"/>
                    </a:lnTo>
                    <a:lnTo>
                      <a:pt x="249963" y="153793"/>
                    </a:lnTo>
                    <a:lnTo>
                      <a:pt x="264574" y="145282"/>
                    </a:lnTo>
                    <a:lnTo>
                      <a:pt x="270416" y="123112"/>
                    </a:lnTo>
                    <a:lnTo>
                      <a:pt x="243954" y="123112"/>
                    </a:lnTo>
                    <a:lnTo>
                      <a:pt x="225490" y="48585"/>
                    </a:lnTo>
                    <a:close/>
                  </a:path>
                  <a:path w="300989" h="154304">
                    <a:moveTo>
                      <a:pt x="209226" y="452"/>
                    </a:moveTo>
                    <a:lnTo>
                      <a:pt x="186091" y="452"/>
                    </a:lnTo>
                    <a:lnTo>
                      <a:pt x="184788" y="727"/>
                    </a:lnTo>
                    <a:lnTo>
                      <a:pt x="179202" y="9316"/>
                    </a:lnTo>
                    <a:lnTo>
                      <a:pt x="151817" y="123112"/>
                    </a:lnTo>
                    <a:lnTo>
                      <a:pt x="177966" y="123112"/>
                    </a:lnTo>
                    <a:lnTo>
                      <a:pt x="195765" y="48585"/>
                    </a:lnTo>
                    <a:lnTo>
                      <a:pt x="225490" y="48585"/>
                    </a:lnTo>
                    <a:lnTo>
                      <a:pt x="215260" y="7292"/>
                    </a:lnTo>
                    <a:lnTo>
                      <a:pt x="214911" y="5601"/>
                    </a:lnTo>
                    <a:lnTo>
                      <a:pt x="214500" y="4363"/>
                    </a:lnTo>
                    <a:lnTo>
                      <a:pt x="214265" y="3911"/>
                    </a:lnTo>
                    <a:lnTo>
                      <a:pt x="213519" y="2633"/>
                    </a:lnTo>
                    <a:lnTo>
                      <a:pt x="213428" y="2476"/>
                    </a:lnTo>
                    <a:lnTo>
                      <a:pt x="212858" y="1946"/>
                    </a:lnTo>
                    <a:lnTo>
                      <a:pt x="212619" y="1750"/>
                    </a:lnTo>
                    <a:lnTo>
                      <a:pt x="212757" y="1750"/>
                    </a:lnTo>
                    <a:lnTo>
                      <a:pt x="210322" y="727"/>
                    </a:lnTo>
                    <a:lnTo>
                      <a:pt x="210652" y="727"/>
                    </a:lnTo>
                    <a:lnTo>
                      <a:pt x="209226" y="452"/>
                    </a:lnTo>
                    <a:close/>
                  </a:path>
                  <a:path w="300989" h="154304">
                    <a:moveTo>
                      <a:pt x="297630" y="452"/>
                    </a:moveTo>
                    <a:lnTo>
                      <a:pt x="276442" y="452"/>
                    </a:lnTo>
                    <a:lnTo>
                      <a:pt x="275216" y="727"/>
                    </a:lnTo>
                    <a:lnTo>
                      <a:pt x="271001" y="6250"/>
                    </a:lnTo>
                    <a:lnTo>
                      <a:pt x="270935" y="6604"/>
                    </a:lnTo>
                    <a:lnTo>
                      <a:pt x="244190" y="123112"/>
                    </a:lnTo>
                    <a:lnTo>
                      <a:pt x="270416" y="123112"/>
                    </a:lnTo>
                    <a:lnTo>
                      <a:pt x="299566" y="12500"/>
                    </a:lnTo>
                    <a:lnTo>
                      <a:pt x="300829" y="3597"/>
                    </a:lnTo>
                    <a:lnTo>
                      <a:pt x="300548" y="2633"/>
                    </a:lnTo>
                    <a:lnTo>
                      <a:pt x="298820" y="904"/>
                    </a:lnTo>
                    <a:lnTo>
                      <a:pt x="297630" y="452"/>
                    </a:lnTo>
                    <a:close/>
                  </a:path>
                  <a:path w="300989" h="154304">
                    <a:moveTo>
                      <a:pt x="21128" y="0"/>
                    </a:moveTo>
                    <a:lnTo>
                      <a:pt x="10073" y="0"/>
                    </a:lnTo>
                    <a:lnTo>
                      <a:pt x="6066" y="472"/>
                    </a:lnTo>
                    <a:lnTo>
                      <a:pt x="0" y="4048"/>
                    </a:lnTo>
                    <a:lnTo>
                      <a:pt x="0" y="146855"/>
                    </a:lnTo>
                    <a:lnTo>
                      <a:pt x="799" y="149115"/>
                    </a:lnTo>
                    <a:lnTo>
                      <a:pt x="882" y="149350"/>
                    </a:lnTo>
                    <a:lnTo>
                      <a:pt x="4418" y="152416"/>
                    </a:lnTo>
                    <a:lnTo>
                      <a:pt x="6597" y="153183"/>
                    </a:lnTo>
                    <a:lnTo>
                      <a:pt x="79843" y="153183"/>
                    </a:lnTo>
                    <a:lnTo>
                      <a:pt x="80530" y="152947"/>
                    </a:lnTo>
                    <a:lnTo>
                      <a:pt x="81709" y="152003"/>
                    </a:lnTo>
                    <a:lnTo>
                      <a:pt x="82199" y="151237"/>
                    </a:lnTo>
                    <a:lnTo>
                      <a:pt x="82898" y="149350"/>
                    </a:lnTo>
                    <a:lnTo>
                      <a:pt x="82985" y="149115"/>
                    </a:lnTo>
                    <a:lnTo>
                      <a:pt x="83280" y="147778"/>
                    </a:lnTo>
                    <a:lnTo>
                      <a:pt x="83672" y="144555"/>
                    </a:lnTo>
                    <a:lnTo>
                      <a:pt x="83672" y="135868"/>
                    </a:lnTo>
                    <a:lnTo>
                      <a:pt x="79843" y="127594"/>
                    </a:lnTo>
                    <a:lnTo>
                      <a:pt x="31104" y="127594"/>
                    </a:lnTo>
                    <a:lnTo>
                      <a:pt x="31104" y="4048"/>
                    </a:lnTo>
                    <a:lnTo>
                      <a:pt x="25055" y="472"/>
                    </a:lnTo>
                    <a:lnTo>
                      <a:pt x="21128" y="0"/>
                    </a:lnTo>
                    <a:close/>
                  </a:path>
                </a:pathLst>
              </a:custGeom>
              <a:solidFill>
                <a:srgbClr val="000090"/>
              </a:solidFill>
            </p:spPr>
            <p:txBody>
              <a:bodyPr wrap="square" lIns="0" tIns="0" rIns="0" bIns="0" rtlCol="0"/>
              <a:lstStyle/>
              <a:p>
                <a:endParaRPr sz="1588"/>
              </a:p>
            </p:txBody>
          </p:sp>
          <p:sp>
            <p:nvSpPr>
              <p:cNvPr id="15" name="object 15"/>
              <p:cNvSpPr/>
              <p:nvPr/>
            </p:nvSpPr>
            <p:spPr>
              <a:xfrm>
                <a:off x="2946740" y="5111089"/>
                <a:ext cx="300990" cy="154305"/>
              </a:xfrm>
              <a:custGeom>
                <a:avLst/>
                <a:gdLst/>
                <a:ahLst/>
                <a:cxnLst/>
                <a:rect l="l" t="t" r="r" b="b"/>
                <a:pathLst>
                  <a:path w="300989" h="154304">
                    <a:moveTo>
                      <a:pt x="108224" y="0"/>
                    </a:moveTo>
                    <a:lnTo>
                      <a:pt x="111915" y="0"/>
                    </a:lnTo>
                    <a:lnTo>
                      <a:pt x="114841" y="58"/>
                    </a:lnTo>
                    <a:lnTo>
                      <a:pt x="117001" y="176"/>
                    </a:lnTo>
                    <a:lnTo>
                      <a:pt x="119161" y="294"/>
                    </a:lnTo>
                    <a:lnTo>
                      <a:pt x="120791" y="569"/>
                    </a:lnTo>
                    <a:lnTo>
                      <a:pt x="121891" y="1002"/>
                    </a:lnTo>
                    <a:lnTo>
                      <a:pt x="122991" y="1434"/>
                    </a:lnTo>
                    <a:lnTo>
                      <a:pt x="125072" y="6367"/>
                    </a:lnTo>
                    <a:lnTo>
                      <a:pt x="151818" y="123230"/>
                    </a:lnTo>
                    <a:lnTo>
                      <a:pt x="179742" y="7193"/>
                    </a:lnTo>
                    <a:lnTo>
                      <a:pt x="180056" y="5699"/>
                    </a:lnTo>
                    <a:lnTo>
                      <a:pt x="180468" y="4481"/>
                    </a:lnTo>
                    <a:lnTo>
                      <a:pt x="180979" y="3537"/>
                    </a:lnTo>
                    <a:lnTo>
                      <a:pt x="181489" y="2594"/>
                    </a:lnTo>
                    <a:lnTo>
                      <a:pt x="182353" y="1867"/>
                    </a:lnTo>
                    <a:lnTo>
                      <a:pt x="183571" y="1356"/>
                    </a:lnTo>
                    <a:lnTo>
                      <a:pt x="184788" y="845"/>
                    </a:lnTo>
                    <a:lnTo>
                      <a:pt x="186458" y="491"/>
                    </a:lnTo>
                    <a:lnTo>
                      <a:pt x="188578" y="294"/>
                    </a:lnTo>
                    <a:lnTo>
                      <a:pt x="190699" y="98"/>
                    </a:lnTo>
                    <a:lnTo>
                      <a:pt x="193527" y="0"/>
                    </a:lnTo>
                    <a:lnTo>
                      <a:pt x="197062" y="0"/>
                    </a:lnTo>
                    <a:lnTo>
                      <a:pt x="200832" y="0"/>
                    </a:lnTo>
                    <a:lnTo>
                      <a:pt x="203836" y="78"/>
                    </a:lnTo>
                    <a:lnTo>
                      <a:pt x="206075" y="235"/>
                    </a:lnTo>
                    <a:lnTo>
                      <a:pt x="208314" y="393"/>
                    </a:lnTo>
                    <a:lnTo>
                      <a:pt x="210042" y="727"/>
                    </a:lnTo>
                    <a:lnTo>
                      <a:pt x="211259" y="1238"/>
                    </a:lnTo>
                    <a:lnTo>
                      <a:pt x="212477" y="1749"/>
                    </a:lnTo>
                    <a:lnTo>
                      <a:pt x="213360" y="2476"/>
                    </a:lnTo>
                    <a:lnTo>
                      <a:pt x="213910" y="3419"/>
                    </a:lnTo>
                    <a:lnTo>
                      <a:pt x="214460" y="4363"/>
                    </a:lnTo>
                    <a:lnTo>
                      <a:pt x="214892" y="5621"/>
                    </a:lnTo>
                    <a:lnTo>
                      <a:pt x="215206" y="7193"/>
                    </a:lnTo>
                    <a:lnTo>
                      <a:pt x="243955" y="123230"/>
                    </a:lnTo>
                    <a:lnTo>
                      <a:pt x="244190" y="123230"/>
                    </a:lnTo>
                    <a:lnTo>
                      <a:pt x="270936" y="6721"/>
                    </a:lnTo>
                    <a:lnTo>
                      <a:pt x="271172" y="5463"/>
                    </a:lnTo>
                    <a:lnTo>
                      <a:pt x="271486" y="4382"/>
                    </a:lnTo>
                    <a:lnTo>
                      <a:pt x="271879" y="3478"/>
                    </a:lnTo>
                    <a:lnTo>
                      <a:pt x="272271" y="2574"/>
                    </a:lnTo>
                    <a:lnTo>
                      <a:pt x="273018" y="1867"/>
                    </a:lnTo>
                    <a:lnTo>
                      <a:pt x="274117" y="1356"/>
                    </a:lnTo>
                    <a:lnTo>
                      <a:pt x="275217" y="845"/>
                    </a:lnTo>
                    <a:lnTo>
                      <a:pt x="276788" y="491"/>
                    </a:lnTo>
                    <a:lnTo>
                      <a:pt x="278830" y="294"/>
                    </a:lnTo>
                    <a:lnTo>
                      <a:pt x="280872" y="98"/>
                    </a:lnTo>
                    <a:lnTo>
                      <a:pt x="283740" y="0"/>
                    </a:lnTo>
                    <a:lnTo>
                      <a:pt x="287431" y="0"/>
                    </a:lnTo>
                    <a:lnTo>
                      <a:pt x="290887" y="0"/>
                    </a:lnTo>
                    <a:lnTo>
                      <a:pt x="293578" y="98"/>
                    </a:lnTo>
                    <a:lnTo>
                      <a:pt x="295502" y="294"/>
                    </a:lnTo>
                    <a:lnTo>
                      <a:pt x="297426" y="491"/>
                    </a:lnTo>
                    <a:lnTo>
                      <a:pt x="298821" y="1022"/>
                    </a:lnTo>
                    <a:lnTo>
                      <a:pt x="299685" y="1886"/>
                    </a:lnTo>
                    <a:lnTo>
                      <a:pt x="300549" y="2751"/>
                    </a:lnTo>
                    <a:lnTo>
                      <a:pt x="300922" y="4029"/>
                    </a:lnTo>
                    <a:lnTo>
                      <a:pt x="300804" y="5719"/>
                    </a:lnTo>
                    <a:lnTo>
                      <a:pt x="300686" y="7409"/>
                    </a:lnTo>
                    <a:lnTo>
                      <a:pt x="300274" y="9709"/>
                    </a:lnTo>
                    <a:lnTo>
                      <a:pt x="299567" y="12617"/>
                    </a:lnTo>
                    <a:lnTo>
                      <a:pt x="264574" y="145399"/>
                    </a:lnTo>
                    <a:lnTo>
                      <a:pt x="264102" y="147286"/>
                    </a:lnTo>
                    <a:lnTo>
                      <a:pt x="246665" y="154008"/>
                    </a:lnTo>
                    <a:lnTo>
                      <a:pt x="242659" y="154008"/>
                    </a:lnTo>
                    <a:lnTo>
                      <a:pt x="238182" y="154008"/>
                    </a:lnTo>
                    <a:lnTo>
                      <a:pt x="220390" y="145399"/>
                    </a:lnTo>
                    <a:lnTo>
                      <a:pt x="196001" y="48702"/>
                    </a:lnTo>
                    <a:lnTo>
                      <a:pt x="195765" y="48702"/>
                    </a:lnTo>
                    <a:lnTo>
                      <a:pt x="172672" y="145399"/>
                    </a:lnTo>
                    <a:lnTo>
                      <a:pt x="172280" y="147208"/>
                    </a:lnTo>
                    <a:lnTo>
                      <a:pt x="171730" y="148682"/>
                    </a:lnTo>
                    <a:lnTo>
                      <a:pt x="171023" y="149822"/>
                    </a:lnTo>
                    <a:lnTo>
                      <a:pt x="170316" y="150962"/>
                    </a:lnTo>
                    <a:lnTo>
                      <a:pt x="169197" y="151846"/>
                    </a:lnTo>
                    <a:lnTo>
                      <a:pt x="155313" y="154008"/>
                    </a:lnTo>
                    <a:lnTo>
                      <a:pt x="150993" y="154008"/>
                    </a:lnTo>
                    <a:lnTo>
                      <a:pt x="146437" y="154008"/>
                    </a:lnTo>
                    <a:lnTo>
                      <a:pt x="133673" y="152534"/>
                    </a:lnTo>
                    <a:lnTo>
                      <a:pt x="132102" y="151944"/>
                    </a:lnTo>
                    <a:lnTo>
                      <a:pt x="128489" y="145399"/>
                    </a:lnTo>
                    <a:lnTo>
                      <a:pt x="93849" y="12264"/>
                    </a:lnTo>
                    <a:lnTo>
                      <a:pt x="93142" y="9433"/>
                    </a:lnTo>
                    <a:lnTo>
                      <a:pt x="92750" y="7213"/>
                    </a:lnTo>
                    <a:lnTo>
                      <a:pt x="92671" y="5601"/>
                    </a:lnTo>
                    <a:lnTo>
                      <a:pt x="92593" y="3989"/>
                    </a:lnTo>
                    <a:lnTo>
                      <a:pt x="93044" y="2751"/>
                    </a:lnTo>
                    <a:lnTo>
                      <a:pt x="94026" y="1886"/>
                    </a:lnTo>
                    <a:lnTo>
                      <a:pt x="95008" y="1022"/>
                    </a:lnTo>
                    <a:lnTo>
                      <a:pt x="96618" y="491"/>
                    </a:lnTo>
                    <a:lnTo>
                      <a:pt x="98857" y="294"/>
                    </a:lnTo>
                    <a:lnTo>
                      <a:pt x="101095" y="98"/>
                    </a:lnTo>
                    <a:lnTo>
                      <a:pt x="104218" y="0"/>
                    </a:lnTo>
                    <a:lnTo>
                      <a:pt x="108224" y="0"/>
                    </a:lnTo>
                    <a:close/>
                  </a:path>
                  <a:path w="300989" h="154304">
                    <a:moveTo>
                      <a:pt x="15552" y="0"/>
                    </a:moveTo>
                    <a:lnTo>
                      <a:pt x="18615" y="0"/>
                    </a:lnTo>
                    <a:lnTo>
                      <a:pt x="21129" y="117"/>
                    </a:lnTo>
                    <a:lnTo>
                      <a:pt x="23093" y="353"/>
                    </a:lnTo>
                    <a:lnTo>
                      <a:pt x="25056" y="589"/>
                    </a:lnTo>
                    <a:lnTo>
                      <a:pt x="31105" y="4166"/>
                    </a:lnTo>
                    <a:lnTo>
                      <a:pt x="31105" y="4952"/>
                    </a:lnTo>
                    <a:lnTo>
                      <a:pt x="31105" y="127711"/>
                    </a:lnTo>
                    <a:lnTo>
                      <a:pt x="79058" y="127711"/>
                    </a:lnTo>
                    <a:lnTo>
                      <a:pt x="79844" y="127711"/>
                    </a:lnTo>
                    <a:lnTo>
                      <a:pt x="80531" y="127927"/>
                    </a:lnTo>
                    <a:lnTo>
                      <a:pt x="83771" y="137970"/>
                    </a:lnTo>
                    <a:lnTo>
                      <a:pt x="83771" y="140329"/>
                    </a:lnTo>
                    <a:lnTo>
                      <a:pt x="83771" y="142687"/>
                    </a:lnTo>
                    <a:lnTo>
                      <a:pt x="83673" y="144672"/>
                    </a:lnTo>
                    <a:lnTo>
                      <a:pt x="83477" y="146284"/>
                    </a:lnTo>
                    <a:lnTo>
                      <a:pt x="83280" y="147896"/>
                    </a:lnTo>
                    <a:lnTo>
                      <a:pt x="79844" y="153300"/>
                    </a:lnTo>
                    <a:lnTo>
                      <a:pt x="79058" y="153300"/>
                    </a:lnTo>
                    <a:lnTo>
                      <a:pt x="9190" y="153300"/>
                    </a:lnTo>
                    <a:lnTo>
                      <a:pt x="6598" y="153300"/>
                    </a:lnTo>
                    <a:lnTo>
                      <a:pt x="4418" y="152534"/>
                    </a:lnTo>
                    <a:lnTo>
                      <a:pt x="2650" y="151001"/>
                    </a:lnTo>
                    <a:lnTo>
                      <a:pt x="883" y="149468"/>
                    </a:lnTo>
                    <a:lnTo>
                      <a:pt x="0" y="146972"/>
                    </a:lnTo>
                    <a:lnTo>
                      <a:pt x="0" y="143513"/>
                    </a:lnTo>
                    <a:lnTo>
                      <a:pt x="0" y="4952"/>
                    </a:lnTo>
                    <a:lnTo>
                      <a:pt x="0" y="4166"/>
                    </a:lnTo>
                    <a:lnTo>
                      <a:pt x="255" y="3459"/>
                    </a:lnTo>
                    <a:lnTo>
                      <a:pt x="765" y="2830"/>
                    </a:lnTo>
                    <a:lnTo>
                      <a:pt x="1276" y="2201"/>
                    </a:lnTo>
                    <a:lnTo>
                      <a:pt x="8070" y="353"/>
                    </a:lnTo>
                    <a:lnTo>
                      <a:pt x="10073" y="117"/>
                    </a:lnTo>
                    <a:lnTo>
                      <a:pt x="12567" y="0"/>
                    </a:lnTo>
                    <a:lnTo>
                      <a:pt x="15552" y="0"/>
                    </a:lnTo>
                    <a:close/>
                  </a:path>
                </a:pathLst>
              </a:custGeom>
              <a:ln w="12705">
                <a:solidFill>
                  <a:srgbClr val="000000"/>
                </a:solidFill>
              </a:ln>
            </p:spPr>
            <p:txBody>
              <a:bodyPr wrap="square" lIns="0" tIns="0" rIns="0" bIns="0" rtlCol="0"/>
              <a:lstStyle/>
              <a:p>
                <a:endParaRPr sz="1588"/>
              </a:p>
            </p:txBody>
          </p:sp>
        </p:grpSp>
        <p:grpSp>
          <p:nvGrpSpPr>
            <p:cNvPr id="16" name="object 16"/>
            <p:cNvGrpSpPr/>
            <p:nvPr/>
          </p:nvGrpSpPr>
          <p:grpSpPr>
            <a:xfrm>
              <a:off x="3586331" y="4489972"/>
              <a:ext cx="468406" cy="215153"/>
              <a:chOff x="3912108" y="5088635"/>
              <a:chExt cx="530860" cy="243840"/>
            </a:xfrm>
          </p:grpSpPr>
          <p:pic>
            <p:nvPicPr>
              <p:cNvPr id="17" name="object 17"/>
              <p:cNvPicPr/>
              <p:nvPr/>
            </p:nvPicPr>
            <p:blipFill>
              <a:blip r:embed="rId7" cstate="print"/>
              <a:stretch>
                <a:fillRect/>
              </a:stretch>
            </p:blipFill>
            <p:spPr>
              <a:xfrm>
                <a:off x="3912108" y="5088635"/>
                <a:ext cx="530351" cy="243839"/>
              </a:xfrm>
              <a:prstGeom prst="rect">
                <a:avLst/>
              </a:prstGeom>
            </p:spPr>
          </p:pic>
          <p:pic>
            <p:nvPicPr>
              <p:cNvPr id="18" name="object 18"/>
              <p:cNvPicPr/>
              <p:nvPr/>
            </p:nvPicPr>
            <p:blipFill>
              <a:blip r:embed="rId8" cstate="print"/>
              <a:stretch>
                <a:fillRect/>
              </a:stretch>
            </p:blipFill>
            <p:spPr>
              <a:xfrm>
                <a:off x="3923368" y="5105444"/>
                <a:ext cx="488585" cy="199730"/>
              </a:xfrm>
              <a:prstGeom prst="rect">
                <a:avLst/>
              </a:prstGeom>
            </p:spPr>
          </p:pic>
        </p:grpSp>
        <p:sp>
          <p:nvSpPr>
            <p:cNvPr id="19" name="object 19"/>
            <p:cNvSpPr txBox="1"/>
            <p:nvPr/>
          </p:nvSpPr>
          <p:spPr>
            <a:xfrm>
              <a:off x="1912274" y="4628963"/>
              <a:ext cx="1195668" cy="996031"/>
            </a:xfrm>
            <a:prstGeom prst="rect">
              <a:avLst/>
            </a:prstGeom>
          </p:spPr>
          <p:txBody>
            <a:bodyPr vert="horz" wrap="square" lIns="0" tIns="105335" rIns="0" bIns="0" rtlCol="0">
              <a:spAutoFit/>
            </a:bodyPr>
            <a:lstStyle/>
            <a:p>
              <a:pPr marL="807427">
                <a:spcBef>
                  <a:spcPts val="829"/>
                </a:spcBef>
              </a:pPr>
              <a:r>
                <a:rPr sz="1677" spc="-22" dirty="0">
                  <a:latin typeface="Calibri"/>
                  <a:cs typeface="Calibri"/>
                </a:rPr>
                <a:t>LW</a:t>
              </a:r>
              <a:endParaRPr sz="1677">
                <a:latin typeface="Calibri"/>
                <a:cs typeface="Calibri"/>
              </a:endParaRPr>
            </a:p>
            <a:p>
              <a:pPr marL="33619">
                <a:spcBef>
                  <a:spcPts val="741"/>
                </a:spcBef>
                <a:tabLst>
                  <a:tab pos="807427" algn="l"/>
                </a:tabLst>
              </a:pPr>
              <a:r>
                <a:rPr sz="1677" b="1" spc="-9" dirty="0">
                  <a:solidFill>
                    <a:srgbClr val="FF0000"/>
                  </a:solidFill>
                  <a:latin typeface="Times New Roman"/>
                  <a:cs typeface="Times New Roman"/>
                </a:rPr>
                <a:t>Stall</a:t>
              </a:r>
              <a:r>
                <a:rPr sz="1632" spc="-9" dirty="0">
                  <a:solidFill>
                    <a:srgbClr val="FF0000"/>
                  </a:solidFill>
                  <a:latin typeface="Wingdings"/>
                  <a:cs typeface="Wingdings"/>
                </a:rPr>
                <a:t></a:t>
              </a:r>
              <a:r>
                <a:rPr sz="1632" dirty="0">
                  <a:solidFill>
                    <a:srgbClr val="FF0000"/>
                  </a:solidFill>
                  <a:latin typeface="Times New Roman"/>
                  <a:cs typeface="Times New Roman"/>
                </a:rPr>
                <a:t>	</a:t>
              </a:r>
              <a:r>
                <a:rPr sz="2515" spc="-33" baseline="8771" dirty="0">
                  <a:latin typeface="Calibri"/>
                  <a:cs typeface="Calibri"/>
                </a:rPr>
                <a:t>SUB</a:t>
              </a:r>
              <a:endParaRPr sz="2515" baseline="8771">
                <a:latin typeface="Calibri"/>
                <a:cs typeface="Calibri"/>
              </a:endParaRPr>
            </a:p>
            <a:p>
              <a:pPr marL="807427">
                <a:spcBef>
                  <a:spcPts val="190"/>
                </a:spcBef>
              </a:pPr>
              <a:r>
                <a:rPr sz="1677" spc="-22" dirty="0">
                  <a:latin typeface="Calibri"/>
                  <a:cs typeface="Calibri"/>
                </a:rPr>
                <a:t>SW</a:t>
              </a:r>
              <a:endParaRPr sz="1677">
                <a:latin typeface="Calibri"/>
                <a:cs typeface="Calibri"/>
              </a:endParaRPr>
            </a:p>
          </p:txBody>
        </p:sp>
        <p:sp>
          <p:nvSpPr>
            <p:cNvPr id="20" name="object 20"/>
            <p:cNvSpPr txBox="1"/>
            <p:nvPr/>
          </p:nvSpPr>
          <p:spPr>
            <a:xfrm>
              <a:off x="3576006" y="4663925"/>
              <a:ext cx="872377" cy="941216"/>
            </a:xfrm>
            <a:prstGeom prst="rect">
              <a:avLst/>
            </a:prstGeom>
          </p:spPr>
          <p:txBody>
            <a:bodyPr vert="horz" wrap="square" lIns="0" tIns="70037" rIns="0" bIns="0" rtlCol="0">
              <a:spAutoFit/>
            </a:bodyPr>
            <a:lstStyle/>
            <a:p>
              <a:pPr marL="11206">
                <a:spcBef>
                  <a:spcPts val="552"/>
                </a:spcBef>
              </a:pPr>
              <a:r>
                <a:rPr sz="1677" dirty="0">
                  <a:solidFill>
                    <a:srgbClr val="FF0000"/>
                  </a:solidFill>
                  <a:latin typeface="Calibri"/>
                  <a:cs typeface="Calibri"/>
                </a:rPr>
                <a:t>Rf</a:t>
              </a:r>
              <a:r>
                <a:rPr sz="1677" dirty="0">
                  <a:latin typeface="Calibri"/>
                  <a:cs typeface="Calibri"/>
                </a:rPr>
                <a:t>,</a:t>
              </a:r>
              <a:r>
                <a:rPr sz="1677" spc="18" dirty="0">
                  <a:latin typeface="Calibri"/>
                  <a:cs typeface="Calibri"/>
                </a:rPr>
                <a:t> </a:t>
              </a:r>
              <a:r>
                <a:rPr sz="1677" spc="-44" dirty="0">
                  <a:latin typeface="Calibri"/>
                  <a:cs typeface="Calibri"/>
                </a:rPr>
                <a:t>f</a:t>
              </a:r>
              <a:endParaRPr sz="1677">
                <a:latin typeface="Calibri"/>
                <a:cs typeface="Calibri"/>
              </a:endParaRPr>
            </a:p>
            <a:p>
              <a:pPr marL="11206" marR="4483">
                <a:lnSpc>
                  <a:spcPct val="123200"/>
                </a:lnSpc>
              </a:pPr>
              <a:r>
                <a:rPr sz="1677" dirty="0">
                  <a:latin typeface="Calibri"/>
                  <a:cs typeface="Calibri"/>
                </a:rPr>
                <a:t>Rd,</a:t>
              </a:r>
              <a:r>
                <a:rPr sz="1677" spc="26" dirty="0">
                  <a:latin typeface="Calibri"/>
                  <a:cs typeface="Calibri"/>
                </a:rPr>
                <a:t> </a:t>
              </a:r>
              <a:r>
                <a:rPr sz="1677" dirty="0">
                  <a:latin typeface="Calibri"/>
                  <a:cs typeface="Calibri"/>
                </a:rPr>
                <a:t>Re,</a:t>
              </a:r>
              <a:r>
                <a:rPr sz="1677" spc="26" dirty="0">
                  <a:latin typeface="Calibri"/>
                  <a:cs typeface="Calibri"/>
                </a:rPr>
                <a:t> </a:t>
              </a:r>
              <a:r>
                <a:rPr sz="1677" spc="-22" dirty="0">
                  <a:solidFill>
                    <a:srgbClr val="FF0000"/>
                  </a:solidFill>
                  <a:latin typeface="Calibri"/>
                  <a:cs typeface="Calibri"/>
                </a:rPr>
                <a:t>Rf </a:t>
              </a:r>
              <a:r>
                <a:rPr sz="1677" dirty="0">
                  <a:latin typeface="Calibri"/>
                  <a:cs typeface="Calibri"/>
                </a:rPr>
                <a:t>d,</a:t>
              </a:r>
              <a:r>
                <a:rPr sz="1677" spc="22" dirty="0">
                  <a:latin typeface="Calibri"/>
                  <a:cs typeface="Calibri"/>
                </a:rPr>
                <a:t> </a:t>
              </a:r>
              <a:r>
                <a:rPr sz="1677" spc="-22" dirty="0">
                  <a:latin typeface="Calibri"/>
                  <a:cs typeface="Calibri"/>
                </a:rPr>
                <a:t>Rd</a:t>
              </a:r>
              <a:endParaRPr sz="1677">
                <a:latin typeface="Calibri"/>
                <a:cs typeface="Calibri"/>
              </a:endParaRPr>
            </a:p>
          </p:txBody>
        </p:sp>
        <p:sp>
          <p:nvSpPr>
            <p:cNvPr id="21" name="object 21"/>
            <p:cNvSpPr txBox="1"/>
            <p:nvPr/>
          </p:nvSpPr>
          <p:spPr>
            <a:xfrm>
              <a:off x="5644434" y="2753706"/>
              <a:ext cx="2456890" cy="364361"/>
            </a:xfrm>
            <a:prstGeom prst="rect">
              <a:avLst/>
            </a:prstGeom>
          </p:spPr>
          <p:txBody>
            <a:bodyPr vert="horz" wrap="square" lIns="0" tIns="11206" rIns="0" bIns="0" rtlCol="0">
              <a:spAutoFit/>
            </a:bodyPr>
            <a:lstStyle/>
            <a:p>
              <a:pPr marL="11206">
                <a:spcBef>
                  <a:spcPts val="88"/>
                </a:spcBef>
              </a:pPr>
              <a:r>
                <a:rPr sz="2294" b="1" spc="-9" dirty="0">
                  <a:solidFill>
                    <a:srgbClr val="FC0128"/>
                  </a:solidFill>
                  <a:latin typeface="Calibri"/>
                  <a:cs typeface="Calibri"/>
                </a:rPr>
                <a:t>Fast</a:t>
              </a:r>
              <a:r>
                <a:rPr sz="2294" b="1" spc="-88" dirty="0">
                  <a:solidFill>
                    <a:srgbClr val="FC0128"/>
                  </a:solidFill>
                  <a:latin typeface="Calibri"/>
                  <a:cs typeface="Calibri"/>
                </a:rPr>
                <a:t> </a:t>
              </a:r>
              <a:r>
                <a:rPr sz="2294" b="1" dirty="0">
                  <a:solidFill>
                    <a:srgbClr val="FC0128"/>
                  </a:solidFill>
                  <a:latin typeface="Calibri"/>
                  <a:cs typeface="Calibri"/>
                </a:rPr>
                <a:t>code</a:t>
              </a:r>
              <a:r>
                <a:rPr sz="2294" b="1" spc="-88" dirty="0">
                  <a:solidFill>
                    <a:srgbClr val="FC0128"/>
                  </a:solidFill>
                  <a:latin typeface="Calibri"/>
                  <a:cs typeface="Calibri"/>
                </a:rPr>
                <a:t> </a:t>
              </a:r>
              <a:r>
                <a:rPr sz="2294" b="1" dirty="0">
                  <a:solidFill>
                    <a:srgbClr val="FC0128"/>
                  </a:solidFill>
                  <a:latin typeface="Calibri"/>
                  <a:cs typeface="Calibri"/>
                </a:rPr>
                <a:t>(no</a:t>
              </a:r>
              <a:r>
                <a:rPr sz="2294" b="1" spc="-97" dirty="0">
                  <a:solidFill>
                    <a:srgbClr val="FC0128"/>
                  </a:solidFill>
                  <a:latin typeface="Calibri"/>
                  <a:cs typeface="Calibri"/>
                </a:rPr>
                <a:t> </a:t>
              </a:r>
              <a:r>
                <a:rPr sz="2294" b="1" spc="-9" dirty="0">
                  <a:solidFill>
                    <a:srgbClr val="FC0128"/>
                  </a:solidFill>
                  <a:latin typeface="Calibri"/>
                  <a:cs typeface="Calibri"/>
                </a:rPr>
                <a:t>stalls):</a:t>
              </a:r>
              <a:endParaRPr sz="2294" dirty="0">
                <a:latin typeface="Calibri"/>
                <a:cs typeface="Calibri"/>
              </a:endParaRPr>
            </a:p>
          </p:txBody>
        </p:sp>
        <p:sp>
          <p:nvSpPr>
            <p:cNvPr id="22" name="object 22"/>
            <p:cNvSpPr txBox="1"/>
            <p:nvPr/>
          </p:nvSpPr>
          <p:spPr>
            <a:xfrm>
              <a:off x="6511769" y="3095998"/>
              <a:ext cx="285190" cy="668803"/>
            </a:xfrm>
            <a:prstGeom prst="rect">
              <a:avLst/>
            </a:prstGeom>
          </p:spPr>
          <p:txBody>
            <a:bodyPr vert="horz" wrap="square" lIns="0" tIns="11206" rIns="0" bIns="0" rtlCol="0">
              <a:spAutoFit/>
            </a:bodyPr>
            <a:lstStyle/>
            <a:p>
              <a:pPr marL="11206" marR="4483">
                <a:lnSpc>
                  <a:spcPct val="132600"/>
                </a:lnSpc>
                <a:spcBef>
                  <a:spcPts val="88"/>
                </a:spcBef>
              </a:pPr>
              <a:r>
                <a:rPr sz="1677" b="1" spc="-97" dirty="0">
                  <a:solidFill>
                    <a:srgbClr val="FC0128"/>
                  </a:solidFill>
                  <a:latin typeface="Calibri"/>
                  <a:cs typeface="Calibri"/>
                </a:rPr>
                <a:t>LW LW</a:t>
              </a:r>
              <a:endParaRPr sz="1677">
                <a:latin typeface="Calibri"/>
                <a:cs typeface="Calibri"/>
              </a:endParaRPr>
            </a:p>
          </p:txBody>
        </p:sp>
        <p:sp>
          <p:nvSpPr>
            <p:cNvPr id="23" name="object 23"/>
            <p:cNvSpPr txBox="1"/>
            <p:nvPr/>
          </p:nvSpPr>
          <p:spPr>
            <a:xfrm>
              <a:off x="7379105" y="3095998"/>
              <a:ext cx="480172" cy="668803"/>
            </a:xfrm>
            <a:prstGeom prst="rect">
              <a:avLst/>
            </a:prstGeom>
          </p:spPr>
          <p:txBody>
            <a:bodyPr vert="horz" wrap="square" lIns="0" tIns="11206" rIns="0" bIns="0" rtlCol="0">
              <a:spAutoFit/>
            </a:bodyPr>
            <a:lstStyle/>
            <a:p>
              <a:pPr marL="11206" marR="4483">
                <a:lnSpc>
                  <a:spcPct val="132600"/>
                </a:lnSpc>
                <a:spcBef>
                  <a:spcPts val="88"/>
                </a:spcBef>
              </a:pPr>
              <a:r>
                <a:rPr sz="1677" b="1" dirty="0">
                  <a:solidFill>
                    <a:srgbClr val="FC0128"/>
                  </a:solidFill>
                  <a:latin typeface="Calibri"/>
                  <a:cs typeface="Calibri"/>
                </a:rPr>
                <a:t>Rb,</a:t>
              </a:r>
              <a:r>
                <a:rPr sz="1677" b="1" spc="18" dirty="0">
                  <a:solidFill>
                    <a:srgbClr val="FC0128"/>
                  </a:solidFill>
                  <a:latin typeface="Calibri"/>
                  <a:cs typeface="Calibri"/>
                </a:rPr>
                <a:t> </a:t>
              </a:r>
              <a:r>
                <a:rPr sz="1677" b="1" spc="-44" dirty="0">
                  <a:solidFill>
                    <a:srgbClr val="FC0128"/>
                  </a:solidFill>
                  <a:latin typeface="Calibri"/>
                  <a:cs typeface="Calibri"/>
                </a:rPr>
                <a:t>b </a:t>
              </a:r>
              <a:r>
                <a:rPr sz="1677" b="1" dirty="0">
                  <a:solidFill>
                    <a:srgbClr val="FC0128"/>
                  </a:solidFill>
                  <a:latin typeface="Calibri"/>
                  <a:cs typeface="Calibri"/>
                </a:rPr>
                <a:t>Rc,</a:t>
              </a:r>
              <a:r>
                <a:rPr sz="1677" b="1" spc="22" dirty="0">
                  <a:solidFill>
                    <a:srgbClr val="FC0128"/>
                  </a:solidFill>
                  <a:latin typeface="Calibri"/>
                  <a:cs typeface="Calibri"/>
                </a:rPr>
                <a:t> </a:t>
              </a:r>
              <a:r>
                <a:rPr sz="1677" b="1" spc="-44" dirty="0">
                  <a:solidFill>
                    <a:srgbClr val="FC0128"/>
                  </a:solidFill>
                  <a:latin typeface="Calibri"/>
                  <a:cs typeface="Calibri"/>
                </a:rPr>
                <a:t>c</a:t>
              </a:r>
              <a:endParaRPr sz="1677">
                <a:latin typeface="Calibri"/>
                <a:cs typeface="Calibri"/>
              </a:endParaRPr>
            </a:p>
          </p:txBody>
        </p:sp>
        <p:grpSp>
          <p:nvGrpSpPr>
            <p:cNvPr id="24" name="object 24"/>
            <p:cNvGrpSpPr/>
            <p:nvPr/>
          </p:nvGrpSpPr>
          <p:grpSpPr>
            <a:xfrm>
              <a:off x="6523167" y="3911749"/>
              <a:ext cx="301438" cy="183216"/>
              <a:chOff x="7240523" y="4433315"/>
              <a:chExt cx="341630" cy="207645"/>
            </a:xfrm>
          </p:grpSpPr>
          <p:pic>
            <p:nvPicPr>
              <p:cNvPr id="25" name="object 25"/>
              <p:cNvPicPr/>
              <p:nvPr/>
            </p:nvPicPr>
            <p:blipFill>
              <a:blip r:embed="rId9" cstate="print"/>
              <a:stretch>
                <a:fillRect/>
              </a:stretch>
            </p:blipFill>
            <p:spPr>
              <a:xfrm>
                <a:off x="7240523" y="4433315"/>
                <a:ext cx="341375" cy="207264"/>
              </a:xfrm>
              <a:prstGeom prst="rect">
                <a:avLst/>
              </a:prstGeom>
            </p:spPr>
          </p:pic>
          <p:sp>
            <p:nvSpPr>
              <p:cNvPr id="26" name="object 26"/>
              <p:cNvSpPr/>
              <p:nvPr/>
            </p:nvSpPr>
            <p:spPr>
              <a:xfrm>
                <a:off x="7257029" y="4455661"/>
                <a:ext cx="287020" cy="153670"/>
              </a:xfrm>
              <a:custGeom>
                <a:avLst/>
                <a:gdLst/>
                <a:ahLst/>
                <a:cxnLst/>
                <a:rect l="l" t="t" r="r" b="b"/>
                <a:pathLst>
                  <a:path w="287020" h="153670">
                    <a:moveTo>
                      <a:pt x="107080" y="0"/>
                    </a:moveTo>
                    <a:lnTo>
                      <a:pt x="82558" y="0"/>
                    </a:lnTo>
                    <a:lnTo>
                      <a:pt x="81245" y="431"/>
                    </a:lnTo>
                    <a:lnTo>
                      <a:pt x="79281" y="2161"/>
                    </a:lnTo>
                    <a:lnTo>
                      <a:pt x="79023" y="2868"/>
                    </a:lnTo>
                    <a:lnTo>
                      <a:pt x="79021" y="6819"/>
                    </a:lnTo>
                    <a:lnTo>
                      <a:pt x="79379" y="8844"/>
                    </a:lnTo>
                    <a:lnTo>
                      <a:pt x="80086" y="11673"/>
                    </a:lnTo>
                    <a:lnTo>
                      <a:pt x="114726" y="144810"/>
                    </a:lnTo>
                    <a:lnTo>
                      <a:pt x="115118" y="146382"/>
                    </a:lnTo>
                    <a:lnTo>
                      <a:pt x="129041" y="153320"/>
                    </a:lnTo>
                    <a:lnTo>
                      <a:pt x="145025" y="153320"/>
                    </a:lnTo>
                    <a:lnTo>
                      <a:pt x="158909" y="144810"/>
                    </a:lnTo>
                    <a:lnTo>
                      <a:pt x="164204" y="122640"/>
                    </a:lnTo>
                    <a:lnTo>
                      <a:pt x="138054" y="122640"/>
                    </a:lnTo>
                    <a:lnTo>
                      <a:pt x="111548" y="6819"/>
                    </a:lnTo>
                    <a:lnTo>
                      <a:pt x="111503" y="6623"/>
                    </a:lnTo>
                    <a:lnTo>
                      <a:pt x="111390" y="6131"/>
                    </a:lnTo>
                    <a:lnTo>
                      <a:pt x="111309" y="5778"/>
                    </a:lnTo>
                    <a:lnTo>
                      <a:pt x="111207" y="5129"/>
                    </a:lnTo>
                    <a:lnTo>
                      <a:pt x="111166" y="4874"/>
                    </a:lnTo>
                    <a:lnTo>
                      <a:pt x="111073" y="4284"/>
                    </a:lnTo>
                    <a:lnTo>
                      <a:pt x="110967" y="3891"/>
                    </a:lnTo>
                    <a:lnTo>
                      <a:pt x="110844" y="3439"/>
                    </a:lnTo>
                    <a:lnTo>
                      <a:pt x="110759" y="3125"/>
                    </a:lnTo>
                    <a:lnTo>
                      <a:pt x="110039" y="1611"/>
                    </a:lnTo>
                    <a:lnTo>
                      <a:pt x="109973" y="1474"/>
                    </a:lnTo>
                    <a:lnTo>
                      <a:pt x="109228" y="844"/>
                    </a:lnTo>
                    <a:lnTo>
                      <a:pt x="107080" y="0"/>
                    </a:lnTo>
                    <a:close/>
                  </a:path>
                  <a:path w="287020" h="153670">
                    <a:moveTo>
                      <a:pt x="211727" y="48112"/>
                    </a:moveTo>
                    <a:lnTo>
                      <a:pt x="182238" y="48112"/>
                    </a:lnTo>
                    <a:lnTo>
                      <a:pt x="206627" y="144810"/>
                    </a:lnTo>
                    <a:lnTo>
                      <a:pt x="206955" y="146382"/>
                    </a:lnTo>
                    <a:lnTo>
                      <a:pt x="220825" y="153320"/>
                    </a:lnTo>
                    <a:lnTo>
                      <a:pt x="236200" y="153320"/>
                    </a:lnTo>
                    <a:lnTo>
                      <a:pt x="250810" y="144810"/>
                    </a:lnTo>
                    <a:lnTo>
                      <a:pt x="256653" y="122640"/>
                    </a:lnTo>
                    <a:lnTo>
                      <a:pt x="230191" y="122640"/>
                    </a:lnTo>
                    <a:lnTo>
                      <a:pt x="211727" y="48112"/>
                    </a:lnTo>
                    <a:close/>
                  </a:path>
                  <a:path w="287020" h="153670">
                    <a:moveTo>
                      <a:pt x="29165" y="1277"/>
                    </a:moveTo>
                    <a:lnTo>
                      <a:pt x="1717" y="1277"/>
                    </a:lnTo>
                    <a:lnTo>
                      <a:pt x="1165" y="1611"/>
                    </a:lnTo>
                    <a:lnTo>
                      <a:pt x="144" y="2868"/>
                    </a:lnTo>
                    <a:lnTo>
                      <a:pt x="51" y="3125"/>
                    </a:lnTo>
                    <a:lnTo>
                      <a:pt x="0" y="146696"/>
                    </a:lnTo>
                    <a:lnTo>
                      <a:pt x="689" y="148643"/>
                    </a:lnTo>
                    <a:lnTo>
                      <a:pt x="772" y="148878"/>
                    </a:lnTo>
                    <a:lnTo>
                      <a:pt x="4307" y="151944"/>
                    </a:lnTo>
                    <a:lnTo>
                      <a:pt x="6487" y="152711"/>
                    </a:lnTo>
                    <a:lnTo>
                      <a:pt x="79733" y="152711"/>
                    </a:lnTo>
                    <a:lnTo>
                      <a:pt x="82788" y="148878"/>
                    </a:lnTo>
                    <a:lnTo>
                      <a:pt x="82875" y="148643"/>
                    </a:lnTo>
                    <a:lnTo>
                      <a:pt x="83170" y="147306"/>
                    </a:lnTo>
                    <a:lnTo>
                      <a:pt x="83474" y="144810"/>
                    </a:lnTo>
                    <a:lnTo>
                      <a:pt x="83562" y="135395"/>
                    </a:lnTo>
                    <a:lnTo>
                      <a:pt x="83170" y="132172"/>
                    </a:lnTo>
                    <a:lnTo>
                      <a:pt x="79733" y="127121"/>
                    </a:lnTo>
                    <a:lnTo>
                      <a:pt x="30993" y="127121"/>
                    </a:lnTo>
                    <a:lnTo>
                      <a:pt x="30944" y="3439"/>
                    </a:lnTo>
                    <a:lnTo>
                      <a:pt x="30831" y="3125"/>
                    </a:lnTo>
                    <a:lnTo>
                      <a:pt x="30738" y="2868"/>
                    </a:lnTo>
                    <a:lnTo>
                      <a:pt x="29717" y="1611"/>
                    </a:lnTo>
                    <a:lnTo>
                      <a:pt x="29165" y="1277"/>
                    </a:lnTo>
                    <a:close/>
                  </a:path>
                  <a:path w="287020" h="153670">
                    <a:moveTo>
                      <a:pt x="195952" y="0"/>
                    </a:moveTo>
                    <a:lnTo>
                      <a:pt x="172232" y="0"/>
                    </a:lnTo>
                    <a:lnTo>
                      <a:pt x="170190" y="431"/>
                    </a:lnTo>
                    <a:lnTo>
                      <a:pt x="170604" y="431"/>
                    </a:lnTo>
                    <a:lnTo>
                      <a:pt x="168590" y="1277"/>
                    </a:lnTo>
                    <a:lnTo>
                      <a:pt x="165440" y="8844"/>
                    </a:lnTo>
                    <a:lnTo>
                      <a:pt x="138054" y="122640"/>
                    </a:lnTo>
                    <a:lnTo>
                      <a:pt x="164204" y="122640"/>
                    </a:lnTo>
                    <a:lnTo>
                      <a:pt x="182003" y="48112"/>
                    </a:lnTo>
                    <a:lnTo>
                      <a:pt x="211727" y="48112"/>
                    </a:lnTo>
                    <a:lnTo>
                      <a:pt x="201496" y="6819"/>
                    </a:lnTo>
                    <a:lnTo>
                      <a:pt x="201148" y="5129"/>
                    </a:lnTo>
                    <a:lnTo>
                      <a:pt x="200738" y="3891"/>
                    </a:lnTo>
                    <a:lnTo>
                      <a:pt x="200582" y="3576"/>
                    </a:lnTo>
                    <a:lnTo>
                      <a:pt x="199757" y="2161"/>
                    </a:lnTo>
                    <a:lnTo>
                      <a:pt x="199665" y="2004"/>
                    </a:lnTo>
                    <a:lnTo>
                      <a:pt x="199262" y="1611"/>
                    </a:lnTo>
                    <a:lnTo>
                      <a:pt x="198857" y="1277"/>
                    </a:lnTo>
                    <a:lnTo>
                      <a:pt x="198995" y="1277"/>
                    </a:lnTo>
                    <a:lnTo>
                      <a:pt x="195952" y="0"/>
                    </a:lnTo>
                    <a:close/>
                  </a:path>
                  <a:path w="287020" h="153670">
                    <a:moveTo>
                      <a:pt x="283921" y="0"/>
                    </a:moveTo>
                    <a:lnTo>
                      <a:pt x="262590" y="0"/>
                    </a:lnTo>
                    <a:lnTo>
                      <a:pt x="260668" y="431"/>
                    </a:lnTo>
                    <a:lnTo>
                      <a:pt x="261074" y="431"/>
                    </a:lnTo>
                    <a:lnTo>
                      <a:pt x="259254" y="1277"/>
                    </a:lnTo>
                    <a:lnTo>
                      <a:pt x="257361" y="5129"/>
                    </a:lnTo>
                    <a:lnTo>
                      <a:pt x="257239" y="5778"/>
                    </a:lnTo>
                    <a:lnTo>
                      <a:pt x="257173" y="6131"/>
                    </a:lnTo>
                    <a:lnTo>
                      <a:pt x="230428" y="122640"/>
                    </a:lnTo>
                    <a:lnTo>
                      <a:pt x="256653" y="122640"/>
                    </a:lnTo>
                    <a:lnTo>
                      <a:pt x="285803" y="12028"/>
                    </a:lnTo>
                    <a:lnTo>
                      <a:pt x="286511" y="9119"/>
                    </a:lnTo>
                    <a:lnTo>
                      <a:pt x="286922" y="6819"/>
                    </a:lnTo>
                    <a:lnTo>
                      <a:pt x="286992" y="2868"/>
                    </a:lnTo>
                    <a:lnTo>
                      <a:pt x="286785" y="2161"/>
                    </a:lnTo>
                    <a:lnTo>
                      <a:pt x="285058" y="431"/>
                    </a:lnTo>
                    <a:lnTo>
                      <a:pt x="283921" y="0"/>
                    </a:lnTo>
                    <a:close/>
                  </a:path>
                  <a:path w="287020" h="153670">
                    <a:moveTo>
                      <a:pt x="26867" y="431"/>
                    </a:moveTo>
                    <a:lnTo>
                      <a:pt x="4016" y="431"/>
                    </a:lnTo>
                    <a:lnTo>
                      <a:pt x="1480" y="1277"/>
                    </a:lnTo>
                    <a:lnTo>
                      <a:pt x="29403" y="1277"/>
                    </a:lnTo>
                    <a:lnTo>
                      <a:pt x="26867" y="431"/>
                    </a:lnTo>
                    <a:close/>
                  </a:path>
                  <a:path w="287020" h="153670">
                    <a:moveTo>
                      <a:pt x="24945" y="0"/>
                    </a:moveTo>
                    <a:lnTo>
                      <a:pt x="5956" y="0"/>
                    </a:lnTo>
                    <a:lnTo>
                      <a:pt x="3777" y="431"/>
                    </a:lnTo>
                    <a:lnTo>
                      <a:pt x="27099" y="431"/>
                    </a:lnTo>
                    <a:lnTo>
                      <a:pt x="24945" y="0"/>
                    </a:lnTo>
                    <a:close/>
                  </a:path>
                </a:pathLst>
              </a:custGeom>
              <a:solidFill>
                <a:srgbClr val="000090"/>
              </a:solidFill>
            </p:spPr>
            <p:txBody>
              <a:bodyPr wrap="square" lIns="0" tIns="0" rIns="0" bIns="0" rtlCol="0"/>
              <a:lstStyle/>
              <a:p>
                <a:endParaRPr sz="1588"/>
              </a:p>
            </p:txBody>
          </p:sp>
          <p:sp>
            <p:nvSpPr>
              <p:cNvPr id="27" name="object 27"/>
              <p:cNvSpPr/>
              <p:nvPr/>
            </p:nvSpPr>
            <p:spPr>
              <a:xfrm>
                <a:off x="7256918" y="4455071"/>
                <a:ext cx="287655" cy="154305"/>
              </a:xfrm>
              <a:custGeom>
                <a:avLst/>
                <a:gdLst/>
                <a:ahLst/>
                <a:cxnLst/>
                <a:rect l="l" t="t" r="r" b="b"/>
                <a:pathLst>
                  <a:path w="287654" h="154304">
                    <a:moveTo>
                      <a:pt x="94571" y="0"/>
                    </a:moveTo>
                    <a:lnTo>
                      <a:pt x="98263" y="0"/>
                    </a:lnTo>
                    <a:lnTo>
                      <a:pt x="101189" y="58"/>
                    </a:lnTo>
                    <a:lnTo>
                      <a:pt x="103349" y="176"/>
                    </a:lnTo>
                    <a:lnTo>
                      <a:pt x="105509" y="294"/>
                    </a:lnTo>
                    <a:lnTo>
                      <a:pt x="107139" y="569"/>
                    </a:lnTo>
                    <a:lnTo>
                      <a:pt x="108238" y="1002"/>
                    </a:lnTo>
                    <a:lnTo>
                      <a:pt x="109338" y="1434"/>
                    </a:lnTo>
                    <a:lnTo>
                      <a:pt x="111420" y="6367"/>
                    </a:lnTo>
                    <a:lnTo>
                      <a:pt x="138165" y="123230"/>
                    </a:lnTo>
                    <a:lnTo>
                      <a:pt x="166089" y="7193"/>
                    </a:lnTo>
                    <a:lnTo>
                      <a:pt x="166403" y="5699"/>
                    </a:lnTo>
                    <a:lnTo>
                      <a:pt x="166816" y="4481"/>
                    </a:lnTo>
                    <a:lnTo>
                      <a:pt x="167326" y="3537"/>
                    </a:lnTo>
                    <a:lnTo>
                      <a:pt x="167837" y="2594"/>
                    </a:lnTo>
                    <a:lnTo>
                      <a:pt x="168701" y="1867"/>
                    </a:lnTo>
                    <a:lnTo>
                      <a:pt x="169918" y="1356"/>
                    </a:lnTo>
                    <a:lnTo>
                      <a:pt x="171136" y="845"/>
                    </a:lnTo>
                    <a:lnTo>
                      <a:pt x="172805" y="491"/>
                    </a:lnTo>
                    <a:lnTo>
                      <a:pt x="174926" y="294"/>
                    </a:lnTo>
                    <a:lnTo>
                      <a:pt x="177047" y="98"/>
                    </a:lnTo>
                    <a:lnTo>
                      <a:pt x="179874" y="0"/>
                    </a:lnTo>
                    <a:lnTo>
                      <a:pt x="183409" y="0"/>
                    </a:lnTo>
                    <a:lnTo>
                      <a:pt x="187179" y="0"/>
                    </a:lnTo>
                    <a:lnTo>
                      <a:pt x="197607" y="1238"/>
                    </a:lnTo>
                    <a:lnTo>
                      <a:pt x="198824" y="1749"/>
                    </a:lnTo>
                    <a:lnTo>
                      <a:pt x="201554" y="7193"/>
                    </a:lnTo>
                    <a:lnTo>
                      <a:pt x="230302" y="123230"/>
                    </a:lnTo>
                    <a:lnTo>
                      <a:pt x="230538" y="123230"/>
                    </a:lnTo>
                    <a:lnTo>
                      <a:pt x="257284" y="6721"/>
                    </a:lnTo>
                    <a:lnTo>
                      <a:pt x="257519" y="5463"/>
                    </a:lnTo>
                    <a:lnTo>
                      <a:pt x="257833" y="4382"/>
                    </a:lnTo>
                    <a:lnTo>
                      <a:pt x="258226" y="3478"/>
                    </a:lnTo>
                    <a:lnTo>
                      <a:pt x="258619" y="2574"/>
                    </a:lnTo>
                    <a:lnTo>
                      <a:pt x="259365" y="1867"/>
                    </a:lnTo>
                    <a:lnTo>
                      <a:pt x="260465" y="1356"/>
                    </a:lnTo>
                    <a:lnTo>
                      <a:pt x="261564" y="845"/>
                    </a:lnTo>
                    <a:lnTo>
                      <a:pt x="263135" y="491"/>
                    </a:lnTo>
                    <a:lnTo>
                      <a:pt x="265178" y="294"/>
                    </a:lnTo>
                    <a:lnTo>
                      <a:pt x="267220" y="98"/>
                    </a:lnTo>
                    <a:lnTo>
                      <a:pt x="270087" y="0"/>
                    </a:lnTo>
                    <a:lnTo>
                      <a:pt x="273779" y="0"/>
                    </a:lnTo>
                    <a:lnTo>
                      <a:pt x="277235" y="0"/>
                    </a:lnTo>
                    <a:lnTo>
                      <a:pt x="279925" y="98"/>
                    </a:lnTo>
                    <a:lnTo>
                      <a:pt x="281850" y="294"/>
                    </a:lnTo>
                    <a:lnTo>
                      <a:pt x="283774" y="491"/>
                    </a:lnTo>
                    <a:lnTo>
                      <a:pt x="285168" y="1022"/>
                    </a:lnTo>
                    <a:lnTo>
                      <a:pt x="286032" y="1886"/>
                    </a:lnTo>
                    <a:lnTo>
                      <a:pt x="286896" y="2751"/>
                    </a:lnTo>
                    <a:lnTo>
                      <a:pt x="287269" y="4029"/>
                    </a:lnTo>
                    <a:lnTo>
                      <a:pt x="287152" y="5719"/>
                    </a:lnTo>
                    <a:lnTo>
                      <a:pt x="287034" y="7409"/>
                    </a:lnTo>
                    <a:lnTo>
                      <a:pt x="286621" y="9709"/>
                    </a:lnTo>
                    <a:lnTo>
                      <a:pt x="285914" y="12617"/>
                    </a:lnTo>
                    <a:lnTo>
                      <a:pt x="250921" y="145399"/>
                    </a:lnTo>
                    <a:lnTo>
                      <a:pt x="250450" y="147286"/>
                    </a:lnTo>
                    <a:lnTo>
                      <a:pt x="233012" y="154008"/>
                    </a:lnTo>
                    <a:lnTo>
                      <a:pt x="229006" y="154008"/>
                    </a:lnTo>
                    <a:lnTo>
                      <a:pt x="224529" y="154008"/>
                    </a:lnTo>
                    <a:lnTo>
                      <a:pt x="211804" y="152534"/>
                    </a:lnTo>
                    <a:lnTo>
                      <a:pt x="210233" y="151944"/>
                    </a:lnTo>
                    <a:lnTo>
                      <a:pt x="206738" y="145399"/>
                    </a:lnTo>
                    <a:lnTo>
                      <a:pt x="182349" y="48702"/>
                    </a:lnTo>
                    <a:lnTo>
                      <a:pt x="182113" y="48702"/>
                    </a:lnTo>
                    <a:lnTo>
                      <a:pt x="159020" y="145399"/>
                    </a:lnTo>
                    <a:lnTo>
                      <a:pt x="158627" y="147208"/>
                    </a:lnTo>
                    <a:lnTo>
                      <a:pt x="158077" y="148682"/>
                    </a:lnTo>
                    <a:lnTo>
                      <a:pt x="141661" y="154008"/>
                    </a:lnTo>
                    <a:lnTo>
                      <a:pt x="137341" y="154008"/>
                    </a:lnTo>
                    <a:lnTo>
                      <a:pt x="132785" y="154008"/>
                    </a:lnTo>
                    <a:lnTo>
                      <a:pt x="114837" y="145399"/>
                    </a:lnTo>
                    <a:lnTo>
                      <a:pt x="80197" y="12264"/>
                    </a:lnTo>
                    <a:lnTo>
                      <a:pt x="79490" y="9433"/>
                    </a:lnTo>
                    <a:lnTo>
                      <a:pt x="79097" y="7213"/>
                    </a:lnTo>
                    <a:lnTo>
                      <a:pt x="79019" y="5601"/>
                    </a:lnTo>
                    <a:lnTo>
                      <a:pt x="78940" y="3989"/>
                    </a:lnTo>
                    <a:lnTo>
                      <a:pt x="79392" y="2751"/>
                    </a:lnTo>
                    <a:lnTo>
                      <a:pt x="80374" y="1886"/>
                    </a:lnTo>
                    <a:lnTo>
                      <a:pt x="81355" y="1022"/>
                    </a:lnTo>
                    <a:lnTo>
                      <a:pt x="82966" y="491"/>
                    </a:lnTo>
                    <a:lnTo>
                      <a:pt x="85204" y="294"/>
                    </a:lnTo>
                    <a:lnTo>
                      <a:pt x="87443" y="98"/>
                    </a:lnTo>
                    <a:lnTo>
                      <a:pt x="90565" y="0"/>
                    </a:lnTo>
                    <a:lnTo>
                      <a:pt x="94571" y="0"/>
                    </a:lnTo>
                    <a:close/>
                  </a:path>
                  <a:path w="287654" h="154304">
                    <a:moveTo>
                      <a:pt x="15552" y="0"/>
                    </a:moveTo>
                    <a:lnTo>
                      <a:pt x="18615" y="0"/>
                    </a:lnTo>
                    <a:lnTo>
                      <a:pt x="21129" y="117"/>
                    </a:lnTo>
                    <a:lnTo>
                      <a:pt x="23093" y="353"/>
                    </a:lnTo>
                    <a:lnTo>
                      <a:pt x="25056" y="589"/>
                    </a:lnTo>
                    <a:lnTo>
                      <a:pt x="31105" y="4166"/>
                    </a:lnTo>
                    <a:lnTo>
                      <a:pt x="31105" y="4952"/>
                    </a:lnTo>
                    <a:lnTo>
                      <a:pt x="31105" y="127711"/>
                    </a:lnTo>
                    <a:lnTo>
                      <a:pt x="79058" y="127711"/>
                    </a:lnTo>
                    <a:lnTo>
                      <a:pt x="79844" y="127711"/>
                    </a:lnTo>
                    <a:lnTo>
                      <a:pt x="80531" y="127927"/>
                    </a:lnTo>
                    <a:lnTo>
                      <a:pt x="83771" y="140329"/>
                    </a:lnTo>
                    <a:lnTo>
                      <a:pt x="83771" y="142687"/>
                    </a:lnTo>
                    <a:lnTo>
                      <a:pt x="83673" y="144672"/>
                    </a:lnTo>
                    <a:lnTo>
                      <a:pt x="83477" y="146284"/>
                    </a:lnTo>
                    <a:lnTo>
                      <a:pt x="83280" y="147896"/>
                    </a:lnTo>
                    <a:lnTo>
                      <a:pt x="79844" y="153300"/>
                    </a:lnTo>
                    <a:lnTo>
                      <a:pt x="79058" y="153300"/>
                    </a:lnTo>
                    <a:lnTo>
                      <a:pt x="9190" y="153300"/>
                    </a:lnTo>
                    <a:lnTo>
                      <a:pt x="6598" y="153300"/>
                    </a:lnTo>
                    <a:lnTo>
                      <a:pt x="4418" y="152534"/>
                    </a:lnTo>
                    <a:lnTo>
                      <a:pt x="2650" y="151001"/>
                    </a:lnTo>
                    <a:lnTo>
                      <a:pt x="883" y="149468"/>
                    </a:lnTo>
                    <a:lnTo>
                      <a:pt x="0" y="146972"/>
                    </a:lnTo>
                    <a:lnTo>
                      <a:pt x="0" y="143513"/>
                    </a:lnTo>
                    <a:lnTo>
                      <a:pt x="0" y="4952"/>
                    </a:lnTo>
                    <a:lnTo>
                      <a:pt x="0" y="4166"/>
                    </a:lnTo>
                    <a:lnTo>
                      <a:pt x="255" y="3459"/>
                    </a:lnTo>
                    <a:lnTo>
                      <a:pt x="8070" y="353"/>
                    </a:lnTo>
                    <a:lnTo>
                      <a:pt x="10073" y="117"/>
                    </a:lnTo>
                    <a:lnTo>
                      <a:pt x="12567" y="0"/>
                    </a:lnTo>
                    <a:lnTo>
                      <a:pt x="15552" y="0"/>
                    </a:lnTo>
                    <a:close/>
                  </a:path>
                </a:pathLst>
              </a:custGeom>
              <a:ln w="12705">
                <a:solidFill>
                  <a:srgbClr val="000000"/>
                </a:solidFill>
              </a:ln>
            </p:spPr>
            <p:txBody>
              <a:bodyPr wrap="square" lIns="0" tIns="0" rIns="0" bIns="0" rtlCol="0"/>
              <a:lstStyle/>
              <a:p>
                <a:endParaRPr sz="1588"/>
              </a:p>
            </p:txBody>
          </p:sp>
        </p:grpSp>
        <p:grpSp>
          <p:nvGrpSpPr>
            <p:cNvPr id="28" name="object 28"/>
            <p:cNvGrpSpPr/>
            <p:nvPr/>
          </p:nvGrpSpPr>
          <p:grpSpPr>
            <a:xfrm>
              <a:off x="7389159" y="3911749"/>
              <a:ext cx="465604" cy="215153"/>
              <a:chOff x="8221980" y="4433315"/>
              <a:chExt cx="527685" cy="243840"/>
            </a:xfrm>
          </p:grpSpPr>
          <p:pic>
            <p:nvPicPr>
              <p:cNvPr id="29" name="object 29"/>
              <p:cNvPicPr/>
              <p:nvPr/>
            </p:nvPicPr>
            <p:blipFill>
              <a:blip r:embed="rId10" cstate="print"/>
              <a:stretch>
                <a:fillRect/>
              </a:stretch>
            </p:blipFill>
            <p:spPr>
              <a:xfrm>
                <a:off x="8221980" y="4433315"/>
                <a:ext cx="527303" cy="243840"/>
              </a:xfrm>
              <a:prstGeom prst="rect">
                <a:avLst/>
              </a:prstGeom>
            </p:spPr>
          </p:pic>
          <p:pic>
            <p:nvPicPr>
              <p:cNvPr id="30" name="object 30"/>
              <p:cNvPicPr/>
              <p:nvPr/>
            </p:nvPicPr>
            <p:blipFill>
              <a:blip r:embed="rId11" cstate="print"/>
              <a:stretch>
                <a:fillRect/>
              </a:stretch>
            </p:blipFill>
            <p:spPr>
              <a:xfrm>
                <a:off x="8233546" y="4449427"/>
                <a:ext cx="484968" cy="199730"/>
              </a:xfrm>
              <a:prstGeom prst="rect">
                <a:avLst/>
              </a:prstGeom>
            </p:spPr>
          </p:pic>
        </p:grpSp>
        <p:sp>
          <p:nvSpPr>
            <p:cNvPr id="31" name="object 31"/>
            <p:cNvSpPr txBox="1"/>
            <p:nvPr/>
          </p:nvSpPr>
          <p:spPr>
            <a:xfrm>
              <a:off x="6511769" y="4112596"/>
              <a:ext cx="424703" cy="637256"/>
            </a:xfrm>
            <a:prstGeom prst="rect">
              <a:avLst/>
            </a:prstGeom>
          </p:spPr>
          <p:txBody>
            <a:bodyPr vert="horz" wrap="square" lIns="0" tIns="11206" rIns="0" bIns="0" rtlCol="0">
              <a:spAutoFit/>
            </a:bodyPr>
            <a:lstStyle/>
            <a:p>
              <a:pPr marL="11206" marR="4483">
                <a:lnSpc>
                  <a:spcPct val="126299"/>
                </a:lnSpc>
                <a:spcBef>
                  <a:spcPts val="88"/>
                </a:spcBef>
              </a:pPr>
              <a:r>
                <a:rPr sz="1677" b="1" spc="-22" dirty="0">
                  <a:solidFill>
                    <a:srgbClr val="FC0128"/>
                  </a:solidFill>
                  <a:latin typeface="Calibri"/>
                  <a:cs typeface="Calibri"/>
                </a:rPr>
                <a:t>ADD LW</a:t>
              </a:r>
              <a:endParaRPr sz="1677">
                <a:latin typeface="Calibri"/>
                <a:cs typeface="Calibri"/>
              </a:endParaRPr>
            </a:p>
          </p:txBody>
        </p:sp>
        <p:sp>
          <p:nvSpPr>
            <p:cNvPr id="32" name="object 32"/>
            <p:cNvSpPr txBox="1"/>
            <p:nvPr/>
          </p:nvSpPr>
          <p:spPr>
            <a:xfrm>
              <a:off x="7379105" y="4112596"/>
              <a:ext cx="913279" cy="637256"/>
            </a:xfrm>
            <a:prstGeom prst="rect">
              <a:avLst/>
            </a:prstGeom>
          </p:spPr>
          <p:txBody>
            <a:bodyPr vert="horz" wrap="square" lIns="0" tIns="11206" rIns="0" bIns="0" rtlCol="0">
              <a:spAutoFit/>
            </a:bodyPr>
            <a:lstStyle/>
            <a:p>
              <a:pPr marL="11206" marR="4483">
                <a:lnSpc>
                  <a:spcPct val="126299"/>
                </a:lnSpc>
                <a:spcBef>
                  <a:spcPts val="88"/>
                </a:spcBef>
              </a:pPr>
              <a:r>
                <a:rPr sz="1677" b="1" dirty="0">
                  <a:solidFill>
                    <a:srgbClr val="FC0128"/>
                  </a:solidFill>
                  <a:latin typeface="Calibri"/>
                  <a:cs typeface="Calibri"/>
                </a:rPr>
                <a:t>Ra,</a:t>
              </a:r>
              <a:r>
                <a:rPr sz="1677" b="1" spc="22" dirty="0">
                  <a:solidFill>
                    <a:srgbClr val="FC0128"/>
                  </a:solidFill>
                  <a:latin typeface="Calibri"/>
                  <a:cs typeface="Calibri"/>
                </a:rPr>
                <a:t> </a:t>
              </a:r>
              <a:r>
                <a:rPr sz="1677" b="1" dirty="0">
                  <a:solidFill>
                    <a:srgbClr val="FC0128"/>
                  </a:solidFill>
                  <a:latin typeface="Calibri"/>
                  <a:cs typeface="Calibri"/>
                </a:rPr>
                <a:t>Rb,</a:t>
              </a:r>
              <a:r>
                <a:rPr sz="1677" b="1" spc="22" dirty="0">
                  <a:solidFill>
                    <a:srgbClr val="FC0128"/>
                  </a:solidFill>
                  <a:latin typeface="Calibri"/>
                  <a:cs typeface="Calibri"/>
                </a:rPr>
                <a:t> </a:t>
              </a:r>
              <a:r>
                <a:rPr sz="1677" b="1" spc="-22" dirty="0">
                  <a:solidFill>
                    <a:srgbClr val="FC0128"/>
                  </a:solidFill>
                  <a:latin typeface="Calibri"/>
                  <a:cs typeface="Calibri"/>
                </a:rPr>
                <a:t>Rc </a:t>
              </a:r>
              <a:r>
                <a:rPr sz="1677" b="1" dirty="0">
                  <a:solidFill>
                    <a:srgbClr val="FC0128"/>
                  </a:solidFill>
                  <a:latin typeface="Calibri"/>
                  <a:cs typeface="Calibri"/>
                </a:rPr>
                <a:t>Rf,</a:t>
              </a:r>
              <a:r>
                <a:rPr sz="1677" b="1" spc="-57" dirty="0">
                  <a:solidFill>
                    <a:srgbClr val="FC0128"/>
                  </a:solidFill>
                  <a:latin typeface="Calibri"/>
                  <a:cs typeface="Calibri"/>
                </a:rPr>
                <a:t> </a:t>
              </a:r>
              <a:r>
                <a:rPr sz="1677" b="1" spc="-44" dirty="0">
                  <a:solidFill>
                    <a:srgbClr val="FC0128"/>
                  </a:solidFill>
                  <a:latin typeface="Calibri"/>
                  <a:cs typeface="Calibri"/>
                </a:rPr>
                <a:t>f</a:t>
              </a:r>
              <a:endParaRPr sz="1677">
                <a:latin typeface="Calibri"/>
                <a:cs typeface="Calibri"/>
              </a:endParaRPr>
            </a:p>
          </p:txBody>
        </p:sp>
        <p:grpSp>
          <p:nvGrpSpPr>
            <p:cNvPr id="33" name="object 33"/>
            <p:cNvGrpSpPr/>
            <p:nvPr/>
          </p:nvGrpSpPr>
          <p:grpSpPr>
            <a:xfrm>
              <a:off x="6515100" y="4909520"/>
              <a:ext cx="331134" cy="186018"/>
              <a:chOff x="7231380" y="5564123"/>
              <a:chExt cx="375285" cy="210820"/>
            </a:xfrm>
          </p:grpSpPr>
          <p:pic>
            <p:nvPicPr>
              <p:cNvPr id="34" name="object 34"/>
              <p:cNvPicPr/>
              <p:nvPr/>
            </p:nvPicPr>
            <p:blipFill>
              <a:blip r:embed="rId12" cstate="print"/>
              <a:stretch>
                <a:fillRect/>
              </a:stretch>
            </p:blipFill>
            <p:spPr>
              <a:xfrm>
                <a:off x="7231380" y="5564123"/>
                <a:ext cx="374903" cy="210312"/>
              </a:xfrm>
              <a:prstGeom prst="rect">
                <a:avLst/>
              </a:prstGeom>
            </p:spPr>
          </p:pic>
          <p:pic>
            <p:nvPicPr>
              <p:cNvPr id="35" name="object 35"/>
              <p:cNvPicPr/>
              <p:nvPr/>
            </p:nvPicPr>
            <p:blipFill>
              <a:blip r:embed="rId13" cstate="print"/>
              <a:stretch>
                <a:fillRect/>
              </a:stretch>
            </p:blipFill>
            <p:spPr>
              <a:xfrm>
                <a:off x="7241377" y="5578133"/>
                <a:ext cx="332988" cy="170720"/>
              </a:xfrm>
              <a:prstGeom prst="rect">
                <a:avLst/>
              </a:prstGeom>
            </p:spPr>
          </p:pic>
        </p:grpSp>
        <p:grpSp>
          <p:nvGrpSpPr>
            <p:cNvPr id="36" name="object 36"/>
            <p:cNvGrpSpPr/>
            <p:nvPr/>
          </p:nvGrpSpPr>
          <p:grpSpPr>
            <a:xfrm>
              <a:off x="7381090" y="4909520"/>
              <a:ext cx="468406" cy="215153"/>
              <a:chOff x="8212835" y="5564123"/>
              <a:chExt cx="530860" cy="243840"/>
            </a:xfrm>
          </p:grpSpPr>
          <p:pic>
            <p:nvPicPr>
              <p:cNvPr id="37" name="object 37"/>
              <p:cNvPicPr/>
              <p:nvPr/>
            </p:nvPicPr>
            <p:blipFill>
              <a:blip r:embed="rId14" cstate="print"/>
              <a:stretch>
                <a:fillRect/>
              </a:stretch>
            </p:blipFill>
            <p:spPr>
              <a:xfrm>
                <a:off x="8212835" y="5564123"/>
                <a:ext cx="530351" cy="243839"/>
              </a:xfrm>
              <a:prstGeom prst="rect">
                <a:avLst/>
              </a:prstGeom>
            </p:spPr>
          </p:pic>
          <p:pic>
            <p:nvPicPr>
              <p:cNvPr id="38" name="object 38"/>
              <p:cNvPicPr/>
              <p:nvPr/>
            </p:nvPicPr>
            <p:blipFill>
              <a:blip r:embed="rId15" cstate="print"/>
              <a:stretch>
                <a:fillRect/>
              </a:stretch>
            </p:blipFill>
            <p:spPr>
              <a:xfrm>
                <a:off x="8225298" y="5580845"/>
                <a:ext cx="487586" cy="199730"/>
              </a:xfrm>
              <a:prstGeom prst="rect">
                <a:avLst/>
              </a:prstGeom>
            </p:spPr>
          </p:pic>
        </p:grpSp>
        <p:sp>
          <p:nvSpPr>
            <p:cNvPr id="39" name="object 39"/>
            <p:cNvSpPr txBox="1"/>
            <p:nvPr/>
          </p:nvSpPr>
          <p:spPr>
            <a:xfrm>
              <a:off x="6511769" y="5086162"/>
              <a:ext cx="386043" cy="664315"/>
            </a:xfrm>
            <a:prstGeom prst="rect">
              <a:avLst/>
            </a:prstGeom>
          </p:spPr>
          <p:txBody>
            <a:bodyPr vert="horz" wrap="square" lIns="0" tIns="11206" rIns="0" bIns="0" rtlCol="0">
              <a:spAutoFit/>
            </a:bodyPr>
            <a:lstStyle/>
            <a:p>
              <a:pPr marL="11206" marR="4483">
                <a:lnSpc>
                  <a:spcPct val="131600"/>
                </a:lnSpc>
                <a:spcBef>
                  <a:spcPts val="88"/>
                </a:spcBef>
              </a:pPr>
              <a:r>
                <a:rPr sz="1677" b="1" spc="-22" dirty="0">
                  <a:solidFill>
                    <a:srgbClr val="FC0128"/>
                  </a:solidFill>
                  <a:latin typeface="Calibri"/>
                  <a:cs typeface="Calibri"/>
                </a:rPr>
                <a:t>SUB SW</a:t>
              </a:r>
              <a:endParaRPr sz="1677">
                <a:latin typeface="Calibri"/>
                <a:cs typeface="Calibri"/>
              </a:endParaRPr>
            </a:p>
          </p:txBody>
        </p:sp>
        <p:sp>
          <p:nvSpPr>
            <p:cNvPr id="40" name="object 40"/>
            <p:cNvSpPr txBox="1"/>
            <p:nvPr/>
          </p:nvSpPr>
          <p:spPr>
            <a:xfrm>
              <a:off x="7379104" y="5086162"/>
              <a:ext cx="889747" cy="664315"/>
            </a:xfrm>
            <a:prstGeom prst="rect">
              <a:avLst/>
            </a:prstGeom>
          </p:spPr>
          <p:txBody>
            <a:bodyPr vert="horz" wrap="square" lIns="0" tIns="11206" rIns="0" bIns="0" rtlCol="0">
              <a:spAutoFit/>
            </a:bodyPr>
            <a:lstStyle/>
            <a:p>
              <a:pPr marL="11206" marR="4483">
                <a:lnSpc>
                  <a:spcPct val="131600"/>
                </a:lnSpc>
                <a:spcBef>
                  <a:spcPts val="88"/>
                </a:spcBef>
              </a:pPr>
              <a:r>
                <a:rPr sz="1677" b="1" dirty="0">
                  <a:solidFill>
                    <a:srgbClr val="FC0128"/>
                  </a:solidFill>
                  <a:latin typeface="Calibri"/>
                  <a:cs typeface="Calibri"/>
                </a:rPr>
                <a:t>Rd,</a:t>
              </a:r>
              <a:r>
                <a:rPr sz="1677" b="1" spc="9" dirty="0">
                  <a:solidFill>
                    <a:srgbClr val="FC0128"/>
                  </a:solidFill>
                  <a:latin typeface="Calibri"/>
                  <a:cs typeface="Calibri"/>
                </a:rPr>
                <a:t> </a:t>
              </a:r>
              <a:r>
                <a:rPr sz="1677" b="1" dirty="0">
                  <a:solidFill>
                    <a:srgbClr val="FC0128"/>
                  </a:solidFill>
                  <a:latin typeface="Calibri"/>
                  <a:cs typeface="Calibri"/>
                </a:rPr>
                <a:t>Re,</a:t>
              </a:r>
              <a:r>
                <a:rPr sz="1677" b="1" spc="13" dirty="0">
                  <a:solidFill>
                    <a:srgbClr val="FC0128"/>
                  </a:solidFill>
                  <a:latin typeface="Calibri"/>
                  <a:cs typeface="Calibri"/>
                </a:rPr>
                <a:t> </a:t>
              </a:r>
              <a:r>
                <a:rPr sz="1677" b="1" spc="-22" dirty="0">
                  <a:solidFill>
                    <a:srgbClr val="FC0128"/>
                  </a:solidFill>
                  <a:latin typeface="Calibri"/>
                  <a:cs typeface="Calibri"/>
                </a:rPr>
                <a:t>Rf </a:t>
              </a:r>
              <a:r>
                <a:rPr sz="1677" b="1" dirty="0">
                  <a:solidFill>
                    <a:srgbClr val="FC0128"/>
                  </a:solidFill>
                  <a:latin typeface="Calibri"/>
                  <a:cs typeface="Calibri"/>
                </a:rPr>
                <a:t>d,</a:t>
              </a:r>
              <a:r>
                <a:rPr sz="1677" b="1" spc="9" dirty="0">
                  <a:solidFill>
                    <a:srgbClr val="FC0128"/>
                  </a:solidFill>
                  <a:latin typeface="Calibri"/>
                  <a:cs typeface="Calibri"/>
                </a:rPr>
                <a:t> </a:t>
              </a:r>
              <a:r>
                <a:rPr sz="1677" b="1" spc="-22" dirty="0">
                  <a:solidFill>
                    <a:srgbClr val="FC0128"/>
                  </a:solidFill>
                  <a:latin typeface="Calibri"/>
                  <a:cs typeface="Calibri"/>
                </a:rPr>
                <a:t>Rd</a:t>
              </a:r>
              <a:endParaRPr sz="1677">
                <a:latin typeface="Calibri"/>
                <a:cs typeface="Calibri"/>
              </a:endParaRPr>
            </a:p>
          </p:txBody>
        </p:sp>
        <p:sp>
          <p:nvSpPr>
            <p:cNvPr id="41" name="object 41"/>
            <p:cNvSpPr/>
            <p:nvPr/>
          </p:nvSpPr>
          <p:spPr>
            <a:xfrm>
              <a:off x="4224394" y="3970109"/>
              <a:ext cx="2099982" cy="931209"/>
            </a:xfrm>
            <a:custGeom>
              <a:avLst/>
              <a:gdLst/>
              <a:ahLst/>
              <a:cxnLst/>
              <a:rect l="l" t="t" r="r" b="b"/>
              <a:pathLst>
                <a:path w="2379979" h="1055370">
                  <a:moveTo>
                    <a:pt x="2379688" y="36258"/>
                  </a:moveTo>
                  <a:lnTo>
                    <a:pt x="2354376" y="29552"/>
                  </a:lnTo>
                  <a:lnTo>
                    <a:pt x="2242909" y="0"/>
                  </a:lnTo>
                  <a:lnTo>
                    <a:pt x="2234501" y="4902"/>
                  </a:lnTo>
                  <a:lnTo>
                    <a:pt x="2230158" y="21310"/>
                  </a:lnTo>
                  <a:lnTo>
                    <a:pt x="2234946" y="29552"/>
                  </a:lnTo>
                  <a:lnTo>
                    <a:pt x="2235035" y="29730"/>
                  </a:lnTo>
                  <a:lnTo>
                    <a:pt x="2291448" y="44678"/>
                  </a:lnTo>
                  <a:lnTo>
                    <a:pt x="618274" y="506641"/>
                  </a:lnTo>
                  <a:lnTo>
                    <a:pt x="29057" y="339242"/>
                  </a:lnTo>
                  <a:lnTo>
                    <a:pt x="20675" y="368820"/>
                  </a:lnTo>
                  <a:lnTo>
                    <a:pt x="561225" y="522389"/>
                  </a:lnTo>
                  <a:lnTo>
                    <a:pt x="0" y="677341"/>
                  </a:lnTo>
                  <a:lnTo>
                    <a:pt x="8166" y="706983"/>
                  </a:lnTo>
                  <a:lnTo>
                    <a:pt x="618159" y="538568"/>
                  </a:lnTo>
                  <a:lnTo>
                    <a:pt x="2281326" y="1011059"/>
                  </a:lnTo>
                  <a:lnTo>
                    <a:pt x="2224811" y="1025588"/>
                  </a:lnTo>
                  <a:lnTo>
                    <a:pt x="2219858" y="1033970"/>
                  </a:lnTo>
                  <a:lnTo>
                    <a:pt x="2224074" y="1050417"/>
                  </a:lnTo>
                  <a:lnTo>
                    <a:pt x="2232456" y="1055370"/>
                  </a:lnTo>
                  <a:lnTo>
                    <a:pt x="2344394" y="1026579"/>
                  </a:lnTo>
                  <a:lnTo>
                    <a:pt x="2369502" y="1020127"/>
                  </a:lnTo>
                  <a:lnTo>
                    <a:pt x="2271395" y="918083"/>
                  </a:lnTo>
                  <a:lnTo>
                    <a:pt x="2261666" y="917892"/>
                  </a:lnTo>
                  <a:lnTo>
                    <a:pt x="2249436" y="929665"/>
                  </a:lnTo>
                  <a:lnTo>
                    <a:pt x="2249259" y="939393"/>
                  </a:lnTo>
                  <a:lnTo>
                    <a:pt x="2289721" y="981481"/>
                  </a:lnTo>
                  <a:lnTo>
                    <a:pt x="675208" y="522820"/>
                  </a:lnTo>
                  <a:lnTo>
                    <a:pt x="2299627" y="74320"/>
                  </a:lnTo>
                  <a:lnTo>
                    <a:pt x="2258847" y="116103"/>
                  </a:lnTo>
                  <a:lnTo>
                    <a:pt x="2258961" y="125831"/>
                  </a:lnTo>
                  <a:lnTo>
                    <a:pt x="2271103" y="137693"/>
                  </a:lnTo>
                  <a:lnTo>
                    <a:pt x="2280716" y="137693"/>
                  </a:lnTo>
                  <a:lnTo>
                    <a:pt x="2379688" y="36258"/>
                  </a:lnTo>
                  <a:close/>
                </a:path>
              </a:pathLst>
            </a:custGeom>
            <a:solidFill>
              <a:srgbClr val="000000"/>
            </a:solidFill>
          </p:spPr>
          <p:txBody>
            <a:bodyPr wrap="square" lIns="0" tIns="0" rIns="0" bIns="0" rtlCol="0"/>
            <a:lstStyle/>
            <a:p>
              <a:endParaRPr sz="1588"/>
            </a:p>
          </p:txBody>
        </p:sp>
      </p:grpSp>
      <p:sp>
        <p:nvSpPr>
          <p:cNvPr id="44" name="object 4">
            <a:extLst>
              <a:ext uri="{FF2B5EF4-FFF2-40B4-BE49-F238E27FC236}">
                <a16:creationId xmlns:a16="http://schemas.microsoft.com/office/drawing/2014/main" id="{F3CA9B87-CA76-EC4A-D1CC-A1C350A8AC8C}"/>
              </a:ext>
            </a:extLst>
          </p:cNvPr>
          <p:cNvSpPr txBox="1"/>
          <p:nvPr/>
        </p:nvSpPr>
        <p:spPr>
          <a:xfrm>
            <a:off x="983274" y="1082840"/>
            <a:ext cx="6789763" cy="2261826"/>
          </a:xfrm>
          <a:prstGeom prst="rect">
            <a:avLst/>
          </a:prstGeom>
        </p:spPr>
        <p:txBody>
          <a:bodyPr vert="horz" wrap="square" lIns="0" tIns="210110" rIns="0" bIns="0" rtlCol="0">
            <a:spAutoFit/>
          </a:bodyPr>
          <a:lstStyle/>
          <a:p>
            <a:pPr indent="-270636">
              <a:buChar char="•"/>
              <a:tabLst>
                <a:tab pos="281843" algn="l"/>
              </a:tabLst>
            </a:pPr>
            <a:r>
              <a:rPr sz="2294" dirty="0">
                <a:latin typeface="Calibri"/>
                <a:cs typeface="Calibri"/>
              </a:rPr>
              <a:t>Try</a:t>
            </a:r>
            <a:r>
              <a:rPr sz="2294" spc="-66" dirty="0">
                <a:latin typeface="Calibri"/>
                <a:cs typeface="Calibri"/>
              </a:rPr>
              <a:t> </a:t>
            </a:r>
            <a:r>
              <a:rPr sz="2294" spc="-9" dirty="0">
                <a:latin typeface="Calibri"/>
                <a:cs typeface="Calibri"/>
              </a:rPr>
              <a:t>producing</a:t>
            </a:r>
            <a:r>
              <a:rPr sz="2294" spc="-75" dirty="0">
                <a:latin typeface="Calibri"/>
                <a:cs typeface="Calibri"/>
              </a:rPr>
              <a:t> </a:t>
            </a:r>
            <a:r>
              <a:rPr sz="2294" dirty="0">
                <a:latin typeface="Calibri"/>
                <a:cs typeface="Calibri"/>
              </a:rPr>
              <a:t>fast</a:t>
            </a:r>
            <a:r>
              <a:rPr sz="2294" spc="-71" dirty="0">
                <a:latin typeface="Calibri"/>
                <a:cs typeface="Calibri"/>
              </a:rPr>
              <a:t> </a:t>
            </a:r>
            <a:r>
              <a:rPr sz="2294" dirty="0">
                <a:latin typeface="Calibri"/>
                <a:cs typeface="Calibri"/>
              </a:rPr>
              <a:t>code</a:t>
            </a:r>
            <a:r>
              <a:rPr sz="2294" spc="-62" dirty="0">
                <a:latin typeface="Calibri"/>
                <a:cs typeface="Calibri"/>
              </a:rPr>
              <a:t> </a:t>
            </a:r>
            <a:r>
              <a:rPr sz="2294" dirty="0">
                <a:latin typeface="Calibri"/>
                <a:cs typeface="Calibri"/>
              </a:rPr>
              <a:t>with</a:t>
            </a:r>
            <a:r>
              <a:rPr sz="2294" spc="-71" dirty="0">
                <a:latin typeface="Calibri"/>
                <a:cs typeface="Calibri"/>
              </a:rPr>
              <a:t> </a:t>
            </a:r>
            <a:r>
              <a:rPr sz="2294" dirty="0">
                <a:latin typeface="Calibri"/>
                <a:cs typeface="Calibri"/>
              </a:rPr>
              <a:t>no</a:t>
            </a:r>
            <a:r>
              <a:rPr sz="2294" spc="-75" dirty="0">
                <a:latin typeface="Calibri"/>
                <a:cs typeface="Calibri"/>
              </a:rPr>
              <a:t> </a:t>
            </a:r>
            <a:r>
              <a:rPr sz="2294" dirty="0">
                <a:latin typeface="Calibri"/>
                <a:cs typeface="Calibri"/>
              </a:rPr>
              <a:t>stalls</a:t>
            </a:r>
            <a:r>
              <a:rPr sz="2294" spc="-62" dirty="0">
                <a:latin typeface="Calibri"/>
                <a:cs typeface="Calibri"/>
              </a:rPr>
              <a:t> </a:t>
            </a:r>
            <a:r>
              <a:rPr sz="2294" spc="-22" dirty="0">
                <a:latin typeface="Calibri"/>
                <a:cs typeface="Calibri"/>
              </a:rPr>
              <a:t>for</a:t>
            </a:r>
            <a:endParaRPr sz="2294" dirty="0">
              <a:latin typeface="Calibri"/>
              <a:cs typeface="Calibri"/>
            </a:endParaRPr>
          </a:p>
          <a:p>
            <a:pPr marL="878027" marR="3405089">
              <a:lnSpc>
                <a:spcPct val="126299"/>
              </a:lnSpc>
              <a:spcBef>
                <a:spcPts val="618"/>
              </a:spcBef>
            </a:pPr>
            <a:r>
              <a:rPr sz="2000" dirty="0">
                <a:latin typeface="Calibri"/>
                <a:cs typeface="Calibri"/>
              </a:rPr>
              <a:t>a</a:t>
            </a:r>
            <a:r>
              <a:rPr sz="2000" spc="18" dirty="0">
                <a:latin typeface="Calibri"/>
                <a:cs typeface="Calibri"/>
              </a:rPr>
              <a:t> </a:t>
            </a:r>
            <a:r>
              <a:rPr sz="2000" dirty="0">
                <a:latin typeface="Calibri"/>
                <a:cs typeface="Calibri"/>
              </a:rPr>
              <a:t>=</a:t>
            </a:r>
            <a:r>
              <a:rPr sz="2000" spc="18" dirty="0">
                <a:latin typeface="Calibri"/>
                <a:cs typeface="Calibri"/>
              </a:rPr>
              <a:t> </a:t>
            </a:r>
            <a:r>
              <a:rPr sz="2000" dirty="0">
                <a:latin typeface="Calibri"/>
                <a:cs typeface="Calibri"/>
              </a:rPr>
              <a:t>b</a:t>
            </a:r>
            <a:r>
              <a:rPr sz="2000" spc="22" dirty="0">
                <a:latin typeface="Calibri"/>
                <a:cs typeface="Calibri"/>
              </a:rPr>
              <a:t> </a:t>
            </a:r>
            <a:r>
              <a:rPr sz="2000" dirty="0">
                <a:latin typeface="Calibri"/>
                <a:cs typeface="Calibri"/>
              </a:rPr>
              <a:t>+</a:t>
            </a:r>
            <a:r>
              <a:rPr sz="2000" spc="18" dirty="0">
                <a:latin typeface="Calibri"/>
                <a:cs typeface="Calibri"/>
              </a:rPr>
              <a:t> </a:t>
            </a:r>
            <a:r>
              <a:rPr sz="2000" spc="-22" dirty="0">
                <a:latin typeface="Calibri"/>
                <a:cs typeface="Calibri"/>
              </a:rPr>
              <a:t>c; </a:t>
            </a:r>
            <a:br>
              <a:rPr lang="en-US" sz="2000" spc="-22" dirty="0">
                <a:latin typeface="Calibri"/>
                <a:cs typeface="Calibri"/>
              </a:rPr>
            </a:br>
            <a:r>
              <a:rPr sz="2000" dirty="0">
                <a:latin typeface="Calibri"/>
                <a:cs typeface="Calibri"/>
              </a:rPr>
              <a:t>d</a:t>
            </a:r>
            <a:r>
              <a:rPr sz="2000" spc="22" dirty="0">
                <a:latin typeface="Calibri"/>
                <a:cs typeface="Calibri"/>
              </a:rPr>
              <a:t> </a:t>
            </a:r>
            <a:r>
              <a:rPr sz="2000" dirty="0">
                <a:latin typeface="Calibri"/>
                <a:cs typeface="Calibri"/>
              </a:rPr>
              <a:t>=</a:t>
            </a:r>
            <a:r>
              <a:rPr sz="2000" spc="22" dirty="0">
                <a:latin typeface="Calibri"/>
                <a:cs typeface="Calibri"/>
              </a:rPr>
              <a:t> </a:t>
            </a:r>
            <a:r>
              <a:rPr sz="2000" dirty="0">
                <a:latin typeface="Calibri"/>
                <a:cs typeface="Calibri"/>
              </a:rPr>
              <a:t>e</a:t>
            </a:r>
            <a:r>
              <a:rPr lang="en-US" sz="2000" spc="22" dirty="0">
                <a:latin typeface="Calibri"/>
                <a:cs typeface="Calibri"/>
              </a:rPr>
              <a:t> </a:t>
            </a:r>
            <a:r>
              <a:rPr sz="2000" dirty="0">
                <a:latin typeface="Calibri"/>
                <a:cs typeface="Calibri"/>
              </a:rPr>
              <a:t>–</a:t>
            </a:r>
            <a:r>
              <a:rPr sz="2000" spc="22" dirty="0">
                <a:latin typeface="Calibri"/>
                <a:cs typeface="Calibri"/>
              </a:rPr>
              <a:t> </a:t>
            </a:r>
            <a:r>
              <a:rPr sz="2000" spc="-22" dirty="0">
                <a:latin typeface="Calibri"/>
                <a:cs typeface="Calibri"/>
              </a:rPr>
              <a:t>f;</a:t>
            </a:r>
            <a:endParaRPr sz="2000" dirty="0">
              <a:latin typeface="Calibri"/>
              <a:cs typeface="Calibri"/>
            </a:endParaRPr>
          </a:p>
          <a:p>
            <a:pPr marL="444337">
              <a:spcBef>
                <a:spcPts val="476"/>
              </a:spcBef>
              <a:spcAft>
                <a:spcPts val="600"/>
              </a:spcAft>
            </a:pPr>
            <a:r>
              <a:rPr sz="1941" dirty="0">
                <a:latin typeface="Calibri"/>
                <a:cs typeface="Calibri"/>
              </a:rPr>
              <a:t>–</a:t>
            </a:r>
            <a:r>
              <a:rPr sz="1941" spc="256" dirty="0">
                <a:latin typeface="Calibri"/>
                <a:cs typeface="Calibri"/>
              </a:rPr>
              <a:t> </a:t>
            </a:r>
            <a:r>
              <a:rPr sz="1941" spc="-18" dirty="0">
                <a:latin typeface="Calibri"/>
                <a:cs typeface="Calibri"/>
              </a:rPr>
              <a:t>assuming</a:t>
            </a:r>
            <a:r>
              <a:rPr sz="1941" spc="-57" dirty="0">
                <a:latin typeface="Calibri"/>
                <a:cs typeface="Calibri"/>
              </a:rPr>
              <a:t> </a:t>
            </a:r>
            <a:r>
              <a:rPr sz="1941" dirty="0">
                <a:latin typeface="Calibri"/>
                <a:cs typeface="Calibri"/>
              </a:rPr>
              <a:t>a,</a:t>
            </a:r>
            <a:r>
              <a:rPr sz="1941" spc="-44" dirty="0">
                <a:latin typeface="Calibri"/>
                <a:cs typeface="Calibri"/>
              </a:rPr>
              <a:t> </a:t>
            </a:r>
            <a:r>
              <a:rPr sz="1941" dirty="0">
                <a:latin typeface="Calibri"/>
                <a:cs typeface="Calibri"/>
              </a:rPr>
              <a:t>b,</a:t>
            </a:r>
            <a:r>
              <a:rPr sz="1941" spc="-44" dirty="0">
                <a:latin typeface="Calibri"/>
                <a:cs typeface="Calibri"/>
              </a:rPr>
              <a:t> </a:t>
            </a:r>
            <a:r>
              <a:rPr sz="1941" dirty="0">
                <a:latin typeface="Calibri"/>
                <a:cs typeface="Calibri"/>
              </a:rPr>
              <a:t>c,</a:t>
            </a:r>
            <a:r>
              <a:rPr sz="1941" spc="-44" dirty="0">
                <a:latin typeface="Calibri"/>
                <a:cs typeface="Calibri"/>
              </a:rPr>
              <a:t> </a:t>
            </a:r>
            <a:r>
              <a:rPr sz="1941" dirty="0">
                <a:latin typeface="Calibri"/>
                <a:cs typeface="Calibri"/>
              </a:rPr>
              <a:t>d</a:t>
            </a:r>
            <a:r>
              <a:rPr sz="1941" spc="-62" dirty="0">
                <a:latin typeface="Calibri"/>
                <a:cs typeface="Calibri"/>
              </a:rPr>
              <a:t> </a:t>
            </a:r>
            <a:r>
              <a:rPr sz="1941" dirty="0">
                <a:latin typeface="Calibri"/>
                <a:cs typeface="Calibri"/>
              </a:rPr>
              <a:t>,e,</a:t>
            </a:r>
            <a:r>
              <a:rPr sz="1941" spc="-44" dirty="0">
                <a:latin typeface="Calibri"/>
                <a:cs typeface="Calibri"/>
              </a:rPr>
              <a:t> </a:t>
            </a:r>
            <a:r>
              <a:rPr sz="1941" dirty="0">
                <a:latin typeface="Calibri"/>
                <a:cs typeface="Calibri"/>
              </a:rPr>
              <a:t>and</a:t>
            </a:r>
            <a:r>
              <a:rPr sz="1941" spc="-57" dirty="0">
                <a:latin typeface="Calibri"/>
                <a:cs typeface="Calibri"/>
              </a:rPr>
              <a:t> </a:t>
            </a:r>
            <a:r>
              <a:rPr sz="1941" dirty="0">
                <a:latin typeface="Calibri"/>
                <a:cs typeface="Calibri"/>
              </a:rPr>
              <a:t>f</a:t>
            </a:r>
            <a:r>
              <a:rPr sz="1941" spc="-49" dirty="0">
                <a:latin typeface="Calibri"/>
                <a:cs typeface="Calibri"/>
              </a:rPr>
              <a:t> </a:t>
            </a:r>
            <a:r>
              <a:rPr sz="1941" dirty="0">
                <a:latin typeface="Calibri"/>
                <a:cs typeface="Calibri"/>
              </a:rPr>
              <a:t>are</a:t>
            </a:r>
            <a:r>
              <a:rPr sz="1941" spc="-53" dirty="0">
                <a:latin typeface="Calibri"/>
                <a:cs typeface="Calibri"/>
              </a:rPr>
              <a:t> </a:t>
            </a:r>
            <a:r>
              <a:rPr sz="1941" dirty="0">
                <a:latin typeface="Calibri"/>
                <a:cs typeface="Calibri"/>
              </a:rPr>
              <a:t>in</a:t>
            </a:r>
            <a:r>
              <a:rPr sz="1941" spc="-57" dirty="0">
                <a:latin typeface="Calibri"/>
                <a:cs typeface="Calibri"/>
              </a:rPr>
              <a:t> </a:t>
            </a:r>
            <a:r>
              <a:rPr sz="1941" spc="-9" dirty="0">
                <a:latin typeface="Calibri"/>
                <a:cs typeface="Calibri"/>
              </a:rPr>
              <a:t>memory.</a:t>
            </a:r>
            <a:endParaRPr sz="1941" dirty="0">
              <a:latin typeface="Calibri"/>
              <a:cs typeface="Calibri"/>
            </a:endParaRPr>
          </a:p>
          <a:p>
            <a:pPr marL="878027">
              <a:spcBef>
                <a:spcPts val="410"/>
              </a:spcBef>
            </a:pPr>
            <a:r>
              <a:rPr sz="2294" dirty="0">
                <a:latin typeface="Calibri"/>
                <a:cs typeface="Calibri"/>
              </a:rPr>
              <a:t>Slow</a:t>
            </a:r>
            <a:r>
              <a:rPr sz="2294" spc="-106" dirty="0">
                <a:latin typeface="Calibri"/>
                <a:cs typeface="Calibri"/>
              </a:rPr>
              <a:t> </a:t>
            </a:r>
            <a:r>
              <a:rPr sz="2294" spc="-18" dirty="0">
                <a:latin typeface="Calibri"/>
                <a:cs typeface="Calibri"/>
              </a:rPr>
              <a:t>code:</a:t>
            </a:r>
            <a:endParaRPr sz="2294" dirty="0">
              <a:latin typeface="Calibri"/>
              <a:cs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44419" y="2389852"/>
            <a:ext cx="4947397" cy="1421958"/>
          </a:xfrm>
          <a:prstGeom prst="rect">
            <a:avLst/>
          </a:prstGeom>
        </p:spPr>
        <p:txBody>
          <a:bodyPr vert="horz" wrap="square" lIns="0" tIns="11206" rIns="0" bIns="0" rtlCol="0" anchor="ctr">
            <a:spAutoFit/>
          </a:bodyPr>
          <a:lstStyle/>
          <a:p>
            <a:pPr marL="11206">
              <a:lnSpc>
                <a:spcPts val="4430"/>
              </a:lnSpc>
              <a:spcBef>
                <a:spcPts val="88"/>
              </a:spcBef>
            </a:pPr>
            <a:r>
              <a:rPr sz="3794" b="1" dirty="0">
                <a:latin typeface="Arial"/>
                <a:cs typeface="Arial"/>
              </a:rPr>
              <a:t>BRANCHING</a:t>
            </a:r>
            <a:r>
              <a:rPr sz="3794" b="1" spc="-9" dirty="0">
                <a:latin typeface="Arial"/>
                <a:cs typeface="Arial"/>
              </a:rPr>
              <a:t> SCHEMES</a:t>
            </a:r>
            <a:endParaRPr sz="3794">
              <a:latin typeface="Arial"/>
              <a:cs typeface="Arial"/>
            </a:endParaRPr>
          </a:p>
          <a:p>
            <a:pPr marL="11206">
              <a:lnSpc>
                <a:spcPts val="2206"/>
              </a:lnSpc>
            </a:pPr>
            <a:r>
              <a:rPr sz="1941" b="1" dirty="0">
                <a:latin typeface="Arial"/>
                <a:cs typeface="Arial"/>
              </a:rPr>
              <a:t>-</a:t>
            </a:r>
            <a:r>
              <a:rPr sz="1941" b="1" spc="-66" dirty="0">
                <a:latin typeface="Arial"/>
                <a:cs typeface="Arial"/>
              </a:rPr>
              <a:t> </a:t>
            </a:r>
            <a:r>
              <a:rPr sz="1941" b="1" spc="-18" dirty="0">
                <a:latin typeface="Arial"/>
                <a:cs typeface="Arial"/>
              </a:rPr>
              <a:t>APPENDIX</a:t>
            </a:r>
            <a:r>
              <a:rPr sz="1941" b="1" spc="-71" dirty="0">
                <a:latin typeface="Arial"/>
                <a:cs typeface="Arial"/>
              </a:rPr>
              <a:t> </a:t>
            </a:r>
            <a:r>
              <a:rPr sz="1941" b="1" spc="-44" dirty="0">
                <a:latin typeface="Arial"/>
                <a:cs typeface="Arial"/>
              </a:rPr>
              <a:t>C</a:t>
            </a:r>
            <a:endParaRPr sz="1941">
              <a:latin typeface="Arial"/>
              <a:cs typeface="Arial"/>
            </a:endParaRPr>
          </a:p>
        </p:txBody>
      </p:sp>
      <p:sp>
        <p:nvSpPr>
          <p:cNvPr id="4" name="Slide Number Placeholder 3">
            <a:extLst>
              <a:ext uri="{FF2B5EF4-FFF2-40B4-BE49-F238E27FC236}">
                <a16:creationId xmlns:a16="http://schemas.microsoft.com/office/drawing/2014/main" id="{9CC73495-D596-F1AE-7298-0DA52E8E91AE}"/>
              </a:ext>
            </a:extLst>
          </p:cNvPr>
          <p:cNvSpPr>
            <a:spLocks noGrp="1"/>
          </p:cNvSpPr>
          <p:nvPr>
            <p:ph type="sldNum" sz="quarter" idx="7"/>
          </p:nvPr>
        </p:nvSpPr>
        <p:spPr/>
        <p:txBody>
          <a:bodyPr/>
          <a:lstStyle/>
          <a:p>
            <a:pPr marL="11206">
              <a:lnSpc>
                <a:spcPts val="1747"/>
              </a:lnSpc>
            </a:pPr>
            <a:fld id="{81D60167-4931-47E6-BA6A-407CBD079E47}" type="slidenum">
              <a:rPr lang="en-US" spc="-22" smtClean="0"/>
              <a:pPr marL="11206">
                <a:lnSpc>
                  <a:spcPts val="1747"/>
                </a:lnSpc>
              </a:pPr>
              <a:t>54</a:t>
            </a:fld>
            <a:endParaRPr lang="en-US" spc="-22"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55211" y="1194584"/>
            <a:ext cx="1024778" cy="910223"/>
          </a:xfrm>
          <a:prstGeom prst="rect">
            <a:avLst/>
          </a:prstGeom>
        </p:spPr>
        <p:txBody>
          <a:bodyPr vert="horz" wrap="square" lIns="0" tIns="80682" rIns="0" bIns="0" rtlCol="0">
            <a:spAutoFit/>
          </a:bodyPr>
          <a:lstStyle/>
          <a:p>
            <a:pPr marL="65558" algn="ctr">
              <a:spcBef>
                <a:spcPts val="635"/>
              </a:spcBef>
            </a:pPr>
            <a:r>
              <a:rPr sz="1677" b="1" spc="-44" dirty="0">
                <a:latin typeface="Times New Roman"/>
                <a:cs typeface="Times New Roman"/>
              </a:rPr>
              <a:t>3</a:t>
            </a:r>
            <a:endParaRPr sz="1677">
              <a:latin typeface="Times New Roman"/>
              <a:cs typeface="Times New Roman"/>
            </a:endParaRPr>
          </a:p>
          <a:p>
            <a:pPr marL="10646" marR="4483" algn="ctr">
              <a:lnSpc>
                <a:spcPct val="101099"/>
              </a:lnSpc>
              <a:spcBef>
                <a:spcPts val="529"/>
              </a:spcBef>
            </a:pPr>
            <a:r>
              <a:rPr sz="1677" b="1" spc="-9" dirty="0">
                <a:latin typeface="Times New Roman"/>
                <a:cs typeface="Times New Roman"/>
              </a:rPr>
              <a:t>Execute Addr.</a:t>
            </a:r>
            <a:r>
              <a:rPr sz="1677" b="1" spc="-75" dirty="0">
                <a:latin typeface="Times New Roman"/>
                <a:cs typeface="Times New Roman"/>
              </a:rPr>
              <a:t> </a:t>
            </a:r>
            <a:r>
              <a:rPr sz="1677" b="1" spc="-18" dirty="0">
                <a:latin typeface="Times New Roman"/>
                <a:cs typeface="Times New Roman"/>
              </a:rPr>
              <a:t>Calc</a:t>
            </a:r>
            <a:endParaRPr sz="1677">
              <a:latin typeface="Times New Roman"/>
              <a:cs typeface="Times New Roman"/>
            </a:endParaRPr>
          </a:p>
        </p:txBody>
      </p:sp>
      <p:sp>
        <p:nvSpPr>
          <p:cNvPr id="3" name="object 3"/>
          <p:cNvSpPr txBox="1">
            <a:spLocks noGrp="1"/>
          </p:cNvSpPr>
          <p:nvPr>
            <p:ph type="title"/>
          </p:nvPr>
        </p:nvSpPr>
        <p:spPr>
          <a:xfrm>
            <a:off x="961954" y="458974"/>
            <a:ext cx="6929718" cy="418671"/>
          </a:xfrm>
          <a:prstGeom prst="rect">
            <a:avLst/>
          </a:prstGeom>
        </p:spPr>
        <p:txBody>
          <a:bodyPr vert="horz" wrap="square" lIns="0" tIns="11206" rIns="0" bIns="0" rtlCol="0" anchor="ctr">
            <a:spAutoFit/>
          </a:bodyPr>
          <a:lstStyle/>
          <a:p>
            <a:pPr marL="11206">
              <a:lnSpc>
                <a:spcPct val="100000"/>
              </a:lnSpc>
              <a:spcBef>
                <a:spcPts val="88"/>
              </a:spcBef>
            </a:pPr>
            <a:r>
              <a:rPr sz="2647" dirty="0"/>
              <a:t>5</a:t>
            </a:r>
            <a:r>
              <a:rPr sz="2647" spc="-4" dirty="0"/>
              <a:t> </a:t>
            </a:r>
            <a:r>
              <a:rPr sz="2647" dirty="0"/>
              <a:t>Steps of</a:t>
            </a:r>
            <a:r>
              <a:rPr sz="2647" spc="-13" dirty="0"/>
              <a:t> </a:t>
            </a:r>
            <a:r>
              <a:rPr sz="2647" dirty="0"/>
              <a:t>a</a:t>
            </a:r>
            <a:r>
              <a:rPr sz="2647" spc="-9" dirty="0"/>
              <a:t> </a:t>
            </a:r>
            <a:r>
              <a:rPr sz="2647" dirty="0"/>
              <a:t>MIPS</a:t>
            </a:r>
            <a:r>
              <a:rPr sz="2647" spc="-4" dirty="0"/>
              <a:t> </a:t>
            </a:r>
            <a:r>
              <a:rPr sz="2647" dirty="0"/>
              <a:t>Data</a:t>
            </a:r>
            <a:r>
              <a:rPr sz="2647" spc="-13" dirty="0"/>
              <a:t> </a:t>
            </a:r>
            <a:r>
              <a:rPr sz="2647" dirty="0"/>
              <a:t>Path (with pipeline</a:t>
            </a:r>
            <a:r>
              <a:rPr sz="2647" spc="-13" dirty="0"/>
              <a:t> </a:t>
            </a:r>
            <a:r>
              <a:rPr sz="2647" spc="-9" dirty="0"/>
              <a:t>latches)</a:t>
            </a:r>
            <a:endParaRPr sz="2647"/>
          </a:p>
        </p:txBody>
      </p:sp>
      <p:sp>
        <p:nvSpPr>
          <p:cNvPr id="120" name="Slide Number Placeholder 119">
            <a:extLst>
              <a:ext uri="{FF2B5EF4-FFF2-40B4-BE49-F238E27FC236}">
                <a16:creationId xmlns:a16="http://schemas.microsoft.com/office/drawing/2014/main" id="{5BE0D226-5D58-6C2E-37E2-306DE5B7291E}"/>
              </a:ext>
            </a:extLst>
          </p:cNvPr>
          <p:cNvSpPr>
            <a:spLocks noGrp="1"/>
          </p:cNvSpPr>
          <p:nvPr>
            <p:ph type="sldNum" sz="quarter" idx="7"/>
          </p:nvPr>
        </p:nvSpPr>
        <p:spPr/>
        <p:txBody>
          <a:bodyPr/>
          <a:lstStyle/>
          <a:p>
            <a:fld id="{4FE321F0-2018-4E50-8BB3-A5631EBD98DD}" type="slidenum">
              <a:rPr lang="en-US" smtClean="0"/>
              <a:t>55</a:t>
            </a:fld>
            <a:endParaRPr lang="en-US"/>
          </a:p>
        </p:txBody>
      </p:sp>
      <p:sp>
        <p:nvSpPr>
          <p:cNvPr id="4" name="object 4"/>
          <p:cNvSpPr txBox="1"/>
          <p:nvPr/>
        </p:nvSpPr>
        <p:spPr>
          <a:xfrm>
            <a:off x="961955" y="847430"/>
            <a:ext cx="1010210" cy="269399"/>
          </a:xfrm>
          <a:prstGeom prst="rect">
            <a:avLst/>
          </a:prstGeom>
        </p:spPr>
        <p:txBody>
          <a:bodyPr vert="horz" wrap="square" lIns="0" tIns="11206" rIns="0" bIns="0" rtlCol="0">
            <a:spAutoFit/>
          </a:bodyPr>
          <a:lstStyle/>
          <a:p>
            <a:pPr marL="11206">
              <a:spcBef>
                <a:spcPts val="88"/>
              </a:spcBef>
            </a:pPr>
            <a:r>
              <a:rPr sz="1677" dirty="0">
                <a:solidFill>
                  <a:srgbClr val="0332B7"/>
                </a:solidFill>
                <a:latin typeface="Calibri"/>
                <a:cs typeface="Calibri"/>
              </a:rPr>
              <a:t>Figure</a:t>
            </a:r>
            <a:r>
              <a:rPr sz="1677" spc="35" dirty="0">
                <a:solidFill>
                  <a:srgbClr val="0332B7"/>
                </a:solidFill>
                <a:latin typeface="Calibri"/>
                <a:cs typeface="Calibri"/>
              </a:rPr>
              <a:t> </a:t>
            </a:r>
            <a:r>
              <a:rPr sz="1677" spc="-18" dirty="0">
                <a:solidFill>
                  <a:srgbClr val="0332B7"/>
                </a:solidFill>
                <a:latin typeface="Calibri"/>
                <a:cs typeface="Calibri"/>
              </a:rPr>
              <a:t>C.22</a:t>
            </a:r>
            <a:endParaRPr sz="1677">
              <a:latin typeface="Calibri"/>
              <a:cs typeface="Calibri"/>
            </a:endParaRPr>
          </a:p>
        </p:txBody>
      </p:sp>
      <p:grpSp>
        <p:nvGrpSpPr>
          <p:cNvPr id="5" name="object 5"/>
          <p:cNvGrpSpPr/>
          <p:nvPr/>
        </p:nvGrpSpPr>
        <p:grpSpPr>
          <a:xfrm>
            <a:off x="2759885" y="1217595"/>
            <a:ext cx="5293659" cy="5091393"/>
            <a:chOff x="2975470" y="1379941"/>
            <a:chExt cx="5999480" cy="5770245"/>
          </a:xfrm>
        </p:grpSpPr>
        <p:sp>
          <p:nvSpPr>
            <p:cNvPr id="6" name="object 6"/>
            <p:cNvSpPr/>
            <p:nvPr/>
          </p:nvSpPr>
          <p:spPr>
            <a:xfrm>
              <a:off x="2991027" y="1395498"/>
              <a:ext cx="0" cy="5739130"/>
            </a:xfrm>
            <a:custGeom>
              <a:avLst/>
              <a:gdLst/>
              <a:ahLst/>
              <a:cxnLst/>
              <a:rect l="l" t="t" r="r" b="b"/>
              <a:pathLst>
                <a:path h="5739130">
                  <a:moveTo>
                    <a:pt x="0" y="0"/>
                  </a:moveTo>
                  <a:lnTo>
                    <a:pt x="1" y="5738989"/>
                  </a:lnTo>
                </a:path>
              </a:pathLst>
            </a:custGeom>
            <a:ln w="30718">
              <a:solidFill>
                <a:srgbClr val="000000"/>
              </a:solidFill>
            </a:ln>
          </p:spPr>
          <p:txBody>
            <a:bodyPr wrap="square" lIns="0" tIns="0" rIns="0" bIns="0" rtlCol="0"/>
            <a:lstStyle/>
            <a:p>
              <a:endParaRPr sz="1588"/>
            </a:p>
          </p:txBody>
        </p:sp>
        <p:sp>
          <p:nvSpPr>
            <p:cNvPr id="7" name="object 7"/>
            <p:cNvSpPr/>
            <p:nvPr/>
          </p:nvSpPr>
          <p:spPr>
            <a:xfrm>
              <a:off x="5061492" y="1395498"/>
              <a:ext cx="0" cy="5739130"/>
            </a:xfrm>
            <a:custGeom>
              <a:avLst/>
              <a:gdLst/>
              <a:ahLst/>
              <a:cxnLst/>
              <a:rect l="l" t="t" r="r" b="b"/>
              <a:pathLst>
                <a:path h="5739130">
                  <a:moveTo>
                    <a:pt x="0" y="0"/>
                  </a:moveTo>
                  <a:lnTo>
                    <a:pt x="1" y="5738989"/>
                  </a:lnTo>
                </a:path>
              </a:pathLst>
            </a:custGeom>
            <a:ln w="30718">
              <a:solidFill>
                <a:srgbClr val="000000"/>
              </a:solidFill>
            </a:ln>
          </p:spPr>
          <p:txBody>
            <a:bodyPr wrap="square" lIns="0" tIns="0" rIns="0" bIns="0" rtlCol="0"/>
            <a:lstStyle/>
            <a:p>
              <a:endParaRPr sz="1588"/>
            </a:p>
          </p:txBody>
        </p:sp>
        <p:sp>
          <p:nvSpPr>
            <p:cNvPr id="8" name="object 8"/>
            <p:cNvSpPr/>
            <p:nvPr/>
          </p:nvSpPr>
          <p:spPr>
            <a:xfrm>
              <a:off x="6986291" y="1395498"/>
              <a:ext cx="0" cy="5739130"/>
            </a:xfrm>
            <a:custGeom>
              <a:avLst/>
              <a:gdLst/>
              <a:ahLst/>
              <a:cxnLst/>
              <a:rect l="l" t="t" r="r" b="b"/>
              <a:pathLst>
                <a:path h="5739130">
                  <a:moveTo>
                    <a:pt x="0" y="0"/>
                  </a:moveTo>
                  <a:lnTo>
                    <a:pt x="1" y="5738989"/>
                  </a:lnTo>
                </a:path>
              </a:pathLst>
            </a:custGeom>
            <a:ln w="30718">
              <a:solidFill>
                <a:srgbClr val="000000"/>
              </a:solidFill>
            </a:ln>
          </p:spPr>
          <p:txBody>
            <a:bodyPr wrap="square" lIns="0" tIns="0" rIns="0" bIns="0" rtlCol="0"/>
            <a:lstStyle/>
            <a:p>
              <a:endParaRPr sz="1588"/>
            </a:p>
          </p:txBody>
        </p:sp>
        <p:sp>
          <p:nvSpPr>
            <p:cNvPr id="9" name="object 9"/>
            <p:cNvSpPr/>
            <p:nvPr/>
          </p:nvSpPr>
          <p:spPr>
            <a:xfrm>
              <a:off x="8573647" y="1395498"/>
              <a:ext cx="0" cy="5739130"/>
            </a:xfrm>
            <a:custGeom>
              <a:avLst/>
              <a:gdLst/>
              <a:ahLst/>
              <a:cxnLst/>
              <a:rect l="l" t="t" r="r" b="b"/>
              <a:pathLst>
                <a:path h="5739130">
                  <a:moveTo>
                    <a:pt x="0" y="0"/>
                  </a:moveTo>
                  <a:lnTo>
                    <a:pt x="1" y="5738989"/>
                  </a:lnTo>
                </a:path>
              </a:pathLst>
            </a:custGeom>
            <a:ln w="30718">
              <a:solidFill>
                <a:srgbClr val="000000"/>
              </a:solidFill>
            </a:ln>
          </p:spPr>
          <p:txBody>
            <a:bodyPr wrap="square" lIns="0" tIns="0" rIns="0" bIns="0" rtlCol="0"/>
            <a:lstStyle/>
            <a:p>
              <a:endParaRPr sz="1588"/>
            </a:p>
          </p:txBody>
        </p:sp>
        <p:sp>
          <p:nvSpPr>
            <p:cNvPr id="10" name="object 10"/>
            <p:cNvSpPr/>
            <p:nvPr/>
          </p:nvSpPr>
          <p:spPr>
            <a:xfrm>
              <a:off x="8237714" y="4874762"/>
              <a:ext cx="737235" cy="92710"/>
            </a:xfrm>
            <a:custGeom>
              <a:avLst/>
              <a:gdLst/>
              <a:ahLst/>
              <a:cxnLst/>
              <a:rect l="l" t="t" r="r" b="b"/>
              <a:pathLst>
                <a:path w="737234" h="92710">
                  <a:moveTo>
                    <a:pt x="645079" y="0"/>
                  </a:moveTo>
                  <a:lnTo>
                    <a:pt x="645079" y="92233"/>
                  </a:lnTo>
                  <a:lnTo>
                    <a:pt x="706517" y="61488"/>
                  </a:lnTo>
                  <a:lnTo>
                    <a:pt x="660439" y="61488"/>
                  </a:lnTo>
                  <a:lnTo>
                    <a:pt x="660439" y="30744"/>
                  </a:lnTo>
                  <a:lnTo>
                    <a:pt x="706516" y="30744"/>
                  </a:lnTo>
                  <a:lnTo>
                    <a:pt x="645079" y="0"/>
                  </a:lnTo>
                  <a:close/>
                </a:path>
                <a:path w="737234" h="92710">
                  <a:moveTo>
                    <a:pt x="645079" y="30744"/>
                  </a:moveTo>
                  <a:lnTo>
                    <a:pt x="0" y="30744"/>
                  </a:lnTo>
                  <a:lnTo>
                    <a:pt x="0" y="61488"/>
                  </a:lnTo>
                  <a:lnTo>
                    <a:pt x="645079" y="61488"/>
                  </a:lnTo>
                  <a:lnTo>
                    <a:pt x="645079" y="30744"/>
                  </a:lnTo>
                  <a:close/>
                </a:path>
                <a:path w="737234" h="92710">
                  <a:moveTo>
                    <a:pt x="706516" y="30744"/>
                  </a:moveTo>
                  <a:lnTo>
                    <a:pt x="660439" y="30744"/>
                  </a:lnTo>
                  <a:lnTo>
                    <a:pt x="660439" y="61488"/>
                  </a:lnTo>
                  <a:lnTo>
                    <a:pt x="706517" y="61488"/>
                  </a:lnTo>
                  <a:lnTo>
                    <a:pt x="737234" y="46116"/>
                  </a:lnTo>
                  <a:lnTo>
                    <a:pt x="706516" y="30744"/>
                  </a:lnTo>
                  <a:close/>
                </a:path>
              </a:pathLst>
            </a:custGeom>
            <a:solidFill>
              <a:srgbClr val="000000"/>
            </a:solidFill>
          </p:spPr>
          <p:txBody>
            <a:bodyPr wrap="square" lIns="0" tIns="0" rIns="0" bIns="0" rtlCol="0"/>
            <a:lstStyle/>
            <a:p>
              <a:endParaRPr sz="1588"/>
            </a:p>
          </p:txBody>
        </p:sp>
      </p:grpSp>
      <p:sp>
        <p:nvSpPr>
          <p:cNvPr id="11" name="object 11"/>
          <p:cNvSpPr txBox="1"/>
          <p:nvPr/>
        </p:nvSpPr>
        <p:spPr>
          <a:xfrm>
            <a:off x="6666044" y="1194584"/>
            <a:ext cx="815788" cy="910223"/>
          </a:xfrm>
          <a:prstGeom prst="rect">
            <a:avLst/>
          </a:prstGeom>
        </p:spPr>
        <p:txBody>
          <a:bodyPr vert="horz" wrap="square" lIns="0" tIns="80682" rIns="0" bIns="0" rtlCol="0">
            <a:spAutoFit/>
          </a:bodyPr>
          <a:lstStyle/>
          <a:p>
            <a:pPr marR="1121" algn="ctr">
              <a:spcBef>
                <a:spcPts val="635"/>
              </a:spcBef>
            </a:pPr>
            <a:r>
              <a:rPr sz="1677" b="1" spc="-44" dirty="0">
                <a:solidFill>
                  <a:srgbClr val="FF0000"/>
                </a:solidFill>
                <a:latin typeface="Times New Roman"/>
                <a:cs typeface="Times New Roman"/>
              </a:rPr>
              <a:t>4</a:t>
            </a:r>
            <a:endParaRPr sz="1677">
              <a:latin typeface="Times New Roman"/>
              <a:cs typeface="Times New Roman"/>
            </a:endParaRPr>
          </a:p>
          <a:p>
            <a:pPr marL="11206" marR="4483" algn="ctr">
              <a:lnSpc>
                <a:spcPct val="101099"/>
              </a:lnSpc>
              <a:spcBef>
                <a:spcPts val="529"/>
              </a:spcBef>
            </a:pPr>
            <a:r>
              <a:rPr sz="1677" b="1" spc="-9" dirty="0">
                <a:solidFill>
                  <a:srgbClr val="FF0000"/>
                </a:solidFill>
                <a:latin typeface="Times New Roman"/>
                <a:cs typeface="Times New Roman"/>
              </a:rPr>
              <a:t>Memory Access</a:t>
            </a:r>
            <a:endParaRPr sz="1677">
              <a:latin typeface="Times New Roman"/>
              <a:cs typeface="Times New Roman"/>
            </a:endParaRPr>
          </a:p>
        </p:txBody>
      </p:sp>
      <p:sp>
        <p:nvSpPr>
          <p:cNvPr id="12" name="object 12"/>
          <p:cNvSpPr txBox="1"/>
          <p:nvPr/>
        </p:nvSpPr>
        <p:spPr>
          <a:xfrm>
            <a:off x="7881668" y="1189205"/>
            <a:ext cx="559174" cy="928705"/>
          </a:xfrm>
          <a:prstGeom prst="rect">
            <a:avLst/>
          </a:prstGeom>
        </p:spPr>
        <p:txBody>
          <a:bodyPr vert="horz" wrap="square" lIns="0" tIns="86285" rIns="0" bIns="0" rtlCol="0">
            <a:spAutoFit/>
          </a:bodyPr>
          <a:lstStyle/>
          <a:p>
            <a:pPr marL="272878">
              <a:spcBef>
                <a:spcPts val="679"/>
              </a:spcBef>
            </a:pPr>
            <a:r>
              <a:rPr sz="1677" b="1" spc="-44" dirty="0">
                <a:latin typeface="Times New Roman"/>
                <a:cs typeface="Times New Roman"/>
              </a:rPr>
              <a:t>5</a:t>
            </a:r>
            <a:endParaRPr sz="1677">
              <a:latin typeface="Times New Roman"/>
              <a:cs typeface="Times New Roman"/>
            </a:endParaRPr>
          </a:p>
          <a:p>
            <a:pPr marL="44826" marR="4483" indent="-34180">
              <a:lnSpc>
                <a:spcPct val="101099"/>
              </a:lnSpc>
              <a:spcBef>
                <a:spcPts val="569"/>
              </a:spcBef>
            </a:pPr>
            <a:r>
              <a:rPr sz="1677" b="1" spc="-9" dirty="0">
                <a:latin typeface="Times New Roman"/>
                <a:cs typeface="Times New Roman"/>
              </a:rPr>
              <a:t>Write </a:t>
            </a:r>
            <a:r>
              <a:rPr sz="1677" b="1" spc="-18" dirty="0">
                <a:latin typeface="Times New Roman"/>
                <a:cs typeface="Times New Roman"/>
              </a:rPr>
              <a:t>Back</a:t>
            </a:r>
            <a:endParaRPr sz="1677">
              <a:latin typeface="Times New Roman"/>
              <a:cs typeface="Times New Roman"/>
            </a:endParaRPr>
          </a:p>
        </p:txBody>
      </p:sp>
      <p:sp>
        <p:nvSpPr>
          <p:cNvPr id="13" name="object 13"/>
          <p:cNvSpPr txBox="1"/>
          <p:nvPr/>
        </p:nvSpPr>
        <p:spPr>
          <a:xfrm>
            <a:off x="3056815" y="1189205"/>
            <a:ext cx="1241612" cy="928705"/>
          </a:xfrm>
          <a:prstGeom prst="rect">
            <a:avLst/>
          </a:prstGeom>
        </p:spPr>
        <p:txBody>
          <a:bodyPr vert="horz" wrap="square" lIns="0" tIns="86285" rIns="0" bIns="0" rtlCol="0">
            <a:spAutoFit/>
          </a:bodyPr>
          <a:lstStyle/>
          <a:p>
            <a:pPr marL="174261" algn="ctr">
              <a:spcBef>
                <a:spcPts val="679"/>
              </a:spcBef>
            </a:pPr>
            <a:r>
              <a:rPr sz="1677" b="1" spc="-44" dirty="0">
                <a:latin typeface="Times New Roman"/>
                <a:cs typeface="Times New Roman"/>
              </a:rPr>
              <a:t>2</a:t>
            </a:r>
            <a:endParaRPr sz="1677">
              <a:latin typeface="Times New Roman"/>
              <a:cs typeface="Times New Roman"/>
            </a:endParaRPr>
          </a:p>
          <a:p>
            <a:pPr marL="11206" marR="4483" algn="ctr">
              <a:lnSpc>
                <a:spcPct val="101099"/>
              </a:lnSpc>
              <a:spcBef>
                <a:spcPts val="569"/>
              </a:spcBef>
            </a:pPr>
            <a:r>
              <a:rPr sz="1677" b="1" spc="-9" dirty="0">
                <a:latin typeface="Times New Roman"/>
                <a:cs typeface="Times New Roman"/>
              </a:rPr>
              <a:t>Instr.</a:t>
            </a:r>
            <a:r>
              <a:rPr sz="1677" b="1" spc="-71" dirty="0">
                <a:latin typeface="Times New Roman"/>
                <a:cs typeface="Times New Roman"/>
              </a:rPr>
              <a:t> </a:t>
            </a:r>
            <a:r>
              <a:rPr sz="1677" b="1" spc="-9" dirty="0">
                <a:latin typeface="Times New Roman"/>
                <a:cs typeface="Times New Roman"/>
              </a:rPr>
              <a:t>Decode </a:t>
            </a:r>
            <a:r>
              <a:rPr sz="1677" b="1" dirty="0">
                <a:latin typeface="Times New Roman"/>
                <a:cs typeface="Times New Roman"/>
              </a:rPr>
              <a:t>Reg.</a:t>
            </a:r>
            <a:r>
              <a:rPr sz="1677" b="1" spc="53" dirty="0">
                <a:latin typeface="Times New Roman"/>
                <a:cs typeface="Times New Roman"/>
              </a:rPr>
              <a:t> </a:t>
            </a:r>
            <a:r>
              <a:rPr sz="1677" b="1" spc="-18" dirty="0">
                <a:latin typeface="Times New Roman"/>
                <a:cs typeface="Times New Roman"/>
              </a:rPr>
              <a:t>Fetch</a:t>
            </a:r>
            <a:endParaRPr sz="1677">
              <a:latin typeface="Times New Roman"/>
              <a:cs typeface="Times New Roman"/>
            </a:endParaRPr>
          </a:p>
        </p:txBody>
      </p:sp>
      <p:grpSp>
        <p:nvGrpSpPr>
          <p:cNvPr id="14" name="object 14"/>
          <p:cNvGrpSpPr/>
          <p:nvPr/>
        </p:nvGrpSpPr>
        <p:grpSpPr>
          <a:xfrm>
            <a:off x="1607079" y="3460142"/>
            <a:ext cx="4429125" cy="1067360"/>
            <a:chOff x="1668956" y="3921494"/>
            <a:chExt cx="5019675" cy="1209675"/>
          </a:xfrm>
        </p:grpSpPr>
        <p:sp>
          <p:nvSpPr>
            <p:cNvPr id="15" name="object 15"/>
            <p:cNvSpPr/>
            <p:nvPr/>
          </p:nvSpPr>
          <p:spPr>
            <a:xfrm>
              <a:off x="6215440" y="3937052"/>
              <a:ext cx="457834" cy="1178560"/>
            </a:xfrm>
            <a:custGeom>
              <a:avLst/>
              <a:gdLst/>
              <a:ahLst/>
              <a:cxnLst/>
              <a:rect l="l" t="t" r="r" b="b"/>
              <a:pathLst>
                <a:path w="457834" h="1178560">
                  <a:moveTo>
                    <a:pt x="0" y="0"/>
                  </a:moveTo>
                  <a:lnTo>
                    <a:pt x="0" y="1178542"/>
                  </a:lnTo>
                  <a:lnTo>
                    <a:pt x="457360" y="883906"/>
                  </a:lnTo>
                  <a:lnTo>
                    <a:pt x="457360" y="294634"/>
                  </a:lnTo>
                  <a:lnTo>
                    <a:pt x="0" y="0"/>
                  </a:lnTo>
                  <a:close/>
                </a:path>
              </a:pathLst>
            </a:custGeom>
            <a:solidFill>
              <a:srgbClr val="618FFD"/>
            </a:solidFill>
          </p:spPr>
          <p:txBody>
            <a:bodyPr wrap="square" lIns="0" tIns="0" rIns="0" bIns="0" rtlCol="0"/>
            <a:lstStyle/>
            <a:p>
              <a:endParaRPr sz="1588"/>
            </a:p>
          </p:txBody>
        </p:sp>
        <p:sp>
          <p:nvSpPr>
            <p:cNvPr id="16" name="object 16"/>
            <p:cNvSpPr/>
            <p:nvPr/>
          </p:nvSpPr>
          <p:spPr>
            <a:xfrm>
              <a:off x="6215440" y="3937051"/>
              <a:ext cx="457834" cy="1178560"/>
            </a:xfrm>
            <a:custGeom>
              <a:avLst/>
              <a:gdLst/>
              <a:ahLst/>
              <a:cxnLst/>
              <a:rect l="l" t="t" r="r" b="b"/>
              <a:pathLst>
                <a:path w="457834" h="1178560">
                  <a:moveTo>
                    <a:pt x="0" y="1178542"/>
                  </a:moveTo>
                  <a:lnTo>
                    <a:pt x="457359" y="883906"/>
                  </a:lnTo>
                  <a:lnTo>
                    <a:pt x="457359" y="294635"/>
                  </a:lnTo>
                  <a:lnTo>
                    <a:pt x="0" y="0"/>
                  </a:lnTo>
                  <a:lnTo>
                    <a:pt x="0" y="1178542"/>
                  </a:lnTo>
                  <a:close/>
                </a:path>
              </a:pathLst>
            </a:custGeom>
            <a:ln w="30741">
              <a:solidFill>
                <a:srgbClr val="000000"/>
              </a:solidFill>
            </a:ln>
          </p:spPr>
          <p:txBody>
            <a:bodyPr wrap="square" lIns="0" tIns="0" rIns="0" bIns="0" rtlCol="0"/>
            <a:lstStyle/>
            <a:p>
              <a:endParaRPr sz="1588"/>
            </a:p>
          </p:txBody>
        </p:sp>
        <p:sp>
          <p:nvSpPr>
            <p:cNvPr id="17" name="object 17"/>
            <p:cNvSpPr/>
            <p:nvPr/>
          </p:nvSpPr>
          <p:spPr>
            <a:xfrm>
              <a:off x="6189840" y="4295241"/>
              <a:ext cx="220345" cy="356870"/>
            </a:xfrm>
            <a:custGeom>
              <a:avLst/>
              <a:gdLst/>
              <a:ahLst/>
              <a:cxnLst/>
              <a:rect l="l" t="t" r="r" b="b"/>
              <a:pathLst>
                <a:path w="220345" h="356870">
                  <a:moveTo>
                    <a:pt x="220141" y="178371"/>
                  </a:moveTo>
                  <a:lnTo>
                    <a:pt x="202247" y="163880"/>
                  </a:lnTo>
                  <a:lnTo>
                    <a:pt x="20472" y="0"/>
                  </a:lnTo>
                  <a:lnTo>
                    <a:pt x="20472" y="16598"/>
                  </a:lnTo>
                  <a:lnTo>
                    <a:pt x="0" y="0"/>
                  </a:lnTo>
                  <a:lnTo>
                    <a:pt x="0" y="356743"/>
                  </a:lnTo>
                  <a:lnTo>
                    <a:pt x="20472" y="340156"/>
                  </a:lnTo>
                  <a:lnTo>
                    <a:pt x="20472" y="353847"/>
                  </a:lnTo>
                  <a:lnTo>
                    <a:pt x="170522" y="218579"/>
                  </a:lnTo>
                  <a:lnTo>
                    <a:pt x="220141" y="178371"/>
                  </a:lnTo>
                  <a:close/>
                </a:path>
              </a:pathLst>
            </a:custGeom>
            <a:solidFill>
              <a:srgbClr val="FFFFFF"/>
            </a:solidFill>
          </p:spPr>
          <p:txBody>
            <a:bodyPr wrap="square" lIns="0" tIns="0" rIns="0" bIns="0" rtlCol="0"/>
            <a:lstStyle/>
            <a:p>
              <a:endParaRPr sz="1588"/>
            </a:p>
          </p:txBody>
        </p:sp>
        <p:sp>
          <p:nvSpPr>
            <p:cNvPr id="18" name="object 18"/>
            <p:cNvSpPr/>
            <p:nvPr/>
          </p:nvSpPr>
          <p:spPr>
            <a:xfrm>
              <a:off x="6210321" y="4295235"/>
              <a:ext cx="196850" cy="354330"/>
            </a:xfrm>
            <a:custGeom>
              <a:avLst/>
              <a:gdLst/>
              <a:ahLst/>
              <a:cxnLst/>
              <a:rect l="l" t="t" r="r" b="b"/>
              <a:pathLst>
                <a:path w="196850" h="354329">
                  <a:moveTo>
                    <a:pt x="0" y="0"/>
                  </a:moveTo>
                  <a:lnTo>
                    <a:pt x="196255" y="176925"/>
                  </a:lnTo>
                  <a:lnTo>
                    <a:pt x="0" y="353851"/>
                  </a:lnTo>
                </a:path>
              </a:pathLst>
            </a:custGeom>
            <a:ln w="30738">
              <a:solidFill>
                <a:srgbClr val="000000"/>
              </a:solidFill>
            </a:ln>
          </p:spPr>
          <p:txBody>
            <a:bodyPr wrap="square" lIns="0" tIns="0" rIns="0" bIns="0" rtlCol="0"/>
            <a:lstStyle/>
            <a:p>
              <a:endParaRPr sz="1588"/>
            </a:p>
          </p:txBody>
        </p:sp>
        <p:sp>
          <p:nvSpPr>
            <p:cNvPr id="19" name="object 19"/>
            <p:cNvSpPr/>
            <p:nvPr/>
          </p:nvSpPr>
          <p:spPr>
            <a:xfrm>
              <a:off x="1684513" y="3937052"/>
              <a:ext cx="819150" cy="984250"/>
            </a:xfrm>
            <a:custGeom>
              <a:avLst/>
              <a:gdLst/>
              <a:ahLst/>
              <a:cxnLst/>
              <a:rect l="l" t="t" r="r" b="b"/>
              <a:pathLst>
                <a:path w="819150" h="984250">
                  <a:moveTo>
                    <a:pt x="819150" y="0"/>
                  </a:moveTo>
                  <a:lnTo>
                    <a:pt x="0" y="0"/>
                  </a:lnTo>
                  <a:lnTo>
                    <a:pt x="0" y="983825"/>
                  </a:lnTo>
                  <a:lnTo>
                    <a:pt x="819150" y="983825"/>
                  </a:lnTo>
                  <a:lnTo>
                    <a:pt x="819150" y="0"/>
                  </a:lnTo>
                  <a:close/>
                </a:path>
              </a:pathLst>
            </a:custGeom>
            <a:solidFill>
              <a:srgbClr val="618FFD"/>
            </a:solidFill>
          </p:spPr>
          <p:txBody>
            <a:bodyPr wrap="square" lIns="0" tIns="0" rIns="0" bIns="0" rtlCol="0"/>
            <a:lstStyle/>
            <a:p>
              <a:endParaRPr sz="1588"/>
            </a:p>
          </p:txBody>
        </p:sp>
        <p:sp>
          <p:nvSpPr>
            <p:cNvPr id="20" name="object 20"/>
            <p:cNvSpPr/>
            <p:nvPr/>
          </p:nvSpPr>
          <p:spPr>
            <a:xfrm>
              <a:off x="1684513" y="3937052"/>
              <a:ext cx="819150" cy="984250"/>
            </a:xfrm>
            <a:custGeom>
              <a:avLst/>
              <a:gdLst/>
              <a:ahLst/>
              <a:cxnLst/>
              <a:rect l="l" t="t" r="r" b="b"/>
              <a:pathLst>
                <a:path w="819150" h="984250">
                  <a:moveTo>
                    <a:pt x="0" y="0"/>
                  </a:moveTo>
                  <a:lnTo>
                    <a:pt x="819149" y="0"/>
                  </a:lnTo>
                  <a:lnTo>
                    <a:pt x="819149" y="983826"/>
                  </a:lnTo>
                  <a:lnTo>
                    <a:pt x="0" y="983826"/>
                  </a:lnTo>
                  <a:lnTo>
                    <a:pt x="0" y="0"/>
                  </a:lnTo>
                  <a:close/>
                </a:path>
              </a:pathLst>
            </a:custGeom>
            <a:ln w="30728">
              <a:solidFill>
                <a:srgbClr val="000000"/>
              </a:solidFill>
            </a:ln>
          </p:spPr>
          <p:txBody>
            <a:bodyPr wrap="square" lIns="0" tIns="0" rIns="0" bIns="0" rtlCol="0"/>
            <a:lstStyle/>
            <a:p>
              <a:endParaRPr sz="1588"/>
            </a:p>
          </p:txBody>
        </p:sp>
      </p:grpSp>
      <p:sp>
        <p:nvSpPr>
          <p:cNvPr id="21" name="object 21"/>
          <p:cNvSpPr txBox="1"/>
          <p:nvPr/>
        </p:nvSpPr>
        <p:spPr>
          <a:xfrm>
            <a:off x="1855713" y="3526716"/>
            <a:ext cx="243656" cy="768723"/>
          </a:xfrm>
          <a:prstGeom prst="rect">
            <a:avLst/>
          </a:prstGeom>
        </p:spPr>
        <p:txBody>
          <a:bodyPr vert="vert" wrap="square" lIns="0" tIns="0" rIns="0" bIns="0" rtlCol="0">
            <a:spAutoFit/>
          </a:bodyPr>
          <a:lstStyle/>
          <a:p>
            <a:pPr marL="11206">
              <a:lnSpc>
                <a:spcPts val="1915"/>
              </a:lnSpc>
            </a:pPr>
            <a:r>
              <a:rPr sz="1677" spc="-9" dirty="0">
                <a:latin typeface="Times New Roman"/>
                <a:cs typeface="Times New Roman"/>
              </a:rPr>
              <a:t>Memory</a:t>
            </a:r>
            <a:endParaRPr sz="1677">
              <a:latin typeface="Times New Roman"/>
              <a:cs typeface="Times New Roman"/>
            </a:endParaRPr>
          </a:p>
        </p:txBody>
      </p:sp>
      <p:grpSp>
        <p:nvGrpSpPr>
          <p:cNvPr id="22" name="object 22"/>
          <p:cNvGrpSpPr/>
          <p:nvPr/>
        </p:nvGrpSpPr>
        <p:grpSpPr>
          <a:xfrm>
            <a:off x="3775418" y="2788145"/>
            <a:ext cx="3186952" cy="1861857"/>
            <a:chOff x="4126406" y="3159897"/>
            <a:chExt cx="3611879" cy="2110105"/>
          </a:xfrm>
        </p:grpSpPr>
        <p:sp>
          <p:nvSpPr>
            <p:cNvPr id="23" name="object 23"/>
            <p:cNvSpPr/>
            <p:nvPr/>
          </p:nvSpPr>
          <p:spPr>
            <a:xfrm>
              <a:off x="6700101" y="3159897"/>
              <a:ext cx="1037590" cy="408305"/>
            </a:xfrm>
            <a:custGeom>
              <a:avLst/>
              <a:gdLst/>
              <a:ahLst/>
              <a:cxnLst/>
              <a:rect l="l" t="t" r="r" b="b"/>
              <a:pathLst>
                <a:path w="1037590" h="408304">
                  <a:moveTo>
                    <a:pt x="976153" y="377475"/>
                  </a:moveTo>
                  <a:lnTo>
                    <a:pt x="0" y="377475"/>
                  </a:lnTo>
                  <a:lnTo>
                    <a:pt x="0" y="408219"/>
                  </a:lnTo>
                  <a:lnTo>
                    <a:pt x="999995" y="408219"/>
                  </a:lnTo>
                  <a:lnTo>
                    <a:pt x="1006871" y="401337"/>
                  </a:lnTo>
                  <a:lnTo>
                    <a:pt x="1006871" y="392847"/>
                  </a:lnTo>
                  <a:lnTo>
                    <a:pt x="976153" y="392847"/>
                  </a:lnTo>
                  <a:lnTo>
                    <a:pt x="976153" y="377475"/>
                  </a:lnTo>
                  <a:close/>
                </a:path>
                <a:path w="1037590" h="408304">
                  <a:moveTo>
                    <a:pt x="1006871" y="76861"/>
                  </a:moveTo>
                  <a:lnTo>
                    <a:pt x="976153" y="76861"/>
                  </a:lnTo>
                  <a:lnTo>
                    <a:pt x="976153" y="392847"/>
                  </a:lnTo>
                  <a:lnTo>
                    <a:pt x="991513" y="377475"/>
                  </a:lnTo>
                  <a:lnTo>
                    <a:pt x="1006871" y="377475"/>
                  </a:lnTo>
                  <a:lnTo>
                    <a:pt x="1006871" y="76861"/>
                  </a:lnTo>
                  <a:close/>
                </a:path>
                <a:path w="1037590" h="408304">
                  <a:moveTo>
                    <a:pt x="1006871" y="377475"/>
                  </a:moveTo>
                  <a:lnTo>
                    <a:pt x="991513" y="377475"/>
                  </a:lnTo>
                  <a:lnTo>
                    <a:pt x="976153" y="392847"/>
                  </a:lnTo>
                  <a:lnTo>
                    <a:pt x="1006871" y="392847"/>
                  </a:lnTo>
                  <a:lnTo>
                    <a:pt x="1006871" y="377475"/>
                  </a:lnTo>
                  <a:close/>
                </a:path>
                <a:path w="1037590" h="408304">
                  <a:moveTo>
                    <a:pt x="991513" y="0"/>
                  </a:moveTo>
                  <a:lnTo>
                    <a:pt x="945434" y="92233"/>
                  </a:lnTo>
                  <a:lnTo>
                    <a:pt x="976153" y="92233"/>
                  </a:lnTo>
                  <a:lnTo>
                    <a:pt x="976153" y="76861"/>
                  </a:lnTo>
                  <a:lnTo>
                    <a:pt x="1029910" y="76861"/>
                  </a:lnTo>
                  <a:lnTo>
                    <a:pt x="991513" y="0"/>
                  </a:lnTo>
                  <a:close/>
                </a:path>
                <a:path w="1037590" h="408304">
                  <a:moveTo>
                    <a:pt x="1029910" y="76861"/>
                  </a:moveTo>
                  <a:lnTo>
                    <a:pt x="1006871" y="76861"/>
                  </a:lnTo>
                  <a:lnTo>
                    <a:pt x="1006871" y="92233"/>
                  </a:lnTo>
                  <a:lnTo>
                    <a:pt x="1037590" y="92233"/>
                  </a:lnTo>
                  <a:lnTo>
                    <a:pt x="1029910" y="76861"/>
                  </a:lnTo>
                  <a:close/>
                </a:path>
              </a:pathLst>
            </a:custGeom>
            <a:solidFill>
              <a:srgbClr val="000000"/>
            </a:solidFill>
          </p:spPr>
          <p:txBody>
            <a:bodyPr wrap="square" lIns="0" tIns="0" rIns="0" bIns="0" rtlCol="0"/>
            <a:lstStyle/>
            <a:p>
              <a:endParaRPr sz="1588"/>
            </a:p>
          </p:txBody>
        </p:sp>
        <p:sp>
          <p:nvSpPr>
            <p:cNvPr id="24" name="object 24"/>
            <p:cNvSpPr/>
            <p:nvPr/>
          </p:nvSpPr>
          <p:spPr>
            <a:xfrm>
              <a:off x="4141964" y="3665475"/>
              <a:ext cx="635000" cy="1588770"/>
            </a:xfrm>
            <a:custGeom>
              <a:avLst/>
              <a:gdLst/>
              <a:ahLst/>
              <a:cxnLst/>
              <a:rect l="l" t="t" r="r" b="b"/>
              <a:pathLst>
                <a:path w="635000" h="1588770">
                  <a:moveTo>
                    <a:pt x="634841" y="0"/>
                  </a:moveTo>
                  <a:lnTo>
                    <a:pt x="0" y="0"/>
                  </a:lnTo>
                  <a:lnTo>
                    <a:pt x="0" y="1588469"/>
                  </a:lnTo>
                  <a:lnTo>
                    <a:pt x="634841" y="1588469"/>
                  </a:lnTo>
                  <a:lnTo>
                    <a:pt x="634841" y="0"/>
                  </a:lnTo>
                  <a:close/>
                </a:path>
              </a:pathLst>
            </a:custGeom>
            <a:solidFill>
              <a:srgbClr val="618FFD"/>
            </a:solidFill>
          </p:spPr>
          <p:txBody>
            <a:bodyPr wrap="square" lIns="0" tIns="0" rIns="0" bIns="0" rtlCol="0"/>
            <a:lstStyle/>
            <a:p>
              <a:endParaRPr sz="1588"/>
            </a:p>
          </p:txBody>
        </p:sp>
        <p:sp>
          <p:nvSpPr>
            <p:cNvPr id="25" name="object 25"/>
            <p:cNvSpPr/>
            <p:nvPr/>
          </p:nvSpPr>
          <p:spPr>
            <a:xfrm>
              <a:off x="4141964" y="3665475"/>
              <a:ext cx="635000" cy="1588770"/>
            </a:xfrm>
            <a:custGeom>
              <a:avLst/>
              <a:gdLst/>
              <a:ahLst/>
              <a:cxnLst/>
              <a:rect l="l" t="t" r="r" b="b"/>
              <a:pathLst>
                <a:path w="635000" h="1588770">
                  <a:moveTo>
                    <a:pt x="0" y="0"/>
                  </a:moveTo>
                  <a:lnTo>
                    <a:pt x="634841" y="0"/>
                  </a:lnTo>
                  <a:lnTo>
                    <a:pt x="634841" y="1588470"/>
                  </a:lnTo>
                  <a:lnTo>
                    <a:pt x="0" y="1588470"/>
                  </a:lnTo>
                  <a:lnTo>
                    <a:pt x="0" y="0"/>
                  </a:lnTo>
                  <a:close/>
                </a:path>
              </a:pathLst>
            </a:custGeom>
            <a:ln w="30721">
              <a:solidFill>
                <a:srgbClr val="000000"/>
              </a:solidFill>
            </a:ln>
          </p:spPr>
          <p:txBody>
            <a:bodyPr wrap="square" lIns="0" tIns="0" rIns="0" bIns="0" rtlCol="0"/>
            <a:lstStyle/>
            <a:p>
              <a:endParaRPr sz="1588"/>
            </a:p>
          </p:txBody>
        </p:sp>
      </p:grpSp>
      <p:sp>
        <p:nvSpPr>
          <p:cNvPr id="26" name="object 26"/>
          <p:cNvSpPr txBox="1"/>
          <p:nvPr/>
        </p:nvSpPr>
        <p:spPr>
          <a:xfrm>
            <a:off x="3942737" y="3556298"/>
            <a:ext cx="243656" cy="763120"/>
          </a:xfrm>
          <a:prstGeom prst="rect">
            <a:avLst/>
          </a:prstGeom>
        </p:spPr>
        <p:txBody>
          <a:bodyPr vert="vert" wrap="square" lIns="0" tIns="0" rIns="0" bIns="0" rtlCol="0">
            <a:spAutoFit/>
          </a:bodyPr>
          <a:lstStyle/>
          <a:p>
            <a:pPr marL="11206">
              <a:lnSpc>
                <a:spcPts val="1915"/>
              </a:lnSpc>
            </a:pPr>
            <a:r>
              <a:rPr sz="1677" dirty="0">
                <a:latin typeface="Times New Roman"/>
                <a:cs typeface="Times New Roman"/>
              </a:rPr>
              <a:t>Reg</a:t>
            </a:r>
            <a:r>
              <a:rPr sz="1677" spc="53" dirty="0">
                <a:latin typeface="Times New Roman"/>
                <a:cs typeface="Times New Roman"/>
              </a:rPr>
              <a:t> </a:t>
            </a:r>
            <a:r>
              <a:rPr sz="1677" spc="-18" dirty="0">
                <a:latin typeface="Times New Roman"/>
                <a:cs typeface="Times New Roman"/>
              </a:rPr>
              <a:t>File</a:t>
            </a:r>
            <a:endParaRPr sz="1677">
              <a:latin typeface="Times New Roman"/>
              <a:cs typeface="Times New Roman"/>
            </a:endParaRPr>
          </a:p>
        </p:txBody>
      </p:sp>
      <p:grpSp>
        <p:nvGrpSpPr>
          <p:cNvPr id="27" name="object 27"/>
          <p:cNvGrpSpPr/>
          <p:nvPr/>
        </p:nvGrpSpPr>
        <p:grpSpPr>
          <a:xfrm>
            <a:off x="5165261" y="3410408"/>
            <a:ext cx="226359" cy="552450"/>
            <a:chOff x="5701563" y="3865129"/>
            <a:chExt cx="256540" cy="626110"/>
          </a:xfrm>
        </p:grpSpPr>
        <p:sp>
          <p:nvSpPr>
            <p:cNvPr id="28" name="object 28"/>
            <p:cNvSpPr/>
            <p:nvPr/>
          </p:nvSpPr>
          <p:spPr>
            <a:xfrm>
              <a:off x="5717120" y="3880687"/>
              <a:ext cx="225425" cy="594995"/>
            </a:xfrm>
            <a:custGeom>
              <a:avLst/>
              <a:gdLst/>
              <a:ahLst/>
              <a:cxnLst/>
              <a:rect l="l" t="t" r="r" b="b"/>
              <a:pathLst>
                <a:path w="225425" h="594995">
                  <a:moveTo>
                    <a:pt x="112633" y="0"/>
                  </a:moveTo>
                  <a:lnTo>
                    <a:pt x="63100" y="30207"/>
                  </a:lnTo>
                  <a:lnTo>
                    <a:pt x="42187" y="65291"/>
                  </a:lnTo>
                  <a:lnTo>
                    <a:pt x="24744" y="111315"/>
                  </a:lnTo>
                  <a:lnTo>
                    <a:pt x="11448" y="166497"/>
                  </a:lnTo>
                  <a:lnTo>
                    <a:pt x="2974" y="229053"/>
                  </a:lnTo>
                  <a:lnTo>
                    <a:pt x="0" y="297197"/>
                  </a:lnTo>
                  <a:lnTo>
                    <a:pt x="2974" y="365342"/>
                  </a:lnTo>
                  <a:lnTo>
                    <a:pt x="11448" y="427897"/>
                  </a:lnTo>
                  <a:lnTo>
                    <a:pt x="24744" y="483079"/>
                  </a:lnTo>
                  <a:lnTo>
                    <a:pt x="42187" y="529104"/>
                  </a:lnTo>
                  <a:lnTo>
                    <a:pt x="63100" y="564187"/>
                  </a:lnTo>
                  <a:lnTo>
                    <a:pt x="112633" y="594395"/>
                  </a:lnTo>
                  <a:lnTo>
                    <a:pt x="138459" y="586546"/>
                  </a:lnTo>
                  <a:lnTo>
                    <a:pt x="183079" y="529104"/>
                  </a:lnTo>
                  <a:lnTo>
                    <a:pt x="200522" y="483079"/>
                  </a:lnTo>
                  <a:lnTo>
                    <a:pt x="213818" y="427897"/>
                  </a:lnTo>
                  <a:lnTo>
                    <a:pt x="222291" y="365342"/>
                  </a:lnTo>
                  <a:lnTo>
                    <a:pt x="225266" y="297197"/>
                  </a:lnTo>
                  <a:lnTo>
                    <a:pt x="222291" y="229053"/>
                  </a:lnTo>
                  <a:lnTo>
                    <a:pt x="213818" y="166497"/>
                  </a:lnTo>
                  <a:lnTo>
                    <a:pt x="200522" y="111315"/>
                  </a:lnTo>
                  <a:lnTo>
                    <a:pt x="183079" y="65291"/>
                  </a:lnTo>
                  <a:lnTo>
                    <a:pt x="162166" y="30207"/>
                  </a:lnTo>
                  <a:lnTo>
                    <a:pt x="112633" y="0"/>
                  </a:lnTo>
                  <a:close/>
                </a:path>
              </a:pathLst>
            </a:custGeom>
            <a:solidFill>
              <a:srgbClr val="618FFD"/>
            </a:solidFill>
          </p:spPr>
          <p:txBody>
            <a:bodyPr wrap="square" lIns="0" tIns="0" rIns="0" bIns="0" rtlCol="0"/>
            <a:lstStyle/>
            <a:p>
              <a:endParaRPr sz="1588"/>
            </a:p>
          </p:txBody>
        </p:sp>
        <p:sp>
          <p:nvSpPr>
            <p:cNvPr id="29" name="object 29"/>
            <p:cNvSpPr/>
            <p:nvPr/>
          </p:nvSpPr>
          <p:spPr>
            <a:xfrm>
              <a:off x="5717120" y="3880687"/>
              <a:ext cx="225425" cy="594995"/>
            </a:xfrm>
            <a:custGeom>
              <a:avLst/>
              <a:gdLst/>
              <a:ahLst/>
              <a:cxnLst/>
              <a:rect l="l" t="t" r="r" b="b"/>
              <a:pathLst>
                <a:path w="225425" h="594995">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30" name="object 30"/>
          <p:cNvSpPr txBox="1"/>
          <p:nvPr/>
        </p:nvSpPr>
        <p:spPr>
          <a:xfrm>
            <a:off x="5204320" y="3510578"/>
            <a:ext cx="166712" cy="360269"/>
          </a:xfrm>
          <a:prstGeom prst="rect">
            <a:avLst/>
          </a:prstGeom>
        </p:spPr>
        <p:txBody>
          <a:bodyPr vert="vert" wrap="square" lIns="0" tIns="0" rIns="0" bIns="0" rtlCol="0">
            <a:spAutoFit/>
          </a:bodyPr>
          <a:lstStyle/>
          <a:p>
            <a:pPr marL="11206">
              <a:lnSpc>
                <a:spcPts val="1337"/>
              </a:lnSpc>
            </a:pPr>
            <a:r>
              <a:rPr sz="1147" spc="-22" dirty="0">
                <a:latin typeface="Times New Roman"/>
                <a:cs typeface="Times New Roman"/>
              </a:rPr>
              <a:t>MUX</a:t>
            </a:r>
            <a:endParaRPr sz="1147">
              <a:latin typeface="Times New Roman"/>
              <a:cs typeface="Times New Roman"/>
            </a:endParaRPr>
          </a:p>
        </p:txBody>
      </p:sp>
      <p:grpSp>
        <p:nvGrpSpPr>
          <p:cNvPr id="31" name="object 31"/>
          <p:cNvGrpSpPr/>
          <p:nvPr/>
        </p:nvGrpSpPr>
        <p:grpSpPr>
          <a:xfrm>
            <a:off x="5165261" y="3989129"/>
            <a:ext cx="226359" cy="552450"/>
            <a:chOff x="5701563" y="4521013"/>
            <a:chExt cx="256540" cy="626110"/>
          </a:xfrm>
        </p:grpSpPr>
        <p:sp>
          <p:nvSpPr>
            <p:cNvPr id="32" name="object 32"/>
            <p:cNvSpPr/>
            <p:nvPr/>
          </p:nvSpPr>
          <p:spPr>
            <a:xfrm>
              <a:off x="5717120" y="4536570"/>
              <a:ext cx="225425" cy="594995"/>
            </a:xfrm>
            <a:custGeom>
              <a:avLst/>
              <a:gdLst/>
              <a:ahLst/>
              <a:cxnLst/>
              <a:rect l="l" t="t" r="r" b="b"/>
              <a:pathLst>
                <a:path w="225425" h="594995">
                  <a:moveTo>
                    <a:pt x="112633" y="0"/>
                  </a:moveTo>
                  <a:lnTo>
                    <a:pt x="63100" y="30207"/>
                  </a:lnTo>
                  <a:lnTo>
                    <a:pt x="42187" y="65291"/>
                  </a:lnTo>
                  <a:lnTo>
                    <a:pt x="24744" y="111315"/>
                  </a:lnTo>
                  <a:lnTo>
                    <a:pt x="11448" y="166497"/>
                  </a:lnTo>
                  <a:lnTo>
                    <a:pt x="2974" y="229053"/>
                  </a:lnTo>
                  <a:lnTo>
                    <a:pt x="0" y="297197"/>
                  </a:lnTo>
                  <a:lnTo>
                    <a:pt x="2974" y="365342"/>
                  </a:lnTo>
                  <a:lnTo>
                    <a:pt x="11448" y="427898"/>
                  </a:lnTo>
                  <a:lnTo>
                    <a:pt x="24744" y="483080"/>
                  </a:lnTo>
                  <a:lnTo>
                    <a:pt x="42187" y="529104"/>
                  </a:lnTo>
                  <a:lnTo>
                    <a:pt x="63100" y="564188"/>
                  </a:lnTo>
                  <a:lnTo>
                    <a:pt x="112633" y="594395"/>
                  </a:lnTo>
                  <a:lnTo>
                    <a:pt x="138459" y="586546"/>
                  </a:lnTo>
                  <a:lnTo>
                    <a:pt x="183079" y="529104"/>
                  </a:lnTo>
                  <a:lnTo>
                    <a:pt x="200522" y="483080"/>
                  </a:lnTo>
                  <a:lnTo>
                    <a:pt x="213818" y="427898"/>
                  </a:lnTo>
                  <a:lnTo>
                    <a:pt x="222291" y="365342"/>
                  </a:lnTo>
                  <a:lnTo>
                    <a:pt x="225266" y="297197"/>
                  </a:lnTo>
                  <a:lnTo>
                    <a:pt x="222291" y="229053"/>
                  </a:lnTo>
                  <a:lnTo>
                    <a:pt x="213818" y="166497"/>
                  </a:lnTo>
                  <a:lnTo>
                    <a:pt x="200522" y="111315"/>
                  </a:lnTo>
                  <a:lnTo>
                    <a:pt x="183079" y="65291"/>
                  </a:lnTo>
                  <a:lnTo>
                    <a:pt x="162166" y="30207"/>
                  </a:lnTo>
                  <a:lnTo>
                    <a:pt x="112633" y="0"/>
                  </a:lnTo>
                  <a:close/>
                </a:path>
              </a:pathLst>
            </a:custGeom>
            <a:solidFill>
              <a:srgbClr val="618FFD"/>
            </a:solidFill>
          </p:spPr>
          <p:txBody>
            <a:bodyPr wrap="square" lIns="0" tIns="0" rIns="0" bIns="0" rtlCol="0"/>
            <a:lstStyle/>
            <a:p>
              <a:endParaRPr sz="1588"/>
            </a:p>
          </p:txBody>
        </p:sp>
        <p:sp>
          <p:nvSpPr>
            <p:cNvPr id="33" name="object 33"/>
            <p:cNvSpPr/>
            <p:nvPr/>
          </p:nvSpPr>
          <p:spPr>
            <a:xfrm>
              <a:off x="5717120" y="4536570"/>
              <a:ext cx="225425" cy="594995"/>
            </a:xfrm>
            <a:custGeom>
              <a:avLst/>
              <a:gdLst/>
              <a:ahLst/>
              <a:cxnLst/>
              <a:rect l="l" t="t" r="r" b="b"/>
              <a:pathLst>
                <a:path w="225425" h="594995">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34" name="object 34"/>
          <p:cNvSpPr txBox="1"/>
          <p:nvPr/>
        </p:nvSpPr>
        <p:spPr>
          <a:xfrm>
            <a:off x="5204320" y="4088803"/>
            <a:ext cx="166712" cy="360269"/>
          </a:xfrm>
          <a:prstGeom prst="rect">
            <a:avLst/>
          </a:prstGeom>
        </p:spPr>
        <p:txBody>
          <a:bodyPr vert="vert" wrap="square" lIns="0" tIns="0" rIns="0" bIns="0" rtlCol="0">
            <a:spAutoFit/>
          </a:bodyPr>
          <a:lstStyle/>
          <a:p>
            <a:pPr marL="11206">
              <a:lnSpc>
                <a:spcPts val="1337"/>
              </a:lnSpc>
            </a:pPr>
            <a:r>
              <a:rPr sz="1147" spc="-22" dirty="0">
                <a:latin typeface="Times New Roman"/>
                <a:cs typeface="Times New Roman"/>
              </a:rPr>
              <a:t>MUX</a:t>
            </a:r>
            <a:endParaRPr sz="1147">
              <a:latin typeface="Times New Roman"/>
              <a:cs typeface="Times New Roman"/>
            </a:endParaRPr>
          </a:p>
        </p:txBody>
      </p:sp>
      <p:grpSp>
        <p:nvGrpSpPr>
          <p:cNvPr id="35" name="object 35"/>
          <p:cNvGrpSpPr/>
          <p:nvPr/>
        </p:nvGrpSpPr>
        <p:grpSpPr>
          <a:xfrm>
            <a:off x="4859761" y="3094083"/>
            <a:ext cx="3406588" cy="1790700"/>
            <a:chOff x="5355329" y="3506627"/>
            <a:chExt cx="3860800" cy="2029460"/>
          </a:xfrm>
        </p:grpSpPr>
        <p:sp>
          <p:nvSpPr>
            <p:cNvPr id="36" name="object 36"/>
            <p:cNvSpPr/>
            <p:nvPr/>
          </p:nvSpPr>
          <p:spPr>
            <a:xfrm>
              <a:off x="5355329" y="3506627"/>
              <a:ext cx="822960" cy="758825"/>
            </a:xfrm>
            <a:custGeom>
              <a:avLst/>
              <a:gdLst/>
              <a:ahLst/>
              <a:cxnLst/>
              <a:rect l="l" t="t" r="r" b="b"/>
              <a:pathLst>
                <a:path w="822960" h="758825">
                  <a:moveTo>
                    <a:pt x="730408" y="30745"/>
                  </a:moveTo>
                  <a:lnTo>
                    <a:pt x="6875" y="30745"/>
                  </a:lnTo>
                  <a:lnTo>
                    <a:pt x="0" y="37627"/>
                  </a:lnTo>
                  <a:lnTo>
                    <a:pt x="0" y="758366"/>
                  </a:lnTo>
                  <a:lnTo>
                    <a:pt x="30717" y="758366"/>
                  </a:lnTo>
                  <a:lnTo>
                    <a:pt x="30717" y="61489"/>
                  </a:lnTo>
                  <a:lnTo>
                    <a:pt x="15359" y="61489"/>
                  </a:lnTo>
                  <a:lnTo>
                    <a:pt x="30717" y="46117"/>
                  </a:lnTo>
                  <a:lnTo>
                    <a:pt x="730408" y="46117"/>
                  </a:lnTo>
                  <a:lnTo>
                    <a:pt x="730408" y="30745"/>
                  </a:lnTo>
                  <a:close/>
                </a:path>
                <a:path w="822960" h="758825">
                  <a:moveTo>
                    <a:pt x="730408" y="0"/>
                  </a:moveTo>
                  <a:lnTo>
                    <a:pt x="730408" y="92233"/>
                  </a:lnTo>
                  <a:lnTo>
                    <a:pt x="791845" y="61489"/>
                  </a:lnTo>
                  <a:lnTo>
                    <a:pt x="745769" y="61489"/>
                  </a:lnTo>
                  <a:lnTo>
                    <a:pt x="745769" y="30745"/>
                  </a:lnTo>
                  <a:lnTo>
                    <a:pt x="791846" y="30745"/>
                  </a:lnTo>
                  <a:lnTo>
                    <a:pt x="730408" y="0"/>
                  </a:lnTo>
                  <a:close/>
                </a:path>
                <a:path w="822960" h="758825">
                  <a:moveTo>
                    <a:pt x="30717" y="46117"/>
                  </a:moveTo>
                  <a:lnTo>
                    <a:pt x="15359" y="61489"/>
                  </a:lnTo>
                  <a:lnTo>
                    <a:pt x="30717" y="61489"/>
                  </a:lnTo>
                  <a:lnTo>
                    <a:pt x="30717" y="46117"/>
                  </a:lnTo>
                  <a:close/>
                </a:path>
                <a:path w="822960" h="758825">
                  <a:moveTo>
                    <a:pt x="730408" y="46117"/>
                  </a:moveTo>
                  <a:lnTo>
                    <a:pt x="30717" y="46117"/>
                  </a:lnTo>
                  <a:lnTo>
                    <a:pt x="30717" y="61489"/>
                  </a:lnTo>
                  <a:lnTo>
                    <a:pt x="730408" y="61489"/>
                  </a:lnTo>
                  <a:lnTo>
                    <a:pt x="730408" y="46117"/>
                  </a:lnTo>
                  <a:close/>
                </a:path>
                <a:path w="822960" h="758825">
                  <a:moveTo>
                    <a:pt x="791846" y="30745"/>
                  </a:moveTo>
                  <a:lnTo>
                    <a:pt x="745769" y="30745"/>
                  </a:lnTo>
                  <a:lnTo>
                    <a:pt x="745769" y="61489"/>
                  </a:lnTo>
                  <a:lnTo>
                    <a:pt x="791845" y="61489"/>
                  </a:lnTo>
                  <a:lnTo>
                    <a:pt x="822563" y="46117"/>
                  </a:lnTo>
                  <a:lnTo>
                    <a:pt x="791846" y="30745"/>
                  </a:lnTo>
                  <a:close/>
                </a:path>
              </a:pathLst>
            </a:custGeom>
            <a:solidFill>
              <a:srgbClr val="000000"/>
            </a:solidFill>
          </p:spPr>
          <p:txBody>
            <a:bodyPr wrap="square" lIns="0" tIns="0" rIns="0" bIns="0" rtlCol="0"/>
            <a:lstStyle/>
            <a:p>
              <a:endParaRPr sz="1588"/>
            </a:p>
          </p:txBody>
        </p:sp>
        <p:sp>
          <p:nvSpPr>
            <p:cNvPr id="37" name="object 37"/>
            <p:cNvSpPr/>
            <p:nvPr/>
          </p:nvSpPr>
          <p:spPr>
            <a:xfrm>
              <a:off x="7683081" y="4290614"/>
              <a:ext cx="573405" cy="1229995"/>
            </a:xfrm>
            <a:custGeom>
              <a:avLst/>
              <a:gdLst/>
              <a:ahLst/>
              <a:cxnLst/>
              <a:rect l="l" t="t" r="r" b="b"/>
              <a:pathLst>
                <a:path w="573404" h="1229995">
                  <a:moveTo>
                    <a:pt x="573404" y="0"/>
                  </a:moveTo>
                  <a:lnTo>
                    <a:pt x="0" y="0"/>
                  </a:lnTo>
                  <a:lnTo>
                    <a:pt x="0" y="1229782"/>
                  </a:lnTo>
                  <a:lnTo>
                    <a:pt x="573404" y="1229782"/>
                  </a:lnTo>
                  <a:lnTo>
                    <a:pt x="573404" y="0"/>
                  </a:lnTo>
                  <a:close/>
                </a:path>
              </a:pathLst>
            </a:custGeom>
            <a:solidFill>
              <a:srgbClr val="618FFD"/>
            </a:solidFill>
          </p:spPr>
          <p:txBody>
            <a:bodyPr wrap="square" lIns="0" tIns="0" rIns="0" bIns="0" rtlCol="0"/>
            <a:lstStyle/>
            <a:p>
              <a:endParaRPr sz="1588"/>
            </a:p>
          </p:txBody>
        </p:sp>
        <p:sp>
          <p:nvSpPr>
            <p:cNvPr id="38" name="object 38"/>
            <p:cNvSpPr/>
            <p:nvPr/>
          </p:nvSpPr>
          <p:spPr>
            <a:xfrm>
              <a:off x="7683081" y="4290614"/>
              <a:ext cx="573405" cy="1229995"/>
            </a:xfrm>
            <a:custGeom>
              <a:avLst/>
              <a:gdLst/>
              <a:ahLst/>
              <a:cxnLst/>
              <a:rect l="l" t="t" r="r" b="b"/>
              <a:pathLst>
                <a:path w="573404" h="1229995">
                  <a:moveTo>
                    <a:pt x="0" y="0"/>
                  </a:moveTo>
                  <a:lnTo>
                    <a:pt x="573404" y="0"/>
                  </a:lnTo>
                  <a:lnTo>
                    <a:pt x="573404" y="1229783"/>
                  </a:lnTo>
                  <a:lnTo>
                    <a:pt x="0" y="1229783"/>
                  </a:lnTo>
                  <a:lnTo>
                    <a:pt x="0" y="0"/>
                  </a:lnTo>
                  <a:close/>
                </a:path>
              </a:pathLst>
            </a:custGeom>
            <a:ln w="30722">
              <a:solidFill>
                <a:srgbClr val="000000"/>
              </a:solidFill>
            </a:ln>
          </p:spPr>
          <p:txBody>
            <a:bodyPr wrap="square" lIns="0" tIns="0" rIns="0" bIns="0" rtlCol="0"/>
            <a:lstStyle/>
            <a:p>
              <a:endParaRPr sz="1588"/>
            </a:p>
          </p:txBody>
        </p:sp>
        <p:sp>
          <p:nvSpPr>
            <p:cNvPr id="39" name="object 39"/>
            <p:cNvSpPr/>
            <p:nvPr/>
          </p:nvSpPr>
          <p:spPr>
            <a:xfrm>
              <a:off x="8974949" y="4838893"/>
              <a:ext cx="225425" cy="594995"/>
            </a:xfrm>
            <a:custGeom>
              <a:avLst/>
              <a:gdLst/>
              <a:ahLst/>
              <a:cxnLst/>
              <a:rect l="l" t="t" r="r" b="b"/>
              <a:pathLst>
                <a:path w="225425" h="594995">
                  <a:moveTo>
                    <a:pt x="112632" y="0"/>
                  </a:moveTo>
                  <a:lnTo>
                    <a:pt x="63099" y="30207"/>
                  </a:lnTo>
                  <a:lnTo>
                    <a:pt x="42186" y="65290"/>
                  </a:lnTo>
                  <a:lnTo>
                    <a:pt x="24744" y="111315"/>
                  </a:lnTo>
                  <a:lnTo>
                    <a:pt x="11448" y="166497"/>
                  </a:lnTo>
                  <a:lnTo>
                    <a:pt x="2974" y="229052"/>
                  </a:lnTo>
                  <a:lnTo>
                    <a:pt x="0" y="297197"/>
                  </a:lnTo>
                  <a:lnTo>
                    <a:pt x="2974" y="365342"/>
                  </a:lnTo>
                  <a:lnTo>
                    <a:pt x="11448" y="427897"/>
                  </a:lnTo>
                  <a:lnTo>
                    <a:pt x="24744" y="483079"/>
                  </a:lnTo>
                  <a:lnTo>
                    <a:pt x="42186" y="529103"/>
                  </a:lnTo>
                  <a:lnTo>
                    <a:pt x="63099" y="564186"/>
                  </a:lnTo>
                  <a:lnTo>
                    <a:pt x="112632" y="594394"/>
                  </a:lnTo>
                  <a:lnTo>
                    <a:pt x="138458" y="586545"/>
                  </a:lnTo>
                  <a:lnTo>
                    <a:pt x="183079" y="529103"/>
                  </a:lnTo>
                  <a:lnTo>
                    <a:pt x="200521" y="483079"/>
                  </a:lnTo>
                  <a:lnTo>
                    <a:pt x="213818" y="427897"/>
                  </a:lnTo>
                  <a:lnTo>
                    <a:pt x="222291" y="365342"/>
                  </a:lnTo>
                  <a:lnTo>
                    <a:pt x="225266" y="297197"/>
                  </a:lnTo>
                  <a:lnTo>
                    <a:pt x="222291" y="229052"/>
                  </a:lnTo>
                  <a:lnTo>
                    <a:pt x="213818" y="166497"/>
                  </a:lnTo>
                  <a:lnTo>
                    <a:pt x="200521" y="111315"/>
                  </a:lnTo>
                  <a:lnTo>
                    <a:pt x="183079" y="65290"/>
                  </a:lnTo>
                  <a:lnTo>
                    <a:pt x="162165" y="30207"/>
                  </a:lnTo>
                  <a:lnTo>
                    <a:pt x="112632" y="0"/>
                  </a:lnTo>
                  <a:close/>
                </a:path>
              </a:pathLst>
            </a:custGeom>
            <a:solidFill>
              <a:srgbClr val="618FFD"/>
            </a:solidFill>
          </p:spPr>
          <p:txBody>
            <a:bodyPr wrap="square" lIns="0" tIns="0" rIns="0" bIns="0" rtlCol="0"/>
            <a:lstStyle/>
            <a:p>
              <a:endParaRPr sz="1588"/>
            </a:p>
          </p:txBody>
        </p:sp>
        <p:sp>
          <p:nvSpPr>
            <p:cNvPr id="40" name="object 40"/>
            <p:cNvSpPr/>
            <p:nvPr/>
          </p:nvSpPr>
          <p:spPr>
            <a:xfrm>
              <a:off x="8974949" y="4838893"/>
              <a:ext cx="225425" cy="594995"/>
            </a:xfrm>
            <a:custGeom>
              <a:avLst/>
              <a:gdLst/>
              <a:ahLst/>
              <a:cxnLst/>
              <a:rect l="l" t="t" r="r" b="b"/>
              <a:pathLst>
                <a:path w="225425" h="594995">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41" name="object 41"/>
          <p:cNvSpPr txBox="1"/>
          <p:nvPr/>
        </p:nvSpPr>
        <p:spPr>
          <a:xfrm>
            <a:off x="8078874" y="4355055"/>
            <a:ext cx="166712" cy="360269"/>
          </a:xfrm>
          <a:prstGeom prst="rect">
            <a:avLst/>
          </a:prstGeom>
        </p:spPr>
        <p:txBody>
          <a:bodyPr vert="vert" wrap="square" lIns="0" tIns="0" rIns="0" bIns="0" rtlCol="0">
            <a:spAutoFit/>
          </a:bodyPr>
          <a:lstStyle/>
          <a:p>
            <a:pPr marL="11206">
              <a:lnSpc>
                <a:spcPts val="1337"/>
              </a:lnSpc>
            </a:pPr>
            <a:r>
              <a:rPr sz="1147" spc="-22" dirty="0">
                <a:latin typeface="Times New Roman"/>
                <a:cs typeface="Times New Roman"/>
              </a:rPr>
              <a:t>MUX</a:t>
            </a:r>
            <a:endParaRPr sz="1147">
              <a:latin typeface="Times New Roman"/>
              <a:cs typeface="Times New Roman"/>
            </a:endParaRPr>
          </a:p>
        </p:txBody>
      </p:sp>
      <p:grpSp>
        <p:nvGrpSpPr>
          <p:cNvPr id="42" name="object 42"/>
          <p:cNvGrpSpPr/>
          <p:nvPr/>
        </p:nvGrpSpPr>
        <p:grpSpPr>
          <a:xfrm>
            <a:off x="3775418" y="4701982"/>
            <a:ext cx="452157" cy="669551"/>
            <a:chOff x="4126406" y="5328912"/>
            <a:chExt cx="512445" cy="758825"/>
          </a:xfrm>
        </p:grpSpPr>
        <p:sp>
          <p:nvSpPr>
            <p:cNvPr id="43" name="object 43"/>
            <p:cNvSpPr/>
            <p:nvPr/>
          </p:nvSpPr>
          <p:spPr>
            <a:xfrm>
              <a:off x="4141964" y="5344469"/>
              <a:ext cx="481330" cy="727710"/>
            </a:xfrm>
            <a:custGeom>
              <a:avLst/>
              <a:gdLst/>
              <a:ahLst/>
              <a:cxnLst/>
              <a:rect l="l" t="t" r="r" b="b"/>
              <a:pathLst>
                <a:path w="481329" h="727710">
                  <a:moveTo>
                    <a:pt x="240624" y="0"/>
                  </a:moveTo>
                  <a:lnTo>
                    <a:pt x="201593" y="4761"/>
                  </a:lnTo>
                  <a:lnTo>
                    <a:pt x="164568" y="18547"/>
                  </a:lnTo>
                  <a:lnTo>
                    <a:pt x="130043" y="40607"/>
                  </a:lnTo>
                  <a:lnTo>
                    <a:pt x="98514" y="70194"/>
                  </a:lnTo>
                  <a:lnTo>
                    <a:pt x="70477" y="106557"/>
                  </a:lnTo>
                  <a:lnTo>
                    <a:pt x="46426" y="148949"/>
                  </a:lnTo>
                  <a:lnTo>
                    <a:pt x="26858" y="196619"/>
                  </a:lnTo>
                  <a:lnTo>
                    <a:pt x="12267" y="248819"/>
                  </a:lnTo>
                  <a:lnTo>
                    <a:pt x="3149" y="304799"/>
                  </a:lnTo>
                  <a:lnTo>
                    <a:pt x="0" y="363811"/>
                  </a:lnTo>
                  <a:lnTo>
                    <a:pt x="3149" y="422823"/>
                  </a:lnTo>
                  <a:lnTo>
                    <a:pt x="12267" y="478803"/>
                  </a:lnTo>
                  <a:lnTo>
                    <a:pt x="26858" y="531003"/>
                  </a:lnTo>
                  <a:lnTo>
                    <a:pt x="46426" y="578673"/>
                  </a:lnTo>
                  <a:lnTo>
                    <a:pt x="70477" y="621064"/>
                  </a:lnTo>
                  <a:lnTo>
                    <a:pt x="98514" y="657427"/>
                  </a:lnTo>
                  <a:lnTo>
                    <a:pt x="130043" y="687014"/>
                  </a:lnTo>
                  <a:lnTo>
                    <a:pt x="164568" y="709075"/>
                  </a:lnTo>
                  <a:lnTo>
                    <a:pt x="201593" y="722860"/>
                  </a:lnTo>
                  <a:lnTo>
                    <a:pt x="240624" y="727622"/>
                  </a:lnTo>
                  <a:lnTo>
                    <a:pt x="279655" y="722860"/>
                  </a:lnTo>
                  <a:lnTo>
                    <a:pt x="316680" y="709075"/>
                  </a:lnTo>
                  <a:lnTo>
                    <a:pt x="351205" y="687014"/>
                  </a:lnTo>
                  <a:lnTo>
                    <a:pt x="382734" y="657427"/>
                  </a:lnTo>
                  <a:lnTo>
                    <a:pt x="410772" y="621064"/>
                  </a:lnTo>
                  <a:lnTo>
                    <a:pt x="434823" y="578673"/>
                  </a:lnTo>
                  <a:lnTo>
                    <a:pt x="454391" y="531003"/>
                  </a:lnTo>
                  <a:lnTo>
                    <a:pt x="468982" y="478803"/>
                  </a:lnTo>
                  <a:lnTo>
                    <a:pt x="478100" y="422823"/>
                  </a:lnTo>
                  <a:lnTo>
                    <a:pt x="481249" y="363811"/>
                  </a:lnTo>
                  <a:lnTo>
                    <a:pt x="478100" y="304799"/>
                  </a:lnTo>
                  <a:lnTo>
                    <a:pt x="468982" y="248819"/>
                  </a:lnTo>
                  <a:lnTo>
                    <a:pt x="454391" y="196619"/>
                  </a:lnTo>
                  <a:lnTo>
                    <a:pt x="434823" y="148949"/>
                  </a:lnTo>
                  <a:lnTo>
                    <a:pt x="410772" y="106557"/>
                  </a:lnTo>
                  <a:lnTo>
                    <a:pt x="382734" y="70194"/>
                  </a:lnTo>
                  <a:lnTo>
                    <a:pt x="351205" y="40607"/>
                  </a:lnTo>
                  <a:lnTo>
                    <a:pt x="316680" y="18547"/>
                  </a:lnTo>
                  <a:lnTo>
                    <a:pt x="279655" y="4761"/>
                  </a:lnTo>
                  <a:lnTo>
                    <a:pt x="240624" y="0"/>
                  </a:lnTo>
                  <a:close/>
                </a:path>
              </a:pathLst>
            </a:custGeom>
            <a:solidFill>
              <a:srgbClr val="618FFD"/>
            </a:solidFill>
          </p:spPr>
          <p:txBody>
            <a:bodyPr wrap="square" lIns="0" tIns="0" rIns="0" bIns="0" rtlCol="0"/>
            <a:lstStyle/>
            <a:p>
              <a:endParaRPr sz="1588"/>
            </a:p>
          </p:txBody>
        </p:sp>
        <p:sp>
          <p:nvSpPr>
            <p:cNvPr id="44" name="object 44"/>
            <p:cNvSpPr/>
            <p:nvPr/>
          </p:nvSpPr>
          <p:spPr>
            <a:xfrm>
              <a:off x="4141964" y="5344469"/>
              <a:ext cx="481330" cy="727710"/>
            </a:xfrm>
            <a:custGeom>
              <a:avLst/>
              <a:gdLst/>
              <a:ahLst/>
              <a:cxnLst/>
              <a:rect l="l" t="t" r="r" b="b"/>
              <a:pathLst>
                <a:path w="481329" h="727710">
                  <a:moveTo>
                    <a:pt x="0" y="363810"/>
                  </a:moveTo>
                  <a:lnTo>
                    <a:pt x="3149" y="304798"/>
                  </a:lnTo>
                  <a:lnTo>
                    <a:pt x="12267" y="248818"/>
                  </a:lnTo>
                  <a:lnTo>
                    <a:pt x="26858" y="196618"/>
                  </a:lnTo>
                  <a:lnTo>
                    <a:pt x="46426" y="148948"/>
                  </a:lnTo>
                  <a:lnTo>
                    <a:pt x="70477" y="106557"/>
                  </a:lnTo>
                  <a:lnTo>
                    <a:pt x="98515" y="70194"/>
                  </a:lnTo>
                  <a:lnTo>
                    <a:pt x="130044" y="40607"/>
                  </a:lnTo>
                  <a:lnTo>
                    <a:pt x="164569" y="18547"/>
                  </a:lnTo>
                  <a:lnTo>
                    <a:pt x="201594" y="4761"/>
                  </a:lnTo>
                  <a:lnTo>
                    <a:pt x="240625" y="0"/>
                  </a:lnTo>
                  <a:lnTo>
                    <a:pt x="279655" y="4761"/>
                  </a:lnTo>
                  <a:lnTo>
                    <a:pt x="316681" y="18547"/>
                  </a:lnTo>
                  <a:lnTo>
                    <a:pt x="351206" y="40607"/>
                  </a:lnTo>
                  <a:lnTo>
                    <a:pt x="382735" y="70194"/>
                  </a:lnTo>
                  <a:lnTo>
                    <a:pt x="410773" y="106557"/>
                  </a:lnTo>
                  <a:lnTo>
                    <a:pt x="434823" y="148948"/>
                  </a:lnTo>
                  <a:lnTo>
                    <a:pt x="454392" y="196618"/>
                  </a:lnTo>
                  <a:lnTo>
                    <a:pt x="468983" y="248818"/>
                  </a:lnTo>
                  <a:lnTo>
                    <a:pt x="478101" y="304798"/>
                  </a:lnTo>
                  <a:lnTo>
                    <a:pt x="481250" y="363810"/>
                  </a:lnTo>
                  <a:lnTo>
                    <a:pt x="478101" y="422822"/>
                  </a:lnTo>
                  <a:lnTo>
                    <a:pt x="468983" y="478803"/>
                  </a:lnTo>
                  <a:lnTo>
                    <a:pt x="454392" y="531002"/>
                  </a:lnTo>
                  <a:lnTo>
                    <a:pt x="434823" y="578672"/>
                  </a:lnTo>
                  <a:lnTo>
                    <a:pt x="410773" y="621064"/>
                  </a:lnTo>
                  <a:lnTo>
                    <a:pt x="382735" y="657427"/>
                  </a:lnTo>
                  <a:lnTo>
                    <a:pt x="351206" y="687013"/>
                  </a:lnTo>
                  <a:lnTo>
                    <a:pt x="316681" y="709074"/>
                  </a:lnTo>
                  <a:lnTo>
                    <a:pt x="279655" y="722860"/>
                  </a:lnTo>
                  <a:lnTo>
                    <a:pt x="240625" y="727621"/>
                  </a:lnTo>
                  <a:lnTo>
                    <a:pt x="201594" y="722860"/>
                  </a:lnTo>
                  <a:lnTo>
                    <a:pt x="164569" y="709074"/>
                  </a:lnTo>
                  <a:lnTo>
                    <a:pt x="130044" y="687013"/>
                  </a:lnTo>
                  <a:lnTo>
                    <a:pt x="98515" y="657427"/>
                  </a:lnTo>
                  <a:lnTo>
                    <a:pt x="70477" y="621064"/>
                  </a:lnTo>
                  <a:lnTo>
                    <a:pt x="46426" y="578672"/>
                  </a:lnTo>
                  <a:lnTo>
                    <a:pt x="26858" y="531002"/>
                  </a:lnTo>
                  <a:lnTo>
                    <a:pt x="12267" y="478803"/>
                  </a:lnTo>
                  <a:lnTo>
                    <a:pt x="3149" y="422822"/>
                  </a:lnTo>
                  <a:lnTo>
                    <a:pt x="0" y="363810"/>
                  </a:lnTo>
                  <a:close/>
                </a:path>
              </a:pathLst>
            </a:custGeom>
            <a:ln w="30726">
              <a:solidFill>
                <a:srgbClr val="000000"/>
              </a:solidFill>
            </a:ln>
          </p:spPr>
          <p:txBody>
            <a:bodyPr wrap="square" lIns="0" tIns="0" rIns="0" bIns="0" rtlCol="0"/>
            <a:lstStyle/>
            <a:p>
              <a:endParaRPr sz="1588"/>
            </a:p>
          </p:txBody>
        </p:sp>
      </p:grpSp>
      <p:sp>
        <p:nvSpPr>
          <p:cNvPr id="45" name="object 45"/>
          <p:cNvSpPr txBox="1"/>
          <p:nvPr/>
        </p:nvSpPr>
        <p:spPr>
          <a:xfrm>
            <a:off x="3806548" y="4874453"/>
            <a:ext cx="392206" cy="300233"/>
          </a:xfrm>
          <a:prstGeom prst="rect">
            <a:avLst/>
          </a:prstGeom>
        </p:spPr>
        <p:txBody>
          <a:bodyPr vert="horz" wrap="square" lIns="0" tIns="17929" rIns="0" bIns="0" rtlCol="0">
            <a:spAutoFit/>
          </a:bodyPr>
          <a:lstStyle/>
          <a:p>
            <a:pPr marL="11206" marR="4483" indent="70601">
              <a:lnSpc>
                <a:spcPts val="1147"/>
              </a:lnSpc>
              <a:spcBef>
                <a:spcPts val="141"/>
              </a:spcBef>
            </a:pPr>
            <a:r>
              <a:rPr sz="971" b="1" spc="-18" dirty="0">
                <a:latin typeface="Times New Roman"/>
                <a:cs typeface="Times New Roman"/>
              </a:rPr>
              <a:t>Sign </a:t>
            </a:r>
            <a:r>
              <a:rPr sz="971" b="1" spc="-22" dirty="0">
                <a:latin typeface="Times New Roman"/>
                <a:cs typeface="Times New Roman"/>
              </a:rPr>
              <a:t>Extend</a:t>
            </a:r>
            <a:endParaRPr sz="971">
              <a:latin typeface="Times New Roman"/>
              <a:cs typeface="Times New Roman"/>
            </a:endParaRPr>
          </a:p>
        </p:txBody>
      </p:sp>
      <p:grpSp>
        <p:nvGrpSpPr>
          <p:cNvPr id="46" name="object 46"/>
          <p:cNvGrpSpPr/>
          <p:nvPr/>
        </p:nvGrpSpPr>
        <p:grpSpPr>
          <a:xfrm>
            <a:off x="2343586" y="2953760"/>
            <a:ext cx="3700182" cy="2152650"/>
            <a:chOff x="2503664" y="3347595"/>
            <a:chExt cx="4193540" cy="2439670"/>
          </a:xfrm>
        </p:grpSpPr>
        <p:sp>
          <p:nvSpPr>
            <p:cNvPr id="47" name="object 47"/>
            <p:cNvSpPr/>
            <p:nvPr/>
          </p:nvSpPr>
          <p:spPr>
            <a:xfrm>
              <a:off x="2503664" y="4382848"/>
              <a:ext cx="327660" cy="92710"/>
            </a:xfrm>
            <a:custGeom>
              <a:avLst/>
              <a:gdLst/>
              <a:ahLst/>
              <a:cxnLst/>
              <a:rect l="l" t="t" r="r" b="b"/>
              <a:pathLst>
                <a:path w="327660" h="92710">
                  <a:moveTo>
                    <a:pt x="235504" y="0"/>
                  </a:moveTo>
                  <a:lnTo>
                    <a:pt x="235504" y="92233"/>
                  </a:lnTo>
                  <a:lnTo>
                    <a:pt x="296941" y="61489"/>
                  </a:lnTo>
                  <a:lnTo>
                    <a:pt x="250864" y="61489"/>
                  </a:lnTo>
                  <a:lnTo>
                    <a:pt x="250864" y="30744"/>
                  </a:lnTo>
                  <a:lnTo>
                    <a:pt x="296939" y="30744"/>
                  </a:lnTo>
                  <a:lnTo>
                    <a:pt x="235504" y="0"/>
                  </a:lnTo>
                  <a:close/>
                </a:path>
                <a:path w="327660" h="92710">
                  <a:moveTo>
                    <a:pt x="235504" y="30744"/>
                  </a:moveTo>
                  <a:lnTo>
                    <a:pt x="0" y="30744"/>
                  </a:lnTo>
                  <a:lnTo>
                    <a:pt x="0" y="61489"/>
                  </a:lnTo>
                  <a:lnTo>
                    <a:pt x="235504" y="61489"/>
                  </a:lnTo>
                  <a:lnTo>
                    <a:pt x="235504" y="30744"/>
                  </a:lnTo>
                  <a:close/>
                </a:path>
                <a:path w="327660" h="92710">
                  <a:moveTo>
                    <a:pt x="296939" y="30744"/>
                  </a:moveTo>
                  <a:lnTo>
                    <a:pt x="250864" y="30744"/>
                  </a:lnTo>
                  <a:lnTo>
                    <a:pt x="250864" y="61489"/>
                  </a:lnTo>
                  <a:lnTo>
                    <a:pt x="296941" y="61489"/>
                  </a:lnTo>
                  <a:lnTo>
                    <a:pt x="327659" y="46117"/>
                  </a:lnTo>
                  <a:lnTo>
                    <a:pt x="296939" y="30744"/>
                  </a:lnTo>
                  <a:close/>
                </a:path>
              </a:pathLst>
            </a:custGeom>
            <a:solidFill>
              <a:srgbClr val="000000"/>
            </a:solidFill>
          </p:spPr>
          <p:txBody>
            <a:bodyPr wrap="square" lIns="0" tIns="0" rIns="0" bIns="0" rtlCol="0"/>
            <a:lstStyle/>
            <a:p>
              <a:endParaRPr sz="1588"/>
            </a:p>
          </p:txBody>
        </p:sp>
        <p:pic>
          <p:nvPicPr>
            <p:cNvPr id="48" name="object 48"/>
            <p:cNvPicPr/>
            <p:nvPr/>
          </p:nvPicPr>
          <p:blipFill>
            <a:blip r:embed="rId3" cstate="print"/>
            <a:stretch>
              <a:fillRect/>
            </a:stretch>
          </p:blipFill>
          <p:spPr>
            <a:xfrm>
              <a:off x="3158984" y="4382848"/>
              <a:ext cx="245745" cy="92233"/>
            </a:xfrm>
            <a:prstGeom prst="rect">
              <a:avLst/>
            </a:prstGeom>
          </p:spPr>
        </p:pic>
        <p:sp>
          <p:nvSpPr>
            <p:cNvPr id="49" name="object 49"/>
            <p:cNvSpPr/>
            <p:nvPr/>
          </p:nvSpPr>
          <p:spPr>
            <a:xfrm>
              <a:off x="3389363" y="3808958"/>
              <a:ext cx="2309495" cy="1978025"/>
            </a:xfrm>
            <a:custGeom>
              <a:avLst/>
              <a:gdLst/>
              <a:ahLst/>
              <a:cxnLst/>
              <a:rect l="l" t="t" r="r" b="b"/>
              <a:pathLst>
                <a:path w="2309495" h="1978025">
                  <a:moveTo>
                    <a:pt x="752589" y="46113"/>
                  </a:moveTo>
                  <a:lnTo>
                    <a:pt x="721880" y="30746"/>
                  </a:lnTo>
                  <a:lnTo>
                    <a:pt x="660438" y="0"/>
                  </a:lnTo>
                  <a:lnTo>
                    <a:pt x="660438" y="30746"/>
                  </a:lnTo>
                  <a:lnTo>
                    <a:pt x="15354" y="30746"/>
                  </a:lnTo>
                  <a:lnTo>
                    <a:pt x="15354" y="40995"/>
                  </a:lnTo>
                  <a:lnTo>
                    <a:pt x="0" y="40995"/>
                  </a:lnTo>
                  <a:lnTo>
                    <a:pt x="0" y="1940267"/>
                  </a:lnTo>
                  <a:lnTo>
                    <a:pt x="6883" y="1947151"/>
                  </a:lnTo>
                  <a:lnTo>
                    <a:pt x="660438" y="1947151"/>
                  </a:lnTo>
                  <a:lnTo>
                    <a:pt x="660438" y="1977898"/>
                  </a:lnTo>
                  <a:lnTo>
                    <a:pt x="721880" y="1947151"/>
                  </a:lnTo>
                  <a:lnTo>
                    <a:pt x="752589" y="1931784"/>
                  </a:lnTo>
                  <a:lnTo>
                    <a:pt x="721880" y="1916404"/>
                  </a:lnTo>
                  <a:lnTo>
                    <a:pt x="660438" y="1885657"/>
                  </a:lnTo>
                  <a:lnTo>
                    <a:pt x="660438" y="1916404"/>
                  </a:lnTo>
                  <a:lnTo>
                    <a:pt x="30721" y="1916404"/>
                  </a:lnTo>
                  <a:lnTo>
                    <a:pt x="30721" y="389432"/>
                  </a:lnTo>
                  <a:lnTo>
                    <a:pt x="660438" y="389432"/>
                  </a:lnTo>
                  <a:lnTo>
                    <a:pt x="660438" y="420166"/>
                  </a:lnTo>
                  <a:lnTo>
                    <a:pt x="721880" y="389432"/>
                  </a:lnTo>
                  <a:lnTo>
                    <a:pt x="752589" y="374053"/>
                  </a:lnTo>
                  <a:lnTo>
                    <a:pt x="721880" y="358686"/>
                  </a:lnTo>
                  <a:lnTo>
                    <a:pt x="660438" y="327939"/>
                  </a:lnTo>
                  <a:lnTo>
                    <a:pt x="660438" y="358686"/>
                  </a:lnTo>
                  <a:lnTo>
                    <a:pt x="30721" y="358686"/>
                  </a:lnTo>
                  <a:lnTo>
                    <a:pt x="30721" y="61480"/>
                  </a:lnTo>
                  <a:lnTo>
                    <a:pt x="660438" y="61480"/>
                  </a:lnTo>
                  <a:lnTo>
                    <a:pt x="660438" y="92227"/>
                  </a:lnTo>
                  <a:lnTo>
                    <a:pt x="721880" y="61480"/>
                  </a:lnTo>
                  <a:lnTo>
                    <a:pt x="752589" y="46113"/>
                  </a:lnTo>
                  <a:close/>
                </a:path>
                <a:path w="2309495" h="1978025">
                  <a:moveTo>
                    <a:pt x="2308974" y="456044"/>
                  </a:moveTo>
                  <a:lnTo>
                    <a:pt x="2278265" y="440664"/>
                  </a:lnTo>
                  <a:lnTo>
                    <a:pt x="2216823" y="409930"/>
                  </a:lnTo>
                  <a:lnTo>
                    <a:pt x="2216823" y="440664"/>
                  </a:lnTo>
                  <a:lnTo>
                    <a:pt x="1407909" y="440664"/>
                  </a:lnTo>
                  <a:lnTo>
                    <a:pt x="1407909" y="471411"/>
                  </a:lnTo>
                  <a:lnTo>
                    <a:pt x="2216823" y="471411"/>
                  </a:lnTo>
                  <a:lnTo>
                    <a:pt x="2216823" y="502158"/>
                  </a:lnTo>
                  <a:lnTo>
                    <a:pt x="2278265" y="471411"/>
                  </a:lnTo>
                  <a:lnTo>
                    <a:pt x="2308974" y="456044"/>
                  </a:lnTo>
                  <a:close/>
                </a:path>
              </a:pathLst>
            </a:custGeom>
            <a:solidFill>
              <a:srgbClr val="000000"/>
            </a:solidFill>
          </p:spPr>
          <p:txBody>
            <a:bodyPr wrap="square" lIns="0" tIns="0" rIns="0" bIns="0" rtlCol="0"/>
            <a:lstStyle/>
            <a:p>
              <a:endParaRPr sz="1588"/>
            </a:p>
          </p:txBody>
        </p:sp>
        <p:sp>
          <p:nvSpPr>
            <p:cNvPr id="50" name="object 50"/>
            <p:cNvSpPr/>
            <p:nvPr/>
          </p:nvSpPr>
          <p:spPr>
            <a:xfrm>
              <a:off x="6189839" y="3363153"/>
              <a:ext cx="491490" cy="410209"/>
            </a:xfrm>
            <a:custGeom>
              <a:avLst/>
              <a:gdLst/>
              <a:ahLst/>
              <a:cxnLst/>
              <a:rect l="l" t="t" r="r" b="b"/>
              <a:pathLst>
                <a:path w="491490" h="410210">
                  <a:moveTo>
                    <a:pt x="491489" y="0"/>
                  </a:moveTo>
                  <a:lnTo>
                    <a:pt x="0" y="0"/>
                  </a:lnTo>
                  <a:lnTo>
                    <a:pt x="0" y="409928"/>
                  </a:lnTo>
                  <a:lnTo>
                    <a:pt x="491489" y="409928"/>
                  </a:lnTo>
                  <a:lnTo>
                    <a:pt x="491489" y="0"/>
                  </a:lnTo>
                  <a:close/>
                </a:path>
              </a:pathLst>
            </a:custGeom>
            <a:solidFill>
              <a:srgbClr val="FF0000"/>
            </a:solidFill>
          </p:spPr>
          <p:txBody>
            <a:bodyPr wrap="square" lIns="0" tIns="0" rIns="0" bIns="0" rtlCol="0"/>
            <a:lstStyle/>
            <a:p>
              <a:endParaRPr sz="1588"/>
            </a:p>
          </p:txBody>
        </p:sp>
        <p:sp>
          <p:nvSpPr>
            <p:cNvPr id="51" name="object 51"/>
            <p:cNvSpPr/>
            <p:nvPr/>
          </p:nvSpPr>
          <p:spPr>
            <a:xfrm>
              <a:off x="6189839" y="3363153"/>
              <a:ext cx="491490" cy="410209"/>
            </a:xfrm>
            <a:custGeom>
              <a:avLst/>
              <a:gdLst/>
              <a:ahLst/>
              <a:cxnLst/>
              <a:rect l="l" t="t" r="r" b="b"/>
              <a:pathLst>
                <a:path w="491490" h="410210">
                  <a:moveTo>
                    <a:pt x="0" y="0"/>
                  </a:moveTo>
                  <a:lnTo>
                    <a:pt x="491489" y="0"/>
                  </a:lnTo>
                  <a:lnTo>
                    <a:pt x="491489" y="409927"/>
                  </a:lnTo>
                  <a:lnTo>
                    <a:pt x="0" y="409927"/>
                  </a:lnTo>
                  <a:lnTo>
                    <a:pt x="0" y="0"/>
                  </a:lnTo>
                  <a:close/>
                </a:path>
              </a:pathLst>
            </a:custGeom>
            <a:ln w="30733">
              <a:solidFill>
                <a:srgbClr val="000000"/>
              </a:solidFill>
            </a:ln>
          </p:spPr>
          <p:txBody>
            <a:bodyPr wrap="square" lIns="0" tIns="0" rIns="0" bIns="0" rtlCol="0"/>
            <a:lstStyle/>
            <a:p>
              <a:endParaRPr sz="1588"/>
            </a:p>
          </p:txBody>
        </p:sp>
      </p:grpSp>
      <p:sp>
        <p:nvSpPr>
          <p:cNvPr id="52" name="object 52"/>
          <p:cNvSpPr txBox="1"/>
          <p:nvPr/>
        </p:nvSpPr>
        <p:spPr>
          <a:xfrm>
            <a:off x="5596092" y="2967487"/>
            <a:ext cx="433668" cy="263085"/>
          </a:xfrm>
          <a:prstGeom prst="rect">
            <a:avLst/>
          </a:prstGeom>
        </p:spPr>
        <p:txBody>
          <a:bodyPr vert="horz" wrap="square" lIns="0" tIns="85725" rIns="0" bIns="0" rtlCol="0">
            <a:spAutoFit/>
          </a:bodyPr>
          <a:lstStyle/>
          <a:p>
            <a:pPr marL="47067">
              <a:spcBef>
                <a:spcPts val="675"/>
              </a:spcBef>
            </a:pPr>
            <a:r>
              <a:rPr sz="1147" spc="-9" dirty="0">
                <a:latin typeface="Times New Roman"/>
                <a:cs typeface="Times New Roman"/>
              </a:rPr>
              <a:t>Zero?</a:t>
            </a:r>
            <a:endParaRPr sz="1147">
              <a:latin typeface="Times New Roman"/>
              <a:cs typeface="Times New Roman"/>
            </a:endParaRPr>
          </a:p>
        </p:txBody>
      </p:sp>
      <p:grpSp>
        <p:nvGrpSpPr>
          <p:cNvPr id="53" name="object 53"/>
          <p:cNvGrpSpPr/>
          <p:nvPr/>
        </p:nvGrpSpPr>
        <p:grpSpPr>
          <a:xfrm>
            <a:off x="595357" y="2158181"/>
            <a:ext cx="7688916" cy="3644153"/>
            <a:chOff x="522337" y="2445938"/>
            <a:chExt cx="8714105" cy="4130040"/>
          </a:xfrm>
        </p:grpSpPr>
        <p:pic>
          <p:nvPicPr>
            <p:cNvPr id="54" name="object 54"/>
            <p:cNvPicPr/>
            <p:nvPr/>
          </p:nvPicPr>
          <p:blipFill>
            <a:blip r:embed="rId4" cstate="print"/>
            <a:stretch>
              <a:fillRect/>
            </a:stretch>
          </p:blipFill>
          <p:spPr>
            <a:xfrm>
              <a:off x="5944094" y="4136891"/>
              <a:ext cx="245744" cy="92233"/>
            </a:xfrm>
            <a:prstGeom prst="rect">
              <a:avLst/>
            </a:prstGeom>
          </p:spPr>
        </p:pic>
        <p:pic>
          <p:nvPicPr>
            <p:cNvPr id="55" name="object 55"/>
            <p:cNvPicPr/>
            <p:nvPr/>
          </p:nvPicPr>
          <p:blipFill>
            <a:blip r:embed="rId3" cstate="print"/>
            <a:stretch>
              <a:fillRect/>
            </a:stretch>
          </p:blipFill>
          <p:spPr>
            <a:xfrm>
              <a:off x="5944094" y="4792776"/>
              <a:ext cx="245744" cy="92233"/>
            </a:xfrm>
            <a:prstGeom prst="rect">
              <a:avLst/>
            </a:prstGeom>
          </p:spPr>
        </p:pic>
        <p:sp>
          <p:nvSpPr>
            <p:cNvPr id="56" name="object 56"/>
            <p:cNvSpPr/>
            <p:nvPr/>
          </p:nvSpPr>
          <p:spPr>
            <a:xfrm>
              <a:off x="522325" y="2445943"/>
              <a:ext cx="7649209" cy="2357120"/>
            </a:xfrm>
            <a:custGeom>
              <a:avLst/>
              <a:gdLst/>
              <a:ahLst/>
              <a:cxnLst/>
              <a:rect l="l" t="t" r="r" b="b"/>
              <a:pathLst>
                <a:path w="7649209" h="2357120">
                  <a:moveTo>
                    <a:pt x="1162177" y="1983028"/>
                  </a:moveTo>
                  <a:lnTo>
                    <a:pt x="1131468" y="1967649"/>
                  </a:lnTo>
                  <a:lnTo>
                    <a:pt x="1070025" y="1936915"/>
                  </a:lnTo>
                  <a:lnTo>
                    <a:pt x="1070025" y="1967649"/>
                  </a:lnTo>
                  <a:lnTo>
                    <a:pt x="670687" y="1967649"/>
                  </a:lnTo>
                  <a:lnTo>
                    <a:pt x="670687" y="1998395"/>
                  </a:lnTo>
                  <a:lnTo>
                    <a:pt x="1070025" y="1998395"/>
                  </a:lnTo>
                  <a:lnTo>
                    <a:pt x="1070025" y="2029142"/>
                  </a:lnTo>
                  <a:lnTo>
                    <a:pt x="1131468" y="1998395"/>
                  </a:lnTo>
                  <a:lnTo>
                    <a:pt x="1162177" y="1983028"/>
                  </a:lnTo>
                  <a:close/>
                </a:path>
                <a:path w="7649209" h="2357120">
                  <a:moveTo>
                    <a:pt x="5176012" y="2310968"/>
                  </a:moveTo>
                  <a:lnTo>
                    <a:pt x="5145303" y="2295601"/>
                  </a:lnTo>
                  <a:lnTo>
                    <a:pt x="5083861" y="2264854"/>
                  </a:lnTo>
                  <a:lnTo>
                    <a:pt x="5083861" y="2295601"/>
                  </a:lnTo>
                  <a:lnTo>
                    <a:pt x="4274947" y="2295601"/>
                  </a:lnTo>
                  <a:lnTo>
                    <a:pt x="4274947" y="2326348"/>
                  </a:lnTo>
                  <a:lnTo>
                    <a:pt x="5083861" y="2326348"/>
                  </a:lnTo>
                  <a:lnTo>
                    <a:pt x="5083861" y="2357082"/>
                  </a:lnTo>
                  <a:lnTo>
                    <a:pt x="5145303" y="2326348"/>
                  </a:lnTo>
                  <a:lnTo>
                    <a:pt x="5176012" y="2310968"/>
                  </a:lnTo>
                  <a:close/>
                </a:path>
                <a:path w="7649209" h="2357120">
                  <a:moveTo>
                    <a:pt x="7051535" y="572185"/>
                  </a:moveTo>
                  <a:lnTo>
                    <a:pt x="7020814" y="556818"/>
                  </a:lnTo>
                  <a:lnTo>
                    <a:pt x="6959371" y="526072"/>
                  </a:lnTo>
                  <a:lnTo>
                    <a:pt x="6959371" y="556818"/>
                  </a:lnTo>
                  <a:lnTo>
                    <a:pt x="6715392" y="556818"/>
                  </a:lnTo>
                  <a:lnTo>
                    <a:pt x="6708508" y="563702"/>
                  </a:lnTo>
                  <a:lnTo>
                    <a:pt x="6708508" y="2047925"/>
                  </a:lnTo>
                  <a:lnTo>
                    <a:pt x="6739229" y="2047925"/>
                  </a:lnTo>
                  <a:lnTo>
                    <a:pt x="6739229" y="587565"/>
                  </a:lnTo>
                  <a:lnTo>
                    <a:pt x="6959371" y="587565"/>
                  </a:lnTo>
                  <a:lnTo>
                    <a:pt x="6959371" y="618312"/>
                  </a:lnTo>
                  <a:lnTo>
                    <a:pt x="7020814" y="587565"/>
                  </a:lnTo>
                  <a:lnTo>
                    <a:pt x="7051535" y="572185"/>
                  </a:lnTo>
                  <a:close/>
                </a:path>
                <a:path w="7649209" h="2357120">
                  <a:moveTo>
                    <a:pt x="7141972" y="2065007"/>
                  </a:moveTo>
                  <a:lnTo>
                    <a:pt x="7111263" y="2049640"/>
                  </a:lnTo>
                  <a:lnTo>
                    <a:pt x="7049821" y="2018893"/>
                  </a:lnTo>
                  <a:lnTo>
                    <a:pt x="7049821" y="2049640"/>
                  </a:lnTo>
                  <a:lnTo>
                    <a:pt x="6158992" y="2049640"/>
                  </a:lnTo>
                  <a:lnTo>
                    <a:pt x="6158992" y="2080387"/>
                  </a:lnTo>
                  <a:lnTo>
                    <a:pt x="7049821" y="2080387"/>
                  </a:lnTo>
                  <a:lnTo>
                    <a:pt x="7049821" y="2111133"/>
                  </a:lnTo>
                  <a:lnTo>
                    <a:pt x="7111263" y="2080387"/>
                  </a:lnTo>
                  <a:lnTo>
                    <a:pt x="7141972" y="2065007"/>
                  </a:lnTo>
                  <a:close/>
                </a:path>
                <a:path w="7649209" h="2357120">
                  <a:moveTo>
                    <a:pt x="7648829" y="6883"/>
                  </a:moveTo>
                  <a:lnTo>
                    <a:pt x="7641945" y="0"/>
                  </a:lnTo>
                  <a:lnTo>
                    <a:pt x="30734" y="0"/>
                  </a:lnTo>
                  <a:lnTo>
                    <a:pt x="30734" y="15405"/>
                  </a:lnTo>
                  <a:lnTo>
                    <a:pt x="15367" y="30746"/>
                  </a:lnTo>
                  <a:lnTo>
                    <a:pt x="30670" y="15405"/>
                  </a:lnTo>
                  <a:lnTo>
                    <a:pt x="30734" y="0"/>
                  </a:lnTo>
                  <a:lnTo>
                    <a:pt x="11290" y="0"/>
                  </a:lnTo>
                  <a:lnTo>
                    <a:pt x="7378" y="1625"/>
                  </a:lnTo>
                  <a:lnTo>
                    <a:pt x="1625" y="7404"/>
                  </a:lnTo>
                  <a:lnTo>
                    <a:pt x="0" y="11315"/>
                  </a:lnTo>
                  <a:lnTo>
                    <a:pt x="3340" y="1919833"/>
                  </a:lnTo>
                  <a:lnTo>
                    <a:pt x="3441" y="1974456"/>
                  </a:lnTo>
                  <a:lnTo>
                    <a:pt x="10312" y="1981314"/>
                  </a:lnTo>
                  <a:lnTo>
                    <a:pt x="216750" y="1981314"/>
                  </a:lnTo>
                  <a:lnTo>
                    <a:pt x="216750" y="2012061"/>
                  </a:lnTo>
                  <a:lnTo>
                    <a:pt x="278180" y="1981314"/>
                  </a:lnTo>
                  <a:lnTo>
                    <a:pt x="308902" y="1965947"/>
                  </a:lnTo>
                  <a:lnTo>
                    <a:pt x="278180" y="1950580"/>
                  </a:lnTo>
                  <a:lnTo>
                    <a:pt x="216750" y="1919833"/>
                  </a:lnTo>
                  <a:lnTo>
                    <a:pt x="216750" y="1950580"/>
                  </a:lnTo>
                  <a:lnTo>
                    <a:pt x="34112" y="1950580"/>
                  </a:lnTo>
                  <a:lnTo>
                    <a:pt x="30759" y="30746"/>
                  </a:lnTo>
                  <a:lnTo>
                    <a:pt x="7618108" y="30746"/>
                  </a:lnTo>
                  <a:lnTo>
                    <a:pt x="7618108" y="15405"/>
                  </a:lnTo>
                  <a:lnTo>
                    <a:pt x="7618108" y="432130"/>
                  </a:lnTo>
                  <a:lnTo>
                    <a:pt x="7223887" y="432130"/>
                  </a:lnTo>
                  <a:lnTo>
                    <a:pt x="7223887" y="462876"/>
                  </a:lnTo>
                  <a:lnTo>
                    <a:pt x="7641945" y="462876"/>
                  </a:lnTo>
                  <a:lnTo>
                    <a:pt x="7648829" y="455993"/>
                  </a:lnTo>
                  <a:lnTo>
                    <a:pt x="7648829" y="447509"/>
                  </a:lnTo>
                  <a:lnTo>
                    <a:pt x="7648829" y="432130"/>
                  </a:lnTo>
                  <a:lnTo>
                    <a:pt x="7648829" y="30746"/>
                  </a:lnTo>
                  <a:lnTo>
                    <a:pt x="7648829" y="15405"/>
                  </a:lnTo>
                  <a:lnTo>
                    <a:pt x="7648829" y="6883"/>
                  </a:lnTo>
                  <a:close/>
                </a:path>
              </a:pathLst>
            </a:custGeom>
            <a:solidFill>
              <a:srgbClr val="000000"/>
            </a:solidFill>
          </p:spPr>
          <p:txBody>
            <a:bodyPr wrap="square" lIns="0" tIns="0" rIns="0" bIns="0" rtlCol="0"/>
            <a:lstStyle/>
            <a:p>
              <a:endParaRPr sz="1588"/>
            </a:p>
          </p:txBody>
        </p:sp>
        <p:pic>
          <p:nvPicPr>
            <p:cNvPr id="57" name="object 57"/>
            <p:cNvPicPr/>
            <p:nvPr/>
          </p:nvPicPr>
          <p:blipFill>
            <a:blip r:embed="rId5" cstate="print"/>
            <a:stretch>
              <a:fillRect/>
            </a:stretch>
          </p:blipFill>
          <p:spPr>
            <a:xfrm>
              <a:off x="1684513" y="3562993"/>
              <a:ext cx="245744" cy="92233"/>
            </a:xfrm>
            <a:prstGeom prst="rect">
              <a:avLst/>
            </a:prstGeom>
          </p:spPr>
        </p:pic>
        <p:sp>
          <p:nvSpPr>
            <p:cNvPr id="58" name="object 58"/>
            <p:cNvSpPr/>
            <p:nvPr/>
          </p:nvSpPr>
          <p:spPr>
            <a:xfrm>
              <a:off x="1341488" y="2907118"/>
              <a:ext cx="7894955" cy="3669029"/>
            </a:xfrm>
            <a:custGeom>
              <a:avLst/>
              <a:gdLst/>
              <a:ahLst/>
              <a:cxnLst/>
              <a:rect l="l" t="t" r="r" b="b"/>
              <a:pathLst>
                <a:path w="7894955" h="3669029">
                  <a:moveTo>
                    <a:pt x="588759" y="46113"/>
                  </a:moveTo>
                  <a:lnTo>
                    <a:pt x="558050" y="30734"/>
                  </a:lnTo>
                  <a:lnTo>
                    <a:pt x="496608" y="0"/>
                  </a:lnTo>
                  <a:lnTo>
                    <a:pt x="496608" y="30734"/>
                  </a:lnTo>
                  <a:lnTo>
                    <a:pt x="6883" y="30734"/>
                  </a:lnTo>
                  <a:lnTo>
                    <a:pt x="0" y="37617"/>
                  </a:lnTo>
                  <a:lnTo>
                    <a:pt x="0" y="1521853"/>
                  </a:lnTo>
                  <a:lnTo>
                    <a:pt x="30721" y="1521853"/>
                  </a:lnTo>
                  <a:lnTo>
                    <a:pt x="30721" y="61480"/>
                  </a:lnTo>
                  <a:lnTo>
                    <a:pt x="496608" y="61480"/>
                  </a:lnTo>
                  <a:lnTo>
                    <a:pt x="496608" y="92227"/>
                  </a:lnTo>
                  <a:lnTo>
                    <a:pt x="558050" y="61480"/>
                  </a:lnTo>
                  <a:lnTo>
                    <a:pt x="588759" y="46113"/>
                  </a:lnTo>
                  <a:close/>
                </a:path>
                <a:path w="7894955" h="3669029">
                  <a:moveTo>
                    <a:pt x="7633449" y="2423693"/>
                  </a:moveTo>
                  <a:lnTo>
                    <a:pt x="7602741" y="2408326"/>
                  </a:lnTo>
                  <a:lnTo>
                    <a:pt x="7541298" y="2377579"/>
                  </a:lnTo>
                  <a:lnTo>
                    <a:pt x="7541298" y="2408326"/>
                  </a:lnTo>
                  <a:lnTo>
                    <a:pt x="7377036" y="2408326"/>
                  </a:lnTo>
                  <a:lnTo>
                    <a:pt x="7370153" y="2415197"/>
                  </a:lnTo>
                  <a:lnTo>
                    <a:pt x="7370153" y="2818244"/>
                  </a:lnTo>
                  <a:lnTo>
                    <a:pt x="5913234" y="2818244"/>
                  </a:lnTo>
                  <a:lnTo>
                    <a:pt x="5913234" y="2439060"/>
                  </a:lnTo>
                  <a:lnTo>
                    <a:pt x="6230658" y="2439060"/>
                  </a:lnTo>
                  <a:lnTo>
                    <a:pt x="6230658" y="2469807"/>
                  </a:lnTo>
                  <a:lnTo>
                    <a:pt x="6292100" y="2439060"/>
                  </a:lnTo>
                  <a:lnTo>
                    <a:pt x="6322809" y="2423693"/>
                  </a:lnTo>
                  <a:lnTo>
                    <a:pt x="6292100" y="2408326"/>
                  </a:lnTo>
                  <a:lnTo>
                    <a:pt x="6230658" y="2377579"/>
                  </a:lnTo>
                  <a:lnTo>
                    <a:pt x="6230658" y="2408326"/>
                  </a:lnTo>
                  <a:lnTo>
                    <a:pt x="5913234" y="2408326"/>
                  </a:lnTo>
                  <a:lnTo>
                    <a:pt x="5913234" y="1603832"/>
                  </a:lnTo>
                  <a:lnTo>
                    <a:pt x="5882525" y="1603832"/>
                  </a:lnTo>
                  <a:lnTo>
                    <a:pt x="5882525" y="2408326"/>
                  </a:lnTo>
                  <a:lnTo>
                    <a:pt x="4044556" y="2408326"/>
                  </a:lnTo>
                  <a:lnTo>
                    <a:pt x="4044556" y="1849793"/>
                  </a:lnTo>
                  <a:lnTo>
                    <a:pt x="4013835" y="1849793"/>
                  </a:lnTo>
                  <a:lnTo>
                    <a:pt x="4013835" y="2432177"/>
                  </a:lnTo>
                  <a:lnTo>
                    <a:pt x="4020705" y="2439060"/>
                  </a:lnTo>
                  <a:lnTo>
                    <a:pt x="5882525" y="2439060"/>
                  </a:lnTo>
                  <a:lnTo>
                    <a:pt x="5882525" y="2842107"/>
                  </a:lnTo>
                  <a:lnTo>
                    <a:pt x="5889396" y="2848991"/>
                  </a:lnTo>
                  <a:lnTo>
                    <a:pt x="7394003" y="2848991"/>
                  </a:lnTo>
                  <a:lnTo>
                    <a:pt x="7400874" y="2842107"/>
                  </a:lnTo>
                  <a:lnTo>
                    <a:pt x="7400874" y="2833624"/>
                  </a:lnTo>
                  <a:lnTo>
                    <a:pt x="7400874" y="2818244"/>
                  </a:lnTo>
                  <a:lnTo>
                    <a:pt x="7400874" y="2439060"/>
                  </a:lnTo>
                  <a:lnTo>
                    <a:pt x="7541298" y="2439060"/>
                  </a:lnTo>
                  <a:lnTo>
                    <a:pt x="7541298" y="2469807"/>
                  </a:lnTo>
                  <a:lnTo>
                    <a:pt x="7602741" y="2439060"/>
                  </a:lnTo>
                  <a:lnTo>
                    <a:pt x="7633449" y="2423693"/>
                  </a:lnTo>
                  <a:close/>
                </a:path>
                <a:path w="7894955" h="3669029">
                  <a:moveTo>
                    <a:pt x="7894561" y="3251454"/>
                  </a:moveTo>
                  <a:lnTo>
                    <a:pt x="7887678" y="3244570"/>
                  </a:lnTo>
                  <a:lnTo>
                    <a:pt x="7387704" y="3244570"/>
                  </a:lnTo>
                  <a:lnTo>
                    <a:pt x="7387704" y="3275317"/>
                  </a:lnTo>
                  <a:lnTo>
                    <a:pt x="7863840" y="3275317"/>
                  </a:lnTo>
                  <a:lnTo>
                    <a:pt x="7863840" y="3638105"/>
                  </a:lnTo>
                  <a:lnTo>
                    <a:pt x="2242426" y="3638105"/>
                  </a:lnTo>
                  <a:lnTo>
                    <a:pt x="2242426" y="1701190"/>
                  </a:lnTo>
                  <a:lnTo>
                    <a:pt x="2708313" y="1701190"/>
                  </a:lnTo>
                  <a:lnTo>
                    <a:pt x="2708313" y="1731937"/>
                  </a:lnTo>
                  <a:lnTo>
                    <a:pt x="2769755" y="1701190"/>
                  </a:lnTo>
                  <a:lnTo>
                    <a:pt x="2800464" y="1685823"/>
                  </a:lnTo>
                  <a:lnTo>
                    <a:pt x="2769755" y="1670456"/>
                  </a:lnTo>
                  <a:lnTo>
                    <a:pt x="2708313" y="1639709"/>
                  </a:lnTo>
                  <a:lnTo>
                    <a:pt x="2708313" y="1670456"/>
                  </a:lnTo>
                  <a:lnTo>
                    <a:pt x="2218588" y="1670456"/>
                  </a:lnTo>
                  <a:lnTo>
                    <a:pt x="2211705" y="1677327"/>
                  </a:lnTo>
                  <a:lnTo>
                    <a:pt x="2211705" y="3661968"/>
                  </a:lnTo>
                  <a:lnTo>
                    <a:pt x="2218588" y="3668852"/>
                  </a:lnTo>
                  <a:lnTo>
                    <a:pt x="7887678" y="3668852"/>
                  </a:lnTo>
                  <a:lnTo>
                    <a:pt x="7894561" y="3661968"/>
                  </a:lnTo>
                  <a:lnTo>
                    <a:pt x="7894561" y="3653472"/>
                  </a:lnTo>
                  <a:lnTo>
                    <a:pt x="7894561" y="3638105"/>
                  </a:lnTo>
                  <a:lnTo>
                    <a:pt x="7894561" y="3275317"/>
                  </a:lnTo>
                  <a:lnTo>
                    <a:pt x="7894561" y="3259950"/>
                  </a:lnTo>
                  <a:lnTo>
                    <a:pt x="7894561" y="3251454"/>
                  </a:lnTo>
                  <a:close/>
                </a:path>
              </a:pathLst>
            </a:custGeom>
            <a:solidFill>
              <a:srgbClr val="000000"/>
            </a:solidFill>
          </p:spPr>
          <p:txBody>
            <a:bodyPr wrap="square" lIns="0" tIns="0" rIns="0" bIns="0" rtlCol="0"/>
            <a:lstStyle/>
            <a:p>
              <a:endParaRPr sz="1588"/>
            </a:p>
          </p:txBody>
        </p:sp>
        <p:sp>
          <p:nvSpPr>
            <p:cNvPr id="59" name="object 59"/>
            <p:cNvSpPr/>
            <p:nvPr/>
          </p:nvSpPr>
          <p:spPr>
            <a:xfrm>
              <a:off x="2831324" y="2543296"/>
              <a:ext cx="327660" cy="3920490"/>
            </a:xfrm>
            <a:custGeom>
              <a:avLst/>
              <a:gdLst/>
              <a:ahLst/>
              <a:cxnLst/>
              <a:rect l="l" t="t" r="r" b="b"/>
              <a:pathLst>
                <a:path w="327660" h="3920490">
                  <a:moveTo>
                    <a:pt x="327660" y="0"/>
                  </a:moveTo>
                  <a:lnTo>
                    <a:pt x="0" y="0"/>
                  </a:lnTo>
                  <a:lnTo>
                    <a:pt x="0" y="3919935"/>
                  </a:lnTo>
                  <a:lnTo>
                    <a:pt x="327660" y="3919935"/>
                  </a:lnTo>
                  <a:lnTo>
                    <a:pt x="327660" y="0"/>
                  </a:lnTo>
                  <a:close/>
                </a:path>
              </a:pathLst>
            </a:custGeom>
            <a:solidFill>
              <a:srgbClr val="07F707"/>
            </a:solidFill>
          </p:spPr>
          <p:txBody>
            <a:bodyPr wrap="square" lIns="0" tIns="0" rIns="0" bIns="0" rtlCol="0"/>
            <a:lstStyle/>
            <a:p>
              <a:endParaRPr sz="1588"/>
            </a:p>
          </p:txBody>
        </p:sp>
        <p:sp>
          <p:nvSpPr>
            <p:cNvPr id="60" name="object 60"/>
            <p:cNvSpPr/>
            <p:nvPr/>
          </p:nvSpPr>
          <p:spPr>
            <a:xfrm>
              <a:off x="2831324" y="2543296"/>
              <a:ext cx="327660" cy="3920490"/>
            </a:xfrm>
            <a:custGeom>
              <a:avLst/>
              <a:gdLst/>
              <a:ahLst/>
              <a:cxnLst/>
              <a:rect l="l" t="t" r="r" b="b"/>
              <a:pathLst>
                <a:path w="327660"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61" name="object 61"/>
          <p:cNvSpPr txBox="1"/>
          <p:nvPr/>
        </p:nvSpPr>
        <p:spPr>
          <a:xfrm>
            <a:off x="2650771" y="3706905"/>
            <a:ext cx="243656" cy="540124"/>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IF/ID</a:t>
            </a:r>
            <a:endParaRPr sz="1677">
              <a:latin typeface="Times New Roman"/>
              <a:cs typeface="Times New Roman"/>
            </a:endParaRPr>
          </a:p>
        </p:txBody>
      </p:sp>
      <p:grpSp>
        <p:nvGrpSpPr>
          <p:cNvPr id="62" name="object 62"/>
          <p:cNvGrpSpPr/>
          <p:nvPr/>
        </p:nvGrpSpPr>
        <p:grpSpPr>
          <a:xfrm>
            <a:off x="2618970" y="2230358"/>
            <a:ext cx="2126876" cy="3486709"/>
            <a:chOff x="2815766" y="2527739"/>
            <a:chExt cx="2410460" cy="3951604"/>
          </a:xfrm>
        </p:grpSpPr>
        <p:sp>
          <p:nvSpPr>
            <p:cNvPr id="63" name="object 63"/>
            <p:cNvSpPr/>
            <p:nvPr/>
          </p:nvSpPr>
          <p:spPr>
            <a:xfrm>
              <a:off x="2831324" y="6135290"/>
              <a:ext cx="327660" cy="328295"/>
            </a:xfrm>
            <a:custGeom>
              <a:avLst/>
              <a:gdLst/>
              <a:ahLst/>
              <a:cxnLst/>
              <a:rect l="l" t="t" r="r" b="b"/>
              <a:pathLst>
                <a:path w="327660"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64" name="object 64"/>
            <p:cNvSpPr/>
            <p:nvPr/>
          </p:nvSpPr>
          <p:spPr>
            <a:xfrm>
              <a:off x="4882612" y="2543297"/>
              <a:ext cx="327660" cy="3920490"/>
            </a:xfrm>
            <a:custGeom>
              <a:avLst/>
              <a:gdLst/>
              <a:ahLst/>
              <a:cxnLst/>
              <a:rect l="l" t="t" r="r" b="b"/>
              <a:pathLst>
                <a:path w="327660" h="3920490">
                  <a:moveTo>
                    <a:pt x="327660" y="0"/>
                  </a:moveTo>
                  <a:lnTo>
                    <a:pt x="0" y="0"/>
                  </a:lnTo>
                  <a:lnTo>
                    <a:pt x="0" y="3919935"/>
                  </a:lnTo>
                  <a:lnTo>
                    <a:pt x="327660" y="3919935"/>
                  </a:lnTo>
                  <a:lnTo>
                    <a:pt x="327660" y="0"/>
                  </a:lnTo>
                  <a:close/>
                </a:path>
              </a:pathLst>
            </a:custGeom>
            <a:solidFill>
              <a:srgbClr val="07F707"/>
            </a:solidFill>
          </p:spPr>
          <p:txBody>
            <a:bodyPr wrap="square" lIns="0" tIns="0" rIns="0" bIns="0" rtlCol="0"/>
            <a:lstStyle/>
            <a:p>
              <a:endParaRPr sz="1588"/>
            </a:p>
          </p:txBody>
        </p:sp>
        <p:sp>
          <p:nvSpPr>
            <p:cNvPr id="65" name="object 65"/>
            <p:cNvSpPr/>
            <p:nvPr/>
          </p:nvSpPr>
          <p:spPr>
            <a:xfrm>
              <a:off x="4882612" y="2543297"/>
              <a:ext cx="327660" cy="3920490"/>
            </a:xfrm>
            <a:custGeom>
              <a:avLst/>
              <a:gdLst/>
              <a:ahLst/>
              <a:cxnLst/>
              <a:rect l="l" t="t" r="r" b="b"/>
              <a:pathLst>
                <a:path w="327660"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66" name="object 66"/>
          <p:cNvSpPr txBox="1"/>
          <p:nvPr/>
        </p:nvSpPr>
        <p:spPr>
          <a:xfrm>
            <a:off x="4460732" y="3663874"/>
            <a:ext cx="243656" cy="623047"/>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ID/EX</a:t>
            </a:r>
            <a:endParaRPr sz="1677">
              <a:latin typeface="Times New Roman"/>
              <a:cs typeface="Times New Roman"/>
            </a:endParaRPr>
          </a:p>
        </p:txBody>
      </p:sp>
      <p:grpSp>
        <p:nvGrpSpPr>
          <p:cNvPr id="67" name="object 67"/>
          <p:cNvGrpSpPr/>
          <p:nvPr/>
        </p:nvGrpSpPr>
        <p:grpSpPr>
          <a:xfrm>
            <a:off x="4427425" y="2230358"/>
            <a:ext cx="3424518" cy="3486709"/>
            <a:chOff x="4865348" y="2527739"/>
            <a:chExt cx="3881120" cy="3951604"/>
          </a:xfrm>
        </p:grpSpPr>
        <p:sp>
          <p:nvSpPr>
            <p:cNvPr id="68" name="object 68"/>
            <p:cNvSpPr/>
            <p:nvPr/>
          </p:nvSpPr>
          <p:spPr>
            <a:xfrm>
              <a:off x="4880905" y="6125041"/>
              <a:ext cx="327660" cy="328295"/>
            </a:xfrm>
            <a:custGeom>
              <a:avLst/>
              <a:gdLst/>
              <a:ahLst/>
              <a:cxnLst/>
              <a:rect l="l" t="t" r="r" b="b"/>
              <a:pathLst>
                <a:path w="327660"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69" name="object 69"/>
            <p:cNvSpPr/>
            <p:nvPr/>
          </p:nvSpPr>
          <p:spPr>
            <a:xfrm>
              <a:off x="8403251" y="2543297"/>
              <a:ext cx="327660" cy="3920490"/>
            </a:xfrm>
            <a:custGeom>
              <a:avLst/>
              <a:gdLst/>
              <a:ahLst/>
              <a:cxnLst/>
              <a:rect l="l" t="t" r="r" b="b"/>
              <a:pathLst>
                <a:path w="327659" h="3920490">
                  <a:moveTo>
                    <a:pt x="327659" y="0"/>
                  </a:moveTo>
                  <a:lnTo>
                    <a:pt x="0" y="0"/>
                  </a:lnTo>
                  <a:lnTo>
                    <a:pt x="0" y="3919935"/>
                  </a:lnTo>
                  <a:lnTo>
                    <a:pt x="327659" y="3919935"/>
                  </a:lnTo>
                  <a:lnTo>
                    <a:pt x="327659" y="0"/>
                  </a:lnTo>
                  <a:close/>
                </a:path>
              </a:pathLst>
            </a:custGeom>
            <a:solidFill>
              <a:srgbClr val="07F707"/>
            </a:solidFill>
          </p:spPr>
          <p:txBody>
            <a:bodyPr wrap="square" lIns="0" tIns="0" rIns="0" bIns="0" rtlCol="0"/>
            <a:lstStyle/>
            <a:p>
              <a:endParaRPr sz="1588"/>
            </a:p>
          </p:txBody>
        </p:sp>
        <p:sp>
          <p:nvSpPr>
            <p:cNvPr id="70" name="object 70"/>
            <p:cNvSpPr/>
            <p:nvPr/>
          </p:nvSpPr>
          <p:spPr>
            <a:xfrm>
              <a:off x="8403251" y="2543297"/>
              <a:ext cx="327660" cy="3920490"/>
            </a:xfrm>
            <a:custGeom>
              <a:avLst/>
              <a:gdLst/>
              <a:ahLst/>
              <a:cxnLst/>
              <a:rect l="l" t="t" r="r" b="b"/>
              <a:pathLst>
                <a:path w="327659"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71" name="object 71"/>
          <p:cNvSpPr txBox="1"/>
          <p:nvPr/>
        </p:nvSpPr>
        <p:spPr>
          <a:xfrm>
            <a:off x="6941387" y="3475616"/>
            <a:ext cx="869469" cy="1239371"/>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MEM/WB</a:t>
            </a:r>
            <a:endParaRPr sz="1677">
              <a:latin typeface="Times New Roman"/>
              <a:cs typeface="Times New Roman"/>
            </a:endParaRPr>
          </a:p>
          <a:p>
            <a:pPr marL="481879" marR="4483" indent="169218">
              <a:lnSpc>
                <a:spcPct val="78700"/>
              </a:lnSpc>
              <a:spcBef>
                <a:spcPts val="1747"/>
              </a:spcBef>
            </a:pPr>
            <a:r>
              <a:rPr sz="1677" spc="-18" dirty="0">
                <a:latin typeface="Times New Roman"/>
                <a:cs typeface="Times New Roman"/>
              </a:rPr>
              <a:t>Data </a:t>
            </a:r>
            <a:r>
              <a:rPr sz="1677" spc="-9" dirty="0">
                <a:latin typeface="Times New Roman"/>
                <a:cs typeface="Times New Roman"/>
              </a:rPr>
              <a:t>Memory</a:t>
            </a:r>
            <a:endParaRPr sz="1677">
              <a:latin typeface="Times New Roman"/>
              <a:cs typeface="Times New Roman"/>
            </a:endParaRPr>
          </a:p>
        </p:txBody>
      </p:sp>
      <p:grpSp>
        <p:nvGrpSpPr>
          <p:cNvPr id="72" name="object 72"/>
          <p:cNvGrpSpPr/>
          <p:nvPr/>
        </p:nvGrpSpPr>
        <p:grpSpPr>
          <a:xfrm>
            <a:off x="6134993" y="2230358"/>
            <a:ext cx="1717301" cy="3486709"/>
            <a:chOff x="6800591" y="2527739"/>
            <a:chExt cx="1946275" cy="3951604"/>
          </a:xfrm>
        </p:grpSpPr>
        <p:sp>
          <p:nvSpPr>
            <p:cNvPr id="73" name="object 73"/>
            <p:cNvSpPr/>
            <p:nvPr/>
          </p:nvSpPr>
          <p:spPr>
            <a:xfrm>
              <a:off x="8403251" y="6135290"/>
              <a:ext cx="327660" cy="328295"/>
            </a:xfrm>
            <a:custGeom>
              <a:avLst/>
              <a:gdLst/>
              <a:ahLst/>
              <a:cxnLst/>
              <a:rect l="l" t="t" r="r" b="b"/>
              <a:pathLst>
                <a:path w="327659"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74" name="object 74"/>
            <p:cNvSpPr/>
            <p:nvPr/>
          </p:nvSpPr>
          <p:spPr>
            <a:xfrm>
              <a:off x="6816148" y="2543297"/>
              <a:ext cx="327660" cy="3920490"/>
            </a:xfrm>
            <a:custGeom>
              <a:avLst/>
              <a:gdLst/>
              <a:ahLst/>
              <a:cxnLst/>
              <a:rect l="l" t="t" r="r" b="b"/>
              <a:pathLst>
                <a:path w="327659" h="3920490">
                  <a:moveTo>
                    <a:pt x="327659" y="0"/>
                  </a:moveTo>
                  <a:lnTo>
                    <a:pt x="0" y="0"/>
                  </a:lnTo>
                  <a:lnTo>
                    <a:pt x="0" y="3919935"/>
                  </a:lnTo>
                  <a:lnTo>
                    <a:pt x="327659" y="3919935"/>
                  </a:lnTo>
                  <a:lnTo>
                    <a:pt x="327659" y="0"/>
                  </a:lnTo>
                  <a:close/>
                </a:path>
              </a:pathLst>
            </a:custGeom>
            <a:solidFill>
              <a:srgbClr val="07F707"/>
            </a:solidFill>
          </p:spPr>
          <p:txBody>
            <a:bodyPr wrap="square" lIns="0" tIns="0" rIns="0" bIns="0" rtlCol="0"/>
            <a:lstStyle/>
            <a:p>
              <a:endParaRPr sz="1588"/>
            </a:p>
          </p:txBody>
        </p:sp>
        <p:sp>
          <p:nvSpPr>
            <p:cNvPr id="75" name="object 75"/>
            <p:cNvSpPr/>
            <p:nvPr/>
          </p:nvSpPr>
          <p:spPr>
            <a:xfrm>
              <a:off x="6816148" y="2543297"/>
              <a:ext cx="327660" cy="3920490"/>
            </a:xfrm>
            <a:custGeom>
              <a:avLst/>
              <a:gdLst/>
              <a:ahLst/>
              <a:cxnLst/>
              <a:rect l="l" t="t" r="r" b="b"/>
              <a:pathLst>
                <a:path w="327659"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76" name="object 76"/>
          <p:cNvSpPr txBox="1"/>
          <p:nvPr/>
        </p:nvSpPr>
        <p:spPr>
          <a:xfrm>
            <a:off x="5793277" y="3507890"/>
            <a:ext cx="617157" cy="938493"/>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EX/MEM</a:t>
            </a:r>
            <a:endParaRPr sz="1677">
              <a:latin typeface="Times New Roman"/>
              <a:cs typeface="Times New Roman"/>
            </a:endParaRPr>
          </a:p>
          <a:p>
            <a:pPr marL="274559">
              <a:spcBef>
                <a:spcPts val="852"/>
              </a:spcBef>
            </a:pPr>
            <a:r>
              <a:rPr sz="1677" b="1" spc="-22" dirty="0">
                <a:latin typeface="Times New Roman"/>
                <a:cs typeface="Times New Roman"/>
              </a:rPr>
              <a:t>ALU</a:t>
            </a:r>
            <a:endParaRPr sz="1677">
              <a:latin typeface="Times New Roman"/>
              <a:cs typeface="Times New Roman"/>
            </a:endParaRPr>
          </a:p>
        </p:txBody>
      </p:sp>
      <p:grpSp>
        <p:nvGrpSpPr>
          <p:cNvPr id="77" name="object 77"/>
          <p:cNvGrpSpPr/>
          <p:nvPr/>
        </p:nvGrpSpPr>
        <p:grpSpPr>
          <a:xfrm>
            <a:off x="1809784" y="2348074"/>
            <a:ext cx="5737971" cy="3359524"/>
            <a:chOff x="1898688" y="2661151"/>
            <a:chExt cx="6503034" cy="3807460"/>
          </a:xfrm>
        </p:grpSpPr>
        <p:sp>
          <p:nvSpPr>
            <p:cNvPr id="78" name="object 78"/>
            <p:cNvSpPr/>
            <p:nvPr/>
          </p:nvSpPr>
          <p:spPr>
            <a:xfrm>
              <a:off x="6816148" y="6125041"/>
              <a:ext cx="327660" cy="328295"/>
            </a:xfrm>
            <a:custGeom>
              <a:avLst/>
              <a:gdLst/>
              <a:ahLst/>
              <a:cxnLst/>
              <a:rect l="l" t="t" r="r" b="b"/>
              <a:pathLst>
                <a:path w="327659"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pic>
          <p:nvPicPr>
            <p:cNvPr id="79" name="object 79"/>
            <p:cNvPicPr/>
            <p:nvPr/>
          </p:nvPicPr>
          <p:blipFill>
            <a:blip r:embed="rId6" cstate="print"/>
            <a:stretch>
              <a:fillRect/>
            </a:stretch>
          </p:blipFill>
          <p:spPr>
            <a:xfrm>
              <a:off x="4633347" y="5695685"/>
              <a:ext cx="245851" cy="92231"/>
            </a:xfrm>
            <a:prstGeom prst="rect">
              <a:avLst/>
            </a:prstGeom>
          </p:spPr>
        </p:pic>
        <p:sp>
          <p:nvSpPr>
            <p:cNvPr id="80" name="object 80"/>
            <p:cNvSpPr/>
            <p:nvPr/>
          </p:nvSpPr>
          <p:spPr>
            <a:xfrm>
              <a:off x="2339822" y="2661157"/>
              <a:ext cx="6061710" cy="3535679"/>
            </a:xfrm>
            <a:custGeom>
              <a:avLst/>
              <a:gdLst/>
              <a:ahLst/>
              <a:cxnLst/>
              <a:rect l="l" t="t" r="r" b="b"/>
              <a:pathLst>
                <a:path w="6061709" h="3535679">
                  <a:moveTo>
                    <a:pt x="491490" y="46113"/>
                  </a:moveTo>
                  <a:lnTo>
                    <a:pt x="460781" y="30746"/>
                  </a:lnTo>
                  <a:lnTo>
                    <a:pt x="399338" y="0"/>
                  </a:lnTo>
                  <a:lnTo>
                    <a:pt x="399338" y="30746"/>
                  </a:lnTo>
                  <a:lnTo>
                    <a:pt x="286423" y="30746"/>
                  </a:lnTo>
                  <a:lnTo>
                    <a:pt x="279539" y="37630"/>
                  </a:lnTo>
                  <a:lnTo>
                    <a:pt x="279539" y="604647"/>
                  </a:lnTo>
                  <a:lnTo>
                    <a:pt x="0" y="604647"/>
                  </a:lnTo>
                  <a:lnTo>
                    <a:pt x="0" y="635381"/>
                  </a:lnTo>
                  <a:lnTo>
                    <a:pt x="303377" y="635381"/>
                  </a:lnTo>
                  <a:lnTo>
                    <a:pt x="310261" y="628510"/>
                  </a:lnTo>
                  <a:lnTo>
                    <a:pt x="310261" y="620014"/>
                  </a:lnTo>
                  <a:lnTo>
                    <a:pt x="310261" y="604647"/>
                  </a:lnTo>
                  <a:lnTo>
                    <a:pt x="310261" y="61493"/>
                  </a:lnTo>
                  <a:lnTo>
                    <a:pt x="399338" y="61493"/>
                  </a:lnTo>
                  <a:lnTo>
                    <a:pt x="399338" y="92227"/>
                  </a:lnTo>
                  <a:lnTo>
                    <a:pt x="460781" y="61493"/>
                  </a:lnTo>
                  <a:lnTo>
                    <a:pt x="491490" y="46113"/>
                  </a:lnTo>
                  <a:close/>
                </a:path>
                <a:path w="6061709" h="3535679">
                  <a:moveTo>
                    <a:pt x="2539365" y="3489515"/>
                  </a:moveTo>
                  <a:lnTo>
                    <a:pt x="2508656" y="3474135"/>
                  </a:lnTo>
                  <a:lnTo>
                    <a:pt x="2447213" y="3443389"/>
                  </a:lnTo>
                  <a:lnTo>
                    <a:pt x="2447213" y="3474135"/>
                  </a:lnTo>
                  <a:lnTo>
                    <a:pt x="1080262" y="3474135"/>
                  </a:lnTo>
                  <a:lnTo>
                    <a:pt x="1080262" y="3079585"/>
                  </a:lnTo>
                  <a:lnTo>
                    <a:pt x="1049540" y="3079585"/>
                  </a:lnTo>
                  <a:lnTo>
                    <a:pt x="1049540" y="3497999"/>
                  </a:lnTo>
                  <a:lnTo>
                    <a:pt x="1056424" y="3504882"/>
                  </a:lnTo>
                  <a:lnTo>
                    <a:pt x="2447213" y="3504882"/>
                  </a:lnTo>
                  <a:lnTo>
                    <a:pt x="2447213" y="3535629"/>
                  </a:lnTo>
                  <a:lnTo>
                    <a:pt x="2508656" y="3504882"/>
                  </a:lnTo>
                  <a:lnTo>
                    <a:pt x="2539365" y="3489515"/>
                  </a:lnTo>
                  <a:close/>
                </a:path>
                <a:path w="6061709" h="3535679">
                  <a:moveTo>
                    <a:pt x="2539365" y="46113"/>
                  </a:moveTo>
                  <a:lnTo>
                    <a:pt x="2508656" y="30746"/>
                  </a:lnTo>
                  <a:lnTo>
                    <a:pt x="2447213" y="0"/>
                  </a:lnTo>
                  <a:lnTo>
                    <a:pt x="2447213" y="30746"/>
                  </a:lnTo>
                  <a:lnTo>
                    <a:pt x="819150" y="30746"/>
                  </a:lnTo>
                  <a:lnTo>
                    <a:pt x="819150" y="61493"/>
                  </a:lnTo>
                  <a:lnTo>
                    <a:pt x="2447213" y="61493"/>
                  </a:lnTo>
                  <a:lnTo>
                    <a:pt x="2447213" y="92240"/>
                  </a:lnTo>
                  <a:lnTo>
                    <a:pt x="2508656" y="61493"/>
                  </a:lnTo>
                  <a:lnTo>
                    <a:pt x="2539365" y="46113"/>
                  </a:lnTo>
                  <a:close/>
                </a:path>
                <a:path w="6061709" h="3535679">
                  <a:moveTo>
                    <a:pt x="3358515" y="2341715"/>
                  </a:moveTo>
                  <a:lnTo>
                    <a:pt x="3327806" y="2326335"/>
                  </a:lnTo>
                  <a:lnTo>
                    <a:pt x="3266363" y="2295588"/>
                  </a:lnTo>
                  <a:lnTo>
                    <a:pt x="3266363" y="2326335"/>
                  </a:lnTo>
                  <a:lnTo>
                    <a:pt x="3139402" y="2326335"/>
                  </a:lnTo>
                  <a:lnTo>
                    <a:pt x="3132518" y="2333218"/>
                  </a:lnTo>
                  <a:lnTo>
                    <a:pt x="3132518" y="3064205"/>
                  </a:lnTo>
                  <a:lnTo>
                    <a:pt x="2867025" y="3064205"/>
                  </a:lnTo>
                  <a:lnTo>
                    <a:pt x="2867025" y="3094952"/>
                  </a:lnTo>
                  <a:lnTo>
                    <a:pt x="3156369" y="3094952"/>
                  </a:lnTo>
                  <a:lnTo>
                    <a:pt x="3163239" y="3088068"/>
                  </a:lnTo>
                  <a:lnTo>
                    <a:pt x="3163239" y="3079585"/>
                  </a:lnTo>
                  <a:lnTo>
                    <a:pt x="3163239" y="3064205"/>
                  </a:lnTo>
                  <a:lnTo>
                    <a:pt x="3163239" y="2357082"/>
                  </a:lnTo>
                  <a:lnTo>
                    <a:pt x="3266363" y="2357082"/>
                  </a:lnTo>
                  <a:lnTo>
                    <a:pt x="3266363" y="2387828"/>
                  </a:lnTo>
                  <a:lnTo>
                    <a:pt x="3327806" y="2357082"/>
                  </a:lnTo>
                  <a:lnTo>
                    <a:pt x="3358515" y="2341715"/>
                  </a:lnTo>
                  <a:close/>
                </a:path>
                <a:path w="6061709" h="3535679">
                  <a:moveTo>
                    <a:pt x="4423410" y="3489515"/>
                  </a:moveTo>
                  <a:lnTo>
                    <a:pt x="4392701" y="3474135"/>
                  </a:lnTo>
                  <a:lnTo>
                    <a:pt x="4331259" y="3443389"/>
                  </a:lnTo>
                  <a:lnTo>
                    <a:pt x="4331259" y="3474135"/>
                  </a:lnTo>
                  <a:lnTo>
                    <a:pt x="2867025" y="3474135"/>
                  </a:lnTo>
                  <a:lnTo>
                    <a:pt x="2867025" y="3504882"/>
                  </a:lnTo>
                  <a:lnTo>
                    <a:pt x="4331259" y="3504882"/>
                  </a:lnTo>
                  <a:lnTo>
                    <a:pt x="4331259" y="3535629"/>
                  </a:lnTo>
                  <a:lnTo>
                    <a:pt x="4392701" y="3504882"/>
                  </a:lnTo>
                  <a:lnTo>
                    <a:pt x="4423410" y="3489515"/>
                  </a:lnTo>
                  <a:close/>
                </a:path>
                <a:path w="6061709" h="3535679">
                  <a:moveTo>
                    <a:pt x="6061710" y="3489515"/>
                  </a:moveTo>
                  <a:lnTo>
                    <a:pt x="6031001" y="3474135"/>
                  </a:lnTo>
                  <a:lnTo>
                    <a:pt x="5969559" y="3443389"/>
                  </a:lnTo>
                  <a:lnTo>
                    <a:pt x="5969559" y="3474135"/>
                  </a:lnTo>
                  <a:lnTo>
                    <a:pt x="4832985" y="3474135"/>
                  </a:lnTo>
                  <a:lnTo>
                    <a:pt x="4832985" y="3504882"/>
                  </a:lnTo>
                  <a:lnTo>
                    <a:pt x="5969559" y="3504882"/>
                  </a:lnTo>
                  <a:lnTo>
                    <a:pt x="5969559" y="3535629"/>
                  </a:lnTo>
                  <a:lnTo>
                    <a:pt x="6031001" y="3504882"/>
                  </a:lnTo>
                  <a:lnTo>
                    <a:pt x="6061710" y="3489515"/>
                  </a:lnTo>
                  <a:close/>
                </a:path>
              </a:pathLst>
            </a:custGeom>
            <a:solidFill>
              <a:srgbClr val="000000"/>
            </a:solidFill>
          </p:spPr>
          <p:txBody>
            <a:bodyPr wrap="square" lIns="0" tIns="0" rIns="0" bIns="0" rtlCol="0"/>
            <a:lstStyle/>
            <a:p>
              <a:endParaRPr sz="1588"/>
            </a:p>
          </p:txBody>
        </p:sp>
        <p:sp>
          <p:nvSpPr>
            <p:cNvPr id="81" name="object 81"/>
            <p:cNvSpPr/>
            <p:nvPr/>
          </p:nvSpPr>
          <p:spPr>
            <a:xfrm>
              <a:off x="1927698" y="2814021"/>
              <a:ext cx="513715" cy="984250"/>
            </a:xfrm>
            <a:custGeom>
              <a:avLst/>
              <a:gdLst/>
              <a:ahLst/>
              <a:cxnLst/>
              <a:rect l="l" t="t" r="r" b="b"/>
              <a:pathLst>
                <a:path w="513714" h="984250">
                  <a:moveTo>
                    <a:pt x="0" y="0"/>
                  </a:moveTo>
                  <a:lnTo>
                    <a:pt x="0" y="983827"/>
                  </a:lnTo>
                  <a:lnTo>
                    <a:pt x="513676" y="737869"/>
                  </a:lnTo>
                  <a:lnTo>
                    <a:pt x="513676" y="245957"/>
                  </a:lnTo>
                  <a:lnTo>
                    <a:pt x="0" y="0"/>
                  </a:lnTo>
                  <a:close/>
                </a:path>
              </a:pathLst>
            </a:custGeom>
            <a:solidFill>
              <a:srgbClr val="07F707"/>
            </a:solidFill>
          </p:spPr>
          <p:txBody>
            <a:bodyPr wrap="square" lIns="0" tIns="0" rIns="0" bIns="0" rtlCol="0"/>
            <a:lstStyle/>
            <a:p>
              <a:endParaRPr sz="1588"/>
            </a:p>
          </p:txBody>
        </p:sp>
        <p:sp>
          <p:nvSpPr>
            <p:cNvPr id="82" name="object 82"/>
            <p:cNvSpPr/>
            <p:nvPr/>
          </p:nvSpPr>
          <p:spPr>
            <a:xfrm>
              <a:off x="1927698" y="2814021"/>
              <a:ext cx="513715" cy="984250"/>
            </a:xfrm>
            <a:custGeom>
              <a:avLst/>
              <a:gdLst/>
              <a:ahLst/>
              <a:cxnLst/>
              <a:rect l="l" t="t" r="r" b="b"/>
              <a:pathLst>
                <a:path w="513714" h="984250">
                  <a:moveTo>
                    <a:pt x="0" y="983826"/>
                  </a:moveTo>
                  <a:lnTo>
                    <a:pt x="513675" y="737870"/>
                  </a:lnTo>
                  <a:lnTo>
                    <a:pt x="513675" y="245956"/>
                  </a:lnTo>
                  <a:lnTo>
                    <a:pt x="0" y="0"/>
                  </a:lnTo>
                  <a:lnTo>
                    <a:pt x="0" y="983826"/>
                  </a:lnTo>
                  <a:close/>
                </a:path>
              </a:pathLst>
            </a:custGeom>
            <a:ln w="30738">
              <a:solidFill>
                <a:srgbClr val="000000"/>
              </a:solidFill>
            </a:ln>
          </p:spPr>
          <p:txBody>
            <a:bodyPr wrap="square" lIns="0" tIns="0" rIns="0" bIns="0" rtlCol="0"/>
            <a:lstStyle/>
            <a:p>
              <a:endParaRPr sz="1588"/>
            </a:p>
          </p:txBody>
        </p:sp>
        <p:sp>
          <p:nvSpPr>
            <p:cNvPr id="83" name="object 83"/>
            <p:cNvSpPr/>
            <p:nvPr/>
          </p:nvSpPr>
          <p:spPr>
            <a:xfrm>
              <a:off x="1898688" y="3112927"/>
              <a:ext cx="247650" cy="297815"/>
            </a:xfrm>
            <a:custGeom>
              <a:avLst/>
              <a:gdLst/>
              <a:ahLst/>
              <a:cxnLst/>
              <a:rect l="l" t="t" r="r" b="b"/>
              <a:pathLst>
                <a:path w="247650" h="297814">
                  <a:moveTo>
                    <a:pt x="0" y="0"/>
                  </a:moveTo>
                  <a:lnTo>
                    <a:pt x="0" y="297197"/>
                  </a:lnTo>
                  <a:lnTo>
                    <a:pt x="247451" y="148598"/>
                  </a:lnTo>
                  <a:lnTo>
                    <a:pt x="0" y="0"/>
                  </a:lnTo>
                  <a:close/>
                </a:path>
              </a:pathLst>
            </a:custGeom>
            <a:solidFill>
              <a:srgbClr val="FFFFFF"/>
            </a:solidFill>
          </p:spPr>
          <p:txBody>
            <a:bodyPr wrap="square" lIns="0" tIns="0" rIns="0" bIns="0" rtlCol="0"/>
            <a:lstStyle/>
            <a:p>
              <a:endParaRPr sz="1588"/>
            </a:p>
          </p:txBody>
        </p:sp>
      </p:grpSp>
      <p:sp>
        <p:nvSpPr>
          <p:cNvPr id="84" name="object 84"/>
          <p:cNvSpPr txBox="1"/>
          <p:nvPr/>
        </p:nvSpPr>
        <p:spPr>
          <a:xfrm>
            <a:off x="1420535" y="2990095"/>
            <a:ext cx="289112" cy="389255"/>
          </a:xfrm>
          <a:prstGeom prst="rect">
            <a:avLst/>
          </a:prstGeom>
          <a:solidFill>
            <a:srgbClr val="FFFFFF"/>
          </a:solidFill>
        </p:spPr>
        <p:txBody>
          <a:bodyPr vert="horz" wrap="square" lIns="0" tIns="35859" rIns="0" bIns="0" rtlCol="0">
            <a:spAutoFit/>
          </a:bodyPr>
          <a:lstStyle/>
          <a:p>
            <a:pPr marL="72282">
              <a:spcBef>
                <a:spcPts val="282"/>
              </a:spcBef>
            </a:pPr>
            <a:r>
              <a:rPr sz="2294" b="1" spc="-44" dirty="0">
                <a:latin typeface="Times New Roman"/>
                <a:cs typeface="Times New Roman"/>
              </a:rPr>
              <a:t>4</a:t>
            </a:r>
            <a:endParaRPr sz="2294">
              <a:latin typeface="Times New Roman"/>
              <a:cs typeface="Times New Roman"/>
            </a:endParaRPr>
          </a:p>
        </p:txBody>
      </p:sp>
      <p:sp>
        <p:nvSpPr>
          <p:cNvPr id="85" name="object 85"/>
          <p:cNvSpPr txBox="1"/>
          <p:nvPr/>
        </p:nvSpPr>
        <p:spPr>
          <a:xfrm>
            <a:off x="2004392" y="2655346"/>
            <a:ext cx="218008" cy="546287"/>
          </a:xfrm>
          <a:prstGeom prst="rect">
            <a:avLst/>
          </a:prstGeom>
        </p:spPr>
        <p:txBody>
          <a:bodyPr vert="vert" wrap="square" lIns="0" tIns="0" rIns="0" bIns="0" rtlCol="0">
            <a:spAutoFit/>
          </a:bodyPr>
          <a:lstStyle/>
          <a:p>
            <a:pPr marL="11206">
              <a:lnSpc>
                <a:spcPts val="1725"/>
              </a:lnSpc>
            </a:pPr>
            <a:r>
              <a:rPr sz="1500" b="1" spc="-9" dirty="0">
                <a:latin typeface="Times New Roman"/>
                <a:cs typeface="Times New Roman"/>
              </a:rPr>
              <a:t>Adder</a:t>
            </a:r>
            <a:endParaRPr sz="1500">
              <a:latin typeface="Times New Roman"/>
              <a:cs typeface="Times New Roman"/>
            </a:endParaRPr>
          </a:p>
        </p:txBody>
      </p:sp>
      <p:grpSp>
        <p:nvGrpSpPr>
          <p:cNvPr id="86" name="object 86"/>
          <p:cNvGrpSpPr/>
          <p:nvPr/>
        </p:nvGrpSpPr>
        <p:grpSpPr>
          <a:xfrm>
            <a:off x="1272962" y="2340545"/>
            <a:ext cx="5551954" cy="2773456"/>
            <a:chOff x="1290290" y="2652618"/>
            <a:chExt cx="6292215" cy="3143250"/>
          </a:xfrm>
        </p:grpSpPr>
        <p:sp>
          <p:nvSpPr>
            <p:cNvPr id="87" name="object 87"/>
            <p:cNvSpPr/>
            <p:nvPr/>
          </p:nvSpPr>
          <p:spPr>
            <a:xfrm>
              <a:off x="1919166" y="3114634"/>
              <a:ext cx="222250" cy="295910"/>
            </a:xfrm>
            <a:custGeom>
              <a:avLst/>
              <a:gdLst/>
              <a:ahLst/>
              <a:cxnLst/>
              <a:rect l="l" t="t" r="r" b="b"/>
              <a:pathLst>
                <a:path w="222250" h="295910">
                  <a:moveTo>
                    <a:pt x="0" y="0"/>
                  </a:moveTo>
                  <a:lnTo>
                    <a:pt x="0" y="295490"/>
                  </a:lnTo>
                  <a:lnTo>
                    <a:pt x="221853" y="147745"/>
                  </a:lnTo>
                  <a:lnTo>
                    <a:pt x="0" y="0"/>
                  </a:lnTo>
                  <a:close/>
                </a:path>
              </a:pathLst>
            </a:custGeom>
            <a:solidFill>
              <a:srgbClr val="FFFFFF"/>
            </a:solidFill>
          </p:spPr>
          <p:txBody>
            <a:bodyPr wrap="square" lIns="0" tIns="0" rIns="0" bIns="0" rtlCol="0"/>
            <a:lstStyle/>
            <a:p>
              <a:endParaRPr sz="1588"/>
            </a:p>
          </p:txBody>
        </p:sp>
        <p:sp>
          <p:nvSpPr>
            <p:cNvPr id="88" name="object 88"/>
            <p:cNvSpPr/>
            <p:nvPr/>
          </p:nvSpPr>
          <p:spPr>
            <a:xfrm>
              <a:off x="1919167" y="3114634"/>
              <a:ext cx="222250" cy="295910"/>
            </a:xfrm>
            <a:custGeom>
              <a:avLst/>
              <a:gdLst/>
              <a:ahLst/>
              <a:cxnLst/>
              <a:rect l="l" t="t" r="r" b="b"/>
              <a:pathLst>
                <a:path w="222250" h="295910">
                  <a:moveTo>
                    <a:pt x="0" y="0"/>
                  </a:moveTo>
                  <a:lnTo>
                    <a:pt x="221853" y="147745"/>
                  </a:lnTo>
                  <a:lnTo>
                    <a:pt x="0" y="295490"/>
                  </a:lnTo>
                </a:path>
              </a:pathLst>
            </a:custGeom>
            <a:ln w="30735">
              <a:solidFill>
                <a:srgbClr val="000000"/>
              </a:solidFill>
            </a:ln>
          </p:spPr>
          <p:txBody>
            <a:bodyPr wrap="square" lIns="0" tIns="0" rIns="0" bIns="0" rtlCol="0"/>
            <a:lstStyle/>
            <a:p>
              <a:endParaRPr sz="1588"/>
            </a:p>
          </p:txBody>
        </p:sp>
        <p:sp>
          <p:nvSpPr>
            <p:cNvPr id="89" name="object 89"/>
            <p:cNvSpPr/>
            <p:nvPr/>
          </p:nvSpPr>
          <p:spPr>
            <a:xfrm>
              <a:off x="5206847" y="2661157"/>
              <a:ext cx="2375535" cy="1404620"/>
            </a:xfrm>
            <a:custGeom>
              <a:avLst/>
              <a:gdLst/>
              <a:ahLst/>
              <a:cxnLst/>
              <a:rect l="l" t="t" r="r" b="b"/>
              <a:pathLst>
                <a:path w="2375534" h="1404620">
                  <a:moveTo>
                    <a:pt x="1556385" y="46113"/>
                  </a:moveTo>
                  <a:lnTo>
                    <a:pt x="1525676" y="30746"/>
                  </a:lnTo>
                  <a:lnTo>
                    <a:pt x="1464233" y="0"/>
                  </a:lnTo>
                  <a:lnTo>
                    <a:pt x="1464233" y="30746"/>
                  </a:lnTo>
                  <a:lnTo>
                    <a:pt x="0" y="30746"/>
                  </a:lnTo>
                  <a:lnTo>
                    <a:pt x="0" y="61493"/>
                  </a:lnTo>
                  <a:lnTo>
                    <a:pt x="230390" y="61493"/>
                  </a:lnTo>
                  <a:lnTo>
                    <a:pt x="230390" y="1366380"/>
                  </a:lnTo>
                  <a:lnTo>
                    <a:pt x="237261" y="1373251"/>
                  </a:lnTo>
                  <a:lnTo>
                    <a:pt x="399338" y="1373251"/>
                  </a:lnTo>
                  <a:lnTo>
                    <a:pt x="399338" y="1403997"/>
                  </a:lnTo>
                  <a:lnTo>
                    <a:pt x="460781" y="1373251"/>
                  </a:lnTo>
                  <a:lnTo>
                    <a:pt x="491490" y="1357884"/>
                  </a:lnTo>
                  <a:lnTo>
                    <a:pt x="460781" y="1342517"/>
                  </a:lnTo>
                  <a:lnTo>
                    <a:pt x="399338" y="1311770"/>
                  </a:lnTo>
                  <a:lnTo>
                    <a:pt x="399338" y="1342517"/>
                  </a:lnTo>
                  <a:lnTo>
                    <a:pt x="261112" y="1342517"/>
                  </a:lnTo>
                  <a:lnTo>
                    <a:pt x="261112" y="61493"/>
                  </a:lnTo>
                  <a:lnTo>
                    <a:pt x="1464233" y="61493"/>
                  </a:lnTo>
                  <a:lnTo>
                    <a:pt x="1464233" y="92240"/>
                  </a:lnTo>
                  <a:lnTo>
                    <a:pt x="1525676" y="61493"/>
                  </a:lnTo>
                  <a:lnTo>
                    <a:pt x="1556385" y="46113"/>
                  </a:lnTo>
                  <a:close/>
                </a:path>
                <a:path w="2375534" h="1404620">
                  <a:moveTo>
                    <a:pt x="2375535" y="46113"/>
                  </a:moveTo>
                  <a:lnTo>
                    <a:pt x="2344826" y="30746"/>
                  </a:lnTo>
                  <a:lnTo>
                    <a:pt x="2283383" y="0"/>
                  </a:lnTo>
                  <a:lnTo>
                    <a:pt x="2283383" y="30746"/>
                  </a:lnTo>
                  <a:lnTo>
                    <a:pt x="1965960" y="30746"/>
                  </a:lnTo>
                  <a:lnTo>
                    <a:pt x="1965960" y="61493"/>
                  </a:lnTo>
                  <a:lnTo>
                    <a:pt x="2283383" y="61493"/>
                  </a:lnTo>
                  <a:lnTo>
                    <a:pt x="2283383" y="92227"/>
                  </a:lnTo>
                  <a:lnTo>
                    <a:pt x="2344826" y="61493"/>
                  </a:lnTo>
                  <a:lnTo>
                    <a:pt x="2375535" y="46113"/>
                  </a:lnTo>
                  <a:close/>
                </a:path>
              </a:pathLst>
            </a:custGeom>
            <a:solidFill>
              <a:srgbClr val="000000"/>
            </a:solidFill>
          </p:spPr>
          <p:txBody>
            <a:bodyPr wrap="square" lIns="0" tIns="0" rIns="0" bIns="0" rtlCol="0"/>
            <a:lstStyle/>
            <a:p>
              <a:endParaRPr sz="1588"/>
            </a:p>
          </p:txBody>
        </p:sp>
        <p:pic>
          <p:nvPicPr>
            <p:cNvPr id="90" name="object 90"/>
            <p:cNvPicPr/>
            <p:nvPr/>
          </p:nvPicPr>
          <p:blipFill>
            <a:blip r:embed="rId7" cstate="print"/>
            <a:stretch>
              <a:fillRect/>
            </a:stretch>
          </p:blipFill>
          <p:spPr>
            <a:xfrm>
              <a:off x="7183051" y="4454592"/>
              <a:ext cx="110939" cy="111009"/>
            </a:xfrm>
            <a:prstGeom prst="rect">
              <a:avLst/>
            </a:prstGeom>
          </p:spPr>
        </p:pic>
        <p:pic>
          <p:nvPicPr>
            <p:cNvPr id="91" name="object 91"/>
            <p:cNvPicPr/>
            <p:nvPr/>
          </p:nvPicPr>
          <p:blipFill>
            <a:blip r:embed="rId8" cstate="print"/>
            <a:stretch>
              <a:fillRect/>
            </a:stretch>
          </p:blipFill>
          <p:spPr>
            <a:xfrm>
              <a:off x="5314365" y="4705673"/>
              <a:ext cx="110940" cy="111008"/>
            </a:xfrm>
            <a:prstGeom prst="rect">
              <a:avLst/>
            </a:prstGeom>
          </p:spPr>
        </p:pic>
        <p:pic>
          <p:nvPicPr>
            <p:cNvPr id="92" name="object 92"/>
            <p:cNvPicPr/>
            <p:nvPr/>
          </p:nvPicPr>
          <p:blipFill>
            <a:blip r:embed="rId8" cstate="print"/>
            <a:stretch>
              <a:fillRect/>
            </a:stretch>
          </p:blipFill>
          <p:spPr>
            <a:xfrm>
              <a:off x="5309246" y="4203512"/>
              <a:ext cx="110939" cy="111008"/>
            </a:xfrm>
            <a:prstGeom prst="rect">
              <a:avLst/>
            </a:prstGeom>
          </p:spPr>
        </p:pic>
        <p:pic>
          <p:nvPicPr>
            <p:cNvPr id="93" name="object 93"/>
            <p:cNvPicPr/>
            <p:nvPr/>
          </p:nvPicPr>
          <p:blipFill>
            <a:blip r:embed="rId9" cstate="print"/>
            <a:stretch>
              <a:fillRect/>
            </a:stretch>
          </p:blipFill>
          <p:spPr>
            <a:xfrm>
              <a:off x="3343286" y="4121525"/>
              <a:ext cx="110939" cy="111008"/>
            </a:xfrm>
            <a:prstGeom prst="rect">
              <a:avLst/>
            </a:prstGeom>
          </p:spPr>
        </p:pic>
        <p:sp>
          <p:nvSpPr>
            <p:cNvPr id="94" name="object 94"/>
            <p:cNvSpPr/>
            <p:nvPr/>
          </p:nvSpPr>
          <p:spPr>
            <a:xfrm>
              <a:off x="3379130" y="5679244"/>
              <a:ext cx="80645" cy="80645"/>
            </a:xfrm>
            <a:custGeom>
              <a:avLst/>
              <a:gdLst/>
              <a:ahLst/>
              <a:cxnLst/>
              <a:rect l="l" t="t" r="r" b="b"/>
              <a:pathLst>
                <a:path w="80645" h="80645">
                  <a:moveTo>
                    <a:pt x="40104" y="0"/>
                  </a:moveTo>
                  <a:lnTo>
                    <a:pt x="24493" y="3154"/>
                  </a:lnTo>
                  <a:lnTo>
                    <a:pt x="11746" y="11756"/>
                  </a:lnTo>
                  <a:lnTo>
                    <a:pt x="3151" y="24515"/>
                  </a:lnTo>
                  <a:lnTo>
                    <a:pt x="0" y="40139"/>
                  </a:lnTo>
                  <a:lnTo>
                    <a:pt x="3151" y="55763"/>
                  </a:lnTo>
                  <a:lnTo>
                    <a:pt x="11746" y="68521"/>
                  </a:lnTo>
                  <a:lnTo>
                    <a:pt x="24493" y="77123"/>
                  </a:lnTo>
                  <a:lnTo>
                    <a:pt x="40104" y="80277"/>
                  </a:lnTo>
                  <a:lnTo>
                    <a:pt x="55714" y="77123"/>
                  </a:lnTo>
                  <a:lnTo>
                    <a:pt x="68461" y="68521"/>
                  </a:lnTo>
                  <a:lnTo>
                    <a:pt x="77056" y="55763"/>
                  </a:lnTo>
                  <a:lnTo>
                    <a:pt x="80208" y="40139"/>
                  </a:lnTo>
                  <a:lnTo>
                    <a:pt x="77056" y="24515"/>
                  </a:lnTo>
                  <a:lnTo>
                    <a:pt x="68461" y="11756"/>
                  </a:lnTo>
                  <a:lnTo>
                    <a:pt x="55714" y="3154"/>
                  </a:lnTo>
                  <a:lnTo>
                    <a:pt x="40104" y="0"/>
                  </a:lnTo>
                  <a:close/>
                </a:path>
              </a:pathLst>
            </a:custGeom>
            <a:solidFill>
              <a:srgbClr val="000000"/>
            </a:solidFill>
          </p:spPr>
          <p:txBody>
            <a:bodyPr wrap="square" lIns="0" tIns="0" rIns="0" bIns="0" rtlCol="0"/>
            <a:lstStyle/>
            <a:p>
              <a:endParaRPr sz="1588"/>
            </a:p>
          </p:txBody>
        </p:sp>
        <p:sp>
          <p:nvSpPr>
            <p:cNvPr id="95" name="object 95"/>
            <p:cNvSpPr/>
            <p:nvPr/>
          </p:nvSpPr>
          <p:spPr>
            <a:xfrm>
              <a:off x="3379130" y="5679244"/>
              <a:ext cx="80645" cy="80645"/>
            </a:xfrm>
            <a:custGeom>
              <a:avLst/>
              <a:gdLst/>
              <a:ahLst/>
              <a:cxnLst/>
              <a:rect l="l" t="t" r="r" b="b"/>
              <a:pathLst>
                <a:path w="80645" h="80645">
                  <a:moveTo>
                    <a:pt x="0" y="40139"/>
                  </a:moveTo>
                  <a:lnTo>
                    <a:pt x="3151" y="24515"/>
                  </a:lnTo>
                  <a:lnTo>
                    <a:pt x="11746" y="11756"/>
                  </a:lnTo>
                  <a:lnTo>
                    <a:pt x="24493" y="3154"/>
                  </a:lnTo>
                  <a:lnTo>
                    <a:pt x="40103" y="0"/>
                  </a:lnTo>
                  <a:lnTo>
                    <a:pt x="55714" y="3154"/>
                  </a:lnTo>
                  <a:lnTo>
                    <a:pt x="68461" y="11756"/>
                  </a:lnTo>
                  <a:lnTo>
                    <a:pt x="77056" y="24515"/>
                  </a:lnTo>
                  <a:lnTo>
                    <a:pt x="80207" y="40139"/>
                  </a:lnTo>
                  <a:lnTo>
                    <a:pt x="77056" y="55762"/>
                  </a:lnTo>
                  <a:lnTo>
                    <a:pt x="68461" y="68521"/>
                  </a:lnTo>
                  <a:lnTo>
                    <a:pt x="55714" y="77123"/>
                  </a:lnTo>
                  <a:lnTo>
                    <a:pt x="40103" y="80278"/>
                  </a:lnTo>
                  <a:lnTo>
                    <a:pt x="24493" y="77123"/>
                  </a:lnTo>
                  <a:lnTo>
                    <a:pt x="11746" y="68521"/>
                  </a:lnTo>
                  <a:lnTo>
                    <a:pt x="3151" y="55762"/>
                  </a:lnTo>
                  <a:lnTo>
                    <a:pt x="0" y="40139"/>
                  </a:lnTo>
                  <a:close/>
                </a:path>
              </a:pathLst>
            </a:custGeom>
            <a:ln w="30731">
              <a:solidFill>
                <a:srgbClr val="000000"/>
              </a:solidFill>
            </a:ln>
          </p:spPr>
          <p:txBody>
            <a:bodyPr wrap="square" lIns="0" tIns="0" rIns="0" bIns="0" rtlCol="0"/>
            <a:lstStyle/>
            <a:p>
              <a:endParaRPr sz="1588"/>
            </a:p>
          </p:txBody>
        </p:sp>
        <p:pic>
          <p:nvPicPr>
            <p:cNvPr id="96" name="object 96"/>
            <p:cNvPicPr/>
            <p:nvPr/>
          </p:nvPicPr>
          <p:blipFill>
            <a:blip r:embed="rId8" cstate="print"/>
            <a:stretch>
              <a:fillRect/>
            </a:stretch>
          </p:blipFill>
          <p:spPr>
            <a:xfrm>
              <a:off x="1290290" y="4367483"/>
              <a:ext cx="110940" cy="111008"/>
            </a:xfrm>
            <a:prstGeom prst="rect">
              <a:avLst/>
            </a:prstGeom>
          </p:spPr>
        </p:pic>
        <p:sp>
          <p:nvSpPr>
            <p:cNvPr id="97" name="object 97"/>
            <p:cNvSpPr/>
            <p:nvPr/>
          </p:nvSpPr>
          <p:spPr>
            <a:xfrm>
              <a:off x="3358652" y="5699740"/>
              <a:ext cx="80645" cy="80645"/>
            </a:xfrm>
            <a:custGeom>
              <a:avLst/>
              <a:gdLst/>
              <a:ahLst/>
              <a:cxnLst/>
              <a:rect l="l" t="t" r="r" b="b"/>
              <a:pathLst>
                <a:path w="80645" h="80645">
                  <a:moveTo>
                    <a:pt x="40104" y="0"/>
                  </a:moveTo>
                  <a:lnTo>
                    <a:pt x="24493" y="3154"/>
                  </a:lnTo>
                  <a:lnTo>
                    <a:pt x="11746" y="11756"/>
                  </a:lnTo>
                  <a:lnTo>
                    <a:pt x="3151" y="24514"/>
                  </a:lnTo>
                  <a:lnTo>
                    <a:pt x="0" y="40138"/>
                  </a:lnTo>
                  <a:lnTo>
                    <a:pt x="3151" y="55762"/>
                  </a:lnTo>
                  <a:lnTo>
                    <a:pt x="11746" y="68521"/>
                  </a:lnTo>
                  <a:lnTo>
                    <a:pt x="24493" y="77123"/>
                  </a:lnTo>
                  <a:lnTo>
                    <a:pt x="40104" y="80277"/>
                  </a:lnTo>
                  <a:lnTo>
                    <a:pt x="55714" y="77123"/>
                  </a:lnTo>
                  <a:lnTo>
                    <a:pt x="68461" y="68521"/>
                  </a:lnTo>
                  <a:lnTo>
                    <a:pt x="77056" y="55762"/>
                  </a:lnTo>
                  <a:lnTo>
                    <a:pt x="80208" y="40138"/>
                  </a:lnTo>
                  <a:lnTo>
                    <a:pt x="77056" y="24514"/>
                  </a:lnTo>
                  <a:lnTo>
                    <a:pt x="68461" y="11756"/>
                  </a:lnTo>
                  <a:lnTo>
                    <a:pt x="55714" y="3154"/>
                  </a:lnTo>
                  <a:lnTo>
                    <a:pt x="40104" y="0"/>
                  </a:lnTo>
                  <a:close/>
                </a:path>
              </a:pathLst>
            </a:custGeom>
            <a:solidFill>
              <a:srgbClr val="000000"/>
            </a:solidFill>
          </p:spPr>
          <p:txBody>
            <a:bodyPr wrap="square" lIns="0" tIns="0" rIns="0" bIns="0" rtlCol="0"/>
            <a:lstStyle/>
            <a:p>
              <a:endParaRPr sz="1588"/>
            </a:p>
          </p:txBody>
        </p:sp>
        <p:sp>
          <p:nvSpPr>
            <p:cNvPr id="98" name="object 98"/>
            <p:cNvSpPr/>
            <p:nvPr/>
          </p:nvSpPr>
          <p:spPr>
            <a:xfrm>
              <a:off x="3358652" y="5699740"/>
              <a:ext cx="80645" cy="80645"/>
            </a:xfrm>
            <a:custGeom>
              <a:avLst/>
              <a:gdLst/>
              <a:ahLst/>
              <a:cxnLst/>
              <a:rect l="l" t="t" r="r" b="b"/>
              <a:pathLst>
                <a:path w="80645" h="80645">
                  <a:moveTo>
                    <a:pt x="0" y="40139"/>
                  </a:moveTo>
                  <a:lnTo>
                    <a:pt x="3151" y="24515"/>
                  </a:lnTo>
                  <a:lnTo>
                    <a:pt x="11746" y="11756"/>
                  </a:lnTo>
                  <a:lnTo>
                    <a:pt x="24493" y="3154"/>
                  </a:lnTo>
                  <a:lnTo>
                    <a:pt x="40103" y="0"/>
                  </a:lnTo>
                  <a:lnTo>
                    <a:pt x="55714" y="3154"/>
                  </a:lnTo>
                  <a:lnTo>
                    <a:pt x="68461" y="11756"/>
                  </a:lnTo>
                  <a:lnTo>
                    <a:pt x="77056" y="24515"/>
                  </a:lnTo>
                  <a:lnTo>
                    <a:pt x="80207" y="40139"/>
                  </a:lnTo>
                  <a:lnTo>
                    <a:pt x="77056" y="55762"/>
                  </a:lnTo>
                  <a:lnTo>
                    <a:pt x="68461" y="68521"/>
                  </a:lnTo>
                  <a:lnTo>
                    <a:pt x="55714" y="77123"/>
                  </a:lnTo>
                  <a:lnTo>
                    <a:pt x="40103" y="80278"/>
                  </a:lnTo>
                  <a:lnTo>
                    <a:pt x="24493" y="77123"/>
                  </a:lnTo>
                  <a:lnTo>
                    <a:pt x="11746" y="68521"/>
                  </a:lnTo>
                  <a:lnTo>
                    <a:pt x="3151" y="55762"/>
                  </a:lnTo>
                  <a:lnTo>
                    <a:pt x="0" y="40139"/>
                  </a:lnTo>
                  <a:close/>
                </a:path>
              </a:pathLst>
            </a:custGeom>
            <a:ln w="30731">
              <a:solidFill>
                <a:srgbClr val="000000"/>
              </a:solidFill>
            </a:ln>
          </p:spPr>
          <p:txBody>
            <a:bodyPr wrap="square" lIns="0" tIns="0" rIns="0" bIns="0" rtlCol="0"/>
            <a:lstStyle/>
            <a:p>
              <a:endParaRPr sz="1588"/>
            </a:p>
          </p:txBody>
        </p:sp>
        <p:pic>
          <p:nvPicPr>
            <p:cNvPr id="99" name="object 99"/>
            <p:cNvPicPr/>
            <p:nvPr/>
          </p:nvPicPr>
          <p:blipFill>
            <a:blip r:embed="rId10" cstate="print"/>
            <a:stretch>
              <a:fillRect/>
            </a:stretch>
          </p:blipFill>
          <p:spPr>
            <a:xfrm>
              <a:off x="5397987" y="2652618"/>
              <a:ext cx="110939" cy="111008"/>
            </a:xfrm>
            <a:prstGeom prst="rect">
              <a:avLst/>
            </a:prstGeom>
          </p:spPr>
        </p:pic>
      </p:grpSp>
      <p:sp>
        <p:nvSpPr>
          <p:cNvPr id="100" name="object 100"/>
          <p:cNvSpPr txBox="1"/>
          <p:nvPr/>
        </p:nvSpPr>
        <p:spPr>
          <a:xfrm>
            <a:off x="3089791" y="2368779"/>
            <a:ext cx="958663" cy="215089"/>
          </a:xfrm>
          <a:prstGeom prst="rect">
            <a:avLst/>
          </a:prstGeom>
        </p:spPr>
        <p:txBody>
          <a:bodyPr vert="horz" wrap="square" lIns="0" tIns="11206" rIns="0" bIns="0" rtlCol="0">
            <a:spAutoFit/>
          </a:bodyPr>
          <a:lstStyle/>
          <a:p>
            <a:pPr marL="11206">
              <a:spcBef>
                <a:spcPts val="88"/>
              </a:spcBef>
            </a:pPr>
            <a:r>
              <a:rPr sz="1324" dirty="0">
                <a:latin typeface="Times New Roman"/>
                <a:cs typeface="Times New Roman"/>
              </a:rPr>
              <a:t>Next</a:t>
            </a:r>
            <a:r>
              <a:rPr sz="1324" spc="-18" dirty="0">
                <a:latin typeface="Times New Roman"/>
                <a:cs typeface="Times New Roman"/>
              </a:rPr>
              <a:t> </a:t>
            </a:r>
            <a:r>
              <a:rPr sz="1324" dirty="0">
                <a:latin typeface="Times New Roman"/>
                <a:cs typeface="Times New Roman"/>
              </a:rPr>
              <a:t>SEQ</a:t>
            </a:r>
            <a:r>
              <a:rPr sz="1324" spc="-18"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101" name="object 101"/>
          <p:cNvSpPr txBox="1"/>
          <p:nvPr/>
        </p:nvSpPr>
        <p:spPr>
          <a:xfrm>
            <a:off x="5020216" y="2374157"/>
            <a:ext cx="958663" cy="215089"/>
          </a:xfrm>
          <a:prstGeom prst="rect">
            <a:avLst/>
          </a:prstGeom>
        </p:spPr>
        <p:txBody>
          <a:bodyPr vert="horz" wrap="square" lIns="0" tIns="11206" rIns="0" bIns="0" rtlCol="0">
            <a:spAutoFit/>
          </a:bodyPr>
          <a:lstStyle/>
          <a:p>
            <a:pPr marL="11206">
              <a:spcBef>
                <a:spcPts val="88"/>
              </a:spcBef>
            </a:pPr>
            <a:r>
              <a:rPr sz="1324" dirty="0">
                <a:latin typeface="Times New Roman"/>
                <a:cs typeface="Times New Roman"/>
              </a:rPr>
              <a:t>Next</a:t>
            </a:r>
            <a:r>
              <a:rPr sz="1324" spc="-18" dirty="0">
                <a:latin typeface="Times New Roman"/>
                <a:cs typeface="Times New Roman"/>
              </a:rPr>
              <a:t> </a:t>
            </a:r>
            <a:r>
              <a:rPr sz="1324" dirty="0">
                <a:latin typeface="Times New Roman"/>
                <a:cs typeface="Times New Roman"/>
              </a:rPr>
              <a:t>SEQ</a:t>
            </a:r>
            <a:r>
              <a:rPr sz="1324" spc="-18"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102" name="object 102"/>
          <p:cNvSpPr txBox="1"/>
          <p:nvPr/>
        </p:nvSpPr>
        <p:spPr>
          <a:xfrm>
            <a:off x="3872050" y="5467897"/>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103" name="object 103"/>
          <p:cNvSpPr txBox="1"/>
          <p:nvPr/>
        </p:nvSpPr>
        <p:spPr>
          <a:xfrm>
            <a:off x="5218226" y="5467897"/>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104" name="object 104"/>
          <p:cNvSpPr txBox="1"/>
          <p:nvPr/>
        </p:nvSpPr>
        <p:spPr>
          <a:xfrm>
            <a:off x="6808341" y="5467897"/>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105" name="object 105"/>
          <p:cNvSpPr txBox="1"/>
          <p:nvPr/>
        </p:nvSpPr>
        <p:spPr>
          <a:xfrm>
            <a:off x="759388" y="1194584"/>
            <a:ext cx="1675840" cy="1230764"/>
          </a:xfrm>
          <a:prstGeom prst="rect">
            <a:avLst/>
          </a:prstGeom>
        </p:spPr>
        <p:txBody>
          <a:bodyPr vert="horz" wrap="square" lIns="0" tIns="10646" rIns="0" bIns="0" rtlCol="0">
            <a:spAutoFit/>
          </a:bodyPr>
          <a:lstStyle/>
          <a:p>
            <a:pPr marL="629804" marR="4483" indent="-619158">
              <a:lnSpc>
                <a:spcPct val="127400"/>
              </a:lnSpc>
              <a:spcBef>
                <a:spcPts val="84"/>
              </a:spcBef>
              <a:tabLst>
                <a:tab pos="1107200" algn="l"/>
              </a:tabLst>
            </a:pPr>
            <a:r>
              <a:rPr sz="1677" b="1" spc="-9" dirty="0">
                <a:latin typeface="Times New Roman"/>
                <a:cs typeface="Times New Roman"/>
              </a:rPr>
              <a:t>Stages:</a:t>
            </a:r>
            <a:r>
              <a:rPr sz="1677" b="1" dirty="0">
                <a:latin typeface="Times New Roman"/>
                <a:cs typeface="Times New Roman"/>
              </a:rPr>
              <a:t>	</a:t>
            </a:r>
            <a:r>
              <a:rPr sz="1677" b="1" spc="-44" dirty="0">
                <a:latin typeface="Times New Roman"/>
                <a:cs typeface="Times New Roman"/>
              </a:rPr>
              <a:t>1 </a:t>
            </a:r>
            <a:r>
              <a:rPr sz="1677" b="1" spc="-9" dirty="0">
                <a:latin typeface="Times New Roman"/>
                <a:cs typeface="Times New Roman"/>
              </a:rPr>
              <a:t>Instruction</a:t>
            </a:r>
            <a:endParaRPr sz="1677">
              <a:latin typeface="Times New Roman"/>
              <a:cs typeface="Times New Roman"/>
            </a:endParaRPr>
          </a:p>
          <a:p>
            <a:pPr marL="889233">
              <a:spcBef>
                <a:spcPts val="22"/>
              </a:spcBef>
            </a:pPr>
            <a:r>
              <a:rPr sz="1677" b="1" spc="-9" dirty="0">
                <a:latin typeface="Times New Roman"/>
                <a:cs typeface="Times New Roman"/>
              </a:rPr>
              <a:t>Fetch</a:t>
            </a:r>
            <a:endParaRPr sz="1677">
              <a:latin typeface="Times New Roman"/>
              <a:cs typeface="Times New Roman"/>
            </a:endParaRPr>
          </a:p>
          <a:p>
            <a:pPr marL="90212">
              <a:spcBef>
                <a:spcPts val="799"/>
              </a:spcBef>
            </a:pPr>
            <a:r>
              <a:rPr sz="1324" dirty="0">
                <a:latin typeface="Times New Roman"/>
                <a:cs typeface="Times New Roman"/>
              </a:rPr>
              <a:t>Next</a:t>
            </a:r>
            <a:r>
              <a:rPr sz="1324" spc="-13"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106" name="object 106"/>
          <p:cNvSpPr txBox="1"/>
          <p:nvPr/>
        </p:nvSpPr>
        <p:spPr>
          <a:xfrm>
            <a:off x="8506317" y="4863891"/>
            <a:ext cx="192360" cy="656665"/>
          </a:xfrm>
          <a:prstGeom prst="rect">
            <a:avLst/>
          </a:prstGeom>
        </p:spPr>
        <p:txBody>
          <a:bodyPr vert="vert270" wrap="square" lIns="0" tIns="0" rIns="0" bIns="0" rtlCol="0">
            <a:spAutoFit/>
          </a:bodyPr>
          <a:lstStyle/>
          <a:p>
            <a:pPr marL="11206">
              <a:lnSpc>
                <a:spcPts val="1531"/>
              </a:lnSpc>
            </a:pPr>
            <a:r>
              <a:rPr sz="1324" dirty="0">
                <a:latin typeface="Times New Roman"/>
                <a:cs typeface="Times New Roman"/>
              </a:rPr>
              <a:t>WB </a:t>
            </a:r>
            <a:r>
              <a:rPr sz="1324" spc="-18" dirty="0">
                <a:latin typeface="Times New Roman"/>
                <a:cs typeface="Times New Roman"/>
              </a:rPr>
              <a:t>Data</a:t>
            </a:r>
            <a:endParaRPr sz="1324">
              <a:latin typeface="Times New Roman"/>
              <a:cs typeface="Times New Roman"/>
            </a:endParaRPr>
          </a:p>
        </p:txBody>
      </p:sp>
      <p:sp>
        <p:nvSpPr>
          <p:cNvPr id="107" name="object 107"/>
          <p:cNvSpPr/>
          <p:nvPr/>
        </p:nvSpPr>
        <p:spPr>
          <a:xfrm>
            <a:off x="885980" y="3329188"/>
            <a:ext cx="289112" cy="1157568"/>
          </a:xfrm>
          <a:custGeom>
            <a:avLst/>
            <a:gdLst/>
            <a:ahLst/>
            <a:cxnLst/>
            <a:rect l="l" t="t" r="r" b="b"/>
            <a:pathLst>
              <a:path w="327659" h="1311910">
                <a:moveTo>
                  <a:pt x="327659" y="0"/>
                </a:moveTo>
                <a:lnTo>
                  <a:pt x="0" y="0"/>
                </a:lnTo>
                <a:lnTo>
                  <a:pt x="0" y="1311767"/>
                </a:lnTo>
                <a:lnTo>
                  <a:pt x="327659" y="1311767"/>
                </a:lnTo>
                <a:lnTo>
                  <a:pt x="327659" y="0"/>
                </a:lnTo>
                <a:close/>
              </a:path>
            </a:pathLst>
          </a:custGeom>
          <a:solidFill>
            <a:srgbClr val="07F707"/>
          </a:solidFill>
        </p:spPr>
        <p:txBody>
          <a:bodyPr wrap="square" lIns="0" tIns="0" rIns="0" bIns="0" rtlCol="0"/>
          <a:lstStyle/>
          <a:p>
            <a:endParaRPr sz="1588"/>
          </a:p>
        </p:txBody>
      </p:sp>
      <p:sp>
        <p:nvSpPr>
          <p:cNvPr id="108" name="object 108"/>
          <p:cNvSpPr txBox="1"/>
          <p:nvPr/>
        </p:nvSpPr>
        <p:spPr>
          <a:xfrm>
            <a:off x="917008" y="3329188"/>
            <a:ext cx="258084" cy="1157568"/>
          </a:xfrm>
          <a:prstGeom prst="rect">
            <a:avLst/>
          </a:prstGeom>
          <a:ln w="30719">
            <a:solidFill>
              <a:srgbClr val="000000"/>
            </a:solidFill>
          </a:ln>
        </p:spPr>
        <p:txBody>
          <a:bodyPr vert="vert" wrap="square" lIns="0" tIns="15128" rIns="0" bIns="0" rtlCol="0">
            <a:spAutoFit/>
          </a:bodyPr>
          <a:lstStyle/>
          <a:p>
            <a:pPr marL="224690">
              <a:spcBef>
                <a:spcPts val="119"/>
              </a:spcBef>
            </a:pPr>
            <a:r>
              <a:rPr sz="1677" spc="-9" dirty="0">
                <a:latin typeface="Times New Roman"/>
                <a:cs typeface="Times New Roman"/>
              </a:rPr>
              <a:t>Address</a:t>
            </a:r>
            <a:endParaRPr sz="1677">
              <a:latin typeface="Times New Roman"/>
              <a:cs typeface="Times New Roman"/>
            </a:endParaRPr>
          </a:p>
        </p:txBody>
      </p:sp>
      <p:sp>
        <p:nvSpPr>
          <p:cNvPr id="109" name="object 109"/>
          <p:cNvSpPr/>
          <p:nvPr/>
        </p:nvSpPr>
        <p:spPr>
          <a:xfrm>
            <a:off x="898026" y="4278654"/>
            <a:ext cx="263899" cy="217393"/>
          </a:xfrm>
          <a:custGeom>
            <a:avLst/>
            <a:gdLst/>
            <a:ahLst/>
            <a:cxnLst/>
            <a:rect l="l" t="t" r="r" b="b"/>
            <a:pathLst>
              <a:path w="299084" h="246379">
                <a:moveTo>
                  <a:pt x="0" y="245956"/>
                </a:moveTo>
                <a:lnTo>
                  <a:pt x="149324" y="0"/>
                </a:lnTo>
                <a:lnTo>
                  <a:pt x="298648" y="245956"/>
                </a:lnTo>
                <a:lnTo>
                  <a:pt x="0" y="245956"/>
                </a:lnTo>
                <a:close/>
              </a:path>
            </a:pathLst>
          </a:custGeom>
          <a:ln w="30733">
            <a:solidFill>
              <a:srgbClr val="000000"/>
            </a:solidFill>
          </a:ln>
        </p:spPr>
        <p:txBody>
          <a:bodyPr wrap="square" lIns="0" tIns="0" rIns="0" bIns="0" rtlCol="0"/>
          <a:lstStyle/>
          <a:p>
            <a:endParaRPr sz="1588"/>
          </a:p>
        </p:txBody>
      </p:sp>
      <p:sp>
        <p:nvSpPr>
          <p:cNvPr id="110" name="object 110"/>
          <p:cNvSpPr txBox="1"/>
          <p:nvPr/>
        </p:nvSpPr>
        <p:spPr>
          <a:xfrm>
            <a:off x="3339000" y="3217774"/>
            <a:ext cx="230281"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RS1</a:t>
            </a:r>
            <a:endParaRPr sz="971">
              <a:latin typeface="Times New Roman"/>
              <a:cs typeface="Times New Roman"/>
            </a:endParaRPr>
          </a:p>
        </p:txBody>
      </p:sp>
      <p:sp>
        <p:nvSpPr>
          <p:cNvPr id="111" name="object 111"/>
          <p:cNvSpPr txBox="1"/>
          <p:nvPr/>
        </p:nvSpPr>
        <p:spPr>
          <a:xfrm>
            <a:off x="3348787" y="3508232"/>
            <a:ext cx="230281"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RS2</a:t>
            </a:r>
            <a:endParaRPr sz="971">
              <a:latin typeface="Times New Roman"/>
              <a:cs typeface="Times New Roman"/>
            </a:endParaRPr>
          </a:p>
        </p:txBody>
      </p:sp>
      <p:sp>
        <p:nvSpPr>
          <p:cNvPr id="112" name="object 112"/>
          <p:cNvSpPr txBox="1"/>
          <p:nvPr/>
        </p:nvSpPr>
        <p:spPr>
          <a:xfrm>
            <a:off x="3480545" y="5084226"/>
            <a:ext cx="252693"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Imm</a:t>
            </a:r>
            <a:endParaRPr sz="971">
              <a:latin typeface="Times New Roman"/>
              <a:cs typeface="Times New Roman"/>
            </a:endParaRPr>
          </a:p>
        </p:txBody>
      </p:sp>
      <p:grpSp>
        <p:nvGrpSpPr>
          <p:cNvPr id="113" name="object 113"/>
          <p:cNvGrpSpPr/>
          <p:nvPr/>
        </p:nvGrpSpPr>
        <p:grpSpPr>
          <a:xfrm>
            <a:off x="6811091" y="2252965"/>
            <a:ext cx="226359" cy="552450"/>
            <a:chOff x="7566836" y="2553360"/>
            <a:chExt cx="256540" cy="626110"/>
          </a:xfrm>
        </p:grpSpPr>
        <p:sp>
          <p:nvSpPr>
            <p:cNvPr id="114" name="object 114"/>
            <p:cNvSpPr/>
            <p:nvPr/>
          </p:nvSpPr>
          <p:spPr>
            <a:xfrm>
              <a:off x="7582394" y="2568917"/>
              <a:ext cx="225425" cy="594995"/>
            </a:xfrm>
            <a:custGeom>
              <a:avLst/>
              <a:gdLst/>
              <a:ahLst/>
              <a:cxnLst/>
              <a:rect l="l" t="t" r="r" b="b"/>
              <a:pathLst>
                <a:path w="225425" h="594994">
                  <a:moveTo>
                    <a:pt x="112632" y="0"/>
                  </a:moveTo>
                  <a:lnTo>
                    <a:pt x="63099" y="30207"/>
                  </a:lnTo>
                  <a:lnTo>
                    <a:pt x="42186" y="65291"/>
                  </a:lnTo>
                  <a:lnTo>
                    <a:pt x="24744" y="111315"/>
                  </a:lnTo>
                  <a:lnTo>
                    <a:pt x="11448" y="166497"/>
                  </a:lnTo>
                  <a:lnTo>
                    <a:pt x="2974" y="229053"/>
                  </a:lnTo>
                  <a:lnTo>
                    <a:pt x="0" y="297197"/>
                  </a:lnTo>
                  <a:lnTo>
                    <a:pt x="2974" y="365342"/>
                  </a:lnTo>
                  <a:lnTo>
                    <a:pt x="11448" y="427897"/>
                  </a:lnTo>
                  <a:lnTo>
                    <a:pt x="24744" y="483079"/>
                  </a:lnTo>
                  <a:lnTo>
                    <a:pt x="42186" y="529104"/>
                  </a:lnTo>
                  <a:lnTo>
                    <a:pt x="63099" y="564187"/>
                  </a:lnTo>
                  <a:lnTo>
                    <a:pt x="112632" y="594395"/>
                  </a:lnTo>
                  <a:lnTo>
                    <a:pt x="138458" y="586546"/>
                  </a:lnTo>
                  <a:lnTo>
                    <a:pt x="183079" y="529104"/>
                  </a:lnTo>
                  <a:lnTo>
                    <a:pt x="200521" y="483079"/>
                  </a:lnTo>
                  <a:lnTo>
                    <a:pt x="213818" y="427897"/>
                  </a:lnTo>
                  <a:lnTo>
                    <a:pt x="222291" y="365342"/>
                  </a:lnTo>
                  <a:lnTo>
                    <a:pt x="225266" y="297197"/>
                  </a:lnTo>
                  <a:lnTo>
                    <a:pt x="222291" y="229053"/>
                  </a:lnTo>
                  <a:lnTo>
                    <a:pt x="213818" y="166497"/>
                  </a:lnTo>
                  <a:lnTo>
                    <a:pt x="200521" y="111315"/>
                  </a:lnTo>
                  <a:lnTo>
                    <a:pt x="183079" y="65291"/>
                  </a:lnTo>
                  <a:lnTo>
                    <a:pt x="162165" y="30207"/>
                  </a:lnTo>
                  <a:lnTo>
                    <a:pt x="112632" y="0"/>
                  </a:lnTo>
                  <a:close/>
                </a:path>
              </a:pathLst>
            </a:custGeom>
            <a:solidFill>
              <a:srgbClr val="FF0000"/>
            </a:solidFill>
          </p:spPr>
          <p:txBody>
            <a:bodyPr wrap="square" lIns="0" tIns="0" rIns="0" bIns="0" rtlCol="0"/>
            <a:lstStyle/>
            <a:p>
              <a:endParaRPr sz="1588"/>
            </a:p>
          </p:txBody>
        </p:sp>
        <p:sp>
          <p:nvSpPr>
            <p:cNvPr id="115" name="object 115"/>
            <p:cNvSpPr/>
            <p:nvPr/>
          </p:nvSpPr>
          <p:spPr>
            <a:xfrm>
              <a:off x="7582394" y="2568917"/>
              <a:ext cx="225425" cy="594995"/>
            </a:xfrm>
            <a:custGeom>
              <a:avLst/>
              <a:gdLst/>
              <a:ahLst/>
              <a:cxnLst/>
              <a:rect l="l" t="t" r="r" b="b"/>
              <a:pathLst>
                <a:path w="225425" h="594994">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116" name="object 116"/>
          <p:cNvSpPr txBox="1"/>
          <p:nvPr/>
        </p:nvSpPr>
        <p:spPr>
          <a:xfrm>
            <a:off x="6850148" y="2351442"/>
            <a:ext cx="166712" cy="360269"/>
          </a:xfrm>
          <a:prstGeom prst="rect">
            <a:avLst/>
          </a:prstGeom>
        </p:spPr>
        <p:txBody>
          <a:bodyPr vert="vert" wrap="square" lIns="0" tIns="0" rIns="0" bIns="0" rtlCol="0">
            <a:spAutoFit/>
          </a:bodyPr>
          <a:lstStyle/>
          <a:p>
            <a:pPr marL="11206">
              <a:lnSpc>
                <a:spcPts val="1337"/>
              </a:lnSpc>
            </a:pPr>
            <a:r>
              <a:rPr sz="1147" spc="-22" dirty="0">
                <a:latin typeface="Times New Roman"/>
                <a:cs typeface="Times New Roman"/>
              </a:rPr>
              <a:t>MUX</a:t>
            </a:r>
            <a:endParaRPr sz="1147">
              <a:latin typeface="Times New Roman"/>
              <a:cs typeface="Times New Roman"/>
            </a:endParaRPr>
          </a:p>
        </p:txBody>
      </p:sp>
      <p:sp>
        <p:nvSpPr>
          <p:cNvPr id="117" name="object 117"/>
          <p:cNvSpPr/>
          <p:nvPr/>
        </p:nvSpPr>
        <p:spPr>
          <a:xfrm>
            <a:off x="3414203" y="4228919"/>
            <a:ext cx="5086910" cy="1790700"/>
          </a:xfrm>
          <a:custGeom>
            <a:avLst/>
            <a:gdLst/>
            <a:ahLst/>
            <a:cxnLst/>
            <a:rect l="l" t="t" r="r" b="b"/>
            <a:pathLst>
              <a:path w="5765165" h="2029459">
                <a:moveTo>
                  <a:pt x="338715" y="30745"/>
                </a:moveTo>
                <a:lnTo>
                  <a:pt x="6877" y="30745"/>
                </a:lnTo>
                <a:lnTo>
                  <a:pt x="0" y="37627"/>
                </a:lnTo>
                <a:lnTo>
                  <a:pt x="0" y="2022260"/>
                </a:lnTo>
                <a:lnTo>
                  <a:pt x="6877" y="2029142"/>
                </a:lnTo>
                <a:lnTo>
                  <a:pt x="5757891" y="2029142"/>
                </a:lnTo>
                <a:lnTo>
                  <a:pt x="5764767" y="2022260"/>
                </a:lnTo>
                <a:lnTo>
                  <a:pt x="5764767" y="2013770"/>
                </a:lnTo>
                <a:lnTo>
                  <a:pt x="30717" y="2013770"/>
                </a:lnTo>
                <a:lnTo>
                  <a:pt x="15359" y="1998398"/>
                </a:lnTo>
                <a:lnTo>
                  <a:pt x="30717" y="1998398"/>
                </a:lnTo>
                <a:lnTo>
                  <a:pt x="30717" y="61489"/>
                </a:lnTo>
                <a:lnTo>
                  <a:pt x="15359" y="61489"/>
                </a:lnTo>
                <a:lnTo>
                  <a:pt x="30717" y="46117"/>
                </a:lnTo>
                <a:lnTo>
                  <a:pt x="338715" y="46117"/>
                </a:lnTo>
                <a:lnTo>
                  <a:pt x="338715" y="30745"/>
                </a:lnTo>
                <a:close/>
              </a:path>
              <a:path w="5765165" h="2029459">
                <a:moveTo>
                  <a:pt x="30717" y="1998398"/>
                </a:moveTo>
                <a:lnTo>
                  <a:pt x="15359" y="1998398"/>
                </a:lnTo>
                <a:lnTo>
                  <a:pt x="30717" y="2013770"/>
                </a:lnTo>
                <a:lnTo>
                  <a:pt x="30717" y="1998398"/>
                </a:lnTo>
                <a:close/>
              </a:path>
              <a:path w="5765165" h="2029459">
                <a:moveTo>
                  <a:pt x="5734049" y="1998398"/>
                </a:moveTo>
                <a:lnTo>
                  <a:pt x="30717" y="1998398"/>
                </a:lnTo>
                <a:lnTo>
                  <a:pt x="30717" y="2013770"/>
                </a:lnTo>
                <a:lnTo>
                  <a:pt x="5734049" y="2013770"/>
                </a:lnTo>
                <a:lnTo>
                  <a:pt x="5734049" y="1998398"/>
                </a:lnTo>
                <a:close/>
              </a:path>
              <a:path w="5765165" h="2029459">
                <a:moveTo>
                  <a:pt x="5734049" y="292073"/>
                </a:moveTo>
                <a:lnTo>
                  <a:pt x="5734049" y="2013770"/>
                </a:lnTo>
                <a:lnTo>
                  <a:pt x="5749409" y="1998398"/>
                </a:lnTo>
                <a:lnTo>
                  <a:pt x="5764767" y="1998398"/>
                </a:lnTo>
                <a:lnTo>
                  <a:pt x="5764767" y="307446"/>
                </a:lnTo>
                <a:lnTo>
                  <a:pt x="5749409" y="307446"/>
                </a:lnTo>
                <a:lnTo>
                  <a:pt x="5734049" y="292073"/>
                </a:lnTo>
                <a:close/>
              </a:path>
              <a:path w="5765165" h="2029459">
                <a:moveTo>
                  <a:pt x="5764767" y="1998398"/>
                </a:moveTo>
                <a:lnTo>
                  <a:pt x="5749409" y="1998398"/>
                </a:lnTo>
                <a:lnTo>
                  <a:pt x="5734049" y="2013770"/>
                </a:lnTo>
                <a:lnTo>
                  <a:pt x="5764767" y="2013770"/>
                </a:lnTo>
                <a:lnTo>
                  <a:pt x="5764767" y="1998398"/>
                </a:lnTo>
                <a:close/>
              </a:path>
              <a:path w="5765165" h="2029459">
                <a:moveTo>
                  <a:pt x="5757891" y="276701"/>
                </a:moveTo>
                <a:lnTo>
                  <a:pt x="5500102" y="276701"/>
                </a:lnTo>
                <a:lnTo>
                  <a:pt x="5500102" y="307446"/>
                </a:lnTo>
                <a:lnTo>
                  <a:pt x="5734049" y="307446"/>
                </a:lnTo>
                <a:lnTo>
                  <a:pt x="5734049" y="292073"/>
                </a:lnTo>
                <a:lnTo>
                  <a:pt x="5764767" y="292073"/>
                </a:lnTo>
                <a:lnTo>
                  <a:pt x="5764767" y="283583"/>
                </a:lnTo>
                <a:lnTo>
                  <a:pt x="5757891" y="276701"/>
                </a:lnTo>
                <a:close/>
              </a:path>
              <a:path w="5765165" h="2029459">
                <a:moveTo>
                  <a:pt x="5764767" y="292073"/>
                </a:moveTo>
                <a:lnTo>
                  <a:pt x="5734049" y="292073"/>
                </a:lnTo>
                <a:lnTo>
                  <a:pt x="5749409" y="307446"/>
                </a:lnTo>
                <a:lnTo>
                  <a:pt x="5764767" y="307446"/>
                </a:lnTo>
                <a:lnTo>
                  <a:pt x="5764767" y="292073"/>
                </a:lnTo>
                <a:close/>
              </a:path>
              <a:path w="5765165" h="2029459">
                <a:moveTo>
                  <a:pt x="338715" y="0"/>
                </a:moveTo>
                <a:lnTo>
                  <a:pt x="338715" y="92233"/>
                </a:lnTo>
                <a:lnTo>
                  <a:pt x="400152" y="61489"/>
                </a:lnTo>
                <a:lnTo>
                  <a:pt x="354074" y="61489"/>
                </a:lnTo>
                <a:lnTo>
                  <a:pt x="354074" y="30745"/>
                </a:lnTo>
                <a:lnTo>
                  <a:pt x="400152" y="30745"/>
                </a:lnTo>
                <a:lnTo>
                  <a:pt x="338715" y="0"/>
                </a:lnTo>
                <a:close/>
              </a:path>
              <a:path w="5765165" h="2029459">
                <a:moveTo>
                  <a:pt x="30717" y="46117"/>
                </a:moveTo>
                <a:lnTo>
                  <a:pt x="15359" y="61489"/>
                </a:lnTo>
                <a:lnTo>
                  <a:pt x="30717" y="61489"/>
                </a:lnTo>
                <a:lnTo>
                  <a:pt x="30717" y="46117"/>
                </a:lnTo>
                <a:close/>
              </a:path>
              <a:path w="5765165" h="2029459">
                <a:moveTo>
                  <a:pt x="338715" y="46117"/>
                </a:moveTo>
                <a:lnTo>
                  <a:pt x="30717" y="46117"/>
                </a:lnTo>
                <a:lnTo>
                  <a:pt x="30717" y="61489"/>
                </a:lnTo>
                <a:lnTo>
                  <a:pt x="338715" y="61489"/>
                </a:lnTo>
                <a:lnTo>
                  <a:pt x="338715" y="46117"/>
                </a:lnTo>
                <a:close/>
              </a:path>
              <a:path w="5765165" h="2029459">
                <a:moveTo>
                  <a:pt x="400152" y="30745"/>
                </a:moveTo>
                <a:lnTo>
                  <a:pt x="354074" y="30745"/>
                </a:lnTo>
                <a:lnTo>
                  <a:pt x="354074" y="61489"/>
                </a:lnTo>
                <a:lnTo>
                  <a:pt x="400152" y="61489"/>
                </a:lnTo>
                <a:lnTo>
                  <a:pt x="430870" y="46117"/>
                </a:lnTo>
                <a:lnTo>
                  <a:pt x="400152" y="30745"/>
                </a:lnTo>
                <a:close/>
              </a:path>
            </a:pathLst>
          </a:custGeom>
          <a:solidFill>
            <a:srgbClr val="000000"/>
          </a:solidFill>
        </p:spPr>
        <p:txBody>
          <a:bodyPr wrap="square" lIns="0" tIns="0" rIns="0" bIns="0" rtlCol="0"/>
          <a:lstStyle/>
          <a:p>
            <a:endParaRPr sz="1588"/>
          </a:p>
        </p:txBody>
      </p:sp>
      <p:sp>
        <p:nvSpPr>
          <p:cNvPr id="118" name="object 118"/>
          <p:cNvSpPr txBox="1"/>
          <p:nvPr/>
        </p:nvSpPr>
        <p:spPr>
          <a:xfrm>
            <a:off x="759388" y="6292590"/>
            <a:ext cx="4844303" cy="242148"/>
          </a:xfrm>
          <a:prstGeom prst="rect">
            <a:avLst/>
          </a:prstGeom>
        </p:spPr>
        <p:txBody>
          <a:bodyPr vert="horz" wrap="square" lIns="0" tIns="11206" rIns="0" bIns="0" rtlCol="0">
            <a:spAutoFit/>
          </a:bodyPr>
          <a:lstStyle/>
          <a:p>
            <a:pPr marL="11206">
              <a:spcBef>
                <a:spcPts val="88"/>
              </a:spcBef>
            </a:pPr>
            <a:r>
              <a:rPr sz="1500" b="1" dirty="0">
                <a:solidFill>
                  <a:srgbClr val="FC0128"/>
                </a:solidFill>
                <a:latin typeface="Times New Roman"/>
                <a:cs typeface="Times New Roman"/>
              </a:rPr>
              <a:t>Old</a:t>
            </a:r>
            <a:r>
              <a:rPr sz="1500" b="1" spc="22" dirty="0">
                <a:solidFill>
                  <a:srgbClr val="FC0128"/>
                </a:solidFill>
                <a:latin typeface="Times New Roman"/>
                <a:cs typeface="Times New Roman"/>
              </a:rPr>
              <a:t> </a:t>
            </a:r>
            <a:r>
              <a:rPr sz="1500" b="1" dirty="0">
                <a:solidFill>
                  <a:srgbClr val="FC0128"/>
                </a:solidFill>
                <a:latin typeface="Times New Roman"/>
                <a:cs typeface="Times New Roman"/>
              </a:rPr>
              <a:t>simple</a:t>
            </a:r>
            <a:r>
              <a:rPr sz="1500" b="1" spc="26" dirty="0">
                <a:solidFill>
                  <a:srgbClr val="FC0128"/>
                </a:solidFill>
                <a:latin typeface="Times New Roman"/>
                <a:cs typeface="Times New Roman"/>
              </a:rPr>
              <a:t> </a:t>
            </a:r>
            <a:r>
              <a:rPr sz="1500" b="1" dirty="0">
                <a:solidFill>
                  <a:srgbClr val="FC0128"/>
                </a:solidFill>
                <a:latin typeface="Times New Roman"/>
                <a:cs typeface="Times New Roman"/>
              </a:rPr>
              <a:t>design</a:t>
            </a:r>
            <a:r>
              <a:rPr sz="1500" b="1" spc="22" dirty="0">
                <a:solidFill>
                  <a:srgbClr val="FC0128"/>
                </a:solidFill>
                <a:latin typeface="Times New Roman"/>
                <a:cs typeface="Times New Roman"/>
              </a:rPr>
              <a:t> </a:t>
            </a:r>
            <a:r>
              <a:rPr sz="1500" b="1" dirty="0">
                <a:solidFill>
                  <a:srgbClr val="FC0128"/>
                </a:solidFill>
                <a:latin typeface="Times New Roman"/>
                <a:cs typeface="Times New Roman"/>
              </a:rPr>
              <a:t>put</a:t>
            </a:r>
            <a:r>
              <a:rPr sz="1500" b="1" spc="31" dirty="0">
                <a:solidFill>
                  <a:srgbClr val="FC0128"/>
                </a:solidFill>
                <a:latin typeface="Times New Roman"/>
                <a:cs typeface="Times New Roman"/>
              </a:rPr>
              <a:t> </a:t>
            </a:r>
            <a:r>
              <a:rPr sz="1500" b="1" dirty="0">
                <a:solidFill>
                  <a:srgbClr val="FF0000"/>
                </a:solidFill>
                <a:latin typeface="Times New Roman"/>
                <a:cs typeface="Times New Roman"/>
              </a:rPr>
              <a:t>branch</a:t>
            </a:r>
            <a:r>
              <a:rPr sz="1500" b="1" spc="22" dirty="0">
                <a:solidFill>
                  <a:srgbClr val="FF0000"/>
                </a:solidFill>
                <a:latin typeface="Times New Roman"/>
                <a:cs typeface="Times New Roman"/>
              </a:rPr>
              <a:t> </a:t>
            </a:r>
            <a:r>
              <a:rPr sz="1500" b="1" dirty="0">
                <a:solidFill>
                  <a:srgbClr val="FF0000"/>
                </a:solidFill>
                <a:latin typeface="Times New Roman"/>
                <a:cs typeface="Times New Roman"/>
              </a:rPr>
              <a:t>completion</a:t>
            </a:r>
            <a:r>
              <a:rPr sz="1500" b="1" spc="22" dirty="0">
                <a:solidFill>
                  <a:srgbClr val="FF0000"/>
                </a:solidFill>
                <a:latin typeface="Times New Roman"/>
                <a:cs typeface="Times New Roman"/>
              </a:rPr>
              <a:t> </a:t>
            </a:r>
            <a:r>
              <a:rPr sz="1500" b="1" dirty="0">
                <a:solidFill>
                  <a:srgbClr val="FC0128"/>
                </a:solidFill>
                <a:latin typeface="Times New Roman"/>
                <a:cs typeface="Times New Roman"/>
              </a:rPr>
              <a:t>in</a:t>
            </a:r>
            <a:r>
              <a:rPr sz="1500" b="1" spc="22" dirty="0">
                <a:solidFill>
                  <a:srgbClr val="FC0128"/>
                </a:solidFill>
                <a:latin typeface="Times New Roman"/>
                <a:cs typeface="Times New Roman"/>
              </a:rPr>
              <a:t> </a:t>
            </a:r>
            <a:r>
              <a:rPr sz="1500" b="1" dirty="0">
                <a:solidFill>
                  <a:srgbClr val="FC0128"/>
                </a:solidFill>
                <a:latin typeface="Times New Roman"/>
                <a:cs typeface="Times New Roman"/>
              </a:rPr>
              <a:t>stage</a:t>
            </a:r>
            <a:r>
              <a:rPr sz="1500" b="1" spc="31" dirty="0">
                <a:solidFill>
                  <a:srgbClr val="FC0128"/>
                </a:solidFill>
                <a:latin typeface="Times New Roman"/>
                <a:cs typeface="Times New Roman"/>
              </a:rPr>
              <a:t> </a:t>
            </a:r>
            <a:r>
              <a:rPr sz="1500" b="1" dirty="0">
                <a:solidFill>
                  <a:srgbClr val="FC0128"/>
                </a:solidFill>
                <a:latin typeface="Times New Roman"/>
                <a:cs typeface="Times New Roman"/>
              </a:rPr>
              <a:t>4</a:t>
            </a:r>
            <a:r>
              <a:rPr sz="1500" b="1" spc="22" dirty="0">
                <a:solidFill>
                  <a:srgbClr val="FC0128"/>
                </a:solidFill>
                <a:latin typeface="Times New Roman"/>
                <a:cs typeface="Times New Roman"/>
              </a:rPr>
              <a:t> </a:t>
            </a:r>
            <a:r>
              <a:rPr sz="1500" b="1" spc="-9" dirty="0">
                <a:solidFill>
                  <a:srgbClr val="FC0128"/>
                </a:solidFill>
                <a:latin typeface="Times New Roman"/>
                <a:cs typeface="Times New Roman"/>
              </a:rPr>
              <a:t>(Mem)</a:t>
            </a:r>
            <a:endParaRPr sz="1500" dirty="0">
              <a:latin typeface="Times New Roman"/>
              <a:cs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1955" y="-51250"/>
            <a:ext cx="6925235" cy="1365532"/>
          </a:xfrm>
          <a:prstGeom prst="rect">
            <a:avLst/>
          </a:prstGeom>
        </p:spPr>
        <p:txBody>
          <a:bodyPr vert="horz" wrap="square" lIns="0" tIns="11206" rIns="0" bIns="0" rtlCol="0" anchor="ctr">
            <a:spAutoFit/>
          </a:bodyPr>
          <a:lstStyle/>
          <a:p>
            <a:pPr marL="11206">
              <a:lnSpc>
                <a:spcPct val="100000"/>
              </a:lnSpc>
              <a:spcBef>
                <a:spcPts val="88"/>
              </a:spcBef>
            </a:pPr>
            <a:r>
              <a:rPr dirty="0"/>
              <a:t>Control</a:t>
            </a:r>
            <a:r>
              <a:rPr spc="53" dirty="0"/>
              <a:t> </a:t>
            </a:r>
            <a:r>
              <a:rPr dirty="0"/>
              <a:t>Hazard</a:t>
            </a:r>
            <a:r>
              <a:rPr spc="62" dirty="0"/>
              <a:t> </a:t>
            </a:r>
            <a:r>
              <a:rPr dirty="0"/>
              <a:t>on</a:t>
            </a:r>
            <a:r>
              <a:rPr spc="62" dirty="0"/>
              <a:t> </a:t>
            </a:r>
            <a:r>
              <a:rPr dirty="0"/>
              <a:t>Branch</a:t>
            </a:r>
            <a:r>
              <a:rPr spc="62" dirty="0"/>
              <a:t> </a:t>
            </a:r>
            <a:r>
              <a:rPr dirty="0"/>
              <a:t>-</a:t>
            </a:r>
            <a:r>
              <a:rPr spc="44" dirty="0"/>
              <a:t> </a:t>
            </a:r>
            <a:r>
              <a:rPr dirty="0"/>
              <a:t>Three</a:t>
            </a:r>
            <a:r>
              <a:rPr spc="53" dirty="0"/>
              <a:t> </a:t>
            </a:r>
            <a:r>
              <a:rPr dirty="0"/>
              <a:t>Cycle</a:t>
            </a:r>
            <a:r>
              <a:rPr spc="53" dirty="0"/>
              <a:t> </a:t>
            </a:r>
            <a:r>
              <a:rPr spc="-9" dirty="0"/>
              <a:t>Stall</a:t>
            </a:r>
          </a:p>
        </p:txBody>
      </p:sp>
      <p:sp>
        <p:nvSpPr>
          <p:cNvPr id="193" name="Slide Number Placeholder 192">
            <a:extLst>
              <a:ext uri="{FF2B5EF4-FFF2-40B4-BE49-F238E27FC236}">
                <a16:creationId xmlns:a16="http://schemas.microsoft.com/office/drawing/2014/main" id="{E48D7688-4683-AC6C-6F05-75CF84B977F8}"/>
              </a:ext>
            </a:extLst>
          </p:cNvPr>
          <p:cNvSpPr>
            <a:spLocks noGrp="1"/>
          </p:cNvSpPr>
          <p:nvPr>
            <p:ph type="sldNum" sz="quarter" idx="7"/>
          </p:nvPr>
        </p:nvSpPr>
        <p:spPr/>
        <p:txBody>
          <a:bodyPr/>
          <a:lstStyle/>
          <a:p>
            <a:fld id="{4FE321F0-2018-4E50-8BB3-A5631EBD98DD}" type="slidenum">
              <a:rPr lang="en-US" smtClean="0"/>
              <a:t>56</a:t>
            </a:fld>
            <a:endParaRPr lang="en-US"/>
          </a:p>
        </p:txBody>
      </p:sp>
      <p:sp>
        <p:nvSpPr>
          <p:cNvPr id="3" name="object 3"/>
          <p:cNvSpPr txBox="1"/>
          <p:nvPr/>
        </p:nvSpPr>
        <p:spPr>
          <a:xfrm>
            <a:off x="961955" y="817330"/>
            <a:ext cx="4742890" cy="364361"/>
          </a:xfrm>
          <a:prstGeom prst="rect">
            <a:avLst/>
          </a:prstGeom>
        </p:spPr>
        <p:txBody>
          <a:bodyPr vert="horz" wrap="square" lIns="0" tIns="11206" rIns="0" bIns="0" rtlCol="0">
            <a:spAutoFit/>
          </a:bodyPr>
          <a:lstStyle/>
          <a:p>
            <a:pPr marL="11206">
              <a:spcBef>
                <a:spcPts val="88"/>
              </a:spcBef>
            </a:pPr>
            <a:r>
              <a:rPr sz="2294" dirty="0">
                <a:solidFill>
                  <a:srgbClr val="0332B7"/>
                </a:solidFill>
                <a:latin typeface="Calibri"/>
                <a:cs typeface="Calibri"/>
              </a:rPr>
              <a:t>(Caused</a:t>
            </a:r>
            <a:r>
              <a:rPr sz="2294" spc="-75" dirty="0">
                <a:solidFill>
                  <a:srgbClr val="0332B7"/>
                </a:solidFill>
                <a:latin typeface="Calibri"/>
                <a:cs typeface="Calibri"/>
              </a:rPr>
              <a:t> </a:t>
            </a:r>
            <a:r>
              <a:rPr sz="2294" dirty="0">
                <a:solidFill>
                  <a:srgbClr val="0332B7"/>
                </a:solidFill>
                <a:latin typeface="Calibri"/>
                <a:cs typeface="Calibri"/>
              </a:rPr>
              <a:t>if</a:t>
            </a:r>
            <a:r>
              <a:rPr sz="2294" spc="-62" dirty="0">
                <a:solidFill>
                  <a:srgbClr val="0332B7"/>
                </a:solidFill>
                <a:latin typeface="Calibri"/>
                <a:cs typeface="Calibri"/>
              </a:rPr>
              <a:t> </a:t>
            </a:r>
            <a:r>
              <a:rPr sz="2294" dirty="0">
                <a:solidFill>
                  <a:srgbClr val="0332B7"/>
                </a:solidFill>
                <a:latin typeface="Calibri"/>
                <a:cs typeface="Calibri"/>
              </a:rPr>
              <a:t>Decide</a:t>
            </a:r>
            <a:r>
              <a:rPr sz="2294" spc="-66" dirty="0">
                <a:solidFill>
                  <a:srgbClr val="0332B7"/>
                </a:solidFill>
                <a:latin typeface="Calibri"/>
                <a:cs typeface="Calibri"/>
              </a:rPr>
              <a:t> </a:t>
            </a:r>
            <a:r>
              <a:rPr sz="2294" dirty="0">
                <a:solidFill>
                  <a:srgbClr val="0332B7"/>
                </a:solidFill>
                <a:latin typeface="Calibri"/>
                <a:cs typeface="Calibri"/>
              </a:rPr>
              <a:t>Branches</a:t>
            </a:r>
            <a:r>
              <a:rPr sz="2294" spc="-71" dirty="0">
                <a:solidFill>
                  <a:srgbClr val="0332B7"/>
                </a:solidFill>
                <a:latin typeface="Calibri"/>
                <a:cs typeface="Calibri"/>
              </a:rPr>
              <a:t> </a:t>
            </a:r>
            <a:r>
              <a:rPr sz="2294" dirty="0">
                <a:solidFill>
                  <a:srgbClr val="0332B7"/>
                </a:solidFill>
                <a:latin typeface="Calibri"/>
                <a:cs typeface="Calibri"/>
              </a:rPr>
              <a:t>in</a:t>
            </a:r>
            <a:r>
              <a:rPr sz="2294" spc="-75" dirty="0">
                <a:solidFill>
                  <a:srgbClr val="0332B7"/>
                </a:solidFill>
                <a:latin typeface="Calibri"/>
                <a:cs typeface="Calibri"/>
              </a:rPr>
              <a:t> </a:t>
            </a:r>
            <a:r>
              <a:rPr sz="2294" dirty="0">
                <a:solidFill>
                  <a:srgbClr val="FF0000"/>
                </a:solidFill>
                <a:latin typeface="Calibri"/>
                <a:cs typeface="Calibri"/>
              </a:rPr>
              <a:t>4th</a:t>
            </a:r>
            <a:r>
              <a:rPr sz="2294" spc="-66" dirty="0">
                <a:solidFill>
                  <a:srgbClr val="FF0000"/>
                </a:solidFill>
                <a:latin typeface="Calibri"/>
                <a:cs typeface="Calibri"/>
              </a:rPr>
              <a:t> </a:t>
            </a:r>
            <a:r>
              <a:rPr sz="2294" spc="-9" dirty="0">
                <a:solidFill>
                  <a:srgbClr val="0332B7"/>
                </a:solidFill>
                <a:latin typeface="Calibri"/>
                <a:cs typeface="Calibri"/>
              </a:rPr>
              <a:t>Stage)</a:t>
            </a:r>
            <a:endParaRPr sz="2294">
              <a:latin typeface="Calibri"/>
              <a:cs typeface="Calibri"/>
            </a:endParaRPr>
          </a:p>
        </p:txBody>
      </p:sp>
      <p:grpSp>
        <p:nvGrpSpPr>
          <p:cNvPr id="9" name="object 9"/>
          <p:cNvGrpSpPr/>
          <p:nvPr/>
        </p:nvGrpSpPr>
        <p:grpSpPr>
          <a:xfrm>
            <a:off x="2152778" y="1180852"/>
            <a:ext cx="6375026" cy="1413622"/>
            <a:chOff x="2287415" y="1338298"/>
            <a:chExt cx="7225030" cy="1602105"/>
          </a:xfrm>
        </p:grpSpPr>
        <p:sp>
          <p:nvSpPr>
            <p:cNvPr id="10" name="object 10"/>
            <p:cNvSpPr/>
            <p:nvPr/>
          </p:nvSpPr>
          <p:spPr>
            <a:xfrm>
              <a:off x="3984298" y="1338298"/>
              <a:ext cx="2436495" cy="427990"/>
            </a:xfrm>
            <a:custGeom>
              <a:avLst/>
              <a:gdLst/>
              <a:ahLst/>
              <a:cxnLst/>
              <a:rect l="l" t="t" r="r" b="b"/>
              <a:pathLst>
                <a:path w="2436495" h="427989">
                  <a:moveTo>
                    <a:pt x="2436323" y="0"/>
                  </a:moveTo>
                  <a:lnTo>
                    <a:pt x="0" y="0"/>
                  </a:lnTo>
                  <a:lnTo>
                    <a:pt x="0" y="427728"/>
                  </a:lnTo>
                  <a:lnTo>
                    <a:pt x="2436323" y="427728"/>
                  </a:lnTo>
                  <a:lnTo>
                    <a:pt x="2436323" y="0"/>
                  </a:lnTo>
                  <a:close/>
                </a:path>
              </a:pathLst>
            </a:custGeom>
            <a:solidFill>
              <a:srgbClr val="FFFFFF"/>
            </a:solidFill>
          </p:spPr>
          <p:txBody>
            <a:bodyPr wrap="square" lIns="0" tIns="0" rIns="0" bIns="0" rtlCol="0"/>
            <a:lstStyle/>
            <a:p>
              <a:endParaRPr sz="1588"/>
            </a:p>
          </p:txBody>
        </p:sp>
        <p:sp>
          <p:nvSpPr>
            <p:cNvPr id="11" name="object 11"/>
            <p:cNvSpPr/>
            <p:nvPr/>
          </p:nvSpPr>
          <p:spPr>
            <a:xfrm>
              <a:off x="2287415" y="1759412"/>
              <a:ext cx="7225030" cy="82550"/>
            </a:xfrm>
            <a:custGeom>
              <a:avLst/>
              <a:gdLst/>
              <a:ahLst/>
              <a:cxnLst/>
              <a:rect l="l" t="t" r="r" b="b"/>
              <a:pathLst>
                <a:path w="7225030" h="82550">
                  <a:moveTo>
                    <a:pt x="7143197" y="0"/>
                  </a:moveTo>
                  <a:lnTo>
                    <a:pt x="7143071" y="41245"/>
                  </a:lnTo>
                  <a:lnTo>
                    <a:pt x="7142946" y="81984"/>
                  </a:lnTo>
                  <a:lnTo>
                    <a:pt x="7197894" y="54698"/>
                  </a:lnTo>
                  <a:lnTo>
                    <a:pt x="7156739" y="54698"/>
                  </a:lnTo>
                  <a:lnTo>
                    <a:pt x="7156823" y="27371"/>
                  </a:lnTo>
                  <a:lnTo>
                    <a:pt x="7197473" y="27371"/>
                  </a:lnTo>
                  <a:lnTo>
                    <a:pt x="7143197" y="0"/>
                  </a:lnTo>
                  <a:close/>
                </a:path>
                <a:path w="7225030" h="82550">
                  <a:moveTo>
                    <a:pt x="85" y="5326"/>
                  </a:moveTo>
                  <a:lnTo>
                    <a:pt x="0" y="32655"/>
                  </a:lnTo>
                  <a:lnTo>
                    <a:pt x="7156739" y="54698"/>
                  </a:lnTo>
                  <a:lnTo>
                    <a:pt x="7143029" y="54698"/>
                  </a:lnTo>
                  <a:lnTo>
                    <a:pt x="7143113" y="27371"/>
                  </a:lnTo>
                  <a:lnTo>
                    <a:pt x="7156823" y="27371"/>
                  </a:lnTo>
                  <a:lnTo>
                    <a:pt x="85" y="5326"/>
                  </a:lnTo>
                  <a:close/>
                </a:path>
                <a:path w="7225030" h="82550">
                  <a:moveTo>
                    <a:pt x="7197473" y="27371"/>
                  </a:moveTo>
                  <a:lnTo>
                    <a:pt x="7156823" y="27371"/>
                  </a:lnTo>
                  <a:lnTo>
                    <a:pt x="7156739" y="54698"/>
                  </a:lnTo>
                  <a:lnTo>
                    <a:pt x="7197894" y="54698"/>
                  </a:lnTo>
                  <a:lnTo>
                    <a:pt x="7224986" y="41245"/>
                  </a:lnTo>
                  <a:lnTo>
                    <a:pt x="7197473" y="27371"/>
                  </a:lnTo>
                  <a:close/>
                </a:path>
              </a:pathLst>
            </a:custGeom>
            <a:solidFill>
              <a:srgbClr val="000000"/>
            </a:solidFill>
          </p:spPr>
          <p:txBody>
            <a:bodyPr wrap="square" lIns="0" tIns="0" rIns="0" bIns="0" rtlCol="0"/>
            <a:lstStyle/>
            <a:p>
              <a:endParaRPr sz="1588"/>
            </a:p>
          </p:txBody>
        </p:sp>
        <p:sp>
          <p:nvSpPr>
            <p:cNvPr id="12" name="object 12"/>
            <p:cNvSpPr/>
            <p:nvPr/>
          </p:nvSpPr>
          <p:spPr>
            <a:xfrm>
              <a:off x="3844914" y="2554136"/>
              <a:ext cx="217170" cy="366395"/>
            </a:xfrm>
            <a:custGeom>
              <a:avLst/>
              <a:gdLst/>
              <a:ahLst/>
              <a:cxnLst/>
              <a:rect l="l" t="t" r="r" b="b"/>
              <a:pathLst>
                <a:path w="217170" h="366394">
                  <a:moveTo>
                    <a:pt x="216566" y="0"/>
                  </a:moveTo>
                  <a:lnTo>
                    <a:pt x="0" y="0"/>
                  </a:lnTo>
                  <a:lnTo>
                    <a:pt x="0" y="366092"/>
                  </a:lnTo>
                  <a:lnTo>
                    <a:pt x="216566" y="366092"/>
                  </a:lnTo>
                  <a:lnTo>
                    <a:pt x="216566" y="0"/>
                  </a:lnTo>
                  <a:close/>
                </a:path>
              </a:pathLst>
            </a:custGeom>
            <a:solidFill>
              <a:srgbClr val="0099FF"/>
            </a:solidFill>
          </p:spPr>
          <p:txBody>
            <a:bodyPr wrap="square" lIns="0" tIns="0" rIns="0" bIns="0" rtlCol="0"/>
            <a:lstStyle/>
            <a:p>
              <a:endParaRPr sz="1588"/>
            </a:p>
          </p:txBody>
        </p:sp>
        <p:sp>
          <p:nvSpPr>
            <p:cNvPr id="13" name="object 13"/>
            <p:cNvSpPr/>
            <p:nvPr/>
          </p:nvSpPr>
          <p:spPr>
            <a:xfrm>
              <a:off x="3628346" y="2554136"/>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141" name="object 141"/>
          <p:cNvSpPr txBox="1"/>
          <p:nvPr/>
        </p:nvSpPr>
        <p:spPr>
          <a:xfrm>
            <a:off x="3724652" y="1203747"/>
            <a:ext cx="2173381" cy="770241"/>
          </a:xfrm>
          <a:prstGeom prst="rect">
            <a:avLst/>
          </a:prstGeom>
        </p:spPr>
        <p:txBody>
          <a:bodyPr vert="horz" wrap="square" lIns="0" tIns="11206" rIns="0" bIns="0" rtlCol="0">
            <a:spAutoFit/>
          </a:bodyPr>
          <a:lstStyle/>
          <a:p>
            <a:pPr marL="11206">
              <a:spcBef>
                <a:spcPts val="88"/>
              </a:spcBef>
            </a:pPr>
            <a:r>
              <a:rPr sz="1941" i="1" spc="-44" dirty="0">
                <a:latin typeface="Times New Roman"/>
                <a:cs typeface="Times New Roman"/>
              </a:rPr>
              <a:t>Time</a:t>
            </a:r>
            <a:r>
              <a:rPr sz="1941" i="1" spc="-79" dirty="0">
                <a:latin typeface="Times New Roman"/>
                <a:cs typeface="Times New Roman"/>
              </a:rPr>
              <a:t> </a:t>
            </a:r>
            <a:r>
              <a:rPr sz="1941" i="1" spc="-9" dirty="0">
                <a:latin typeface="Times New Roman"/>
                <a:cs typeface="Times New Roman"/>
              </a:rPr>
              <a:t>(clock</a:t>
            </a:r>
            <a:r>
              <a:rPr sz="1941" i="1" spc="-79" dirty="0">
                <a:latin typeface="Times New Roman"/>
                <a:cs typeface="Times New Roman"/>
              </a:rPr>
              <a:t> </a:t>
            </a:r>
            <a:r>
              <a:rPr sz="1941" i="1" spc="-9" dirty="0">
                <a:latin typeface="Times New Roman"/>
                <a:cs typeface="Times New Roman"/>
              </a:rPr>
              <a:t>cycles)</a:t>
            </a:r>
            <a:endParaRPr sz="1941">
              <a:latin typeface="Times New Roman"/>
              <a:cs typeface="Times New Roman"/>
            </a:endParaRPr>
          </a:p>
          <a:p>
            <a:pPr marL="212363">
              <a:spcBef>
                <a:spcPts val="2016"/>
              </a:spcBef>
              <a:tabLst>
                <a:tab pos="935181" algn="l"/>
                <a:tab pos="1632224" algn="l"/>
              </a:tabLst>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3</a:t>
            </a:r>
            <a:r>
              <a:rPr sz="1324" b="1" dirty="0">
                <a:latin typeface="Times New Roman"/>
                <a:cs typeface="Times New Roman"/>
              </a:rPr>
              <a:t>	Cycle</a:t>
            </a:r>
            <a:r>
              <a:rPr sz="1324" b="1" spc="-9" dirty="0">
                <a:latin typeface="Times New Roman"/>
                <a:cs typeface="Times New Roman"/>
              </a:rPr>
              <a:t> </a:t>
            </a:r>
            <a:r>
              <a:rPr sz="1324" b="1" spc="-44" dirty="0">
                <a:latin typeface="Times New Roman"/>
                <a:cs typeface="Times New Roman"/>
              </a:rPr>
              <a:t>4</a:t>
            </a:r>
            <a:r>
              <a:rPr sz="1324" b="1" dirty="0">
                <a:latin typeface="Times New Roman"/>
                <a:cs typeface="Times New Roman"/>
              </a:rPr>
              <a:t>	Cycle</a:t>
            </a:r>
            <a:r>
              <a:rPr sz="1324" b="1" spc="-9" dirty="0">
                <a:latin typeface="Times New Roman"/>
                <a:cs typeface="Times New Roman"/>
              </a:rPr>
              <a:t> </a:t>
            </a:r>
            <a:r>
              <a:rPr sz="1324" b="1" spc="-44" dirty="0">
                <a:latin typeface="Times New Roman"/>
                <a:cs typeface="Times New Roman"/>
              </a:rPr>
              <a:t>5</a:t>
            </a:r>
            <a:endParaRPr sz="1324">
              <a:latin typeface="Times New Roman"/>
              <a:cs typeface="Times New Roman"/>
            </a:endParaRPr>
          </a:p>
        </p:txBody>
      </p:sp>
      <p:sp>
        <p:nvSpPr>
          <p:cNvPr id="182" name="object 182"/>
          <p:cNvSpPr/>
          <p:nvPr/>
        </p:nvSpPr>
        <p:spPr>
          <a:xfrm>
            <a:off x="5301897" y="2417256"/>
            <a:ext cx="380440" cy="2824443"/>
          </a:xfrm>
          <a:custGeom>
            <a:avLst/>
            <a:gdLst/>
            <a:ahLst/>
            <a:cxnLst/>
            <a:rect l="l" t="t" r="r" b="b"/>
            <a:pathLst>
              <a:path w="431164" h="3201035">
                <a:moveTo>
                  <a:pt x="308854" y="3020206"/>
                </a:moveTo>
                <a:lnTo>
                  <a:pt x="247738" y="3026479"/>
                </a:lnTo>
                <a:lnTo>
                  <a:pt x="358217" y="3200573"/>
                </a:lnTo>
                <a:lnTo>
                  <a:pt x="414792" y="3050794"/>
                </a:lnTo>
                <a:lnTo>
                  <a:pt x="311989" y="3050794"/>
                </a:lnTo>
                <a:lnTo>
                  <a:pt x="308854" y="3020206"/>
                </a:lnTo>
                <a:close/>
              </a:path>
              <a:path w="431164" h="3201035">
                <a:moveTo>
                  <a:pt x="369969" y="3013932"/>
                </a:moveTo>
                <a:lnTo>
                  <a:pt x="308854" y="3020206"/>
                </a:lnTo>
                <a:lnTo>
                  <a:pt x="311989" y="3050794"/>
                </a:lnTo>
                <a:lnTo>
                  <a:pt x="373104" y="3044520"/>
                </a:lnTo>
                <a:lnTo>
                  <a:pt x="369969" y="3013932"/>
                </a:lnTo>
                <a:close/>
              </a:path>
              <a:path w="431164" h="3201035">
                <a:moveTo>
                  <a:pt x="431086" y="3007658"/>
                </a:moveTo>
                <a:lnTo>
                  <a:pt x="369969" y="3013932"/>
                </a:lnTo>
                <a:lnTo>
                  <a:pt x="373104" y="3044520"/>
                </a:lnTo>
                <a:lnTo>
                  <a:pt x="311989" y="3050794"/>
                </a:lnTo>
                <a:lnTo>
                  <a:pt x="414792" y="3050794"/>
                </a:lnTo>
                <a:lnTo>
                  <a:pt x="431086" y="3007658"/>
                </a:lnTo>
                <a:close/>
              </a:path>
              <a:path w="431164" h="3201035">
                <a:moveTo>
                  <a:pt x="61114" y="0"/>
                </a:moveTo>
                <a:lnTo>
                  <a:pt x="0" y="6273"/>
                </a:lnTo>
                <a:lnTo>
                  <a:pt x="308854" y="3020206"/>
                </a:lnTo>
                <a:lnTo>
                  <a:pt x="369969" y="3013932"/>
                </a:lnTo>
                <a:lnTo>
                  <a:pt x="61114" y="0"/>
                </a:lnTo>
                <a:close/>
              </a:path>
            </a:pathLst>
          </a:custGeom>
          <a:solidFill>
            <a:srgbClr val="FF0000"/>
          </a:solidFill>
        </p:spPr>
        <p:txBody>
          <a:bodyPr wrap="square" lIns="0" tIns="0" rIns="0" bIns="0" rtlCol="0"/>
          <a:lstStyle/>
          <a:p>
            <a:endParaRPr sz="1588"/>
          </a:p>
        </p:txBody>
      </p:sp>
      <p:grpSp>
        <p:nvGrpSpPr>
          <p:cNvPr id="192" name="Group 191">
            <a:extLst>
              <a:ext uri="{FF2B5EF4-FFF2-40B4-BE49-F238E27FC236}">
                <a16:creationId xmlns:a16="http://schemas.microsoft.com/office/drawing/2014/main" id="{3A447D14-4241-8ED4-C9C7-69534A0EF37A}"/>
              </a:ext>
            </a:extLst>
          </p:cNvPr>
          <p:cNvGrpSpPr/>
          <p:nvPr/>
        </p:nvGrpSpPr>
        <p:grpSpPr>
          <a:xfrm>
            <a:off x="2495308" y="1569178"/>
            <a:ext cx="6282716" cy="4690562"/>
            <a:chOff x="2495308" y="1569178"/>
            <a:chExt cx="6282716" cy="4690562"/>
          </a:xfrm>
        </p:grpSpPr>
        <p:sp>
          <p:nvSpPr>
            <p:cNvPr id="14" name="object 14"/>
            <p:cNvSpPr txBox="1"/>
            <p:nvPr/>
          </p:nvSpPr>
          <p:spPr>
            <a:xfrm>
              <a:off x="3406753" y="2297538"/>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5" name="object 15"/>
            <p:cNvGrpSpPr/>
            <p:nvPr/>
          </p:nvGrpSpPr>
          <p:grpSpPr>
            <a:xfrm>
              <a:off x="3706133" y="2142803"/>
              <a:ext cx="718296" cy="547968"/>
              <a:chOff x="4047883" y="2428510"/>
              <a:chExt cx="814069" cy="621030"/>
            </a:xfrm>
          </p:grpSpPr>
          <p:sp>
            <p:nvSpPr>
              <p:cNvPr id="16" name="object 16"/>
              <p:cNvSpPr/>
              <p:nvPr/>
            </p:nvSpPr>
            <p:spPr>
              <a:xfrm>
                <a:off x="4063441" y="2628847"/>
                <a:ext cx="478790" cy="220979"/>
              </a:xfrm>
              <a:custGeom>
                <a:avLst/>
                <a:gdLst/>
                <a:ahLst/>
                <a:cxnLst/>
                <a:rect l="l" t="t" r="r" b="b"/>
                <a:pathLst>
                  <a:path w="478789" h="220980">
                    <a:moveTo>
                      <a:pt x="181386" y="0"/>
                    </a:moveTo>
                    <a:lnTo>
                      <a:pt x="478211" y="0"/>
                    </a:lnTo>
                  </a:path>
                  <a:path w="478789" h="220980">
                    <a:moveTo>
                      <a:pt x="0" y="0"/>
                    </a:moveTo>
                    <a:lnTo>
                      <a:pt x="93807" y="0"/>
                    </a:lnTo>
                  </a:path>
                  <a:path w="478789" h="220980">
                    <a:moveTo>
                      <a:pt x="0" y="220958"/>
                    </a:moveTo>
                    <a:lnTo>
                      <a:pt x="93807" y="220958"/>
                    </a:lnTo>
                  </a:path>
                  <a:path w="478789" h="220980">
                    <a:moveTo>
                      <a:pt x="181386" y="220958"/>
                    </a:moveTo>
                    <a:lnTo>
                      <a:pt x="478211" y="220958"/>
                    </a:lnTo>
                  </a:path>
                </a:pathLst>
              </a:custGeom>
              <a:ln w="30745">
                <a:solidFill>
                  <a:srgbClr val="000000"/>
                </a:solidFill>
              </a:ln>
            </p:spPr>
            <p:txBody>
              <a:bodyPr wrap="square" lIns="0" tIns="0" rIns="0" bIns="0" rtlCol="0"/>
              <a:lstStyle/>
              <a:p>
                <a:endParaRPr sz="1588"/>
              </a:p>
            </p:txBody>
          </p:sp>
          <p:sp>
            <p:nvSpPr>
              <p:cNvPr id="17" name="object 17"/>
              <p:cNvSpPr/>
              <p:nvPr/>
            </p:nvSpPr>
            <p:spPr>
              <a:xfrm>
                <a:off x="4479862" y="2444067"/>
                <a:ext cx="366395" cy="589915"/>
              </a:xfrm>
              <a:custGeom>
                <a:avLst/>
                <a:gdLst/>
                <a:ahLst/>
                <a:cxnLst/>
                <a:rect l="l" t="t" r="r" b="b"/>
                <a:pathLst>
                  <a:path w="366395" h="589914">
                    <a:moveTo>
                      <a:pt x="0" y="0"/>
                    </a:moveTo>
                    <a:lnTo>
                      <a:pt x="0" y="589747"/>
                    </a:lnTo>
                    <a:lnTo>
                      <a:pt x="366115" y="442310"/>
                    </a:lnTo>
                    <a:lnTo>
                      <a:pt x="366115" y="147436"/>
                    </a:lnTo>
                    <a:lnTo>
                      <a:pt x="0" y="0"/>
                    </a:lnTo>
                    <a:close/>
                  </a:path>
                </a:pathLst>
              </a:custGeom>
              <a:solidFill>
                <a:srgbClr val="FFFFFF"/>
              </a:solidFill>
            </p:spPr>
            <p:txBody>
              <a:bodyPr wrap="square" lIns="0" tIns="0" rIns="0" bIns="0" rtlCol="0"/>
              <a:lstStyle/>
              <a:p>
                <a:endParaRPr sz="1588"/>
              </a:p>
            </p:txBody>
          </p:sp>
          <p:sp>
            <p:nvSpPr>
              <p:cNvPr id="18" name="object 18"/>
              <p:cNvSpPr/>
              <p:nvPr/>
            </p:nvSpPr>
            <p:spPr>
              <a:xfrm>
                <a:off x="4479862" y="2444067"/>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19" name="object 19"/>
              <p:cNvSpPr/>
              <p:nvPr/>
            </p:nvSpPr>
            <p:spPr>
              <a:xfrm>
                <a:off x="4455418" y="2644105"/>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20" name="object 20"/>
              <p:cNvSpPr/>
              <p:nvPr/>
            </p:nvSpPr>
            <p:spPr>
              <a:xfrm>
                <a:off x="4479862" y="2655239"/>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21" name="object 21"/>
            <p:cNvSpPr txBox="1"/>
            <p:nvPr/>
          </p:nvSpPr>
          <p:spPr>
            <a:xfrm>
              <a:off x="4206365" y="2256861"/>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22" name="object 22"/>
            <p:cNvGrpSpPr/>
            <p:nvPr/>
          </p:nvGrpSpPr>
          <p:grpSpPr>
            <a:xfrm>
              <a:off x="4399586" y="2241324"/>
              <a:ext cx="1060076" cy="352985"/>
              <a:chOff x="4833797" y="2540167"/>
              <a:chExt cx="1201420" cy="400050"/>
            </a:xfrm>
          </p:grpSpPr>
          <p:sp>
            <p:nvSpPr>
              <p:cNvPr id="23" name="object 23"/>
              <p:cNvSpPr/>
              <p:nvPr/>
            </p:nvSpPr>
            <p:spPr>
              <a:xfrm>
                <a:off x="4849355" y="2740120"/>
                <a:ext cx="1170305" cy="0"/>
              </a:xfrm>
              <a:custGeom>
                <a:avLst/>
                <a:gdLst/>
                <a:ahLst/>
                <a:cxnLst/>
                <a:rect l="l" t="t" r="r" b="b"/>
                <a:pathLst>
                  <a:path w="1170304">
                    <a:moveTo>
                      <a:pt x="203150" y="0"/>
                    </a:moveTo>
                    <a:lnTo>
                      <a:pt x="352463" y="0"/>
                    </a:lnTo>
                  </a:path>
                  <a:path w="1170304">
                    <a:moveTo>
                      <a:pt x="0" y="0"/>
                    </a:moveTo>
                    <a:lnTo>
                      <a:pt x="116786" y="0"/>
                    </a:lnTo>
                  </a:path>
                  <a:path w="1170304">
                    <a:moveTo>
                      <a:pt x="1013260" y="0"/>
                    </a:moveTo>
                    <a:lnTo>
                      <a:pt x="1170051" y="0"/>
                    </a:lnTo>
                  </a:path>
                  <a:path w="1170304">
                    <a:moveTo>
                      <a:pt x="795713" y="0"/>
                    </a:moveTo>
                    <a:lnTo>
                      <a:pt x="925681" y="0"/>
                    </a:lnTo>
                  </a:path>
                </a:pathLst>
              </a:custGeom>
              <a:ln w="30745">
                <a:solidFill>
                  <a:srgbClr val="000000"/>
                </a:solidFill>
              </a:ln>
            </p:spPr>
            <p:txBody>
              <a:bodyPr wrap="square" lIns="0" tIns="0" rIns="0" bIns="0" rtlCol="0"/>
              <a:lstStyle/>
              <a:p>
                <a:endParaRPr sz="1588"/>
              </a:p>
            </p:txBody>
          </p:sp>
          <p:sp>
            <p:nvSpPr>
              <p:cNvPr id="24" name="object 24"/>
              <p:cNvSpPr/>
              <p:nvPr/>
            </p:nvSpPr>
            <p:spPr>
              <a:xfrm>
                <a:off x="5201818" y="2555725"/>
                <a:ext cx="434340" cy="368935"/>
              </a:xfrm>
              <a:custGeom>
                <a:avLst/>
                <a:gdLst/>
                <a:ahLst/>
                <a:cxnLst/>
                <a:rect l="l" t="t" r="r" b="b"/>
                <a:pathLst>
                  <a:path w="434339"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25" name="object 25"/>
            <p:cNvSpPr txBox="1"/>
            <p:nvPr/>
          </p:nvSpPr>
          <p:spPr>
            <a:xfrm>
              <a:off x="4717218" y="2297538"/>
              <a:ext cx="392206" cy="174309"/>
            </a:xfrm>
            <a:prstGeom prst="rect">
              <a:avLst/>
            </a:prstGeom>
          </p:spPr>
          <p:txBody>
            <a:bodyPr vert="horz" wrap="square" lIns="0" tIns="11206" rIns="0" bIns="0" rtlCol="0">
              <a:spAutoFit/>
            </a:bodyPr>
            <a:lstStyle/>
            <a:p>
              <a:pPr>
                <a:spcBef>
                  <a:spcPts val="88"/>
                </a:spcBef>
              </a:pPr>
              <a:r>
                <a:rPr sz="1059" b="1" spc="-26" dirty="0">
                  <a:latin typeface="Times New Roman"/>
                  <a:cs typeface="Times New Roman"/>
                </a:rPr>
                <a:t>DMem</a:t>
              </a:r>
              <a:endParaRPr sz="1059">
                <a:latin typeface="Times New Roman"/>
                <a:cs typeface="Times New Roman"/>
              </a:endParaRPr>
            </a:p>
          </p:txBody>
        </p:sp>
        <p:grpSp>
          <p:nvGrpSpPr>
            <p:cNvPr id="26" name="object 26"/>
            <p:cNvGrpSpPr/>
            <p:nvPr/>
          </p:nvGrpSpPr>
          <p:grpSpPr>
            <a:xfrm>
              <a:off x="2573900" y="2241324"/>
              <a:ext cx="2697256" cy="449916"/>
              <a:chOff x="2764687" y="2540167"/>
              <a:chExt cx="3056890" cy="509905"/>
            </a:xfrm>
          </p:grpSpPr>
          <p:sp>
            <p:nvSpPr>
              <p:cNvPr id="27" name="object 27"/>
              <p:cNvSpPr/>
              <p:nvPr/>
            </p:nvSpPr>
            <p:spPr>
              <a:xfrm>
                <a:off x="5155097" y="2740120"/>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28" name="object 28"/>
              <p:cNvSpPr/>
              <p:nvPr/>
            </p:nvSpPr>
            <p:spPr>
              <a:xfrm>
                <a:off x="3216244" y="2628847"/>
                <a:ext cx="412115" cy="222885"/>
              </a:xfrm>
              <a:custGeom>
                <a:avLst/>
                <a:gdLst/>
                <a:ahLst/>
                <a:cxnLst/>
                <a:rect l="l" t="t" r="r" b="b"/>
                <a:pathLst>
                  <a:path w="412114" h="222885">
                    <a:moveTo>
                      <a:pt x="223339" y="222547"/>
                    </a:moveTo>
                    <a:lnTo>
                      <a:pt x="412103" y="222547"/>
                    </a:lnTo>
                  </a:path>
                  <a:path w="412114" h="222885">
                    <a:moveTo>
                      <a:pt x="0" y="222547"/>
                    </a:moveTo>
                    <a:lnTo>
                      <a:pt x="135760" y="222547"/>
                    </a:lnTo>
                  </a:path>
                  <a:path w="412114" h="222885">
                    <a:moveTo>
                      <a:pt x="0" y="0"/>
                    </a:moveTo>
                    <a:lnTo>
                      <a:pt x="135760" y="0"/>
                    </a:lnTo>
                  </a:path>
                  <a:path w="412114" h="222885">
                    <a:moveTo>
                      <a:pt x="223339" y="0"/>
                    </a:moveTo>
                    <a:lnTo>
                      <a:pt x="410142" y="0"/>
                    </a:lnTo>
                  </a:path>
                </a:pathLst>
              </a:custGeom>
              <a:ln w="30745">
                <a:solidFill>
                  <a:srgbClr val="000000"/>
                </a:solidFill>
              </a:ln>
            </p:spPr>
            <p:txBody>
              <a:bodyPr wrap="square" lIns="0" tIns="0" rIns="0" bIns="0" rtlCol="0"/>
              <a:lstStyle/>
              <a:p>
                <a:endParaRPr sz="1588"/>
              </a:p>
            </p:txBody>
          </p:sp>
          <p:sp>
            <p:nvSpPr>
              <p:cNvPr id="29" name="object 29"/>
              <p:cNvSpPr/>
              <p:nvPr/>
            </p:nvSpPr>
            <p:spPr>
              <a:xfrm>
                <a:off x="2780244" y="2555725"/>
                <a:ext cx="436245" cy="368935"/>
              </a:xfrm>
              <a:custGeom>
                <a:avLst/>
                <a:gdLst/>
                <a:ahLst/>
                <a:cxnLst/>
                <a:rect l="l" t="t" r="r" b="b"/>
                <a:pathLst>
                  <a:path w="436244" h="368935">
                    <a:moveTo>
                      <a:pt x="0" y="0"/>
                    </a:moveTo>
                    <a:lnTo>
                      <a:pt x="435999" y="0"/>
                    </a:lnTo>
                    <a:lnTo>
                      <a:pt x="435999"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30" name="object 30"/>
            <p:cNvSpPr txBox="1"/>
            <p:nvPr/>
          </p:nvSpPr>
          <p:spPr>
            <a:xfrm>
              <a:off x="2603891" y="2297538"/>
              <a:ext cx="353546" cy="174309"/>
            </a:xfrm>
            <a:prstGeom prst="rect">
              <a:avLst/>
            </a:prstGeom>
          </p:spPr>
          <p:txBody>
            <a:bodyPr vert="horz" wrap="square" lIns="0" tIns="11206" rIns="0" bIns="0" rtlCol="0">
              <a:spAutoFit/>
            </a:bodyPr>
            <a:lstStyle/>
            <a:p>
              <a:pPr marL="11206">
                <a:spcBef>
                  <a:spcPts val="88"/>
                </a:spcBef>
              </a:pPr>
              <a:r>
                <a:rPr sz="1059" b="1" spc="-9" dirty="0">
                  <a:latin typeface="Times New Roman"/>
                  <a:cs typeface="Times New Roman"/>
                </a:rPr>
                <a:t>Ifetch</a:t>
              </a:r>
              <a:endParaRPr sz="1059">
                <a:latin typeface="Times New Roman"/>
                <a:cs typeface="Times New Roman"/>
              </a:endParaRPr>
            </a:p>
          </p:txBody>
        </p:sp>
        <p:grpSp>
          <p:nvGrpSpPr>
            <p:cNvPr id="31" name="object 31"/>
            <p:cNvGrpSpPr/>
            <p:nvPr/>
          </p:nvGrpSpPr>
          <p:grpSpPr>
            <a:xfrm>
              <a:off x="3078395" y="2094051"/>
              <a:ext cx="2766732" cy="646019"/>
              <a:chOff x="3336447" y="2373257"/>
              <a:chExt cx="3135630" cy="732155"/>
            </a:xfrm>
          </p:grpSpPr>
          <p:sp>
            <p:nvSpPr>
              <p:cNvPr id="32" name="object 32"/>
              <p:cNvSpPr/>
              <p:nvPr/>
            </p:nvSpPr>
            <p:spPr>
              <a:xfrm>
                <a:off x="4157248" y="2388815"/>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33" name="object 33"/>
              <p:cNvSpPr/>
              <p:nvPr/>
            </p:nvSpPr>
            <p:spPr>
              <a:xfrm>
                <a:off x="4157248" y="2388815"/>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34" name="object 34"/>
              <p:cNvSpPr/>
              <p:nvPr/>
            </p:nvSpPr>
            <p:spPr>
              <a:xfrm>
                <a:off x="5775036" y="2388815"/>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35" name="object 35"/>
              <p:cNvSpPr/>
              <p:nvPr/>
            </p:nvSpPr>
            <p:spPr>
              <a:xfrm>
                <a:off x="5775036" y="2388815"/>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36" name="object 36"/>
              <p:cNvSpPr/>
              <p:nvPr/>
            </p:nvSpPr>
            <p:spPr>
              <a:xfrm>
                <a:off x="3352005" y="2388815"/>
                <a:ext cx="87630" cy="701040"/>
              </a:xfrm>
              <a:custGeom>
                <a:avLst/>
                <a:gdLst/>
                <a:ahLst/>
                <a:cxnLst/>
                <a:rect l="l" t="t" r="r" b="b"/>
                <a:pathLst>
                  <a:path w="87629" h="701039">
                    <a:moveTo>
                      <a:pt x="87579" y="0"/>
                    </a:moveTo>
                    <a:lnTo>
                      <a:pt x="0" y="0"/>
                    </a:lnTo>
                    <a:lnTo>
                      <a:pt x="0" y="701020"/>
                    </a:lnTo>
                    <a:lnTo>
                      <a:pt x="87579" y="701020"/>
                    </a:lnTo>
                    <a:lnTo>
                      <a:pt x="87579" y="0"/>
                    </a:lnTo>
                    <a:close/>
                  </a:path>
                </a:pathLst>
              </a:custGeom>
              <a:solidFill>
                <a:srgbClr val="00FF00"/>
              </a:solidFill>
            </p:spPr>
            <p:txBody>
              <a:bodyPr wrap="square" lIns="0" tIns="0" rIns="0" bIns="0" rtlCol="0"/>
              <a:lstStyle/>
              <a:p>
                <a:endParaRPr sz="1588"/>
              </a:p>
            </p:txBody>
          </p:sp>
          <p:sp>
            <p:nvSpPr>
              <p:cNvPr id="37" name="object 37"/>
              <p:cNvSpPr/>
              <p:nvPr/>
            </p:nvSpPr>
            <p:spPr>
              <a:xfrm>
                <a:off x="3352005" y="2388815"/>
                <a:ext cx="87630" cy="701040"/>
              </a:xfrm>
              <a:custGeom>
                <a:avLst/>
                <a:gdLst/>
                <a:ahLst/>
                <a:cxnLst/>
                <a:rect l="l" t="t" r="r" b="b"/>
                <a:pathLst>
                  <a:path w="87629" h="701039">
                    <a:moveTo>
                      <a:pt x="0" y="0"/>
                    </a:moveTo>
                    <a:lnTo>
                      <a:pt x="87579" y="0"/>
                    </a:lnTo>
                    <a:lnTo>
                      <a:pt x="87579"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38" name="object 38"/>
              <p:cNvSpPr/>
              <p:nvPr/>
            </p:nvSpPr>
            <p:spPr>
              <a:xfrm>
                <a:off x="4966142" y="2392932"/>
                <a:ext cx="86360" cy="692150"/>
              </a:xfrm>
              <a:custGeom>
                <a:avLst/>
                <a:gdLst/>
                <a:ahLst/>
                <a:cxnLst/>
                <a:rect l="l" t="t" r="r" b="b"/>
                <a:pathLst>
                  <a:path w="86360" h="692150">
                    <a:moveTo>
                      <a:pt x="86363" y="0"/>
                    </a:moveTo>
                    <a:lnTo>
                      <a:pt x="0" y="0"/>
                    </a:lnTo>
                    <a:lnTo>
                      <a:pt x="0" y="691756"/>
                    </a:lnTo>
                    <a:lnTo>
                      <a:pt x="86363" y="691756"/>
                    </a:lnTo>
                    <a:lnTo>
                      <a:pt x="86363" y="0"/>
                    </a:lnTo>
                    <a:close/>
                  </a:path>
                </a:pathLst>
              </a:custGeom>
              <a:solidFill>
                <a:srgbClr val="00FF00"/>
              </a:solidFill>
            </p:spPr>
            <p:txBody>
              <a:bodyPr wrap="square" lIns="0" tIns="0" rIns="0" bIns="0" rtlCol="0"/>
              <a:lstStyle/>
              <a:p>
                <a:endParaRPr sz="1588"/>
              </a:p>
            </p:txBody>
          </p:sp>
          <p:sp>
            <p:nvSpPr>
              <p:cNvPr id="39" name="object 39"/>
              <p:cNvSpPr/>
              <p:nvPr/>
            </p:nvSpPr>
            <p:spPr>
              <a:xfrm>
                <a:off x="4966142" y="2392932"/>
                <a:ext cx="86360" cy="692150"/>
              </a:xfrm>
              <a:custGeom>
                <a:avLst/>
                <a:gdLst/>
                <a:ahLst/>
                <a:cxnLst/>
                <a:rect l="l" t="t" r="r" b="b"/>
                <a:pathLst>
                  <a:path w="86360" h="692150">
                    <a:moveTo>
                      <a:pt x="0" y="0"/>
                    </a:moveTo>
                    <a:lnTo>
                      <a:pt x="86363" y="0"/>
                    </a:lnTo>
                    <a:lnTo>
                      <a:pt x="86363"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40" name="object 40"/>
              <p:cNvSpPr/>
              <p:nvPr/>
            </p:nvSpPr>
            <p:spPr>
              <a:xfrm>
                <a:off x="6019406" y="2541419"/>
                <a:ext cx="219075" cy="366395"/>
              </a:xfrm>
              <a:custGeom>
                <a:avLst/>
                <a:gdLst/>
                <a:ahLst/>
                <a:cxnLst/>
                <a:rect l="l" t="t" r="r" b="b"/>
                <a:pathLst>
                  <a:path w="219075" h="366394">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41" name="object 41"/>
              <p:cNvSpPr/>
              <p:nvPr/>
            </p:nvSpPr>
            <p:spPr>
              <a:xfrm>
                <a:off x="6019406" y="2541418"/>
                <a:ext cx="437515" cy="370840"/>
              </a:xfrm>
              <a:custGeom>
                <a:avLst/>
                <a:gdLst/>
                <a:ahLst/>
                <a:cxnLst/>
                <a:rect l="l" t="t" r="r" b="b"/>
                <a:pathLst>
                  <a:path w="437514"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42" name="object 42"/>
            <p:cNvSpPr txBox="1"/>
            <p:nvPr/>
          </p:nvSpPr>
          <p:spPr>
            <a:xfrm>
              <a:off x="5459270" y="2286781"/>
              <a:ext cx="372596" cy="174309"/>
            </a:xfrm>
            <a:prstGeom prst="rect">
              <a:avLst/>
            </a:prstGeom>
          </p:spPr>
          <p:txBody>
            <a:bodyPr vert="horz" wrap="square" lIns="0" tIns="11206" rIns="0" bIns="0" rtlCol="0">
              <a:spAutoFit/>
            </a:bodyPr>
            <a:lstStyle/>
            <a:p>
              <a:pPr marL="71721">
                <a:spcBef>
                  <a:spcPts val="88"/>
                </a:spcBef>
              </a:pPr>
              <a:r>
                <a:rPr sz="1059" b="1" spc="-22" dirty="0">
                  <a:latin typeface="Times New Roman"/>
                  <a:cs typeface="Times New Roman"/>
                </a:rPr>
                <a:t>Reg</a:t>
              </a:r>
              <a:endParaRPr sz="1059">
                <a:latin typeface="Times New Roman"/>
                <a:cs typeface="Times New Roman"/>
              </a:endParaRPr>
            </a:p>
          </p:txBody>
        </p:sp>
        <p:grpSp>
          <p:nvGrpSpPr>
            <p:cNvPr id="43" name="object 43"/>
            <p:cNvGrpSpPr/>
            <p:nvPr/>
          </p:nvGrpSpPr>
          <p:grpSpPr>
            <a:xfrm>
              <a:off x="4049015" y="2991893"/>
              <a:ext cx="410135" cy="354666"/>
              <a:chOff x="4436484" y="3390811"/>
              <a:chExt cx="464820" cy="401955"/>
            </a:xfrm>
          </p:grpSpPr>
          <p:sp>
            <p:nvSpPr>
              <p:cNvPr id="44" name="object 44"/>
              <p:cNvSpPr/>
              <p:nvPr/>
            </p:nvSpPr>
            <p:spPr>
              <a:xfrm>
                <a:off x="4668608" y="3406368"/>
                <a:ext cx="217170" cy="366395"/>
              </a:xfrm>
              <a:custGeom>
                <a:avLst/>
                <a:gdLst/>
                <a:ahLst/>
                <a:cxnLst/>
                <a:rect l="l" t="t" r="r" b="b"/>
                <a:pathLst>
                  <a:path w="217170" h="366395">
                    <a:moveTo>
                      <a:pt x="216568" y="0"/>
                    </a:moveTo>
                    <a:lnTo>
                      <a:pt x="0" y="0"/>
                    </a:lnTo>
                    <a:lnTo>
                      <a:pt x="0" y="366092"/>
                    </a:lnTo>
                    <a:lnTo>
                      <a:pt x="216568" y="366092"/>
                    </a:lnTo>
                    <a:lnTo>
                      <a:pt x="216568" y="0"/>
                    </a:lnTo>
                    <a:close/>
                  </a:path>
                </a:pathLst>
              </a:custGeom>
              <a:solidFill>
                <a:srgbClr val="0099FF"/>
              </a:solidFill>
            </p:spPr>
            <p:txBody>
              <a:bodyPr wrap="square" lIns="0" tIns="0" rIns="0" bIns="0" rtlCol="0"/>
              <a:lstStyle/>
              <a:p>
                <a:endParaRPr sz="1588"/>
              </a:p>
            </p:txBody>
          </p:sp>
          <p:sp>
            <p:nvSpPr>
              <p:cNvPr id="45" name="object 45"/>
              <p:cNvSpPr/>
              <p:nvPr/>
            </p:nvSpPr>
            <p:spPr>
              <a:xfrm>
                <a:off x="4452042" y="3406368"/>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46" name="object 46"/>
            <p:cNvSpPr txBox="1"/>
            <p:nvPr/>
          </p:nvSpPr>
          <p:spPr>
            <a:xfrm>
              <a:off x="4133542" y="3050573"/>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47" name="object 47"/>
            <p:cNvGrpSpPr/>
            <p:nvPr/>
          </p:nvGrpSpPr>
          <p:grpSpPr>
            <a:xfrm>
              <a:off x="4432923" y="2894772"/>
              <a:ext cx="718296" cy="547968"/>
              <a:chOff x="4871579" y="3280742"/>
              <a:chExt cx="814069" cy="621030"/>
            </a:xfrm>
          </p:grpSpPr>
          <p:sp>
            <p:nvSpPr>
              <p:cNvPr id="48" name="object 48"/>
              <p:cNvSpPr/>
              <p:nvPr/>
            </p:nvSpPr>
            <p:spPr>
              <a:xfrm>
                <a:off x="4887136" y="3481079"/>
                <a:ext cx="478790" cy="220979"/>
              </a:xfrm>
              <a:custGeom>
                <a:avLst/>
                <a:gdLst/>
                <a:ahLst/>
                <a:cxnLst/>
                <a:rect l="l" t="t" r="r" b="b"/>
                <a:pathLst>
                  <a:path w="478789" h="220979">
                    <a:moveTo>
                      <a:pt x="0" y="0"/>
                    </a:moveTo>
                    <a:lnTo>
                      <a:pt x="79536" y="0"/>
                    </a:lnTo>
                  </a:path>
                  <a:path w="478789" h="220979">
                    <a:moveTo>
                      <a:pt x="167239" y="0"/>
                    </a:moveTo>
                    <a:lnTo>
                      <a:pt x="478211" y="0"/>
                    </a:lnTo>
                  </a:path>
                  <a:path w="478789" h="220979">
                    <a:moveTo>
                      <a:pt x="0" y="220958"/>
                    </a:moveTo>
                    <a:lnTo>
                      <a:pt x="79536" y="220958"/>
                    </a:lnTo>
                  </a:path>
                  <a:path w="478789" h="220979">
                    <a:moveTo>
                      <a:pt x="167239" y="220958"/>
                    </a:moveTo>
                    <a:lnTo>
                      <a:pt x="478211" y="220958"/>
                    </a:lnTo>
                  </a:path>
                </a:pathLst>
              </a:custGeom>
              <a:ln w="30745">
                <a:solidFill>
                  <a:srgbClr val="000000"/>
                </a:solidFill>
              </a:ln>
            </p:spPr>
            <p:txBody>
              <a:bodyPr wrap="square" lIns="0" tIns="0" rIns="0" bIns="0" rtlCol="0"/>
              <a:lstStyle/>
              <a:p>
                <a:endParaRPr sz="1588"/>
              </a:p>
            </p:txBody>
          </p:sp>
          <p:sp>
            <p:nvSpPr>
              <p:cNvPr id="49" name="object 49"/>
              <p:cNvSpPr/>
              <p:nvPr/>
            </p:nvSpPr>
            <p:spPr>
              <a:xfrm>
                <a:off x="5303556" y="3296300"/>
                <a:ext cx="366395" cy="589915"/>
              </a:xfrm>
              <a:custGeom>
                <a:avLst/>
                <a:gdLst/>
                <a:ahLst/>
                <a:cxnLst/>
                <a:rect l="l" t="t" r="r" b="b"/>
                <a:pathLst>
                  <a:path w="366395" h="589914">
                    <a:moveTo>
                      <a:pt x="0" y="0"/>
                    </a:moveTo>
                    <a:lnTo>
                      <a:pt x="0" y="589747"/>
                    </a:lnTo>
                    <a:lnTo>
                      <a:pt x="366116" y="442310"/>
                    </a:lnTo>
                    <a:lnTo>
                      <a:pt x="366116" y="147436"/>
                    </a:lnTo>
                    <a:lnTo>
                      <a:pt x="0" y="0"/>
                    </a:lnTo>
                    <a:close/>
                  </a:path>
                </a:pathLst>
              </a:custGeom>
              <a:solidFill>
                <a:srgbClr val="FFFFFF"/>
              </a:solidFill>
            </p:spPr>
            <p:txBody>
              <a:bodyPr wrap="square" lIns="0" tIns="0" rIns="0" bIns="0" rtlCol="0"/>
              <a:lstStyle/>
              <a:p>
                <a:endParaRPr sz="1588"/>
              </a:p>
            </p:txBody>
          </p:sp>
          <p:sp>
            <p:nvSpPr>
              <p:cNvPr id="50" name="object 50"/>
              <p:cNvSpPr/>
              <p:nvPr/>
            </p:nvSpPr>
            <p:spPr>
              <a:xfrm>
                <a:off x="5303556" y="3296300"/>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51" name="object 51"/>
              <p:cNvSpPr/>
              <p:nvPr/>
            </p:nvSpPr>
            <p:spPr>
              <a:xfrm>
                <a:off x="5279113" y="3496337"/>
                <a:ext cx="195580" cy="190500"/>
              </a:xfrm>
              <a:custGeom>
                <a:avLst/>
                <a:gdLst/>
                <a:ahLst/>
                <a:cxnLst/>
                <a:rect l="l" t="t" r="r" b="b"/>
                <a:pathLst>
                  <a:path w="195579" h="190500">
                    <a:moveTo>
                      <a:pt x="0" y="0"/>
                    </a:moveTo>
                    <a:lnTo>
                      <a:pt x="0" y="190439"/>
                    </a:lnTo>
                    <a:lnTo>
                      <a:pt x="195552" y="95219"/>
                    </a:lnTo>
                    <a:lnTo>
                      <a:pt x="0" y="0"/>
                    </a:lnTo>
                    <a:close/>
                  </a:path>
                </a:pathLst>
              </a:custGeom>
              <a:solidFill>
                <a:srgbClr val="FFFFFF"/>
              </a:solidFill>
            </p:spPr>
            <p:txBody>
              <a:bodyPr wrap="square" lIns="0" tIns="0" rIns="0" bIns="0" rtlCol="0"/>
              <a:lstStyle/>
              <a:p>
                <a:endParaRPr sz="1588"/>
              </a:p>
            </p:txBody>
          </p:sp>
          <p:sp>
            <p:nvSpPr>
              <p:cNvPr id="52" name="object 52"/>
              <p:cNvSpPr/>
              <p:nvPr/>
            </p:nvSpPr>
            <p:spPr>
              <a:xfrm>
                <a:off x="5303557" y="3507472"/>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53" name="object 53"/>
            <p:cNvSpPr txBox="1"/>
            <p:nvPr/>
          </p:nvSpPr>
          <p:spPr>
            <a:xfrm>
              <a:off x="4933153" y="3009896"/>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54" name="object 54"/>
            <p:cNvGrpSpPr/>
            <p:nvPr/>
          </p:nvGrpSpPr>
          <p:grpSpPr>
            <a:xfrm>
              <a:off x="5126376" y="2993293"/>
              <a:ext cx="1060076" cy="352985"/>
              <a:chOff x="5657493" y="3392399"/>
              <a:chExt cx="1201420" cy="400050"/>
            </a:xfrm>
          </p:grpSpPr>
          <p:sp>
            <p:nvSpPr>
              <p:cNvPr id="55" name="object 55"/>
              <p:cNvSpPr/>
              <p:nvPr/>
            </p:nvSpPr>
            <p:spPr>
              <a:xfrm>
                <a:off x="5673050" y="3592353"/>
                <a:ext cx="1170305" cy="0"/>
              </a:xfrm>
              <a:custGeom>
                <a:avLst/>
                <a:gdLst/>
                <a:ahLst/>
                <a:cxnLst/>
                <a:rect l="l" t="t" r="r" b="b"/>
                <a:pathLst>
                  <a:path w="1170304">
                    <a:moveTo>
                      <a:pt x="0" y="0"/>
                    </a:moveTo>
                    <a:lnTo>
                      <a:pt x="102444" y="0"/>
                    </a:lnTo>
                  </a:path>
                  <a:path w="1170304">
                    <a:moveTo>
                      <a:pt x="188930" y="0"/>
                    </a:moveTo>
                    <a:lnTo>
                      <a:pt x="352461" y="0"/>
                    </a:lnTo>
                  </a:path>
                  <a:path w="1170304">
                    <a:moveTo>
                      <a:pt x="1072056" y="0"/>
                    </a:moveTo>
                    <a:lnTo>
                      <a:pt x="1170049" y="0"/>
                    </a:lnTo>
                  </a:path>
                  <a:path w="1170304">
                    <a:moveTo>
                      <a:pt x="829030" y="0"/>
                    </a:moveTo>
                    <a:lnTo>
                      <a:pt x="984352" y="0"/>
                    </a:lnTo>
                  </a:path>
                </a:pathLst>
              </a:custGeom>
              <a:ln w="30745">
                <a:solidFill>
                  <a:srgbClr val="000000"/>
                </a:solidFill>
              </a:ln>
            </p:spPr>
            <p:txBody>
              <a:bodyPr wrap="square" lIns="0" tIns="0" rIns="0" bIns="0" rtlCol="0"/>
              <a:lstStyle/>
              <a:p>
                <a:endParaRPr sz="1588"/>
              </a:p>
            </p:txBody>
          </p:sp>
          <p:sp>
            <p:nvSpPr>
              <p:cNvPr id="56" name="object 56"/>
              <p:cNvSpPr/>
              <p:nvPr/>
            </p:nvSpPr>
            <p:spPr>
              <a:xfrm>
                <a:off x="6025512" y="3407957"/>
                <a:ext cx="434340" cy="368935"/>
              </a:xfrm>
              <a:custGeom>
                <a:avLst/>
                <a:gdLst/>
                <a:ahLst/>
                <a:cxnLst/>
                <a:rect l="l" t="t" r="r" b="b"/>
                <a:pathLst>
                  <a:path w="434339"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57" name="object 57"/>
            <p:cNvSpPr txBox="1"/>
            <p:nvPr/>
          </p:nvSpPr>
          <p:spPr>
            <a:xfrm>
              <a:off x="5432803" y="3050573"/>
              <a:ext cx="414618" cy="174309"/>
            </a:xfrm>
            <a:prstGeom prst="rect">
              <a:avLst/>
            </a:prstGeom>
          </p:spPr>
          <p:txBody>
            <a:bodyPr vert="horz" wrap="square" lIns="0" tIns="11206" rIns="0" bIns="0" rtlCol="0">
              <a:spAutoFit/>
            </a:bodyPr>
            <a:lstStyle/>
            <a:p>
              <a:pPr marL="11206">
                <a:spcBef>
                  <a:spcPts val="88"/>
                </a:spcBef>
              </a:pPr>
              <a:r>
                <a:rPr sz="1059" b="1" spc="-18" dirty="0">
                  <a:latin typeface="Times New Roman"/>
                  <a:cs typeface="Times New Roman"/>
                </a:rPr>
                <a:t>DMem</a:t>
              </a:r>
              <a:endParaRPr sz="1059">
                <a:latin typeface="Times New Roman"/>
                <a:cs typeface="Times New Roman"/>
              </a:endParaRPr>
            </a:p>
          </p:txBody>
        </p:sp>
        <p:grpSp>
          <p:nvGrpSpPr>
            <p:cNvPr id="58" name="object 58"/>
            <p:cNvGrpSpPr/>
            <p:nvPr/>
          </p:nvGrpSpPr>
          <p:grpSpPr>
            <a:xfrm>
              <a:off x="3685396" y="3057813"/>
              <a:ext cx="2329703" cy="385482"/>
              <a:chOff x="4024382" y="3465521"/>
              <a:chExt cx="2640330" cy="436880"/>
            </a:xfrm>
          </p:grpSpPr>
          <p:sp>
            <p:nvSpPr>
              <p:cNvPr id="59" name="object 59"/>
              <p:cNvSpPr/>
              <p:nvPr/>
            </p:nvSpPr>
            <p:spPr>
              <a:xfrm>
                <a:off x="5978792" y="3592352"/>
                <a:ext cx="670560" cy="294640"/>
              </a:xfrm>
              <a:custGeom>
                <a:avLst/>
                <a:gdLst/>
                <a:ahLst/>
                <a:cxnLst/>
                <a:rect l="l" t="t" r="r" b="b"/>
                <a:pathLst>
                  <a:path w="670559" h="294639">
                    <a:moveTo>
                      <a:pt x="0" y="0"/>
                    </a:moveTo>
                    <a:lnTo>
                      <a:pt x="0" y="294078"/>
                    </a:lnTo>
                    <a:lnTo>
                      <a:pt x="591424" y="294078"/>
                    </a:lnTo>
                    <a:lnTo>
                      <a:pt x="591424" y="110279"/>
                    </a:lnTo>
                    <a:lnTo>
                      <a:pt x="670280" y="110279"/>
                    </a:lnTo>
                  </a:path>
                </a:pathLst>
              </a:custGeom>
              <a:ln w="30740">
                <a:solidFill>
                  <a:srgbClr val="000000"/>
                </a:solidFill>
              </a:ln>
            </p:spPr>
            <p:txBody>
              <a:bodyPr wrap="square" lIns="0" tIns="0" rIns="0" bIns="0" rtlCol="0"/>
              <a:lstStyle/>
              <a:p>
                <a:endParaRPr sz="1588"/>
              </a:p>
            </p:txBody>
          </p:sp>
          <p:sp>
            <p:nvSpPr>
              <p:cNvPr id="60" name="object 60"/>
              <p:cNvSpPr/>
              <p:nvPr/>
            </p:nvSpPr>
            <p:spPr>
              <a:xfrm>
                <a:off x="4039939" y="3481079"/>
                <a:ext cx="412115" cy="222885"/>
              </a:xfrm>
              <a:custGeom>
                <a:avLst/>
                <a:gdLst/>
                <a:ahLst/>
                <a:cxnLst/>
                <a:rect l="l" t="t" r="r" b="b"/>
                <a:pathLst>
                  <a:path w="412114" h="222885">
                    <a:moveTo>
                      <a:pt x="211703" y="222547"/>
                    </a:moveTo>
                    <a:lnTo>
                      <a:pt x="412101" y="222547"/>
                    </a:lnTo>
                  </a:path>
                  <a:path w="412114" h="222885">
                    <a:moveTo>
                      <a:pt x="0" y="222547"/>
                    </a:moveTo>
                    <a:lnTo>
                      <a:pt x="124000" y="222547"/>
                    </a:lnTo>
                  </a:path>
                  <a:path w="412114" h="222885">
                    <a:moveTo>
                      <a:pt x="211703" y="0"/>
                    </a:moveTo>
                    <a:lnTo>
                      <a:pt x="410142" y="0"/>
                    </a:lnTo>
                  </a:path>
                  <a:path w="412114" h="222885">
                    <a:moveTo>
                      <a:pt x="0" y="0"/>
                    </a:moveTo>
                    <a:lnTo>
                      <a:pt x="124000" y="0"/>
                    </a:lnTo>
                  </a:path>
                </a:pathLst>
              </a:custGeom>
              <a:ln w="30745">
                <a:solidFill>
                  <a:srgbClr val="000000"/>
                </a:solidFill>
              </a:ln>
            </p:spPr>
            <p:txBody>
              <a:bodyPr wrap="square" lIns="0" tIns="0" rIns="0" bIns="0" rtlCol="0"/>
              <a:lstStyle/>
              <a:p>
                <a:endParaRPr sz="1588"/>
              </a:p>
            </p:txBody>
          </p:sp>
        </p:grpSp>
        <p:sp>
          <p:nvSpPr>
            <p:cNvPr id="61" name="object 61"/>
            <p:cNvSpPr txBox="1"/>
            <p:nvPr/>
          </p:nvSpPr>
          <p:spPr>
            <a:xfrm>
              <a:off x="3314418" y="3007021"/>
              <a:ext cx="384922" cy="218438"/>
            </a:xfrm>
            <a:prstGeom prst="rect">
              <a:avLst/>
            </a:prstGeom>
            <a:ln w="30733">
              <a:solidFill>
                <a:srgbClr val="000000"/>
              </a:solidFill>
            </a:ln>
          </p:spPr>
          <p:txBody>
            <a:bodyPr vert="horz" wrap="square" lIns="0" tIns="54908" rIns="0" bIns="0" rtlCol="0">
              <a:spAutoFit/>
            </a:bodyPr>
            <a:lstStyle/>
            <a:p>
              <a:pPr marL="27456">
                <a:spcBef>
                  <a:spcPts val="431"/>
                </a:spcBef>
              </a:pPr>
              <a:r>
                <a:rPr sz="1059" b="1" spc="-9" dirty="0">
                  <a:latin typeface="Times New Roman"/>
                  <a:cs typeface="Times New Roman"/>
                </a:rPr>
                <a:t>Ifetch</a:t>
              </a:r>
              <a:endParaRPr sz="1059">
                <a:latin typeface="Times New Roman"/>
                <a:cs typeface="Times New Roman"/>
              </a:endParaRPr>
            </a:p>
          </p:txBody>
        </p:sp>
        <p:grpSp>
          <p:nvGrpSpPr>
            <p:cNvPr id="62" name="object 62"/>
            <p:cNvGrpSpPr/>
            <p:nvPr/>
          </p:nvGrpSpPr>
          <p:grpSpPr>
            <a:xfrm>
              <a:off x="3794808" y="2846021"/>
              <a:ext cx="2777378" cy="646019"/>
              <a:chOff x="4148382" y="3225490"/>
              <a:chExt cx="3147695" cy="732155"/>
            </a:xfrm>
          </p:grpSpPr>
          <p:sp>
            <p:nvSpPr>
              <p:cNvPr id="63" name="object 63"/>
              <p:cNvSpPr/>
              <p:nvPr/>
            </p:nvSpPr>
            <p:spPr>
              <a:xfrm>
                <a:off x="4966672" y="3241047"/>
                <a:ext cx="88265" cy="701040"/>
              </a:xfrm>
              <a:custGeom>
                <a:avLst/>
                <a:gdLst/>
                <a:ahLst/>
                <a:cxnLst/>
                <a:rect l="l" t="t" r="r" b="b"/>
                <a:pathLst>
                  <a:path w="88264"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64" name="object 64"/>
              <p:cNvSpPr/>
              <p:nvPr/>
            </p:nvSpPr>
            <p:spPr>
              <a:xfrm>
                <a:off x="4966672" y="3241047"/>
                <a:ext cx="88265" cy="701040"/>
              </a:xfrm>
              <a:custGeom>
                <a:avLst/>
                <a:gdLst/>
                <a:ahLst/>
                <a:cxnLst/>
                <a:rect l="l" t="t" r="r" b="b"/>
                <a:pathLst>
                  <a:path w="88264"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65" name="object 65"/>
              <p:cNvSpPr/>
              <p:nvPr/>
            </p:nvSpPr>
            <p:spPr>
              <a:xfrm>
                <a:off x="6657403" y="3241047"/>
                <a:ext cx="88265" cy="701040"/>
              </a:xfrm>
              <a:custGeom>
                <a:avLst/>
                <a:gdLst/>
                <a:ahLst/>
                <a:cxnLst/>
                <a:rect l="l" t="t" r="r" b="b"/>
                <a:pathLst>
                  <a:path w="88265"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66" name="object 66"/>
              <p:cNvSpPr/>
              <p:nvPr/>
            </p:nvSpPr>
            <p:spPr>
              <a:xfrm>
                <a:off x="6657403" y="3241047"/>
                <a:ext cx="88265" cy="701040"/>
              </a:xfrm>
              <a:custGeom>
                <a:avLst/>
                <a:gdLst/>
                <a:ahLst/>
                <a:cxnLst/>
                <a:rect l="l" t="t" r="r" b="b"/>
                <a:pathLst>
                  <a:path w="88265"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67" name="object 67"/>
              <p:cNvSpPr/>
              <p:nvPr/>
            </p:nvSpPr>
            <p:spPr>
              <a:xfrm>
                <a:off x="4163939" y="3241047"/>
                <a:ext cx="88265" cy="701040"/>
              </a:xfrm>
              <a:custGeom>
                <a:avLst/>
                <a:gdLst/>
                <a:ahLst/>
                <a:cxnLst/>
                <a:rect l="l" t="t" r="r" b="b"/>
                <a:pathLst>
                  <a:path w="88264" h="701039">
                    <a:moveTo>
                      <a:pt x="87703" y="0"/>
                    </a:moveTo>
                    <a:lnTo>
                      <a:pt x="0" y="0"/>
                    </a:lnTo>
                    <a:lnTo>
                      <a:pt x="0" y="701020"/>
                    </a:lnTo>
                    <a:lnTo>
                      <a:pt x="87703" y="701020"/>
                    </a:lnTo>
                    <a:lnTo>
                      <a:pt x="87703" y="0"/>
                    </a:lnTo>
                    <a:close/>
                  </a:path>
                </a:pathLst>
              </a:custGeom>
              <a:solidFill>
                <a:srgbClr val="00FF00"/>
              </a:solidFill>
            </p:spPr>
            <p:txBody>
              <a:bodyPr wrap="square" lIns="0" tIns="0" rIns="0" bIns="0" rtlCol="0"/>
              <a:lstStyle/>
              <a:p>
                <a:endParaRPr sz="1588"/>
              </a:p>
            </p:txBody>
          </p:sp>
          <p:sp>
            <p:nvSpPr>
              <p:cNvPr id="68" name="object 68"/>
              <p:cNvSpPr/>
              <p:nvPr/>
            </p:nvSpPr>
            <p:spPr>
              <a:xfrm>
                <a:off x="4163939" y="3241047"/>
                <a:ext cx="88265" cy="701040"/>
              </a:xfrm>
              <a:custGeom>
                <a:avLst/>
                <a:gdLst/>
                <a:ahLst/>
                <a:cxnLst/>
                <a:rect l="l" t="t" r="r" b="b"/>
                <a:pathLst>
                  <a:path w="88264" h="701039">
                    <a:moveTo>
                      <a:pt x="0" y="0"/>
                    </a:moveTo>
                    <a:lnTo>
                      <a:pt x="87703" y="0"/>
                    </a:lnTo>
                    <a:lnTo>
                      <a:pt x="87703"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69" name="object 69"/>
              <p:cNvSpPr/>
              <p:nvPr/>
            </p:nvSpPr>
            <p:spPr>
              <a:xfrm>
                <a:off x="5775494" y="3245164"/>
                <a:ext cx="86995" cy="692150"/>
              </a:xfrm>
              <a:custGeom>
                <a:avLst/>
                <a:gdLst/>
                <a:ahLst/>
                <a:cxnLst/>
                <a:rect l="l" t="t" r="r" b="b"/>
                <a:pathLst>
                  <a:path w="86995" h="692150">
                    <a:moveTo>
                      <a:pt x="86485" y="0"/>
                    </a:moveTo>
                    <a:lnTo>
                      <a:pt x="0" y="0"/>
                    </a:lnTo>
                    <a:lnTo>
                      <a:pt x="0" y="691756"/>
                    </a:lnTo>
                    <a:lnTo>
                      <a:pt x="86485" y="691756"/>
                    </a:lnTo>
                    <a:lnTo>
                      <a:pt x="86485" y="0"/>
                    </a:lnTo>
                    <a:close/>
                  </a:path>
                </a:pathLst>
              </a:custGeom>
              <a:solidFill>
                <a:srgbClr val="00FF00"/>
              </a:solidFill>
            </p:spPr>
            <p:txBody>
              <a:bodyPr wrap="square" lIns="0" tIns="0" rIns="0" bIns="0" rtlCol="0"/>
              <a:lstStyle/>
              <a:p>
                <a:endParaRPr sz="1588"/>
              </a:p>
            </p:txBody>
          </p:sp>
          <p:sp>
            <p:nvSpPr>
              <p:cNvPr id="70" name="object 70"/>
              <p:cNvSpPr/>
              <p:nvPr/>
            </p:nvSpPr>
            <p:spPr>
              <a:xfrm>
                <a:off x="5775494" y="3245164"/>
                <a:ext cx="86995" cy="692150"/>
              </a:xfrm>
              <a:custGeom>
                <a:avLst/>
                <a:gdLst/>
                <a:ahLst/>
                <a:cxnLst/>
                <a:rect l="l" t="t" r="r" b="b"/>
                <a:pathLst>
                  <a:path w="86995" h="692150">
                    <a:moveTo>
                      <a:pt x="0" y="0"/>
                    </a:moveTo>
                    <a:lnTo>
                      <a:pt x="86485" y="0"/>
                    </a:lnTo>
                    <a:lnTo>
                      <a:pt x="86485"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71" name="object 71"/>
              <p:cNvSpPr/>
              <p:nvPr/>
            </p:nvSpPr>
            <p:spPr>
              <a:xfrm>
                <a:off x="6843100" y="3393651"/>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72" name="object 72"/>
              <p:cNvSpPr/>
              <p:nvPr/>
            </p:nvSpPr>
            <p:spPr>
              <a:xfrm>
                <a:off x="6843101" y="3393650"/>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73" name="object 73"/>
            <p:cNvSpPr txBox="1"/>
            <p:nvPr/>
          </p:nvSpPr>
          <p:spPr>
            <a:xfrm>
              <a:off x="6246651" y="3039816"/>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4" name="object 74"/>
            <p:cNvGrpSpPr/>
            <p:nvPr/>
          </p:nvGrpSpPr>
          <p:grpSpPr>
            <a:xfrm>
              <a:off x="4762297" y="3732466"/>
              <a:ext cx="410135" cy="354666"/>
              <a:chOff x="5244870" y="4230128"/>
              <a:chExt cx="464820" cy="401955"/>
            </a:xfrm>
          </p:grpSpPr>
          <p:sp>
            <p:nvSpPr>
              <p:cNvPr id="75" name="object 75"/>
              <p:cNvSpPr/>
              <p:nvPr/>
            </p:nvSpPr>
            <p:spPr>
              <a:xfrm>
                <a:off x="5476995" y="4245686"/>
                <a:ext cx="217170" cy="366395"/>
              </a:xfrm>
              <a:custGeom>
                <a:avLst/>
                <a:gdLst/>
                <a:ahLst/>
                <a:cxnLst/>
                <a:rect l="l" t="t" r="r" b="b"/>
                <a:pathLst>
                  <a:path w="217170" h="366395">
                    <a:moveTo>
                      <a:pt x="216566" y="0"/>
                    </a:moveTo>
                    <a:lnTo>
                      <a:pt x="0" y="0"/>
                    </a:lnTo>
                    <a:lnTo>
                      <a:pt x="0" y="366092"/>
                    </a:lnTo>
                    <a:lnTo>
                      <a:pt x="216566" y="366092"/>
                    </a:lnTo>
                    <a:lnTo>
                      <a:pt x="216566" y="0"/>
                    </a:lnTo>
                    <a:close/>
                  </a:path>
                </a:pathLst>
              </a:custGeom>
              <a:solidFill>
                <a:srgbClr val="0099FF"/>
              </a:solidFill>
            </p:spPr>
            <p:txBody>
              <a:bodyPr wrap="square" lIns="0" tIns="0" rIns="0" bIns="0" rtlCol="0"/>
              <a:lstStyle/>
              <a:p>
                <a:endParaRPr sz="1588"/>
              </a:p>
            </p:txBody>
          </p:sp>
          <p:sp>
            <p:nvSpPr>
              <p:cNvPr id="76" name="object 76"/>
              <p:cNvSpPr/>
              <p:nvPr/>
            </p:nvSpPr>
            <p:spPr>
              <a:xfrm>
                <a:off x="5260427" y="4245686"/>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77" name="object 77"/>
            <p:cNvSpPr txBox="1"/>
            <p:nvPr/>
          </p:nvSpPr>
          <p:spPr>
            <a:xfrm>
              <a:off x="4846824" y="3790161"/>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78" name="object 78"/>
            <p:cNvGrpSpPr/>
            <p:nvPr/>
          </p:nvGrpSpPr>
          <p:grpSpPr>
            <a:xfrm>
              <a:off x="5146204" y="3635347"/>
              <a:ext cx="718296" cy="547968"/>
              <a:chOff x="5679964" y="4120060"/>
              <a:chExt cx="814069" cy="621030"/>
            </a:xfrm>
          </p:grpSpPr>
          <p:sp>
            <p:nvSpPr>
              <p:cNvPr id="79" name="object 79"/>
              <p:cNvSpPr/>
              <p:nvPr/>
            </p:nvSpPr>
            <p:spPr>
              <a:xfrm>
                <a:off x="5695522" y="4320398"/>
                <a:ext cx="478790" cy="220979"/>
              </a:xfrm>
              <a:custGeom>
                <a:avLst/>
                <a:gdLst/>
                <a:ahLst/>
                <a:cxnLst/>
                <a:rect l="l" t="t" r="r" b="b"/>
                <a:pathLst>
                  <a:path w="478789" h="220979">
                    <a:moveTo>
                      <a:pt x="166345" y="0"/>
                    </a:moveTo>
                    <a:lnTo>
                      <a:pt x="478211" y="0"/>
                    </a:lnTo>
                  </a:path>
                  <a:path w="478789" h="220979">
                    <a:moveTo>
                      <a:pt x="0" y="0"/>
                    </a:moveTo>
                    <a:lnTo>
                      <a:pt x="78750" y="0"/>
                    </a:lnTo>
                  </a:path>
                  <a:path w="478789" h="220979">
                    <a:moveTo>
                      <a:pt x="0" y="220957"/>
                    </a:moveTo>
                    <a:lnTo>
                      <a:pt x="78750" y="220957"/>
                    </a:lnTo>
                  </a:path>
                  <a:path w="478789" h="220979">
                    <a:moveTo>
                      <a:pt x="166345" y="220957"/>
                    </a:moveTo>
                    <a:lnTo>
                      <a:pt x="478211" y="220957"/>
                    </a:lnTo>
                  </a:path>
                </a:pathLst>
              </a:custGeom>
              <a:ln w="30745">
                <a:solidFill>
                  <a:srgbClr val="000000"/>
                </a:solidFill>
              </a:ln>
            </p:spPr>
            <p:txBody>
              <a:bodyPr wrap="square" lIns="0" tIns="0" rIns="0" bIns="0" rtlCol="0"/>
              <a:lstStyle/>
              <a:p>
                <a:endParaRPr sz="1588"/>
              </a:p>
            </p:txBody>
          </p:sp>
          <p:sp>
            <p:nvSpPr>
              <p:cNvPr id="80" name="object 80"/>
              <p:cNvSpPr/>
              <p:nvPr/>
            </p:nvSpPr>
            <p:spPr>
              <a:xfrm>
                <a:off x="6111943" y="4135619"/>
                <a:ext cx="366395" cy="589915"/>
              </a:xfrm>
              <a:custGeom>
                <a:avLst/>
                <a:gdLst/>
                <a:ahLst/>
                <a:cxnLst/>
                <a:rect l="l" t="t" r="r" b="b"/>
                <a:pathLst>
                  <a:path w="366395" h="589914">
                    <a:moveTo>
                      <a:pt x="0" y="0"/>
                    </a:moveTo>
                    <a:lnTo>
                      <a:pt x="0" y="589746"/>
                    </a:lnTo>
                    <a:lnTo>
                      <a:pt x="366115" y="442309"/>
                    </a:lnTo>
                    <a:lnTo>
                      <a:pt x="366115" y="147436"/>
                    </a:lnTo>
                    <a:lnTo>
                      <a:pt x="0" y="0"/>
                    </a:lnTo>
                    <a:close/>
                  </a:path>
                </a:pathLst>
              </a:custGeom>
              <a:solidFill>
                <a:srgbClr val="FFFFFF"/>
              </a:solidFill>
            </p:spPr>
            <p:txBody>
              <a:bodyPr wrap="square" lIns="0" tIns="0" rIns="0" bIns="0" rtlCol="0"/>
              <a:lstStyle/>
              <a:p>
                <a:endParaRPr sz="1588"/>
              </a:p>
            </p:txBody>
          </p:sp>
          <p:sp>
            <p:nvSpPr>
              <p:cNvPr id="81" name="object 81"/>
              <p:cNvSpPr/>
              <p:nvPr/>
            </p:nvSpPr>
            <p:spPr>
              <a:xfrm>
                <a:off x="6111943" y="4135618"/>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82" name="object 82"/>
              <p:cNvSpPr/>
              <p:nvPr/>
            </p:nvSpPr>
            <p:spPr>
              <a:xfrm>
                <a:off x="6087499" y="4335656"/>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83" name="object 83"/>
              <p:cNvSpPr/>
              <p:nvPr/>
            </p:nvSpPr>
            <p:spPr>
              <a:xfrm>
                <a:off x="6111943" y="4346791"/>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84" name="object 84"/>
            <p:cNvSpPr txBox="1"/>
            <p:nvPr/>
          </p:nvSpPr>
          <p:spPr>
            <a:xfrm>
              <a:off x="5646441" y="3752174"/>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85" name="object 85"/>
            <p:cNvGrpSpPr/>
            <p:nvPr/>
          </p:nvGrpSpPr>
          <p:grpSpPr>
            <a:xfrm>
              <a:off x="5839657" y="3733868"/>
              <a:ext cx="1060076" cy="352985"/>
              <a:chOff x="6465878" y="4231717"/>
              <a:chExt cx="1201420" cy="400050"/>
            </a:xfrm>
          </p:grpSpPr>
          <p:sp>
            <p:nvSpPr>
              <p:cNvPr id="86" name="object 86"/>
              <p:cNvSpPr/>
              <p:nvPr/>
            </p:nvSpPr>
            <p:spPr>
              <a:xfrm>
                <a:off x="6481436" y="4431670"/>
                <a:ext cx="1170305" cy="0"/>
              </a:xfrm>
              <a:custGeom>
                <a:avLst/>
                <a:gdLst/>
                <a:ahLst/>
                <a:cxnLst/>
                <a:rect l="l" t="t" r="r" b="b"/>
                <a:pathLst>
                  <a:path w="1170304">
                    <a:moveTo>
                      <a:pt x="0" y="0"/>
                    </a:moveTo>
                    <a:lnTo>
                      <a:pt x="173659" y="0"/>
                    </a:lnTo>
                  </a:path>
                  <a:path w="1170304">
                    <a:moveTo>
                      <a:pt x="260040" y="0"/>
                    </a:moveTo>
                    <a:lnTo>
                      <a:pt x="352463" y="0"/>
                    </a:lnTo>
                  </a:path>
                  <a:path w="1170304">
                    <a:moveTo>
                      <a:pt x="1064216" y="0"/>
                    </a:moveTo>
                    <a:lnTo>
                      <a:pt x="1170050" y="0"/>
                    </a:lnTo>
                  </a:path>
                  <a:path w="1170304">
                    <a:moveTo>
                      <a:pt x="786528" y="0"/>
                    </a:moveTo>
                    <a:lnTo>
                      <a:pt x="976621" y="0"/>
                    </a:lnTo>
                  </a:path>
                </a:pathLst>
              </a:custGeom>
              <a:ln w="30745">
                <a:solidFill>
                  <a:srgbClr val="000000"/>
                </a:solidFill>
              </a:ln>
            </p:spPr>
            <p:txBody>
              <a:bodyPr wrap="square" lIns="0" tIns="0" rIns="0" bIns="0" rtlCol="0"/>
              <a:lstStyle/>
              <a:p>
                <a:endParaRPr sz="1588"/>
              </a:p>
            </p:txBody>
          </p:sp>
          <p:sp>
            <p:nvSpPr>
              <p:cNvPr id="87" name="object 87"/>
              <p:cNvSpPr/>
              <p:nvPr/>
            </p:nvSpPr>
            <p:spPr>
              <a:xfrm>
                <a:off x="6833899" y="4247274"/>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88" name="object 88"/>
            <p:cNvSpPr txBox="1"/>
            <p:nvPr/>
          </p:nvSpPr>
          <p:spPr>
            <a:xfrm>
              <a:off x="6157290" y="3792851"/>
              <a:ext cx="392206" cy="174309"/>
            </a:xfrm>
            <a:prstGeom prst="rect">
              <a:avLst/>
            </a:prstGeom>
          </p:spPr>
          <p:txBody>
            <a:bodyPr vert="horz" wrap="square" lIns="0" tIns="11206" rIns="0" bIns="0" rtlCol="0">
              <a:spAutoFit/>
            </a:bodyPr>
            <a:lstStyle/>
            <a:p>
              <a:pPr>
                <a:spcBef>
                  <a:spcPts val="88"/>
                </a:spcBef>
              </a:pPr>
              <a:r>
                <a:rPr sz="1059" b="1" spc="-26" dirty="0">
                  <a:latin typeface="Times New Roman"/>
                  <a:cs typeface="Times New Roman"/>
                </a:rPr>
                <a:t>DMem</a:t>
              </a:r>
              <a:endParaRPr sz="1059">
                <a:latin typeface="Times New Roman"/>
                <a:cs typeface="Times New Roman"/>
              </a:endParaRPr>
            </a:p>
          </p:txBody>
        </p:sp>
        <p:grpSp>
          <p:nvGrpSpPr>
            <p:cNvPr id="89" name="object 89"/>
            <p:cNvGrpSpPr/>
            <p:nvPr/>
          </p:nvGrpSpPr>
          <p:grpSpPr>
            <a:xfrm>
              <a:off x="4398677" y="3798388"/>
              <a:ext cx="2312334" cy="385482"/>
              <a:chOff x="4832767" y="4304840"/>
              <a:chExt cx="2620645" cy="436880"/>
            </a:xfrm>
          </p:grpSpPr>
          <p:sp>
            <p:nvSpPr>
              <p:cNvPr id="90" name="object 90"/>
              <p:cNvSpPr/>
              <p:nvPr/>
            </p:nvSpPr>
            <p:spPr>
              <a:xfrm>
                <a:off x="6787178" y="4431670"/>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91" name="object 91"/>
              <p:cNvSpPr/>
              <p:nvPr/>
            </p:nvSpPr>
            <p:spPr>
              <a:xfrm>
                <a:off x="4848325" y="4320398"/>
                <a:ext cx="412115" cy="222885"/>
              </a:xfrm>
              <a:custGeom>
                <a:avLst/>
                <a:gdLst/>
                <a:ahLst/>
                <a:cxnLst/>
                <a:rect l="l" t="t" r="r" b="b"/>
                <a:pathLst>
                  <a:path w="412114" h="222885">
                    <a:moveTo>
                      <a:pt x="0" y="222545"/>
                    </a:moveTo>
                    <a:lnTo>
                      <a:pt x="118120" y="222545"/>
                    </a:lnTo>
                  </a:path>
                  <a:path w="412114" h="222885">
                    <a:moveTo>
                      <a:pt x="205715" y="222545"/>
                    </a:moveTo>
                    <a:lnTo>
                      <a:pt x="412103" y="222545"/>
                    </a:lnTo>
                  </a:path>
                  <a:path w="412114" h="222885">
                    <a:moveTo>
                      <a:pt x="205715" y="0"/>
                    </a:moveTo>
                    <a:lnTo>
                      <a:pt x="410143" y="0"/>
                    </a:lnTo>
                  </a:path>
                  <a:path w="412114" h="222885">
                    <a:moveTo>
                      <a:pt x="0" y="0"/>
                    </a:moveTo>
                    <a:lnTo>
                      <a:pt x="118120" y="0"/>
                    </a:lnTo>
                  </a:path>
                </a:pathLst>
              </a:custGeom>
              <a:ln w="30745">
                <a:solidFill>
                  <a:srgbClr val="000000"/>
                </a:solidFill>
              </a:ln>
            </p:spPr>
            <p:txBody>
              <a:bodyPr wrap="square" lIns="0" tIns="0" rIns="0" bIns="0" rtlCol="0"/>
              <a:lstStyle/>
              <a:p>
                <a:endParaRPr sz="1588"/>
              </a:p>
            </p:txBody>
          </p:sp>
        </p:grpSp>
        <p:sp>
          <p:nvSpPr>
            <p:cNvPr id="92" name="object 92"/>
            <p:cNvSpPr txBox="1"/>
            <p:nvPr/>
          </p:nvSpPr>
          <p:spPr>
            <a:xfrm>
              <a:off x="4027700" y="3747595"/>
              <a:ext cx="384922" cy="220136"/>
            </a:xfrm>
            <a:prstGeom prst="rect">
              <a:avLst/>
            </a:prstGeom>
            <a:ln w="30733">
              <a:solidFill>
                <a:srgbClr val="000000"/>
              </a:solidFill>
            </a:ln>
          </p:spPr>
          <p:txBody>
            <a:bodyPr vert="horz" wrap="square" lIns="0" tIns="56590" rIns="0" bIns="0" rtlCol="0">
              <a:spAutoFit/>
            </a:bodyPr>
            <a:lstStyle/>
            <a:p>
              <a:pPr marL="27456">
                <a:spcBef>
                  <a:spcPts val="446"/>
                </a:spcBef>
              </a:pPr>
              <a:r>
                <a:rPr sz="1059" b="1" spc="-9" dirty="0">
                  <a:latin typeface="Times New Roman"/>
                  <a:cs typeface="Times New Roman"/>
                </a:rPr>
                <a:t>Ifetch</a:t>
              </a:r>
              <a:endParaRPr sz="1059">
                <a:latin typeface="Times New Roman"/>
                <a:cs typeface="Times New Roman"/>
              </a:endParaRPr>
            </a:p>
          </p:txBody>
        </p:sp>
        <p:grpSp>
          <p:nvGrpSpPr>
            <p:cNvPr id="93" name="object 93"/>
            <p:cNvGrpSpPr/>
            <p:nvPr/>
          </p:nvGrpSpPr>
          <p:grpSpPr>
            <a:xfrm>
              <a:off x="4502901" y="3586596"/>
              <a:ext cx="2782421" cy="646019"/>
              <a:chOff x="4950888" y="4064808"/>
              <a:chExt cx="3153410" cy="732155"/>
            </a:xfrm>
          </p:grpSpPr>
          <p:sp>
            <p:nvSpPr>
              <p:cNvPr id="94" name="object 94"/>
              <p:cNvSpPr/>
              <p:nvPr/>
            </p:nvSpPr>
            <p:spPr>
              <a:xfrm>
                <a:off x="5774272" y="4080366"/>
                <a:ext cx="87630" cy="701040"/>
              </a:xfrm>
              <a:custGeom>
                <a:avLst/>
                <a:gdLst/>
                <a:ahLst/>
                <a:cxnLst/>
                <a:rect l="l" t="t" r="r" b="b"/>
                <a:pathLst>
                  <a:path w="87629" h="701039">
                    <a:moveTo>
                      <a:pt x="87595" y="0"/>
                    </a:moveTo>
                    <a:lnTo>
                      <a:pt x="0" y="0"/>
                    </a:lnTo>
                    <a:lnTo>
                      <a:pt x="0" y="701019"/>
                    </a:lnTo>
                    <a:lnTo>
                      <a:pt x="87595" y="701019"/>
                    </a:lnTo>
                    <a:lnTo>
                      <a:pt x="87595" y="0"/>
                    </a:lnTo>
                    <a:close/>
                  </a:path>
                </a:pathLst>
              </a:custGeom>
              <a:solidFill>
                <a:srgbClr val="00FF00"/>
              </a:solidFill>
            </p:spPr>
            <p:txBody>
              <a:bodyPr wrap="square" lIns="0" tIns="0" rIns="0" bIns="0" rtlCol="0"/>
              <a:lstStyle/>
              <a:p>
                <a:endParaRPr sz="1588"/>
              </a:p>
            </p:txBody>
          </p:sp>
          <p:sp>
            <p:nvSpPr>
              <p:cNvPr id="95" name="object 95"/>
              <p:cNvSpPr/>
              <p:nvPr/>
            </p:nvSpPr>
            <p:spPr>
              <a:xfrm>
                <a:off x="5774272" y="4080366"/>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96" name="object 96"/>
              <p:cNvSpPr/>
              <p:nvPr/>
            </p:nvSpPr>
            <p:spPr>
              <a:xfrm>
                <a:off x="7458057" y="4080366"/>
                <a:ext cx="87630" cy="701040"/>
              </a:xfrm>
              <a:custGeom>
                <a:avLst/>
                <a:gdLst/>
                <a:ahLst/>
                <a:cxnLst/>
                <a:rect l="l" t="t" r="r" b="b"/>
                <a:pathLst>
                  <a:path w="87629" h="701039">
                    <a:moveTo>
                      <a:pt x="87595" y="0"/>
                    </a:moveTo>
                    <a:lnTo>
                      <a:pt x="0" y="0"/>
                    </a:lnTo>
                    <a:lnTo>
                      <a:pt x="0" y="701019"/>
                    </a:lnTo>
                    <a:lnTo>
                      <a:pt x="87595" y="701019"/>
                    </a:lnTo>
                    <a:lnTo>
                      <a:pt x="87595" y="0"/>
                    </a:lnTo>
                    <a:close/>
                  </a:path>
                </a:pathLst>
              </a:custGeom>
              <a:solidFill>
                <a:srgbClr val="00FF00"/>
              </a:solidFill>
            </p:spPr>
            <p:txBody>
              <a:bodyPr wrap="square" lIns="0" tIns="0" rIns="0" bIns="0" rtlCol="0"/>
              <a:lstStyle/>
              <a:p>
                <a:endParaRPr sz="1588"/>
              </a:p>
            </p:txBody>
          </p:sp>
          <p:sp>
            <p:nvSpPr>
              <p:cNvPr id="97" name="object 97"/>
              <p:cNvSpPr/>
              <p:nvPr/>
            </p:nvSpPr>
            <p:spPr>
              <a:xfrm>
                <a:off x="7458057" y="4080366"/>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98" name="object 98"/>
              <p:cNvSpPr/>
              <p:nvPr/>
            </p:nvSpPr>
            <p:spPr>
              <a:xfrm>
                <a:off x="4966445" y="4080366"/>
                <a:ext cx="87630" cy="701040"/>
              </a:xfrm>
              <a:custGeom>
                <a:avLst/>
                <a:gdLst/>
                <a:ahLst/>
                <a:cxnLst/>
                <a:rect l="l" t="t" r="r" b="b"/>
                <a:pathLst>
                  <a:path w="87629" h="701039">
                    <a:moveTo>
                      <a:pt x="87595" y="0"/>
                    </a:moveTo>
                    <a:lnTo>
                      <a:pt x="0" y="0"/>
                    </a:lnTo>
                    <a:lnTo>
                      <a:pt x="0" y="701019"/>
                    </a:lnTo>
                    <a:lnTo>
                      <a:pt x="87595" y="701019"/>
                    </a:lnTo>
                    <a:lnTo>
                      <a:pt x="87595" y="0"/>
                    </a:lnTo>
                    <a:close/>
                  </a:path>
                </a:pathLst>
              </a:custGeom>
              <a:solidFill>
                <a:srgbClr val="00FF00"/>
              </a:solidFill>
            </p:spPr>
            <p:txBody>
              <a:bodyPr wrap="square" lIns="0" tIns="0" rIns="0" bIns="0" rtlCol="0"/>
              <a:lstStyle/>
              <a:p>
                <a:endParaRPr sz="1588"/>
              </a:p>
            </p:txBody>
          </p:sp>
          <p:sp>
            <p:nvSpPr>
              <p:cNvPr id="99" name="object 99"/>
              <p:cNvSpPr/>
              <p:nvPr/>
            </p:nvSpPr>
            <p:spPr>
              <a:xfrm>
                <a:off x="4966445" y="4080366"/>
                <a:ext cx="87630" cy="701040"/>
              </a:xfrm>
              <a:custGeom>
                <a:avLst/>
                <a:gdLst/>
                <a:ahLst/>
                <a:cxnLst/>
                <a:rect l="l" t="t" r="r" b="b"/>
                <a:pathLst>
                  <a:path w="87629" h="701039">
                    <a:moveTo>
                      <a:pt x="0" y="0"/>
                    </a:moveTo>
                    <a:lnTo>
                      <a:pt x="87595" y="0"/>
                    </a:lnTo>
                    <a:lnTo>
                      <a:pt x="87595"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00" name="object 100"/>
              <p:cNvSpPr/>
              <p:nvPr/>
            </p:nvSpPr>
            <p:spPr>
              <a:xfrm>
                <a:off x="6655096" y="4084483"/>
                <a:ext cx="86995" cy="692150"/>
              </a:xfrm>
              <a:custGeom>
                <a:avLst/>
                <a:gdLst/>
                <a:ahLst/>
                <a:cxnLst/>
                <a:rect l="l" t="t" r="r" b="b"/>
                <a:pathLst>
                  <a:path w="86995" h="692150">
                    <a:moveTo>
                      <a:pt x="86380" y="0"/>
                    </a:moveTo>
                    <a:lnTo>
                      <a:pt x="0" y="0"/>
                    </a:lnTo>
                    <a:lnTo>
                      <a:pt x="0" y="691755"/>
                    </a:lnTo>
                    <a:lnTo>
                      <a:pt x="86380" y="691755"/>
                    </a:lnTo>
                    <a:lnTo>
                      <a:pt x="86380" y="0"/>
                    </a:lnTo>
                    <a:close/>
                  </a:path>
                </a:pathLst>
              </a:custGeom>
              <a:solidFill>
                <a:srgbClr val="00FF00"/>
              </a:solidFill>
            </p:spPr>
            <p:txBody>
              <a:bodyPr wrap="square" lIns="0" tIns="0" rIns="0" bIns="0" rtlCol="0"/>
              <a:lstStyle/>
              <a:p>
                <a:endParaRPr sz="1588"/>
              </a:p>
            </p:txBody>
          </p:sp>
          <p:sp>
            <p:nvSpPr>
              <p:cNvPr id="101" name="object 101"/>
              <p:cNvSpPr/>
              <p:nvPr/>
            </p:nvSpPr>
            <p:spPr>
              <a:xfrm>
                <a:off x="6655096" y="4084483"/>
                <a:ext cx="86995" cy="692150"/>
              </a:xfrm>
              <a:custGeom>
                <a:avLst/>
                <a:gdLst/>
                <a:ahLst/>
                <a:cxnLst/>
                <a:rect l="l" t="t" r="r" b="b"/>
                <a:pathLst>
                  <a:path w="86995" h="692150">
                    <a:moveTo>
                      <a:pt x="0" y="0"/>
                    </a:moveTo>
                    <a:lnTo>
                      <a:pt x="86379" y="0"/>
                    </a:lnTo>
                    <a:lnTo>
                      <a:pt x="86379"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102" name="object 102"/>
              <p:cNvSpPr/>
              <p:nvPr/>
            </p:nvSpPr>
            <p:spPr>
              <a:xfrm>
                <a:off x="7651487" y="4232968"/>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103" name="object 103"/>
              <p:cNvSpPr/>
              <p:nvPr/>
            </p:nvSpPr>
            <p:spPr>
              <a:xfrm>
                <a:off x="7651487" y="4232968"/>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104" name="object 104"/>
            <p:cNvSpPr txBox="1"/>
            <p:nvPr/>
          </p:nvSpPr>
          <p:spPr>
            <a:xfrm>
              <a:off x="6959932" y="3779404"/>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5" name="object 105"/>
            <p:cNvGrpSpPr/>
            <p:nvPr/>
          </p:nvGrpSpPr>
          <p:grpSpPr>
            <a:xfrm>
              <a:off x="5475578" y="4473040"/>
              <a:ext cx="410135" cy="354666"/>
              <a:chOff x="6053255" y="5069445"/>
              <a:chExt cx="464820" cy="401955"/>
            </a:xfrm>
          </p:grpSpPr>
          <p:sp>
            <p:nvSpPr>
              <p:cNvPr id="106" name="object 106"/>
              <p:cNvSpPr/>
              <p:nvPr/>
            </p:nvSpPr>
            <p:spPr>
              <a:xfrm>
                <a:off x="6285379" y="5085002"/>
                <a:ext cx="217170" cy="366395"/>
              </a:xfrm>
              <a:custGeom>
                <a:avLst/>
                <a:gdLst/>
                <a:ahLst/>
                <a:cxnLst/>
                <a:rect l="l" t="t" r="r" b="b"/>
                <a:pathLst>
                  <a:path w="217170" h="366395">
                    <a:moveTo>
                      <a:pt x="216568" y="0"/>
                    </a:moveTo>
                    <a:lnTo>
                      <a:pt x="0" y="0"/>
                    </a:lnTo>
                    <a:lnTo>
                      <a:pt x="0" y="366094"/>
                    </a:lnTo>
                    <a:lnTo>
                      <a:pt x="216568" y="366094"/>
                    </a:lnTo>
                    <a:lnTo>
                      <a:pt x="216568" y="0"/>
                    </a:lnTo>
                    <a:close/>
                  </a:path>
                </a:pathLst>
              </a:custGeom>
              <a:solidFill>
                <a:srgbClr val="0099FF"/>
              </a:solidFill>
            </p:spPr>
            <p:txBody>
              <a:bodyPr wrap="square" lIns="0" tIns="0" rIns="0" bIns="0" rtlCol="0"/>
              <a:lstStyle/>
              <a:p>
                <a:endParaRPr sz="1588"/>
              </a:p>
            </p:txBody>
          </p:sp>
          <p:sp>
            <p:nvSpPr>
              <p:cNvPr id="107" name="object 107"/>
              <p:cNvSpPr/>
              <p:nvPr/>
            </p:nvSpPr>
            <p:spPr>
              <a:xfrm>
                <a:off x="6068813" y="5085002"/>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108" name="object 108"/>
            <p:cNvSpPr txBox="1"/>
            <p:nvPr/>
          </p:nvSpPr>
          <p:spPr>
            <a:xfrm>
              <a:off x="5560105" y="4532439"/>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09" name="object 109"/>
            <p:cNvGrpSpPr/>
            <p:nvPr/>
          </p:nvGrpSpPr>
          <p:grpSpPr>
            <a:xfrm>
              <a:off x="5859486" y="4375921"/>
              <a:ext cx="718296" cy="547968"/>
              <a:chOff x="6488350" y="4959377"/>
              <a:chExt cx="814069" cy="621030"/>
            </a:xfrm>
          </p:grpSpPr>
          <p:sp>
            <p:nvSpPr>
              <p:cNvPr id="110" name="object 110"/>
              <p:cNvSpPr/>
              <p:nvPr/>
            </p:nvSpPr>
            <p:spPr>
              <a:xfrm>
                <a:off x="6503907" y="5159714"/>
                <a:ext cx="478790" cy="220979"/>
              </a:xfrm>
              <a:custGeom>
                <a:avLst/>
                <a:gdLst/>
                <a:ahLst/>
                <a:cxnLst/>
                <a:rect l="l" t="t" r="r" b="b"/>
                <a:pathLst>
                  <a:path w="478790" h="220979">
                    <a:moveTo>
                      <a:pt x="0" y="0"/>
                    </a:moveTo>
                    <a:lnTo>
                      <a:pt x="151909" y="0"/>
                    </a:lnTo>
                  </a:path>
                  <a:path w="478790" h="220979">
                    <a:moveTo>
                      <a:pt x="239520" y="0"/>
                    </a:moveTo>
                    <a:lnTo>
                      <a:pt x="478211" y="0"/>
                    </a:lnTo>
                  </a:path>
                  <a:path w="478790" h="220979">
                    <a:moveTo>
                      <a:pt x="0" y="220958"/>
                    </a:moveTo>
                    <a:lnTo>
                      <a:pt x="151909" y="220958"/>
                    </a:lnTo>
                  </a:path>
                  <a:path w="478790" h="220979">
                    <a:moveTo>
                      <a:pt x="239520" y="220958"/>
                    </a:moveTo>
                    <a:lnTo>
                      <a:pt x="478211" y="220958"/>
                    </a:lnTo>
                  </a:path>
                </a:pathLst>
              </a:custGeom>
              <a:ln w="30745">
                <a:solidFill>
                  <a:srgbClr val="000000"/>
                </a:solidFill>
              </a:ln>
            </p:spPr>
            <p:txBody>
              <a:bodyPr wrap="square" lIns="0" tIns="0" rIns="0" bIns="0" rtlCol="0"/>
              <a:lstStyle/>
              <a:p>
                <a:endParaRPr sz="1588"/>
              </a:p>
            </p:txBody>
          </p:sp>
          <p:sp>
            <p:nvSpPr>
              <p:cNvPr id="111" name="object 111"/>
              <p:cNvSpPr/>
              <p:nvPr/>
            </p:nvSpPr>
            <p:spPr>
              <a:xfrm>
                <a:off x="6920327" y="4974935"/>
                <a:ext cx="366395" cy="589915"/>
              </a:xfrm>
              <a:custGeom>
                <a:avLst/>
                <a:gdLst/>
                <a:ahLst/>
                <a:cxnLst/>
                <a:rect l="l" t="t" r="r" b="b"/>
                <a:pathLst>
                  <a:path w="366395" h="589914">
                    <a:moveTo>
                      <a:pt x="0" y="0"/>
                    </a:moveTo>
                    <a:lnTo>
                      <a:pt x="0" y="589747"/>
                    </a:lnTo>
                    <a:lnTo>
                      <a:pt x="366116" y="442310"/>
                    </a:lnTo>
                    <a:lnTo>
                      <a:pt x="366116" y="147436"/>
                    </a:lnTo>
                    <a:lnTo>
                      <a:pt x="0" y="0"/>
                    </a:lnTo>
                    <a:close/>
                  </a:path>
                </a:pathLst>
              </a:custGeom>
              <a:solidFill>
                <a:srgbClr val="FFFFFF"/>
              </a:solidFill>
            </p:spPr>
            <p:txBody>
              <a:bodyPr wrap="square" lIns="0" tIns="0" rIns="0" bIns="0" rtlCol="0"/>
              <a:lstStyle/>
              <a:p>
                <a:endParaRPr sz="1588"/>
              </a:p>
            </p:txBody>
          </p:sp>
          <p:sp>
            <p:nvSpPr>
              <p:cNvPr id="112" name="object 112"/>
              <p:cNvSpPr/>
              <p:nvPr/>
            </p:nvSpPr>
            <p:spPr>
              <a:xfrm>
                <a:off x="6920327" y="4974935"/>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113" name="object 113"/>
              <p:cNvSpPr/>
              <p:nvPr/>
            </p:nvSpPr>
            <p:spPr>
              <a:xfrm>
                <a:off x="6895885" y="5174973"/>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114" name="object 114"/>
              <p:cNvSpPr/>
              <p:nvPr/>
            </p:nvSpPr>
            <p:spPr>
              <a:xfrm>
                <a:off x="6920328" y="5186107"/>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115" name="object 115"/>
            <p:cNvSpPr txBox="1"/>
            <p:nvPr/>
          </p:nvSpPr>
          <p:spPr>
            <a:xfrm>
              <a:off x="6359717" y="4491762"/>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16" name="object 116"/>
            <p:cNvGrpSpPr/>
            <p:nvPr/>
          </p:nvGrpSpPr>
          <p:grpSpPr>
            <a:xfrm>
              <a:off x="6552938" y="4474443"/>
              <a:ext cx="1060076" cy="352985"/>
              <a:chOff x="7274263" y="5071035"/>
              <a:chExt cx="1201420" cy="400050"/>
            </a:xfrm>
          </p:grpSpPr>
          <p:sp>
            <p:nvSpPr>
              <p:cNvPr id="117" name="object 117"/>
              <p:cNvSpPr/>
              <p:nvPr/>
            </p:nvSpPr>
            <p:spPr>
              <a:xfrm>
                <a:off x="7289821" y="5270988"/>
                <a:ext cx="1170305" cy="0"/>
              </a:xfrm>
              <a:custGeom>
                <a:avLst/>
                <a:gdLst/>
                <a:ahLst/>
                <a:cxnLst/>
                <a:rect l="l" t="t" r="r" b="b"/>
                <a:pathLst>
                  <a:path w="1170304">
                    <a:moveTo>
                      <a:pt x="0" y="0"/>
                    </a:moveTo>
                    <a:lnTo>
                      <a:pt x="169103" y="0"/>
                    </a:lnTo>
                  </a:path>
                  <a:path w="1170304">
                    <a:moveTo>
                      <a:pt x="255497" y="0"/>
                    </a:moveTo>
                    <a:lnTo>
                      <a:pt x="352461" y="0"/>
                    </a:lnTo>
                  </a:path>
                  <a:path w="1170304">
                    <a:moveTo>
                      <a:pt x="829030" y="0"/>
                    </a:moveTo>
                    <a:lnTo>
                      <a:pt x="974646" y="0"/>
                    </a:lnTo>
                  </a:path>
                  <a:path w="1170304">
                    <a:moveTo>
                      <a:pt x="1062257" y="0"/>
                    </a:moveTo>
                    <a:lnTo>
                      <a:pt x="1170051" y="0"/>
                    </a:lnTo>
                  </a:path>
                </a:pathLst>
              </a:custGeom>
              <a:ln w="30745">
                <a:solidFill>
                  <a:srgbClr val="000000"/>
                </a:solidFill>
              </a:ln>
            </p:spPr>
            <p:txBody>
              <a:bodyPr wrap="square" lIns="0" tIns="0" rIns="0" bIns="0" rtlCol="0"/>
              <a:lstStyle/>
              <a:p>
                <a:endParaRPr sz="1588"/>
              </a:p>
            </p:txBody>
          </p:sp>
          <p:sp>
            <p:nvSpPr>
              <p:cNvPr id="118" name="object 118"/>
              <p:cNvSpPr/>
              <p:nvPr/>
            </p:nvSpPr>
            <p:spPr>
              <a:xfrm>
                <a:off x="7642283" y="5086592"/>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119" name="object 119"/>
            <p:cNvSpPr txBox="1"/>
            <p:nvPr/>
          </p:nvSpPr>
          <p:spPr>
            <a:xfrm>
              <a:off x="6870571" y="4532439"/>
              <a:ext cx="392206" cy="174309"/>
            </a:xfrm>
            <a:prstGeom prst="rect">
              <a:avLst/>
            </a:prstGeom>
          </p:spPr>
          <p:txBody>
            <a:bodyPr vert="horz" wrap="square" lIns="0" tIns="11206" rIns="0" bIns="0" rtlCol="0">
              <a:spAutoFit/>
            </a:bodyPr>
            <a:lstStyle/>
            <a:p>
              <a:pPr>
                <a:spcBef>
                  <a:spcPts val="88"/>
                </a:spcBef>
              </a:pPr>
              <a:r>
                <a:rPr sz="1059" b="1" spc="-26" dirty="0">
                  <a:latin typeface="Times New Roman"/>
                  <a:cs typeface="Times New Roman"/>
                </a:rPr>
                <a:t>DMem</a:t>
              </a:r>
              <a:endParaRPr sz="1059">
                <a:latin typeface="Times New Roman"/>
                <a:cs typeface="Times New Roman"/>
              </a:endParaRPr>
            </a:p>
          </p:txBody>
        </p:sp>
        <p:grpSp>
          <p:nvGrpSpPr>
            <p:cNvPr id="120" name="object 120"/>
            <p:cNvGrpSpPr/>
            <p:nvPr/>
          </p:nvGrpSpPr>
          <p:grpSpPr>
            <a:xfrm>
              <a:off x="5107190" y="4538961"/>
              <a:ext cx="2317376" cy="385482"/>
              <a:chOff x="5635748" y="5144156"/>
              <a:chExt cx="2626360" cy="436880"/>
            </a:xfrm>
          </p:grpSpPr>
          <p:sp>
            <p:nvSpPr>
              <p:cNvPr id="121" name="object 121"/>
              <p:cNvSpPr/>
              <p:nvPr/>
            </p:nvSpPr>
            <p:spPr>
              <a:xfrm>
                <a:off x="7595563" y="5270987"/>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122" name="object 122"/>
              <p:cNvSpPr/>
              <p:nvPr/>
            </p:nvSpPr>
            <p:spPr>
              <a:xfrm>
                <a:off x="5651305" y="5159714"/>
                <a:ext cx="417830" cy="222885"/>
              </a:xfrm>
              <a:custGeom>
                <a:avLst/>
                <a:gdLst/>
                <a:ahLst/>
                <a:cxnLst/>
                <a:rect l="l" t="t" r="r" b="b"/>
                <a:pathLst>
                  <a:path w="417829" h="222885">
                    <a:moveTo>
                      <a:pt x="211136" y="222547"/>
                    </a:moveTo>
                    <a:lnTo>
                      <a:pt x="417506" y="222547"/>
                    </a:lnTo>
                  </a:path>
                  <a:path w="417829" h="222885">
                    <a:moveTo>
                      <a:pt x="0" y="222547"/>
                    </a:moveTo>
                    <a:lnTo>
                      <a:pt x="123525" y="222547"/>
                    </a:lnTo>
                  </a:path>
                  <a:path w="417829" h="222885">
                    <a:moveTo>
                      <a:pt x="211136" y="0"/>
                    </a:moveTo>
                    <a:lnTo>
                      <a:pt x="415547" y="0"/>
                    </a:lnTo>
                  </a:path>
                  <a:path w="417829" h="222885">
                    <a:moveTo>
                      <a:pt x="0" y="0"/>
                    </a:moveTo>
                    <a:lnTo>
                      <a:pt x="123525" y="0"/>
                    </a:lnTo>
                  </a:path>
                </a:pathLst>
              </a:custGeom>
              <a:ln w="30745">
                <a:solidFill>
                  <a:srgbClr val="000000"/>
                </a:solidFill>
              </a:ln>
            </p:spPr>
            <p:txBody>
              <a:bodyPr wrap="square" lIns="0" tIns="0" rIns="0" bIns="0" rtlCol="0"/>
              <a:lstStyle/>
              <a:p>
                <a:endParaRPr sz="1588"/>
              </a:p>
            </p:txBody>
          </p:sp>
        </p:grpSp>
        <p:sp>
          <p:nvSpPr>
            <p:cNvPr id="123" name="object 123"/>
            <p:cNvSpPr/>
            <p:nvPr/>
          </p:nvSpPr>
          <p:spPr>
            <a:xfrm>
              <a:off x="4754548" y="4488170"/>
              <a:ext cx="366432" cy="325531"/>
            </a:xfrm>
            <a:custGeom>
              <a:avLst/>
              <a:gdLst/>
              <a:ahLst/>
              <a:cxnLst/>
              <a:rect l="l" t="t" r="r" b="b"/>
              <a:pathLst>
                <a:path w="415289" h="368935">
                  <a:moveTo>
                    <a:pt x="0" y="0"/>
                  </a:moveTo>
                  <a:lnTo>
                    <a:pt x="415217" y="0"/>
                  </a:lnTo>
                  <a:lnTo>
                    <a:pt x="415217" y="368790"/>
                  </a:lnTo>
                  <a:lnTo>
                    <a:pt x="0" y="368790"/>
                  </a:lnTo>
                  <a:lnTo>
                    <a:pt x="0" y="0"/>
                  </a:lnTo>
                  <a:close/>
                </a:path>
              </a:pathLst>
            </a:custGeom>
            <a:ln w="30732">
              <a:solidFill>
                <a:srgbClr val="000000"/>
              </a:solidFill>
            </a:ln>
          </p:spPr>
          <p:txBody>
            <a:bodyPr wrap="square" lIns="0" tIns="0" rIns="0" bIns="0" rtlCol="0"/>
            <a:lstStyle/>
            <a:p>
              <a:endParaRPr sz="1588"/>
            </a:p>
          </p:txBody>
        </p:sp>
        <p:sp>
          <p:nvSpPr>
            <p:cNvPr id="124" name="object 124"/>
            <p:cNvSpPr txBox="1"/>
            <p:nvPr/>
          </p:nvSpPr>
          <p:spPr>
            <a:xfrm>
              <a:off x="4757243" y="4532439"/>
              <a:ext cx="353546" cy="174309"/>
            </a:xfrm>
            <a:prstGeom prst="rect">
              <a:avLst/>
            </a:prstGeom>
          </p:spPr>
          <p:txBody>
            <a:bodyPr vert="horz" wrap="square" lIns="0" tIns="11206" rIns="0" bIns="0" rtlCol="0">
              <a:spAutoFit/>
            </a:bodyPr>
            <a:lstStyle/>
            <a:p>
              <a:pPr marL="11206">
                <a:spcBef>
                  <a:spcPts val="88"/>
                </a:spcBef>
              </a:pPr>
              <a:r>
                <a:rPr sz="1059" b="1" spc="-9" dirty="0">
                  <a:latin typeface="Times New Roman"/>
                  <a:cs typeface="Times New Roman"/>
                </a:rPr>
                <a:t>Ifetch</a:t>
              </a:r>
              <a:endParaRPr sz="1059">
                <a:latin typeface="Times New Roman"/>
                <a:cs typeface="Times New Roman"/>
              </a:endParaRPr>
            </a:p>
          </p:txBody>
        </p:sp>
        <p:grpSp>
          <p:nvGrpSpPr>
            <p:cNvPr id="125" name="object 125"/>
            <p:cNvGrpSpPr/>
            <p:nvPr/>
          </p:nvGrpSpPr>
          <p:grpSpPr>
            <a:xfrm>
              <a:off x="5216182" y="4327170"/>
              <a:ext cx="2782421" cy="646019"/>
              <a:chOff x="5759273" y="4904125"/>
              <a:chExt cx="3153410" cy="732155"/>
            </a:xfrm>
          </p:grpSpPr>
          <p:sp>
            <p:nvSpPr>
              <p:cNvPr id="126" name="object 126"/>
              <p:cNvSpPr/>
              <p:nvPr/>
            </p:nvSpPr>
            <p:spPr>
              <a:xfrm>
                <a:off x="6655817" y="4919682"/>
                <a:ext cx="87630" cy="701040"/>
              </a:xfrm>
              <a:custGeom>
                <a:avLst/>
                <a:gdLst/>
                <a:ahLst/>
                <a:cxnLst/>
                <a:rect l="l" t="t" r="r" b="b"/>
                <a:pathLst>
                  <a:path w="87629" h="701039">
                    <a:moveTo>
                      <a:pt x="87610" y="0"/>
                    </a:moveTo>
                    <a:lnTo>
                      <a:pt x="0" y="0"/>
                    </a:lnTo>
                    <a:lnTo>
                      <a:pt x="0" y="701020"/>
                    </a:lnTo>
                    <a:lnTo>
                      <a:pt x="87610" y="701020"/>
                    </a:lnTo>
                    <a:lnTo>
                      <a:pt x="87610" y="0"/>
                    </a:lnTo>
                    <a:close/>
                  </a:path>
                </a:pathLst>
              </a:custGeom>
              <a:solidFill>
                <a:srgbClr val="00FF00"/>
              </a:solidFill>
            </p:spPr>
            <p:txBody>
              <a:bodyPr wrap="square" lIns="0" tIns="0" rIns="0" bIns="0" rtlCol="0"/>
              <a:lstStyle/>
              <a:p>
                <a:endParaRPr sz="1588"/>
              </a:p>
            </p:txBody>
          </p:sp>
          <p:sp>
            <p:nvSpPr>
              <p:cNvPr id="127" name="object 127"/>
              <p:cNvSpPr/>
              <p:nvPr/>
            </p:nvSpPr>
            <p:spPr>
              <a:xfrm>
                <a:off x="6655817" y="4919682"/>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28" name="object 128"/>
              <p:cNvSpPr/>
              <p:nvPr/>
            </p:nvSpPr>
            <p:spPr>
              <a:xfrm>
                <a:off x="8264468" y="4919682"/>
                <a:ext cx="87630" cy="701040"/>
              </a:xfrm>
              <a:custGeom>
                <a:avLst/>
                <a:gdLst/>
                <a:ahLst/>
                <a:cxnLst/>
                <a:rect l="l" t="t" r="r" b="b"/>
                <a:pathLst>
                  <a:path w="87629" h="701039">
                    <a:moveTo>
                      <a:pt x="87610" y="0"/>
                    </a:moveTo>
                    <a:lnTo>
                      <a:pt x="0" y="0"/>
                    </a:lnTo>
                    <a:lnTo>
                      <a:pt x="0" y="701020"/>
                    </a:lnTo>
                    <a:lnTo>
                      <a:pt x="87610" y="701020"/>
                    </a:lnTo>
                    <a:lnTo>
                      <a:pt x="87610" y="0"/>
                    </a:lnTo>
                    <a:close/>
                  </a:path>
                </a:pathLst>
              </a:custGeom>
              <a:solidFill>
                <a:srgbClr val="00FF00"/>
              </a:solidFill>
            </p:spPr>
            <p:txBody>
              <a:bodyPr wrap="square" lIns="0" tIns="0" rIns="0" bIns="0" rtlCol="0"/>
              <a:lstStyle/>
              <a:p>
                <a:endParaRPr sz="1588"/>
              </a:p>
            </p:txBody>
          </p:sp>
          <p:sp>
            <p:nvSpPr>
              <p:cNvPr id="129" name="object 129"/>
              <p:cNvSpPr/>
              <p:nvPr/>
            </p:nvSpPr>
            <p:spPr>
              <a:xfrm>
                <a:off x="8264468" y="4919682"/>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30" name="object 130"/>
              <p:cNvSpPr/>
              <p:nvPr/>
            </p:nvSpPr>
            <p:spPr>
              <a:xfrm>
                <a:off x="5774831" y="4919682"/>
                <a:ext cx="87630" cy="701040"/>
              </a:xfrm>
              <a:custGeom>
                <a:avLst/>
                <a:gdLst/>
                <a:ahLst/>
                <a:cxnLst/>
                <a:rect l="l" t="t" r="r" b="b"/>
                <a:pathLst>
                  <a:path w="87629" h="701039">
                    <a:moveTo>
                      <a:pt x="87610" y="0"/>
                    </a:moveTo>
                    <a:lnTo>
                      <a:pt x="0" y="0"/>
                    </a:lnTo>
                    <a:lnTo>
                      <a:pt x="0" y="701020"/>
                    </a:lnTo>
                    <a:lnTo>
                      <a:pt x="87610" y="701020"/>
                    </a:lnTo>
                    <a:lnTo>
                      <a:pt x="87610" y="0"/>
                    </a:lnTo>
                    <a:close/>
                  </a:path>
                </a:pathLst>
              </a:custGeom>
              <a:solidFill>
                <a:srgbClr val="00FF00"/>
              </a:solidFill>
            </p:spPr>
            <p:txBody>
              <a:bodyPr wrap="square" lIns="0" tIns="0" rIns="0" bIns="0" rtlCol="0"/>
              <a:lstStyle/>
              <a:p>
                <a:endParaRPr sz="1588"/>
              </a:p>
            </p:txBody>
          </p:sp>
          <p:sp>
            <p:nvSpPr>
              <p:cNvPr id="131" name="object 131"/>
              <p:cNvSpPr/>
              <p:nvPr/>
            </p:nvSpPr>
            <p:spPr>
              <a:xfrm>
                <a:off x="5774831" y="4919682"/>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32" name="object 132"/>
              <p:cNvSpPr/>
              <p:nvPr/>
            </p:nvSpPr>
            <p:spPr>
              <a:xfrm>
                <a:off x="7458924" y="4923800"/>
                <a:ext cx="86995" cy="692150"/>
              </a:xfrm>
              <a:custGeom>
                <a:avLst/>
                <a:gdLst/>
                <a:ahLst/>
                <a:cxnLst/>
                <a:rect l="l" t="t" r="r" b="b"/>
                <a:pathLst>
                  <a:path w="86995" h="692150">
                    <a:moveTo>
                      <a:pt x="86394" y="0"/>
                    </a:moveTo>
                    <a:lnTo>
                      <a:pt x="0" y="0"/>
                    </a:lnTo>
                    <a:lnTo>
                      <a:pt x="0" y="691756"/>
                    </a:lnTo>
                    <a:lnTo>
                      <a:pt x="86394" y="691756"/>
                    </a:lnTo>
                    <a:lnTo>
                      <a:pt x="86394" y="0"/>
                    </a:lnTo>
                    <a:close/>
                  </a:path>
                </a:pathLst>
              </a:custGeom>
              <a:solidFill>
                <a:srgbClr val="00FF00"/>
              </a:solidFill>
            </p:spPr>
            <p:txBody>
              <a:bodyPr wrap="square" lIns="0" tIns="0" rIns="0" bIns="0" rtlCol="0"/>
              <a:lstStyle/>
              <a:p>
                <a:endParaRPr sz="1588"/>
              </a:p>
            </p:txBody>
          </p:sp>
          <p:sp>
            <p:nvSpPr>
              <p:cNvPr id="133" name="object 133"/>
              <p:cNvSpPr/>
              <p:nvPr/>
            </p:nvSpPr>
            <p:spPr>
              <a:xfrm>
                <a:off x="7458924" y="4923800"/>
                <a:ext cx="86995" cy="692150"/>
              </a:xfrm>
              <a:custGeom>
                <a:avLst/>
                <a:gdLst/>
                <a:ahLst/>
                <a:cxnLst/>
                <a:rect l="l" t="t" r="r" b="b"/>
                <a:pathLst>
                  <a:path w="86995" h="692150">
                    <a:moveTo>
                      <a:pt x="0" y="0"/>
                    </a:moveTo>
                    <a:lnTo>
                      <a:pt x="86394" y="0"/>
                    </a:lnTo>
                    <a:lnTo>
                      <a:pt x="86394"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134" name="object 134"/>
              <p:cNvSpPr/>
              <p:nvPr/>
            </p:nvSpPr>
            <p:spPr>
              <a:xfrm>
                <a:off x="8459872" y="5072285"/>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135" name="object 135"/>
              <p:cNvSpPr/>
              <p:nvPr/>
            </p:nvSpPr>
            <p:spPr>
              <a:xfrm>
                <a:off x="8459872" y="5072286"/>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136" name="object 136"/>
            <p:cNvSpPr txBox="1"/>
            <p:nvPr/>
          </p:nvSpPr>
          <p:spPr>
            <a:xfrm>
              <a:off x="7673213" y="4521681"/>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37" name="object 137"/>
            <p:cNvSpPr txBox="1"/>
            <p:nvPr/>
          </p:nvSpPr>
          <p:spPr>
            <a:xfrm>
              <a:off x="2495308" y="1755593"/>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1</a:t>
              </a:r>
              <a:endParaRPr sz="1324">
                <a:latin typeface="Times New Roman"/>
                <a:cs typeface="Times New Roman"/>
              </a:endParaRPr>
            </a:p>
          </p:txBody>
        </p:sp>
        <p:sp>
          <p:nvSpPr>
            <p:cNvPr id="138" name="object 138"/>
            <p:cNvSpPr txBox="1"/>
            <p:nvPr/>
          </p:nvSpPr>
          <p:spPr>
            <a:xfrm>
              <a:off x="3189677" y="1755593"/>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2</a:t>
              </a:r>
              <a:endParaRPr sz="1324">
                <a:latin typeface="Times New Roman"/>
                <a:cs typeface="Times New Roman"/>
              </a:endParaRPr>
            </a:p>
          </p:txBody>
        </p:sp>
        <p:sp>
          <p:nvSpPr>
            <p:cNvPr id="139" name="object 139"/>
            <p:cNvSpPr txBox="1"/>
            <p:nvPr/>
          </p:nvSpPr>
          <p:spPr>
            <a:xfrm>
              <a:off x="6123856" y="1755593"/>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6</a:t>
              </a:r>
              <a:endParaRPr sz="1324">
                <a:latin typeface="Times New Roman"/>
                <a:cs typeface="Times New Roman"/>
              </a:endParaRPr>
            </a:p>
          </p:txBody>
        </p:sp>
        <p:sp>
          <p:nvSpPr>
            <p:cNvPr id="140" name="object 140"/>
            <p:cNvSpPr txBox="1"/>
            <p:nvPr/>
          </p:nvSpPr>
          <p:spPr>
            <a:xfrm>
              <a:off x="6837812" y="1755593"/>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7</a:t>
              </a:r>
              <a:endParaRPr sz="1324">
                <a:latin typeface="Times New Roman"/>
                <a:cs typeface="Times New Roman"/>
              </a:endParaRPr>
            </a:p>
          </p:txBody>
        </p:sp>
        <p:grpSp>
          <p:nvGrpSpPr>
            <p:cNvPr id="142" name="object 142"/>
            <p:cNvGrpSpPr/>
            <p:nvPr/>
          </p:nvGrpSpPr>
          <p:grpSpPr>
            <a:xfrm>
              <a:off x="6254999" y="5211023"/>
              <a:ext cx="410135" cy="354666"/>
              <a:chOff x="6936599" y="5905825"/>
              <a:chExt cx="464820" cy="401955"/>
            </a:xfrm>
          </p:grpSpPr>
          <p:sp>
            <p:nvSpPr>
              <p:cNvPr id="143" name="object 143"/>
              <p:cNvSpPr/>
              <p:nvPr/>
            </p:nvSpPr>
            <p:spPr>
              <a:xfrm>
                <a:off x="7168724" y="5921382"/>
                <a:ext cx="217170" cy="366395"/>
              </a:xfrm>
              <a:custGeom>
                <a:avLst/>
                <a:gdLst/>
                <a:ahLst/>
                <a:cxnLst/>
                <a:rect l="l" t="t" r="r" b="b"/>
                <a:pathLst>
                  <a:path w="217170" h="366395">
                    <a:moveTo>
                      <a:pt x="216566" y="0"/>
                    </a:moveTo>
                    <a:lnTo>
                      <a:pt x="0" y="0"/>
                    </a:lnTo>
                    <a:lnTo>
                      <a:pt x="0" y="366094"/>
                    </a:lnTo>
                    <a:lnTo>
                      <a:pt x="216566" y="366094"/>
                    </a:lnTo>
                    <a:lnTo>
                      <a:pt x="216566" y="0"/>
                    </a:lnTo>
                    <a:close/>
                  </a:path>
                </a:pathLst>
              </a:custGeom>
              <a:solidFill>
                <a:srgbClr val="0099FF"/>
              </a:solidFill>
            </p:spPr>
            <p:txBody>
              <a:bodyPr wrap="square" lIns="0" tIns="0" rIns="0" bIns="0" rtlCol="0"/>
              <a:lstStyle/>
              <a:p>
                <a:endParaRPr sz="1588"/>
              </a:p>
            </p:txBody>
          </p:sp>
          <p:sp>
            <p:nvSpPr>
              <p:cNvPr id="144" name="object 144"/>
              <p:cNvSpPr/>
              <p:nvPr/>
            </p:nvSpPr>
            <p:spPr>
              <a:xfrm>
                <a:off x="6952156" y="5921382"/>
                <a:ext cx="433705" cy="370840"/>
              </a:xfrm>
              <a:custGeom>
                <a:avLst/>
                <a:gdLst/>
                <a:ahLst/>
                <a:cxnLst/>
                <a:rect l="l" t="t" r="r" b="b"/>
                <a:pathLst>
                  <a:path w="433704" h="370839">
                    <a:moveTo>
                      <a:pt x="0" y="0"/>
                    </a:moveTo>
                    <a:lnTo>
                      <a:pt x="433134" y="0"/>
                    </a:lnTo>
                    <a:lnTo>
                      <a:pt x="433134" y="370379"/>
                    </a:lnTo>
                    <a:lnTo>
                      <a:pt x="0" y="370379"/>
                    </a:lnTo>
                    <a:lnTo>
                      <a:pt x="0" y="0"/>
                    </a:lnTo>
                    <a:close/>
                  </a:path>
                </a:pathLst>
              </a:custGeom>
              <a:ln w="30733">
                <a:solidFill>
                  <a:srgbClr val="000000"/>
                </a:solidFill>
              </a:ln>
            </p:spPr>
            <p:txBody>
              <a:bodyPr wrap="square" lIns="0" tIns="0" rIns="0" bIns="0" rtlCol="0"/>
              <a:lstStyle/>
              <a:p>
                <a:endParaRPr sz="1588"/>
              </a:p>
            </p:txBody>
          </p:sp>
        </p:grpSp>
        <p:sp>
          <p:nvSpPr>
            <p:cNvPr id="145" name="object 145"/>
            <p:cNvSpPr txBox="1"/>
            <p:nvPr/>
          </p:nvSpPr>
          <p:spPr>
            <a:xfrm>
              <a:off x="6339526" y="5272027"/>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grpSp>
          <p:nvGrpSpPr>
            <p:cNvPr id="146" name="object 146"/>
            <p:cNvGrpSpPr/>
            <p:nvPr/>
          </p:nvGrpSpPr>
          <p:grpSpPr>
            <a:xfrm>
              <a:off x="6638906" y="5113902"/>
              <a:ext cx="718296" cy="547968"/>
              <a:chOff x="7371693" y="5795756"/>
              <a:chExt cx="814069" cy="621030"/>
            </a:xfrm>
          </p:grpSpPr>
          <p:sp>
            <p:nvSpPr>
              <p:cNvPr id="147" name="object 147"/>
              <p:cNvSpPr/>
              <p:nvPr/>
            </p:nvSpPr>
            <p:spPr>
              <a:xfrm>
                <a:off x="7387250" y="5996094"/>
                <a:ext cx="478790" cy="220979"/>
              </a:xfrm>
              <a:custGeom>
                <a:avLst/>
                <a:gdLst/>
                <a:ahLst/>
                <a:cxnLst/>
                <a:rect l="l" t="t" r="r" b="b"/>
                <a:pathLst>
                  <a:path w="478790" h="220979">
                    <a:moveTo>
                      <a:pt x="0" y="0"/>
                    </a:moveTo>
                    <a:lnTo>
                      <a:pt x="77682" y="0"/>
                    </a:lnTo>
                  </a:path>
                  <a:path w="478790" h="220979">
                    <a:moveTo>
                      <a:pt x="165293" y="0"/>
                    </a:moveTo>
                    <a:lnTo>
                      <a:pt x="478211" y="0"/>
                    </a:lnTo>
                  </a:path>
                  <a:path w="478790" h="220979">
                    <a:moveTo>
                      <a:pt x="0" y="220957"/>
                    </a:moveTo>
                    <a:lnTo>
                      <a:pt x="77682" y="220957"/>
                    </a:lnTo>
                  </a:path>
                  <a:path w="478790" h="220979">
                    <a:moveTo>
                      <a:pt x="165293" y="220957"/>
                    </a:moveTo>
                    <a:lnTo>
                      <a:pt x="478211" y="220957"/>
                    </a:lnTo>
                  </a:path>
                </a:pathLst>
              </a:custGeom>
              <a:ln w="30745">
                <a:solidFill>
                  <a:srgbClr val="000000"/>
                </a:solidFill>
              </a:ln>
            </p:spPr>
            <p:txBody>
              <a:bodyPr wrap="square" lIns="0" tIns="0" rIns="0" bIns="0" rtlCol="0"/>
              <a:lstStyle/>
              <a:p>
                <a:endParaRPr sz="1588"/>
              </a:p>
            </p:txBody>
          </p:sp>
          <p:sp>
            <p:nvSpPr>
              <p:cNvPr id="148" name="object 148"/>
              <p:cNvSpPr/>
              <p:nvPr/>
            </p:nvSpPr>
            <p:spPr>
              <a:xfrm>
                <a:off x="7803672" y="5811315"/>
                <a:ext cx="366395" cy="589915"/>
              </a:xfrm>
              <a:custGeom>
                <a:avLst/>
                <a:gdLst/>
                <a:ahLst/>
                <a:cxnLst/>
                <a:rect l="l" t="t" r="r" b="b"/>
                <a:pathLst>
                  <a:path w="366395" h="589914">
                    <a:moveTo>
                      <a:pt x="0" y="0"/>
                    </a:moveTo>
                    <a:lnTo>
                      <a:pt x="0" y="589746"/>
                    </a:lnTo>
                    <a:lnTo>
                      <a:pt x="366115" y="442309"/>
                    </a:lnTo>
                    <a:lnTo>
                      <a:pt x="366115" y="147435"/>
                    </a:lnTo>
                    <a:lnTo>
                      <a:pt x="0" y="0"/>
                    </a:lnTo>
                    <a:close/>
                  </a:path>
                </a:pathLst>
              </a:custGeom>
              <a:solidFill>
                <a:srgbClr val="FFFFFF"/>
              </a:solidFill>
            </p:spPr>
            <p:txBody>
              <a:bodyPr wrap="square" lIns="0" tIns="0" rIns="0" bIns="0" rtlCol="0"/>
              <a:lstStyle/>
              <a:p>
                <a:endParaRPr sz="1588"/>
              </a:p>
            </p:txBody>
          </p:sp>
          <p:sp>
            <p:nvSpPr>
              <p:cNvPr id="149" name="object 149"/>
              <p:cNvSpPr/>
              <p:nvPr/>
            </p:nvSpPr>
            <p:spPr>
              <a:xfrm>
                <a:off x="7803672" y="5811314"/>
                <a:ext cx="366395" cy="589915"/>
              </a:xfrm>
              <a:custGeom>
                <a:avLst/>
                <a:gdLst/>
                <a:ahLst/>
                <a:cxnLst/>
                <a:rect l="l" t="t" r="r" b="b"/>
                <a:pathLst>
                  <a:path w="366395" h="589914">
                    <a:moveTo>
                      <a:pt x="0" y="589747"/>
                    </a:moveTo>
                    <a:lnTo>
                      <a:pt x="366115" y="442310"/>
                    </a:lnTo>
                    <a:lnTo>
                      <a:pt x="366115" y="147436"/>
                    </a:lnTo>
                    <a:lnTo>
                      <a:pt x="0" y="0"/>
                    </a:lnTo>
                    <a:lnTo>
                      <a:pt x="0" y="589747"/>
                    </a:lnTo>
                    <a:close/>
                  </a:path>
                </a:pathLst>
              </a:custGeom>
              <a:ln w="30737">
                <a:solidFill>
                  <a:srgbClr val="000000"/>
                </a:solidFill>
              </a:ln>
            </p:spPr>
            <p:txBody>
              <a:bodyPr wrap="square" lIns="0" tIns="0" rIns="0" bIns="0" rtlCol="0"/>
              <a:lstStyle/>
              <a:p>
                <a:endParaRPr sz="1588"/>
              </a:p>
            </p:txBody>
          </p:sp>
          <p:sp>
            <p:nvSpPr>
              <p:cNvPr id="150" name="object 150"/>
              <p:cNvSpPr/>
              <p:nvPr/>
            </p:nvSpPr>
            <p:spPr>
              <a:xfrm>
                <a:off x="7779228" y="6011353"/>
                <a:ext cx="195580" cy="190500"/>
              </a:xfrm>
              <a:custGeom>
                <a:avLst/>
                <a:gdLst/>
                <a:ahLst/>
                <a:cxnLst/>
                <a:rect l="l" t="t" r="r" b="b"/>
                <a:pathLst>
                  <a:path w="195579" h="190500">
                    <a:moveTo>
                      <a:pt x="0" y="0"/>
                    </a:moveTo>
                    <a:lnTo>
                      <a:pt x="0" y="190439"/>
                    </a:lnTo>
                    <a:lnTo>
                      <a:pt x="195550" y="95219"/>
                    </a:lnTo>
                    <a:lnTo>
                      <a:pt x="0" y="0"/>
                    </a:lnTo>
                    <a:close/>
                  </a:path>
                </a:pathLst>
              </a:custGeom>
              <a:solidFill>
                <a:srgbClr val="FFFFFF"/>
              </a:solidFill>
            </p:spPr>
            <p:txBody>
              <a:bodyPr wrap="square" lIns="0" tIns="0" rIns="0" bIns="0" rtlCol="0"/>
              <a:lstStyle/>
              <a:p>
                <a:endParaRPr sz="1588"/>
              </a:p>
            </p:txBody>
          </p:sp>
          <p:sp>
            <p:nvSpPr>
              <p:cNvPr id="151" name="object 151"/>
              <p:cNvSpPr/>
              <p:nvPr/>
            </p:nvSpPr>
            <p:spPr>
              <a:xfrm>
                <a:off x="7803672" y="6022487"/>
                <a:ext cx="151130" cy="167640"/>
              </a:xfrm>
              <a:custGeom>
                <a:avLst/>
                <a:gdLst/>
                <a:ahLst/>
                <a:cxnLst/>
                <a:rect l="l" t="t" r="r" b="b"/>
                <a:pathLst>
                  <a:path w="151129" h="167639">
                    <a:moveTo>
                      <a:pt x="0" y="0"/>
                    </a:moveTo>
                    <a:lnTo>
                      <a:pt x="151009" y="83701"/>
                    </a:lnTo>
                    <a:lnTo>
                      <a:pt x="0" y="167402"/>
                    </a:lnTo>
                  </a:path>
                </a:pathLst>
              </a:custGeom>
              <a:ln w="30732">
                <a:solidFill>
                  <a:srgbClr val="000000"/>
                </a:solidFill>
              </a:ln>
            </p:spPr>
            <p:txBody>
              <a:bodyPr wrap="square" lIns="0" tIns="0" rIns="0" bIns="0" rtlCol="0"/>
              <a:lstStyle/>
              <a:p>
                <a:endParaRPr sz="1588"/>
              </a:p>
            </p:txBody>
          </p:sp>
        </p:grpSp>
        <p:sp>
          <p:nvSpPr>
            <p:cNvPr id="152" name="object 152"/>
            <p:cNvSpPr txBox="1"/>
            <p:nvPr/>
          </p:nvSpPr>
          <p:spPr>
            <a:xfrm>
              <a:off x="7139143" y="5231350"/>
              <a:ext cx="153888" cy="305360"/>
            </a:xfrm>
            <a:prstGeom prst="rect">
              <a:avLst/>
            </a:prstGeom>
          </p:spPr>
          <p:txBody>
            <a:bodyPr vert="vert270" wrap="square" lIns="0" tIns="0" rIns="0" bIns="0" rtlCol="0">
              <a:spAutoFit/>
            </a:bodyPr>
            <a:lstStyle/>
            <a:p>
              <a:pPr marL="11206">
                <a:lnSpc>
                  <a:spcPts val="1244"/>
                </a:lnSpc>
              </a:pPr>
              <a:r>
                <a:rPr sz="1059" b="1" spc="-22" dirty="0">
                  <a:latin typeface="Times New Roman"/>
                  <a:cs typeface="Times New Roman"/>
                </a:rPr>
                <a:t>ALU</a:t>
              </a:r>
              <a:endParaRPr sz="1059">
                <a:latin typeface="Times New Roman"/>
                <a:cs typeface="Times New Roman"/>
              </a:endParaRPr>
            </a:p>
          </p:txBody>
        </p:sp>
        <p:grpSp>
          <p:nvGrpSpPr>
            <p:cNvPr id="153" name="object 153"/>
            <p:cNvGrpSpPr/>
            <p:nvPr/>
          </p:nvGrpSpPr>
          <p:grpSpPr>
            <a:xfrm>
              <a:off x="7332359" y="5212423"/>
              <a:ext cx="1060076" cy="352985"/>
              <a:chOff x="8157607" y="5907413"/>
              <a:chExt cx="1201420" cy="400050"/>
            </a:xfrm>
          </p:grpSpPr>
          <p:sp>
            <p:nvSpPr>
              <p:cNvPr id="154" name="object 154"/>
              <p:cNvSpPr/>
              <p:nvPr/>
            </p:nvSpPr>
            <p:spPr>
              <a:xfrm>
                <a:off x="8173164" y="6107368"/>
                <a:ext cx="1170305" cy="0"/>
              </a:xfrm>
              <a:custGeom>
                <a:avLst/>
                <a:gdLst/>
                <a:ahLst/>
                <a:cxnLst/>
                <a:rect l="l" t="t" r="r" b="b"/>
                <a:pathLst>
                  <a:path w="1170304">
                    <a:moveTo>
                      <a:pt x="0" y="0"/>
                    </a:moveTo>
                    <a:lnTo>
                      <a:pt x="102177" y="0"/>
                    </a:lnTo>
                  </a:path>
                  <a:path w="1170304">
                    <a:moveTo>
                      <a:pt x="188572" y="0"/>
                    </a:moveTo>
                    <a:lnTo>
                      <a:pt x="352463" y="0"/>
                    </a:lnTo>
                  </a:path>
                  <a:path w="1170304">
                    <a:moveTo>
                      <a:pt x="1062257" y="0"/>
                    </a:moveTo>
                    <a:lnTo>
                      <a:pt x="1170051" y="0"/>
                    </a:lnTo>
                  </a:path>
                  <a:path w="1170304">
                    <a:moveTo>
                      <a:pt x="829030" y="0"/>
                    </a:moveTo>
                    <a:lnTo>
                      <a:pt x="974644" y="0"/>
                    </a:lnTo>
                  </a:path>
                </a:pathLst>
              </a:custGeom>
              <a:ln w="30745">
                <a:solidFill>
                  <a:srgbClr val="000000"/>
                </a:solidFill>
              </a:ln>
            </p:spPr>
            <p:txBody>
              <a:bodyPr wrap="square" lIns="0" tIns="0" rIns="0" bIns="0" rtlCol="0"/>
              <a:lstStyle/>
              <a:p>
                <a:endParaRPr sz="1588"/>
              </a:p>
            </p:txBody>
          </p:sp>
          <p:sp>
            <p:nvSpPr>
              <p:cNvPr id="155" name="object 155"/>
              <p:cNvSpPr/>
              <p:nvPr/>
            </p:nvSpPr>
            <p:spPr>
              <a:xfrm>
                <a:off x="8525628" y="5922971"/>
                <a:ext cx="434340" cy="368935"/>
              </a:xfrm>
              <a:custGeom>
                <a:avLst/>
                <a:gdLst/>
                <a:ahLst/>
                <a:cxnLst/>
                <a:rect l="l" t="t" r="r" b="b"/>
                <a:pathLst>
                  <a:path w="434340" h="368935">
                    <a:moveTo>
                      <a:pt x="0" y="0"/>
                    </a:moveTo>
                    <a:lnTo>
                      <a:pt x="434065" y="0"/>
                    </a:lnTo>
                    <a:lnTo>
                      <a:pt x="434065" y="368790"/>
                    </a:lnTo>
                    <a:lnTo>
                      <a:pt x="0" y="368790"/>
                    </a:lnTo>
                    <a:lnTo>
                      <a:pt x="0" y="0"/>
                    </a:lnTo>
                    <a:close/>
                  </a:path>
                </a:pathLst>
              </a:custGeom>
              <a:ln w="30733">
                <a:solidFill>
                  <a:srgbClr val="000000"/>
                </a:solidFill>
              </a:ln>
            </p:spPr>
            <p:txBody>
              <a:bodyPr wrap="square" lIns="0" tIns="0" rIns="0" bIns="0" rtlCol="0"/>
              <a:lstStyle/>
              <a:p>
                <a:endParaRPr sz="1588"/>
              </a:p>
            </p:txBody>
          </p:sp>
        </p:grpSp>
        <p:sp>
          <p:nvSpPr>
            <p:cNvPr id="156" name="object 156"/>
            <p:cNvSpPr txBox="1"/>
            <p:nvPr/>
          </p:nvSpPr>
          <p:spPr>
            <a:xfrm>
              <a:off x="7649992" y="5272027"/>
              <a:ext cx="392206" cy="174309"/>
            </a:xfrm>
            <a:prstGeom prst="rect">
              <a:avLst/>
            </a:prstGeom>
          </p:spPr>
          <p:txBody>
            <a:bodyPr vert="horz" wrap="square" lIns="0" tIns="11206" rIns="0" bIns="0" rtlCol="0">
              <a:spAutoFit/>
            </a:bodyPr>
            <a:lstStyle/>
            <a:p>
              <a:pPr>
                <a:spcBef>
                  <a:spcPts val="88"/>
                </a:spcBef>
              </a:pPr>
              <a:r>
                <a:rPr sz="1059" b="1" spc="-26" dirty="0">
                  <a:latin typeface="Times New Roman"/>
                  <a:cs typeface="Times New Roman"/>
                </a:rPr>
                <a:t>DMem</a:t>
              </a:r>
              <a:endParaRPr sz="1059">
                <a:latin typeface="Times New Roman"/>
                <a:cs typeface="Times New Roman"/>
              </a:endParaRPr>
            </a:p>
          </p:txBody>
        </p:sp>
        <p:grpSp>
          <p:nvGrpSpPr>
            <p:cNvPr id="157" name="object 157"/>
            <p:cNvGrpSpPr/>
            <p:nvPr/>
          </p:nvGrpSpPr>
          <p:grpSpPr>
            <a:xfrm>
              <a:off x="5891380" y="5276945"/>
              <a:ext cx="2312334" cy="385482"/>
              <a:chOff x="6524497" y="5980537"/>
              <a:chExt cx="2620645" cy="436880"/>
            </a:xfrm>
          </p:grpSpPr>
          <p:sp>
            <p:nvSpPr>
              <p:cNvPr id="158" name="object 158"/>
              <p:cNvSpPr/>
              <p:nvPr/>
            </p:nvSpPr>
            <p:spPr>
              <a:xfrm>
                <a:off x="8478907" y="6107367"/>
                <a:ext cx="650875" cy="294640"/>
              </a:xfrm>
              <a:custGeom>
                <a:avLst/>
                <a:gdLst/>
                <a:ahLst/>
                <a:cxnLst/>
                <a:rect l="l" t="t" r="r" b="b"/>
                <a:pathLst>
                  <a:path w="650875" h="294639">
                    <a:moveTo>
                      <a:pt x="0" y="0"/>
                    </a:moveTo>
                    <a:lnTo>
                      <a:pt x="0" y="294078"/>
                    </a:lnTo>
                    <a:lnTo>
                      <a:pt x="574130" y="294078"/>
                    </a:lnTo>
                    <a:lnTo>
                      <a:pt x="574130" y="110279"/>
                    </a:lnTo>
                    <a:lnTo>
                      <a:pt x="650681" y="110279"/>
                    </a:lnTo>
                  </a:path>
                </a:pathLst>
              </a:custGeom>
              <a:ln w="30740">
                <a:solidFill>
                  <a:srgbClr val="000000"/>
                </a:solidFill>
              </a:ln>
            </p:spPr>
            <p:txBody>
              <a:bodyPr wrap="square" lIns="0" tIns="0" rIns="0" bIns="0" rtlCol="0"/>
              <a:lstStyle/>
              <a:p>
                <a:endParaRPr sz="1588"/>
              </a:p>
            </p:txBody>
          </p:sp>
          <p:sp>
            <p:nvSpPr>
              <p:cNvPr id="159" name="object 159"/>
              <p:cNvSpPr/>
              <p:nvPr/>
            </p:nvSpPr>
            <p:spPr>
              <a:xfrm>
                <a:off x="6540054" y="5996094"/>
                <a:ext cx="412115" cy="222885"/>
              </a:xfrm>
              <a:custGeom>
                <a:avLst/>
                <a:gdLst/>
                <a:ahLst/>
                <a:cxnLst/>
                <a:rect l="l" t="t" r="r" b="b"/>
                <a:pathLst>
                  <a:path w="412115" h="222885">
                    <a:moveTo>
                      <a:pt x="205731" y="222545"/>
                    </a:moveTo>
                    <a:lnTo>
                      <a:pt x="412101" y="222545"/>
                    </a:lnTo>
                  </a:path>
                  <a:path w="412115" h="222885">
                    <a:moveTo>
                      <a:pt x="0" y="222545"/>
                    </a:moveTo>
                    <a:lnTo>
                      <a:pt x="118120" y="222545"/>
                    </a:lnTo>
                  </a:path>
                  <a:path w="412115" h="222885">
                    <a:moveTo>
                      <a:pt x="205731" y="0"/>
                    </a:moveTo>
                    <a:lnTo>
                      <a:pt x="410142" y="0"/>
                    </a:lnTo>
                  </a:path>
                  <a:path w="412115" h="222885">
                    <a:moveTo>
                      <a:pt x="0" y="0"/>
                    </a:moveTo>
                    <a:lnTo>
                      <a:pt x="118120" y="0"/>
                    </a:lnTo>
                  </a:path>
                </a:pathLst>
              </a:custGeom>
              <a:ln w="30745">
                <a:solidFill>
                  <a:srgbClr val="000000"/>
                </a:solidFill>
              </a:ln>
            </p:spPr>
            <p:txBody>
              <a:bodyPr wrap="square" lIns="0" tIns="0" rIns="0" bIns="0" rtlCol="0"/>
              <a:lstStyle/>
              <a:p>
                <a:endParaRPr sz="1588"/>
              </a:p>
            </p:txBody>
          </p:sp>
        </p:grpSp>
        <p:sp>
          <p:nvSpPr>
            <p:cNvPr id="160" name="object 160"/>
            <p:cNvSpPr txBox="1"/>
            <p:nvPr/>
          </p:nvSpPr>
          <p:spPr>
            <a:xfrm>
              <a:off x="5520401" y="5226151"/>
              <a:ext cx="384922" cy="220700"/>
            </a:xfrm>
            <a:prstGeom prst="rect">
              <a:avLst/>
            </a:prstGeom>
            <a:ln w="30733">
              <a:solidFill>
                <a:srgbClr val="000000"/>
              </a:solidFill>
            </a:ln>
          </p:spPr>
          <p:txBody>
            <a:bodyPr vert="horz" wrap="square" lIns="0" tIns="57149" rIns="0" bIns="0" rtlCol="0">
              <a:spAutoFit/>
            </a:bodyPr>
            <a:lstStyle/>
            <a:p>
              <a:pPr marL="27456">
                <a:spcBef>
                  <a:spcPts val="449"/>
                </a:spcBef>
              </a:pPr>
              <a:r>
                <a:rPr sz="1059" b="1" spc="-9" dirty="0">
                  <a:latin typeface="Times New Roman"/>
                  <a:cs typeface="Times New Roman"/>
                </a:rPr>
                <a:t>Ifetch</a:t>
              </a:r>
              <a:endParaRPr sz="1059">
                <a:latin typeface="Times New Roman"/>
                <a:cs typeface="Times New Roman"/>
              </a:endParaRPr>
            </a:p>
          </p:txBody>
        </p:sp>
        <p:grpSp>
          <p:nvGrpSpPr>
            <p:cNvPr id="161" name="object 161"/>
            <p:cNvGrpSpPr/>
            <p:nvPr/>
          </p:nvGrpSpPr>
          <p:grpSpPr>
            <a:xfrm>
              <a:off x="5995603" y="5065152"/>
              <a:ext cx="2782421" cy="646019"/>
              <a:chOff x="6642617" y="5740505"/>
              <a:chExt cx="3153410" cy="732155"/>
            </a:xfrm>
          </p:grpSpPr>
          <p:sp>
            <p:nvSpPr>
              <p:cNvPr id="162" name="object 162"/>
              <p:cNvSpPr/>
              <p:nvPr/>
            </p:nvSpPr>
            <p:spPr>
              <a:xfrm>
                <a:off x="7464933" y="5756062"/>
                <a:ext cx="87630" cy="701040"/>
              </a:xfrm>
              <a:custGeom>
                <a:avLst/>
                <a:gdLst/>
                <a:ahLst/>
                <a:cxnLst/>
                <a:rect l="l" t="t" r="r" b="b"/>
                <a:pathLst>
                  <a:path w="87629" h="701039">
                    <a:moveTo>
                      <a:pt x="87610" y="0"/>
                    </a:moveTo>
                    <a:lnTo>
                      <a:pt x="0" y="0"/>
                    </a:lnTo>
                    <a:lnTo>
                      <a:pt x="0" y="701019"/>
                    </a:lnTo>
                    <a:lnTo>
                      <a:pt x="87610" y="701019"/>
                    </a:lnTo>
                    <a:lnTo>
                      <a:pt x="87610" y="0"/>
                    </a:lnTo>
                    <a:close/>
                  </a:path>
                </a:pathLst>
              </a:custGeom>
              <a:solidFill>
                <a:srgbClr val="00FF00"/>
              </a:solidFill>
            </p:spPr>
            <p:txBody>
              <a:bodyPr wrap="square" lIns="0" tIns="0" rIns="0" bIns="0" rtlCol="0"/>
              <a:lstStyle/>
              <a:p>
                <a:endParaRPr sz="1588"/>
              </a:p>
            </p:txBody>
          </p:sp>
          <p:sp>
            <p:nvSpPr>
              <p:cNvPr id="163" name="object 163"/>
              <p:cNvSpPr/>
              <p:nvPr/>
            </p:nvSpPr>
            <p:spPr>
              <a:xfrm>
                <a:off x="7464933" y="5756062"/>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64" name="object 164"/>
              <p:cNvSpPr/>
              <p:nvPr/>
            </p:nvSpPr>
            <p:spPr>
              <a:xfrm>
                <a:off x="9147810" y="5756062"/>
                <a:ext cx="87630" cy="701040"/>
              </a:xfrm>
              <a:custGeom>
                <a:avLst/>
                <a:gdLst/>
                <a:ahLst/>
                <a:cxnLst/>
                <a:rect l="l" t="t" r="r" b="b"/>
                <a:pathLst>
                  <a:path w="87629" h="701039">
                    <a:moveTo>
                      <a:pt x="87612" y="0"/>
                    </a:moveTo>
                    <a:lnTo>
                      <a:pt x="0" y="0"/>
                    </a:lnTo>
                    <a:lnTo>
                      <a:pt x="0" y="701019"/>
                    </a:lnTo>
                    <a:lnTo>
                      <a:pt x="87612" y="701019"/>
                    </a:lnTo>
                    <a:lnTo>
                      <a:pt x="87612" y="0"/>
                    </a:lnTo>
                    <a:close/>
                  </a:path>
                </a:pathLst>
              </a:custGeom>
              <a:solidFill>
                <a:srgbClr val="00FF00"/>
              </a:solidFill>
            </p:spPr>
            <p:txBody>
              <a:bodyPr wrap="square" lIns="0" tIns="0" rIns="0" bIns="0" rtlCol="0"/>
              <a:lstStyle/>
              <a:p>
                <a:endParaRPr sz="1588"/>
              </a:p>
            </p:txBody>
          </p:sp>
          <p:sp>
            <p:nvSpPr>
              <p:cNvPr id="165" name="object 165"/>
              <p:cNvSpPr/>
              <p:nvPr/>
            </p:nvSpPr>
            <p:spPr>
              <a:xfrm>
                <a:off x="9147810" y="5756062"/>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66" name="object 166"/>
              <p:cNvSpPr/>
              <p:nvPr/>
            </p:nvSpPr>
            <p:spPr>
              <a:xfrm>
                <a:off x="6658174" y="5756062"/>
                <a:ext cx="87630" cy="701040"/>
              </a:xfrm>
              <a:custGeom>
                <a:avLst/>
                <a:gdLst/>
                <a:ahLst/>
                <a:cxnLst/>
                <a:rect l="l" t="t" r="r" b="b"/>
                <a:pathLst>
                  <a:path w="87629" h="701039">
                    <a:moveTo>
                      <a:pt x="87610" y="0"/>
                    </a:moveTo>
                    <a:lnTo>
                      <a:pt x="0" y="0"/>
                    </a:lnTo>
                    <a:lnTo>
                      <a:pt x="0" y="701019"/>
                    </a:lnTo>
                    <a:lnTo>
                      <a:pt x="87610" y="701019"/>
                    </a:lnTo>
                    <a:lnTo>
                      <a:pt x="87610" y="0"/>
                    </a:lnTo>
                    <a:close/>
                  </a:path>
                </a:pathLst>
              </a:custGeom>
              <a:solidFill>
                <a:srgbClr val="00FF00"/>
              </a:solidFill>
            </p:spPr>
            <p:txBody>
              <a:bodyPr wrap="square" lIns="0" tIns="0" rIns="0" bIns="0" rtlCol="0"/>
              <a:lstStyle/>
              <a:p>
                <a:endParaRPr sz="1588"/>
              </a:p>
            </p:txBody>
          </p:sp>
          <p:sp>
            <p:nvSpPr>
              <p:cNvPr id="167" name="object 167"/>
              <p:cNvSpPr/>
              <p:nvPr/>
            </p:nvSpPr>
            <p:spPr>
              <a:xfrm>
                <a:off x="6658174" y="5756062"/>
                <a:ext cx="87630" cy="701040"/>
              </a:xfrm>
              <a:custGeom>
                <a:avLst/>
                <a:gdLst/>
                <a:ahLst/>
                <a:cxnLst/>
                <a:rect l="l" t="t" r="r" b="b"/>
                <a:pathLst>
                  <a:path w="87629" h="701039">
                    <a:moveTo>
                      <a:pt x="0" y="0"/>
                    </a:moveTo>
                    <a:lnTo>
                      <a:pt x="87611" y="0"/>
                    </a:lnTo>
                    <a:lnTo>
                      <a:pt x="87611" y="701020"/>
                    </a:lnTo>
                    <a:lnTo>
                      <a:pt x="0" y="701020"/>
                    </a:lnTo>
                    <a:lnTo>
                      <a:pt x="0" y="0"/>
                    </a:lnTo>
                    <a:close/>
                  </a:path>
                </a:pathLst>
              </a:custGeom>
              <a:ln w="30718">
                <a:solidFill>
                  <a:srgbClr val="000000"/>
                </a:solidFill>
              </a:ln>
            </p:spPr>
            <p:txBody>
              <a:bodyPr wrap="square" lIns="0" tIns="0" rIns="0" bIns="0" rtlCol="0"/>
              <a:lstStyle/>
              <a:p>
                <a:endParaRPr sz="1588"/>
              </a:p>
            </p:txBody>
          </p:sp>
          <p:sp>
            <p:nvSpPr>
              <p:cNvPr id="168" name="object 168"/>
              <p:cNvSpPr/>
              <p:nvPr/>
            </p:nvSpPr>
            <p:spPr>
              <a:xfrm>
                <a:off x="8275342" y="5760180"/>
                <a:ext cx="86995" cy="692150"/>
              </a:xfrm>
              <a:custGeom>
                <a:avLst/>
                <a:gdLst/>
                <a:ahLst/>
                <a:cxnLst/>
                <a:rect l="l" t="t" r="r" b="b"/>
                <a:pathLst>
                  <a:path w="86995" h="692150">
                    <a:moveTo>
                      <a:pt x="86394" y="0"/>
                    </a:moveTo>
                    <a:lnTo>
                      <a:pt x="0" y="0"/>
                    </a:lnTo>
                    <a:lnTo>
                      <a:pt x="0" y="691755"/>
                    </a:lnTo>
                    <a:lnTo>
                      <a:pt x="86394" y="691755"/>
                    </a:lnTo>
                    <a:lnTo>
                      <a:pt x="86394" y="0"/>
                    </a:lnTo>
                    <a:close/>
                  </a:path>
                </a:pathLst>
              </a:custGeom>
              <a:solidFill>
                <a:srgbClr val="00FF00"/>
              </a:solidFill>
            </p:spPr>
            <p:txBody>
              <a:bodyPr wrap="square" lIns="0" tIns="0" rIns="0" bIns="0" rtlCol="0"/>
              <a:lstStyle/>
              <a:p>
                <a:endParaRPr sz="1588"/>
              </a:p>
            </p:txBody>
          </p:sp>
          <p:sp>
            <p:nvSpPr>
              <p:cNvPr id="169" name="object 169"/>
              <p:cNvSpPr/>
              <p:nvPr/>
            </p:nvSpPr>
            <p:spPr>
              <a:xfrm>
                <a:off x="8275342" y="5760180"/>
                <a:ext cx="86995" cy="692150"/>
              </a:xfrm>
              <a:custGeom>
                <a:avLst/>
                <a:gdLst/>
                <a:ahLst/>
                <a:cxnLst/>
                <a:rect l="l" t="t" r="r" b="b"/>
                <a:pathLst>
                  <a:path w="86995" h="692150">
                    <a:moveTo>
                      <a:pt x="0" y="0"/>
                    </a:moveTo>
                    <a:lnTo>
                      <a:pt x="86394" y="0"/>
                    </a:lnTo>
                    <a:lnTo>
                      <a:pt x="86394" y="691755"/>
                    </a:lnTo>
                    <a:lnTo>
                      <a:pt x="0" y="691755"/>
                    </a:lnTo>
                    <a:lnTo>
                      <a:pt x="0" y="0"/>
                    </a:lnTo>
                    <a:close/>
                  </a:path>
                </a:pathLst>
              </a:custGeom>
              <a:ln w="30718">
                <a:solidFill>
                  <a:srgbClr val="000000"/>
                </a:solidFill>
              </a:ln>
            </p:spPr>
            <p:txBody>
              <a:bodyPr wrap="square" lIns="0" tIns="0" rIns="0" bIns="0" rtlCol="0"/>
              <a:lstStyle/>
              <a:p>
                <a:endParaRPr sz="1588"/>
              </a:p>
            </p:txBody>
          </p:sp>
          <p:sp>
            <p:nvSpPr>
              <p:cNvPr id="170" name="object 170"/>
              <p:cNvSpPr/>
              <p:nvPr/>
            </p:nvSpPr>
            <p:spPr>
              <a:xfrm>
                <a:off x="9343216" y="5908665"/>
                <a:ext cx="219075" cy="366395"/>
              </a:xfrm>
              <a:custGeom>
                <a:avLst/>
                <a:gdLst/>
                <a:ahLst/>
                <a:cxnLst/>
                <a:rect l="l" t="t" r="r" b="b"/>
                <a:pathLst>
                  <a:path w="219075" h="366395">
                    <a:moveTo>
                      <a:pt x="218527" y="0"/>
                    </a:moveTo>
                    <a:lnTo>
                      <a:pt x="0" y="0"/>
                    </a:lnTo>
                    <a:lnTo>
                      <a:pt x="0" y="366093"/>
                    </a:lnTo>
                    <a:lnTo>
                      <a:pt x="218527" y="366093"/>
                    </a:lnTo>
                    <a:lnTo>
                      <a:pt x="218527" y="0"/>
                    </a:lnTo>
                    <a:close/>
                  </a:path>
                </a:pathLst>
              </a:custGeom>
              <a:solidFill>
                <a:srgbClr val="0099FF"/>
              </a:solidFill>
            </p:spPr>
            <p:txBody>
              <a:bodyPr wrap="square" lIns="0" tIns="0" rIns="0" bIns="0" rtlCol="0"/>
              <a:lstStyle/>
              <a:p>
                <a:endParaRPr sz="1588"/>
              </a:p>
            </p:txBody>
          </p:sp>
          <p:sp>
            <p:nvSpPr>
              <p:cNvPr id="171" name="object 171"/>
              <p:cNvSpPr/>
              <p:nvPr/>
            </p:nvSpPr>
            <p:spPr>
              <a:xfrm>
                <a:off x="9343215" y="5908664"/>
                <a:ext cx="437515" cy="370840"/>
              </a:xfrm>
              <a:custGeom>
                <a:avLst/>
                <a:gdLst/>
                <a:ahLst/>
                <a:cxnLst/>
                <a:rect l="l" t="t" r="r" b="b"/>
                <a:pathLst>
                  <a:path w="437515" h="370839">
                    <a:moveTo>
                      <a:pt x="437054" y="0"/>
                    </a:moveTo>
                    <a:lnTo>
                      <a:pt x="0" y="0"/>
                    </a:lnTo>
                    <a:lnTo>
                      <a:pt x="0" y="370379"/>
                    </a:lnTo>
                    <a:lnTo>
                      <a:pt x="437054" y="370379"/>
                    </a:lnTo>
                    <a:lnTo>
                      <a:pt x="437054" y="0"/>
                    </a:lnTo>
                    <a:close/>
                  </a:path>
                </a:pathLst>
              </a:custGeom>
              <a:ln w="30733">
                <a:solidFill>
                  <a:srgbClr val="000000"/>
                </a:solidFill>
              </a:ln>
            </p:spPr>
            <p:txBody>
              <a:bodyPr wrap="square" lIns="0" tIns="0" rIns="0" bIns="0" rtlCol="0"/>
              <a:lstStyle/>
              <a:p>
                <a:endParaRPr sz="1588"/>
              </a:p>
            </p:txBody>
          </p:sp>
        </p:grpSp>
        <p:sp>
          <p:nvSpPr>
            <p:cNvPr id="172" name="object 172"/>
            <p:cNvSpPr txBox="1"/>
            <p:nvPr/>
          </p:nvSpPr>
          <p:spPr>
            <a:xfrm>
              <a:off x="8452633" y="5258580"/>
              <a:ext cx="244849" cy="174309"/>
            </a:xfrm>
            <a:prstGeom prst="rect">
              <a:avLst/>
            </a:prstGeom>
          </p:spPr>
          <p:txBody>
            <a:bodyPr vert="horz" wrap="square" lIns="0" tIns="11206" rIns="0" bIns="0" rtlCol="0">
              <a:spAutoFit/>
            </a:bodyPr>
            <a:lstStyle/>
            <a:p>
              <a:pPr marL="11206">
                <a:spcBef>
                  <a:spcPts val="88"/>
                </a:spcBef>
              </a:pPr>
              <a:r>
                <a:rPr sz="1059" b="1" spc="-22" dirty="0">
                  <a:latin typeface="Times New Roman"/>
                  <a:cs typeface="Times New Roman"/>
                </a:rPr>
                <a:t>Reg</a:t>
              </a:r>
              <a:endParaRPr sz="1059">
                <a:latin typeface="Times New Roman"/>
                <a:cs typeface="Times New Roman"/>
              </a:endParaRPr>
            </a:p>
          </p:txBody>
        </p:sp>
        <p:sp>
          <p:nvSpPr>
            <p:cNvPr id="174" name="object 174"/>
            <p:cNvSpPr/>
            <p:nvPr/>
          </p:nvSpPr>
          <p:spPr>
            <a:xfrm>
              <a:off x="3125473" y="1569178"/>
              <a:ext cx="0" cy="4680137"/>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75" name="object 175"/>
            <p:cNvSpPr/>
            <p:nvPr/>
          </p:nvSpPr>
          <p:spPr>
            <a:xfrm>
              <a:off x="3838755" y="1569178"/>
              <a:ext cx="0" cy="4680137"/>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76" name="object 176"/>
            <p:cNvSpPr/>
            <p:nvPr/>
          </p:nvSpPr>
          <p:spPr>
            <a:xfrm>
              <a:off x="4552035" y="1569178"/>
              <a:ext cx="0" cy="4680137"/>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77" name="object 177"/>
            <p:cNvSpPr/>
            <p:nvPr/>
          </p:nvSpPr>
          <p:spPr>
            <a:xfrm>
              <a:off x="6043441" y="1569178"/>
              <a:ext cx="0" cy="4680137"/>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78" name="object 178"/>
            <p:cNvSpPr/>
            <p:nvPr/>
          </p:nvSpPr>
          <p:spPr>
            <a:xfrm>
              <a:off x="5265315" y="1569178"/>
              <a:ext cx="0" cy="4680137"/>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79" name="object 179"/>
            <p:cNvSpPr/>
            <p:nvPr/>
          </p:nvSpPr>
          <p:spPr>
            <a:xfrm>
              <a:off x="6756722" y="1569178"/>
              <a:ext cx="0" cy="4680137"/>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80" name="object 180"/>
            <p:cNvSpPr/>
            <p:nvPr/>
          </p:nvSpPr>
          <p:spPr>
            <a:xfrm>
              <a:off x="7470004" y="1569178"/>
              <a:ext cx="0" cy="4680137"/>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81" name="object 181"/>
            <p:cNvSpPr/>
            <p:nvPr/>
          </p:nvSpPr>
          <p:spPr>
            <a:xfrm>
              <a:off x="8239596" y="1579603"/>
              <a:ext cx="0" cy="4680137"/>
            </a:xfrm>
            <a:custGeom>
              <a:avLst/>
              <a:gdLst/>
              <a:ahLst/>
              <a:cxnLst/>
              <a:rect l="l" t="t" r="r" b="b"/>
              <a:pathLst>
                <a:path h="5304155">
                  <a:moveTo>
                    <a:pt x="0" y="0"/>
                  </a:moveTo>
                  <a:lnTo>
                    <a:pt x="1" y="5304152"/>
                  </a:lnTo>
                </a:path>
              </a:pathLst>
            </a:custGeom>
            <a:ln w="30718">
              <a:solidFill>
                <a:srgbClr val="000000"/>
              </a:solidFill>
            </a:ln>
          </p:spPr>
          <p:txBody>
            <a:bodyPr wrap="square" lIns="0" tIns="0" rIns="0" bIns="0" rtlCol="0"/>
            <a:lstStyle/>
            <a:p>
              <a:endParaRPr sz="1588"/>
            </a:p>
          </p:txBody>
        </p:sp>
        <p:sp>
          <p:nvSpPr>
            <p:cNvPr id="183" name="object 183"/>
            <p:cNvSpPr txBox="1"/>
            <p:nvPr/>
          </p:nvSpPr>
          <p:spPr>
            <a:xfrm>
              <a:off x="7557305" y="1755593"/>
              <a:ext cx="552450" cy="215089"/>
            </a:xfrm>
            <a:prstGeom prst="rect">
              <a:avLst/>
            </a:prstGeom>
          </p:spPr>
          <p:txBody>
            <a:bodyPr vert="horz" wrap="square" lIns="0" tIns="11206" rIns="0" bIns="0" rtlCol="0">
              <a:spAutoFit/>
            </a:bodyPr>
            <a:lstStyle/>
            <a:p>
              <a:pPr marL="11206">
                <a:spcBef>
                  <a:spcPts val="88"/>
                </a:spcBef>
              </a:pPr>
              <a:r>
                <a:rPr sz="1324" b="1" dirty="0">
                  <a:latin typeface="Times New Roman"/>
                  <a:cs typeface="Times New Roman"/>
                </a:rPr>
                <a:t>Cycle</a:t>
              </a:r>
              <a:r>
                <a:rPr sz="1324" b="1" spc="-9" dirty="0">
                  <a:latin typeface="Times New Roman"/>
                  <a:cs typeface="Times New Roman"/>
                </a:rPr>
                <a:t> </a:t>
              </a:r>
              <a:r>
                <a:rPr sz="1324" b="1" spc="-44" dirty="0">
                  <a:latin typeface="Times New Roman"/>
                  <a:cs typeface="Times New Roman"/>
                </a:rPr>
                <a:t>8</a:t>
              </a:r>
              <a:endParaRPr sz="1324">
                <a:latin typeface="Times New Roman"/>
                <a:cs typeface="Times New Roman"/>
              </a:endParaRPr>
            </a:p>
          </p:txBody>
        </p:sp>
      </p:grpSp>
      <p:sp>
        <p:nvSpPr>
          <p:cNvPr id="184" name="object 184"/>
          <p:cNvSpPr txBox="1"/>
          <p:nvPr/>
        </p:nvSpPr>
        <p:spPr>
          <a:xfrm>
            <a:off x="531048" y="5715484"/>
            <a:ext cx="8438140" cy="651008"/>
          </a:xfrm>
          <a:prstGeom prst="rect">
            <a:avLst/>
          </a:prstGeom>
          <a:solidFill>
            <a:schemeClr val="bg1"/>
          </a:solidFill>
        </p:spPr>
        <p:txBody>
          <a:bodyPr vert="horz" wrap="square" lIns="0" tIns="70037" rIns="0" bIns="0" rtlCol="0">
            <a:spAutoFit/>
          </a:bodyPr>
          <a:lstStyle/>
          <a:p>
            <a:pPr marL="281843" indent="-270636">
              <a:spcBef>
                <a:spcPts val="552"/>
              </a:spcBef>
              <a:buFont typeface="Arial MT"/>
              <a:buChar char="•"/>
              <a:tabLst>
                <a:tab pos="281843" algn="l"/>
              </a:tabLst>
            </a:pPr>
            <a:r>
              <a:rPr sz="1677" b="1" dirty="0">
                <a:solidFill>
                  <a:srgbClr val="FF0000"/>
                </a:solidFill>
                <a:latin typeface="Times New Roman"/>
                <a:cs typeface="Times New Roman"/>
              </a:rPr>
              <a:t>What</a:t>
            </a:r>
            <a:r>
              <a:rPr sz="1677" b="1" spc="35" dirty="0">
                <a:solidFill>
                  <a:srgbClr val="FF0000"/>
                </a:solidFill>
                <a:latin typeface="Times New Roman"/>
                <a:cs typeface="Times New Roman"/>
              </a:rPr>
              <a:t> </a:t>
            </a:r>
            <a:r>
              <a:rPr sz="1677" b="1" dirty="0">
                <a:solidFill>
                  <a:srgbClr val="FF0000"/>
                </a:solidFill>
                <a:latin typeface="Times New Roman"/>
                <a:cs typeface="Times New Roman"/>
              </a:rPr>
              <a:t>can</a:t>
            </a:r>
            <a:r>
              <a:rPr sz="1677" b="1" spc="40" dirty="0">
                <a:solidFill>
                  <a:srgbClr val="FF0000"/>
                </a:solidFill>
                <a:latin typeface="Times New Roman"/>
                <a:cs typeface="Times New Roman"/>
              </a:rPr>
              <a:t> </a:t>
            </a:r>
            <a:r>
              <a:rPr sz="1677" b="1" dirty="0">
                <a:solidFill>
                  <a:srgbClr val="FF0000"/>
                </a:solidFill>
                <a:latin typeface="Times New Roman"/>
                <a:cs typeface="Times New Roman"/>
              </a:rPr>
              <a:t>be</a:t>
            </a:r>
            <a:r>
              <a:rPr sz="1677" b="1" spc="40" dirty="0">
                <a:solidFill>
                  <a:srgbClr val="FF0000"/>
                </a:solidFill>
                <a:latin typeface="Times New Roman"/>
                <a:cs typeface="Times New Roman"/>
              </a:rPr>
              <a:t> </a:t>
            </a:r>
            <a:r>
              <a:rPr sz="1677" b="1" dirty="0">
                <a:solidFill>
                  <a:srgbClr val="FF0000"/>
                </a:solidFill>
                <a:latin typeface="Times New Roman"/>
                <a:cs typeface="Times New Roman"/>
              </a:rPr>
              <a:t>done</a:t>
            </a:r>
            <a:r>
              <a:rPr sz="1677" b="1" spc="35" dirty="0">
                <a:solidFill>
                  <a:srgbClr val="FF0000"/>
                </a:solidFill>
                <a:latin typeface="Times New Roman"/>
                <a:cs typeface="Times New Roman"/>
              </a:rPr>
              <a:t> </a:t>
            </a:r>
            <a:r>
              <a:rPr sz="1677" b="1" dirty="0">
                <a:solidFill>
                  <a:srgbClr val="FF0000"/>
                </a:solidFill>
                <a:latin typeface="Times New Roman"/>
                <a:cs typeface="Times New Roman"/>
              </a:rPr>
              <a:t>with</a:t>
            </a:r>
            <a:r>
              <a:rPr sz="1677" b="1" spc="44" dirty="0">
                <a:solidFill>
                  <a:srgbClr val="FF0000"/>
                </a:solidFill>
                <a:latin typeface="Times New Roman"/>
                <a:cs typeface="Times New Roman"/>
              </a:rPr>
              <a:t> </a:t>
            </a:r>
            <a:r>
              <a:rPr sz="1677" b="1" dirty="0">
                <a:solidFill>
                  <a:srgbClr val="FF0000"/>
                </a:solidFill>
                <a:latin typeface="Times New Roman"/>
                <a:cs typeface="Times New Roman"/>
              </a:rPr>
              <a:t>the</a:t>
            </a:r>
            <a:r>
              <a:rPr sz="1677" b="1" spc="35" dirty="0">
                <a:solidFill>
                  <a:srgbClr val="FF0000"/>
                </a:solidFill>
                <a:latin typeface="Times New Roman"/>
                <a:cs typeface="Times New Roman"/>
              </a:rPr>
              <a:t> </a:t>
            </a:r>
            <a:r>
              <a:rPr sz="1677" b="1" dirty="0">
                <a:solidFill>
                  <a:srgbClr val="FF0000"/>
                </a:solidFill>
                <a:latin typeface="Times New Roman"/>
                <a:cs typeface="Times New Roman"/>
              </a:rPr>
              <a:t>3</a:t>
            </a:r>
            <a:r>
              <a:rPr sz="1677" b="1" spc="44" dirty="0">
                <a:solidFill>
                  <a:srgbClr val="FF0000"/>
                </a:solidFill>
                <a:latin typeface="Times New Roman"/>
                <a:cs typeface="Times New Roman"/>
              </a:rPr>
              <a:t> </a:t>
            </a:r>
            <a:r>
              <a:rPr sz="1677" b="1" dirty="0">
                <a:solidFill>
                  <a:srgbClr val="FF0000"/>
                </a:solidFill>
                <a:latin typeface="Times New Roman"/>
                <a:cs typeface="Times New Roman"/>
              </a:rPr>
              <a:t>instructions</a:t>
            </a:r>
            <a:r>
              <a:rPr sz="1677" b="1" spc="35" dirty="0">
                <a:solidFill>
                  <a:srgbClr val="FF0000"/>
                </a:solidFill>
                <a:latin typeface="Times New Roman"/>
                <a:cs typeface="Times New Roman"/>
              </a:rPr>
              <a:t> </a:t>
            </a:r>
            <a:r>
              <a:rPr sz="1677" b="1" dirty="0">
                <a:solidFill>
                  <a:srgbClr val="FF0000"/>
                </a:solidFill>
                <a:latin typeface="Times New Roman"/>
                <a:cs typeface="Times New Roman"/>
              </a:rPr>
              <a:t>between</a:t>
            </a:r>
            <a:r>
              <a:rPr sz="1677" b="1" spc="53" dirty="0">
                <a:solidFill>
                  <a:srgbClr val="FF0000"/>
                </a:solidFill>
                <a:latin typeface="Times New Roman"/>
                <a:cs typeface="Times New Roman"/>
              </a:rPr>
              <a:t> </a:t>
            </a:r>
            <a:r>
              <a:rPr sz="1677" b="1" dirty="0">
                <a:solidFill>
                  <a:srgbClr val="FF0000"/>
                </a:solidFill>
                <a:latin typeface="Times New Roman"/>
                <a:cs typeface="Times New Roman"/>
              </a:rPr>
              <a:t>beq</a:t>
            </a:r>
            <a:r>
              <a:rPr sz="1677" b="1" spc="40" dirty="0">
                <a:solidFill>
                  <a:srgbClr val="FF0000"/>
                </a:solidFill>
                <a:latin typeface="Times New Roman"/>
                <a:cs typeface="Times New Roman"/>
              </a:rPr>
              <a:t> </a:t>
            </a:r>
            <a:r>
              <a:rPr sz="1677" b="1" dirty="0">
                <a:solidFill>
                  <a:srgbClr val="FF0000"/>
                </a:solidFill>
                <a:latin typeface="Times New Roman"/>
                <a:cs typeface="Times New Roman"/>
              </a:rPr>
              <a:t>&amp;</a:t>
            </a:r>
            <a:r>
              <a:rPr sz="1677" b="1" spc="53" dirty="0">
                <a:solidFill>
                  <a:srgbClr val="FF0000"/>
                </a:solidFill>
                <a:latin typeface="Times New Roman"/>
                <a:cs typeface="Times New Roman"/>
              </a:rPr>
              <a:t> </a:t>
            </a:r>
            <a:r>
              <a:rPr sz="1677" b="1" spc="-18" dirty="0">
                <a:solidFill>
                  <a:srgbClr val="FF0000"/>
                </a:solidFill>
                <a:latin typeface="Times New Roman"/>
                <a:cs typeface="Times New Roman"/>
              </a:rPr>
              <a:t>xor?</a:t>
            </a:r>
            <a:endParaRPr sz="1677" dirty="0">
              <a:latin typeface="Times New Roman"/>
              <a:cs typeface="Times New Roman"/>
            </a:endParaRPr>
          </a:p>
          <a:p>
            <a:pPr marL="281843" indent="-270636">
              <a:spcBef>
                <a:spcPts val="468"/>
              </a:spcBef>
              <a:buFont typeface="Arial MT"/>
              <a:buChar char="•"/>
              <a:tabLst>
                <a:tab pos="281843" algn="l"/>
              </a:tabLst>
            </a:pPr>
            <a:r>
              <a:rPr sz="1677" b="1" dirty="0">
                <a:solidFill>
                  <a:srgbClr val="FF0000"/>
                </a:solidFill>
                <a:latin typeface="Times New Roman"/>
                <a:cs typeface="Times New Roman"/>
              </a:rPr>
              <a:t>Code</a:t>
            </a:r>
            <a:r>
              <a:rPr sz="1677" b="1" spc="40" dirty="0">
                <a:solidFill>
                  <a:srgbClr val="FF0000"/>
                </a:solidFill>
                <a:latin typeface="Times New Roman"/>
                <a:cs typeface="Times New Roman"/>
              </a:rPr>
              <a:t> </a:t>
            </a:r>
            <a:r>
              <a:rPr sz="1677" b="1" dirty="0">
                <a:solidFill>
                  <a:srgbClr val="FF0000"/>
                </a:solidFill>
                <a:latin typeface="Times New Roman"/>
                <a:cs typeface="Times New Roman"/>
              </a:rPr>
              <a:t>between</a:t>
            </a:r>
            <a:r>
              <a:rPr sz="1677" b="1" spc="40" dirty="0">
                <a:solidFill>
                  <a:srgbClr val="FF0000"/>
                </a:solidFill>
                <a:latin typeface="Times New Roman"/>
                <a:cs typeface="Times New Roman"/>
              </a:rPr>
              <a:t> </a:t>
            </a:r>
            <a:r>
              <a:rPr sz="1677" b="1" dirty="0" err="1">
                <a:solidFill>
                  <a:srgbClr val="FF0000"/>
                </a:solidFill>
                <a:latin typeface="Consolas"/>
                <a:cs typeface="Consolas"/>
              </a:rPr>
              <a:t>beq</a:t>
            </a:r>
            <a:r>
              <a:rPr lang="en-US" sz="1677" b="1" dirty="0">
                <a:solidFill>
                  <a:srgbClr val="FF0000"/>
                </a:solidFill>
                <a:latin typeface="Consolas"/>
                <a:cs typeface="Consolas"/>
              </a:rPr>
              <a:t> </a:t>
            </a:r>
            <a:r>
              <a:rPr sz="1677" b="1" dirty="0">
                <a:solidFill>
                  <a:srgbClr val="FF0000"/>
                </a:solidFill>
                <a:latin typeface="Times New Roman"/>
                <a:cs typeface="Times New Roman"/>
              </a:rPr>
              <a:t>&amp;</a:t>
            </a:r>
            <a:r>
              <a:rPr lang="en-US" sz="1677" b="1" dirty="0">
                <a:solidFill>
                  <a:srgbClr val="FF0000"/>
                </a:solidFill>
                <a:latin typeface="Times New Roman"/>
                <a:cs typeface="Times New Roman"/>
              </a:rPr>
              <a:t> </a:t>
            </a:r>
            <a:r>
              <a:rPr sz="1677" b="1" dirty="0" err="1">
                <a:solidFill>
                  <a:srgbClr val="FF0000"/>
                </a:solidFill>
                <a:latin typeface="Consolas"/>
                <a:cs typeface="Consolas"/>
              </a:rPr>
              <a:t>xor</a:t>
            </a:r>
            <a:r>
              <a:rPr sz="1677" b="1" spc="-463" dirty="0">
                <a:solidFill>
                  <a:srgbClr val="FF0000"/>
                </a:solidFill>
                <a:latin typeface="Consolas"/>
                <a:cs typeface="Consolas"/>
              </a:rPr>
              <a:t> </a:t>
            </a:r>
            <a:r>
              <a:rPr sz="1677" b="1" dirty="0">
                <a:solidFill>
                  <a:srgbClr val="FF0000"/>
                </a:solidFill>
                <a:latin typeface="Times New Roman"/>
                <a:cs typeface="Times New Roman"/>
              </a:rPr>
              <a:t>must</a:t>
            </a:r>
            <a:r>
              <a:rPr sz="1677" b="1" spc="35" dirty="0">
                <a:solidFill>
                  <a:srgbClr val="FF0000"/>
                </a:solidFill>
                <a:latin typeface="Times New Roman"/>
                <a:cs typeface="Times New Roman"/>
              </a:rPr>
              <a:t> </a:t>
            </a:r>
            <a:r>
              <a:rPr sz="1677" b="1" dirty="0">
                <a:solidFill>
                  <a:srgbClr val="FF0000"/>
                </a:solidFill>
                <a:latin typeface="Times New Roman"/>
                <a:cs typeface="Times New Roman"/>
              </a:rPr>
              <a:t>not</a:t>
            </a:r>
            <a:r>
              <a:rPr sz="1677" b="1" spc="35" dirty="0">
                <a:solidFill>
                  <a:srgbClr val="FF0000"/>
                </a:solidFill>
                <a:latin typeface="Times New Roman"/>
                <a:cs typeface="Times New Roman"/>
              </a:rPr>
              <a:t> </a:t>
            </a:r>
            <a:r>
              <a:rPr sz="1677" b="1" dirty="0">
                <a:solidFill>
                  <a:srgbClr val="FF0000"/>
                </a:solidFill>
                <a:latin typeface="Times New Roman"/>
                <a:cs typeface="Times New Roman"/>
              </a:rPr>
              <a:t>start</a:t>
            </a:r>
            <a:r>
              <a:rPr sz="1677" b="1" spc="35" dirty="0">
                <a:solidFill>
                  <a:srgbClr val="FF0000"/>
                </a:solidFill>
                <a:latin typeface="Times New Roman"/>
                <a:cs typeface="Times New Roman"/>
              </a:rPr>
              <a:t> </a:t>
            </a:r>
            <a:r>
              <a:rPr sz="1677" b="1" dirty="0">
                <a:solidFill>
                  <a:srgbClr val="FF0000"/>
                </a:solidFill>
                <a:latin typeface="Times New Roman"/>
                <a:cs typeface="Times New Roman"/>
              </a:rPr>
              <a:t>until</a:t>
            </a:r>
            <a:r>
              <a:rPr sz="1677" b="1" spc="31" dirty="0">
                <a:solidFill>
                  <a:srgbClr val="FF0000"/>
                </a:solidFill>
                <a:latin typeface="Times New Roman"/>
                <a:cs typeface="Times New Roman"/>
              </a:rPr>
              <a:t> </a:t>
            </a:r>
            <a:r>
              <a:rPr sz="1677" b="1" dirty="0">
                <a:solidFill>
                  <a:srgbClr val="FF0000"/>
                </a:solidFill>
                <a:latin typeface="Times New Roman"/>
                <a:cs typeface="Times New Roman"/>
              </a:rPr>
              <a:t>we</a:t>
            </a:r>
            <a:r>
              <a:rPr sz="1677" b="1" spc="44" dirty="0">
                <a:solidFill>
                  <a:srgbClr val="FF0000"/>
                </a:solidFill>
                <a:latin typeface="Times New Roman"/>
                <a:cs typeface="Times New Roman"/>
              </a:rPr>
              <a:t> </a:t>
            </a:r>
            <a:r>
              <a:rPr sz="1677" b="1" dirty="0">
                <a:solidFill>
                  <a:srgbClr val="FF0000"/>
                </a:solidFill>
                <a:latin typeface="Times New Roman"/>
                <a:cs typeface="Times New Roman"/>
              </a:rPr>
              <a:t>know</a:t>
            </a:r>
            <a:r>
              <a:rPr sz="1677" b="1" spc="49" dirty="0">
                <a:solidFill>
                  <a:srgbClr val="FF0000"/>
                </a:solidFill>
                <a:latin typeface="Times New Roman"/>
                <a:cs typeface="Times New Roman"/>
              </a:rPr>
              <a:t> </a:t>
            </a:r>
            <a:r>
              <a:rPr sz="1677" b="1" dirty="0">
                <a:solidFill>
                  <a:srgbClr val="FF0000"/>
                </a:solidFill>
                <a:latin typeface="Times New Roman"/>
                <a:cs typeface="Times New Roman"/>
              </a:rPr>
              <a:t>beq</a:t>
            </a:r>
            <a:r>
              <a:rPr sz="1677" b="1" spc="40" dirty="0">
                <a:solidFill>
                  <a:srgbClr val="FF0000"/>
                </a:solidFill>
                <a:latin typeface="Times New Roman"/>
                <a:cs typeface="Times New Roman"/>
              </a:rPr>
              <a:t> </a:t>
            </a:r>
            <a:r>
              <a:rPr sz="1677" b="1" dirty="0">
                <a:solidFill>
                  <a:srgbClr val="FF0000"/>
                </a:solidFill>
                <a:latin typeface="Times New Roman"/>
                <a:cs typeface="Times New Roman"/>
              </a:rPr>
              <a:t>won’t</a:t>
            </a:r>
            <a:r>
              <a:rPr sz="1677" b="1" spc="35" dirty="0">
                <a:solidFill>
                  <a:srgbClr val="FF0000"/>
                </a:solidFill>
                <a:latin typeface="Times New Roman"/>
                <a:cs typeface="Times New Roman"/>
              </a:rPr>
              <a:t> </a:t>
            </a:r>
            <a:r>
              <a:rPr sz="1677" b="1" dirty="0">
                <a:solidFill>
                  <a:srgbClr val="FF0000"/>
                </a:solidFill>
                <a:latin typeface="Times New Roman"/>
                <a:cs typeface="Times New Roman"/>
              </a:rPr>
              <a:t>branch</a:t>
            </a:r>
            <a:r>
              <a:rPr sz="1677" b="1" spc="40" dirty="0">
                <a:solidFill>
                  <a:srgbClr val="FF0000"/>
                </a:solidFill>
                <a:latin typeface="Times New Roman"/>
                <a:cs typeface="Times New Roman"/>
              </a:rPr>
              <a:t> </a:t>
            </a:r>
            <a:r>
              <a:rPr sz="1677" b="1" dirty="0">
                <a:solidFill>
                  <a:srgbClr val="FF0000"/>
                </a:solidFill>
                <a:latin typeface="Times New Roman"/>
                <a:cs typeface="Times New Roman"/>
              </a:rPr>
              <a:t>=&gt;</a:t>
            </a:r>
            <a:r>
              <a:rPr sz="1677" b="1" spc="40" dirty="0">
                <a:solidFill>
                  <a:srgbClr val="FF0000"/>
                </a:solidFill>
                <a:latin typeface="Times New Roman"/>
                <a:cs typeface="Times New Roman"/>
              </a:rPr>
              <a:t> </a:t>
            </a:r>
            <a:r>
              <a:rPr sz="1677" b="1" dirty="0">
                <a:solidFill>
                  <a:srgbClr val="FF0000"/>
                </a:solidFill>
                <a:latin typeface="Times New Roman"/>
                <a:cs typeface="Times New Roman"/>
              </a:rPr>
              <a:t>3</a:t>
            </a:r>
            <a:r>
              <a:rPr sz="1677" b="1" spc="40" dirty="0">
                <a:solidFill>
                  <a:srgbClr val="FF0000"/>
                </a:solidFill>
                <a:latin typeface="Times New Roman"/>
                <a:cs typeface="Times New Roman"/>
              </a:rPr>
              <a:t> </a:t>
            </a:r>
            <a:r>
              <a:rPr sz="1677" b="1" spc="-9" dirty="0">
                <a:solidFill>
                  <a:srgbClr val="FF0000"/>
                </a:solidFill>
                <a:latin typeface="Times New Roman"/>
                <a:cs typeface="Times New Roman"/>
              </a:rPr>
              <a:t>stalls</a:t>
            </a:r>
            <a:endParaRPr sz="1677" dirty="0">
              <a:latin typeface="Times New Roman"/>
              <a:cs typeface="Times New Roman"/>
            </a:endParaRPr>
          </a:p>
        </p:txBody>
      </p:sp>
      <p:grpSp>
        <p:nvGrpSpPr>
          <p:cNvPr id="194" name="Group 193">
            <a:extLst>
              <a:ext uri="{FF2B5EF4-FFF2-40B4-BE49-F238E27FC236}">
                <a16:creationId xmlns:a16="http://schemas.microsoft.com/office/drawing/2014/main" id="{7B04A56E-D114-1B24-C2CE-0B737443D462}"/>
              </a:ext>
            </a:extLst>
          </p:cNvPr>
          <p:cNvGrpSpPr/>
          <p:nvPr/>
        </p:nvGrpSpPr>
        <p:grpSpPr>
          <a:xfrm>
            <a:off x="483817" y="1642117"/>
            <a:ext cx="2493633" cy="3944188"/>
            <a:chOff x="483817" y="1642117"/>
            <a:chExt cx="2493633" cy="3944188"/>
          </a:xfrm>
        </p:grpSpPr>
        <p:sp>
          <p:nvSpPr>
            <p:cNvPr id="4" name="object 4"/>
            <p:cNvSpPr txBox="1"/>
            <p:nvPr/>
          </p:nvSpPr>
          <p:spPr>
            <a:xfrm>
              <a:off x="815893" y="2243234"/>
              <a:ext cx="1273549"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12:</a:t>
              </a:r>
              <a:r>
                <a:rPr sz="1677" b="1" spc="40" dirty="0">
                  <a:solidFill>
                    <a:srgbClr val="FC0128"/>
                  </a:solidFill>
                  <a:latin typeface="Times New Roman"/>
                  <a:cs typeface="Times New Roman"/>
                </a:rPr>
                <a:t> </a:t>
              </a:r>
              <a:r>
                <a:rPr sz="1677" b="1" dirty="0">
                  <a:solidFill>
                    <a:srgbClr val="FC0128"/>
                  </a:solidFill>
                  <a:latin typeface="Times New Roman"/>
                  <a:cs typeface="Times New Roman"/>
                </a:rPr>
                <a:t>beqz</a:t>
              </a:r>
              <a:r>
                <a:rPr sz="1677" b="1" spc="40" dirty="0">
                  <a:solidFill>
                    <a:srgbClr val="FC0128"/>
                  </a:solidFill>
                  <a:latin typeface="Times New Roman"/>
                  <a:cs typeface="Times New Roman"/>
                </a:rPr>
                <a:t> </a:t>
              </a:r>
              <a:r>
                <a:rPr sz="1677" b="1" dirty="0">
                  <a:solidFill>
                    <a:srgbClr val="FF0000"/>
                  </a:solidFill>
                  <a:latin typeface="Times New Roman"/>
                  <a:cs typeface="Times New Roman"/>
                </a:rPr>
                <a:t>r1</a:t>
              </a:r>
              <a:r>
                <a:rPr sz="1677" b="1" dirty="0">
                  <a:solidFill>
                    <a:srgbClr val="FC0128"/>
                  </a:solidFill>
                  <a:latin typeface="Times New Roman"/>
                  <a:cs typeface="Times New Roman"/>
                </a:rPr>
                <a:t>,</a:t>
              </a:r>
              <a:r>
                <a:rPr sz="1677" b="1" spc="35" dirty="0">
                  <a:solidFill>
                    <a:srgbClr val="FC0128"/>
                  </a:solidFill>
                  <a:latin typeface="Times New Roman"/>
                  <a:cs typeface="Times New Roman"/>
                </a:rPr>
                <a:t> </a:t>
              </a:r>
              <a:r>
                <a:rPr sz="1677" b="1" spc="-44" dirty="0">
                  <a:solidFill>
                    <a:srgbClr val="FC0128"/>
                  </a:solidFill>
                  <a:latin typeface="Times New Roman"/>
                  <a:cs typeface="Times New Roman"/>
                </a:rPr>
                <a:t>6</a:t>
              </a:r>
              <a:endParaRPr sz="1677">
                <a:latin typeface="Times New Roman"/>
                <a:cs typeface="Times New Roman"/>
              </a:endParaRPr>
            </a:p>
          </p:txBody>
        </p:sp>
        <p:sp>
          <p:nvSpPr>
            <p:cNvPr id="5" name="object 5"/>
            <p:cNvSpPr txBox="1"/>
            <p:nvPr/>
          </p:nvSpPr>
          <p:spPr>
            <a:xfrm>
              <a:off x="815893" y="3004338"/>
              <a:ext cx="1597959" cy="269399"/>
            </a:xfrm>
            <a:prstGeom prst="rect">
              <a:avLst/>
            </a:prstGeom>
          </p:spPr>
          <p:txBody>
            <a:bodyPr vert="horz" wrap="square" lIns="0" tIns="11206" rIns="0" bIns="0" rtlCol="0">
              <a:spAutoFit/>
            </a:bodyPr>
            <a:lstStyle/>
            <a:p>
              <a:pPr marL="11206">
                <a:spcBef>
                  <a:spcPts val="88"/>
                </a:spcBef>
              </a:pPr>
              <a:r>
                <a:rPr sz="1677" b="1" dirty="0">
                  <a:solidFill>
                    <a:srgbClr val="FC0128"/>
                  </a:solidFill>
                  <a:latin typeface="Times New Roman"/>
                  <a:cs typeface="Times New Roman"/>
                </a:rPr>
                <a:t>16:</a:t>
              </a:r>
              <a:r>
                <a:rPr sz="1677" b="1" spc="26" dirty="0">
                  <a:solidFill>
                    <a:srgbClr val="FC0128"/>
                  </a:solidFill>
                  <a:latin typeface="Times New Roman"/>
                  <a:cs typeface="Times New Roman"/>
                </a:rPr>
                <a:t> </a:t>
              </a:r>
              <a:r>
                <a:rPr sz="1677" b="1" dirty="0">
                  <a:solidFill>
                    <a:srgbClr val="FC0128"/>
                  </a:solidFill>
                  <a:latin typeface="Times New Roman"/>
                  <a:cs typeface="Times New Roman"/>
                </a:rPr>
                <a:t>and</a:t>
              </a:r>
              <a:r>
                <a:rPr sz="1677" b="1" spc="35" dirty="0">
                  <a:solidFill>
                    <a:srgbClr val="FC0128"/>
                  </a:solidFill>
                  <a:latin typeface="Times New Roman"/>
                  <a:cs typeface="Times New Roman"/>
                </a:rPr>
                <a:t> </a:t>
              </a:r>
              <a:r>
                <a:rPr sz="1677" b="1" dirty="0">
                  <a:solidFill>
                    <a:srgbClr val="FC0128"/>
                  </a:solidFill>
                  <a:latin typeface="Times New Roman"/>
                  <a:cs typeface="Times New Roman"/>
                </a:rPr>
                <a:t>r2,</a:t>
              </a:r>
              <a:r>
                <a:rPr sz="1677" b="1" spc="26" dirty="0">
                  <a:solidFill>
                    <a:srgbClr val="FC0128"/>
                  </a:solidFill>
                  <a:latin typeface="Times New Roman"/>
                  <a:cs typeface="Times New Roman"/>
                </a:rPr>
                <a:t> </a:t>
              </a:r>
              <a:r>
                <a:rPr sz="1677" b="1" dirty="0">
                  <a:solidFill>
                    <a:srgbClr val="FC0128"/>
                  </a:solidFill>
                  <a:latin typeface="Times New Roman"/>
                  <a:cs typeface="Times New Roman"/>
                </a:rPr>
                <a:t>r3,</a:t>
              </a:r>
              <a:r>
                <a:rPr sz="1677" b="1" spc="26" dirty="0">
                  <a:solidFill>
                    <a:srgbClr val="FC0128"/>
                  </a:solidFill>
                  <a:latin typeface="Times New Roman"/>
                  <a:cs typeface="Times New Roman"/>
                </a:rPr>
                <a:t> </a:t>
              </a:r>
              <a:r>
                <a:rPr sz="1677" b="1" spc="-22" dirty="0">
                  <a:solidFill>
                    <a:srgbClr val="FC0128"/>
                  </a:solidFill>
                  <a:latin typeface="Times New Roman"/>
                  <a:cs typeface="Times New Roman"/>
                </a:rPr>
                <a:t>r5</a:t>
              </a:r>
              <a:endParaRPr sz="1677" dirty="0">
                <a:latin typeface="Times New Roman"/>
                <a:cs typeface="Times New Roman"/>
              </a:endParaRPr>
            </a:p>
          </p:txBody>
        </p:sp>
        <p:sp>
          <p:nvSpPr>
            <p:cNvPr id="6" name="object 6"/>
            <p:cNvSpPr txBox="1"/>
            <p:nvPr/>
          </p:nvSpPr>
          <p:spPr>
            <a:xfrm>
              <a:off x="555749" y="2185383"/>
              <a:ext cx="163046" cy="1465047"/>
            </a:xfrm>
            <a:prstGeom prst="rect">
              <a:avLst/>
            </a:prstGeom>
          </p:spPr>
          <p:txBody>
            <a:bodyPr vert="horz" wrap="square" lIns="0" tIns="11206" rIns="0" bIns="0" rtlCol="0">
              <a:spAutoFit/>
            </a:bodyPr>
            <a:lstStyle/>
            <a:p>
              <a:pPr marL="34180">
                <a:lnSpc>
                  <a:spcPts val="2277"/>
                </a:lnSpc>
                <a:spcBef>
                  <a:spcPts val="88"/>
                </a:spcBef>
              </a:pPr>
              <a:r>
                <a:rPr sz="1941" b="1" i="1" spc="-44" dirty="0">
                  <a:latin typeface="Times New Roman"/>
                  <a:cs typeface="Times New Roman"/>
                </a:rPr>
                <a:t>I</a:t>
              </a:r>
              <a:endParaRPr sz="1941">
                <a:latin typeface="Times New Roman"/>
                <a:cs typeface="Times New Roman"/>
              </a:endParaRPr>
            </a:p>
            <a:p>
              <a:pPr marL="11206" marR="4483" indent="2802" algn="just">
                <a:lnSpc>
                  <a:spcPct val="97300"/>
                </a:lnSpc>
                <a:spcBef>
                  <a:spcPts val="9"/>
                </a:spcBef>
              </a:pPr>
              <a:r>
                <a:rPr sz="1941" b="1" i="1" spc="-44" dirty="0">
                  <a:latin typeface="Times New Roman"/>
                  <a:cs typeface="Times New Roman"/>
                </a:rPr>
                <a:t>n s t </a:t>
              </a:r>
              <a:r>
                <a:rPr sz="1941" b="1" i="1" spc="-88" dirty="0">
                  <a:latin typeface="Times New Roman"/>
                  <a:cs typeface="Times New Roman"/>
                </a:rPr>
                <a:t>r.</a:t>
              </a:r>
              <a:endParaRPr sz="1941">
                <a:latin typeface="Times New Roman"/>
                <a:cs typeface="Times New Roman"/>
              </a:endParaRPr>
            </a:p>
          </p:txBody>
        </p:sp>
        <p:sp>
          <p:nvSpPr>
            <p:cNvPr id="7" name="object 7"/>
            <p:cNvSpPr txBox="1"/>
            <p:nvPr/>
          </p:nvSpPr>
          <p:spPr>
            <a:xfrm>
              <a:off x="516112" y="3586821"/>
              <a:ext cx="2085975" cy="1999484"/>
            </a:xfrm>
            <a:prstGeom prst="rect">
              <a:avLst/>
            </a:prstGeom>
          </p:spPr>
          <p:txBody>
            <a:bodyPr vert="horz" wrap="square" lIns="0" tIns="166968" rIns="0" bIns="0" rtlCol="0">
              <a:spAutoFit/>
            </a:bodyPr>
            <a:lstStyle/>
            <a:p>
              <a:pPr marL="33619">
                <a:spcBef>
                  <a:spcPts val="1315"/>
                </a:spcBef>
              </a:pPr>
              <a:r>
                <a:rPr sz="2912" b="1" i="1" baseline="-39141" dirty="0">
                  <a:latin typeface="Times New Roman"/>
                  <a:cs typeface="Times New Roman"/>
                </a:rPr>
                <a:t>O</a:t>
              </a:r>
              <a:r>
                <a:rPr sz="2912" b="1" i="1" spc="469" baseline="-39141" dirty="0">
                  <a:latin typeface="Times New Roman"/>
                  <a:cs typeface="Times New Roman"/>
                </a:rPr>
                <a:t> </a:t>
              </a:r>
              <a:r>
                <a:rPr sz="1677" b="1" dirty="0">
                  <a:solidFill>
                    <a:srgbClr val="FC0128"/>
                  </a:solidFill>
                  <a:latin typeface="Times New Roman"/>
                  <a:cs typeface="Times New Roman"/>
                </a:rPr>
                <a:t>20:</a:t>
              </a:r>
              <a:r>
                <a:rPr sz="1677" b="1" spc="22" dirty="0">
                  <a:solidFill>
                    <a:srgbClr val="FC0128"/>
                  </a:solidFill>
                  <a:latin typeface="Times New Roman"/>
                  <a:cs typeface="Times New Roman"/>
                </a:rPr>
                <a:t> </a:t>
              </a:r>
              <a:r>
                <a:rPr sz="1677" b="1" dirty="0">
                  <a:solidFill>
                    <a:srgbClr val="FC0128"/>
                  </a:solidFill>
                  <a:latin typeface="Times New Roman"/>
                  <a:cs typeface="Times New Roman"/>
                </a:rPr>
                <a:t>or</a:t>
              </a:r>
              <a:r>
                <a:rPr sz="1677" b="1" spc="437" dirty="0">
                  <a:solidFill>
                    <a:srgbClr val="FC0128"/>
                  </a:solidFill>
                  <a:latin typeface="Times New Roman"/>
                  <a:cs typeface="Times New Roman"/>
                </a:rPr>
                <a:t> </a:t>
              </a:r>
              <a:r>
                <a:rPr sz="1677" b="1" dirty="0">
                  <a:solidFill>
                    <a:srgbClr val="FC0128"/>
                  </a:solidFill>
                  <a:latin typeface="Times New Roman"/>
                  <a:cs typeface="Times New Roman"/>
                </a:rPr>
                <a:t>r6,</a:t>
              </a:r>
              <a:r>
                <a:rPr sz="1677" b="1" spc="22" dirty="0">
                  <a:solidFill>
                    <a:srgbClr val="FC0128"/>
                  </a:solidFill>
                  <a:latin typeface="Times New Roman"/>
                  <a:cs typeface="Times New Roman"/>
                </a:rPr>
                <a:t> </a:t>
              </a:r>
              <a:r>
                <a:rPr sz="1677" b="1" dirty="0">
                  <a:solidFill>
                    <a:srgbClr val="FC0128"/>
                  </a:solidFill>
                  <a:latin typeface="Times New Roman"/>
                  <a:cs typeface="Times New Roman"/>
                </a:rPr>
                <a:t>r1,</a:t>
              </a:r>
              <a:r>
                <a:rPr sz="1677" b="1" spc="22" dirty="0">
                  <a:solidFill>
                    <a:srgbClr val="FC0128"/>
                  </a:solidFill>
                  <a:latin typeface="Times New Roman"/>
                  <a:cs typeface="Times New Roman"/>
                </a:rPr>
                <a:t> </a:t>
              </a:r>
              <a:r>
                <a:rPr sz="1677" b="1" spc="-22" dirty="0">
                  <a:solidFill>
                    <a:srgbClr val="FC0128"/>
                  </a:solidFill>
                  <a:latin typeface="Times New Roman"/>
                  <a:cs typeface="Times New Roman"/>
                </a:rPr>
                <a:t>r7</a:t>
              </a:r>
              <a:endParaRPr sz="1677" dirty="0">
                <a:latin typeface="Times New Roman"/>
                <a:cs typeface="Times New Roman"/>
              </a:endParaRPr>
            </a:p>
            <a:p>
              <a:pPr marL="73963">
                <a:spcBef>
                  <a:spcPts val="1227"/>
                </a:spcBef>
              </a:pPr>
              <a:r>
                <a:rPr sz="1941" b="1" i="1" spc="-44" dirty="0">
                  <a:latin typeface="Times New Roman"/>
                  <a:cs typeface="Times New Roman"/>
                </a:rPr>
                <a:t>r</a:t>
              </a:r>
              <a:endParaRPr sz="1941" dirty="0">
                <a:latin typeface="Times New Roman"/>
                <a:cs typeface="Times New Roman"/>
              </a:endParaRPr>
            </a:p>
            <a:p>
              <a:pPr marL="60515">
                <a:lnSpc>
                  <a:spcPts val="2162"/>
                </a:lnSpc>
                <a:spcBef>
                  <a:spcPts val="278"/>
                </a:spcBef>
                <a:tabLst>
                  <a:tab pos="310419" algn="l"/>
                </a:tabLst>
              </a:pPr>
              <a:r>
                <a:rPr sz="2912" b="1" i="1" spc="-66" baseline="8838" dirty="0">
                  <a:latin typeface="Times New Roman"/>
                  <a:cs typeface="Times New Roman"/>
                </a:rPr>
                <a:t>d</a:t>
              </a:r>
              <a:r>
                <a:rPr sz="2912" b="1" i="1" baseline="8838" dirty="0">
                  <a:latin typeface="Times New Roman"/>
                  <a:cs typeface="Times New Roman"/>
                </a:rPr>
                <a:t>	</a:t>
              </a:r>
              <a:r>
                <a:rPr sz="1677" b="1" dirty="0">
                  <a:solidFill>
                    <a:srgbClr val="FC0128"/>
                  </a:solidFill>
                  <a:latin typeface="Times New Roman"/>
                  <a:cs typeface="Times New Roman"/>
                </a:rPr>
                <a:t>24:</a:t>
              </a:r>
              <a:r>
                <a:rPr sz="1677" b="1" spc="26" dirty="0">
                  <a:solidFill>
                    <a:srgbClr val="FC0128"/>
                  </a:solidFill>
                  <a:latin typeface="Times New Roman"/>
                  <a:cs typeface="Times New Roman"/>
                </a:rPr>
                <a:t> </a:t>
              </a:r>
              <a:r>
                <a:rPr sz="1677" b="1" dirty="0">
                  <a:solidFill>
                    <a:srgbClr val="FC0128"/>
                  </a:solidFill>
                  <a:latin typeface="Times New Roman"/>
                  <a:cs typeface="Times New Roman"/>
                </a:rPr>
                <a:t>add</a:t>
              </a:r>
              <a:r>
                <a:rPr sz="1677" b="1" spc="35" dirty="0">
                  <a:solidFill>
                    <a:srgbClr val="FC0128"/>
                  </a:solidFill>
                  <a:latin typeface="Times New Roman"/>
                  <a:cs typeface="Times New Roman"/>
                </a:rPr>
                <a:t> </a:t>
              </a:r>
              <a:r>
                <a:rPr sz="1677" b="1" dirty="0">
                  <a:solidFill>
                    <a:srgbClr val="FC0128"/>
                  </a:solidFill>
                  <a:latin typeface="Times New Roman"/>
                  <a:cs typeface="Times New Roman"/>
                </a:rPr>
                <a:t>r8,</a:t>
              </a:r>
              <a:r>
                <a:rPr sz="1677" b="1" spc="26" dirty="0">
                  <a:solidFill>
                    <a:srgbClr val="FC0128"/>
                  </a:solidFill>
                  <a:latin typeface="Times New Roman"/>
                  <a:cs typeface="Times New Roman"/>
                </a:rPr>
                <a:t> </a:t>
              </a:r>
              <a:r>
                <a:rPr sz="1677" b="1" dirty="0">
                  <a:solidFill>
                    <a:srgbClr val="FC0128"/>
                  </a:solidFill>
                  <a:latin typeface="Times New Roman"/>
                  <a:cs typeface="Times New Roman"/>
                </a:rPr>
                <a:t>r1,</a:t>
              </a:r>
              <a:r>
                <a:rPr sz="1677" b="1" spc="26" dirty="0">
                  <a:solidFill>
                    <a:srgbClr val="FC0128"/>
                  </a:solidFill>
                  <a:latin typeface="Times New Roman"/>
                  <a:cs typeface="Times New Roman"/>
                </a:rPr>
                <a:t> </a:t>
              </a:r>
              <a:r>
                <a:rPr sz="1677" b="1" spc="-22" dirty="0">
                  <a:solidFill>
                    <a:srgbClr val="FC0128"/>
                  </a:solidFill>
                  <a:latin typeface="Times New Roman"/>
                  <a:cs typeface="Times New Roman"/>
                </a:rPr>
                <a:t>r9</a:t>
              </a:r>
              <a:endParaRPr sz="1677" dirty="0">
                <a:latin typeface="Times New Roman"/>
                <a:cs typeface="Times New Roman"/>
              </a:endParaRPr>
            </a:p>
            <a:p>
              <a:pPr marL="73963" marR="1901740" indent="-7284">
                <a:lnSpc>
                  <a:spcPts val="2206"/>
                </a:lnSpc>
                <a:spcBef>
                  <a:spcPts val="4"/>
                </a:spcBef>
              </a:pPr>
              <a:r>
                <a:rPr sz="1941" b="1" i="1" spc="-44" dirty="0">
                  <a:latin typeface="Times New Roman"/>
                  <a:cs typeface="Times New Roman"/>
                </a:rPr>
                <a:t>e r</a:t>
              </a:r>
              <a:endParaRPr sz="1941" dirty="0">
                <a:latin typeface="Times New Roman"/>
                <a:cs typeface="Times New Roman"/>
              </a:endParaRPr>
            </a:p>
            <a:p>
              <a:pPr marL="310980">
                <a:lnSpc>
                  <a:spcPts val="1522"/>
                </a:lnSpc>
              </a:pPr>
              <a:r>
                <a:rPr lang="en-US" sz="1677" b="1" dirty="0">
                  <a:solidFill>
                    <a:srgbClr val="FC0128"/>
                  </a:solidFill>
                  <a:latin typeface="Times New Roman"/>
                  <a:cs typeface="Times New Roman"/>
                </a:rPr>
                <a:t>40</a:t>
              </a:r>
              <a:r>
                <a:rPr sz="1677" b="1" dirty="0">
                  <a:solidFill>
                    <a:srgbClr val="FC0128"/>
                  </a:solidFill>
                  <a:latin typeface="Times New Roman"/>
                  <a:cs typeface="Times New Roman"/>
                </a:rPr>
                <a:t>:</a:t>
              </a:r>
              <a:r>
                <a:rPr sz="1677" b="1" spc="40" dirty="0">
                  <a:solidFill>
                    <a:srgbClr val="FC0128"/>
                  </a:solidFill>
                  <a:latin typeface="Times New Roman"/>
                  <a:cs typeface="Times New Roman"/>
                </a:rPr>
                <a:t> </a:t>
              </a:r>
              <a:r>
                <a:rPr sz="1677" b="1" dirty="0">
                  <a:solidFill>
                    <a:srgbClr val="FC0128"/>
                  </a:solidFill>
                  <a:latin typeface="Times New Roman"/>
                  <a:cs typeface="Times New Roman"/>
                </a:rPr>
                <a:t>xor</a:t>
              </a:r>
              <a:r>
                <a:rPr sz="1677" b="1" spc="13" dirty="0">
                  <a:solidFill>
                    <a:srgbClr val="FC0128"/>
                  </a:solidFill>
                  <a:latin typeface="Times New Roman"/>
                  <a:cs typeface="Times New Roman"/>
                </a:rPr>
                <a:t> </a:t>
              </a:r>
              <a:r>
                <a:rPr sz="1677" b="1" dirty="0">
                  <a:solidFill>
                    <a:srgbClr val="FC0128"/>
                  </a:solidFill>
                  <a:latin typeface="Times New Roman"/>
                  <a:cs typeface="Times New Roman"/>
                </a:rPr>
                <a:t>r10,</a:t>
              </a:r>
              <a:r>
                <a:rPr sz="1677" b="1" spc="40" dirty="0">
                  <a:solidFill>
                    <a:srgbClr val="FC0128"/>
                  </a:solidFill>
                  <a:latin typeface="Times New Roman"/>
                  <a:cs typeface="Times New Roman"/>
                </a:rPr>
                <a:t> </a:t>
              </a:r>
              <a:r>
                <a:rPr sz="1677" b="1" dirty="0">
                  <a:solidFill>
                    <a:srgbClr val="FC0128"/>
                  </a:solidFill>
                  <a:latin typeface="Times New Roman"/>
                  <a:cs typeface="Times New Roman"/>
                </a:rPr>
                <a:t>r1,</a:t>
              </a:r>
              <a:r>
                <a:rPr sz="1677" b="1" spc="35" dirty="0">
                  <a:solidFill>
                    <a:srgbClr val="FC0128"/>
                  </a:solidFill>
                  <a:latin typeface="Times New Roman"/>
                  <a:cs typeface="Times New Roman"/>
                </a:rPr>
                <a:t> </a:t>
              </a:r>
              <a:r>
                <a:rPr sz="1677" b="1" spc="-22" dirty="0">
                  <a:solidFill>
                    <a:srgbClr val="FC0128"/>
                  </a:solidFill>
                  <a:latin typeface="Times New Roman"/>
                  <a:cs typeface="Times New Roman"/>
                </a:rPr>
                <a:t>r11</a:t>
              </a:r>
              <a:endParaRPr sz="1677" dirty="0">
                <a:latin typeface="Times New Roman"/>
                <a:cs typeface="Times New Roman"/>
              </a:endParaRPr>
            </a:p>
          </p:txBody>
        </p:sp>
        <p:sp>
          <p:nvSpPr>
            <p:cNvPr id="8" name="object 8"/>
            <p:cNvSpPr/>
            <p:nvPr/>
          </p:nvSpPr>
          <p:spPr>
            <a:xfrm>
              <a:off x="705131" y="2237992"/>
              <a:ext cx="72278" cy="2957793"/>
            </a:xfrm>
            <a:custGeom>
              <a:avLst/>
              <a:gdLst/>
              <a:ahLst/>
              <a:cxnLst/>
              <a:rect l="l" t="t" r="r" b="b"/>
              <a:pathLst>
                <a:path w="81915" h="3352165">
                  <a:moveTo>
                    <a:pt x="27304" y="3269853"/>
                  </a:moveTo>
                  <a:lnTo>
                    <a:pt x="0" y="3269853"/>
                  </a:lnTo>
                  <a:lnTo>
                    <a:pt x="40957" y="3351839"/>
                  </a:lnTo>
                  <a:lnTo>
                    <a:pt x="75081" y="3283532"/>
                  </a:lnTo>
                  <a:lnTo>
                    <a:pt x="27304" y="3283532"/>
                  </a:lnTo>
                  <a:lnTo>
                    <a:pt x="27304" y="3269853"/>
                  </a:lnTo>
                  <a:close/>
                </a:path>
                <a:path w="81915" h="3352165">
                  <a:moveTo>
                    <a:pt x="54608" y="0"/>
                  </a:moveTo>
                  <a:lnTo>
                    <a:pt x="27303" y="0"/>
                  </a:lnTo>
                  <a:lnTo>
                    <a:pt x="27304" y="3283532"/>
                  </a:lnTo>
                  <a:lnTo>
                    <a:pt x="54609" y="3283532"/>
                  </a:lnTo>
                  <a:lnTo>
                    <a:pt x="54608" y="0"/>
                  </a:lnTo>
                  <a:close/>
                </a:path>
                <a:path w="81915" h="3352165">
                  <a:moveTo>
                    <a:pt x="81914" y="3269853"/>
                  </a:moveTo>
                  <a:lnTo>
                    <a:pt x="54609" y="3269853"/>
                  </a:lnTo>
                  <a:lnTo>
                    <a:pt x="54609" y="3283532"/>
                  </a:lnTo>
                  <a:lnTo>
                    <a:pt x="75081" y="3283532"/>
                  </a:lnTo>
                  <a:lnTo>
                    <a:pt x="81914" y="3269853"/>
                  </a:lnTo>
                  <a:close/>
                </a:path>
              </a:pathLst>
            </a:custGeom>
            <a:solidFill>
              <a:srgbClr val="000000"/>
            </a:solidFill>
          </p:spPr>
          <p:txBody>
            <a:bodyPr wrap="square" lIns="0" tIns="0" rIns="0" bIns="0" rtlCol="0"/>
            <a:lstStyle/>
            <a:p>
              <a:endParaRPr sz="1588"/>
            </a:p>
          </p:txBody>
        </p:sp>
        <p:sp>
          <p:nvSpPr>
            <p:cNvPr id="186" name="object 186"/>
            <p:cNvSpPr/>
            <p:nvPr/>
          </p:nvSpPr>
          <p:spPr>
            <a:xfrm>
              <a:off x="1576715" y="2492289"/>
              <a:ext cx="1400735" cy="2902884"/>
            </a:xfrm>
            <a:custGeom>
              <a:avLst/>
              <a:gdLst/>
              <a:ahLst/>
              <a:cxnLst/>
              <a:rect l="l" t="t" r="r" b="b"/>
              <a:pathLst>
                <a:path w="1587500" h="3289935">
                  <a:moveTo>
                    <a:pt x="77819" y="3197437"/>
                  </a:moveTo>
                  <a:lnTo>
                    <a:pt x="47100" y="3197437"/>
                  </a:lnTo>
                  <a:lnTo>
                    <a:pt x="93177" y="3289670"/>
                  </a:lnTo>
                  <a:lnTo>
                    <a:pt x="131575" y="3212809"/>
                  </a:lnTo>
                  <a:lnTo>
                    <a:pt x="77819" y="3212809"/>
                  </a:lnTo>
                  <a:lnTo>
                    <a:pt x="77819" y="3197437"/>
                  </a:lnTo>
                  <a:close/>
                </a:path>
                <a:path w="1587500" h="3289935">
                  <a:moveTo>
                    <a:pt x="1556383" y="2945330"/>
                  </a:moveTo>
                  <a:lnTo>
                    <a:pt x="84695" y="2945330"/>
                  </a:lnTo>
                  <a:lnTo>
                    <a:pt x="77819" y="2952214"/>
                  </a:lnTo>
                  <a:lnTo>
                    <a:pt x="77819" y="3212809"/>
                  </a:lnTo>
                  <a:lnTo>
                    <a:pt x="108536" y="3212809"/>
                  </a:lnTo>
                  <a:lnTo>
                    <a:pt x="108536" y="2976076"/>
                  </a:lnTo>
                  <a:lnTo>
                    <a:pt x="93177" y="2976076"/>
                  </a:lnTo>
                  <a:lnTo>
                    <a:pt x="108536" y="2960704"/>
                  </a:lnTo>
                  <a:lnTo>
                    <a:pt x="1556383" y="2960704"/>
                  </a:lnTo>
                  <a:lnTo>
                    <a:pt x="1556383" y="2945330"/>
                  </a:lnTo>
                  <a:close/>
                </a:path>
                <a:path w="1587500" h="3289935">
                  <a:moveTo>
                    <a:pt x="139255" y="3197437"/>
                  </a:moveTo>
                  <a:lnTo>
                    <a:pt x="108536" y="3197437"/>
                  </a:lnTo>
                  <a:lnTo>
                    <a:pt x="108536" y="3212809"/>
                  </a:lnTo>
                  <a:lnTo>
                    <a:pt x="131575" y="3212809"/>
                  </a:lnTo>
                  <a:lnTo>
                    <a:pt x="139255" y="3197437"/>
                  </a:lnTo>
                  <a:close/>
                </a:path>
                <a:path w="1587500" h="3289935">
                  <a:moveTo>
                    <a:pt x="108536" y="2960704"/>
                  </a:moveTo>
                  <a:lnTo>
                    <a:pt x="93177" y="2976076"/>
                  </a:lnTo>
                  <a:lnTo>
                    <a:pt x="108536" y="2976076"/>
                  </a:lnTo>
                  <a:lnTo>
                    <a:pt x="108536" y="2960704"/>
                  </a:lnTo>
                  <a:close/>
                </a:path>
                <a:path w="1587500" h="3289935">
                  <a:moveTo>
                    <a:pt x="1587102" y="2945330"/>
                  </a:moveTo>
                  <a:lnTo>
                    <a:pt x="1571743" y="2945330"/>
                  </a:lnTo>
                  <a:lnTo>
                    <a:pt x="1556383" y="2960704"/>
                  </a:lnTo>
                  <a:lnTo>
                    <a:pt x="108536" y="2960704"/>
                  </a:lnTo>
                  <a:lnTo>
                    <a:pt x="108536" y="2976076"/>
                  </a:lnTo>
                  <a:lnTo>
                    <a:pt x="1580225" y="2976076"/>
                  </a:lnTo>
                  <a:lnTo>
                    <a:pt x="1587102" y="2969193"/>
                  </a:lnTo>
                  <a:lnTo>
                    <a:pt x="1587102" y="2945330"/>
                  </a:lnTo>
                  <a:close/>
                </a:path>
                <a:path w="1587500" h="3289935">
                  <a:moveTo>
                    <a:pt x="1556383" y="328966"/>
                  </a:moveTo>
                  <a:lnTo>
                    <a:pt x="1556383" y="2960704"/>
                  </a:lnTo>
                  <a:lnTo>
                    <a:pt x="1571743" y="2945330"/>
                  </a:lnTo>
                  <a:lnTo>
                    <a:pt x="1587102" y="2945330"/>
                  </a:lnTo>
                  <a:lnTo>
                    <a:pt x="1587102" y="344338"/>
                  </a:lnTo>
                  <a:lnTo>
                    <a:pt x="1571743" y="344338"/>
                  </a:lnTo>
                  <a:lnTo>
                    <a:pt x="1556383" y="328966"/>
                  </a:lnTo>
                  <a:close/>
                </a:path>
                <a:path w="1587500" h="3289935">
                  <a:moveTo>
                    <a:pt x="30717" y="0"/>
                  </a:moveTo>
                  <a:lnTo>
                    <a:pt x="0" y="0"/>
                  </a:lnTo>
                  <a:lnTo>
                    <a:pt x="0" y="337456"/>
                  </a:lnTo>
                  <a:lnTo>
                    <a:pt x="6875" y="344338"/>
                  </a:lnTo>
                  <a:lnTo>
                    <a:pt x="1556383" y="344338"/>
                  </a:lnTo>
                  <a:lnTo>
                    <a:pt x="1556383" y="328966"/>
                  </a:lnTo>
                  <a:lnTo>
                    <a:pt x="30717" y="328966"/>
                  </a:lnTo>
                  <a:lnTo>
                    <a:pt x="15358" y="313594"/>
                  </a:lnTo>
                  <a:lnTo>
                    <a:pt x="30717" y="313594"/>
                  </a:lnTo>
                  <a:lnTo>
                    <a:pt x="30717" y="0"/>
                  </a:lnTo>
                  <a:close/>
                </a:path>
                <a:path w="1587500" h="3289935">
                  <a:moveTo>
                    <a:pt x="1580225" y="313594"/>
                  </a:moveTo>
                  <a:lnTo>
                    <a:pt x="30717" y="313594"/>
                  </a:lnTo>
                  <a:lnTo>
                    <a:pt x="30717" y="328966"/>
                  </a:lnTo>
                  <a:lnTo>
                    <a:pt x="1556383" y="328966"/>
                  </a:lnTo>
                  <a:lnTo>
                    <a:pt x="1571743" y="344338"/>
                  </a:lnTo>
                  <a:lnTo>
                    <a:pt x="1587102" y="344338"/>
                  </a:lnTo>
                  <a:lnTo>
                    <a:pt x="1587102" y="320476"/>
                  </a:lnTo>
                  <a:lnTo>
                    <a:pt x="1580225" y="313594"/>
                  </a:lnTo>
                  <a:close/>
                </a:path>
                <a:path w="1587500" h="3289935">
                  <a:moveTo>
                    <a:pt x="30717" y="313594"/>
                  </a:moveTo>
                  <a:lnTo>
                    <a:pt x="15358" y="313594"/>
                  </a:lnTo>
                  <a:lnTo>
                    <a:pt x="30717" y="328966"/>
                  </a:lnTo>
                  <a:lnTo>
                    <a:pt x="30717" y="313594"/>
                  </a:lnTo>
                  <a:close/>
                </a:path>
              </a:pathLst>
            </a:custGeom>
            <a:solidFill>
              <a:srgbClr val="000000"/>
            </a:solidFill>
          </p:spPr>
          <p:txBody>
            <a:bodyPr wrap="square" lIns="0" tIns="0" rIns="0" bIns="0" rtlCol="0"/>
            <a:lstStyle/>
            <a:p>
              <a:endParaRPr sz="1588"/>
            </a:p>
          </p:txBody>
        </p:sp>
        <p:sp>
          <p:nvSpPr>
            <p:cNvPr id="188" name="object 188"/>
            <p:cNvSpPr txBox="1"/>
            <p:nvPr/>
          </p:nvSpPr>
          <p:spPr>
            <a:xfrm>
              <a:off x="483817" y="1642117"/>
              <a:ext cx="1872065" cy="226759"/>
            </a:xfrm>
            <a:prstGeom prst="rect">
              <a:avLst/>
            </a:prstGeom>
          </p:spPr>
          <p:txBody>
            <a:bodyPr vert="horz" wrap="square" lIns="0" tIns="11206" rIns="0" bIns="0" rtlCol="0">
              <a:spAutoFit/>
            </a:bodyPr>
            <a:lstStyle/>
            <a:p>
              <a:pPr marL="11206">
                <a:spcBef>
                  <a:spcPts val="88"/>
                </a:spcBef>
              </a:pPr>
              <a:r>
                <a:rPr sz="1400" dirty="0">
                  <a:latin typeface="Times New Roman"/>
                  <a:cs typeface="Times New Roman"/>
                </a:rPr>
                <a:t>Addresses:</a:t>
              </a:r>
              <a:r>
                <a:rPr sz="1400" spc="49" dirty="0">
                  <a:latin typeface="Times New Roman"/>
                  <a:cs typeface="Times New Roman"/>
                </a:rPr>
                <a:t> </a:t>
              </a:r>
              <a:r>
                <a:rPr sz="1400" dirty="0">
                  <a:latin typeface="Times New Roman"/>
                  <a:cs typeface="Times New Roman"/>
                </a:rPr>
                <a:t>in</a:t>
              </a:r>
              <a:r>
                <a:rPr sz="1400" spc="57" dirty="0">
                  <a:latin typeface="Times New Roman"/>
                  <a:cs typeface="Times New Roman"/>
                </a:rPr>
                <a:t> </a:t>
              </a:r>
              <a:r>
                <a:rPr sz="1400" spc="-9" dirty="0">
                  <a:latin typeface="Times New Roman"/>
                  <a:cs typeface="Times New Roman"/>
                </a:rPr>
                <a:t>decimal</a:t>
              </a:r>
              <a:endParaRPr sz="1400" dirty="0">
                <a:latin typeface="Times New Roman"/>
                <a:cs typeface="Times New Roman"/>
              </a:endParaRPr>
            </a:p>
          </p:txBody>
        </p:sp>
        <p:sp>
          <p:nvSpPr>
            <p:cNvPr id="189" name="object 189"/>
            <p:cNvSpPr/>
            <p:nvPr/>
          </p:nvSpPr>
          <p:spPr>
            <a:xfrm>
              <a:off x="890956" y="1903256"/>
              <a:ext cx="76883" cy="343401"/>
            </a:xfrm>
            <a:custGeom>
              <a:avLst/>
              <a:gdLst/>
              <a:ahLst/>
              <a:cxnLst/>
              <a:rect l="l" t="t" r="r" b="b"/>
              <a:pathLst>
                <a:path w="114934" h="516255">
                  <a:moveTo>
                    <a:pt x="67480" y="436173"/>
                  </a:moveTo>
                  <a:lnTo>
                    <a:pt x="33755" y="441425"/>
                  </a:lnTo>
                  <a:lnTo>
                    <a:pt x="86819" y="516133"/>
                  </a:lnTo>
                  <a:lnTo>
                    <a:pt x="108038" y="449675"/>
                  </a:lnTo>
                  <a:lnTo>
                    <a:pt x="69579" y="449675"/>
                  </a:lnTo>
                  <a:lnTo>
                    <a:pt x="67480" y="436173"/>
                  </a:lnTo>
                  <a:close/>
                </a:path>
                <a:path w="114934" h="516255">
                  <a:moveTo>
                    <a:pt x="80970" y="434072"/>
                  </a:moveTo>
                  <a:lnTo>
                    <a:pt x="67480" y="436173"/>
                  </a:lnTo>
                  <a:lnTo>
                    <a:pt x="69579" y="449675"/>
                  </a:lnTo>
                  <a:lnTo>
                    <a:pt x="83069" y="447574"/>
                  </a:lnTo>
                  <a:lnTo>
                    <a:pt x="80970" y="434072"/>
                  </a:lnTo>
                  <a:close/>
                </a:path>
                <a:path w="114934" h="516255">
                  <a:moveTo>
                    <a:pt x="114696" y="428820"/>
                  </a:moveTo>
                  <a:lnTo>
                    <a:pt x="80970" y="434072"/>
                  </a:lnTo>
                  <a:lnTo>
                    <a:pt x="83069" y="447574"/>
                  </a:lnTo>
                  <a:lnTo>
                    <a:pt x="69579" y="449675"/>
                  </a:lnTo>
                  <a:lnTo>
                    <a:pt x="108038" y="449675"/>
                  </a:lnTo>
                  <a:lnTo>
                    <a:pt x="114696" y="428820"/>
                  </a:lnTo>
                  <a:close/>
                </a:path>
                <a:path w="114934" h="516255">
                  <a:moveTo>
                    <a:pt x="13490" y="0"/>
                  </a:moveTo>
                  <a:lnTo>
                    <a:pt x="0" y="2100"/>
                  </a:lnTo>
                  <a:lnTo>
                    <a:pt x="67480" y="436173"/>
                  </a:lnTo>
                  <a:lnTo>
                    <a:pt x="80970" y="434072"/>
                  </a:lnTo>
                  <a:lnTo>
                    <a:pt x="13490" y="0"/>
                  </a:lnTo>
                  <a:close/>
                </a:path>
              </a:pathLst>
            </a:custGeom>
            <a:solidFill>
              <a:srgbClr val="000000"/>
            </a:solidFill>
          </p:spPr>
          <p:txBody>
            <a:bodyPr wrap="square" lIns="0" tIns="0" rIns="0" bIns="0" rtlCol="0"/>
            <a:lstStyle/>
            <a:p>
              <a:endParaRPr sz="1588"/>
            </a:p>
          </p:txBody>
        </p:sp>
      </p:grpSp>
      <p:sp>
        <p:nvSpPr>
          <p:cNvPr id="190" name="object 190"/>
          <p:cNvSpPr txBox="1"/>
          <p:nvPr/>
        </p:nvSpPr>
        <p:spPr>
          <a:xfrm>
            <a:off x="531048" y="6410492"/>
            <a:ext cx="97490" cy="243656"/>
          </a:xfrm>
          <a:prstGeom prst="rect">
            <a:avLst/>
          </a:prstGeom>
        </p:spPr>
        <p:txBody>
          <a:bodyPr vert="horz" wrap="square" lIns="0" tIns="0" rIns="0" bIns="0" rtlCol="0">
            <a:spAutoFit/>
          </a:bodyPr>
          <a:lstStyle/>
          <a:p>
            <a:pPr marL="11206">
              <a:lnSpc>
                <a:spcPts val="1941"/>
              </a:lnSpc>
            </a:pPr>
            <a:r>
              <a:rPr sz="1677" spc="-44" dirty="0">
                <a:solidFill>
                  <a:srgbClr val="FF0000"/>
                </a:solidFill>
                <a:latin typeface="Arial MT"/>
                <a:cs typeface="Arial MT"/>
              </a:rPr>
              <a:t>•</a:t>
            </a:r>
            <a:endParaRPr sz="1677" dirty="0">
              <a:latin typeface="Arial MT"/>
              <a:cs typeface="Arial MT"/>
            </a:endParaRPr>
          </a:p>
        </p:txBody>
      </p:sp>
      <p:sp>
        <p:nvSpPr>
          <p:cNvPr id="191" name="object 191"/>
          <p:cNvSpPr txBox="1"/>
          <p:nvPr/>
        </p:nvSpPr>
        <p:spPr>
          <a:xfrm>
            <a:off x="802090" y="6426957"/>
            <a:ext cx="6871447" cy="243656"/>
          </a:xfrm>
          <a:prstGeom prst="rect">
            <a:avLst/>
          </a:prstGeom>
          <a:solidFill>
            <a:schemeClr val="bg1"/>
          </a:solidFill>
        </p:spPr>
        <p:txBody>
          <a:bodyPr vert="horz" wrap="square" lIns="0" tIns="0" rIns="0" bIns="0" rtlCol="0">
            <a:spAutoFit/>
          </a:bodyPr>
          <a:lstStyle/>
          <a:p>
            <a:pPr marL="11206">
              <a:lnSpc>
                <a:spcPts val="1919"/>
              </a:lnSpc>
            </a:pPr>
            <a:r>
              <a:rPr sz="1677" b="1" dirty="0">
                <a:solidFill>
                  <a:srgbClr val="FF0000"/>
                </a:solidFill>
                <a:latin typeface="Times New Roman"/>
                <a:cs typeface="Times New Roman"/>
              </a:rPr>
              <a:t>Adding</a:t>
            </a:r>
            <a:r>
              <a:rPr sz="1677" b="1" spc="44" dirty="0">
                <a:solidFill>
                  <a:srgbClr val="FF0000"/>
                </a:solidFill>
                <a:latin typeface="Times New Roman"/>
                <a:cs typeface="Times New Roman"/>
              </a:rPr>
              <a:t> </a:t>
            </a:r>
            <a:r>
              <a:rPr sz="1677" b="1" dirty="0">
                <a:solidFill>
                  <a:srgbClr val="FF0000"/>
                </a:solidFill>
                <a:latin typeface="Times New Roman"/>
                <a:cs typeface="Times New Roman"/>
              </a:rPr>
              <a:t>3</a:t>
            </a:r>
            <a:r>
              <a:rPr sz="1677" b="1" spc="49" dirty="0">
                <a:solidFill>
                  <a:srgbClr val="FF0000"/>
                </a:solidFill>
                <a:latin typeface="Times New Roman"/>
                <a:cs typeface="Times New Roman"/>
              </a:rPr>
              <a:t> </a:t>
            </a:r>
            <a:r>
              <a:rPr sz="1677" b="1" dirty="0">
                <a:solidFill>
                  <a:srgbClr val="FF0000"/>
                </a:solidFill>
                <a:latin typeface="Times New Roman"/>
                <a:cs typeface="Times New Roman"/>
              </a:rPr>
              <a:t>cycle</a:t>
            </a:r>
            <a:r>
              <a:rPr sz="1677" b="1" spc="49" dirty="0">
                <a:solidFill>
                  <a:srgbClr val="FF0000"/>
                </a:solidFill>
                <a:latin typeface="Times New Roman"/>
                <a:cs typeface="Times New Roman"/>
              </a:rPr>
              <a:t> </a:t>
            </a:r>
            <a:r>
              <a:rPr sz="1677" b="1" dirty="0">
                <a:solidFill>
                  <a:srgbClr val="FF0000"/>
                </a:solidFill>
                <a:latin typeface="Times New Roman"/>
                <a:cs typeface="Times New Roman"/>
              </a:rPr>
              <a:t>stall</a:t>
            </a:r>
            <a:r>
              <a:rPr sz="1677" b="1" spc="40" dirty="0">
                <a:solidFill>
                  <a:srgbClr val="FF0000"/>
                </a:solidFill>
                <a:latin typeface="Times New Roman"/>
                <a:cs typeface="Times New Roman"/>
              </a:rPr>
              <a:t> </a:t>
            </a:r>
            <a:r>
              <a:rPr sz="1677" b="1" dirty="0">
                <a:solidFill>
                  <a:srgbClr val="FF0000"/>
                </a:solidFill>
                <a:latin typeface="Times New Roman"/>
                <a:cs typeface="Times New Roman"/>
              </a:rPr>
              <a:t>after</a:t>
            </a:r>
            <a:r>
              <a:rPr sz="1677" b="1" spc="18" dirty="0">
                <a:solidFill>
                  <a:srgbClr val="FF0000"/>
                </a:solidFill>
                <a:latin typeface="Times New Roman"/>
                <a:cs typeface="Times New Roman"/>
              </a:rPr>
              <a:t> </a:t>
            </a:r>
            <a:r>
              <a:rPr sz="1677" b="1" dirty="0">
                <a:solidFill>
                  <a:srgbClr val="FF0000"/>
                </a:solidFill>
                <a:latin typeface="Times New Roman"/>
                <a:cs typeface="Times New Roman"/>
              </a:rPr>
              <a:t>every</a:t>
            </a:r>
            <a:r>
              <a:rPr sz="1677" b="1" spc="44" dirty="0">
                <a:solidFill>
                  <a:srgbClr val="FF0000"/>
                </a:solidFill>
                <a:latin typeface="Times New Roman"/>
                <a:cs typeface="Times New Roman"/>
              </a:rPr>
              <a:t> </a:t>
            </a:r>
            <a:r>
              <a:rPr sz="1677" b="1" dirty="0">
                <a:solidFill>
                  <a:srgbClr val="FF0000"/>
                </a:solidFill>
                <a:latin typeface="Times New Roman"/>
                <a:cs typeface="Times New Roman"/>
              </a:rPr>
              <a:t>branch</a:t>
            </a:r>
            <a:r>
              <a:rPr sz="1677" b="1" spc="49" dirty="0">
                <a:solidFill>
                  <a:srgbClr val="FF0000"/>
                </a:solidFill>
                <a:latin typeface="Times New Roman"/>
                <a:cs typeface="Times New Roman"/>
              </a:rPr>
              <a:t> </a:t>
            </a:r>
            <a:r>
              <a:rPr sz="1677" b="1" dirty="0">
                <a:solidFill>
                  <a:srgbClr val="FF0000"/>
                </a:solidFill>
                <a:latin typeface="Times New Roman"/>
                <a:cs typeface="Times New Roman"/>
              </a:rPr>
              <a:t>(1/7</a:t>
            </a:r>
            <a:r>
              <a:rPr sz="1677" b="1" spc="49" dirty="0">
                <a:solidFill>
                  <a:srgbClr val="FF0000"/>
                </a:solidFill>
                <a:latin typeface="Times New Roman"/>
                <a:cs typeface="Times New Roman"/>
              </a:rPr>
              <a:t> </a:t>
            </a:r>
            <a:r>
              <a:rPr sz="1677" b="1" dirty="0">
                <a:solidFill>
                  <a:srgbClr val="FF0000"/>
                </a:solidFill>
                <a:latin typeface="Times New Roman"/>
                <a:cs typeface="Times New Roman"/>
              </a:rPr>
              <a:t>of</a:t>
            </a:r>
            <a:r>
              <a:rPr sz="1677" b="1" spc="44" dirty="0">
                <a:solidFill>
                  <a:srgbClr val="FF0000"/>
                </a:solidFill>
                <a:latin typeface="Times New Roman"/>
                <a:cs typeface="Times New Roman"/>
              </a:rPr>
              <a:t> </a:t>
            </a:r>
            <a:r>
              <a:rPr sz="1677" b="1" dirty="0">
                <a:solidFill>
                  <a:srgbClr val="FF0000"/>
                </a:solidFill>
                <a:latin typeface="Times New Roman"/>
                <a:cs typeface="Times New Roman"/>
              </a:rPr>
              <a:t>instructions)</a:t>
            </a:r>
            <a:r>
              <a:rPr sz="1677" b="1" spc="44" dirty="0">
                <a:solidFill>
                  <a:srgbClr val="FF0000"/>
                </a:solidFill>
                <a:latin typeface="Times New Roman"/>
                <a:cs typeface="Times New Roman"/>
              </a:rPr>
              <a:t> </a:t>
            </a:r>
            <a:r>
              <a:rPr sz="1677" b="1" dirty="0">
                <a:solidFill>
                  <a:srgbClr val="FF0000"/>
                </a:solidFill>
                <a:latin typeface="Times New Roman"/>
                <a:cs typeface="Times New Roman"/>
              </a:rPr>
              <a:t>=&gt;</a:t>
            </a:r>
            <a:r>
              <a:rPr sz="1677" b="1" spc="49" dirty="0">
                <a:solidFill>
                  <a:srgbClr val="FF0000"/>
                </a:solidFill>
                <a:latin typeface="Times New Roman"/>
                <a:cs typeface="Times New Roman"/>
              </a:rPr>
              <a:t> </a:t>
            </a:r>
            <a:r>
              <a:rPr sz="1677" b="1" dirty="0">
                <a:solidFill>
                  <a:srgbClr val="FF0000"/>
                </a:solidFill>
                <a:latin typeface="Times New Roman"/>
                <a:cs typeface="Times New Roman"/>
              </a:rPr>
              <a:t>CPI</a:t>
            </a:r>
            <a:r>
              <a:rPr sz="1677" b="1" spc="44" dirty="0">
                <a:solidFill>
                  <a:srgbClr val="FF0000"/>
                </a:solidFill>
                <a:latin typeface="Times New Roman"/>
                <a:cs typeface="Times New Roman"/>
              </a:rPr>
              <a:t> </a:t>
            </a:r>
            <a:r>
              <a:rPr sz="1677" b="1" dirty="0">
                <a:solidFill>
                  <a:srgbClr val="FF0000"/>
                </a:solidFill>
                <a:latin typeface="Times New Roman"/>
                <a:cs typeface="Times New Roman"/>
              </a:rPr>
              <a:t>+=</a:t>
            </a:r>
            <a:r>
              <a:rPr sz="1677" b="1" spc="49" dirty="0">
                <a:solidFill>
                  <a:srgbClr val="FF0000"/>
                </a:solidFill>
                <a:latin typeface="Times New Roman"/>
                <a:cs typeface="Times New Roman"/>
              </a:rPr>
              <a:t> </a:t>
            </a:r>
            <a:r>
              <a:rPr sz="1677" b="1" spc="-18" dirty="0">
                <a:solidFill>
                  <a:srgbClr val="FF0000"/>
                </a:solidFill>
                <a:latin typeface="Times New Roman"/>
                <a:cs typeface="Times New Roman"/>
              </a:rPr>
              <a:t>3/7.</a:t>
            </a:r>
            <a:endParaRPr sz="1677" dirty="0">
              <a:latin typeface="Times New Roman"/>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fade">
                                      <p:cBhvr>
                                        <p:cTn id="7" dur="500"/>
                                        <p:tgtEl>
                                          <p:spTgt spid="1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4">
                                            <p:txEl>
                                              <p:pRg st="0" end="0"/>
                                            </p:txEl>
                                          </p:spTgt>
                                        </p:tgtEl>
                                        <p:attrNameLst>
                                          <p:attrName>style.visibility</p:attrName>
                                        </p:attrNameLst>
                                      </p:cBhvr>
                                      <p:to>
                                        <p:strVal val="visible"/>
                                      </p:to>
                                    </p:set>
                                    <p:animEffect transition="in" filter="fade">
                                      <p:cBhvr>
                                        <p:cTn id="12" dur="500"/>
                                        <p:tgtEl>
                                          <p:spTgt spid="18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4">
                                            <p:txEl>
                                              <p:pRg st="1" end="1"/>
                                            </p:txEl>
                                          </p:spTgt>
                                        </p:tgtEl>
                                        <p:attrNameLst>
                                          <p:attrName>style.visibility</p:attrName>
                                        </p:attrNameLst>
                                      </p:cBhvr>
                                      <p:to>
                                        <p:strVal val="visible"/>
                                      </p:to>
                                    </p:set>
                                    <p:animEffect transition="in" filter="fade">
                                      <p:cBhvr>
                                        <p:cTn id="17" dur="500"/>
                                        <p:tgtEl>
                                          <p:spTgt spid="18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1"/>
                                        </p:tgtEl>
                                        <p:attrNameLst>
                                          <p:attrName>style.visibility</p:attrName>
                                        </p:attrNameLst>
                                      </p:cBhvr>
                                      <p:to>
                                        <p:strVal val="visible"/>
                                      </p:to>
                                    </p:set>
                                    <p:animEffect transition="in" filter="fade">
                                      <p:cBhvr>
                                        <p:cTn id="22" dur="500"/>
                                        <p:tgtEl>
                                          <p:spTgt spid="19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0"/>
                                        </p:tgtEl>
                                        <p:attrNameLst>
                                          <p:attrName>style.visibility</p:attrName>
                                        </p:attrNameLst>
                                      </p:cBhvr>
                                      <p:to>
                                        <p:strVal val="visible"/>
                                      </p:to>
                                    </p:set>
                                    <p:animEffect transition="in" filter="fade">
                                      <p:cBhvr>
                                        <p:cTn id="25" dur="500"/>
                                        <p:tgtEl>
                                          <p:spTgt spid="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animBg="1"/>
      <p:bldP spid="190" grpId="0"/>
      <p:bldP spid="19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55211" y="1194584"/>
            <a:ext cx="1024778" cy="910223"/>
          </a:xfrm>
          <a:prstGeom prst="rect">
            <a:avLst/>
          </a:prstGeom>
        </p:spPr>
        <p:txBody>
          <a:bodyPr vert="horz" wrap="square" lIns="0" tIns="80682" rIns="0" bIns="0" rtlCol="0">
            <a:spAutoFit/>
          </a:bodyPr>
          <a:lstStyle/>
          <a:p>
            <a:pPr marL="65558" algn="ctr">
              <a:spcBef>
                <a:spcPts val="635"/>
              </a:spcBef>
            </a:pPr>
            <a:r>
              <a:rPr sz="1677" b="1" spc="-44" dirty="0">
                <a:latin typeface="Times New Roman"/>
                <a:cs typeface="Times New Roman"/>
              </a:rPr>
              <a:t>3</a:t>
            </a:r>
            <a:endParaRPr sz="1677">
              <a:latin typeface="Times New Roman"/>
              <a:cs typeface="Times New Roman"/>
            </a:endParaRPr>
          </a:p>
          <a:p>
            <a:pPr marL="10646" marR="4483" algn="ctr">
              <a:lnSpc>
                <a:spcPct val="101099"/>
              </a:lnSpc>
              <a:spcBef>
                <a:spcPts val="529"/>
              </a:spcBef>
            </a:pPr>
            <a:r>
              <a:rPr sz="1677" b="1" spc="-9" dirty="0">
                <a:latin typeface="Times New Roman"/>
                <a:cs typeface="Times New Roman"/>
              </a:rPr>
              <a:t>Execute Addr.</a:t>
            </a:r>
            <a:r>
              <a:rPr sz="1677" b="1" spc="-75" dirty="0">
                <a:latin typeface="Times New Roman"/>
                <a:cs typeface="Times New Roman"/>
              </a:rPr>
              <a:t> </a:t>
            </a:r>
            <a:r>
              <a:rPr sz="1677" b="1" spc="-18" dirty="0">
                <a:latin typeface="Times New Roman"/>
                <a:cs typeface="Times New Roman"/>
              </a:rPr>
              <a:t>Calc</a:t>
            </a:r>
            <a:endParaRPr sz="1677">
              <a:latin typeface="Times New Roman"/>
              <a:cs typeface="Times New Roman"/>
            </a:endParaRPr>
          </a:p>
        </p:txBody>
      </p:sp>
      <p:sp>
        <p:nvSpPr>
          <p:cNvPr id="3" name="object 3"/>
          <p:cNvSpPr txBox="1">
            <a:spLocks noGrp="1"/>
          </p:cNvSpPr>
          <p:nvPr>
            <p:ph type="title"/>
          </p:nvPr>
        </p:nvSpPr>
        <p:spPr>
          <a:xfrm>
            <a:off x="961954" y="458974"/>
            <a:ext cx="6929718" cy="418671"/>
          </a:xfrm>
          <a:prstGeom prst="rect">
            <a:avLst/>
          </a:prstGeom>
        </p:spPr>
        <p:txBody>
          <a:bodyPr vert="horz" wrap="square" lIns="0" tIns="11206" rIns="0" bIns="0" rtlCol="0" anchor="ctr">
            <a:spAutoFit/>
          </a:bodyPr>
          <a:lstStyle/>
          <a:p>
            <a:pPr marL="11206">
              <a:lnSpc>
                <a:spcPct val="100000"/>
              </a:lnSpc>
              <a:spcBef>
                <a:spcPts val="88"/>
              </a:spcBef>
            </a:pPr>
            <a:r>
              <a:rPr sz="2647" dirty="0"/>
              <a:t>5</a:t>
            </a:r>
            <a:r>
              <a:rPr sz="2647" spc="-4" dirty="0"/>
              <a:t> </a:t>
            </a:r>
            <a:r>
              <a:rPr sz="2647" dirty="0"/>
              <a:t>Steps of</a:t>
            </a:r>
            <a:r>
              <a:rPr sz="2647" spc="-13" dirty="0"/>
              <a:t> </a:t>
            </a:r>
            <a:r>
              <a:rPr sz="2647" dirty="0"/>
              <a:t>a</a:t>
            </a:r>
            <a:r>
              <a:rPr sz="2647" spc="-9" dirty="0"/>
              <a:t> </a:t>
            </a:r>
            <a:r>
              <a:rPr sz="2647" dirty="0"/>
              <a:t>MIPS</a:t>
            </a:r>
            <a:r>
              <a:rPr sz="2647" spc="-4" dirty="0"/>
              <a:t> </a:t>
            </a:r>
            <a:r>
              <a:rPr sz="2647" dirty="0"/>
              <a:t>Data</a:t>
            </a:r>
            <a:r>
              <a:rPr sz="2647" spc="-13" dirty="0"/>
              <a:t> </a:t>
            </a:r>
            <a:r>
              <a:rPr sz="2647" dirty="0"/>
              <a:t>Path (with pipeline</a:t>
            </a:r>
            <a:r>
              <a:rPr sz="2647" spc="-13" dirty="0"/>
              <a:t> </a:t>
            </a:r>
            <a:r>
              <a:rPr sz="2647" spc="-9" dirty="0"/>
              <a:t>latches)</a:t>
            </a:r>
            <a:endParaRPr sz="2647"/>
          </a:p>
        </p:txBody>
      </p:sp>
      <p:sp>
        <p:nvSpPr>
          <p:cNvPr id="121" name="Slide Number Placeholder 120">
            <a:extLst>
              <a:ext uri="{FF2B5EF4-FFF2-40B4-BE49-F238E27FC236}">
                <a16:creationId xmlns:a16="http://schemas.microsoft.com/office/drawing/2014/main" id="{C7091F75-756B-A889-0130-2F440E0EAC82}"/>
              </a:ext>
            </a:extLst>
          </p:cNvPr>
          <p:cNvSpPr>
            <a:spLocks noGrp="1"/>
          </p:cNvSpPr>
          <p:nvPr>
            <p:ph type="sldNum" sz="quarter" idx="7"/>
          </p:nvPr>
        </p:nvSpPr>
        <p:spPr/>
        <p:txBody>
          <a:bodyPr/>
          <a:lstStyle/>
          <a:p>
            <a:fld id="{4FE321F0-2018-4E50-8BB3-A5631EBD98DD}" type="slidenum">
              <a:rPr lang="en-US" smtClean="0"/>
              <a:t>57</a:t>
            </a:fld>
            <a:endParaRPr lang="en-US"/>
          </a:p>
        </p:txBody>
      </p:sp>
      <p:sp>
        <p:nvSpPr>
          <p:cNvPr id="4" name="object 4"/>
          <p:cNvSpPr txBox="1"/>
          <p:nvPr/>
        </p:nvSpPr>
        <p:spPr>
          <a:xfrm>
            <a:off x="961955" y="847430"/>
            <a:ext cx="1010210" cy="269399"/>
          </a:xfrm>
          <a:prstGeom prst="rect">
            <a:avLst/>
          </a:prstGeom>
        </p:spPr>
        <p:txBody>
          <a:bodyPr vert="horz" wrap="square" lIns="0" tIns="11206" rIns="0" bIns="0" rtlCol="0">
            <a:spAutoFit/>
          </a:bodyPr>
          <a:lstStyle/>
          <a:p>
            <a:pPr marL="11206">
              <a:spcBef>
                <a:spcPts val="88"/>
              </a:spcBef>
            </a:pPr>
            <a:r>
              <a:rPr sz="1677" dirty="0">
                <a:solidFill>
                  <a:srgbClr val="0332B7"/>
                </a:solidFill>
                <a:latin typeface="Calibri"/>
                <a:cs typeface="Calibri"/>
              </a:rPr>
              <a:t>Figure</a:t>
            </a:r>
            <a:r>
              <a:rPr sz="1677" spc="35" dirty="0">
                <a:solidFill>
                  <a:srgbClr val="0332B7"/>
                </a:solidFill>
                <a:latin typeface="Calibri"/>
                <a:cs typeface="Calibri"/>
              </a:rPr>
              <a:t> </a:t>
            </a:r>
            <a:r>
              <a:rPr sz="1677" spc="-18" dirty="0">
                <a:solidFill>
                  <a:srgbClr val="0332B7"/>
                </a:solidFill>
                <a:latin typeface="Calibri"/>
                <a:cs typeface="Calibri"/>
              </a:rPr>
              <a:t>C.22</a:t>
            </a:r>
            <a:endParaRPr sz="1677">
              <a:latin typeface="Calibri"/>
              <a:cs typeface="Calibri"/>
            </a:endParaRPr>
          </a:p>
        </p:txBody>
      </p:sp>
      <p:grpSp>
        <p:nvGrpSpPr>
          <p:cNvPr id="5" name="object 5"/>
          <p:cNvGrpSpPr/>
          <p:nvPr/>
        </p:nvGrpSpPr>
        <p:grpSpPr>
          <a:xfrm>
            <a:off x="2759885" y="1217595"/>
            <a:ext cx="5293659" cy="5091393"/>
            <a:chOff x="2975470" y="1379941"/>
            <a:chExt cx="5999480" cy="5770245"/>
          </a:xfrm>
        </p:grpSpPr>
        <p:sp>
          <p:nvSpPr>
            <p:cNvPr id="6" name="object 6"/>
            <p:cNvSpPr/>
            <p:nvPr/>
          </p:nvSpPr>
          <p:spPr>
            <a:xfrm>
              <a:off x="2991027" y="1395498"/>
              <a:ext cx="0" cy="5739130"/>
            </a:xfrm>
            <a:custGeom>
              <a:avLst/>
              <a:gdLst/>
              <a:ahLst/>
              <a:cxnLst/>
              <a:rect l="l" t="t" r="r" b="b"/>
              <a:pathLst>
                <a:path h="5739130">
                  <a:moveTo>
                    <a:pt x="0" y="0"/>
                  </a:moveTo>
                  <a:lnTo>
                    <a:pt x="1" y="5738989"/>
                  </a:lnTo>
                </a:path>
              </a:pathLst>
            </a:custGeom>
            <a:ln w="30718">
              <a:solidFill>
                <a:srgbClr val="000000"/>
              </a:solidFill>
            </a:ln>
          </p:spPr>
          <p:txBody>
            <a:bodyPr wrap="square" lIns="0" tIns="0" rIns="0" bIns="0" rtlCol="0"/>
            <a:lstStyle/>
            <a:p>
              <a:endParaRPr sz="1588"/>
            </a:p>
          </p:txBody>
        </p:sp>
        <p:sp>
          <p:nvSpPr>
            <p:cNvPr id="7" name="object 7"/>
            <p:cNvSpPr/>
            <p:nvPr/>
          </p:nvSpPr>
          <p:spPr>
            <a:xfrm>
              <a:off x="5061492" y="1395498"/>
              <a:ext cx="0" cy="5739130"/>
            </a:xfrm>
            <a:custGeom>
              <a:avLst/>
              <a:gdLst/>
              <a:ahLst/>
              <a:cxnLst/>
              <a:rect l="l" t="t" r="r" b="b"/>
              <a:pathLst>
                <a:path h="5739130">
                  <a:moveTo>
                    <a:pt x="0" y="0"/>
                  </a:moveTo>
                  <a:lnTo>
                    <a:pt x="1" y="5738989"/>
                  </a:lnTo>
                </a:path>
              </a:pathLst>
            </a:custGeom>
            <a:ln w="30718">
              <a:solidFill>
                <a:srgbClr val="000000"/>
              </a:solidFill>
            </a:ln>
          </p:spPr>
          <p:txBody>
            <a:bodyPr wrap="square" lIns="0" tIns="0" rIns="0" bIns="0" rtlCol="0"/>
            <a:lstStyle/>
            <a:p>
              <a:endParaRPr sz="1588"/>
            </a:p>
          </p:txBody>
        </p:sp>
        <p:sp>
          <p:nvSpPr>
            <p:cNvPr id="8" name="object 8"/>
            <p:cNvSpPr/>
            <p:nvPr/>
          </p:nvSpPr>
          <p:spPr>
            <a:xfrm>
              <a:off x="6986291" y="1395498"/>
              <a:ext cx="0" cy="5739130"/>
            </a:xfrm>
            <a:custGeom>
              <a:avLst/>
              <a:gdLst/>
              <a:ahLst/>
              <a:cxnLst/>
              <a:rect l="l" t="t" r="r" b="b"/>
              <a:pathLst>
                <a:path h="5739130">
                  <a:moveTo>
                    <a:pt x="0" y="0"/>
                  </a:moveTo>
                  <a:lnTo>
                    <a:pt x="1" y="5738989"/>
                  </a:lnTo>
                </a:path>
              </a:pathLst>
            </a:custGeom>
            <a:ln w="30718">
              <a:solidFill>
                <a:srgbClr val="000000"/>
              </a:solidFill>
            </a:ln>
          </p:spPr>
          <p:txBody>
            <a:bodyPr wrap="square" lIns="0" tIns="0" rIns="0" bIns="0" rtlCol="0"/>
            <a:lstStyle/>
            <a:p>
              <a:endParaRPr sz="1588"/>
            </a:p>
          </p:txBody>
        </p:sp>
        <p:sp>
          <p:nvSpPr>
            <p:cNvPr id="9" name="object 9"/>
            <p:cNvSpPr/>
            <p:nvPr/>
          </p:nvSpPr>
          <p:spPr>
            <a:xfrm>
              <a:off x="8573647" y="1395498"/>
              <a:ext cx="0" cy="5739130"/>
            </a:xfrm>
            <a:custGeom>
              <a:avLst/>
              <a:gdLst/>
              <a:ahLst/>
              <a:cxnLst/>
              <a:rect l="l" t="t" r="r" b="b"/>
              <a:pathLst>
                <a:path h="5739130">
                  <a:moveTo>
                    <a:pt x="0" y="0"/>
                  </a:moveTo>
                  <a:lnTo>
                    <a:pt x="1" y="5738989"/>
                  </a:lnTo>
                </a:path>
              </a:pathLst>
            </a:custGeom>
            <a:ln w="30718">
              <a:solidFill>
                <a:srgbClr val="000000"/>
              </a:solidFill>
            </a:ln>
          </p:spPr>
          <p:txBody>
            <a:bodyPr wrap="square" lIns="0" tIns="0" rIns="0" bIns="0" rtlCol="0"/>
            <a:lstStyle/>
            <a:p>
              <a:endParaRPr sz="1588"/>
            </a:p>
          </p:txBody>
        </p:sp>
        <p:sp>
          <p:nvSpPr>
            <p:cNvPr id="10" name="object 10"/>
            <p:cNvSpPr/>
            <p:nvPr/>
          </p:nvSpPr>
          <p:spPr>
            <a:xfrm>
              <a:off x="8237714" y="4874762"/>
              <a:ext cx="737235" cy="92710"/>
            </a:xfrm>
            <a:custGeom>
              <a:avLst/>
              <a:gdLst/>
              <a:ahLst/>
              <a:cxnLst/>
              <a:rect l="l" t="t" r="r" b="b"/>
              <a:pathLst>
                <a:path w="737234" h="92710">
                  <a:moveTo>
                    <a:pt x="645079" y="0"/>
                  </a:moveTo>
                  <a:lnTo>
                    <a:pt x="645079" y="92233"/>
                  </a:lnTo>
                  <a:lnTo>
                    <a:pt x="706517" y="61488"/>
                  </a:lnTo>
                  <a:lnTo>
                    <a:pt x="660439" y="61488"/>
                  </a:lnTo>
                  <a:lnTo>
                    <a:pt x="660439" y="30744"/>
                  </a:lnTo>
                  <a:lnTo>
                    <a:pt x="706516" y="30744"/>
                  </a:lnTo>
                  <a:lnTo>
                    <a:pt x="645079" y="0"/>
                  </a:lnTo>
                  <a:close/>
                </a:path>
                <a:path w="737234" h="92710">
                  <a:moveTo>
                    <a:pt x="645079" y="30744"/>
                  </a:moveTo>
                  <a:lnTo>
                    <a:pt x="0" y="30744"/>
                  </a:lnTo>
                  <a:lnTo>
                    <a:pt x="0" y="61488"/>
                  </a:lnTo>
                  <a:lnTo>
                    <a:pt x="645079" y="61488"/>
                  </a:lnTo>
                  <a:lnTo>
                    <a:pt x="645079" y="30744"/>
                  </a:lnTo>
                  <a:close/>
                </a:path>
                <a:path w="737234" h="92710">
                  <a:moveTo>
                    <a:pt x="706516" y="30744"/>
                  </a:moveTo>
                  <a:lnTo>
                    <a:pt x="660439" y="30744"/>
                  </a:lnTo>
                  <a:lnTo>
                    <a:pt x="660439" y="61488"/>
                  </a:lnTo>
                  <a:lnTo>
                    <a:pt x="706517" y="61488"/>
                  </a:lnTo>
                  <a:lnTo>
                    <a:pt x="737234" y="46116"/>
                  </a:lnTo>
                  <a:lnTo>
                    <a:pt x="706516" y="30744"/>
                  </a:lnTo>
                  <a:close/>
                </a:path>
              </a:pathLst>
            </a:custGeom>
            <a:solidFill>
              <a:srgbClr val="000000"/>
            </a:solidFill>
          </p:spPr>
          <p:txBody>
            <a:bodyPr wrap="square" lIns="0" tIns="0" rIns="0" bIns="0" rtlCol="0"/>
            <a:lstStyle/>
            <a:p>
              <a:endParaRPr sz="1588"/>
            </a:p>
          </p:txBody>
        </p:sp>
      </p:grpSp>
      <p:sp>
        <p:nvSpPr>
          <p:cNvPr id="11" name="object 11"/>
          <p:cNvSpPr txBox="1"/>
          <p:nvPr/>
        </p:nvSpPr>
        <p:spPr>
          <a:xfrm>
            <a:off x="6666044" y="1194584"/>
            <a:ext cx="815788" cy="910223"/>
          </a:xfrm>
          <a:prstGeom prst="rect">
            <a:avLst/>
          </a:prstGeom>
        </p:spPr>
        <p:txBody>
          <a:bodyPr vert="horz" wrap="square" lIns="0" tIns="80682" rIns="0" bIns="0" rtlCol="0">
            <a:spAutoFit/>
          </a:bodyPr>
          <a:lstStyle/>
          <a:p>
            <a:pPr marR="1121" algn="ctr">
              <a:spcBef>
                <a:spcPts val="635"/>
              </a:spcBef>
            </a:pPr>
            <a:r>
              <a:rPr sz="1677" b="1" spc="-44" dirty="0">
                <a:solidFill>
                  <a:srgbClr val="FF0000"/>
                </a:solidFill>
                <a:latin typeface="Times New Roman"/>
                <a:cs typeface="Times New Roman"/>
              </a:rPr>
              <a:t>4</a:t>
            </a:r>
            <a:endParaRPr sz="1677">
              <a:latin typeface="Times New Roman"/>
              <a:cs typeface="Times New Roman"/>
            </a:endParaRPr>
          </a:p>
          <a:p>
            <a:pPr marL="11206" marR="4483" algn="ctr">
              <a:lnSpc>
                <a:spcPct val="101099"/>
              </a:lnSpc>
              <a:spcBef>
                <a:spcPts val="529"/>
              </a:spcBef>
            </a:pPr>
            <a:r>
              <a:rPr sz="1677" b="1" spc="-9" dirty="0">
                <a:solidFill>
                  <a:srgbClr val="FF0000"/>
                </a:solidFill>
                <a:latin typeface="Times New Roman"/>
                <a:cs typeface="Times New Roman"/>
              </a:rPr>
              <a:t>Memory Access</a:t>
            </a:r>
            <a:endParaRPr sz="1677">
              <a:latin typeface="Times New Roman"/>
              <a:cs typeface="Times New Roman"/>
            </a:endParaRPr>
          </a:p>
        </p:txBody>
      </p:sp>
      <p:sp>
        <p:nvSpPr>
          <p:cNvPr id="12" name="object 12"/>
          <p:cNvSpPr txBox="1"/>
          <p:nvPr/>
        </p:nvSpPr>
        <p:spPr>
          <a:xfrm>
            <a:off x="7881668" y="1189205"/>
            <a:ext cx="559174" cy="928705"/>
          </a:xfrm>
          <a:prstGeom prst="rect">
            <a:avLst/>
          </a:prstGeom>
        </p:spPr>
        <p:txBody>
          <a:bodyPr vert="horz" wrap="square" lIns="0" tIns="86285" rIns="0" bIns="0" rtlCol="0">
            <a:spAutoFit/>
          </a:bodyPr>
          <a:lstStyle/>
          <a:p>
            <a:pPr marL="272878">
              <a:spcBef>
                <a:spcPts val="679"/>
              </a:spcBef>
            </a:pPr>
            <a:r>
              <a:rPr sz="1677" b="1" spc="-44" dirty="0">
                <a:latin typeface="Times New Roman"/>
                <a:cs typeface="Times New Roman"/>
              </a:rPr>
              <a:t>5</a:t>
            </a:r>
            <a:endParaRPr sz="1677">
              <a:latin typeface="Times New Roman"/>
              <a:cs typeface="Times New Roman"/>
            </a:endParaRPr>
          </a:p>
          <a:p>
            <a:pPr marL="44826" marR="4483" indent="-34180">
              <a:lnSpc>
                <a:spcPct val="101099"/>
              </a:lnSpc>
              <a:spcBef>
                <a:spcPts val="569"/>
              </a:spcBef>
            </a:pPr>
            <a:r>
              <a:rPr sz="1677" b="1" spc="-9" dirty="0">
                <a:latin typeface="Times New Roman"/>
                <a:cs typeface="Times New Roman"/>
              </a:rPr>
              <a:t>Write </a:t>
            </a:r>
            <a:r>
              <a:rPr sz="1677" b="1" spc="-18" dirty="0">
                <a:latin typeface="Times New Roman"/>
                <a:cs typeface="Times New Roman"/>
              </a:rPr>
              <a:t>Back</a:t>
            </a:r>
            <a:endParaRPr sz="1677">
              <a:latin typeface="Times New Roman"/>
              <a:cs typeface="Times New Roman"/>
            </a:endParaRPr>
          </a:p>
        </p:txBody>
      </p:sp>
      <p:sp>
        <p:nvSpPr>
          <p:cNvPr id="13" name="object 13"/>
          <p:cNvSpPr txBox="1"/>
          <p:nvPr/>
        </p:nvSpPr>
        <p:spPr>
          <a:xfrm>
            <a:off x="3056815" y="1189205"/>
            <a:ext cx="1241612" cy="928705"/>
          </a:xfrm>
          <a:prstGeom prst="rect">
            <a:avLst/>
          </a:prstGeom>
        </p:spPr>
        <p:txBody>
          <a:bodyPr vert="horz" wrap="square" lIns="0" tIns="86285" rIns="0" bIns="0" rtlCol="0">
            <a:spAutoFit/>
          </a:bodyPr>
          <a:lstStyle/>
          <a:p>
            <a:pPr marL="174261" algn="ctr">
              <a:spcBef>
                <a:spcPts val="679"/>
              </a:spcBef>
            </a:pPr>
            <a:r>
              <a:rPr sz="1677" b="1" spc="-44" dirty="0">
                <a:latin typeface="Times New Roman"/>
                <a:cs typeface="Times New Roman"/>
              </a:rPr>
              <a:t>2</a:t>
            </a:r>
            <a:endParaRPr sz="1677">
              <a:latin typeface="Times New Roman"/>
              <a:cs typeface="Times New Roman"/>
            </a:endParaRPr>
          </a:p>
          <a:p>
            <a:pPr marL="11206" marR="4483" algn="ctr">
              <a:lnSpc>
                <a:spcPct val="101099"/>
              </a:lnSpc>
              <a:spcBef>
                <a:spcPts val="569"/>
              </a:spcBef>
            </a:pPr>
            <a:r>
              <a:rPr sz="1677" b="1" spc="-9" dirty="0">
                <a:latin typeface="Times New Roman"/>
                <a:cs typeface="Times New Roman"/>
              </a:rPr>
              <a:t>Instr.</a:t>
            </a:r>
            <a:r>
              <a:rPr sz="1677" b="1" spc="-71" dirty="0">
                <a:latin typeface="Times New Roman"/>
                <a:cs typeface="Times New Roman"/>
              </a:rPr>
              <a:t> </a:t>
            </a:r>
            <a:r>
              <a:rPr sz="1677" b="1" spc="-9" dirty="0">
                <a:latin typeface="Times New Roman"/>
                <a:cs typeface="Times New Roman"/>
              </a:rPr>
              <a:t>Decode </a:t>
            </a:r>
            <a:r>
              <a:rPr sz="1677" b="1" dirty="0">
                <a:latin typeface="Times New Roman"/>
                <a:cs typeface="Times New Roman"/>
              </a:rPr>
              <a:t>Reg.</a:t>
            </a:r>
            <a:r>
              <a:rPr sz="1677" b="1" spc="53" dirty="0">
                <a:latin typeface="Times New Roman"/>
                <a:cs typeface="Times New Roman"/>
              </a:rPr>
              <a:t> </a:t>
            </a:r>
            <a:r>
              <a:rPr sz="1677" b="1" spc="-18" dirty="0">
                <a:latin typeface="Times New Roman"/>
                <a:cs typeface="Times New Roman"/>
              </a:rPr>
              <a:t>Fetch</a:t>
            </a:r>
            <a:endParaRPr sz="1677">
              <a:latin typeface="Times New Roman"/>
              <a:cs typeface="Times New Roman"/>
            </a:endParaRPr>
          </a:p>
        </p:txBody>
      </p:sp>
      <p:grpSp>
        <p:nvGrpSpPr>
          <p:cNvPr id="14" name="object 14"/>
          <p:cNvGrpSpPr/>
          <p:nvPr/>
        </p:nvGrpSpPr>
        <p:grpSpPr>
          <a:xfrm>
            <a:off x="1607079" y="3460142"/>
            <a:ext cx="4429125" cy="1067360"/>
            <a:chOff x="1668956" y="3921494"/>
            <a:chExt cx="5019675" cy="1209675"/>
          </a:xfrm>
        </p:grpSpPr>
        <p:sp>
          <p:nvSpPr>
            <p:cNvPr id="15" name="object 15"/>
            <p:cNvSpPr/>
            <p:nvPr/>
          </p:nvSpPr>
          <p:spPr>
            <a:xfrm>
              <a:off x="6215440" y="3937052"/>
              <a:ext cx="457834" cy="1178560"/>
            </a:xfrm>
            <a:custGeom>
              <a:avLst/>
              <a:gdLst/>
              <a:ahLst/>
              <a:cxnLst/>
              <a:rect l="l" t="t" r="r" b="b"/>
              <a:pathLst>
                <a:path w="457834" h="1178560">
                  <a:moveTo>
                    <a:pt x="0" y="0"/>
                  </a:moveTo>
                  <a:lnTo>
                    <a:pt x="0" y="1178542"/>
                  </a:lnTo>
                  <a:lnTo>
                    <a:pt x="457360" y="883906"/>
                  </a:lnTo>
                  <a:lnTo>
                    <a:pt x="457360" y="294634"/>
                  </a:lnTo>
                  <a:lnTo>
                    <a:pt x="0" y="0"/>
                  </a:lnTo>
                  <a:close/>
                </a:path>
              </a:pathLst>
            </a:custGeom>
            <a:solidFill>
              <a:srgbClr val="618FFD"/>
            </a:solidFill>
          </p:spPr>
          <p:txBody>
            <a:bodyPr wrap="square" lIns="0" tIns="0" rIns="0" bIns="0" rtlCol="0"/>
            <a:lstStyle/>
            <a:p>
              <a:endParaRPr sz="1588"/>
            </a:p>
          </p:txBody>
        </p:sp>
        <p:sp>
          <p:nvSpPr>
            <p:cNvPr id="16" name="object 16"/>
            <p:cNvSpPr/>
            <p:nvPr/>
          </p:nvSpPr>
          <p:spPr>
            <a:xfrm>
              <a:off x="6215440" y="3937051"/>
              <a:ext cx="457834" cy="1178560"/>
            </a:xfrm>
            <a:custGeom>
              <a:avLst/>
              <a:gdLst/>
              <a:ahLst/>
              <a:cxnLst/>
              <a:rect l="l" t="t" r="r" b="b"/>
              <a:pathLst>
                <a:path w="457834" h="1178560">
                  <a:moveTo>
                    <a:pt x="0" y="1178542"/>
                  </a:moveTo>
                  <a:lnTo>
                    <a:pt x="457359" y="883906"/>
                  </a:lnTo>
                  <a:lnTo>
                    <a:pt x="457359" y="294635"/>
                  </a:lnTo>
                  <a:lnTo>
                    <a:pt x="0" y="0"/>
                  </a:lnTo>
                  <a:lnTo>
                    <a:pt x="0" y="1178542"/>
                  </a:lnTo>
                  <a:close/>
                </a:path>
              </a:pathLst>
            </a:custGeom>
            <a:ln w="30741">
              <a:solidFill>
                <a:srgbClr val="000000"/>
              </a:solidFill>
            </a:ln>
          </p:spPr>
          <p:txBody>
            <a:bodyPr wrap="square" lIns="0" tIns="0" rIns="0" bIns="0" rtlCol="0"/>
            <a:lstStyle/>
            <a:p>
              <a:endParaRPr sz="1588"/>
            </a:p>
          </p:txBody>
        </p:sp>
        <p:sp>
          <p:nvSpPr>
            <p:cNvPr id="17" name="object 17"/>
            <p:cNvSpPr/>
            <p:nvPr/>
          </p:nvSpPr>
          <p:spPr>
            <a:xfrm>
              <a:off x="6189840" y="4295241"/>
              <a:ext cx="220345" cy="356870"/>
            </a:xfrm>
            <a:custGeom>
              <a:avLst/>
              <a:gdLst/>
              <a:ahLst/>
              <a:cxnLst/>
              <a:rect l="l" t="t" r="r" b="b"/>
              <a:pathLst>
                <a:path w="220345" h="356870">
                  <a:moveTo>
                    <a:pt x="220141" y="178371"/>
                  </a:moveTo>
                  <a:lnTo>
                    <a:pt x="202247" y="163880"/>
                  </a:lnTo>
                  <a:lnTo>
                    <a:pt x="20472" y="0"/>
                  </a:lnTo>
                  <a:lnTo>
                    <a:pt x="20472" y="16598"/>
                  </a:lnTo>
                  <a:lnTo>
                    <a:pt x="0" y="0"/>
                  </a:lnTo>
                  <a:lnTo>
                    <a:pt x="0" y="356743"/>
                  </a:lnTo>
                  <a:lnTo>
                    <a:pt x="20472" y="340156"/>
                  </a:lnTo>
                  <a:lnTo>
                    <a:pt x="20472" y="353847"/>
                  </a:lnTo>
                  <a:lnTo>
                    <a:pt x="170522" y="218579"/>
                  </a:lnTo>
                  <a:lnTo>
                    <a:pt x="220141" y="178371"/>
                  </a:lnTo>
                  <a:close/>
                </a:path>
              </a:pathLst>
            </a:custGeom>
            <a:solidFill>
              <a:srgbClr val="FFFFFF"/>
            </a:solidFill>
          </p:spPr>
          <p:txBody>
            <a:bodyPr wrap="square" lIns="0" tIns="0" rIns="0" bIns="0" rtlCol="0"/>
            <a:lstStyle/>
            <a:p>
              <a:endParaRPr sz="1588"/>
            </a:p>
          </p:txBody>
        </p:sp>
        <p:sp>
          <p:nvSpPr>
            <p:cNvPr id="18" name="object 18"/>
            <p:cNvSpPr/>
            <p:nvPr/>
          </p:nvSpPr>
          <p:spPr>
            <a:xfrm>
              <a:off x="6210321" y="4295235"/>
              <a:ext cx="196850" cy="354330"/>
            </a:xfrm>
            <a:custGeom>
              <a:avLst/>
              <a:gdLst/>
              <a:ahLst/>
              <a:cxnLst/>
              <a:rect l="l" t="t" r="r" b="b"/>
              <a:pathLst>
                <a:path w="196850" h="354329">
                  <a:moveTo>
                    <a:pt x="0" y="0"/>
                  </a:moveTo>
                  <a:lnTo>
                    <a:pt x="196255" y="176925"/>
                  </a:lnTo>
                  <a:lnTo>
                    <a:pt x="0" y="353851"/>
                  </a:lnTo>
                </a:path>
              </a:pathLst>
            </a:custGeom>
            <a:ln w="30738">
              <a:solidFill>
                <a:srgbClr val="000000"/>
              </a:solidFill>
            </a:ln>
          </p:spPr>
          <p:txBody>
            <a:bodyPr wrap="square" lIns="0" tIns="0" rIns="0" bIns="0" rtlCol="0"/>
            <a:lstStyle/>
            <a:p>
              <a:endParaRPr sz="1588"/>
            </a:p>
          </p:txBody>
        </p:sp>
        <p:sp>
          <p:nvSpPr>
            <p:cNvPr id="19" name="object 19"/>
            <p:cNvSpPr/>
            <p:nvPr/>
          </p:nvSpPr>
          <p:spPr>
            <a:xfrm>
              <a:off x="1684513" y="3937052"/>
              <a:ext cx="819150" cy="984250"/>
            </a:xfrm>
            <a:custGeom>
              <a:avLst/>
              <a:gdLst/>
              <a:ahLst/>
              <a:cxnLst/>
              <a:rect l="l" t="t" r="r" b="b"/>
              <a:pathLst>
                <a:path w="819150" h="984250">
                  <a:moveTo>
                    <a:pt x="819150" y="0"/>
                  </a:moveTo>
                  <a:lnTo>
                    <a:pt x="0" y="0"/>
                  </a:lnTo>
                  <a:lnTo>
                    <a:pt x="0" y="983825"/>
                  </a:lnTo>
                  <a:lnTo>
                    <a:pt x="819150" y="983825"/>
                  </a:lnTo>
                  <a:lnTo>
                    <a:pt x="819150" y="0"/>
                  </a:lnTo>
                  <a:close/>
                </a:path>
              </a:pathLst>
            </a:custGeom>
            <a:solidFill>
              <a:srgbClr val="618FFD"/>
            </a:solidFill>
          </p:spPr>
          <p:txBody>
            <a:bodyPr wrap="square" lIns="0" tIns="0" rIns="0" bIns="0" rtlCol="0"/>
            <a:lstStyle/>
            <a:p>
              <a:endParaRPr sz="1588"/>
            </a:p>
          </p:txBody>
        </p:sp>
        <p:sp>
          <p:nvSpPr>
            <p:cNvPr id="20" name="object 20"/>
            <p:cNvSpPr/>
            <p:nvPr/>
          </p:nvSpPr>
          <p:spPr>
            <a:xfrm>
              <a:off x="1684513" y="3937052"/>
              <a:ext cx="819150" cy="984250"/>
            </a:xfrm>
            <a:custGeom>
              <a:avLst/>
              <a:gdLst/>
              <a:ahLst/>
              <a:cxnLst/>
              <a:rect l="l" t="t" r="r" b="b"/>
              <a:pathLst>
                <a:path w="819150" h="984250">
                  <a:moveTo>
                    <a:pt x="0" y="0"/>
                  </a:moveTo>
                  <a:lnTo>
                    <a:pt x="819149" y="0"/>
                  </a:lnTo>
                  <a:lnTo>
                    <a:pt x="819149" y="983826"/>
                  </a:lnTo>
                  <a:lnTo>
                    <a:pt x="0" y="983826"/>
                  </a:lnTo>
                  <a:lnTo>
                    <a:pt x="0" y="0"/>
                  </a:lnTo>
                  <a:close/>
                </a:path>
              </a:pathLst>
            </a:custGeom>
            <a:ln w="30728">
              <a:solidFill>
                <a:srgbClr val="000000"/>
              </a:solidFill>
            </a:ln>
          </p:spPr>
          <p:txBody>
            <a:bodyPr wrap="square" lIns="0" tIns="0" rIns="0" bIns="0" rtlCol="0"/>
            <a:lstStyle/>
            <a:p>
              <a:endParaRPr sz="1588"/>
            </a:p>
          </p:txBody>
        </p:sp>
      </p:grpSp>
      <p:sp>
        <p:nvSpPr>
          <p:cNvPr id="21" name="object 21"/>
          <p:cNvSpPr txBox="1"/>
          <p:nvPr/>
        </p:nvSpPr>
        <p:spPr>
          <a:xfrm>
            <a:off x="1855713" y="3526716"/>
            <a:ext cx="243656" cy="768723"/>
          </a:xfrm>
          <a:prstGeom prst="rect">
            <a:avLst/>
          </a:prstGeom>
        </p:spPr>
        <p:txBody>
          <a:bodyPr vert="vert" wrap="square" lIns="0" tIns="0" rIns="0" bIns="0" rtlCol="0">
            <a:spAutoFit/>
          </a:bodyPr>
          <a:lstStyle/>
          <a:p>
            <a:pPr marL="11206">
              <a:lnSpc>
                <a:spcPts val="1915"/>
              </a:lnSpc>
            </a:pPr>
            <a:r>
              <a:rPr sz="1677" spc="-9" dirty="0">
                <a:latin typeface="Times New Roman"/>
                <a:cs typeface="Times New Roman"/>
              </a:rPr>
              <a:t>Memory</a:t>
            </a:r>
            <a:endParaRPr sz="1677">
              <a:latin typeface="Times New Roman"/>
              <a:cs typeface="Times New Roman"/>
            </a:endParaRPr>
          </a:p>
        </p:txBody>
      </p:sp>
      <p:grpSp>
        <p:nvGrpSpPr>
          <p:cNvPr id="22" name="object 22"/>
          <p:cNvGrpSpPr/>
          <p:nvPr/>
        </p:nvGrpSpPr>
        <p:grpSpPr>
          <a:xfrm>
            <a:off x="3775418" y="2788145"/>
            <a:ext cx="3186952" cy="1861857"/>
            <a:chOff x="4126406" y="3159897"/>
            <a:chExt cx="3611879" cy="2110105"/>
          </a:xfrm>
        </p:grpSpPr>
        <p:sp>
          <p:nvSpPr>
            <p:cNvPr id="23" name="object 23"/>
            <p:cNvSpPr/>
            <p:nvPr/>
          </p:nvSpPr>
          <p:spPr>
            <a:xfrm>
              <a:off x="6700101" y="3159897"/>
              <a:ext cx="1037590" cy="408305"/>
            </a:xfrm>
            <a:custGeom>
              <a:avLst/>
              <a:gdLst/>
              <a:ahLst/>
              <a:cxnLst/>
              <a:rect l="l" t="t" r="r" b="b"/>
              <a:pathLst>
                <a:path w="1037590" h="408304">
                  <a:moveTo>
                    <a:pt x="976153" y="377475"/>
                  </a:moveTo>
                  <a:lnTo>
                    <a:pt x="0" y="377475"/>
                  </a:lnTo>
                  <a:lnTo>
                    <a:pt x="0" y="408219"/>
                  </a:lnTo>
                  <a:lnTo>
                    <a:pt x="999995" y="408219"/>
                  </a:lnTo>
                  <a:lnTo>
                    <a:pt x="1006871" y="401337"/>
                  </a:lnTo>
                  <a:lnTo>
                    <a:pt x="1006871" y="392847"/>
                  </a:lnTo>
                  <a:lnTo>
                    <a:pt x="976153" y="392847"/>
                  </a:lnTo>
                  <a:lnTo>
                    <a:pt x="976153" y="377475"/>
                  </a:lnTo>
                  <a:close/>
                </a:path>
                <a:path w="1037590" h="408304">
                  <a:moveTo>
                    <a:pt x="1006871" y="76861"/>
                  </a:moveTo>
                  <a:lnTo>
                    <a:pt x="976153" y="76861"/>
                  </a:lnTo>
                  <a:lnTo>
                    <a:pt x="976153" y="392847"/>
                  </a:lnTo>
                  <a:lnTo>
                    <a:pt x="991513" y="377475"/>
                  </a:lnTo>
                  <a:lnTo>
                    <a:pt x="1006871" y="377475"/>
                  </a:lnTo>
                  <a:lnTo>
                    <a:pt x="1006871" y="76861"/>
                  </a:lnTo>
                  <a:close/>
                </a:path>
                <a:path w="1037590" h="408304">
                  <a:moveTo>
                    <a:pt x="1006871" y="377475"/>
                  </a:moveTo>
                  <a:lnTo>
                    <a:pt x="991513" y="377475"/>
                  </a:lnTo>
                  <a:lnTo>
                    <a:pt x="976153" y="392847"/>
                  </a:lnTo>
                  <a:lnTo>
                    <a:pt x="1006871" y="392847"/>
                  </a:lnTo>
                  <a:lnTo>
                    <a:pt x="1006871" y="377475"/>
                  </a:lnTo>
                  <a:close/>
                </a:path>
                <a:path w="1037590" h="408304">
                  <a:moveTo>
                    <a:pt x="991513" y="0"/>
                  </a:moveTo>
                  <a:lnTo>
                    <a:pt x="945434" y="92233"/>
                  </a:lnTo>
                  <a:lnTo>
                    <a:pt x="976153" y="92233"/>
                  </a:lnTo>
                  <a:lnTo>
                    <a:pt x="976153" y="76861"/>
                  </a:lnTo>
                  <a:lnTo>
                    <a:pt x="1029910" y="76861"/>
                  </a:lnTo>
                  <a:lnTo>
                    <a:pt x="991513" y="0"/>
                  </a:lnTo>
                  <a:close/>
                </a:path>
                <a:path w="1037590" h="408304">
                  <a:moveTo>
                    <a:pt x="1029910" y="76861"/>
                  </a:moveTo>
                  <a:lnTo>
                    <a:pt x="1006871" y="76861"/>
                  </a:lnTo>
                  <a:lnTo>
                    <a:pt x="1006871" y="92233"/>
                  </a:lnTo>
                  <a:lnTo>
                    <a:pt x="1037590" y="92233"/>
                  </a:lnTo>
                  <a:lnTo>
                    <a:pt x="1029910" y="76861"/>
                  </a:lnTo>
                  <a:close/>
                </a:path>
              </a:pathLst>
            </a:custGeom>
            <a:solidFill>
              <a:srgbClr val="000000"/>
            </a:solidFill>
          </p:spPr>
          <p:txBody>
            <a:bodyPr wrap="square" lIns="0" tIns="0" rIns="0" bIns="0" rtlCol="0"/>
            <a:lstStyle/>
            <a:p>
              <a:endParaRPr sz="1588"/>
            </a:p>
          </p:txBody>
        </p:sp>
        <p:sp>
          <p:nvSpPr>
            <p:cNvPr id="24" name="object 24"/>
            <p:cNvSpPr/>
            <p:nvPr/>
          </p:nvSpPr>
          <p:spPr>
            <a:xfrm>
              <a:off x="4141964" y="3665475"/>
              <a:ext cx="635000" cy="1588770"/>
            </a:xfrm>
            <a:custGeom>
              <a:avLst/>
              <a:gdLst/>
              <a:ahLst/>
              <a:cxnLst/>
              <a:rect l="l" t="t" r="r" b="b"/>
              <a:pathLst>
                <a:path w="635000" h="1588770">
                  <a:moveTo>
                    <a:pt x="634841" y="0"/>
                  </a:moveTo>
                  <a:lnTo>
                    <a:pt x="0" y="0"/>
                  </a:lnTo>
                  <a:lnTo>
                    <a:pt x="0" y="1588469"/>
                  </a:lnTo>
                  <a:lnTo>
                    <a:pt x="634841" y="1588469"/>
                  </a:lnTo>
                  <a:lnTo>
                    <a:pt x="634841" y="0"/>
                  </a:lnTo>
                  <a:close/>
                </a:path>
              </a:pathLst>
            </a:custGeom>
            <a:solidFill>
              <a:srgbClr val="618FFD"/>
            </a:solidFill>
          </p:spPr>
          <p:txBody>
            <a:bodyPr wrap="square" lIns="0" tIns="0" rIns="0" bIns="0" rtlCol="0"/>
            <a:lstStyle/>
            <a:p>
              <a:endParaRPr sz="1588"/>
            </a:p>
          </p:txBody>
        </p:sp>
        <p:sp>
          <p:nvSpPr>
            <p:cNvPr id="25" name="object 25"/>
            <p:cNvSpPr/>
            <p:nvPr/>
          </p:nvSpPr>
          <p:spPr>
            <a:xfrm>
              <a:off x="4141964" y="3665475"/>
              <a:ext cx="635000" cy="1588770"/>
            </a:xfrm>
            <a:custGeom>
              <a:avLst/>
              <a:gdLst/>
              <a:ahLst/>
              <a:cxnLst/>
              <a:rect l="l" t="t" r="r" b="b"/>
              <a:pathLst>
                <a:path w="635000" h="1588770">
                  <a:moveTo>
                    <a:pt x="0" y="0"/>
                  </a:moveTo>
                  <a:lnTo>
                    <a:pt x="634841" y="0"/>
                  </a:lnTo>
                  <a:lnTo>
                    <a:pt x="634841" y="1588470"/>
                  </a:lnTo>
                  <a:lnTo>
                    <a:pt x="0" y="1588470"/>
                  </a:lnTo>
                  <a:lnTo>
                    <a:pt x="0" y="0"/>
                  </a:lnTo>
                  <a:close/>
                </a:path>
              </a:pathLst>
            </a:custGeom>
            <a:ln w="30721">
              <a:solidFill>
                <a:srgbClr val="000000"/>
              </a:solidFill>
            </a:ln>
          </p:spPr>
          <p:txBody>
            <a:bodyPr wrap="square" lIns="0" tIns="0" rIns="0" bIns="0" rtlCol="0"/>
            <a:lstStyle/>
            <a:p>
              <a:endParaRPr sz="1588"/>
            </a:p>
          </p:txBody>
        </p:sp>
      </p:grpSp>
      <p:sp>
        <p:nvSpPr>
          <p:cNvPr id="26" name="object 26"/>
          <p:cNvSpPr txBox="1"/>
          <p:nvPr/>
        </p:nvSpPr>
        <p:spPr>
          <a:xfrm>
            <a:off x="3942737" y="3556298"/>
            <a:ext cx="243656" cy="763120"/>
          </a:xfrm>
          <a:prstGeom prst="rect">
            <a:avLst/>
          </a:prstGeom>
        </p:spPr>
        <p:txBody>
          <a:bodyPr vert="vert" wrap="square" lIns="0" tIns="0" rIns="0" bIns="0" rtlCol="0">
            <a:spAutoFit/>
          </a:bodyPr>
          <a:lstStyle/>
          <a:p>
            <a:pPr marL="11206">
              <a:lnSpc>
                <a:spcPts val="1915"/>
              </a:lnSpc>
            </a:pPr>
            <a:r>
              <a:rPr sz="1677" dirty="0">
                <a:latin typeface="Times New Roman"/>
                <a:cs typeface="Times New Roman"/>
              </a:rPr>
              <a:t>Reg</a:t>
            </a:r>
            <a:r>
              <a:rPr sz="1677" spc="53" dirty="0">
                <a:latin typeface="Times New Roman"/>
                <a:cs typeface="Times New Roman"/>
              </a:rPr>
              <a:t> </a:t>
            </a:r>
            <a:r>
              <a:rPr sz="1677" spc="-18" dirty="0">
                <a:latin typeface="Times New Roman"/>
                <a:cs typeface="Times New Roman"/>
              </a:rPr>
              <a:t>File</a:t>
            </a:r>
            <a:endParaRPr sz="1677">
              <a:latin typeface="Times New Roman"/>
              <a:cs typeface="Times New Roman"/>
            </a:endParaRPr>
          </a:p>
        </p:txBody>
      </p:sp>
      <p:grpSp>
        <p:nvGrpSpPr>
          <p:cNvPr id="27" name="object 27"/>
          <p:cNvGrpSpPr/>
          <p:nvPr/>
        </p:nvGrpSpPr>
        <p:grpSpPr>
          <a:xfrm>
            <a:off x="5165261" y="3410408"/>
            <a:ext cx="226359" cy="552450"/>
            <a:chOff x="5701563" y="3865129"/>
            <a:chExt cx="256540" cy="626110"/>
          </a:xfrm>
        </p:grpSpPr>
        <p:sp>
          <p:nvSpPr>
            <p:cNvPr id="28" name="object 28"/>
            <p:cNvSpPr/>
            <p:nvPr/>
          </p:nvSpPr>
          <p:spPr>
            <a:xfrm>
              <a:off x="5717120" y="3880687"/>
              <a:ext cx="225425" cy="594995"/>
            </a:xfrm>
            <a:custGeom>
              <a:avLst/>
              <a:gdLst/>
              <a:ahLst/>
              <a:cxnLst/>
              <a:rect l="l" t="t" r="r" b="b"/>
              <a:pathLst>
                <a:path w="225425" h="594995">
                  <a:moveTo>
                    <a:pt x="112633" y="0"/>
                  </a:moveTo>
                  <a:lnTo>
                    <a:pt x="63100" y="30207"/>
                  </a:lnTo>
                  <a:lnTo>
                    <a:pt x="42187" y="65291"/>
                  </a:lnTo>
                  <a:lnTo>
                    <a:pt x="24744" y="111315"/>
                  </a:lnTo>
                  <a:lnTo>
                    <a:pt x="11448" y="166497"/>
                  </a:lnTo>
                  <a:lnTo>
                    <a:pt x="2974" y="229053"/>
                  </a:lnTo>
                  <a:lnTo>
                    <a:pt x="0" y="297197"/>
                  </a:lnTo>
                  <a:lnTo>
                    <a:pt x="2974" y="365342"/>
                  </a:lnTo>
                  <a:lnTo>
                    <a:pt x="11448" y="427897"/>
                  </a:lnTo>
                  <a:lnTo>
                    <a:pt x="24744" y="483079"/>
                  </a:lnTo>
                  <a:lnTo>
                    <a:pt x="42187" y="529104"/>
                  </a:lnTo>
                  <a:lnTo>
                    <a:pt x="63100" y="564187"/>
                  </a:lnTo>
                  <a:lnTo>
                    <a:pt x="112633" y="594395"/>
                  </a:lnTo>
                  <a:lnTo>
                    <a:pt x="138459" y="586546"/>
                  </a:lnTo>
                  <a:lnTo>
                    <a:pt x="183079" y="529104"/>
                  </a:lnTo>
                  <a:lnTo>
                    <a:pt x="200522" y="483079"/>
                  </a:lnTo>
                  <a:lnTo>
                    <a:pt x="213818" y="427897"/>
                  </a:lnTo>
                  <a:lnTo>
                    <a:pt x="222291" y="365342"/>
                  </a:lnTo>
                  <a:lnTo>
                    <a:pt x="225266" y="297197"/>
                  </a:lnTo>
                  <a:lnTo>
                    <a:pt x="222291" y="229053"/>
                  </a:lnTo>
                  <a:lnTo>
                    <a:pt x="213818" y="166497"/>
                  </a:lnTo>
                  <a:lnTo>
                    <a:pt x="200522" y="111315"/>
                  </a:lnTo>
                  <a:lnTo>
                    <a:pt x="183079" y="65291"/>
                  </a:lnTo>
                  <a:lnTo>
                    <a:pt x="162166" y="30207"/>
                  </a:lnTo>
                  <a:lnTo>
                    <a:pt x="112633" y="0"/>
                  </a:lnTo>
                  <a:close/>
                </a:path>
              </a:pathLst>
            </a:custGeom>
            <a:solidFill>
              <a:srgbClr val="618FFD"/>
            </a:solidFill>
          </p:spPr>
          <p:txBody>
            <a:bodyPr wrap="square" lIns="0" tIns="0" rIns="0" bIns="0" rtlCol="0"/>
            <a:lstStyle/>
            <a:p>
              <a:endParaRPr sz="1588"/>
            </a:p>
          </p:txBody>
        </p:sp>
        <p:sp>
          <p:nvSpPr>
            <p:cNvPr id="29" name="object 29"/>
            <p:cNvSpPr/>
            <p:nvPr/>
          </p:nvSpPr>
          <p:spPr>
            <a:xfrm>
              <a:off x="5717120" y="3880687"/>
              <a:ext cx="225425" cy="594995"/>
            </a:xfrm>
            <a:custGeom>
              <a:avLst/>
              <a:gdLst/>
              <a:ahLst/>
              <a:cxnLst/>
              <a:rect l="l" t="t" r="r" b="b"/>
              <a:pathLst>
                <a:path w="225425" h="594995">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30" name="object 30"/>
          <p:cNvSpPr txBox="1"/>
          <p:nvPr/>
        </p:nvSpPr>
        <p:spPr>
          <a:xfrm>
            <a:off x="5204320" y="3510578"/>
            <a:ext cx="166712" cy="360269"/>
          </a:xfrm>
          <a:prstGeom prst="rect">
            <a:avLst/>
          </a:prstGeom>
        </p:spPr>
        <p:txBody>
          <a:bodyPr vert="vert" wrap="square" lIns="0" tIns="0" rIns="0" bIns="0" rtlCol="0">
            <a:spAutoFit/>
          </a:bodyPr>
          <a:lstStyle/>
          <a:p>
            <a:pPr marL="11206">
              <a:lnSpc>
                <a:spcPts val="1337"/>
              </a:lnSpc>
            </a:pPr>
            <a:r>
              <a:rPr sz="1147" spc="-22" dirty="0">
                <a:latin typeface="Times New Roman"/>
                <a:cs typeface="Times New Roman"/>
              </a:rPr>
              <a:t>MUX</a:t>
            </a:r>
            <a:endParaRPr sz="1147">
              <a:latin typeface="Times New Roman"/>
              <a:cs typeface="Times New Roman"/>
            </a:endParaRPr>
          </a:p>
        </p:txBody>
      </p:sp>
      <p:grpSp>
        <p:nvGrpSpPr>
          <p:cNvPr id="31" name="object 31"/>
          <p:cNvGrpSpPr/>
          <p:nvPr/>
        </p:nvGrpSpPr>
        <p:grpSpPr>
          <a:xfrm>
            <a:off x="5165261" y="3989129"/>
            <a:ext cx="226359" cy="552450"/>
            <a:chOff x="5701563" y="4521013"/>
            <a:chExt cx="256540" cy="626110"/>
          </a:xfrm>
        </p:grpSpPr>
        <p:sp>
          <p:nvSpPr>
            <p:cNvPr id="32" name="object 32"/>
            <p:cNvSpPr/>
            <p:nvPr/>
          </p:nvSpPr>
          <p:spPr>
            <a:xfrm>
              <a:off x="5717120" y="4536570"/>
              <a:ext cx="225425" cy="594995"/>
            </a:xfrm>
            <a:custGeom>
              <a:avLst/>
              <a:gdLst/>
              <a:ahLst/>
              <a:cxnLst/>
              <a:rect l="l" t="t" r="r" b="b"/>
              <a:pathLst>
                <a:path w="225425" h="594995">
                  <a:moveTo>
                    <a:pt x="112633" y="0"/>
                  </a:moveTo>
                  <a:lnTo>
                    <a:pt x="63100" y="30207"/>
                  </a:lnTo>
                  <a:lnTo>
                    <a:pt x="42187" y="65291"/>
                  </a:lnTo>
                  <a:lnTo>
                    <a:pt x="24744" y="111315"/>
                  </a:lnTo>
                  <a:lnTo>
                    <a:pt x="11448" y="166497"/>
                  </a:lnTo>
                  <a:lnTo>
                    <a:pt x="2974" y="229053"/>
                  </a:lnTo>
                  <a:lnTo>
                    <a:pt x="0" y="297197"/>
                  </a:lnTo>
                  <a:lnTo>
                    <a:pt x="2974" y="365342"/>
                  </a:lnTo>
                  <a:lnTo>
                    <a:pt x="11448" y="427898"/>
                  </a:lnTo>
                  <a:lnTo>
                    <a:pt x="24744" y="483080"/>
                  </a:lnTo>
                  <a:lnTo>
                    <a:pt x="42187" y="529104"/>
                  </a:lnTo>
                  <a:lnTo>
                    <a:pt x="63100" y="564188"/>
                  </a:lnTo>
                  <a:lnTo>
                    <a:pt x="112633" y="594395"/>
                  </a:lnTo>
                  <a:lnTo>
                    <a:pt x="138459" y="586546"/>
                  </a:lnTo>
                  <a:lnTo>
                    <a:pt x="183079" y="529104"/>
                  </a:lnTo>
                  <a:lnTo>
                    <a:pt x="200522" y="483080"/>
                  </a:lnTo>
                  <a:lnTo>
                    <a:pt x="213818" y="427898"/>
                  </a:lnTo>
                  <a:lnTo>
                    <a:pt x="222291" y="365342"/>
                  </a:lnTo>
                  <a:lnTo>
                    <a:pt x="225266" y="297197"/>
                  </a:lnTo>
                  <a:lnTo>
                    <a:pt x="222291" y="229053"/>
                  </a:lnTo>
                  <a:lnTo>
                    <a:pt x="213818" y="166497"/>
                  </a:lnTo>
                  <a:lnTo>
                    <a:pt x="200522" y="111315"/>
                  </a:lnTo>
                  <a:lnTo>
                    <a:pt x="183079" y="65291"/>
                  </a:lnTo>
                  <a:lnTo>
                    <a:pt x="162166" y="30207"/>
                  </a:lnTo>
                  <a:lnTo>
                    <a:pt x="112633" y="0"/>
                  </a:lnTo>
                  <a:close/>
                </a:path>
              </a:pathLst>
            </a:custGeom>
            <a:solidFill>
              <a:srgbClr val="618FFD"/>
            </a:solidFill>
          </p:spPr>
          <p:txBody>
            <a:bodyPr wrap="square" lIns="0" tIns="0" rIns="0" bIns="0" rtlCol="0"/>
            <a:lstStyle/>
            <a:p>
              <a:endParaRPr sz="1588"/>
            </a:p>
          </p:txBody>
        </p:sp>
        <p:sp>
          <p:nvSpPr>
            <p:cNvPr id="33" name="object 33"/>
            <p:cNvSpPr/>
            <p:nvPr/>
          </p:nvSpPr>
          <p:spPr>
            <a:xfrm>
              <a:off x="5717120" y="4536570"/>
              <a:ext cx="225425" cy="594995"/>
            </a:xfrm>
            <a:custGeom>
              <a:avLst/>
              <a:gdLst/>
              <a:ahLst/>
              <a:cxnLst/>
              <a:rect l="l" t="t" r="r" b="b"/>
              <a:pathLst>
                <a:path w="225425" h="594995">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34" name="object 34"/>
          <p:cNvSpPr txBox="1"/>
          <p:nvPr/>
        </p:nvSpPr>
        <p:spPr>
          <a:xfrm>
            <a:off x="5204320" y="4088803"/>
            <a:ext cx="166712" cy="360269"/>
          </a:xfrm>
          <a:prstGeom prst="rect">
            <a:avLst/>
          </a:prstGeom>
        </p:spPr>
        <p:txBody>
          <a:bodyPr vert="vert" wrap="square" lIns="0" tIns="0" rIns="0" bIns="0" rtlCol="0">
            <a:spAutoFit/>
          </a:bodyPr>
          <a:lstStyle/>
          <a:p>
            <a:pPr marL="11206">
              <a:lnSpc>
                <a:spcPts val="1337"/>
              </a:lnSpc>
            </a:pPr>
            <a:r>
              <a:rPr sz="1147" spc="-22" dirty="0">
                <a:latin typeface="Times New Roman"/>
                <a:cs typeface="Times New Roman"/>
              </a:rPr>
              <a:t>MUX</a:t>
            </a:r>
            <a:endParaRPr sz="1147">
              <a:latin typeface="Times New Roman"/>
              <a:cs typeface="Times New Roman"/>
            </a:endParaRPr>
          </a:p>
        </p:txBody>
      </p:sp>
      <p:grpSp>
        <p:nvGrpSpPr>
          <p:cNvPr id="35" name="object 35"/>
          <p:cNvGrpSpPr/>
          <p:nvPr/>
        </p:nvGrpSpPr>
        <p:grpSpPr>
          <a:xfrm>
            <a:off x="4859761" y="3094083"/>
            <a:ext cx="3406588" cy="1790700"/>
            <a:chOff x="5355329" y="3506627"/>
            <a:chExt cx="3860800" cy="2029460"/>
          </a:xfrm>
        </p:grpSpPr>
        <p:sp>
          <p:nvSpPr>
            <p:cNvPr id="36" name="object 36"/>
            <p:cNvSpPr/>
            <p:nvPr/>
          </p:nvSpPr>
          <p:spPr>
            <a:xfrm>
              <a:off x="5355329" y="3506627"/>
              <a:ext cx="822960" cy="758825"/>
            </a:xfrm>
            <a:custGeom>
              <a:avLst/>
              <a:gdLst/>
              <a:ahLst/>
              <a:cxnLst/>
              <a:rect l="l" t="t" r="r" b="b"/>
              <a:pathLst>
                <a:path w="822960" h="758825">
                  <a:moveTo>
                    <a:pt x="730408" y="30745"/>
                  </a:moveTo>
                  <a:lnTo>
                    <a:pt x="6875" y="30745"/>
                  </a:lnTo>
                  <a:lnTo>
                    <a:pt x="0" y="37627"/>
                  </a:lnTo>
                  <a:lnTo>
                    <a:pt x="0" y="758366"/>
                  </a:lnTo>
                  <a:lnTo>
                    <a:pt x="30717" y="758366"/>
                  </a:lnTo>
                  <a:lnTo>
                    <a:pt x="30717" y="61489"/>
                  </a:lnTo>
                  <a:lnTo>
                    <a:pt x="15359" y="61489"/>
                  </a:lnTo>
                  <a:lnTo>
                    <a:pt x="30717" y="46117"/>
                  </a:lnTo>
                  <a:lnTo>
                    <a:pt x="730408" y="46117"/>
                  </a:lnTo>
                  <a:lnTo>
                    <a:pt x="730408" y="30745"/>
                  </a:lnTo>
                  <a:close/>
                </a:path>
                <a:path w="822960" h="758825">
                  <a:moveTo>
                    <a:pt x="730408" y="0"/>
                  </a:moveTo>
                  <a:lnTo>
                    <a:pt x="730408" y="92233"/>
                  </a:lnTo>
                  <a:lnTo>
                    <a:pt x="791845" y="61489"/>
                  </a:lnTo>
                  <a:lnTo>
                    <a:pt x="745769" y="61489"/>
                  </a:lnTo>
                  <a:lnTo>
                    <a:pt x="745769" y="30745"/>
                  </a:lnTo>
                  <a:lnTo>
                    <a:pt x="791846" y="30745"/>
                  </a:lnTo>
                  <a:lnTo>
                    <a:pt x="730408" y="0"/>
                  </a:lnTo>
                  <a:close/>
                </a:path>
                <a:path w="822960" h="758825">
                  <a:moveTo>
                    <a:pt x="30717" y="46117"/>
                  </a:moveTo>
                  <a:lnTo>
                    <a:pt x="15359" y="61489"/>
                  </a:lnTo>
                  <a:lnTo>
                    <a:pt x="30717" y="61489"/>
                  </a:lnTo>
                  <a:lnTo>
                    <a:pt x="30717" y="46117"/>
                  </a:lnTo>
                  <a:close/>
                </a:path>
                <a:path w="822960" h="758825">
                  <a:moveTo>
                    <a:pt x="730408" y="46117"/>
                  </a:moveTo>
                  <a:lnTo>
                    <a:pt x="30717" y="46117"/>
                  </a:lnTo>
                  <a:lnTo>
                    <a:pt x="30717" y="61489"/>
                  </a:lnTo>
                  <a:lnTo>
                    <a:pt x="730408" y="61489"/>
                  </a:lnTo>
                  <a:lnTo>
                    <a:pt x="730408" y="46117"/>
                  </a:lnTo>
                  <a:close/>
                </a:path>
                <a:path w="822960" h="758825">
                  <a:moveTo>
                    <a:pt x="791846" y="30745"/>
                  </a:moveTo>
                  <a:lnTo>
                    <a:pt x="745769" y="30745"/>
                  </a:lnTo>
                  <a:lnTo>
                    <a:pt x="745769" y="61489"/>
                  </a:lnTo>
                  <a:lnTo>
                    <a:pt x="791845" y="61489"/>
                  </a:lnTo>
                  <a:lnTo>
                    <a:pt x="822563" y="46117"/>
                  </a:lnTo>
                  <a:lnTo>
                    <a:pt x="791846" y="30745"/>
                  </a:lnTo>
                  <a:close/>
                </a:path>
              </a:pathLst>
            </a:custGeom>
            <a:solidFill>
              <a:srgbClr val="000000"/>
            </a:solidFill>
          </p:spPr>
          <p:txBody>
            <a:bodyPr wrap="square" lIns="0" tIns="0" rIns="0" bIns="0" rtlCol="0"/>
            <a:lstStyle/>
            <a:p>
              <a:endParaRPr sz="1588"/>
            </a:p>
          </p:txBody>
        </p:sp>
        <p:sp>
          <p:nvSpPr>
            <p:cNvPr id="37" name="object 37"/>
            <p:cNvSpPr/>
            <p:nvPr/>
          </p:nvSpPr>
          <p:spPr>
            <a:xfrm>
              <a:off x="7683081" y="4290614"/>
              <a:ext cx="573405" cy="1229995"/>
            </a:xfrm>
            <a:custGeom>
              <a:avLst/>
              <a:gdLst/>
              <a:ahLst/>
              <a:cxnLst/>
              <a:rect l="l" t="t" r="r" b="b"/>
              <a:pathLst>
                <a:path w="573404" h="1229995">
                  <a:moveTo>
                    <a:pt x="573404" y="0"/>
                  </a:moveTo>
                  <a:lnTo>
                    <a:pt x="0" y="0"/>
                  </a:lnTo>
                  <a:lnTo>
                    <a:pt x="0" y="1229782"/>
                  </a:lnTo>
                  <a:lnTo>
                    <a:pt x="573404" y="1229782"/>
                  </a:lnTo>
                  <a:lnTo>
                    <a:pt x="573404" y="0"/>
                  </a:lnTo>
                  <a:close/>
                </a:path>
              </a:pathLst>
            </a:custGeom>
            <a:solidFill>
              <a:srgbClr val="618FFD"/>
            </a:solidFill>
          </p:spPr>
          <p:txBody>
            <a:bodyPr wrap="square" lIns="0" tIns="0" rIns="0" bIns="0" rtlCol="0"/>
            <a:lstStyle/>
            <a:p>
              <a:endParaRPr sz="1588"/>
            </a:p>
          </p:txBody>
        </p:sp>
        <p:sp>
          <p:nvSpPr>
            <p:cNvPr id="38" name="object 38"/>
            <p:cNvSpPr/>
            <p:nvPr/>
          </p:nvSpPr>
          <p:spPr>
            <a:xfrm>
              <a:off x="7683081" y="4290614"/>
              <a:ext cx="573405" cy="1229995"/>
            </a:xfrm>
            <a:custGeom>
              <a:avLst/>
              <a:gdLst/>
              <a:ahLst/>
              <a:cxnLst/>
              <a:rect l="l" t="t" r="r" b="b"/>
              <a:pathLst>
                <a:path w="573404" h="1229995">
                  <a:moveTo>
                    <a:pt x="0" y="0"/>
                  </a:moveTo>
                  <a:lnTo>
                    <a:pt x="573404" y="0"/>
                  </a:lnTo>
                  <a:lnTo>
                    <a:pt x="573404" y="1229783"/>
                  </a:lnTo>
                  <a:lnTo>
                    <a:pt x="0" y="1229783"/>
                  </a:lnTo>
                  <a:lnTo>
                    <a:pt x="0" y="0"/>
                  </a:lnTo>
                  <a:close/>
                </a:path>
              </a:pathLst>
            </a:custGeom>
            <a:ln w="30722">
              <a:solidFill>
                <a:srgbClr val="000000"/>
              </a:solidFill>
            </a:ln>
          </p:spPr>
          <p:txBody>
            <a:bodyPr wrap="square" lIns="0" tIns="0" rIns="0" bIns="0" rtlCol="0"/>
            <a:lstStyle/>
            <a:p>
              <a:endParaRPr sz="1588"/>
            </a:p>
          </p:txBody>
        </p:sp>
        <p:sp>
          <p:nvSpPr>
            <p:cNvPr id="39" name="object 39"/>
            <p:cNvSpPr/>
            <p:nvPr/>
          </p:nvSpPr>
          <p:spPr>
            <a:xfrm>
              <a:off x="8974949" y="4838893"/>
              <a:ext cx="225425" cy="594995"/>
            </a:xfrm>
            <a:custGeom>
              <a:avLst/>
              <a:gdLst/>
              <a:ahLst/>
              <a:cxnLst/>
              <a:rect l="l" t="t" r="r" b="b"/>
              <a:pathLst>
                <a:path w="225425" h="594995">
                  <a:moveTo>
                    <a:pt x="112632" y="0"/>
                  </a:moveTo>
                  <a:lnTo>
                    <a:pt x="63099" y="30207"/>
                  </a:lnTo>
                  <a:lnTo>
                    <a:pt x="42186" y="65290"/>
                  </a:lnTo>
                  <a:lnTo>
                    <a:pt x="24744" y="111315"/>
                  </a:lnTo>
                  <a:lnTo>
                    <a:pt x="11448" y="166497"/>
                  </a:lnTo>
                  <a:lnTo>
                    <a:pt x="2974" y="229052"/>
                  </a:lnTo>
                  <a:lnTo>
                    <a:pt x="0" y="297197"/>
                  </a:lnTo>
                  <a:lnTo>
                    <a:pt x="2974" y="365342"/>
                  </a:lnTo>
                  <a:lnTo>
                    <a:pt x="11448" y="427897"/>
                  </a:lnTo>
                  <a:lnTo>
                    <a:pt x="24744" y="483079"/>
                  </a:lnTo>
                  <a:lnTo>
                    <a:pt x="42186" y="529103"/>
                  </a:lnTo>
                  <a:lnTo>
                    <a:pt x="63099" y="564186"/>
                  </a:lnTo>
                  <a:lnTo>
                    <a:pt x="112632" y="594394"/>
                  </a:lnTo>
                  <a:lnTo>
                    <a:pt x="138458" y="586545"/>
                  </a:lnTo>
                  <a:lnTo>
                    <a:pt x="183079" y="529103"/>
                  </a:lnTo>
                  <a:lnTo>
                    <a:pt x="200521" y="483079"/>
                  </a:lnTo>
                  <a:lnTo>
                    <a:pt x="213818" y="427897"/>
                  </a:lnTo>
                  <a:lnTo>
                    <a:pt x="222291" y="365342"/>
                  </a:lnTo>
                  <a:lnTo>
                    <a:pt x="225266" y="297197"/>
                  </a:lnTo>
                  <a:lnTo>
                    <a:pt x="222291" y="229052"/>
                  </a:lnTo>
                  <a:lnTo>
                    <a:pt x="213818" y="166497"/>
                  </a:lnTo>
                  <a:lnTo>
                    <a:pt x="200521" y="111315"/>
                  </a:lnTo>
                  <a:lnTo>
                    <a:pt x="183079" y="65290"/>
                  </a:lnTo>
                  <a:lnTo>
                    <a:pt x="162165" y="30207"/>
                  </a:lnTo>
                  <a:lnTo>
                    <a:pt x="112632" y="0"/>
                  </a:lnTo>
                  <a:close/>
                </a:path>
              </a:pathLst>
            </a:custGeom>
            <a:solidFill>
              <a:srgbClr val="618FFD"/>
            </a:solidFill>
          </p:spPr>
          <p:txBody>
            <a:bodyPr wrap="square" lIns="0" tIns="0" rIns="0" bIns="0" rtlCol="0"/>
            <a:lstStyle/>
            <a:p>
              <a:endParaRPr sz="1588"/>
            </a:p>
          </p:txBody>
        </p:sp>
        <p:sp>
          <p:nvSpPr>
            <p:cNvPr id="40" name="object 40"/>
            <p:cNvSpPr/>
            <p:nvPr/>
          </p:nvSpPr>
          <p:spPr>
            <a:xfrm>
              <a:off x="8974949" y="4838893"/>
              <a:ext cx="225425" cy="594995"/>
            </a:xfrm>
            <a:custGeom>
              <a:avLst/>
              <a:gdLst/>
              <a:ahLst/>
              <a:cxnLst/>
              <a:rect l="l" t="t" r="r" b="b"/>
              <a:pathLst>
                <a:path w="225425" h="594995">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41" name="object 41"/>
          <p:cNvSpPr txBox="1"/>
          <p:nvPr/>
        </p:nvSpPr>
        <p:spPr>
          <a:xfrm>
            <a:off x="8078874" y="4355055"/>
            <a:ext cx="166712" cy="360269"/>
          </a:xfrm>
          <a:prstGeom prst="rect">
            <a:avLst/>
          </a:prstGeom>
        </p:spPr>
        <p:txBody>
          <a:bodyPr vert="vert" wrap="square" lIns="0" tIns="0" rIns="0" bIns="0" rtlCol="0">
            <a:spAutoFit/>
          </a:bodyPr>
          <a:lstStyle/>
          <a:p>
            <a:pPr marL="11206">
              <a:lnSpc>
                <a:spcPts val="1337"/>
              </a:lnSpc>
            </a:pPr>
            <a:r>
              <a:rPr sz="1147" spc="-22" dirty="0">
                <a:latin typeface="Times New Roman"/>
                <a:cs typeface="Times New Roman"/>
              </a:rPr>
              <a:t>MUX</a:t>
            </a:r>
            <a:endParaRPr sz="1147">
              <a:latin typeface="Times New Roman"/>
              <a:cs typeface="Times New Roman"/>
            </a:endParaRPr>
          </a:p>
        </p:txBody>
      </p:sp>
      <p:grpSp>
        <p:nvGrpSpPr>
          <p:cNvPr id="42" name="object 42"/>
          <p:cNvGrpSpPr/>
          <p:nvPr/>
        </p:nvGrpSpPr>
        <p:grpSpPr>
          <a:xfrm>
            <a:off x="3775418" y="4701982"/>
            <a:ext cx="452157" cy="669551"/>
            <a:chOff x="4126406" y="5328912"/>
            <a:chExt cx="512445" cy="758825"/>
          </a:xfrm>
        </p:grpSpPr>
        <p:sp>
          <p:nvSpPr>
            <p:cNvPr id="43" name="object 43"/>
            <p:cNvSpPr/>
            <p:nvPr/>
          </p:nvSpPr>
          <p:spPr>
            <a:xfrm>
              <a:off x="4141964" y="5344469"/>
              <a:ext cx="481330" cy="727710"/>
            </a:xfrm>
            <a:custGeom>
              <a:avLst/>
              <a:gdLst/>
              <a:ahLst/>
              <a:cxnLst/>
              <a:rect l="l" t="t" r="r" b="b"/>
              <a:pathLst>
                <a:path w="481329" h="727710">
                  <a:moveTo>
                    <a:pt x="240624" y="0"/>
                  </a:moveTo>
                  <a:lnTo>
                    <a:pt x="201593" y="4761"/>
                  </a:lnTo>
                  <a:lnTo>
                    <a:pt x="164568" y="18547"/>
                  </a:lnTo>
                  <a:lnTo>
                    <a:pt x="130043" y="40607"/>
                  </a:lnTo>
                  <a:lnTo>
                    <a:pt x="98514" y="70194"/>
                  </a:lnTo>
                  <a:lnTo>
                    <a:pt x="70477" y="106557"/>
                  </a:lnTo>
                  <a:lnTo>
                    <a:pt x="46426" y="148949"/>
                  </a:lnTo>
                  <a:lnTo>
                    <a:pt x="26858" y="196619"/>
                  </a:lnTo>
                  <a:lnTo>
                    <a:pt x="12267" y="248819"/>
                  </a:lnTo>
                  <a:lnTo>
                    <a:pt x="3149" y="304799"/>
                  </a:lnTo>
                  <a:lnTo>
                    <a:pt x="0" y="363811"/>
                  </a:lnTo>
                  <a:lnTo>
                    <a:pt x="3149" y="422823"/>
                  </a:lnTo>
                  <a:lnTo>
                    <a:pt x="12267" y="478803"/>
                  </a:lnTo>
                  <a:lnTo>
                    <a:pt x="26858" y="531003"/>
                  </a:lnTo>
                  <a:lnTo>
                    <a:pt x="46426" y="578673"/>
                  </a:lnTo>
                  <a:lnTo>
                    <a:pt x="70477" y="621064"/>
                  </a:lnTo>
                  <a:lnTo>
                    <a:pt x="98514" y="657427"/>
                  </a:lnTo>
                  <a:lnTo>
                    <a:pt x="130043" y="687014"/>
                  </a:lnTo>
                  <a:lnTo>
                    <a:pt x="164568" y="709075"/>
                  </a:lnTo>
                  <a:lnTo>
                    <a:pt x="201593" y="722860"/>
                  </a:lnTo>
                  <a:lnTo>
                    <a:pt x="240624" y="727622"/>
                  </a:lnTo>
                  <a:lnTo>
                    <a:pt x="279655" y="722860"/>
                  </a:lnTo>
                  <a:lnTo>
                    <a:pt x="316680" y="709075"/>
                  </a:lnTo>
                  <a:lnTo>
                    <a:pt x="351205" y="687014"/>
                  </a:lnTo>
                  <a:lnTo>
                    <a:pt x="382734" y="657427"/>
                  </a:lnTo>
                  <a:lnTo>
                    <a:pt x="410772" y="621064"/>
                  </a:lnTo>
                  <a:lnTo>
                    <a:pt x="434823" y="578673"/>
                  </a:lnTo>
                  <a:lnTo>
                    <a:pt x="454391" y="531003"/>
                  </a:lnTo>
                  <a:lnTo>
                    <a:pt x="468982" y="478803"/>
                  </a:lnTo>
                  <a:lnTo>
                    <a:pt x="478100" y="422823"/>
                  </a:lnTo>
                  <a:lnTo>
                    <a:pt x="481249" y="363811"/>
                  </a:lnTo>
                  <a:lnTo>
                    <a:pt x="478100" y="304799"/>
                  </a:lnTo>
                  <a:lnTo>
                    <a:pt x="468982" y="248819"/>
                  </a:lnTo>
                  <a:lnTo>
                    <a:pt x="454391" y="196619"/>
                  </a:lnTo>
                  <a:lnTo>
                    <a:pt x="434823" y="148949"/>
                  </a:lnTo>
                  <a:lnTo>
                    <a:pt x="410772" y="106557"/>
                  </a:lnTo>
                  <a:lnTo>
                    <a:pt x="382734" y="70194"/>
                  </a:lnTo>
                  <a:lnTo>
                    <a:pt x="351205" y="40607"/>
                  </a:lnTo>
                  <a:lnTo>
                    <a:pt x="316680" y="18547"/>
                  </a:lnTo>
                  <a:lnTo>
                    <a:pt x="279655" y="4761"/>
                  </a:lnTo>
                  <a:lnTo>
                    <a:pt x="240624" y="0"/>
                  </a:lnTo>
                  <a:close/>
                </a:path>
              </a:pathLst>
            </a:custGeom>
            <a:solidFill>
              <a:srgbClr val="618FFD"/>
            </a:solidFill>
          </p:spPr>
          <p:txBody>
            <a:bodyPr wrap="square" lIns="0" tIns="0" rIns="0" bIns="0" rtlCol="0"/>
            <a:lstStyle/>
            <a:p>
              <a:endParaRPr sz="1588"/>
            </a:p>
          </p:txBody>
        </p:sp>
        <p:sp>
          <p:nvSpPr>
            <p:cNvPr id="44" name="object 44"/>
            <p:cNvSpPr/>
            <p:nvPr/>
          </p:nvSpPr>
          <p:spPr>
            <a:xfrm>
              <a:off x="4141964" y="5344469"/>
              <a:ext cx="481330" cy="727710"/>
            </a:xfrm>
            <a:custGeom>
              <a:avLst/>
              <a:gdLst/>
              <a:ahLst/>
              <a:cxnLst/>
              <a:rect l="l" t="t" r="r" b="b"/>
              <a:pathLst>
                <a:path w="481329" h="727710">
                  <a:moveTo>
                    <a:pt x="0" y="363810"/>
                  </a:moveTo>
                  <a:lnTo>
                    <a:pt x="3149" y="304798"/>
                  </a:lnTo>
                  <a:lnTo>
                    <a:pt x="12267" y="248818"/>
                  </a:lnTo>
                  <a:lnTo>
                    <a:pt x="26858" y="196618"/>
                  </a:lnTo>
                  <a:lnTo>
                    <a:pt x="46426" y="148948"/>
                  </a:lnTo>
                  <a:lnTo>
                    <a:pt x="70477" y="106557"/>
                  </a:lnTo>
                  <a:lnTo>
                    <a:pt x="98515" y="70194"/>
                  </a:lnTo>
                  <a:lnTo>
                    <a:pt x="130044" y="40607"/>
                  </a:lnTo>
                  <a:lnTo>
                    <a:pt x="164569" y="18547"/>
                  </a:lnTo>
                  <a:lnTo>
                    <a:pt x="201594" y="4761"/>
                  </a:lnTo>
                  <a:lnTo>
                    <a:pt x="240625" y="0"/>
                  </a:lnTo>
                  <a:lnTo>
                    <a:pt x="279655" y="4761"/>
                  </a:lnTo>
                  <a:lnTo>
                    <a:pt x="316681" y="18547"/>
                  </a:lnTo>
                  <a:lnTo>
                    <a:pt x="351206" y="40607"/>
                  </a:lnTo>
                  <a:lnTo>
                    <a:pt x="382735" y="70194"/>
                  </a:lnTo>
                  <a:lnTo>
                    <a:pt x="410773" y="106557"/>
                  </a:lnTo>
                  <a:lnTo>
                    <a:pt x="434823" y="148948"/>
                  </a:lnTo>
                  <a:lnTo>
                    <a:pt x="454392" y="196618"/>
                  </a:lnTo>
                  <a:lnTo>
                    <a:pt x="468983" y="248818"/>
                  </a:lnTo>
                  <a:lnTo>
                    <a:pt x="478101" y="304798"/>
                  </a:lnTo>
                  <a:lnTo>
                    <a:pt x="481250" y="363810"/>
                  </a:lnTo>
                  <a:lnTo>
                    <a:pt x="478101" y="422822"/>
                  </a:lnTo>
                  <a:lnTo>
                    <a:pt x="468983" y="478803"/>
                  </a:lnTo>
                  <a:lnTo>
                    <a:pt x="454392" y="531002"/>
                  </a:lnTo>
                  <a:lnTo>
                    <a:pt x="434823" y="578672"/>
                  </a:lnTo>
                  <a:lnTo>
                    <a:pt x="410773" y="621064"/>
                  </a:lnTo>
                  <a:lnTo>
                    <a:pt x="382735" y="657427"/>
                  </a:lnTo>
                  <a:lnTo>
                    <a:pt x="351206" y="687013"/>
                  </a:lnTo>
                  <a:lnTo>
                    <a:pt x="316681" y="709074"/>
                  </a:lnTo>
                  <a:lnTo>
                    <a:pt x="279655" y="722860"/>
                  </a:lnTo>
                  <a:lnTo>
                    <a:pt x="240625" y="727621"/>
                  </a:lnTo>
                  <a:lnTo>
                    <a:pt x="201594" y="722860"/>
                  </a:lnTo>
                  <a:lnTo>
                    <a:pt x="164569" y="709074"/>
                  </a:lnTo>
                  <a:lnTo>
                    <a:pt x="130044" y="687013"/>
                  </a:lnTo>
                  <a:lnTo>
                    <a:pt x="98515" y="657427"/>
                  </a:lnTo>
                  <a:lnTo>
                    <a:pt x="70477" y="621064"/>
                  </a:lnTo>
                  <a:lnTo>
                    <a:pt x="46426" y="578672"/>
                  </a:lnTo>
                  <a:lnTo>
                    <a:pt x="26858" y="531002"/>
                  </a:lnTo>
                  <a:lnTo>
                    <a:pt x="12267" y="478803"/>
                  </a:lnTo>
                  <a:lnTo>
                    <a:pt x="3149" y="422822"/>
                  </a:lnTo>
                  <a:lnTo>
                    <a:pt x="0" y="363810"/>
                  </a:lnTo>
                  <a:close/>
                </a:path>
              </a:pathLst>
            </a:custGeom>
            <a:ln w="30726">
              <a:solidFill>
                <a:srgbClr val="000000"/>
              </a:solidFill>
            </a:ln>
          </p:spPr>
          <p:txBody>
            <a:bodyPr wrap="square" lIns="0" tIns="0" rIns="0" bIns="0" rtlCol="0"/>
            <a:lstStyle/>
            <a:p>
              <a:endParaRPr sz="1588"/>
            </a:p>
          </p:txBody>
        </p:sp>
      </p:grpSp>
      <p:sp>
        <p:nvSpPr>
          <p:cNvPr id="45" name="object 45"/>
          <p:cNvSpPr txBox="1"/>
          <p:nvPr/>
        </p:nvSpPr>
        <p:spPr>
          <a:xfrm>
            <a:off x="3806548" y="4874453"/>
            <a:ext cx="392206" cy="300233"/>
          </a:xfrm>
          <a:prstGeom prst="rect">
            <a:avLst/>
          </a:prstGeom>
        </p:spPr>
        <p:txBody>
          <a:bodyPr vert="horz" wrap="square" lIns="0" tIns="17929" rIns="0" bIns="0" rtlCol="0">
            <a:spAutoFit/>
          </a:bodyPr>
          <a:lstStyle/>
          <a:p>
            <a:pPr marL="11206" marR="4483" indent="70601">
              <a:lnSpc>
                <a:spcPts val="1147"/>
              </a:lnSpc>
              <a:spcBef>
                <a:spcPts val="141"/>
              </a:spcBef>
            </a:pPr>
            <a:r>
              <a:rPr sz="971" b="1" spc="-18" dirty="0">
                <a:latin typeface="Times New Roman"/>
                <a:cs typeface="Times New Roman"/>
              </a:rPr>
              <a:t>Sign </a:t>
            </a:r>
            <a:r>
              <a:rPr sz="971" b="1" spc="-22" dirty="0">
                <a:latin typeface="Times New Roman"/>
                <a:cs typeface="Times New Roman"/>
              </a:rPr>
              <a:t>Extend</a:t>
            </a:r>
            <a:endParaRPr sz="971">
              <a:latin typeface="Times New Roman"/>
              <a:cs typeface="Times New Roman"/>
            </a:endParaRPr>
          </a:p>
        </p:txBody>
      </p:sp>
      <p:grpSp>
        <p:nvGrpSpPr>
          <p:cNvPr id="46" name="object 46"/>
          <p:cNvGrpSpPr/>
          <p:nvPr/>
        </p:nvGrpSpPr>
        <p:grpSpPr>
          <a:xfrm>
            <a:off x="2343586" y="2953760"/>
            <a:ext cx="3700182" cy="2152650"/>
            <a:chOff x="2503664" y="3347595"/>
            <a:chExt cx="4193540" cy="2439670"/>
          </a:xfrm>
        </p:grpSpPr>
        <p:sp>
          <p:nvSpPr>
            <p:cNvPr id="47" name="object 47"/>
            <p:cNvSpPr/>
            <p:nvPr/>
          </p:nvSpPr>
          <p:spPr>
            <a:xfrm>
              <a:off x="2503664" y="4382848"/>
              <a:ext cx="327660" cy="92710"/>
            </a:xfrm>
            <a:custGeom>
              <a:avLst/>
              <a:gdLst/>
              <a:ahLst/>
              <a:cxnLst/>
              <a:rect l="l" t="t" r="r" b="b"/>
              <a:pathLst>
                <a:path w="327660" h="92710">
                  <a:moveTo>
                    <a:pt x="235504" y="0"/>
                  </a:moveTo>
                  <a:lnTo>
                    <a:pt x="235504" y="92233"/>
                  </a:lnTo>
                  <a:lnTo>
                    <a:pt x="296941" y="61489"/>
                  </a:lnTo>
                  <a:lnTo>
                    <a:pt x="250864" y="61489"/>
                  </a:lnTo>
                  <a:lnTo>
                    <a:pt x="250864" y="30744"/>
                  </a:lnTo>
                  <a:lnTo>
                    <a:pt x="296939" y="30744"/>
                  </a:lnTo>
                  <a:lnTo>
                    <a:pt x="235504" y="0"/>
                  </a:lnTo>
                  <a:close/>
                </a:path>
                <a:path w="327660" h="92710">
                  <a:moveTo>
                    <a:pt x="235504" y="30744"/>
                  </a:moveTo>
                  <a:lnTo>
                    <a:pt x="0" y="30744"/>
                  </a:lnTo>
                  <a:lnTo>
                    <a:pt x="0" y="61489"/>
                  </a:lnTo>
                  <a:lnTo>
                    <a:pt x="235504" y="61489"/>
                  </a:lnTo>
                  <a:lnTo>
                    <a:pt x="235504" y="30744"/>
                  </a:lnTo>
                  <a:close/>
                </a:path>
                <a:path w="327660" h="92710">
                  <a:moveTo>
                    <a:pt x="296939" y="30744"/>
                  </a:moveTo>
                  <a:lnTo>
                    <a:pt x="250864" y="30744"/>
                  </a:lnTo>
                  <a:lnTo>
                    <a:pt x="250864" y="61489"/>
                  </a:lnTo>
                  <a:lnTo>
                    <a:pt x="296941" y="61489"/>
                  </a:lnTo>
                  <a:lnTo>
                    <a:pt x="327659" y="46117"/>
                  </a:lnTo>
                  <a:lnTo>
                    <a:pt x="296939" y="30744"/>
                  </a:lnTo>
                  <a:close/>
                </a:path>
              </a:pathLst>
            </a:custGeom>
            <a:solidFill>
              <a:srgbClr val="000000"/>
            </a:solidFill>
          </p:spPr>
          <p:txBody>
            <a:bodyPr wrap="square" lIns="0" tIns="0" rIns="0" bIns="0" rtlCol="0"/>
            <a:lstStyle/>
            <a:p>
              <a:endParaRPr sz="1588"/>
            </a:p>
          </p:txBody>
        </p:sp>
        <p:pic>
          <p:nvPicPr>
            <p:cNvPr id="48" name="object 48"/>
            <p:cNvPicPr/>
            <p:nvPr/>
          </p:nvPicPr>
          <p:blipFill>
            <a:blip r:embed="rId3" cstate="print"/>
            <a:stretch>
              <a:fillRect/>
            </a:stretch>
          </p:blipFill>
          <p:spPr>
            <a:xfrm>
              <a:off x="3158984" y="4382848"/>
              <a:ext cx="245745" cy="92233"/>
            </a:xfrm>
            <a:prstGeom prst="rect">
              <a:avLst/>
            </a:prstGeom>
          </p:spPr>
        </p:pic>
        <p:sp>
          <p:nvSpPr>
            <p:cNvPr id="49" name="object 49"/>
            <p:cNvSpPr/>
            <p:nvPr/>
          </p:nvSpPr>
          <p:spPr>
            <a:xfrm>
              <a:off x="3389363" y="3808958"/>
              <a:ext cx="2309495" cy="1978025"/>
            </a:xfrm>
            <a:custGeom>
              <a:avLst/>
              <a:gdLst/>
              <a:ahLst/>
              <a:cxnLst/>
              <a:rect l="l" t="t" r="r" b="b"/>
              <a:pathLst>
                <a:path w="2309495" h="1978025">
                  <a:moveTo>
                    <a:pt x="752589" y="46113"/>
                  </a:moveTo>
                  <a:lnTo>
                    <a:pt x="721880" y="30746"/>
                  </a:lnTo>
                  <a:lnTo>
                    <a:pt x="660438" y="0"/>
                  </a:lnTo>
                  <a:lnTo>
                    <a:pt x="660438" y="30746"/>
                  </a:lnTo>
                  <a:lnTo>
                    <a:pt x="15354" y="30746"/>
                  </a:lnTo>
                  <a:lnTo>
                    <a:pt x="15354" y="40995"/>
                  </a:lnTo>
                  <a:lnTo>
                    <a:pt x="0" y="40995"/>
                  </a:lnTo>
                  <a:lnTo>
                    <a:pt x="0" y="1940267"/>
                  </a:lnTo>
                  <a:lnTo>
                    <a:pt x="6883" y="1947151"/>
                  </a:lnTo>
                  <a:lnTo>
                    <a:pt x="660438" y="1947151"/>
                  </a:lnTo>
                  <a:lnTo>
                    <a:pt x="660438" y="1977898"/>
                  </a:lnTo>
                  <a:lnTo>
                    <a:pt x="721880" y="1947151"/>
                  </a:lnTo>
                  <a:lnTo>
                    <a:pt x="752589" y="1931784"/>
                  </a:lnTo>
                  <a:lnTo>
                    <a:pt x="721880" y="1916404"/>
                  </a:lnTo>
                  <a:lnTo>
                    <a:pt x="660438" y="1885657"/>
                  </a:lnTo>
                  <a:lnTo>
                    <a:pt x="660438" y="1916404"/>
                  </a:lnTo>
                  <a:lnTo>
                    <a:pt x="30721" y="1916404"/>
                  </a:lnTo>
                  <a:lnTo>
                    <a:pt x="30721" y="389432"/>
                  </a:lnTo>
                  <a:lnTo>
                    <a:pt x="660438" y="389432"/>
                  </a:lnTo>
                  <a:lnTo>
                    <a:pt x="660438" y="420166"/>
                  </a:lnTo>
                  <a:lnTo>
                    <a:pt x="721880" y="389432"/>
                  </a:lnTo>
                  <a:lnTo>
                    <a:pt x="752589" y="374053"/>
                  </a:lnTo>
                  <a:lnTo>
                    <a:pt x="721880" y="358686"/>
                  </a:lnTo>
                  <a:lnTo>
                    <a:pt x="660438" y="327939"/>
                  </a:lnTo>
                  <a:lnTo>
                    <a:pt x="660438" y="358686"/>
                  </a:lnTo>
                  <a:lnTo>
                    <a:pt x="30721" y="358686"/>
                  </a:lnTo>
                  <a:lnTo>
                    <a:pt x="30721" y="61480"/>
                  </a:lnTo>
                  <a:lnTo>
                    <a:pt x="660438" y="61480"/>
                  </a:lnTo>
                  <a:lnTo>
                    <a:pt x="660438" y="92227"/>
                  </a:lnTo>
                  <a:lnTo>
                    <a:pt x="721880" y="61480"/>
                  </a:lnTo>
                  <a:lnTo>
                    <a:pt x="752589" y="46113"/>
                  </a:lnTo>
                  <a:close/>
                </a:path>
                <a:path w="2309495" h="1978025">
                  <a:moveTo>
                    <a:pt x="2308974" y="456044"/>
                  </a:moveTo>
                  <a:lnTo>
                    <a:pt x="2278265" y="440664"/>
                  </a:lnTo>
                  <a:lnTo>
                    <a:pt x="2216823" y="409930"/>
                  </a:lnTo>
                  <a:lnTo>
                    <a:pt x="2216823" y="440664"/>
                  </a:lnTo>
                  <a:lnTo>
                    <a:pt x="1407909" y="440664"/>
                  </a:lnTo>
                  <a:lnTo>
                    <a:pt x="1407909" y="471411"/>
                  </a:lnTo>
                  <a:lnTo>
                    <a:pt x="2216823" y="471411"/>
                  </a:lnTo>
                  <a:lnTo>
                    <a:pt x="2216823" y="502158"/>
                  </a:lnTo>
                  <a:lnTo>
                    <a:pt x="2278265" y="471411"/>
                  </a:lnTo>
                  <a:lnTo>
                    <a:pt x="2308974" y="456044"/>
                  </a:lnTo>
                  <a:close/>
                </a:path>
              </a:pathLst>
            </a:custGeom>
            <a:solidFill>
              <a:srgbClr val="000000"/>
            </a:solidFill>
          </p:spPr>
          <p:txBody>
            <a:bodyPr wrap="square" lIns="0" tIns="0" rIns="0" bIns="0" rtlCol="0"/>
            <a:lstStyle/>
            <a:p>
              <a:endParaRPr sz="1588"/>
            </a:p>
          </p:txBody>
        </p:sp>
        <p:sp>
          <p:nvSpPr>
            <p:cNvPr id="50" name="object 50"/>
            <p:cNvSpPr/>
            <p:nvPr/>
          </p:nvSpPr>
          <p:spPr>
            <a:xfrm>
              <a:off x="6189839" y="3363153"/>
              <a:ext cx="491490" cy="410209"/>
            </a:xfrm>
            <a:custGeom>
              <a:avLst/>
              <a:gdLst/>
              <a:ahLst/>
              <a:cxnLst/>
              <a:rect l="l" t="t" r="r" b="b"/>
              <a:pathLst>
                <a:path w="491490" h="410210">
                  <a:moveTo>
                    <a:pt x="491489" y="0"/>
                  </a:moveTo>
                  <a:lnTo>
                    <a:pt x="0" y="0"/>
                  </a:lnTo>
                  <a:lnTo>
                    <a:pt x="0" y="409928"/>
                  </a:lnTo>
                  <a:lnTo>
                    <a:pt x="491489" y="409928"/>
                  </a:lnTo>
                  <a:lnTo>
                    <a:pt x="491489" y="0"/>
                  </a:lnTo>
                  <a:close/>
                </a:path>
              </a:pathLst>
            </a:custGeom>
            <a:solidFill>
              <a:srgbClr val="FF0000"/>
            </a:solidFill>
          </p:spPr>
          <p:txBody>
            <a:bodyPr wrap="square" lIns="0" tIns="0" rIns="0" bIns="0" rtlCol="0"/>
            <a:lstStyle/>
            <a:p>
              <a:endParaRPr sz="1588"/>
            </a:p>
          </p:txBody>
        </p:sp>
        <p:sp>
          <p:nvSpPr>
            <p:cNvPr id="51" name="object 51"/>
            <p:cNvSpPr/>
            <p:nvPr/>
          </p:nvSpPr>
          <p:spPr>
            <a:xfrm>
              <a:off x="6189839" y="3363153"/>
              <a:ext cx="491490" cy="410209"/>
            </a:xfrm>
            <a:custGeom>
              <a:avLst/>
              <a:gdLst/>
              <a:ahLst/>
              <a:cxnLst/>
              <a:rect l="l" t="t" r="r" b="b"/>
              <a:pathLst>
                <a:path w="491490" h="410210">
                  <a:moveTo>
                    <a:pt x="0" y="0"/>
                  </a:moveTo>
                  <a:lnTo>
                    <a:pt x="491489" y="0"/>
                  </a:lnTo>
                  <a:lnTo>
                    <a:pt x="491489" y="409927"/>
                  </a:lnTo>
                  <a:lnTo>
                    <a:pt x="0" y="409927"/>
                  </a:lnTo>
                  <a:lnTo>
                    <a:pt x="0" y="0"/>
                  </a:lnTo>
                  <a:close/>
                </a:path>
              </a:pathLst>
            </a:custGeom>
            <a:ln w="30733">
              <a:solidFill>
                <a:srgbClr val="000000"/>
              </a:solidFill>
            </a:ln>
          </p:spPr>
          <p:txBody>
            <a:bodyPr wrap="square" lIns="0" tIns="0" rIns="0" bIns="0" rtlCol="0"/>
            <a:lstStyle/>
            <a:p>
              <a:endParaRPr sz="1588"/>
            </a:p>
          </p:txBody>
        </p:sp>
      </p:grpSp>
      <p:sp>
        <p:nvSpPr>
          <p:cNvPr id="52" name="object 52"/>
          <p:cNvSpPr txBox="1"/>
          <p:nvPr/>
        </p:nvSpPr>
        <p:spPr>
          <a:xfrm>
            <a:off x="5596092" y="2967487"/>
            <a:ext cx="433668" cy="263085"/>
          </a:xfrm>
          <a:prstGeom prst="rect">
            <a:avLst/>
          </a:prstGeom>
        </p:spPr>
        <p:txBody>
          <a:bodyPr vert="horz" wrap="square" lIns="0" tIns="85725" rIns="0" bIns="0" rtlCol="0">
            <a:spAutoFit/>
          </a:bodyPr>
          <a:lstStyle/>
          <a:p>
            <a:pPr marL="47067">
              <a:spcBef>
                <a:spcPts val="675"/>
              </a:spcBef>
            </a:pPr>
            <a:r>
              <a:rPr sz="1147" spc="-9" dirty="0">
                <a:latin typeface="Times New Roman"/>
                <a:cs typeface="Times New Roman"/>
              </a:rPr>
              <a:t>Zero?</a:t>
            </a:r>
            <a:endParaRPr sz="1147">
              <a:latin typeface="Times New Roman"/>
              <a:cs typeface="Times New Roman"/>
            </a:endParaRPr>
          </a:p>
        </p:txBody>
      </p:sp>
      <p:grpSp>
        <p:nvGrpSpPr>
          <p:cNvPr id="53" name="object 53"/>
          <p:cNvGrpSpPr/>
          <p:nvPr/>
        </p:nvGrpSpPr>
        <p:grpSpPr>
          <a:xfrm>
            <a:off x="595357" y="2158181"/>
            <a:ext cx="7688916" cy="3644153"/>
            <a:chOff x="522337" y="2445938"/>
            <a:chExt cx="8714105" cy="4130040"/>
          </a:xfrm>
        </p:grpSpPr>
        <p:pic>
          <p:nvPicPr>
            <p:cNvPr id="54" name="object 54"/>
            <p:cNvPicPr/>
            <p:nvPr/>
          </p:nvPicPr>
          <p:blipFill>
            <a:blip r:embed="rId4" cstate="print"/>
            <a:stretch>
              <a:fillRect/>
            </a:stretch>
          </p:blipFill>
          <p:spPr>
            <a:xfrm>
              <a:off x="5944094" y="4136891"/>
              <a:ext cx="245744" cy="92233"/>
            </a:xfrm>
            <a:prstGeom prst="rect">
              <a:avLst/>
            </a:prstGeom>
          </p:spPr>
        </p:pic>
        <p:pic>
          <p:nvPicPr>
            <p:cNvPr id="55" name="object 55"/>
            <p:cNvPicPr/>
            <p:nvPr/>
          </p:nvPicPr>
          <p:blipFill>
            <a:blip r:embed="rId3" cstate="print"/>
            <a:stretch>
              <a:fillRect/>
            </a:stretch>
          </p:blipFill>
          <p:spPr>
            <a:xfrm>
              <a:off x="5944094" y="4792776"/>
              <a:ext cx="245744" cy="92233"/>
            </a:xfrm>
            <a:prstGeom prst="rect">
              <a:avLst/>
            </a:prstGeom>
          </p:spPr>
        </p:pic>
        <p:sp>
          <p:nvSpPr>
            <p:cNvPr id="56" name="object 56"/>
            <p:cNvSpPr/>
            <p:nvPr/>
          </p:nvSpPr>
          <p:spPr>
            <a:xfrm>
              <a:off x="522325" y="2445943"/>
              <a:ext cx="7649209" cy="2357120"/>
            </a:xfrm>
            <a:custGeom>
              <a:avLst/>
              <a:gdLst/>
              <a:ahLst/>
              <a:cxnLst/>
              <a:rect l="l" t="t" r="r" b="b"/>
              <a:pathLst>
                <a:path w="7649209" h="2357120">
                  <a:moveTo>
                    <a:pt x="1162177" y="1983028"/>
                  </a:moveTo>
                  <a:lnTo>
                    <a:pt x="1131468" y="1967649"/>
                  </a:lnTo>
                  <a:lnTo>
                    <a:pt x="1070025" y="1936915"/>
                  </a:lnTo>
                  <a:lnTo>
                    <a:pt x="1070025" y="1967649"/>
                  </a:lnTo>
                  <a:lnTo>
                    <a:pt x="670687" y="1967649"/>
                  </a:lnTo>
                  <a:lnTo>
                    <a:pt x="670687" y="1998395"/>
                  </a:lnTo>
                  <a:lnTo>
                    <a:pt x="1070025" y="1998395"/>
                  </a:lnTo>
                  <a:lnTo>
                    <a:pt x="1070025" y="2029142"/>
                  </a:lnTo>
                  <a:lnTo>
                    <a:pt x="1131468" y="1998395"/>
                  </a:lnTo>
                  <a:lnTo>
                    <a:pt x="1162177" y="1983028"/>
                  </a:lnTo>
                  <a:close/>
                </a:path>
                <a:path w="7649209" h="2357120">
                  <a:moveTo>
                    <a:pt x="5176012" y="2310968"/>
                  </a:moveTo>
                  <a:lnTo>
                    <a:pt x="5145303" y="2295601"/>
                  </a:lnTo>
                  <a:lnTo>
                    <a:pt x="5083861" y="2264854"/>
                  </a:lnTo>
                  <a:lnTo>
                    <a:pt x="5083861" y="2295601"/>
                  </a:lnTo>
                  <a:lnTo>
                    <a:pt x="4274947" y="2295601"/>
                  </a:lnTo>
                  <a:lnTo>
                    <a:pt x="4274947" y="2326348"/>
                  </a:lnTo>
                  <a:lnTo>
                    <a:pt x="5083861" y="2326348"/>
                  </a:lnTo>
                  <a:lnTo>
                    <a:pt x="5083861" y="2357082"/>
                  </a:lnTo>
                  <a:lnTo>
                    <a:pt x="5145303" y="2326348"/>
                  </a:lnTo>
                  <a:lnTo>
                    <a:pt x="5176012" y="2310968"/>
                  </a:lnTo>
                  <a:close/>
                </a:path>
                <a:path w="7649209" h="2357120">
                  <a:moveTo>
                    <a:pt x="7051535" y="572185"/>
                  </a:moveTo>
                  <a:lnTo>
                    <a:pt x="7020814" y="556818"/>
                  </a:lnTo>
                  <a:lnTo>
                    <a:pt x="6959371" y="526072"/>
                  </a:lnTo>
                  <a:lnTo>
                    <a:pt x="6959371" y="556818"/>
                  </a:lnTo>
                  <a:lnTo>
                    <a:pt x="6715392" y="556818"/>
                  </a:lnTo>
                  <a:lnTo>
                    <a:pt x="6708508" y="563702"/>
                  </a:lnTo>
                  <a:lnTo>
                    <a:pt x="6708508" y="2047925"/>
                  </a:lnTo>
                  <a:lnTo>
                    <a:pt x="6739229" y="2047925"/>
                  </a:lnTo>
                  <a:lnTo>
                    <a:pt x="6739229" y="587565"/>
                  </a:lnTo>
                  <a:lnTo>
                    <a:pt x="6959371" y="587565"/>
                  </a:lnTo>
                  <a:lnTo>
                    <a:pt x="6959371" y="618312"/>
                  </a:lnTo>
                  <a:lnTo>
                    <a:pt x="7020814" y="587565"/>
                  </a:lnTo>
                  <a:lnTo>
                    <a:pt x="7051535" y="572185"/>
                  </a:lnTo>
                  <a:close/>
                </a:path>
                <a:path w="7649209" h="2357120">
                  <a:moveTo>
                    <a:pt x="7141972" y="2065007"/>
                  </a:moveTo>
                  <a:lnTo>
                    <a:pt x="7111263" y="2049640"/>
                  </a:lnTo>
                  <a:lnTo>
                    <a:pt x="7049821" y="2018893"/>
                  </a:lnTo>
                  <a:lnTo>
                    <a:pt x="7049821" y="2049640"/>
                  </a:lnTo>
                  <a:lnTo>
                    <a:pt x="6158992" y="2049640"/>
                  </a:lnTo>
                  <a:lnTo>
                    <a:pt x="6158992" y="2080387"/>
                  </a:lnTo>
                  <a:lnTo>
                    <a:pt x="7049821" y="2080387"/>
                  </a:lnTo>
                  <a:lnTo>
                    <a:pt x="7049821" y="2111133"/>
                  </a:lnTo>
                  <a:lnTo>
                    <a:pt x="7111263" y="2080387"/>
                  </a:lnTo>
                  <a:lnTo>
                    <a:pt x="7141972" y="2065007"/>
                  </a:lnTo>
                  <a:close/>
                </a:path>
                <a:path w="7649209" h="2357120">
                  <a:moveTo>
                    <a:pt x="7648829" y="6883"/>
                  </a:moveTo>
                  <a:lnTo>
                    <a:pt x="7641945" y="0"/>
                  </a:lnTo>
                  <a:lnTo>
                    <a:pt x="30734" y="0"/>
                  </a:lnTo>
                  <a:lnTo>
                    <a:pt x="30734" y="15405"/>
                  </a:lnTo>
                  <a:lnTo>
                    <a:pt x="15367" y="30746"/>
                  </a:lnTo>
                  <a:lnTo>
                    <a:pt x="30670" y="15405"/>
                  </a:lnTo>
                  <a:lnTo>
                    <a:pt x="30734" y="0"/>
                  </a:lnTo>
                  <a:lnTo>
                    <a:pt x="11290" y="0"/>
                  </a:lnTo>
                  <a:lnTo>
                    <a:pt x="7378" y="1625"/>
                  </a:lnTo>
                  <a:lnTo>
                    <a:pt x="1625" y="7404"/>
                  </a:lnTo>
                  <a:lnTo>
                    <a:pt x="0" y="11315"/>
                  </a:lnTo>
                  <a:lnTo>
                    <a:pt x="3340" y="1919833"/>
                  </a:lnTo>
                  <a:lnTo>
                    <a:pt x="3441" y="1974456"/>
                  </a:lnTo>
                  <a:lnTo>
                    <a:pt x="10312" y="1981314"/>
                  </a:lnTo>
                  <a:lnTo>
                    <a:pt x="216750" y="1981314"/>
                  </a:lnTo>
                  <a:lnTo>
                    <a:pt x="216750" y="2012061"/>
                  </a:lnTo>
                  <a:lnTo>
                    <a:pt x="278180" y="1981314"/>
                  </a:lnTo>
                  <a:lnTo>
                    <a:pt x="308902" y="1965947"/>
                  </a:lnTo>
                  <a:lnTo>
                    <a:pt x="278180" y="1950580"/>
                  </a:lnTo>
                  <a:lnTo>
                    <a:pt x="216750" y="1919833"/>
                  </a:lnTo>
                  <a:lnTo>
                    <a:pt x="216750" y="1950580"/>
                  </a:lnTo>
                  <a:lnTo>
                    <a:pt x="34112" y="1950580"/>
                  </a:lnTo>
                  <a:lnTo>
                    <a:pt x="30759" y="30746"/>
                  </a:lnTo>
                  <a:lnTo>
                    <a:pt x="7618108" y="30746"/>
                  </a:lnTo>
                  <a:lnTo>
                    <a:pt x="7618108" y="15405"/>
                  </a:lnTo>
                  <a:lnTo>
                    <a:pt x="7618108" y="432130"/>
                  </a:lnTo>
                  <a:lnTo>
                    <a:pt x="7223887" y="432130"/>
                  </a:lnTo>
                  <a:lnTo>
                    <a:pt x="7223887" y="462876"/>
                  </a:lnTo>
                  <a:lnTo>
                    <a:pt x="7641945" y="462876"/>
                  </a:lnTo>
                  <a:lnTo>
                    <a:pt x="7648829" y="455993"/>
                  </a:lnTo>
                  <a:lnTo>
                    <a:pt x="7648829" y="447509"/>
                  </a:lnTo>
                  <a:lnTo>
                    <a:pt x="7648829" y="432130"/>
                  </a:lnTo>
                  <a:lnTo>
                    <a:pt x="7648829" y="30746"/>
                  </a:lnTo>
                  <a:lnTo>
                    <a:pt x="7648829" y="15405"/>
                  </a:lnTo>
                  <a:lnTo>
                    <a:pt x="7648829" y="6883"/>
                  </a:lnTo>
                  <a:close/>
                </a:path>
              </a:pathLst>
            </a:custGeom>
            <a:solidFill>
              <a:srgbClr val="000000"/>
            </a:solidFill>
          </p:spPr>
          <p:txBody>
            <a:bodyPr wrap="square" lIns="0" tIns="0" rIns="0" bIns="0" rtlCol="0"/>
            <a:lstStyle/>
            <a:p>
              <a:endParaRPr sz="1588"/>
            </a:p>
          </p:txBody>
        </p:sp>
        <p:pic>
          <p:nvPicPr>
            <p:cNvPr id="57" name="object 57"/>
            <p:cNvPicPr/>
            <p:nvPr/>
          </p:nvPicPr>
          <p:blipFill>
            <a:blip r:embed="rId5" cstate="print"/>
            <a:stretch>
              <a:fillRect/>
            </a:stretch>
          </p:blipFill>
          <p:spPr>
            <a:xfrm>
              <a:off x="1684513" y="3562993"/>
              <a:ext cx="245744" cy="92233"/>
            </a:xfrm>
            <a:prstGeom prst="rect">
              <a:avLst/>
            </a:prstGeom>
          </p:spPr>
        </p:pic>
        <p:sp>
          <p:nvSpPr>
            <p:cNvPr id="58" name="object 58"/>
            <p:cNvSpPr/>
            <p:nvPr/>
          </p:nvSpPr>
          <p:spPr>
            <a:xfrm>
              <a:off x="1341488" y="2907118"/>
              <a:ext cx="7894955" cy="3669029"/>
            </a:xfrm>
            <a:custGeom>
              <a:avLst/>
              <a:gdLst/>
              <a:ahLst/>
              <a:cxnLst/>
              <a:rect l="l" t="t" r="r" b="b"/>
              <a:pathLst>
                <a:path w="7894955" h="3669029">
                  <a:moveTo>
                    <a:pt x="588759" y="46113"/>
                  </a:moveTo>
                  <a:lnTo>
                    <a:pt x="558050" y="30734"/>
                  </a:lnTo>
                  <a:lnTo>
                    <a:pt x="496608" y="0"/>
                  </a:lnTo>
                  <a:lnTo>
                    <a:pt x="496608" y="30734"/>
                  </a:lnTo>
                  <a:lnTo>
                    <a:pt x="6883" y="30734"/>
                  </a:lnTo>
                  <a:lnTo>
                    <a:pt x="0" y="37617"/>
                  </a:lnTo>
                  <a:lnTo>
                    <a:pt x="0" y="1521853"/>
                  </a:lnTo>
                  <a:lnTo>
                    <a:pt x="30721" y="1521853"/>
                  </a:lnTo>
                  <a:lnTo>
                    <a:pt x="30721" y="61480"/>
                  </a:lnTo>
                  <a:lnTo>
                    <a:pt x="496608" y="61480"/>
                  </a:lnTo>
                  <a:lnTo>
                    <a:pt x="496608" y="92227"/>
                  </a:lnTo>
                  <a:lnTo>
                    <a:pt x="558050" y="61480"/>
                  </a:lnTo>
                  <a:lnTo>
                    <a:pt x="588759" y="46113"/>
                  </a:lnTo>
                  <a:close/>
                </a:path>
                <a:path w="7894955" h="3669029">
                  <a:moveTo>
                    <a:pt x="7633449" y="2423693"/>
                  </a:moveTo>
                  <a:lnTo>
                    <a:pt x="7602741" y="2408326"/>
                  </a:lnTo>
                  <a:lnTo>
                    <a:pt x="7541298" y="2377579"/>
                  </a:lnTo>
                  <a:lnTo>
                    <a:pt x="7541298" y="2408326"/>
                  </a:lnTo>
                  <a:lnTo>
                    <a:pt x="7377036" y="2408326"/>
                  </a:lnTo>
                  <a:lnTo>
                    <a:pt x="7370153" y="2415197"/>
                  </a:lnTo>
                  <a:lnTo>
                    <a:pt x="7370153" y="2818244"/>
                  </a:lnTo>
                  <a:lnTo>
                    <a:pt x="5913234" y="2818244"/>
                  </a:lnTo>
                  <a:lnTo>
                    <a:pt x="5913234" y="2439060"/>
                  </a:lnTo>
                  <a:lnTo>
                    <a:pt x="6230658" y="2439060"/>
                  </a:lnTo>
                  <a:lnTo>
                    <a:pt x="6230658" y="2469807"/>
                  </a:lnTo>
                  <a:lnTo>
                    <a:pt x="6292100" y="2439060"/>
                  </a:lnTo>
                  <a:lnTo>
                    <a:pt x="6322809" y="2423693"/>
                  </a:lnTo>
                  <a:lnTo>
                    <a:pt x="6292100" y="2408326"/>
                  </a:lnTo>
                  <a:lnTo>
                    <a:pt x="6230658" y="2377579"/>
                  </a:lnTo>
                  <a:lnTo>
                    <a:pt x="6230658" y="2408326"/>
                  </a:lnTo>
                  <a:lnTo>
                    <a:pt x="5913234" y="2408326"/>
                  </a:lnTo>
                  <a:lnTo>
                    <a:pt x="5913234" y="1603832"/>
                  </a:lnTo>
                  <a:lnTo>
                    <a:pt x="5882525" y="1603832"/>
                  </a:lnTo>
                  <a:lnTo>
                    <a:pt x="5882525" y="2408326"/>
                  </a:lnTo>
                  <a:lnTo>
                    <a:pt x="4044556" y="2408326"/>
                  </a:lnTo>
                  <a:lnTo>
                    <a:pt x="4044556" y="1849793"/>
                  </a:lnTo>
                  <a:lnTo>
                    <a:pt x="4013835" y="1849793"/>
                  </a:lnTo>
                  <a:lnTo>
                    <a:pt x="4013835" y="2432177"/>
                  </a:lnTo>
                  <a:lnTo>
                    <a:pt x="4020705" y="2439060"/>
                  </a:lnTo>
                  <a:lnTo>
                    <a:pt x="5882525" y="2439060"/>
                  </a:lnTo>
                  <a:lnTo>
                    <a:pt x="5882525" y="2842107"/>
                  </a:lnTo>
                  <a:lnTo>
                    <a:pt x="5889396" y="2848991"/>
                  </a:lnTo>
                  <a:lnTo>
                    <a:pt x="7394003" y="2848991"/>
                  </a:lnTo>
                  <a:lnTo>
                    <a:pt x="7400874" y="2842107"/>
                  </a:lnTo>
                  <a:lnTo>
                    <a:pt x="7400874" y="2833624"/>
                  </a:lnTo>
                  <a:lnTo>
                    <a:pt x="7400874" y="2818244"/>
                  </a:lnTo>
                  <a:lnTo>
                    <a:pt x="7400874" y="2439060"/>
                  </a:lnTo>
                  <a:lnTo>
                    <a:pt x="7541298" y="2439060"/>
                  </a:lnTo>
                  <a:lnTo>
                    <a:pt x="7541298" y="2469807"/>
                  </a:lnTo>
                  <a:lnTo>
                    <a:pt x="7602741" y="2439060"/>
                  </a:lnTo>
                  <a:lnTo>
                    <a:pt x="7633449" y="2423693"/>
                  </a:lnTo>
                  <a:close/>
                </a:path>
                <a:path w="7894955" h="3669029">
                  <a:moveTo>
                    <a:pt x="7894561" y="3251454"/>
                  </a:moveTo>
                  <a:lnTo>
                    <a:pt x="7887678" y="3244570"/>
                  </a:lnTo>
                  <a:lnTo>
                    <a:pt x="7387704" y="3244570"/>
                  </a:lnTo>
                  <a:lnTo>
                    <a:pt x="7387704" y="3275317"/>
                  </a:lnTo>
                  <a:lnTo>
                    <a:pt x="7863840" y="3275317"/>
                  </a:lnTo>
                  <a:lnTo>
                    <a:pt x="7863840" y="3638105"/>
                  </a:lnTo>
                  <a:lnTo>
                    <a:pt x="2242426" y="3638105"/>
                  </a:lnTo>
                  <a:lnTo>
                    <a:pt x="2242426" y="1701190"/>
                  </a:lnTo>
                  <a:lnTo>
                    <a:pt x="2708313" y="1701190"/>
                  </a:lnTo>
                  <a:lnTo>
                    <a:pt x="2708313" y="1731937"/>
                  </a:lnTo>
                  <a:lnTo>
                    <a:pt x="2769755" y="1701190"/>
                  </a:lnTo>
                  <a:lnTo>
                    <a:pt x="2800464" y="1685823"/>
                  </a:lnTo>
                  <a:lnTo>
                    <a:pt x="2769755" y="1670456"/>
                  </a:lnTo>
                  <a:lnTo>
                    <a:pt x="2708313" y="1639709"/>
                  </a:lnTo>
                  <a:lnTo>
                    <a:pt x="2708313" y="1670456"/>
                  </a:lnTo>
                  <a:lnTo>
                    <a:pt x="2218588" y="1670456"/>
                  </a:lnTo>
                  <a:lnTo>
                    <a:pt x="2211705" y="1677327"/>
                  </a:lnTo>
                  <a:lnTo>
                    <a:pt x="2211705" y="3661968"/>
                  </a:lnTo>
                  <a:lnTo>
                    <a:pt x="2218588" y="3668852"/>
                  </a:lnTo>
                  <a:lnTo>
                    <a:pt x="7887678" y="3668852"/>
                  </a:lnTo>
                  <a:lnTo>
                    <a:pt x="7894561" y="3661968"/>
                  </a:lnTo>
                  <a:lnTo>
                    <a:pt x="7894561" y="3653472"/>
                  </a:lnTo>
                  <a:lnTo>
                    <a:pt x="7894561" y="3638105"/>
                  </a:lnTo>
                  <a:lnTo>
                    <a:pt x="7894561" y="3275317"/>
                  </a:lnTo>
                  <a:lnTo>
                    <a:pt x="7894561" y="3259950"/>
                  </a:lnTo>
                  <a:lnTo>
                    <a:pt x="7894561" y="3251454"/>
                  </a:lnTo>
                  <a:close/>
                </a:path>
              </a:pathLst>
            </a:custGeom>
            <a:solidFill>
              <a:srgbClr val="000000"/>
            </a:solidFill>
          </p:spPr>
          <p:txBody>
            <a:bodyPr wrap="square" lIns="0" tIns="0" rIns="0" bIns="0" rtlCol="0"/>
            <a:lstStyle/>
            <a:p>
              <a:endParaRPr sz="1588"/>
            </a:p>
          </p:txBody>
        </p:sp>
        <p:sp>
          <p:nvSpPr>
            <p:cNvPr id="59" name="object 59"/>
            <p:cNvSpPr/>
            <p:nvPr/>
          </p:nvSpPr>
          <p:spPr>
            <a:xfrm>
              <a:off x="2831324" y="2543296"/>
              <a:ext cx="327660" cy="3920490"/>
            </a:xfrm>
            <a:custGeom>
              <a:avLst/>
              <a:gdLst/>
              <a:ahLst/>
              <a:cxnLst/>
              <a:rect l="l" t="t" r="r" b="b"/>
              <a:pathLst>
                <a:path w="327660" h="3920490">
                  <a:moveTo>
                    <a:pt x="327660" y="0"/>
                  </a:moveTo>
                  <a:lnTo>
                    <a:pt x="0" y="0"/>
                  </a:lnTo>
                  <a:lnTo>
                    <a:pt x="0" y="3919935"/>
                  </a:lnTo>
                  <a:lnTo>
                    <a:pt x="327660" y="3919935"/>
                  </a:lnTo>
                  <a:lnTo>
                    <a:pt x="327660" y="0"/>
                  </a:lnTo>
                  <a:close/>
                </a:path>
              </a:pathLst>
            </a:custGeom>
            <a:solidFill>
              <a:srgbClr val="07F707"/>
            </a:solidFill>
          </p:spPr>
          <p:txBody>
            <a:bodyPr wrap="square" lIns="0" tIns="0" rIns="0" bIns="0" rtlCol="0"/>
            <a:lstStyle/>
            <a:p>
              <a:endParaRPr sz="1588"/>
            </a:p>
          </p:txBody>
        </p:sp>
        <p:sp>
          <p:nvSpPr>
            <p:cNvPr id="60" name="object 60"/>
            <p:cNvSpPr/>
            <p:nvPr/>
          </p:nvSpPr>
          <p:spPr>
            <a:xfrm>
              <a:off x="2831324" y="2543296"/>
              <a:ext cx="327660" cy="3920490"/>
            </a:xfrm>
            <a:custGeom>
              <a:avLst/>
              <a:gdLst/>
              <a:ahLst/>
              <a:cxnLst/>
              <a:rect l="l" t="t" r="r" b="b"/>
              <a:pathLst>
                <a:path w="327660"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61" name="object 61"/>
          <p:cNvSpPr txBox="1"/>
          <p:nvPr/>
        </p:nvSpPr>
        <p:spPr>
          <a:xfrm>
            <a:off x="2650771" y="3706905"/>
            <a:ext cx="243656" cy="540124"/>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IF/ID</a:t>
            </a:r>
            <a:endParaRPr sz="1677">
              <a:latin typeface="Times New Roman"/>
              <a:cs typeface="Times New Roman"/>
            </a:endParaRPr>
          </a:p>
        </p:txBody>
      </p:sp>
      <p:grpSp>
        <p:nvGrpSpPr>
          <p:cNvPr id="62" name="object 62"/>
          <p:cNvGrpSpPr/>
          <p:nvPr/>
        </p:nvGrpSpPr>
        <p:grpSpPr>
          <a:xfrm>
            <a:off x="2618970" y="2230358"/>
            <a:ext cx="2126876" cy="3486709"/>
            <a:chOff x="2815766" y="2527739"/>
            <a:chExt cx="2410460" cy="3951604"/>
          </a:xfrm>
        </p:grpSpPr>
        <p:sp>
          <p:nvSpPr>
            <p:cNvPr id="63" name="object 63"/>
            <p:cNvSpPr/>
            <p:nvPr/>
          </p:nvSpPr>
          <p:spPr>
            <a:xfrm>
              <a:off x="2831324" y="6135290"/>
              <a:ext cx="327660" cy="328295"/>
            </a:xfrm>
            <a:custGeom>
              <a:avLst/>
              <a:gdLst/>
              <a:ahLst/>
              <a:cxnLst/>
              <a:rect l="l" t="t" r="r" b="b"/>
              <a:pathLst>
                <a:path w="327660"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64" name="object 64"/>
            <p:cNvSpPr/>
            <p:nvPr/>
          </p:nvSpPr>
          <p:spPr>
            <a:xfrm>
              <a:off x="4882612" y="2543297"/>
              <a:ext cx="327660" cy="3920490"/>
            </a:xfrm>
            <a:custGeom>
              <a:avLst/>
              <a:gdLst/>
              <a:ahLst/>
              <a:cxnLst/>
              <a:rect l="l" t="t" r="r" b="b"/>
              <a:pathLst>
                <a:path w="327660" h="3920490">
                  <a:moveTo>
                    <a:pt x="327660" y="0"/>
                  </a:moveTo>
                  <a:lnTo>
                    <a:pt x="0" y="0"/>
                  </a:lnTo>
                  <a:lnTo>
                    <a:pt x="0" y="3919935"/>
                  </a:lnTo>
                  <a:lnTo>
                    <a:pt x="327660" y="3919935"/>
                  </a:lnTo>
                  <a:lnTo>
                    <a:pt x="327660" y="0"/>
                  </a:lnTo>
                  <a:close/>
                </a:path>
              </a:pathLst>
            </a:custGeom>
            <a:solidFill>
              <a:srgbClr val="07F707"/>
            </a:solidFill>
          </p:spPr>
          <p:txBody>
            <a:bodyPr wrap="square" lIns="0" tIns="0" rIns="0" bIns="0" rtlCol="0"/>
            <a:lstStyle/>
            <a:p>
              <a:endParaRPr sz="1588"/>
            </a:p>
          </p:txBody>
        </p:sp>
        <p:sp>
          <p:nvSpPr>
            <p:cNvPr id="65" name="object 65"/>
            <p:cNvSpPr/>
            <p:nvPr/>
          </p:nvSpPr>
          <p:spPr>
            <a:xfrm>
              <a:off x="4882612" y="2543297"/>
              <a:ext cx="327660" cy="3920490"/>
            </a:xfrm>
            <a:custGeom>
              <a:avLst/>
              <a:gdLst/>
              <a:ahLst/>
              <a:cxnLst/>
              <a:rect l="l" t="t" r="r" b="b"/>
              <a:pathLst>
                <a:path w="327660"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66" name="object 66"/>
          <p:cNvSpPr txBox="1"/>
          <p:nvPr/>
        </p:nvSpPr>
        <p:spPr>
          <a:xfrm>
            <a:off x="4460732" y="3663874"/>
            <a:ext cx="243656" cy="623047"/>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ID/EX</a:t>
            </a:r>
            <a:endParaRPr sz="1677">
              <a:latin typeface="Times New Roman"/>
              <a:cs typeface="Times New Roman"/>
            </a:endParaRPr>
          </a:p>
        </p:txBody>
      </p:sp>
      <p:grpSp>
        <p:nvGrpSpPr>
          <p:cNvPr id="67" name="object 67"/>
          <p:cNvGrpSpPr/>
          <p:nvPr/>
        </p:nvGrpSpPr>
        <p:grpSpPr>
          <a:xfrm>
            <a:off x="4427425" y="2230358"/>
            <a:ext cx="3424518" cy="3486709"/>
            <a:chOff x="4865348" y="2527739"/>
            <a:chExt cx="3881120" cy="3951604"/>
          </a:xfrm>
        </p:grpSpPr>
        <p:sp>
          <p:nvSpPr>
            <p:cNvPr id="68" name="object 68"/>
            <p:cNvSpPr/>
            <p:nvPr/>
          </p:nvSpPr>
          <p:spPr>
            <a:xfrm>
              <a:off x="4880905" y="6125041"/>
              <a:ext cx="327660" cy="328295"/>
            </a:xfrm>
            <a:custGeom>
              <a:avLst/>
              <a:gdLst/>
              <a:ahLst/>
              <a:cxnLst/>
              <a:rect l="l" t="t" r="r" b="b"/>
              <a:pathLst>
                <a:path w="327660"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69" name="object 69"/>
            <p:cNvSpPr/>
            <p:nvPr/>
          </p:nvSpPr>
          <p:spPr>
            <a:xfrm>
              <a:off x="8403251" y="2543297"/>
              <a:ext cx="327660" cy="3920490"/>
            </a:xfrm>
            <a:custGeom>
              <a:avLst/>
              <a:gdLst/>
              <a:ahLst/>
              <a:cxnLst/>
              <a:rect l="l" t="t" r="r" b="b"/>
              <a:pathLst>
                <a:path w="327659" h="3920490">
                  <a:moveTo>
                    <a:pt x="327659" y="0"/>
                  </a:moveTo>
                  <a:lnTo>
                    <a:pt x="0" y="0"/>
                  </a:lnTo>
                  <a:lnTo>
                    <a:pt x="0" y="3919935"/>
                  </a:lnTo>
                  <a:lnTo>
                    <a:pt x="327659" y="3919935"/>
                  </a:lnTo>
                  <a:lnTo>
                    <a:pt x="327659" y="0"/>
                  </a:lnTo>
                  <a:close/>
                </a:path>
              </a:pathLst>
            </a:custGeom>
            <a:solidFill>
              <a:srgbClr val="07F707"/>
            </a:solidFill>
          </p:spPr>
          <p:txBody>
            <a:bodyPr wrap="square" lIns="0" tIns="0" rIns="0" bIns="0" rtlCol="0"/>
            <a:lstStyle/>
            <a:p>
              <a:endParaRPr sz="1588"/>
            </a:p>
          </p:txBody>
        </p:sp>
        <p:sp>
          <p:nvSpPr>
            <p:cNvPr id="70" name="object 70"/>
            <p:cNvSpPr/>
            <p:nvPr/>
          </p:nvSpPr>
          <p:spPr>
            <a:xfrm>
              <a:off x="8403251" y="2543297"/>
              <a:ext cx="327660" cy="3920490"/>
            </a:xfrm>
            <a:custGeom>
              <a:avLst/>
              <a:gdLst/>
              <a:ahLst/>
              <a:cxnLst/>
              <a:rect l="l" t="t" r="r" b="b"/>
              <a:pathLst>
                <a:path w="327659"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71" name="object 71"/>
          <p:cNvSpPr txBox="1"/>
          <p:nvPr/>
        </p:nvSpPr>
        <p:spPr>
          <a:xfrm>
            <a:off x="6941387" y="3475616"/>
            <a:ext cx="869469" cy="1239371"/>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MEM/WB</a:t>
            </a:r>
            <a:endParaRPr sz="1677">
              <a:latin typeface="Times New Roman"/>
              <a:cs typeface="Times New Roman"/>
            </a:endParaRPr>
          </a:p>
          <a:p>
            <a:pPr marL="481879" marR="4483" indent="169218">
              <a:lnSpc>
                <a:spcPct val="78700"/>
              </a:lnSpc>
              <a:spcBef>
                <a:spcPts val="1747"/>
              </a:spcBef>
            </a:pPr>
            <a:r>
              <a:rPr sz="1677" spc="-18" dirty="0">
                <a:latin typeface="Times New Roman"/>
                <a:cs typeface="Times New Roman"/>
              </a:rPr>
              <a:t>Data </a:t>
            </a:r>
            <a:r>
              <a:rPr sz="1677" spc="-9" dirty="0">
                <a:latin typeface="Times New Roman"/>
                <a:cs typeface="Times New Roman"/>
              </a:rPr>
              <a:t>Memory</a:t>
            </a:r>
            <a:endParaRPr sz="1677">
              <a:latin typeface="Times New Roman"/>
              <a:cs typeface="Times New Roman"/>
            </a:endParaRPr>
          </a:p>
        </p:txBody>
      </p:sp>
      <p:grpSp>
        <p:nvGrpSpPr>
          <p:cNvPr id="72" name="object 72"/>
          <p:cNvGrpSpPr/>
          <p:nvPr/>
        </p:nvGrpSpPr>
        <p:grpSpPr>
          <a:xfrm>
            <a:off x="6134993" y="2230358"/>
            <a:ext cx="1717301" cy="3486709"/>
            <a:chOff x="6800591" y="2527739"/>
            <a:chExt cx="1946275" cy="3951604"/>
          </a:xfrm>
        </p:grpSpPr>
        <p:sp>
          <p:nvSpPr>
            <p:cNvPr id="73" name="object 73"/>
            <p:cNvSpPr/>
            <p:nvPr/>
          </p:nvSpPr>
          <p:spPr>
            <a:xfrm>
              <a:off x="8403251" y="6135290"/>
              <a:ext cx="327660" cy="328295"/>
            </a:xfrm>
            <a:custGeom>
              <a:avLst/>
              <a:gdLst/>
              <a:ahLst/>
              <a:cxnLst/>
              <a:rect l="l" t="t" r="r" b="b"/>
              <a:pathLst>
                <a:path w="327659"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74" name="object 74"/>
            <p:cNvSpPr/>
            <p:nvPr/>
          </p:nvSpPr>
          <p:spPr>
            <a:xfrm>
              <a:off x="6816148" y="2543297"/>
              <a:ext cx="327660" cy="3920490"/>
            </a:xfrm>
            <a:custGeom>
              <a:avLst/>
              <a:gdLst/>
              <a:ahLst/>
              <a:cxnLst/>
              <a:rect l="l" t="t" r="r" b="b"/>
              <a:pathLst>
                <a:path w="327659" h="3920490">
                  <a:moveTo>
                    <a:pt x="327659" y="0"/>
                  </a:moveTo>
                  <a:lnTo>
                    <a:pt x="0" y="0"/>
                  </a:lnTo>
                  <a:lnTo>
                    <a:pt x="0" y="3919935"/>
                  </a:lnTo>
                  <a:lnTo>
                    <a:pt x="327659" y="3919935"/>
                  </a:lnTo>
                  <a:lnTo>
                    <a:pt x="327659" y="0"/>
                  </a:lnTo>
                  <a:close/>
                </a:path>
              </a:pathLst>
            </a:custGeom>
            <a:solidFill>
              <a:srgbClr val="07F707"/>
            </a:solidFill>
          </p:spPr>
          <p:txBody>
            <a:bodyPr wrap="square" lIns="0" tIns="0" rIns="0" bIns="0" rtlCol="0"/>
            <a:lstStyle/>
            <a:p>
              <a:endParaRPr sz="1588"/>
            </a:p>
          </p:txBody>
        </p:sp>
        <p:sp>
          <p:nvSpPr>
            <p:cNvPr id="75" name="object 75"/>
            <p:cNvSpPr/>
            <p:nvPr/>
          </p:nvSpPr>
          <p:spPr>
            <a:xfrm>
              <a:off x="6816148" y="2543297"/>
              <a:ext cx="327660" cy="3920490"/>
            </a:xfrm>
            <a:custGeom>
              <a:avLst/>
              <a:gdLst/>
              <a:ahLst/>
              <a:cxnLst/>
              <a:rect l="l" t="t" r="r" b="b"/>
              <a:pathLst>
                <a:path w="327659"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76" name="object 76"/>
          <p:cNvSpPr txBox="1"/>
          <p:nvPr/>
        </p:nvSpPr>
        <p:spPr>
          <a:xfrm>
            <a:off x="5793277" y="3507890"/>
            <a:ext cx="617157" cy="938493"/>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EX/MEM</a:t>
            </a:r>
            <a:endParaRPr sz="1677">
              <a:latin typeface="Times New Roman"/>
              <a:cs typeface="Times New Roman"/>
            </a:endParaRPr>
          </a:p>
          <a:p>
            <a:pPr marL="274559">
              <a:spcBef>
                <a:spcPts val="852"/>
              </a:spcBef>
            </a:pPr>
            <a:r>
              <a:rPr sz="1677" b="1" spc="-22" dirty="0">
                <a:latin typeface="Times New Roman"/>
                <a:cs typeface="Times New Roman"/>
              </a:rPr>
              <a:t>ALU</a:t>
            </a:r>
            <a:endParaRPr sz="1677">
              <a:latin typeface="Times New Roman"/>
              <a:cs typeface="Times New Roman"/>
            </a:endParaRPr>
          </a:p>
        </p:txBody>
      </p:sp>
      <p:grpSp>
        <p:nvGrpSpPr>
          <p:cNvPr id="77" name="object 77"/>
          <p:cNvGrpSpPr/>
          <p:nvPr/>
        </p:nvGrpSpPr>
        <p:grpSpPr>
          <a:xfrm>
            <a:off x="1809784" y="2348074"/>
            <a:ext cx="5737971" cy="3359524"/>
            <a:chOff x="1898688" y="2661151"/>
            <a:chExt cx="6503034" cy="3807460"/>
          </a:xfrm>
        </p:grpSpPr>
        <p:sp>
          <p:nvSpPr>
            <p:cNvPr id="78" name="object 78"/>
            <p:cNvSpPr/>
            <p:nvPr/>
          </p:nvSpPr>
          <p:spPr>
            <a:xfrm>
              <a:off x="6816148" y="6125041"/>
              <a:ext cx="327660" cy="328295"/>
            </a:xfrm>
            <a:custGeom>
              <a:avLst/>
              <a:gdLst/>
              <a:ahLst/>
              <a:cxnLst/>
              <a:rect l="l" t="t" r="r" b="b"/>
              <a:pathLst>
                <a:path w="327659"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pic>
          <p:nvPicPr>
            <p:cNvPr id="79" name="object 79"/>
            <p:cNvPicPr/>
            <p:nvPr/>
          </p:nvPicPr>
          <p:blipFill>
            <a:blip r:embed="rId6" cstate="print"/>
            <a:stretch>
              <a:fillRect/>
            </a:stretch>
          </p:blipFill>
          <p:spPr>
            <a:xfrm>
              <a:off x="4633347" y="5695685"/>
              <a:ext cx="245851" cy="92231"/>
            </a:xfrm>
            <a:prstGeom prst="rect">
              <a:avLst/>
            </a:prstGeom>
          </p:spPr>
        </p:pic>
        <p:sp>
          <p:nvSpPr>
            <p:cNvPr id="80" name="object 80"/>
            <p:cNvSpPr/>
            <p:nvPr/>
          </p:nvSpPr>
          <p:spPr>
            <a:xfrm>
              <a:off x="2339822" y="2661157"/>
              <a:ext cx="6061710" cy="3535679"/>
            </a:xfrm>
            <a:custGeom>
              <a:avLst/>
              <a:gdLst/>
              <a:ahLst/>
              <a:cxnLst/>
              <a:rect l="l" t="t" r="r" b="b"/>
              <a:pathLst>
                <a:path w="6061709" h="3535679">
                  <a:moveTo>
                    <a:pt x="491490" y="46113"/>
                  </a:moveTo>
                  <a:lnTo>
                    <a:pt x="460781" y="30746"/>
                  </a:lnTo>
                  <a:lnTo>
                    <a:pt x="399338" y="0"/>
                  </a:lnTo>
                  <a:lnTo>
                    <a:pt x="399338" y="30746"/>
                  </a:lnTo>
                  <a:lnTo>
                    <a:pt x="286423" y="30746"/>
                  </a:lnTo>
                  <a:lnTo>
                    <a:pt x="279539" y="37630"/>
                  </a:lnTo>
                  <a:lnTo>
                    <a:pt x="279539" y="604647"/>
                  </a:lnTo>
                  <a:lnTo>
                    <a:pt x="0" y="604647"/>
                  </a:lnTo>
                  <a:lnTo>
                    <a:pt x="0" y="635381"/>
                  </a:lnTo>
                  <a:lnTo>
                    <a:pt x="303377" y="635381"/>
                  </a:lnTo>
                  <a:lnTo>
                    <a:pt x="310261" y="628510"/>
                  </a:lnTo>
                  <a:lnTo>
                    <a:pt x="310261" y="620014"/>
                  </a:lnTo>
                  <a:lnTo>
                    <a:pt x="310261" y="604647"/>
                  </a:lnTo>
                  <a:lnTo>
                    <a:pt x="310261" y="61493"/>
                  </a:lnTo>
                  <a:lnTo>
                    <a:pt x="399338" y="61493"/>
                  </a:lnTo>
                  <a:lnTo>
                    <a:pt x="399338" y="92227"/>
                  </a:lnTo>
                  <a:lnTo>
                    <a:pt x="460781" y="61493"/>
                  </a:lnTo>
                  <a:lnTo>
                    <a:pt x="491490" y="46113"/>
                  </a:lnTo>
                  <a:close/>
                </a:path>
                <a:path w="6061709" h="3535679">
                  <a:moveTo>
                    <a:pt x="2539365" y="3489515"/>
                  </a:moveTo>
                  <a:lnTo>
                    <a:pt x="2508656" y="3474135"/>
                  </a:lnTo>
                  <a:lnTo>
                    <a:pt x="2447213" y="3443389"/>
                  </a:lnTo>
                  <a:lnTo>
                    <a:pt x="2447213" y="3474135"/>
                  </a:lnTo>
                  <a:lnTo>
                    <a:pt x="1080262" y="3474135"/>
                  </a:lnTo>
                  <a:lnTo>
                    <a:pt x="1080262" y="3079585"/>
                  </a:lnTo>
                  <a:lnTo>
                    <a:pt x="1049540" y="3079585"/>
                  </a:lnTo>
                  <a:lnTo>
                    <a:pt x="1049540" y="3497999"/>
                  </a:lnTo>
                  <a:lnTo>
                    <a:pt x="1056424" y="3504882"/>
                  </a:lnTo>
                  <a:lnTo>
                    <a:pt x="2447213" y="3504882"/>
                  </a:lnTo>
                  <a:lnTo>
                    <a:pt x="2447213" y="3535629"/>
                  </a:lnTo>
                  <a:lnTo>
                    <a:pt x="2508656" y="3504882"/>
                  </a:lnTo>
                  <a:lnTo>
                    <a:pt x="2539365" y="3489515"/>
                  </a:lnTo>
                  <a:close/>
                </a:path>
                <a:path w="6061709" h="3535679">
                  <a:moveTo>
                    <a:pt x="2539365" y="46113"/>
                  </a:moveTo>
                  <a:lnTo>
                    <a:pt x="2508656" y="30746"/>
                  </a:lnTo>
                  <a:lnTo>
                    <a:pt x="2447213" y="0"/>
                  </a:lnTo>
                  <a:lnTo>
                    <a:pt x="2447213" y="30746"/>
                  </a:lnTo>
                  <a:lnTo>
                    <a:pt x="819150" y="30746"/>
                  </a:lnTo>
                  <a:lnTo>
                    <a:pt x="819150" y="61493"/>
                  </a:lnTo>
                  <a:lnTo>
                    <a:pt x="2447213" y="61493"/>
                  </a:lnTo>
                  <a:lnTo>
                    <a:pt x="2447213" y="92240"/>
                  </a:lnTo>
                  <a:lnTo>
                    <a:pt x="2508656" y="61493"/>
                  </a:lnTo>
                  <a:lnTo>
                    <a:pt x="2539365" y="46113"/>
                  </a:lnTo>
                  <a:close/>
                </a:path>
                <a:path w="6061709" h="3535679">
                  <a:moveTo>
                    <a:pt x="3358515" y="2341715"/>
                  </a:moveTo>
                  <a:lnTo>
                    <a:pt x="3327806" y="2326335"/>
                  </a:lnTo>
                  <a:lnTo>
                    <a:pt x="3266363" y="2295588"/>
                  </a:lnTo>
                  <a:lnTo>
                    <a:pt x="3266363" y="2326335"/>
                  </a:lnTo>
                  <a:lnTo>
                    <a:pt x="3139402" y="2326335"/>
                  </a:lnTo>
                  <a:lnTo>
                    <a:pt x="3132518" y="2333218"/>
                  </a:lnTo>
                  <a:lnTo>
                    <a:pt x="3132518" y="3064205"/>
                  </a:lnTo>
                  <a:lnTo>
                    <a:pt x="2867025" y="3064205"/>
                  </a:lnTo>
                  <a:lnTo>
                    <a:pt x="2867025" y="3094952"/>
                  </a:lnTo>
                  <a:lnTo>
                    <a:pt x="3156369" y="3094952"/>
                  </a:lnTo>
                  <a:lnTo>
                    <a:pt x="3163239" y="3088068"/>
                  </a:lnTo>
                  <a:lnTo>
                    <a:pt x="3163239" y="3079585"/>
                  </a:lnTo>
                  <a:lnTo>
                    <a:pt x="3163239" y="3064205"/>
                  </a:lnTo>
                  <a:lnTo>
                    <a:pt x="3163239" y="2357082"/>
                  </a:lnTo>
                  <a:lnTo>
                    <a:pt x="3266363" y="2357082"/>
                  </a:lnTo>
                  <a:lnTo>
                    <a:pt x="3266363" y="2387828"/>
                  </a:lnTo>
                  <a:lnTo>
                    <a:pt x="3327806" y="2357082"/>
                  </a:lnTo>
                  <a:lnTo>
                    <a:pt x="3358515" y="2341715"/>
                  </a:lnTo>
                  <a:close/>
                </a:path>
                <a:path w="6061709" h="3535679">
                  <a:moveTo>
                    <a:pt x="4423410" y="3489515"/>
                  </a:moveTo>
                  <a:lnTo>
                    <a:pt x="4392701" y="3474135"/>
                  </a:lnTo>
                  <a:lnTo>
                    <a:pt x="4331259" y="3443389"/>
                  </a:lnTo>
                  <a:lnTo>
                    <a:pt x="4331259" y="3474135"/>
                  </a:lnTo>
                  <a:lnTo>
                    <a:pt x="2867025" y="3474135"/>
                  </a:lnTo>
                  <a:lnTo>
                    <a:pt x="2867025" y="3504882"/>
                  </a:lnTo>
                  <a:lnTo>
                    <a:pt x="4331259" y="3504882"/>
                  </a:lnTo>
                  <a:lnTo>
                    <a:pt x="4331259" y="3535629"/>
                  </a:lnTo>
                  <a:lnTo>
                    <a:pt x="4392701" y="3504882"/>
                  </a:lnTo>
                  <a:lnTo>
                    <a:pt x="4423410" y="3489515"/>
                  </a:lnTo>
                  <a:close/>
                </a:path>
                <a:path w="6061709" h="3535679">
                  <a:moveTo>
                    <a:pt x="6061710" y="3489515"/>
                  </a:moveTo>
                  <a:lnTo>
                    <a:pt x="6031001" y="3474135"/>
                  </a:lnTo>
                  <a:lnTo>
                    <a:pt x="5969559" y="3443389"/>
                  </a:lnTo>
                  <a:lnTo>
                    <a:pt x="5969559" y="3474135"/>
                  </a:lnTo>
                  <a:lnTo>
                    <a:pt x="4832985" y="3474135"/>
                  </a:lnTo>
                  <a:lnTo>
                    <a:pt x="4832985" y="3504882"/>
                  </a:lnTo>
                  <a:lnTo>
                    <a:pt x="5969559" y="3504882"/>
                  </a:lnTo>
                  <a:lnTo>
                    <a:pt x="5969559" y="3535629"/>
                  </a:lnTo>
                  <a:lnTo>
                    <a:pt x="6031001" y="3504882"/>
                  </a:lnTo>
                  <a:lnTo>
                    <a:pt x="6061710" y="3489515"/>
                  </a:lnTo>
                  <a:close/>
                </a:path>
              </a:pathLst>
            </a:custGeom>
            <a:solidFill>
              <a:srgbClr val="000000"/>
            </a:solidFill>
          </p:spPr>
          <p:txBody>
            <a:bodyPr wrap="square" lIns="0" tIns="0" rIns="0" bIns="0" rtlCol="0"/>
            <a:lstStyle/>
            <a:p>
              <a:endParaRPr sz="1588"/>
            </a:p>
          </p:txBody>
        </p:sp>
        <p:sp>
          <p:nvSpPr>
            <p:cNvPr id="81" name="object 81"/>
            <p:cNvSpPr/>
            <p:nvPr/>
          </p:nvSpPr>
          <p:spPr>
            <a:xfrm>
              <a:off x="1927698" y="2814021"/>
              <a:ext cx="513715" cy="984250"/>
            </a:xfrm>
            <a:custGeom>
              <a:avLst/>
              <a:gdLst/>
              <a:ahLst/>
              <a:cxnLst/>
              <a:rect l="l" t="t" r="r" b="b"/>
              <a:pathLst>
                <a:path w="513714" h="984250">
                  <a:moveTo>
                    <a:pt x="0" y="0"/>
                  </a:moveTo>
                  <a:lnTo>
                    <a:pt x="0" y="983827"/>
                  </a:lnTo>
                  <a:lnTo>
                    <a:pt x="513676" y="737869"/>
                  </a:lnTo>
                  <a:lnTo>
                    <a:pt x="513676" y="245957"/>
                  </a:lnTo>
                  <a:lnTo>
                    <a:pt x="0" y="0"/>
                  </a:lnTo>
                  <a:close/>
                </a:path>
              </a:pathLst>
            </a:custGeom>
            <a:solidFill>
              <a:srgbClr val="07F707"/>
            </a:solidFill>
          </p:spPr>
          <p:txBody>
            <a:bodyPr wrap="square" lIns="0" tIns="0" rIns="0" bIns="0" rtlCol="0"/>
            <a:lstStyle/>
            <a:p>
              <a:endParaRPr sz="1588"/>
            </a:p>
          </p:txBody>
        </p:sp>
        <p:sp>
          <p:nvSpPr>
            <p:cNvPr id="82" name="object 82"/>
            <p:cNvSpPr/>
            <p:nvPr/>
          </p:nvSpPr>
          <p:spPr>
            <a:xfrm>
              <a:off x="1927698" y="2814021"/>
              <a:ext cx="513715" cy="984250"/>
            </a:xfrm>
            <a:custGeom>
              <a:avLst/>
              <a:gdLst/>
              <a:ahLst/>
              <a:cxnLst/>
              <a:rect l="l" t="t" r="r" b="b"/>
              <a:pathLst>
                <a:path w="513714" h="984250">
                  <a:moveTo>
                    <a:pt x="0" y="983826"/>
                  </a:moveTo>
                  <a:lnTo>
                    <a:pt x="513675" y="737870"/>
                  </a:lnTo>
                  <a:lnTo>
                    <a:pt x="513675" y="245956"/>
                  </a:lnTo>
                  <a:lnTo>
                    <a:pt x="0" y="0"/>
                  </a:lnTo>
                  <a:lnTo>
                    <a:pt x="0" y="983826"/>
                  </a:lnTo>
                  <a:close/>
                </a:path>
              </a:pathLst>
            </a:custGeom>
            <a:ln w="30738">
              <a:solidFill>
                <a:srgbClr val="000000"/>
              </a:solidFill>
            </a:ln>
          </p:spPr>
          <p:txBody>
            <a:bodyPr wrap="square" lIns="0" tIns="0" rIns="0" bIns="0" rtlCol="0"/>
            <a:lstStyle/>
            <a:p>
              <a:endParaRPr sz="1588"/>
            </a:p>
          </p:txBody>
        </p:sp>
        <p:sp>
          <p:nvSpPr>
            <p:cNvPr id="83" name="object 83"/>
            <p:cNvSpPr/>
            <p:nvPr/>
          </p:nvSpPr>
          <p:spPr>
            <a:xfrm>
              <a:off x="1898688" y="3112927"/>
              <a:ext cx="247650" cy="297815"/>
            </a:xfrm>
            <a:custGeom>
              <a:avLst/>
              <a:gdLst/>
              <a:ahLst/>
              <a:cxnLst/>
              <a:rect l="l" t="t" r="r" b="b"/>
              <a:pathLst>
                <a:path w="247650" h="297814">
                  <a:moveTo>
                    <a:pt x="0" y="0"/>
                  </a:moveTo>
                  <a:lnTo>
                    <a:pt x="0" y="297197"/>
                  </a:lnTo>
                  <a:lnTo>
                    <a:pt x="247451" y="148598"/>
                  </a:lnTo>
                  <a:lnTo>
                    <a:pt x="0" y="0"/>
                  </a:lnTo>
                  <a:close/>
                </a:path>
              </a:pathLst>
            </a:custGeom>
            <a:solidFill>
              <a:srgbClr val="FFFFFF"/>
            </a:solidFill>
          </p:spPr>
          <p:txBody>
            <a:bodyPr wrap="square" lIns="0" tIns="0" rIns="0" bIns="0" rtlCol="0"/>
            <a:lstStyle/>
            <a:p>
              <a:endParaRPr sz="1588"/>
            </a:p>
          </p:txBody>
        </p:sp>
      </p:grpSp>
      <p:sp>
        <p:nvSpPr>
          <p:cNvPr id="84" name="object 84"/>
          <p:cNvSpPr txBox="1"/>
          <p:nvPr/>
        </p:nvSpPr>
        <p:spPr>
          <a:xfrm>
            <a:off x="1420535" y="2990095"/>
            <a:ext cx="289112" cy="389255"/>
          </a:xfrm>
          <a:prstGeom prst="rect">
            <a:avLst/>
          </a:prstGeom>
          <a:solidFill>
            <a:srgbClr val="FFFFFF"/>
          </a:solidFill>
        </p:spPr>
        <p:txBody>
          <a:bodyPr vert="horz" wrap="square" lIns="0" tIns="35859" rIns="0" bIns="0" rtlCol="0">
            <a:spAutoFit/>
          </a:bodyPr>
          <a:lstStyle/>
          <a:p>
            <a:pPr marL="72282">
              <a:spcBef>
                <a:spcPts val="282"/>
              </a:spcBef>
            </a:pPr>
            <a:r>
              <a:rPr sz="2294" b="1" spc="-44" dirty="0">
                <a:latin typeface="Times New Roman"/>
                <a:cs typeface="Times New Roman"/>
              </a:rPr>
              <a:t>4</a:t>
            </a:r>
            <a:endParaRPr sz="2294">
              <a:latin typeface="Times New Roman"/>
              <a:cs typeface="Times New Roman"/>
            </a:endParaRPr>
          </a:p>
        </p:txBody>
      </p:sp>
      <p:sp>
        <p:nvSpPr>
          <p:cNvPr id="85" name="object 85"/>
          <p:cNvSpPr txBox="1"/>
          <p:nvPr/>
        </p:nvSpPr>
        <p:spPr>
          <a:xfrm>
            <a:off x="2004392" y="2655346"/>
            <a:ext cx="218008" cy="546287"/>
          </a:xfrm>
          <a:prstGeom prst="rect">
            <a:avLst/>
          </a:prstGeom>
        </p:spPr>
        <p:txBody>
          <a:bodyPr vert="vert" wrap="square" lIns="0" tIns="0" rIns="0" bIns="0" rtlCol="0">
            <a:spAutoFit/>
          </a:bodyPr>
          <a:lstStyle/>
          <a:p>
            <a:pPr marL="11206">
              <a:lnSpc>
                <a:spcPts val="1725"/>
              </a:lnSpc>
            </a:pPr>
            <a:r>
              <a:rPr sz="1500" b="1" spc="-9" dirty="0">
                <a:latin typeface="Times New Roman"/>
                <a:cs typeface="Times New Roman"/>
              </a:rPr>
              <a:t>Adder</a:t>
            </a:r>
            <a:endParaRPr sz="1500">
              <a:latin typeface="Times New Roman"/>
              <a:cs typeface="Times New Roman"/>
            </a:endParaRPr>
          </a:p>
        </p:txBody>
      </p:sp>
      <p:grpSp>
        <p:nvGrpSpPr>
          <p:cNvPr id="86" name="object 86"/>
          <p:cNvGrpSpPr/>
          <p:nvPr/>
        </p:nvGrpSpPr>
        <p:grpSpPr>
          <a:xfrm>
            <a:off x="1272962" y="2340545"/>
            <a:ext cx="5551954" cy="2773456"/>
            <a:chOff x="1290290" y="2652618"/>
            <a:chExt cx="6292215" cy="3143250"/>
          </a:xfrm>
        </p:grpSpPr>
        <p:sp>
          <p:nvSpPr>
            <p:cNvPr id="87" name="object 87"/>
            <p:cNvSpPr/>
            <p:nvPr/>
          </p:nvSpPr>
          <p:spPr>
            <a:xfrm>
              <a:off x="1919166" y="3114634"/>
              <a:ext cx="222250" cy="295910"/>
            </a:xfrm>
            <a:custGeom>
              <a:avLst/>
              <a:gdLst/>
              <a:ahLst/>
              <a:cxnLst/>
              <a:rect l="l" t="t" r="r" b="b"/>
              <a:pathLst>
                <a:path w="222250" h="295910">
                  <a:moveTo>
                    <a:pt x="0" y="0"/>
                  </a:moveTo>
                  <a:lnTo>
                    <a:pt x="0" y="295490"/>
                  </a:lnTo>
                  <a:lnTo>
                    <a:pt x="221853" y="147745"/>
                  </a:lnTo>
                  <a:lnTo>
                    <a:pt x="0" y="0"/>
                  </a:lnTo>
                  <a:close/>
                </a:path>
              </a:pathLst>
            </a:custGeom>
            <a:solidFill>
              <a:srgbClr val="FFFFFF"/>
            </a:solidFill>
          </p:spPr>
          <p:txBody>
            <a:bodyPr wrap="square" lIns="0" tIns="0" rIns="0" bIns="0" rtlCol="0"/>
            <a:lstStyle/>
            <a:p>
              <a:endParaRPr sz="1588"/>
            </a:p>
          </p:txBody>
        </p:sp>
        <p:sp>
          <p:nvSpPr>
            <p:cNvPr id="88" name="object 88"/>
            <p:cNvSpPr/>
            <p:nvPr/>
          </p:nvSpPr>
          <p:spPr>
            <a:xfrm>
              <a:off x="1919167" y="3114634"/>
              <a:ext cx="222250" cy="295910"/>
            </a:xfrm>
            <a:custGeom>
              <a:avLst/>
              <a:gdLst/>
              <a:ahLst/>
              <a:cxnLst/>
              <a:rect l="l" t="t" r="r" b="b"/>
              <a:pathLst>
                <a:path w="222250" h="295910">
                  <a:moveTo>
                    <a:pt x="0" y="0"/>
                  </a:moveTo>
                  <a:lnTo>
                    <a:pt x="221853" y="147745"/>
                  </a:lnTo>
                  <a:lnTo>
                    <a:pt x="0" y="295490"/>
                  </a:lnTo>
                </a:path>
              </a:pathLst>
            </a:custGeom>
            <a:ln w="30735">
              <a:solidFill>
                <a:srgbClr val="000000"/>
              </a:solidFill>
            </a:ln>
          </p:spPr>
          <p:txBody>
            <a:bodyPr wrap="square" lIns="0" tIns="0" rIns="0" bIns="0" rtlCol="0"/>
            <a:lstStyle/>
            <a:p>
              <a:endParaRPr sz="1588"/>
            </a:p>
          </p:txBody>
        </p:sp>
        <p:sp>
          <p:nvSpPr>
            <p:cNvPr id="89" name="object 89"/>
            <p:cNvSpPr/>
            <p:nvPr/>
          </p:nvSpPr>
          <p:spPr>
            <a:xfrm>
              <a:off x="5206847" y="2661157"/>
              <a:ext cx="2375535" cy="1404620"/>
            </a:xfrm>
            <a:custGeom>
              <a:avLst/>
              <a:gdLst/>
              <a:ahLst/>
              <a:cxnLst/>
              <a:rect l="l" t="t" r="r" b="b"/>
              <a:pathLst>
                <a:path w="2375534" h="1404620">
                  <a:moveTo>
                    <a:pt x="1556385" y="46113"/>
                  </a:moveTo>
                  <a:lnTo>
                    <a:pt x="1525676" y="30746"/>
                  </a:lnTo>
                  <a:lnTo>
                    <a:pt x="1464233" y="0"/>
                  </a:lnTo>
                  <a:lnTo>
                    <a:pt x="1464233" y="30746"/>
                  </a:lnTo>
                  <a:lnTo>
                    <a:pt x="0" y="30746"/>
                  </a:lnTo>
                  <a:lnTo>
                    <a:pt x="0" y="61493"/>
                  </a:lnTo>
                  <a:lnTo>
                    <a:pt x="230390" y="61493"/>
                  </a:lnTo>
                  <a:lnTo>
                    <a:pt x="230390" y="1366380"/>
                  </a:lnTo>
                  <a:lnTo>
                    <a:pt x="237261" y="1373251"/>
                  </a:lnTo>
                  <a:lnTo>
                    <a:pt x="399338" y="1373251"/>
                  </a:lnTo>
                  <a:lnTo>
                    <a:pt x="399338" y="1403997"/>
                  </a:lnTo>
                  <a:lnTo>
                    <a:pt x="460781" y="1373251"/>
                  </a:lnTo>
                  <a:lnTo>
                    <a:pt x="491490" y="1357884"/>
                  </a:lnTo>
                  <a:lnTo>
                    <a:pt x="460781" y="1342517"/>
                  </a:lnTo>
                  <a:lnTo>
                    <a:pt x="399338" y="1311770"/>
                  </a:lnTo>
                  <a:lnTo>
                    <a:pt x="399338" y="1342517"/>
                  </a:lnTo>
                  <a:lnTo>
                    <a:pt x="261112" y="1342517"/>
                  </a:lnTo>
                  <a:lnTo>
                    <a:pt x="261112" y="61493"/>
                  </a:lnTo>
                  <a:lnTo>
                    <a:pt x="1464233" y="61493"/>
                  </a:lnTo>
                  <a:lnTo>
                    <a:pt x="1464233" y="92240"/>
                  </a:lnTo>
                  <a:lnTo>
                    <a:pt x="1525676" y="61493"/>
                  </a:lnTo>
                  <a:lnTo>
                    <a:pt x="1556385" y="46113"/>
                  </a:lnTo>
                  <a:close/>
                </a:path>
                <a:path w="2375534" h="1404620">
                  <a:moveTo>
                    <a:pt x="2375535" y="46113"/>
                  </a:moveTo>
                  <a:lnTo>
                    <a:pt x="2344826" y="30746"/>
                  </a:lnTo>
                  <a:lnTo>
                    <a:pt x="2283383" y="0"/>
                  </a:lnTo>
                  <a:lnTo>
                    <a:pt x="2283383" y="30746"/>
                  </a:lnTo>
                  <a:lnTo>
                    <a:pt x="1965960" y="30746"/>
                  </a:lnTo>
                  <a:lnTo>
                    <a:pt x="1965960" y="61493"/>
                  </a:lnTo>
                  <a:lnTo>
                    <a:pt x="2283383" y="61493"/>
                  </a:lnTo>
                  <a:lnTo>
                    <a:pt x="2283383" y="92227"/>
                  </a:lnTo>
                  <a:lnTo>
                    <a:pt x="2344826" y="61493"/>
                  </a:lnTo>
                  <a:lnTo>
                    <a:pt x="2375535" y="46113"/>
                  </a:lnTo>
                  <a:close/>
                </a:path>
              </a:pathLst>
            </a:custGeom>
            <a:solidFill>
              <a:srgbClr val="000000"/>
            </a:solidFill>
          </p:spPr>
          <p:txBody>
            <a:bodyPr wrap="square" lIns="0" tIns="0" rIns="0" bIns="0" rtlCol="0"/>
            <a:lstStyle/>
            <a:p>
              <a:endParaRPr sz="1588"/>
            </a:p>
          </p:txBody>
        </p:sp>
        <p:pic>
          <p:nvPicPr>
            <p:cNvPr id="90" name="object 90"/>
            <p:cNvPicPr/>
            <p:nvPr/>
          </p:nvPicPr>
          <p:blipFill>
            <a:blip r:embed="rId7" cstate="print"/>
            <a:stretch>
              <a:fillRect/>
            </a:stretch>
          </p:blipFill>
          <p:spPr>
            <a:xfrm>
              <a:off x="7183051" y="4454592"/>
              <a:ext cx="110939" cy="111009"/>
            </a:xfrm>
            <a:prstGeom prst="rect">
              <a:avLst/>
            </a:prstGeom>
          </p:spPr>
        </p:pic>
        <p:pic>
          <p:nvPicPr>
            <p:cNvPr id="91" name="object 91"/>
            <p:cNvPicPr/>
            <p:nvPr/>
          </p:nvPicPr>
          <p:blipFill>
            <a:blip r:embed="rId8" cstate="print"/>
            <a:stretch>
              <a:fillRect/>
            </a:stretch>
          </p:blipFill>
          <p:spPr>
            <a:xfrm>
              <a:off x="5314365" y="4705673"/>
              <a:ext cx="110940" cy="111008"/>
            </a:xfrm>
            <a:prstGeom prst="rect">
              <a:avLst/>
            </a:prstGeom>
          </p:spPr>
        </p:pic>
        <p:pic>
          <p:nvPicPr>
            <p:cNvPr id="92" name="object 92"/>
            <p:cNvPicPr/>
            <p:nvPr/>
          </p:nvPicPr>
          <p:blipFill>
            <a:blip r:embed="rId8" cstate="print"/>
            <a:stretch>
              <a:fillRect/>
            </a:stretch>
          </p:blipFill>
          <p:spPr>
            <a:xfrm>
              <a:off x="5309246" y="4203512"/>
              <a:ext cx="110939" cy="111008"/>
            </a:xfrm>
            <a:prstGeom prst="rect">
              <a:avLst/>
            </a:prstGeom>
          </p:spPr>
        </p:pic>
        <p:pic>
          <p:nvPicPr>
            <p:cNvPr id="93" name="object 93"/>
            <p:cNvPicPr/>
            <p:nvPr/>
          </p:nvPicPr>
          <p:blipFill>
            <a:blip r:embed="rId9" cstate="print"/>
            <a:stretch>
              <a:fillRect/>
            </a:stretch>
          </p:blipFill>
          <p:spPr>
            <a:xfrm>
              <a:off x="3343286" y="4121525"/>
              <a:ext cx="110939" cy="111008"/>
            </a:xfrm>
            <a:prstGeom prst="rect">
              <a:avLst/>
            </a:prstGeom>
          </p:spPr>
        </p:pic>
        <p:sp>
          <p:nvSpPr>
            <p:cNvPr id="94" name="object 94"/>
            <p:cNvSpPr/>
            <p:nvPr/>
          </p:nvSpPr>
          <p:spPr>
            <a:xfrm>
              <a:off x="3379130" y="5679244"/>
              <a:ext cx="80645" cy="80645"/>
            </a:xfrm>
            <a:custGeom>
              <a:avLst/>
              <a:gdLst/>
              <a:ahLst/>
              <a:cxnLst/>
              <a:rect l="l" t="t" r="r" b="b"/>
              <a:pathLst>
                <a:path w="80645" h="80645">
                  <a:moveTo>
                    <a:pt x="40104" y="0"/>
                  </a:moveTo>
                  <a:lnTo>
                    <a:pt x="24493" y="3154"/>
                  </a:lnTo>
                  <a:lnTo>
                    <a:pt x="11746" y="11756"/>
                  </a:lnTo>
                  <a:lnTo>
                    <a:pt x="3151" y="24515"/>
                  </a:lnTo>
                  <a:lnTo>
                    <a:pt x="0" y="40139"/>
                  </a:lnTo>
                  <a:lnTo>
                    <a:pt x="3151" y="55763"/>
                  </a:lnTo>
                  <a:lnTo>
                    <a:pt x="11746" y="68521"/>
                  </a:lnTo>
                  <a:lnTo>
                    <a:pt x="24493" y="77123"/>
                  </a:lnTo>
                  <a:lnTo>
                    <a:pt x="40104" y="80277"/>
                  </a:lnTo>
                  <a:lnTo>
                    <a:pt x="55714" y="77123"/>
                  </a:lnTo>
                  <a:lnTo>
                    <a:pt x="68461" y="68521"/>
                  </a:lnTo>
                  <a:lnTo>
                    <a:pt x="77056" y="55763"/>
                  </a:lnTo>
                  <a:lnTo>
                    <a:pt x="80208" y="40139"/>
                  </a:lnTo>
                  <a:lnTo>
                    <a:pt x="77056" y="24515"/>
                  </a:lnTo>
                  <a:lnTo>
                    <a:pt x="68461" y="11756"/>
                  </a:lnTo>
                  <a:lnTo>
                    <a:pt x="55714" y="3154"/>
                  </a:lnTo>
                  <a:lnTo>
                    <a:pt x="40104" y="0"/>
                  </a:lnTo>
                  <a:close/>
                </a:path>
              </a:pathLst>
            </a:custGeom>
            <a:solidFill>
              <a:srgbClr val="000000"/>
            </a:solidFill>
          </p:spPr>
          <p:txBody>
            <a:bodyPr wrap="square" lIns="0" tIns="0" rIns="0" bIns="0" rtlCol="0"/>
            <a:lstStyle/>
            <a:p>
              <a:endParaRPr sz="1588"/>
            </a:p>
          </p:txBody>
        </p:sp>
        <p:sp>
          <p:nvSpPr>
            <p:cNvPr id="95" name="object 95"/>
            <p:cNvSpPr/>
            <p:nvPr/>
          </p:nvSpPr>
          <p:spPr>
            <a:xfrm>
              <a:off x="3379130" y="5679244"/>
              <a:ext cx="80645" cy="80645"/>
            </a:xfrm>
            <a:custGeom>
              <a:avLst/>
              <a:gdLst/>
              <a:ahLst/>
              <a:cxnLst/>
              <a:rect l="l" t="t" r="r" b="b"/>
              <a:pathLst>
                <a:path w="80645" h="80645">
                  <a:moveTo>
                    <a:pt x="0" y="40139"/>
                  </a:moveTo>
                  <a:lnTo>
                    <a:pt x="3151" y="24515"/>
                  </a:lnTo>
                  <a:lnTo>
                    <a:pt x="11746" y="11756"/>
                  </a:lnTo>
                  <a:lnTo>
                    <a:pt x="24493" y="3154"/>
                  </a:lnTo>
                  <a:lnTo>
                    <a:pt x="40103" y="0"/>
                  </a:lnTo>
                  <a:lnTo>
                    <a:pt x="55714" y="3154"/>
                  </a:lnTo>
                  <a:lnTo>
                    <a:pt x="68461" y="11756"/>
                  </a:lnTo>
                  <a:lnTo>
                    <a:pt x="77056" y="24515"/>
                  </a:lnTo>
                  <a:lnTo>
                    <a:pt x="80207" y="40139"/>
                  </a:lnTo>
                  <a:lnTo>
                    <a:pt x="77056" y="55762"/>
                  </a:lnTo>
                  <a:lnTo>
                    <a:pt x="68461" y="68521"/>
                  </a:lnTo>
                  <a:lnTo>
                    <a:pt x="55714" y="77123"/>
                  </a:lnTo>
                  <a:lnTo>
                    <a:pt x="40103" y="80278"/>
                  </a:lnTo>
                  <a:lnTo>
                    <a:pt x="24493" y="77123"/>
                  </a:lnTo>
                  <a:lnTo>
                    <a:pt x="11746" y="68521"/>
                  </a:lnTo>
                  <a:lnTo>
                    <a:pt x="3151" y="55762"/>
                  </a:lnTo>
                  <a:lnTo>
                    <a:pt x="0" y="40139"/>
                  </a:lnTo>
                  <a:close/>
                </a:path>
              </a:pathLst>
            </a:custGeom>
            <a:ln w="30731">
              <a:solidFill>
                <a:srgbClr val="000000"/>
              </a:solidFill>
            </a:ln>
          </p:spPr>
          <p:txBody>
            <a:bodyPr wrap="square" lIns="0" tIns="0" rIns="0" bIns="0" rtlCol="0"/>
            <a:lstStyle/>
            <a:p>
              <a:endParaRPr sz="1588"/>
            </a:p>
          </p:txBody>
        </p:sp>
        <p:pic>
          <p:nvPicPr>
            <p:cNvPr id="96" name="object 96"/>
            <p:cNvPicPr/>
            <p:nvPr/>
          </p:nvPicPr>
          <p:blipFill>
            <a:blip r:embed="rId8" cstate="print"/>
            <a:stretch>
              <a:fillRect/>
            </a:stretch>
          </p:blipFill>
          <p:spPr>
            <a:xfrm>
              <a:off x="1290290" y="4367483"/>
              <a:ext cx="110940" cy="111008"/>
            </a:xfrm>
            <a:prstGeom prst="rect">
              <a:avLst/>
            </a:prstGeom>
          </p:spPr>
        </p:pic>
        <p:sp>
          <p:nvSpPr>
            <p:cNvPr id="97" name="object 97"/>
            <p:cNvSpPr/>
            <p:nvPr/>
          </p:nvSpPr>
          <p:spPr>
            <a:xfrm>
              <a:off x="3358652" y="5699740"/>
              <a:ext cx="80645" cy="80645"/>
            </a:xfrm>
            <a:custGeom>
              <a:avLst/>
              <a:gdLst/>
              <a:ahLst/>
              <a:cxnLst/>
              <a:rect l="l" t="t" r="r" b="b"/>
              <a:pathLst>
                <a:path w="80645" h="80645">
                  <a:moveTo>
                    <a:pt x="40104" y="0"/>
                  </a:moveTo>
                  <a:lnTo>
                    <a:pt x="24493" y="3154"/>
                  </a:lnTo>
                  <a:lnTo>
                    <a:pt x="11746" y="11756"/>
                  </a:lnTo>
                  <a:lnTo>
                    <a:pt x="3151" y="24514"/>
                  </a:lnTo>
                  <a:lnTo>
                    <a:pt x="0" y="40138"/>
                  </a:lnTo>
                  <a:lnTo>
                    <a:pt x="3151" y="55762"/>
                  </a:lnTo>
                  <a:lnTo>
                    <a:pt x="11746" y="68521"/>
                  </a:lnTo>
                  <a:lnTo>
                    <a:pt x="24493" y="77123"/>
                  </a:lnTo>
                  <a:lnTo>
                    <a:pt x="40104" y="80277"/>
                  </a:lnTo>
                  <a:lnTo>
                    <a:pt x="55714" y="77123"/>
                  </a:lnTo>
                  <a:lnTo>
                    <a:pt x="68461" y="68521"/>
                  </a:lnTo>
                  <a:lnTo>
                    <a:pt x="77056" y="55762"/>
                  </a:lnTo>
                  <a:lnTo>
                    <a:pt x="80208" y="40138"/>
                  </a:lnTo>
                  <a:lnTo>
                    <a:pt x="77056" y="24514"/>
                  </a:lnTo>
                  <a:lnTo>
                    <a:pt x="68461" y="11756"/>
                  </a:lnTo>
                  <a:lnTo>
                    <a:pt x="55714" y="3154"/>
                  </a:lnTo>
                  <a:lnTo>
                    <a:pt x="40104" y="0"/>
                  </a:lnTo>
                  <a:close/>
                </a:path>
              </a:pathLst>
            </a:custGeom>
            <a:solidFill>
              <a:srgbClr val="000000"/>
            </a:solidFill>
          </p:spPr>
          <p:txBody>
            <a:bodyPr wrap="square" lIns="0" tIns="0" rIns="0" bIns="0" rtlCol="0"/>
            <a:lstStyle/>
            <a:p>
              <a:endParaRPr sz="1588"/>
            </a:p>
          </p:txBody>
        </p:sp>
        <p:sp>
          <p:nvSpPr>
            <p:cNvPr id="98" name="object 98"/>
            <p:cNvSpPr/>
            <p:nvPr/>
          </p:nvSpPr>
          <p:spPr>
            <a:xfrm>
              <a:off x="3358652" y="5699740"/>
              <a:ext cx="80645" cy="80645"/>
            </a:xfrm>
            <a:custGeom>
              <a:avLst/>
              <a:gdLst/>
              <a:ahLst/>
              <a:cxnLst/>
              <a:rect l="l" t="t" r="r" b="b"/>
              <a:pathLst>
                <a:path w="80645" h="80645">
                  <a:moveTo>
                    <a:pt x="0" y="40139"/>
                  </a:moveTo>
                  <a:lnTo>
                    <a:pt x="3151" y="24515"/>
                  </a:lnTo>
                  <a:lnTo>
                    <a:pt x="11746" y="11756"/>
                  </a:lnTo>
                  <a:lnTo>
                    <a:pt x="24493" y="3154"/>
                  </a:lnTo>
                  <a:lnTo>
                    <a:pt x="40103" y="0"/>
                  </a:lnTo>
                  <a:lnTo>
                    <a:pt x="55714" y="3154"/>
                  </a:lnTo>
                  <a:lnTo>
                    <a:pt x="68461" y="11756"/>
                  </a:lnTo>
                  <a:lnTo>
                    <a:pt x="77056" y="24515"/>
                  </a:lnTo>
                  <a:lnTo>
                    <a:pt x="80207" y="40139"/>
                  </a:lnTo>
                  <a:lnTo>
                    <a:pt x="77056" y="55762"/>
                  </a:lnTo>
                  <a:lnTo>
                    <a:pt x="68461" y="68521"/>
                  </a:lnTo>
                  <a:lnTo>
                    <a:pt x="55714" y="77123"/>
                  </a:lnTo>
                  <a:lnTo>
                    <a:pt x="40103" y="80278"/>
                  </a:lnTo>
                  <a:lnTo>
                    <a:pt x="24493" y="77123"/>
                  </a:lnTo>
                  <a:lnTo>
                    <a:pt x="11746" y="68521"/>
                  </a:lnTo>
                  <a:lnTo>
                    <a:pt x="3151" y="55762"/>
                  </a:lnTo>
                  <a:lnTo>
                    <a:pt x="0" y="40139"/>
                  </a:lnTo>
                  <a:close/>
                </a:path>
              </a:pathLst>
            </a:custGeom>
            <a:ln w="30731">
              <a:solidFill>
                <a:srgbClr val="000000"/>
              </a:solidFill>
            </a:ln>
          </p:spPr>
          <p:txBody>
            <a:bodyPr wrap="square" lIns="0" tIns="0" rIns="0" bIns="0" rtlCol="0"/>
            <a:lstStyle/>
            <a:p>
              <a:endParaRPr sz="1588"/>
            </a:p>
          </p:txBody>
        </p:sp>
        <p:pic>
          <p:nvPicPr>
            <p:cNvPr id="99" name="object 99"/>
            <p:cNvPicPr/>
            <p:nvPr/>
          </p:nvPicPr>
          <p:blipFill>
            <a:blip r:embed="rId10" cstate="print"/>
            <a:stretch>
              <a:fillRect/>
            </a:stretch>
          </p:blipFill>
          <p:spPr>
            <a:xfrm>
              <a:off x="5397987" y="2652618"/>
              <a:ext cx="110939" cy="111008"/>
            </a:xfrm>
            <a:prstGeom prst="rect">
              <a:avLst/>
            </a:prstGeom>
          </p:spPr>
        </p:pic>
      </p:grpSp>
      <p:sp>
        <p:nvSpPr>
          <p:cNvPr id="100" name="object 100"/>
          <p:cNvSpPr txBox="1"/>
          <p:nvPr/>
        </p:nvSpPr>
        <p:spPr>
          <a:xfrm>
            <a:off x="3089791" y="2368779"/>
            <a:ext cx="958663" cy="215089"/>
          </a:xfrm>
          <a:prstGeom prst="rect">
            <a:avLst/>
          </a:prstGeom>
        </p:spPr>
        <p:txBody>
          <a:bodyPr vert="horz" wrap="square" lIns="0" tIns="11206" rIns="0" bIns="0" rtlCol="0">
            <a:spAutoFit/>
          </a:bodyPr>
          <a:lstStyle/>
          <a:p>
            <a:pPr marL="11206">
              <a:spcBef>
                <a:spcPts val="88"/>
              </a:spcBef>
            </a:pPr>
            <a:r>
              <a:rPr sz="1324" dirty="0">
                <a:latin typeface="Times New Roman"/>
                <a:cs typeface="Times New Roman"/>
              </a:rPr>
              <a:t>Next</a:t>
            </a:r>
            <a:r>
              <a:rPr sz="1324" spc="-18" dirty="0">
                <a:latin typeface="Times New Roman"/>
                <a:cs typeface="Times New Roman"/>
              </a:rPr>
              <a:t> </a:t>
            </a:r>
            <a:r>
              <a:rPr sz="1324" dirty="0">
                <a:latin typeface="Times New Roman"/>
                <a:cs typeface="Times New Roman"/>
              </a:rPr>
              <a:t>SEQ</a:t>
            </a:r>
            <a:r>
              <a:rPr sz="1324" spc="-18"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101" name="object 101"/>
          <p:cNvSpPr txBox="1"/>
          <p:nvPr/>
        </p:nvSpPr>
        <p:spPr>
          <a:xfrm>
            <a:off x="5020216" y="2374157"/>
            <a:ext cx="958663" cy="215089"/>
          </a:xfrm>
          <a:prstGeom prst="rect">
            <a:avLst/>
          </a:prstGeom>
        </p:spPr>
        <p:txBody>
          <a:bodyPr vert="horz" wrap="square" lIns="0" tIns="11206" rIns="0" bIns="0" rtlCol="0">
            <a:spAutoFit/>
          </a:bodyPr>
          <a:lstStyle/>
          <a:p>
            <a:pPr marL="11206">
              <a:spcBef>
                <a:spcPts val="88"/>
              </a:spcBef>
            </a:pPr>
            <a:r>
              <a:rPr sz="1324" dirty="0">
                <a:latin typeface="Times New Roman"/>
                <a:cs typeface="Times New Roman"/>
              </a:rPr>
              <a:t>Next</a:t>
            </a:r>
            <a:r>
              <a:rPr sz="1324" spc="-18" dirty="0">
                <a:latin typeface="Times New Roman"/>
                <a:cs typeface="Times New Roman"/>
              </a:rPr>
              <a:t> </a:t>
            </a:r>
            <a:r>
              <a:rPr sz="1324" dirty="0">
                <a:latin typeface="Times New Roman"/>
                <a:cs typeface="Times New Roman"/>
              </a:rPr>
              <a:t>SEQ</a:t>
            </a:r>
            <a:r>
              <a:rPr sz="1324" spc="-18"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102" name="object 102"/>
          <p:cNvSpPr txBox="1"/>
          <p:nvPr/>
        </p:nvSpPr>
        <p:spPr>
          <a:xfrm>
            <a:off x="3872050" y="5467897"/>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103" name="object 103"/>
          <p:cNvSpPr txBox="1"/>
          <p:nvPr/>
        </p:nvSpPr>
        <p:spPr>
          <a:xfrm>
            <a:off x="5218226" y="5467897"/>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104" name="object 104"/>
          <p:cNvSpPr txBox="1"/>
          <p:nvPr/>
        </p:nvSpPr>
        <p:spPr>
          <a:xfrm>
            <a:off x="6808341" y="5467897"/>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105" name="object 105"/>
          <p:cNvSpPr txBox="1"/>
          <p:nvPr/>
        </p:nvSpPr>
        <p:spPr>
          <a:xfrm>
            <a:off x="759388" y="1194584"/>
            <a:ext cx="1675840" cy="1230764"/>
          </a:xfrm>
          <a:prstGeom prst="rect">
            <a:avLst/>
          </a:prstGeom>
        </p:spPr>
        <p:txBody>
          <a:bodyPr vert="horz" wrap="square" lIns="0" tIns="10646" rIns="0" bIns="0" rtlCol="0">
            <a:spAutoFit/>
          </a:bodyPr>
          <a:lstStyle/>
          <a:p>
            <a:pPr marL="629804" marR="4483" indent="-619158">
              <a:lnSpc>
                <a:spcPct val="127400"/>
              </a:lnSpc>
              <a:spcBef>
                <a:spcPts val="84"/>
              </a:spcBef>
              <a:tabLst>
                <a:tab pos="1107200" algn="l"/>
              </a:tabLst>
            </a:pPr>
            <a:r>
              <a:rPr sz="1677" b="1" spc="-9" dirty="0">
                <a:latin typeface="Times New Roman"/>
                <a:cs typeface="Times New Roman"/>
              </a:rPr>
              <a:t>Stages:</a:t>
            </a:r>
            <a:r>
              <a:rPr sz="1677" b="1" dirty="0">
                <a:latin typeface="Times New Roman"/>
                <a:cs typeface="Times New Roman"/>
              </a:rPr>
              <a:t>	</a:t>
            </a:r>
            <a:r>
              <a:rPr sz="1677" b="1" spc="-44" dirty="0">
                <a:latin typeface="Times New Roman"/>
                <a:cs typeface="Times New Roman"/>
              </a:rPr>
              <a:t>1 </a:t>
            </a:r>
            <a:r>
              <a:rPr sz="1677" b="1" spc="-9" dirty="0">
                <a:latin typeface="Times New Roman"/>
                <a:cs typeface="Times New Roman"/>
              </a:rPr>
              <a:t>Instruction</a:t>
            </a:r>
            <a:endParaRPr sz="1677">
              <a:latin typeface="Times New Roman"/>
              <a:cs typeface="Times New Roman"/>
            </a:endParaRPr>
          </a:p>
          <a:p>
            <a:pPr marL="889233">
              <a:spcBef>
                <a:spcPts val="22"/>
              </a:spcBef>
            </a:pPr>
            <a:r>
              <a:rPr sz="1677" b="1" spc="-9" dirty="0">
                <a:latin typeface="Times New Roman"/>
                <a:cs typeface="Times New Roman"/>
              </a:rPr>
              <a:t>Fetch</a:t>
            </a:r>
            <a:endParaRPr sz="1677">
              <a:latin typeface="Times New Roman"/>
              <a:cs typeface="Times New Roman"/>
            </a:endParaRPr>
          </a:p>
          <a:p>
            <a:pPr marL="90212">
              <a:spcBef>
                <a:spcPts val="799"/>
              </a:spcBef>
            </a:pPr>
            <a:r>
              <a:rPr sz="1324" dirty="0">
                <a:latin typeface="Times New Roman"/>
                <a:cs typeface="Times New Roman"/>
              </a:rPr>
              <a:t>Next</a:t>
            </a:r>
            <a:r>
              <a:rPr sz="1324" spc="-13"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106" name="object 106"/>
          <p:cNvSpPr txBox="1"/>
          <p:nvPr/>
        </p:nvSpPr>
        <p:spPr>
          <a:xfrm>
            <a:off x="8506317" y="4863891"/>
            <a:ext cx="192360" cy="656665"/>
          </a:xfrm>
          <a:prstGeom prst="rect">
            <a:avLst/>
          </a:prstGeom>
        </p:spPr>
        <p:txBody>
          <a:bodyPr vert="vert270" wrap="square" lIns="0" tIns="0" rIns="0" bIns="0" rtlCol="0">
            <a:spAutoFit/>
          </a:bodyPr>
          <a:lstStyle/>
          <a:p>
            <a:pPr marL="11206">
              <a:lnSpc>
                <a:spcPts val="1531"/>
              </a:lnSpc>
            </a:pPr>
            <a:r>
              <a:rPr sz="1324" dirty="0">
                <a:latin typeface="Times New Roman"/>
                <a:cs typeface="Times New Roman"/>
              </a:rPr>
              <a:t>WB </a:t>
            </a:r>
            <a:r>
              <a:rPr sz="1324" spc="-18" dirty="0">
                <a:latin typeface="Times New Roman"/>
                <a:cs typeface="Times New Roman"/>
              </a:rPr>
              <a:t>Data</a:t>
            </a:r>
            <a:endParaRPr sz="1324">
              <a:latin typeface="Times New Roman"/>
              <a:cs typeface="Times New Roman"/>
            </a:endParaRPr>
          </a:p>
        </p:txBody>
      </p:sp>
      <p:sp>
        <p:nvSpPr>
          <p:cNvPr id="107" name="object 107"/>
          <p:cNvSpPr/>
          <p:nvPr/>
        </p:nvSpPr>
        <p:spPr>
          <a:xfrm>
            <a:off x="885980" y="3329188"/>
            <a:ext cx="289112" cy="1157568"/>
          </a:xfrm>
          <a:custGeom>
            <a:avLst/>
            <a:gdLst/>
            <a:ahLst/>
            <a:cxnLst/>
            <a:rect l="l" t="t" r="r" b="b"/>
            <a:pathLst>
              <a:path w="327659" h="1311910">
                <a:moveTo>
                  <a:pt x="327659" y="0"/>
                </a:moveTo>
                <a:lnTo>
                  <a:pt x="0" y="0"/>
                </a:lnTo>
                <a:lnTo>
                  <a:pt x="0" y="1311767"/>
                </a:lnTo>
                <a:lnTo>
                  <a:pt x="327659" y="1311767"/>
                </a:lnTo>
                <a:lnTo>
                  <a:pt x="327659" y="0"/>
                </a:lnTo>
                <a:close/>
              </a:path>
            </a:pathLst>
          </a:custGeom>
          <a:solidFill>
            <a:srgbClr val="07F707"/>
          </a:solidFill>
        </p:spPr>
        <p:txBody>
          <a:bodyPr wrap="square" lIns="0" tIns="0" rIns="0" bIns="0" rtlCol="0"/>
          <a:lstStyle/>
          <a:p>
            <a:endParaRPr sz="1588"/>
          </a:p>
        </p:txBody>
      </p:sp>
      <p:sp>
        <p:nvSpPr>
          <p:cNvPr id="108" name="object 108"/>
          <p:cNvSpPr txBox="1"/>
          <p:nvPr/>
        </p:nvSpPr>
        <p:spPr>
          <a:xfrm>
            <a:off x="917008" y="3329188"/>
            <a:ext cx="258084" cy="1157568"/>
          </a:xfrm>
          <a:prstGeom prst="rect">
            <a:avLst/>
          </a:prstGeom>
          <a:ln w="30719">
            <a:solidFill>
              <a:srgbClr val="000000"/>
            </a:solidFill>
          </a:ln>
        </p:spPr>
        <p:txBody>
          <a:bodyPr vert="vert" wrap="square" lIns="0" tIns="15128" rIns="0" bIns="0" rtlCol="0">
            <a:spAutoFit/>
          </a:bodyPr>
          <a:lstStyle/>
          <a:p>
            <a:pPr marL="224690">
              <a:spcBef>
                <a:spcPts val="119"/>
              </a:spcBef>
            </a:pPr>
            <a:r>
              <a:rPr sz="1677" spc="-9" dirty="0">
                <a:latin typeface="Times New Roman"/>
                <a:cs typeface="Times New Roman"/>
              </a:rPr>
              <a:t>Address</a:t>
            </a:r>
            <a:endParaRPr sz="1677">
              <a:latin typeface="Times New Roman"/>
              <a:cs typeface="Times New Roman"/>
            </a:endParaRPr>
          </a:p>
        </p:txBody>
      </p:sp>
      <p:sp>
        <p:nvSpPr>
          <p:cNvPr id="109" name="object 109"/>
          <p:cNvSpPr/>
          <p:nvPr/>
        </p:nvSpPr>
        <p:spPr>
          <a:xfrm>
            <a:off x="898026" y="4278654"/>
            <a:ext cx="263899" cy="217393"/>
          </a:xfrm>
          <a:custGeom>
            <a:avLst/>
            <a:gdLst/>
            <a:ahLst/>
            <a:cxnLst/>
            <a:rect l="l" t="t" r="r" b="b"/>
            <a:pathLst>
              <a:path w="299084" h="246379">
                <a:moveTo>
                  <a:pt x="0" y="245956"/>
                </a:moveTo>
                <a:lnTo>
                  <a:pt x="149324" y="0"/>
                </a:lnTo>
                <a:lnTo>
                  <a:pt x="298648" y="245956"/>
                </a:lnTo>
                <a:lnTo>
                  <a:pt x="0" y="245956"/>
                </a:lnTo>
                <a:close/>
              </a:path>
            </a:pathLst>
          </a:custGeom>
          <a:ln w="30733">
            <a:solidFill>
              <a:srgbClr val="000000"/>
            </a:solidFill>
          </a:ln>
        </p:spPr>
        <p:txBody>
          <a:bodyPr wrap="square" lIns="0" tIns="0" rIns="0" bIns="0" rtlCol="0"/>
          <a:lstStyle/>
          <a:p>
            <a:endParaRPr sz="1588"/>
          </a:p>
        </p:txBody>
      </p:sp>
      <p:sp>
        <p:nvSpPr>
          <p:cNvPr id="110" name="object 110"/>
          <p:cNvSpPr txBox="1"/>
          <p:nvPr/>
        </p:nvSpPr>
        <p:spPr>
          <a:xfrm>
            <a:off x="3339000" y="3217774"/>
            <a:ext cx="230281"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RS1</a:t>
            </a:r>
            <a:endParaRPr sz="971">
              <a:latin typeface="Times New Roman"/>
              <a:cs typeface="Times New Roman"/>
            </a:endParaRPr>
          </a:p>
        </p:txBody>
      </p:sp>
      <p:sp>
        <p:nvSpPr>
          <p:cNvPr id="111" name="object 111"/>
          <p:cNvSpPr txBox="1"/>
          <p:nvPr/>
        </p:nvSpPr>
        <p:spPr>
          <a:xfrm>
            <a:off x="3348787" y="3508232"/>
            <a:ext cx="230281"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RS2</a:t>
            </a:r>
            <a:endParaRPr sz="971">
              <a:latin typeface="Times New Roman"/>
              <a:cs typeface="Times New Roman"/>
            </a:endParaRPr>
          </a:p>
        </p:txBody>
      </p:sp>
      <p:sp>
        <p:nvSpPr>
          <p:cNvPr id="112" name="object 112"/>
          <p:cNvSpPr txBox="1"/>
          <p:nvPr/>
        </p:nvSpPr>
        <p:spPr>
          <a:xfrm>
            <a:off x="3480545" y="5084226"/>
            <a:ext cx="252693"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Imm</a:t>
            </a:r>
            <a:endParaRPr sz="971">
              <a:latin typeface="Times New Roman"/>
              <a:cs typeface="Times New Roman"/>
            </a:endParaRPr>
          </a:p>
        </p:txBody>
      </p:sp>
      <p:grpSp>
        <p:nvGrpSpPr>
          <p:cNvPr id="113" name="object 113"/>
          <p:cNvGrpSpPr/>
          <p:nvPr/>
        </p:nvGrpSpPr>
        <p:grpSpPr>
          <a:xfrm>
            <a:off x="6811091" y="2252965"/>
            <a:ext cx="226359" cy="552450"/>
            <a:chOff x="7566836" y="2553360"/>
            <a:chExt cx="256540" cy="626110"/>
          </a:xfrm>
        </p:grpSpPr>
        <p:sp>
          <p:nvSpPr>
            <p:cNvPr id="114" name="object 114"/>
            <p:cNvSpPr/>
            <p:nvPr/>
          </p:nvSpPr>
          <p:spPr>
            <a:xfrm>
              <a:off x="7582394" y="2568917"/>
              <a:ext cx="225425" cy="594995"/>
            </a:xfrm>
            <a:custGeom>
              <a:avLst/>
              <a:gdLst/>
              <a:ahLst/>
              <a:cxnLst/>
              <a:rect l="l" t="t" r="r" b="b"/>
              <a:pathLst>
                <a:path w="225425" h="594994">
                  <a:moveTo>
                    <a:pt x="112632" y="0"/>
                  </a:moveTo>
                  <a:lnTo>
                    <a:pt x="63099" y="30207"/>
                  </a:lnTo>
                  <a:lnTo>
                    <a:pt x="42186" y="65291"/>
                  </a:lnTo>
                  <a:lnTo>
                    <a:pt x="24744" y="111315"/>
                  </a:lnTo>
                  <a:lnTo>
                    <a:pt x="11448" y="166497"/>
                  </a:lnTo>
                  <a:lnTo>
                    <a:pt x="2974" y="229053"/>
                  </a:lnTo>
                  <a:lnTo>
                    <a:pt x="0" y="297197"/>
                  </a:lnTo>
                  <a:lnTo>
                    <a:pt x="2974" y="365342"/>
                  </a:lnTo>
                  <a:lnTo>
                    <a:pt x="11448" y="427897"/>
                  </a:lnTo>
                  <a:lnTo>
                    <a:pt x="24744" y="483079"/>
                  </a:lnTo>
                  <a:lnTo>
                    <a:pt x="42186" y="529104"/>
                  </a:lnTo>
                  <a:lnTo>
                    <a:pt x="63099" y="564187"/>
                  </a:lnTo>
                  <a:lnTo>
                    <a:pt x="112632" y="594395"/>
                  </a:lnTo>
                  <a:lnTo>
                    <a:pt x="138458" y="586546"/>
                  </a:lnTo>
                  <a:lnTo>
                    <a:pt x="183079" y="529104"/>
                  </a:lnTo>
                  <a:lnTo>
                    <a:pt x="200521" y="483079"/>
                  </a:lnTo>
                  <a:lnTo>
                    <a:pt x="213818" y="427897"/>
                  </a:lnTo>
                  <a:lnTo>
                    <a:pt x="222291" y="365342"/>
                  </a:lnTo>
                  <a:lnTo>
                    <a:pt x="225266" y="297197"/>
                  </a:lnTo>
                  <a:lnTo>
                    <a:pt x="222291" y="229053"/>
                  </a:lnTo>
                  <a:lnTo>
                    <a:pt x="213818" y="166497"/>
                  </a:lnTo>
                  <a:lnTo>
                    <a:pt x="200521" y="111315"/>
                  </a:lnTo>
                  <a:lnTo>
                    <a:pt x="183079" y="65291"/>
                  </a:lnTo>
                  <a:lnTo>
                    <a:pt x="162165" y="30207"/>
                  </a:lnTo>
                  <a:lnTo>
                    <a:pt x="112632" y="0"/>
                  </a:lnTo>
                  <a:close/>
                </a:path>
              </a:pathLst>
            </a:custGeom>
            <a:solidFill>
              <a:srgbClr val="FF0000"/>
            </a:solidFill>
          </p:spPr>
          <p:txBody>
            <a:bodyPr wrap="square" lIns="0" tIns="0" rIns="0" bIns="0" rtlCol="0"/>
            <a:lstStyle/>
            <a:p>
              <a:endParaRPr sz="1588"/>
            </a:p>
          </p:txBody>
        </p:sp>
        <p:sp>
          <p:nvSpPr>
            <p:cNvPr id="115" name="object 115"/>
            <p:cNvSpPr/>
            <p:nvPr/>
          </p:nvSpPr>
          <p:spPr>
            <a:xfrm>
              <a:off x="7582394" y="2568917"/>
              <a:ext cx="225425" cy="594995"/>
            </a:xfrm>
            <a:custGeom>
              <a:avLst/>
              <a:gdLst/>
              <a:ahLst/>
              <a:cxnLst/>
              <a:rect l="l" t="t" r="r" b="b"/>
              <a:pathLst>
                <a:path w="225425" h="594994">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116" name="object 116"/>
          <p:cNvSpPr txBox="1"/>
          <p:nvPr/>
        </p:nvSpPr>
        <p:spPr>
          <a:xfrm>
            <a:off x="6850148" y="2351442"/>
            <a:ext cx="166712" cy="360269"/>
          </a:xfrm>
          <a:prstGeom prst="rect">
            <a:avLst/>
          </a:prstGeom>
        </p:spPr>
        <p:txBody>
          <a:bodyPr vert="vert" wrap="square" lIns="0" tIns="0" rIns="0" bIns="0" rtlCol="0">
            <a:spAutoFit/>
          </a:bodyPr>
          <a:lstStyle/>
          <a:p>
            <a:pPr marL="11206">
              <a:lnSpc>
                <a:spcPts val="1337"/>
              </a:lnSpc>
            </a:pPr>
            <a:r>
              <a:rPr sz="1147" spc="-22" dirty="0">
                <a:latin typeface="Times New Roman"/>
                <a:cs typeface="Times New Roman"/>
              </a:rPr>
              <a:t>MUX</a:t>
            </a:r>
            <a:endParaRPr sz="1147">
              <a:latin typeface="Times New Roman"/>
              <a:cs typeface="Times New Roman"/>
            </a:endParaRPr>
          </a:p>
        </p:txBody>
      </p:sp>
      <p:sp>
        <p:nvSpPr>
          <p:cNvPr id="117" name="object 117"/>
          <p:cNvSpPr/>
          <p:nvPr/>
        </p:nvSpPr>
        <p:spPr>
          <a:xfrm>
            <a:off x="3414203" y="4228919"/>
            <a:ext cx="5086910" cy="1790700"/>
          </a:xfrm>
          <a:custGeom>
            <a:avLst/>
            <a:gdLst/>
            <a:ahLst/>
            <a:cxnLst/>
            <a:rect l="l" t="t" r="r" b="b"/>
            <a:pathLst>
              <a:path w="5765165" h="2029459">
                <a:moveTo>
                  <a:pt x="338715" y="30745"/>
                </a:moveTo>
                <a:lnTo>
                  <a:pt x="6877" y="30745"/>
                </a:lnTo>
                <a:lnTo>
                  <a:pt x="0" y="37627"/>
                </a:lnTo>
                <a:lnTo>
                  <a:pt x="0" y="2022260"/>
                </a:lnTo>
                <a:lnTo>
                  <a:pt x="6877" y="2029142"/>
                </a:lnTo>
                <a:lnTo>
                  <a:pt x="5757891" y="2029142"/>
                </a:lnTo>
                <a:lnTo>
                  <a:pt x="5764767" y="2022260"/>
                </a:lnTo>
                <a:lnTo>
                  <a:pt x="5764767" y="2013770"/>
                </a:lnTo>
                <a:lnTo>
                  <a:pt x="30717" y="2013770"/>
                </a:lnTo>
                <a:lnTo>
                  <a:pt x="15359" y="1998398"/>
                </a:lnTo>
                <a:lnTo>
                  <a:pt x="30717" y="1998398"/>
                </a:lnTo>
                <a:lnTo>
                  <a:pt x="30717" y="61489"/>
                </a:lnTo>
                <a:lnTo>
                  <a:pt x="15359" y="61489"/>
                </a:lnTo>
                <a:lnTo>
                  <a:pt x="30717" y="46117"/>
                </a:lnTo>
                <a:lnTo>
                  <a:pt x="338715" y="46117"/>
                </a:lnTo>
                <a:lnTo>
                  <a:pt x="338715" y="30745"/>
                </a:lnTo>
                <a:close/>
              </a:path>
              <a:path w="5765165" h="2029459">
                <a:moveTo>
                  <a:pt x="30717" y="1998398"/>
                </a:moveTo>
                <a:lnTo>
                  <a:pt x="15359" y="1998398"/>
                </a:lnTo>
                <a:lnTo>
                  <a:pt x="30717" y="2013770"/>
                </a:lnTo>
                <a:lnTo>
                  <a:pt x="30717" y="1998398"/>
                </a:lnTo>
                <a:close/>
              </a:path>
              <a:path w="5765165" h="2029459">
                <a:moveTo>
                  <a:pt x="5734049" y="1998398"/>
                </a:moveTo>
                <a:lnTo>
                  <a:pt x="30717" y="1998398"/>
                </a:lnTo>
                <a:lnTo>
                  <a:pt x="30717" y="2013770"/>
                </a:lnTo>
                <a:lnTo>
                  <a:pt x="5734049" y="2013770"/>
                </a:lnTo>
                <a:lnTo>
                  <a:pt x="5734049" y="1998398"/>
                </a:lnTo>
                <a:close/>
              </a:path>
              <a:path w="5765165" h="2029459">
                <a:moveTo>
                  <a:pt x="5734049" y="292073"/>
                </a:moveTo>
                <a:lnTo>
                  <a:pt x="5734049" y="2013770"/>
                </a:lnTo>
                <a:lnTo>
                  <a:pt x="5749409" y="1998398"/>
                </a:lnTo>
                <a:lnTo>
                  <a:pt x="5764767" y="1998398"/>
                </a:lnTo>
                <a:lnTo>
                  <a:pt x="5764767" y="307446"/>
                </a:lnTo>
                <a:lnTo>
                  <a:pt x="5749409" y="307446"/>
                </a:lnTo>
                <a:lnTo>
                  <a:pt x="5734049" y="292073"/>
                </a:lnTo>
                <a:close/>
              </a:path>
              <a:path w="5765165" h="2029459">
                <a:moveTo>
                  <a:pt x="5764767" y="1998398"/>
                </a:moveTo>
                <a:lnTo>
                  <a:pt x="5749409" y="1998398"/>
                </a:lnTo>
                <a:lnTo>
                  <a:pt x="5734049" y="2013770"/>
                </a:lnTo>
                <a:lnTo>
                  <a:pt x="5764767" y="2013770"/>
                </a:lnTo>
                <a:lnTo>
                  <a:pt x="5764767" y="1998398"/>
                </a:lnTo>
                <a:close/>
              </a:path>
              <a:path w="5765165" h="2029459">
                <a:moveTo>
                  <a:pt x="5757891" y="276701"/>
                </a:moveTo>
                <a:lnTo>
                  <a:pt x="5500102" y="276701"/>
                </a:lnTo>
                <a:lnTo>
                  <a:pt x="5500102" y="307446"/>
                </a:lnTo>
                <a:lnTo>
                  <a:pt x="5734049" y="307446"/>
                </a:lnTo>
                <a:lnTo>
                  <a:pt x="5734049" y="292073"/>
                </a:lnTo>
                <a:lnTo>
                  <a:pt x="5764767" y="292073"/>
                </a:lnTo>
                <a:lnTo>
                  <a:pt x="5764767" y="283583"/>
                </a:lnTo>
                <a:lnTo>
                  <a:pt x="5757891" y="276701"/>
                </a:lnTo>
                <a:close/>
              </a:path>
              <a:path w="5765165" h="2029459">
                <a:moveTo>
                  <a:pt x="5764767" y="292073"/>
                </a:moveTo>
                <a:lnTo>
                  <a:pt x="5734049" y="292073"/>
                </a:lnTo>
                <a:lnTo>
                  <a:pt x="5749409" y="307446"/>
                </a:lnTo>
                <a:lnTo>
                  <a:pt x="5764767" y="307446"/>
                </a:lnTo>
                <a:lnTo>
                  <a:pt x="5764767" y="292073"/>
                </a:lnTo>
                <a:close/>
              </a:path>
              <a:path w="5765165" h="2029459">
                <a:moveTo>
                  <a:pt x="338715" y="0"/>
                </a:moveTo>
                <a:lnTo>
                  <a:pt x="338715" y="92233"/>
                </a:lnTo>
                <a:lnTo>
                  <a:pt x="400152" y="61489"/>
                </a:lnTo>
                <a:lnTo>
                  <a:pt x="354074" y="61489"/>
                </a:lnTo>
                <a:lnTo>
                  <a:pt x="354074" y="30745"/>
                </a:lnTo>
                <a:lnTo>
                  <a:pt x="400152" y="30745"/>
                </a:lnTo>
                <a:lnTo>
                  <a:pt x="338715" y="0"/>
                </a:lnTo>
                <a:close/>
              </a:path>
              <a:path w="5765165" h="2029459">
                <a:moveTo>
                  <a:pt x="30717" y="46117"/>
                </a:moveTo>
                <a:lnTo>
                  <a:pt x="15359" y="61489"/>
                </a:lnTo>
                <a:lnTo>
                  <a:pt x="30717" y="61489"/>
                </a:lnTo>
                <a:lnTo>
                  <a:pt x="30717" y="46117"/>
                </a:lnTo>
                <a:close/>
              </a:path>
              <a:path w="5765165" h="2029459">
                <a:moveTo>
                  <a:pt x="338715" y="46117"/>
                </a:moveTo>
                <a:lnTo>
                  <a:pt x="30717" y="46117"/>
                </a:lnTo>
                <a:lnTo>
                  <a:pt x="30717" y="61489"/>
                </a:lnTo>
                <a:lnTo>
                  <a:pt x="338715" y="61489"/>
                </a:lnTo>
                <a:lnTo>
                  <a:pt x="338715" y="46117"/>
                </a:lnTo>
                <a:close/>
              </a:path>
              <a:path w="5765165" h="2029459">
                <a:moveTo>
                  <a:pt x="400152" y="30745"/>
                </a:moveTo>
                <a:lnTo>
                  <a:pt x="354074" y="30745"/>
                </a:lnTo>
                <a:lnTo>
                  <a:pt x="354074" y="61489"/>
                </a:lnTo>
                <a:lnTo>
                  <a:pt x="400152" y="61489"/>
                </a:lnTo>
                <a:lnTo>
                  <a:pt x="430870" y="46117"/>
                </a:lnTo>
                <a:lnTo>
                  <a:pt x="400152" y="30745"/>
                </a:lnTo>
                <a:close/>
              </a:path>
            </a:pathLst>
          </a:custGeom>
          <a:solidFill>
            <a:srgbClr val="000000"/>
          </a:solidFill>
        </p:spPr>
        <p:txBody>
          <a:bodyPr wrap="square" lIns="0" tIns="0" rIns="0" bIns="0" rtlCol="0"/>
          <a:lstStyle/>
          <a:p>
            <a:endParaRPr sz="1588"/>
          </a:p>
        </p:txBody>
      </p:sp>
      <p:sp>
        <p:nvSpPr>
          <p:cNvPr id="118" name="object 118"/>
          <p:cNvSpPr txBox="1"/>
          <p:nvPr/>
        </p:nvSpPr>
        <p:spPr>
          <a:xfrm>
            <a:off x="760763" y="6291714"/>
            <a:ext cx="4844303" cy="242148"/>
          </a:xfrm>
          <a:prstGeom prst="rect">
            <a:avLst/>
          </a:prstGeom>
        </p:spPr>
        <p:txBody>
          <a:bodyPr vert="horz" wrap="square" lIns="0" tIns="11206" rIns="0" bIns="0" rtlCol="0">
            <a:spAutoFit/>
          </a:bodyPr>
          <a:lstStyle/>
          <a:p>
            <a:pPr marL="11206">
              <a:spcBef>
                <a:spcPts val="88"/>
              </a:spcBef>
            </a:pPr>
            <a:r>
              <a:rPr sz="1500" b="1" dirty="0">
                <a:solidFill>
                  <a:srgbClr val="FC0128"/>
                </a:solidFill>
                <a:latin typeface="Times New Roman"/>
                <a:cs typeface="Times New Roman"/>
              </a:rPr>
              <a:t>Old</a:t>
            </a:r>
            <a:r>
              <a:rPr sz="1500" b="1" spc="22" dirty="0">
                <a:solidFill>
                  <a:srgbClr val="FC0128"/>
                </a:solidFill>
                <a:latin typeface="Times New Roman"/>
                <a:cs typeface="Times New Roman"/>
              </a:rPr>
              <a:t> </a:t>
            </a:r>
            <a:r>
              <a:rPr sz="1500" b="1" dirty="0">
                <a:solidFill>
                  <a:srgbClr val="FC0128"/>
                </a:solidFill>
                <a:latin typeface="Times New Roman"/>
                <a:cs typeface="Times New Roman"/>
              </a:rPr>
              <a:t>simple</a:t>
            </a:r>
            <a:r>
              <a:rPr sz="1500" b="1" spc="26" dirty="0">
                <a:solidFill>
                  <a:srgbClr val="FC0128"/>
                </a:solidFill>
                <a:latin typeface="Times New Roman"/>
                <a:cs typeface="Times New Roman"/>
              </a:rPr>
              <a:t> </a:t>
            </a:r>
            <a:r>
              <a:rPr sz="1500" b="1" dirty="0">
                <a:solidFill>
                  <a:srgbClr val="FC0128"/>
                </a:solidFill>
                <a:latin typeface="Times New Roman"/>
                <a:cs typeface="Times New Roman"/>
              </a:rPr>
              <a:t>design</a:t>
            </a:r>
            <a:r>
              <a:rPr sz="1500" b="1" spc="22" dirty="0">
                <a:solidFill>
                  <a:srgbClr val="FC0128"/>
                </a:solidFill>
                <a:latin typeface="Times New Roman"/>
                <a:cs typeface="Times New Roman"/>
              </a:rPr>
              <a:t> </a:t>
            </a:r>
            <a:r>
              <a:rPr sz="1500" b="1" dirty="0">
                <a:solidFill>
                  <a:srgbClr val="FC0128"/>
                </a:solidFill>
                <a:latin typeface="Times New Roman"/>
                <a:cs typeface="Times New Roman"/>
              </a:rPr>
              <a:t>put</a:t>
            </a:r>
            <a:r>
              <a:rPr sz="1500" b="1" spc="31" dirty="0">
                <a:solidFill>
                  <a:srgbClr val="FC0128"/>
                </a:solidFill>
                <a:latin typeface="Times New Roman"/>
                <a:cs typeface="Times New Roman"/>
              </a:rPr>
              <a:t> </a:t>
            </a:r>
            <a:r>
              <a:rPr sz="1500" b="1" dirty="0">
                <a:solidFill>
                  <a:srgbClr val="FF0000"/>
                </a:solidFill>
                <a:latin typeface="Times New Roman"/>
                <a:cs typeface="Times New Roman"/>
              </a:rPr>
              <a:t>branch</a:t>
            </a:r>
            <a:r>
              <a:rPr sz="1500" b="1" spc="22" dirty="0">
                <a:solidFill>
                  <a:srgbClr val="FF0000"/>
                </a:solidFill>
                <a:latin typeface="Times New Roman"/>
                <a:cs typeface="Times New Roman"/>
              </a:rPr>
              <a:t> </a:t>
            </a:r>
            <a:r>
              <a:rPr sz="1500" b="1" dirty="0">
                <a:solidFill>
                  <a:srgbClr val="FF0000"/>
                </a:solidFill>
                <a:latin typeface="Times New Roman"/>
                <a:cs typeface="Times New Roman"/>
              </a:rPr>
              <a:t>completion</a:t>
            </a:r>
            <a:r>
              <a:rPr sz="1500" b="1" spc="22" dirty="0">
                <a:solidFill>
                  <a:srgbClr val="FF0000"/>
                </a:solidFill>
                <a:latin typeface="Times New Roman"/>
                <a:cs typeface="Times New Roman"/>
              </a:rPr>
              <a:t> </a:t>
            </a:r>
            <a:r>
              <a:rPr sz="1500" b="1" dirty="0">
                <a:solidFill>
                  <a:srgbClr val="FC0128"/>
                </a:solidFill>
                <a:latin typeface="Times New Roman"/>
                <a:cs typeface="Times New Roman"/>
              </a:rPr>
              <a:t>in</a:t>
            </a:r>
            <a:r>
              <a:rPr sz="1500" b="1" spc="22" dirty="0">
                <a:solidFill>
                  <a:srgbClr val="FC0128"/>
                </a:solidFill>
                <a:latin typeface="Times New Roman"/>
                <a:cs typeface="Times New Roman"/>
              </a:rPr>
              <a:t> </a:t>
            </a:r>
            <a:r>
              <a:rPr sz="1500" b="1" dirty="0">
                <a:solidFill>
                  <a:srgbClr val="FC0128"/>
                </a:solidFill>
                <a:latin typeface="Times New Roman"/>
                <a:cs typeface="Times New Roman"/>
              </a:rPr>
              <a:t>stage</a:t>
            </a:r>
            <a:r>
              <a:rPr sz="1500" b="1" spc="31" dirty="0">
                <a:solidFill>
                  <a:srgbClr val="FC0128"/>
                </a:solidFill>
                <a:latin typeface="Times New Roman"/>
                <a:cs typeface="Times New Roman"/>
              </a:rPr>
              <a:t> </a:t>
            </a:r>
            <a:r>
              <a:rPr sz="1500" b="1" dirty="0">
                <a:solidFill>
                  <a:srgbClr val="FC0128"/>
                </a:solidFill>
                <a:latin typeface="Times New Roman"/>
                <a:cs typeface="Times New Roman"/>
              </a:rPr>
              <a:t>4</a:t>
            </a:r>
            <a:r>
              <a:rPr sz="1500" b="1" spc="22" dirty="0">
                <a:solidFill>
                  <a:srgbClr val="FC0128"/>
                </a:solidFill>
                <a:latin typeface="Times New Roman"/>
                <a:cs typeface="Times New Roman"/>
              </a:rPr>
              <a:t> </a:t>
            </a:r>
            <a:r>
              <a:rPr sz="1500" b="1" spc="-9" dirty="0">
                <a:solidFill>
                  <a:srgbClr val="FC0128"/>
                </a:solidFill>
                <a:latin typeface="Times New Roman"/>
                <a:cs typeface="Times New Roman"/>
              </a:rPr>
              <a:t>(Mem)</a:t>
            </a:r>
            <a:endParaRPr sz="1500" dirty="0">
              <a:latin typeface="Times New Roman"/>
              <a:cs typeface="Times New Roman"/>
            </a:endParaRPr>
          </a:p>
        </p:txBody>
      </p:sp>
      <p:pic>
        <p:nvPicPr>
          <p:cNvPr id="119" name="object 119"/>
          <p:cNvPicPr/>
          <p:nvPr/>
        </p:nvPicPr>
        <p:blipFill>
          <a:blip r:embed="rId11" cstate="print"/>
          <a:stretch>
            <a:fillRect/>
          </a:stretch>
        </p:blipFill>
        <p:spPr>
          <a:xfrm>
            <a:off x="722924" y="307324"/>
            <a:ext cx="7769877" cy="831911"/>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6718" y="670488"/>
            <a:ext cx="6821297" cy="472980"/>
          </a:xfrm>
          <a:prstGeom prst="rect">
            <a:avLst/>
          </a:prstGeom>
        </p:spPr>
        <p:txBody>
          <a:bodyPr vert="horz" wrap="square" lIns="0" tIns="11206" rIns="0" bIns="0" rtlCol="0" anchor="ctr">
            <a:spAutoFit/>
          </a:bodyPr>
          <a:lstStyle/>
          <a:p>
            <a:pPr marL="11206">
              <a:lnSpc>
                <a:spcPct val="100000"/>
              </a:lnSpc>
              <a:spcBef>
                <a:spcPts val="88"/>
              </a:spcBef>
            </a:pPr>
            <a:r>
              <a:rPr dirty="0"/>
              <a:t>Branch</a:t>
            </a:r>
            <a:r>
              <a:rPr spc="75" dirty="0"/>
              <a:t> </a:t>
            </a:r>
            <a:r>
              <a:rPr dirty="0"/>
              <a:t>Stall</a:t>
            </a:r>
            <a:r>
              <a:rPr spc="57" dirty="0"/>
              <a:t> </a:t>
            </a:r>
            <a:r>
              <a:rPr dirty="0"/>
              <a:t>Impact</a:t>
            </a:r>
            <a:r>
              <a:rPr spc="66" dirty="0"/>
              <a:t> </a:t>
            </a:r>
            <a:r>
              <a:rPr dirty="0"/>
              <a:t>if</a:t>
            </a:r>
            <a:r>
              <a:rPr spc="62" dirty="0"/>
              <a:t> </a:t>
            </a:r>
            <a:r>
              <a:rPr dirty="0"/>
              <a:t>Commit</a:t>
            </a:r>
            <a:r>
              <a:rPr spc="66" dirty="0"/>
              <a:t> </a:t>
            </a:r>
            <a:r>
              <a:rPr dirty="0"/>
              <a:t>in</a:t>
            </a:r>
            <a:r>
              <a:rPr spc="75" dirty="0"/>
              <a:t> </a:t>
            </a:r>
            <a:r>
              <a:rPr dirty="0"/>
              <a:t>Stage</a:t>
            </a:r>
            <a:r>
              <a:rPr spc="62" dirty="0"/>
              <a:t> </a:t>
            </a:r>
            <a:r>
              <a:rPr spc="-44" dirty="0"/>
              <a:t>4</a:t>
            </a:r>
          </a:p>
        </p:txBody>
      </p:sp>
      <p:sp>
        <p:nvSpPr>
          <p:cNvPr id="5" name="Slide Number Placeholder 4">
            <a:extLst>
              <a:ext uri="{FF2B5EF4-FFF2-40B4-BE49-F238E27FC236}">
                <a16:creationId xmlns:a16="http://schemas.microsoft.com/office/drawing/2014/main" id="{EEDF45B5-0D3A-55F7-EBBD-BAEBDB24A91D}"/>
              </a:ext>
            </a:extLst>
          </p:cNvPr>
          <p:cNvSpPr>
            <a:spLocks noGrp="1"/>
          </p:cNvSpPr>
          <p:nvPr>
            <p:ph type="sldNum" sz="quarter" idx="7"/>
          </p:nvPr>
        </p:nvSpPr>
        <p:spPr/>
        <p:txBody>
          <a:bodyPr/>
          <a:lstStyle/>
          <a:p>
            <a:fld id="{4FE321F0-2018-4E50-8BB3-A5631EBD98DD}" type="slidenum">
              <a:rPr lang="en-US" smtClean="0"/>
              <a:t>58</a:t>
            </a:fld>
            <a:endParaRPr lang="en-US"/>
          </a:p>
        </p:txBody>
      </p:sp>
      <p:sp>
        <p:nvSpPr>
          <p:cNvPr id="3" name="object 3"/>
          <p:cNvSpPr txBox="1"/>
          <p:nvPr/>
        </p:nvSpPr>
        <p:spPr>
          <a:xfrm>
            <a:off x="826718" y="1327033"/>
            <a:ext cx="7490564" cy="4631472"/>
          </a:xfrm>
          <a:prstGeom prst="rect">
            <a:avLst/>
          </a:prstGeom>
        </p:spPr>
        <p:txBody>
          <a:bodyPr vert="horz" wrap="square" lIns="0" tIns="85165" rIns="0" bIns="0" rtlCol="0">
            <a:spAutoFit/>
          </a:bodyPr>
          <a:lstStyle/>
          <a:p>
            <a:pPr marL="281843" indent="-270636">
              <a:spcBef>
                <a:spcPts val="671"/>
              </a:spcBef>
              <a:buChar char="•"/>
              <a:tabLst>
                <a:tab pos="281843" algn="l"/>
              </a:tabLst>
            </a:pPr>
            <a:r>
              <a:rPr sz="2400" dirty="0">
                <a:latin typeface="Calibri"/>
                <a:cs typeface="Calibri"/>
              </a:rPr>
              <a:t>If</a:t>
            </a:r>
            <a:r>
              <a:rPr sz="2400" spc="-49" dirty="0">
                <a:latin typeface="Calibri"/>
                <a:cs typeface="Calibri"/>
              </a:rPr>
              <a:t> </a:t>
            </a:r>
            <a:r>
              <a:rPr sz="2400" dirty="0">
                <a:latin typeface="Calibri"/>
                <a:cs typeface="Calibri"/>
              </a:rPr>
              <a:t>CPI</a:t>
            </a:r>
            <a:r>
              <a:rPr sz="2400" spc="-53" dirty="0">
                <a:latin typeface="Calibri"/>
                <a:cs typeface="Calibri"/>
              </a:rPr>
              <a:t> </a:t>
            </a:r>
            <a:r>
              <a:rPr sz="2400" dirty="0">
                <a:latin typeface="Calibri"/>
                <a:cs typeface="Calibri"/>
              </a:rPr>
              <a:t>=</a:t>
            </a:r>
            <a:r>
              <a:rPr sz="2400" spc="-49" dirty="0">
                <a:latin typeface="Calibri"/>
                <a:cs typeface="Calibri"/>
              </a:rPr>
              <a:t> </a:t>
            </a:r>
            <a:r>
              <a:rPr sz="2400" dirty="0">
                <a:latin typeface="Calibri"/>
                <a:cs typeface="Calibri"/>
              </a:rPr>
              <a:t>1</a:t>
            </a:r>
            <a:r>
              <a:rPr sz="2400" spc="-53" dirty="0">
                <a:latin typeface="Calibri"/>
                <a:cs typeface="Calibri"/>
              </a:rPr>
              <a:t> </a:t>
            </a:r>
            <a:r>
              <a:rPr sz="2400" dirty="0">
                <a:latin typeface="Calibri"/>
                <a:cs typeface="Calibri"/>
              </a:rPr>
              <a:t>and</a:t>
            </a:r>
            <a:r>
              <a:rPr sz="2400" spc="-49" dirty="0">
                <a:latin typeface="Calibri"/>
                <a:cs typeface="Calibri"/>
              </a:rPr>
              <a:t> </a:t>
            </a:r>
            <a:r>
              <a:rPr sz="2400" dirty="0">
                <a:latin typeface="Calibri"/>
                <a:cs typeface="Calibri"/>
              </a:rPr>
              <a:t>15%</a:t>
            </a:r>
            <a:r>
              <a:rPr sz="2400" spc="-57" dirty="0">
                <a:latin typeface="Calibri"/>
                <a:cs typeface="Calibri"/>
              </a:rPr>
              <a:t> </a:t>
            </a:r>
            <a:r>
              <a:rPr sz="2400" dirty="0">
                <a:latin typeface="Calibri"/>
                <a:cs typeface="Calibri"/>
              </a:rPr>
              <a:t>of</a:t>
            </a:r>
            <a:r>
              <a:rPr sz="2400" spc="-44" dirty="0">
                <a:latin typeface="Calibri"/>
                <a:cs typeface="Calibri"/>
              </a:rPr>
              <a:t> </a:t>
            </a:r>
            <a:r>
              <a:rPr sz="2400" spc="-9" dirty="0">
                <a:latin typeface="Calibri"/>
                <a:cs typeface="Calibri"/>
              </a:rPr>
              <a:t>instructions</a:t>
            </a:r>
            <a:r>
              <a:rPr sz="2400" spc="-49" dirty="0">
                <a:latin typeface="Calibri"/>
                <a:cs typeface="Calibri"/>
              </a:rPr>
              <a:t> </a:t>
            </a:r>
            <a:r>
              <a:rPr sz="2400" dirty="0">
                <a:latin typeface="Calibri"/>
                <a:cs typeface="Calibri"/>
              </a:rPr>
              <a:t>are</a:t>
            </a:r>
            <a:r>
              <a:rPr sz="2400" spc="-49" dirty="0">
                <a:latin typeface="Calibri"/>
                <a:cs typeface="Calibri"/>
              </a:rPr>
              <a:t> </a:t>
            </a:r>
            <a:r>
              <a:rPr sz="2400" spc="-9" dirty="0">
                <a:latin typeface="Calibri"/>
                <a:cs typeface="Calibri"/>
              </a:rPr>
              <a:t>branches,</a:t>
            </a:r>
            <a:endParaRPr sz="2400" dirty="0">
              <a:latin typeface="Calibri"/>
              <a:cs typeface="Calibri"/>
            </a:endParaRPr>
          </a:p>
          <a:p>
            <a:pPr marL="659501" lvl="1" indent="-215164">
              <a:spcBef>
                <a:spcPts val="427"/>
              </a:spcBef>
              <a:buChar char="–"/>
              <a:tabLst>
                <a:tab pos="659501" algn="l"/>
              </a:tabLst>
            </a:pPr>
            <a:r>
              <a:rPr sz="2200" dirty="0">
                <a:latin typeface="Calibri"/>
                <a:cs typeface="Calibri"/>
              </a:rPr>
              <a:t>Stall</a:t>
            </a:r>
            <a:r>
              <a:rPr sz="2200" spc="31" dirty="0">
                <a:latin typeface="Calibri"/>
                <a:cs typeface="Calibri"/>
              </a:rPr>
              <a:t> </a:t>
            </a:r>
            <a:r>
              <a:rPr sz="2200" dirty="0">
                <a:latin typeface="Calibri"/>
                <a:cs typeface="Calibri"/>
              </a:rPr>
              <a:t>3</a:t>
            </a:r>
            <a:r>
              <a:rPr sz="2200" spc="44" dirty="0">
                <a:latin typeface="Calibri"/>
                <a:cs typeface="Calibri"/>
              </a:rPr>
              <a:t> </a:t>
            </a:r>
            <a:r>
              <a:rPr sz="2200" dirty="0">
                <a:latin typeface="Calibri"/>
                <a:cs typeface="Calibri"/>
              </a:rPr>
              <a:t>cycles</a:t>
            </a:r>
            <a:r>
              <a:rPr sz="2200" spc="35" dirty="0">
                <a:latin typeface="Calibri"/>
                <a:cs typeface="Calibri"/>
              </a:rPr>
              <a:t> </a:t>
            </a:r>
            <a:r>
              <a:rPr sz="2200" dirty="0">
                <a:latin typeface="Calibri"/>
                <a:cs typeface="Calibri"/>
              </a:rPr>
              <a:t>=&gt;</a:t>
            </a:r>
            <a:r>
              <a:rPr sz="2200" spc="49" dirty="0">
                <a:latin typeface="Calibri"/>
                <a:cs typeface="Calibri"/>
              </a:rPr>
              <a:t> </a:t>
            </a:r>
            <a:r>
              <a:rPr sz="2200" dirty="0">
                <a:latin typeface="Calibri"/>
                <a:cs typeface="Calibri"/>
              </a:rPr>
              <a:t>new</a:t>
            </a:r>
            <a:r>
              <a:rPr sz="2200" spc="53" dirty="0">
                <a:latin typeface="Calibri"/>
                <a:cs typeface="Calibri"/>
              </a:rPr>
              <a:t> </a:t>
            </a:r>
            <a:r>
              <a:rPr sz="2200" dirty="0">
                <a:latin typeface="Calibri"/>
                <a:cs typeface="Calibri"/>
              </a:rPr>
              <a:t>CPI</a:t>
            </a:r>
            <a:r>
              <a:rPr sz="2200" spc="35" dirty="0">
                <a:latin typeface="Calibri"/>
                <a:cs typeface="Calibri"/>
              </a:rPr>
              <a:t> </a:t>
            </a:r>
            <a:r>
              <a:rPr sz="2200" dirty="0">
                <a:latin typeface="Calibri"/>
                <a:cs typeface="Calibri"/>
              </a:rPr>
              <a:t>=</a:t>
            </a:r>
            <a:r>
              <a:rPr sz="2200" spc="49" dirty="0">
                <a:latin typeface="Calibri"/>
                <a:cs typeface="Calibri"/>
              </a:rPr>
              <a:t> </a:t>
            </a:r>
            <a:r>
              <a:rPr sz="2200" dirty="0">
                <a:latin typeface="Calibri"/>
                <a:cs typeface="Calibri"/>
              </a:rPr>
              <a:t>1.45</a:t>
            </a:r>
            <a:r>
              <a:rPr sz="2200" spc="35" dirty="0">
                <a:latin typeface="Calibri"/>
                <a:cs typeface="Calibri"/>
              </a:rPr>
              <a:t>  </a:t>
            </a:r>
            <a:r>
              <a:rPr sz="2200" dirty="0">
                <a:latin typeface="Calibri"/>
                <a:cs typeface="Calibri"/>
              </a:rPr>
              <a:t>(1+3*.15)</a:t>
            </a:r>
            <a:r>
              <a:rPr sz="2200" spc="40" dirty="0">
                <a:latin typeface="Calibri"/>
                <a:cs typeface="Calibri"/>
              </a:rPr>
              <a:t> </a:t>
            </a:r>
            <a:r>
              <a:rPr lang="en-US" sz="2200" spc="40" dirty="0">
                <a:latin typeface="Calibri"/>
                <a:cs typeface="Calibri"/>
              </a:rPr>
              <a:t> </a:t>
            </a:r>
            <a:r>
              <a:rPr lang="en-US" sz="2200" b="1" spc="40" dirty="0">
                <a:solidFill>
                  <a:srgbClr val="FF0000"/>
                </a:solidFill>
                <a:latin typeface="Calibri"/>
                <a:cs typeface="Calibri"/>
              </a:rPr>
              <a:t>(</a:t>
            </a:r>
            <a:r>
              <a:rPr sz="2200" b="1" dirty="0">
                <a:solidFill>
                  <a:srgbClr val="FF0000"/>
                </a:solidFill>
                <a:latin typeface="Calibri"/>
                <a:cs typeface="Calibri"/>
              </a:rPr>
              <a:t>Too</a:t>
            </a:r>
            <a:r>
              <a:rPr sz="2200" b="1" spc="44" dirty="0">
                <a:solidFill>
                  <a:srgbClr val="FF0000"/>
                </a:solidFill>
                <a:latin typeface="Calibri"/>
                <a:cs typeface="Calibri"/>
              </a:rPr>
              <a:t> </a:t>
            </a:r>
            <a:r>
              <a:rPr sz="2200" b="1" spc="-9" dirty="0">
                <a:solidFill>
                  <a:srgbClr val="FF0000"/>
                </a:solidFill>
                <a:latin typeface="Calibri"/>
                <a:cs typeface="Calibri"/>
              </a:rPr>
              <a:t>much!</a:t>
            </a:r>
            <a:r>
              <a:rPr lang="en-US" sz="2200" b="1" spc="-9" dirty="0">
                <a:solidFill>
                  <a:srgbClr val="FF0000"/>
                </a:solidFill>
                <a:latin typeface="Calibri"/>
                <a:cs typeface="Calibri"/>
              </a:rPr>
              <a:t>)</a:t>
            </a:r>
            <a:endParaRPr sz="2200" b="1" dirty="0">
              <a:solidFill>
                <a:srgbClr val="FF0000"/>
              </a:solidFill>
              <a:latin typeface="Calibri"/>
              <a:cs typeface="Calibri"/>
            </a:endParaRPr>
          </a:p>
          <a:p>
            <a:pPr lvl="1">
              <a:spcBef>
                <a:spcPts val="1204"/>
              </a:spcBef>
              <a:buFont typeface="Calibri"/>
              <a:buChar char="–"/>
            </a:pPr>
            <a:endParaRPr sz="1677" dirty="0">
              <a:latin typeface="Calibri"/>
              <a:cs typeface="Calibri"/>
            </a:endParaRPr>
          </a:p>
          <a:p>
            <a:pPr marL="281843" marR="273998" indent="-271197">
              <a:buFont typeface="Calibri"/>
              <a:buChar char="•"/>
              <a:tabLst>
                <a:tab pos="281843" algn="l"/>
              </a:tabLst>
            </a:pPr>
            <a:r>
              <a:rPr sz="2400" b="1" spc="-9" dirty="0">
                <a:latin typeface="Calibri"/>
                <a:cs typeface="Calibri"/>
              </a:rPr>
              <a:t>Question:</a:t>
            </a:r>
            <a:r>
              <a:rPr sz="2400" b="1" spc="-75" dirty="0">
                <a:latin typeface="Calibri"/>
                <a:cs typeface="Calibri"/>
              </a:rPr>
              <a:t> </a:t>
            </a:r>
            <a:r>
              <a:rPr sz="2400" b="1" dirty="0">
                <a:latin typeface="Calibri"/>
                <a:cs typeface="Calibri"/>
              </a:rPr>
              <a:t>When</a:t>
            </a:r>
            <a:r>
              <a:rPr sz="2400" b="1" spc="-84" dirty="0">
                <a:latin typeface="Calibri"/>
                <a:cs typeface="Calibri"/>
              </a:rPr>
              <a:t> </a:t>
            </a:r>
            <a:r>
              <a:rPr sz="2400" b="1" dirty="0">
                <a:latin typeface="Calibri"/>
                <a:cs typeface="Calibri"/>
              </a:rPr>
              <a:t>is</a:t>
            </a:r>
            <a:r>
              <a:rPr sz="2400" b="1" spc="-75" dirty="0">
                <a:latin typeface="Calibri"/>
                <a:cs typeface="Calibri"/>
              </a:rPr>
              <a:t> </a:t>
            </a:r>
            <a:r>
              <a:rPr sz="2400" b="1" dirty="0">
                <a:latin typeface="Calibri"/>
                <a:cs typeface="Calibri"/>
              </a:rPr>
              <a:t>the</a:t>
            </a:r>
            <a:r>
              <a:rPr sz="2400" b="1" spc="-75" dirty="0">
                <a:latin typeface="Calibri"/>
                <a:cs typeface="Calibri"/>
              </a:rPr>
              <a:t> </a:t>
            </a:r>
            <a:r>
              <a:rPr sz="2400" b="1" dirty="0">
                <a:latin typeface="Calibri"/>
                <a:cs typeface="Calibri"/>
              </a:rPr>
              <a:t>earliest</a:t>
            </a:r>
            <a:r>
              <a:rPr sz="2400" b="1" spc="-75" dirty="0">
                <a:latin typeface="Calibri"/>
                <a:cs typeface="Calibri"/>
              </a:rPr>
              <a:t> </a:t>
            </a:r>
            <a:r>
              <a:rPr sz="2400" b="1" dirty="0">
                <a:latin typeface="Calibri"/>
                <a:cs typeface="Calibri"/>
              </a:rPr>
              <a:t>stage</a:t>
            </a:r>
            <a:r>
              <a:rPr sz="2400" b="1" spc="-79" dirty="0">
                <a:latin typeface="Calibri"/>
                <a:cs typeface="Calibri"/>
              </a:rPr>
              <a:t> </a:t>
            </a:r>
            <a:r>
              <a:rPr sz="2400" b="1" dirty="0">
                <a:latin typeface="Calibri"/>
                <a:cs typeface="Calibri"/>
              </a:rPr>
              <a:t>we</a:t>
            </a:r>
            <a:r>
              <a:rPr sz="2400" b="1" spc="-75" dirty="0">
                <a:latin typeface="Calibri"/>
                <a:cs typeface="Calibri"/>
              </a:rPr>
              <a:t> </a:t>
            </a:r>
            <a:r>
              <a:rPr sz="2400" b="1" dirty="0">
                <a:latin typeface="Calibri"/>
                <a:cs typeface="Calibri"/>
              </a:rPr>
              <a:t>can</a:t>
            </a:r>
            <a:r>
              <a:rPr sz="2400" b="1" spc="-84" dirty="0">
                <a:latin typeface="Calibri"/>
                <a:cs typeface="Calibri"/>
              </a:rPr>
              <a:t> </a:t>
            </a:r>
            <a:r>
              <a:rPr sz="2400" b="1" dirty="0">
                <a:latin typeface="Calibri"/>
                <a:cs typeface="Calibri"/>
              </a:rPr>
              <a:t>find</a:t>
            </a:r>
            <a:r>
              <a:rPr sz="2400" b="1" spc="-79" dirty="0">
                <a:latin typeface="Calibri"/>
                <a:cs typeface="Calibri"/>
              </a:rPr>
              <a:t> </a:t>
            </a:r>
            <a:r>
              <a:rPr sz="2400" b="1" dirty="0">
                <a:latin typeface="Calibri"/>
                <a:cs typeface="Calibri"/>
              </a:rPr>
              <a:t>out</a:t>
            </a:r>
            <a:r>
              <a:rPr sz="2400" b="1" spc="-75" dirty="0">
                <a:latin typeface="Calibri"/>
                <a:cs typeface="Calibri"/>
              </a:rPr>
              <a:t> </a:t>
            </a:r>
            <a:r>
              <a:rPr sz="2400" b="1" spc="-22" dirty="0">
                <a:latin typeface="Calibri"/>
                <a:cs typeface="Calibri"/>
              </a:rPr>
              <a:t>if </a:t>
            </a:r>
            <a:r>
              <a:rPr sz="2400" b="1" dirty="0">
                <a:latin typeface="Calibri"/>
                <a:cs typeface="Calibri"/>
              </a:rPr>
              <a:t>PC</a:t>
            </a:r>
            <a:r>
              <a:rPr sz="2400" b="1" spc="-66" dirty="0">
                <a:latin typeface="Calibri"/>
                <a:cs typeface="Calibri"/>
              </a:rPr>
              <a:t> </a:t>
            </a:r>
            <a:r>
              <a:rPr sz="2400" b="1" dirty="0">
                <a:latin typeface="Calibri"/>
                <a:cs typeface="Calibri"/>
              </a:rPr>
              <a:t>needs</a:t>
            </a:r>
            <a:r>
              <a:rPr sz="2400" b="1" spc="-62" dirty="0">
                <a:latin typeface="Calibri"/>
                <a:cs typeface="Calibri"/>
              </a:rPr>
              <a:t> </a:t>
            </a:r>
            <a:r>
              <a:rPr sz="2400" b="1" dirty="0">
                <a:latin typeface="Calibri"/>
                <a:cs typeface="Calibri"/>
              </a:rPr>
              <a:t>to</a:t>
            </a:r>
            <a:r>
              <a:rPr sz="2400" b="1" spc="-71" dirty="0">
                <a:latin typeface="Calibri"/>
                <a:cs typeface="Calibri"/>
              </a:rPr>
              <a:t> </a:t>
            </a:r>
            <a:r>
              <a:rPr sz="2400" b="1" dirty="0">
                <a:latin typeface="Calibri"/>
                <a:cs typeface="Calibri"/>
              </a:rPr>
              <a:t>be</a:t>
            </a:r>
            <a:r>
              <a:rPr sz="2400" b="1" spc="-66" dirty="0">
                <a:latin typeface="Calibri"/>
                <a:cs typeface="Calibri"/>
              </a:rPr>
              <a:t> </a:t>
            </a:r>
            <a:r>
              <a:rPr sz="2400" b="1" spc="-9" dirty="0">
                <a:latin typeface="Calibri"/>
                <a:cs typeface="Calibri"/>
              </a:rPr>
              <a:t>modified?</a:t>
            </a:r>
            <a:endParaRPr sz="2400" dirty="0">
              <a:latin typeface="Calibri"/>
              <a:cs typeface="Calibri"/>
            </a:endParaRPr>
          </a:p>
          <a:p>
            <a:pPr marL="659501" lvl="1" indent="-215164">
              <a:spcBef>
                <a:spcPts val="388"/>
              </a:spcBef>
              <a:buChar char="–"/>
              <a:tabLst>
                <a:tab pos="659501" algn="l"/>
              </a:tabLst>
            </a:pPr>
            <a:r>
              <a:rPr sz="2200" dirty="0">
                <a:latin typeface="Calibri"/>
                <a:cs typeface="Calibri"/>
              </a:rPr>
              <a:t>Answer:</a:t>
            </a:r>
            <a:r>
              <a:rPr sz="2200" spc="31" dirty="0">
                <a:latin typeface="Calibri"/>
                <a:cs typeface="Calibri"/>
              </a:rPr>
              <a:t> </a:t>
            </a:r>
            <a:r>
              <a:rPr sz="2200" dirty="0">
                <a:latin typeface="Calibri"/>
                <a:cs typeface="Calibri"/>
              </a:rPr>
              <a:t>In</a:t>
            </a:r>
            <a:r>
              <a:rPr sz="2200" spc="44" dirty="0">
                <a:latin typeface="Calibri"/>
                <a:cs typeface="Calibri"/>
              </a:rPr>
              <a:t> </a:t>
            </a:r>
            <a:r>
              <a:rPr sz="2200" dirty="0">
                <a:latin typeface="Calibri"/>
                <a:cs typeface="Calibri"/>
              </a:rPr>
              <a:t>pipeline</a:t>
            </a:r>
            <a:r>
              <a:rPr sz="2200" spc="40" dirty="0">
                <a:latin typeface="Calibri"/>
                <a:cs typeface="Calibri"/>
              </a:rPr>
              <a:t> </a:t>
            </a:r>
            <a:r>
              <a:rPr sz="2200" dirty="0">
                <a:latin typeface="Calibri"/>
                <a:cs typeface="Calibri"/>
              </a:rPr>
              <a:t>stage</a:t>
            </a:r>
            <a:r>
              <a:rPr sz="2200" spc="40" dirty="0">
                <a:latin typeface="Calibri"/>
                <a:cs typeface="Calibri"/>
              </a:rPr>
              <a:t> </a:t>
            </a:r>
            <a:r>
              <a:rPr sz="2200" dirty="0">
                <a:latin typeface="Calibri"/>
                <a:cs typeface="Calibri"/>
              </a:rPr>
              <a:t>ID</a:t>
            </a:r>
            <a:r>
              <a:rPr sz="2200" spc="40" dirty="0">
                <a:latin typeface="Calibri"/>
                <a:cs typeface="Calibri"/>
              </a:rPr>
              <a:t> </a:t>
            </a:r>
            <a:r>
              <a:rPr sz="2200" dirty="0">
                <a:latin typeface="Calibri"/>
                <a:cs typeface="Calibri"/>
              </a:rPr>
              <a:t>of</a:t>
            </a:r>
            <a:r>
              <a:rPr sz="2200" spc="31"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branch</a:t>
            </a:r>
            <a:r>
              <a:rPr sz="2200" spc="44" dirty="0">
                <a:latin typeface="Calibri"/>
                <a:cs typeface="Calibri"/>
              </a:rPr>
              <a:t> </a:t>
            </a:r>
            <a:r>
              <a:rPr sz="2200" spc="-9" dirty="0">
                <a:latin typeface="Calibri"/>
                <a:cs typeface="Calibri"/>
              </a:rPr>
              <a:t>instruction</a:t>
            </a:r>
            <a:endParaRPr sz="2200" dirty="0">
              <a:latin typeface="Calibri"/>
              <a:cs typeface="Calibri"/>
            </a:endParaRPr>
          </a:p>
          <a:p>
            <a:pPr marL="659501" marR="4483" lvl="1" indent="-215164">
              <a:spcBef>
                <a:spcPts val="631"/>
              </a:spcBef>
              <a:buChar char="–"/>
              <a:tabLst>
                <a:tab pos="661182" algn="l"/>
              </a:tabLst>
            </a:pPr>
            <a:r>
              <a:rPr sz="2200" dirty="0">
                <a:latin typeface="Calibri"/>
                <a:cs typeface="Calibri"/>
              </a:rPr>
              <a:t>So,</a:t>
            </a:r>
            <a:r>
              <a:rPr sz="2200" spc="31" dirty="0">
                <a:latin typeface="Calibri"/>
                <a:cs typeface="Calibri"/>
              </a:rPr>
              <a:t> </a:t>
            </a:r>
            <a:r>
              <a:rPr sz="2200" dirty="0">
                <a:latin typeface="Calibri"/>
                <a:cs typeface="Calibri"/>
              </a:rPr>
              <a:t>if</a:t>
            </a:r>
            <a:r>
              <a:rPr sz="2200" spc="35"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branch</a:t>
            </a:r>
            <a:r>
              <a:rPr sz="2200" spc="44" dirty="0">
                <a:latin typeface="Calibri"/>
                <a:cs typeface="Calibri"/>
              </a:rPr>
              <a:t> </a:t>
            </a:r>
            <a:r>
              <a:rPr sz="2200" dirty="0">
                <a:latin typeface="Calibri"/>
                <a:cs typeface="Calibri"/>
              </a:rPr>
              <a:t>is</a:t>
            </a:r>
            <a:r>
              <a:rPr sz="2200" spc="31" dirty="0">
                <a:latin typeface="Calibri"/>
                <a:cs typeface="Calibri"/>
              </a:rPr>
              <a:t> </a:t>
            </a:r>
            <a:r>
              <a:rPr sz="2200" dirty="0">
                <a:latin typeface="Calibri"/>
                <a:cs typeface="Calibri"/>
              </a:rPr>
              <a:t>not-taken</a:t>
            </a:r>
            <a:r>
              <a:rPr sz="2200" spc="49" dirty="0">
                <a:latin typeface="Calibri"/>
                <a:cs typeface="Calibri"/>
              </a:rPr>
              <a:t> </a:t>
            </a:r>
            <a:r>
              <a:rPr sz="2200" dirty="0">
                <a:latin typeface="Calibri"/>
                <a:cs typeface="Calibri"/>
              </a:rPr>
              <a:t>(i.e.,</a:t>
            </a:r>
            <a:r>
              <a:rPr sz="2200" spc="31" dirty="0">
                <a:latin typeface="Calibri"/>
                <a:cs typeface="Calibri"/>
              </a:rPr>
              <a:t> </a:t>
            </a:r>
            <a:r>
              <a:rPr sz="2200" dirty="0">
                <a:latin typeface="Calibri"/>
                <a:cs typeface="Calibri"/>
              </a:rPr>
              <a:t>if</a:t>
            </a:r>
            <a:r>
              <a:rPr sz="2200" spc="35" dirty="0">
                <a:latin typeface="Calibri"/>
                <a:cs typeface="Calibri"/>
              </a:rPr>
              <a:t> </a:t>
            </a:r>
            <a:r>
              <a:rPr sz="2200" dirty="0">
                <a:latin typeface="Calibri"/>
                <a:cs typeface="Calibri"/>
              </a:rPr>
              <a:t>the</a:t>
            </a:r>
            <a:r>
              <a:rPr sz="2200" spc="44" dirty="0">
                <a:latin typeface="Calibri"/>
                <a:cs typeface="Calibri"/>
              </a:rPr>
              <a:t> </a:t>
            </a:r>
            <a:r>
              <a:rPr sz="2200" dirty="0">
                <a:latin typeface="Calibri"/>
                <a:cs typeface="Calibri"/>
              </a:rPr>
              <a:t>PC</a:t>
            </a:r>
            <a:r>
              <a:rPr sz="2200" spc="49" dirty="0">
                <a:latin typeface="Calibri"/>
                <a:cs typeface="Calibri"/>
              </a:rPr>
              <a:t> </a:t>
            </a:r>
            <a:r>
              <a:rPr sz="2200" dirty="0">
                <a:latin typeface="Calibri"/>
                <a:cs typeface="Calibri"/>
              </a:rPr>
              <a:t>is</a:t>
            </a:r>
            <a:r>
              <a:rPr sz="2200" spc="31" dirty="0">
                <a:latin typeface="Calibri"/>
                <a:cs typeface="Calibri"/>
              </a:rPr>
              <a:t> </a:t>
            </a:r>
            <a:r>
              <a:rPr sz="2200" dirty="0">
                <a:latin typeface="Calibri"/>
                <a:cs typeface="Calibri"/>
              </a:rPr>
              <a:t>not</a:t>
            </a:r>
            <a:r>
              <a:rPr sz="2200" spc="31" dirty="0">
                <a:latin typeface="Calibri"/>
                <a:cs typeface="Calibri"/>
              </a:rPr>
              <a:t> </a:t>
            </a:r>
            <a:r>
              <a:rPr sz="2200" dirty="0">
                <a:latin typeface="Calibri"/>
                <a:cs typeface="Calibri"/>
              </a:rPr>
              <a:t>modified),</a:t>
            </a:r>
            <a:r>
              <a:rPr sz="2200" spc="31" dirty="0">
                <a:latin typeface="Calibri"/>
                <a:cs typeface="Calibri"/>
              </a:rPr>
              <a:t> </a:t>
            </a:r>
            <a:br>
              <a:rPr lang="en-US" sz="2200" spc="31" dirty="0">
                <a:latin typeface="Calibri"/>
                <a:cs typeface="Calibri"/>
              </a:rPr>
            </a:br>
            <a:r>
              <a:rPr sz="2200" dirty="0">
                <a:latin typeface="Calibri"/>
                <a:cs typeface="Calibri"/>
              </a:rPr>
              <a:t>maybe</a:t>
            </a:r>
            <a:r>
              <a:rPr sz="2200" spc="44" dirty="0">
                <a:latin typeface="Calibri"/>
                <a:cs typeface="Calibri"/>
              </a:rPr>
              <a:t> </a:t>
            </a:r>
            <a:r>
              <a:rPr sz="2200" dirty="0">
                <a:latin typeface="Calibri"/>
                <a:cs typeface="Calibri"/>
              </a:rPr>
              <a:t>we</a:t>
            </a:r>
            <a:r>
              <a:rPr sz="2200" spc="49" dirty="0">
                <a:latin typeface="Calibri"/>
                <a:cs typeface="Calibri"/>
              </a:rPr>
              <a:t> </a:t>
            </a:r>
            <a:r>
              <a:rPr sz="2200" spc="-22" dirty="0">
                <a:latin typeface="Calibri"/>
                <a:cs typeface="Calibri"/>
              </a:rPr>
              <a:t>can </a:t>
            </a:r>
            <a:r>
              <a:rPr sz="2200" dirty="0">
                <a:latin typeface="Calibri"/>
                <a:cs typeface="Calibri"/>
              </a:rPr>
              <a:t>achieve</a:t>
            </a:r>
            <a:r>
              <a:rPr sz="2200" spc="53" dirty="0">
                <a:latin typeface="Calibri"/>
                <a:cs typeface="Calibri"/>
              </a:rPr>
              <a:t> </a:t>
            </a:r>
            <a:r>
              <a:rPr sz="2200" dirty="0">
                <a:latin typeface="Calibri"/>
                <a:cs typeface="Calibri"/>
              </a:rPr>
              <a:t>only</a:t>
            </a:r>
            <a:r>
              <a:rPr sz="2200" spc="49" dirty="0">
                <a:latin typeface="Calibri"/>
                <a:cs typeface="Calibri"/>
              </a:rPr>
              <a:t> </a:t>
            </a:r>
            <a:r>
              <a:rPr sz="2200" dirty="0">
                <a:latin typeface="Calibri"/>
                <a:cs typeface="Calibri"/>
              </a:rPr>
              <a:t>a</a:t>
            </a:r>
            <a:r>
              <a:rPr sz="2200" spc="57" dirty="0">
                <a:latin typeface="Calibri"/>
                <a:cs typeface="Calibri"/>
              </a:rPr>
              <a:t> </a:t>
            </a:r>
            <a:r>
              <a:rPr sz="2200" dirty="0">
                <a:latin typeface="Calibri"/>
                <a:cs typeface="Calibri"/>
              </a:rPr>
              <a:t>single-cycle</a:t>
            </a:r>
            <a:r>
              <a:rPr sz="2200" spc="57" dirty="0">
                <a:latin typeface="Calibri"/>
                <a:cs typeface="Calibri"/>
              </a:rPr>
              <a:t> </a:t>
            </a:r>
            <a:r>
              <a:rPr sz="2200" spc="-18" dirty="0">
                <a:latin typeface="Calibri"/>
                <a:cs typeface="Calibri"/>
              </a:rPr>
              <a:t>delay</a:t>
            </a:r>
            <a:endParaRPr sz="2200" dirty="0">
              <a:latin typeface="Calibri"/>
              <a:cs typeface="Calibri"/>
            </a:endParaRPr>
          </a:p>
          <a:p>
            <a:pPr lvl="1">
              <a:spcBef>
                <a:spcPts val="855"/>
              </a:spcBef>
              <a:buFont typeface="Calibri"/>
              <a:buChar char="–"/>
            </a:pPr>
            <a:endParaRPr sz="1677" dirty="0">
              <a:latin typeface="Calibri"/>
              <a:cs typeface="Calibri"/>
            </a:endParaRPr>
          </a:p>
          <a:p>
            <a:pPr marL="281843" indent="-270636">
              <a:spcBef>
                <a:spcPts val="4"/>
              </a:spcBef>
              <a:buFont typeface="Calibri"/>
              <a:buChar char="•"/>
              <a:tabLst>
                <a:tab pos="281843" algn="l"/>
              </a:tabLst>
            </a:pPr>
            <a:r>
              <a:rPr sz="2400" b="1" spc="-9" dirty="0">
                <a:latin typeface="Calibri"/>
                <a:cs typeface="Calibri"/>
              </a:rPr>
              <a:t>Question:</a:t>
            </a:r>
            <a:r>
              <a:rPr sz="2400" b="1" spc="-75" dirty="0">
                <a:latin typeface="Calibri"/>
                <a:cs typeface="Calibri"/>
              </a:rPr>
              <a:t> </a:t>
            </a:r>
            <a:r>
              <a:rPr sz="2400" b="1" dirty="0">
                <a:latin typeface="Calibri"/>
                <a:cs typeface="Calibri"/>
              </a:rPr>
              <a:t>When</a:t>
            </a:r>
            <a:r>
              <a:rPr sz="2400" b="1" spc="-84" dirty="0">
                <a:latin typeface="Calibri"/>
                <a:cs typeface="Calibri"/>
              </a:rPr>
              <a:t> </a:t>
            </a:r>
            <a:r>
              <a:rPr sz="2400" b="1" dirty="0">
                <a:latin typeface="Calibri"/>
                <a:cs typeface="Calibri"/>
              </a:rPr>
              <a:t>is</a:t>
            </a:r>
            <a:r>
              <a:rPr sz="2400" b="1" spc="-75" dirty="0">
                <a:latin typeface="Calibri"/>
                <a:cs typeface="Calibri"/>
              </a:rPr>
              <a:t> </a:t>
            </a:r>
            <a:r>
              <a:rPr sz="2400" b="1" dirty="0">
                <a:latin typeface="Calibri"/>
                <a:cs typeface="Calibri"/>
              </a:rPr>
              <a:t>a</a:t>
            </a:r>
            <a:r>
              <a:rPr sz="2400" b="1" spc="-75" dirty="0">
                <a:latin typeface="Calibri"/>
                <a:cs typeface="Calibri"/>
              </a:rPr>
              <a:t> </a:t>
            </a:r>
            <a:r>
              <a:rPr sz="2400" b="1" dirty="0">
                <a:latin typeface="Calibri"/>
                <a:cs typeface="Calibri"/>
              </a:rPr>
              <a:t>taken</a:t>
            </a:r>
            <a:r>
              <a:rPr sz="2400" b="1" spc="-84" dirty="0">
                <a:latin typeface="Calibri"/>
                <a:cs typeface="Calibri"/>
              </a:rPr>
              <a:t> </a:t>
            </a:r>
            <a:r>
              <a:rPr sz="2400" b="1" spc="-9" dirty="0">
                <a:latin typeface="Calibri"/>
                <a:cs typeface="Calibri"/>
              </a:rPr>
              <a:t>branch’s</a:t>
            </a:r>
            <a:r>
              <a:rPr sz="2400" b="1" spc="-75" dirty="0">
                <a:latin typeface="Calibri"/>
                <a:cs typeface="Calibri"/>
              </a:rPr>
              <a:t> </a:t>
            </a:r>
            <a:r>
              <a:rPr sz="2400" b="1" spc="-9" dirty="0">
                <a:latin typeface="Calibri"/>
                <a:cs typeface="Calibri"/>
              </a:rPr>
              <a:t>address</a:t>
            </a:r>
            <a:r>
              <a:rPr sz="2400" b="1" spc="-71" dirty="0">
                <a:latin typeface="Calibri"/>
                <a:cs typeface="Calibri"/>
              </a:rPr>
              <a:t> </a:t>
            </a:r>
            <a:r>
              <a:rPr sz="2400" b="1" spc="-9" dirty="0">
                <a:latin typeface="Calibri"/>
                <a:cs typeface="Calibri"/>
              </a:rPr>
              <a:t>known?</a:t>
            </a:r>
            <a:endParaRPr sz="2400" dirty="0">
              <a:latin typeface="Calibri"/>
              <a:cs typeface="Calibri"/>
            </a:endParaRPr>
          </a:p>
          <a:p>
            <a:pPr marL="659501" lvl="1" indent="-215164">
              <a:spcBef>
                <a:spcPts val="424"/>
              </a:spcBef>
              <a:buChar char="–"/>
              <a:tabLst>
                <a:tab pos="659501" algn="l"/>
              </a:tabLst>
            </a:pPr>
            <a:r>
              <a:rPr sz="2200" dirty="0">
                <a:latin typeface="Calibri"/>
                <a:cs typeface="Calibri"/>
              </a:rPr>
              <a:t>ALU</a:t>
            </a:r>
            <a:r>
              <a:rPr sz="2200" spc="40" dirty="0">
                <a:latin typeface="Calibri"/>
                <a:cs typeface="Calibri"/>
              </a:rPr>
              <a:t> </a:t>
            </a:r>
            <a:r>
              <a:rPr sz="2200" dirty="0">
                <a:latin typeface="Calibri"/>
                <a:cs typeface="Calibri"/>
              </a:rPr>
              <a:t>used</a:t>
            </a:r>
            <a:r>
              <a:rPr sz="2200" spc="44" dirty="0">
                <a:latin typeface="Calibri"/>
                <a:cs typeface="Calibri"/>
              </a:rPr>
              <a:t> </a:t>
            </a:r>
            <a:r>
              <a:rPr sz="2200" dirty="0">
                <a:latin typeface="Calibri"/>
                <a:cs typeface="Calibri"/>
              </a:rPr>
              <a:t>to</a:t>
            </a:r>
            <a:r>
              <a:rPr sz="2200" spc="40" dirty="0">
                <a:latin typeface="Calibri"/>
                <a:cs typeface="Calibri"/>
              </a:rPr>
              <a:t> </a:t>
            </a:r>
            <a:r>
              <a:rPr sz="2200" dirty="0">
                <a:latin typeface="Calibri"/>
                <a:cs typeface="Calibri"/>
              </a:rPr>
              <a:t>compute,</a:t>
            </a:r>
            <a:r>
              <a:rPr sz="2200" spc="31" dirty="0">
                <a:latin typeface="Calibri"/>
                <a:cs typeface="Calibri"/>
              </a:rPr>
              <a:t> </a:t>
            </a:r>
            <a:r>
              <a:rPr sz="2200" dirty="0">
                <a:latin typeface="Calibri"/>
                <a:cs typeface="Calibri"/>
              </a:rPr>
              <a:t>so</a:t>
            </a:r>
            <a:r>
              <a:rPr sz="2200" spc="44" dirty="0">
                <a:latin typeface="Calibri"/>
                <a:cs typeface="Calibri"/>
              </a:rPr>
              <a:t> </a:t>
            </a:r>
            <a:r>
              <a:rPr sz="2200" dirty="0">
                <a:latin typeface="Calibri"/>
                <a:cs typeface="Calibri"/>
              </a:rPr>
              <a:t>EX</a:t>
            </a:r>
            <a:r>
              <a:rPr sz="2200" spc="40" dirty="0">
                <a:latin typeface="Calibri"/>
                <a:cs typeface="Calibri"/>
              </a:rPr>
              <a:t> </a:t>
            </a:r>
            <a:r>
              <a:rPr sz="2200" spc="-18" dirty="0">
                <a:latin typeface="Calibri"/>
                <a:cs typeface="Calibri"/>
              </a:rPr>
              <a:t>stage</a:t>
            </a:r>
            <a:endParaRPr sz="2200" dirty="0">
              <a:latin typeface="Calibri"/>
              <a:cs typeface="Calibri"/>
            </a:endParaRPr>
          </a:p>
          <a:p>
            <a:pPr marL="659501" lvl="1" indent="-215164">
              <a:spcBef>
                <a:spcPts val="446"/>
              </a:spcBef>
              <a:buChar char="–"/>
              <a:tabLst>
                <a:tab pos="659501" algn="l"/>
              </a:tabLst>
            </a:pPr>
            <a:r>
              <a:rPr sz="2200" dirty="0">
                <a:latin typeface="Calibri"/>
                <a:cs typeface="Calibri"/>
              </a:rPr>
              <a:t>Need</a:t>
            </a:r>
            <a:r>
              <a:rPr sz="2200" spc="44" dirty="0">
                <a:latin typeface="Calibri"/>
                <a:cs typeface="Calibri"/>
              </a:rPr>
              <a:t> </a:t>
            </a:r>
            <a:r>
              <a:rPr sz="2200" dirty="0">
                <a:latin typeface="Calibri"/>
                <a:cs typeface="Calibri"/>
              </a:rPr>
              <a:t>two</a:t>
            </a:r>
            <a:r>
              <a:rPr sz="2200" spc="44" dirty="0">
                <a:latin typeface="Calibri"/>
                <a:cs typeface="Calibri"/>
              </a:rPr>
              <a:t> </a:t>
            </a:r>
            <a:r>
              <a:rPr sz="2200" dirty="0">
                <a:latin typeface="Calibri"/>
                <a:cs typeface="Calibri"/>
              </a:rPr>
              <a:t>(or</a:t>
            </a:r>
            <a:r>
              <a:rPr sz="2200" spc="35" dirty="0">
                <a:latin typeface="Calibri"/>
                <a:cs typeface="Calibri"/>
              </a:rPr>
              <a:t> </a:t>
            </a:r>
            <a:r>
              <a:rPr sz="2200" dirty="0">
                <a:latin typeface="Calibri"/>
                <a:cs typeface="Calibri"/>
              </a:rPr>
              <a:t>three)</a:t>
            </a:r>
            <a:r>
              <a:rPr sz="2200" spc="40" dirty="0">
                <a:latin typeface="Calibri"/>
                <a:cs typeface="Calibri"/>
              </a:rPr>
              <a:t> </a:t>
            </a:r>
            <a:r>
              <a:rPr sz="2200" dirty="0">
                <a:latin typeface="Calibri"/>
                <a:cs typeface="Calibri"/>
              </a:rPr>
              <a:t>cycle</a:t>
            </a:r>
            <a:r>
              <a:rPr sz="2200" spc="49" dirty="0">
                <a:latin typeface="Calibri"/>
                <a:cs typeface="Calibri"/>
              </a:rPr>
              <a:t> </a:t>
            </a:r>
            <a:r>
              <a:rPr sz="2200" spc="-18" dirty="0">
                <a:latin typeface="Calibri"/>
                <a:cs typeface="Calibri"/>
              </a:rPr>
              <a:t>delay</a:t>
            </a:r>
            <a:endParaRPr sz="22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4912" y="670488"/>
            <a:ext cx="7317651" cy="472980"/>
          </a:xfrm>
          <a:prstGeom prst="rect">
            <a:avLst/>
          </a:prstGeom>
        </p:spPr>
        <p:txBody>
          <a:bodyPr vert="horz" wrap="square" lIns="0" tIns="11206" rIns="0" bIns="0" rtlCol="0" anchor="ctr">
            <a:spAutoFit/>
          </a:bodyPr>
          <a:lstStyle/>
          <a:p>
            <a:pPr marL="11206">
              <a:lnSpc>
                <a:spcPct val="100000"/>
              </a:lnSpc>
              <a:spcBef>
                <a:spcPts val="88"/>
              </a:spcBef>
            </a:pPr>
            <a:r>
              <a:rPr dirty="0"/>
              <a:t>Control</a:t>
            </a:r>
            <a:r>
              <a:rPr spc="53" dirty="0"/>
              <a:t> </a:t>
            </a:r>
            <a:r>
              <a:rPr dirty="0"/>
              <a:t>hazards</a:t>
            </a:r>
            <a:r>
              <a:rPr spc="57" dirty="0"/>
              <a:t> </a:t>
            </a:r>
            <a:r>
              <a:rPr dirty="0"/>
              <a:t>(also</a:t>
            </a:r>
            <a:r>
              <a:rPr spc="62" dirty="0"/>
              <a:t> </a:t>
            </a:r>
            <a:r>
              <a:rPr dirty="0"/>
              <a:t>see</a:t>
            </a:r>
            <a:r>
              <a:rPr spc="57" dirty="0"/>
              <a:t> </a:t>
            </a:r>
            <a:r>
              <a:rPr dirty="0"/>
              <a:t>Fig.</a:t>
            </a:r>
            <a:r>
              <a:rPr spc="57" dirty="0"/>
              <a:t> </a:t>
            </a:r>
            <a:r>
              <a:rPr dirty="0"/>
              <a:t>C.24,</a:t>
            </a:r>
            <a:r>
              <a:rPr spc="53" dirty="0"/>
              <a:t> </a:t>
            </a:r>
            <a:r>
              <a:rPr dirty="0"/>
              <a:t>25,</a:t>
            </a:r>
            <a:r>
              <a:rPr spc="53" dirty="0"/>
              <a:t> </a:t>
            </a:r>
            <a:r>
              <a:rPr dirty="0"/>
              <a:t>28,</a:t>
            </a:r>
            <a:r>
              <a:rPr spc="53" dirty="0"/>
              <a:t> </a:t>
            </a:r>
            <a:r>
              <a:rPr spc="-22" dirty="0"/>
              <a:t>29)</a:t>
            </a:r>
          </a:p>
        </p:txBody>
      </p:sp>
      <p:sp>
        <p:nvSpPr>
          <p:cNvPr id="5" name="Slide Number Placeholder 4">
            <a:extLst>
              <a:ext uri="{FF2B5EF4-FFF2-40B4-BE49-F238E27FC236}">
                <a16:creationId xmlns:a16="http://schemas.microsoft.com/office/drawing/2014/main" id="{6D24DAFA-58A7-4C5B-73E9-C76A7844C620}"/>
              </a:ext>
            </a:extLst>
          </p:cNvPr>
          <p:cNvSpPr>
            <a:spLocks noGrp="1"/>
          </p:cNvSpPr>
          <p:nvPr>
            <p:ph type="sldNum" sz="quarter" idx="7"/>
          </p:nvPr>
        </p:nvSpPr>
        <p:spPr/>
        <p:txBody>
          <a:bodyPr/>
          <a:lstStyle/>
          <a:p>
            <a:fld id="{4FE321F0-2018-4E50-8BB3-A5631EBD98DD}" type="slidenum">
              <a:rPr lang="en-US" smtClean="0"/>
              <a:t>59</a:t>
            </a:fld>
            <a:endParaRPr lang="en-US"/>
          </a:p>
        </p:txBody>
      </p:sp>
      <p:sp>
        <p:nvSpPr>
          <p:cNvPr id="3" name="object 3"/>
          <p:cNvSpPr txBox="1"/>
          <p:nvPr/>
        </p:nvSpPr>
        <p:spPr>
          <a:xfrm>
            <a:off x="497541" y="1206010"/>
            <a:ext cx="8498541" cy="5159180"/>
          </a:xfrm>
          <a:prstGeom prst="rect">
            <a:avLst/>
          </a:prstGeom>
        </p:spPr>
        <p:txBody>
          <a:bodyPr vert="horz" wrap="square" lIns="0" tIns="85165" rIns="0" bIns="0" rtlCol="0">
            <a:spAutoFit/>
          </a:bodyPr>
          <a:lstStyle/>
          <a:p>
            <a:pPr marL="281843" indent="-270636">
              <a:spcBef>
                <a:spcPts val="671"/>
              </a:spcBef>
              <a:buChar char="•"/>
              <a:tabLst>
                <a:tab pos="281843" algn="l"/>
              </a:tabLst>
            </a:pPr>
            <a:r>
              <a:rPr sz="2400" spc="-22" dirty="0">
                <a:solidFill>
                  <a:srgbClr val="FF0000"/>
                </a:solidFill>
                <a:latin typeface="Calibri"/>
                <a:cs typeface="Calibri"/>
              </a:rPr>
              <a:t>Two-</a:t>
            </a:r>
            <a:r>
              <a:rPr sz="2400" dirty="0">
                <a:solidFill>
                  <a:srgbClr val="FF0000"/>
                </a:solidFill>
                <a:latin typeface="Calibri"/>
                <a:cs typeface="Calibri"/>
              </a:rPr>
              <a:t>part</a:t>
            </a:r>
            <a:r>
              <a:rPr sz="2400" spc="-66" dirty="0">
                <a:solidFill>
                  <a:srgbClr val="FF0000"/>
                </a:solidFill>
                <a:latin typeface="Calibri"/>
                <a:cs typeface="Calibri"/>
              </a:rPr>
              <a:t> </a:t>
            </a:r>
            <a:r>
              <a:rPr sz="2400" spc="-9" dirty="0">
                <a:solidFill>
                  <a:srgbClr val="FF0000"/>
                </a:solidFill>
                <a:latin typeface="Calibri"/>
                <a:cs typeface="Calibri"/>
              </a:rPr>
              <a:t>solution:</a:t>
            </a:r>
            <a:endParaRPr sz="2400" dirty="0">
              <a:latin typeface="Calibri"/>
              <a:cs typeface="Calibri"/>
            </a:endParaRPr>
          </a:p>
          <a:p>
            <a:pPr marL="659501" lvl="1" indent="-215164">
              <a:spcBef>
                <a:spcPts val="427"/>
              </a:spcBef>
              <a:buChar char="–"/>
              <a:tabLst>
                <a:tab pos="659501" algn="l"/>
              </a:tabLst>
            </a:pPr>
            <a:r>
              <a:rPr sz="2000" dirty="0">
                <a:solidFill>
                  <a:srgbClr val="FF0000"/>
                </a:solidFill>
                <a:latin typeface="Calibri"/>
                <a:cs typeface="Calibri"/>
              </a:rPr>
              <a:t>Determine</a:t>
            </a:r>
            <a:r>
              <a:rPr sz="2000" spc="57" dirty="0">
                <a:solidFill>
                  <a:srgbClr val="FF0000"/>
                </a:solidFill>
                <a:latin typeface="Calibri"/>
                <a:cs typeface="Calibri"/>
              </a:rPr>
              <a:t> </a:t>
            </a:r>
            <a:r>
              <a:rPr sz="2000" dirty="0">
                <a:solidFill>
                  <a:srgbClr val="FF0000"/>
                </a:solidFill>
                <a:latin typeface="Calibri"/>
                <a:cs typeface="Calibri"/>
              </a:rPr>
              <a:t>sooner</a:t>
            </a:r>
            <a:r>
              <a:rPr sz="2000" spc="44" dirty="0">
                <a:solidFill>
                  <a:srgbClr val="FF0000"/>
                </a:solidFill>
                <a:latin typeface="Calibri"/>
                <a:cs typeface="Calibri"/>
              </a:rPr>
              <a:t> </a:t>
            </a:r>
            <a:r>
              <a:rPr sz="2000" dirty="0">
                <a:solidFill>
                  <a:srgbClr val="FF0000"/>
                </a:solidFill>
                <a:latin typeface="Calibri"/>
                <a:cs typeface="Calibri"/>
              </a:rPr>
              <a:t>whether</a:t>
            </a:r>
            <a:r>
              <a:rPr sz="2000" spc="49" dirty="0">
                <a:solidFill>
                  <a:srgbClr val="FF0000"/>
                </a:solidFill>
                <a:latin typeface="Calibri"/>
                <a:cs typeface="Calibri"/>
              </a:rPr>
              <a:t> </a:t>
            </a:r>
            <a:r>
              <a:rPr sz="2000" dirty="0">
                <a:solidFill>
                  <a:srgbClr val="FF0000"/>
                </a:solidFill>
                <a:latin typeface="Calibri"/>
                <a:cs typeface="Calibri"/>
              </a:rPr>
              <a:t>branch</a:t>
            </a:r>
            <a:r>
              <a:rPr sz="2000" spc="57" dirty="0">
                <a:solidFill>
                  <a:srgbClr val="FF0000"/>
                </a:solidFill>
                <a:latin typeface="Calibri"/>
                <a:cs typeface="Calibri"/>
              </a:rPr>
              <a:t> </a:t>
            </a:r>
            <a:r>
              <a:rPr sz="2000" dirty="0">
                <a:solidFill>
                  <a:srgbClr val="FF0000"/>
                </a:solidFill>
                <a:latin typeface="Calibri"/>
                <a:cs typeface="Calibri"/>
              </a:rPr>
              <a:t>taken</a:t>
            </a:r>
            <a:r>
              <a:rPr sz="2000" spc="62" dirty="0">
                <a:solidFill>
                  <a:srgbClr val="FF0000"/>
                </a:solidFill>
                <a:latin typeface="Calibri"/>
                <a:cs typeface="Calibri"/>
              </a:rPr>
              <a:t> </a:t>
            </a:r>
            <a:r>
              <a:rPr sz="2000" dirty="0">
                <a:solidFill>
                  <a:srgbClr val="FF0000"/>
                </a:solidFill>
                <a:latin typeface="Calibri"/>
                <a:cs typeface="Calibri"/>
              </a:rPr>
              <a:t>or</a:t>
            </a:r>
            <a:r>
              <a:rPr sz="2000" spc="44" dirty="0">
                <a:solidFill>
                  <a:srgbClr val="FF0000"/>
                </a:solidFill>
                <a:latin typeface="Calibri"/>
                <a:cs typeface="Calibri"/>
              </a:rPr>
              <a:t> </a:t>
            </a:r>
            <a:r>
              <a:rPr sz="2000" dirty="0">
                <a:solidFill>
                  <a:srgbClr val="FF0000"/>
                </a:solidFill>
                <a:latin typeface="Calibri"/>
                <a:cs typeface="Calibri"/>
              </a:rPr>
              <a:t>not,</a:t>
            </a:r>
            <a:r>
              <a:rPr sz="2000" spc="49" dirty="0">
                <a:solidFill>
                  <a:srgbClr val="FF0000"/>
                </a:solidFill>
                <a:latin typeface="Calibri"/>
                <a:cs typeface="Calibri"/>
              </a:rPr>
              <a:t> </a:t>
            </a:r>
            <a:r>
              <a:rPr sz="2000" spc="-22" dirty="0">
                <a:solidFill>
                  <a:srgbClr val="FF0000"/>
                </a:solidFill>
                <a:latin typeface="Calibri"/>
                <a:cs typeface="Calibri"/>
              </a:rPr>
              <a:t>AND</a:t>
            </a:r>
            <a:endParaRPr sz="2000" dirty="0">
              <a:latin typeface="Calibri"/>
              <a:cs typeface="Calibri"/>
            </a:endParaRPr>
          </a:p>
          <a:p>
            <a:pPr marL="659501" lvl="1" indent="-215164">
              <a:spcBef>
                <a:spcPts val="463"/>
              </a:spcBef>
              <a:buChar char="–"/>
              <a:tabLst>
                <a:tab pos="659501" algn="l"/>
              </a:tabLst>
            </a:pPr>
            <a:r>
              <a:rPr sz="2000" dirty="0">
                <a:solidFill>
                  <a:srgbClr val="FF0000"/>
                </a:solidFill>
                <a:latin typeface="Calibri"/>
                <a:cs typeface="Calibri"/>
              </a:rPr>
              <a:t>Compute</a:t>
            </a:r>
            <a:r>
              <a:rPr sz="2000" spc="62" dirty="0">
                <a:solidFill>
                  <a:srgbClr val="FF0000"/>
                </a:solidFill>
                <a:latin typeface="Calibri"/>
                <a:cs typeface="Calibri"/>
              </a:rPr>
              <a:t> </a:t>
            </a:r>
            <a:r>
              <a:rPr sz="2000" dirty="0">
                <a:solidFill>
                  <a:srgbClr val="FF0000"/>
                </a:solidFill>
                <a:latin typeface="Calibri"/>
                <a:cs typeface="Calibri"/>
              </a:rPr>
              <a:t>taken</a:t>
            </a:r>
            <a:r>
              <a:rPr sz="2000" spc="66" dirty="0">
                <a:solidFill>
                  <a:srgbClr val="FF0000"/>
                </a:solidFill>
                <a:latin typeface="Calibri"/>
                <a:cs typeface="Calibri"/>
              </a:rPr>
              <a:t> </a:t>
            </a:r>
            <a:r>
              <a:rPr sz="2000" dirty="0">
                <a:solidFill>
                  <a:srgbClr val="FF0000"/>
                </a:solidFill>
                <a:latin typeface="Calibri"/>
                <a:cs typeface="Calibri"/>
              </a:rPr>
              <a:t>branch</a:t>
            </a:r>
            <a:r>
              <a:rPr sz="2000" spc="66" dirty="0">
                <a:solidFill>
                  <a:srgbClr val="FF0000"/>
                </a:solidFill>
                <a:latin typeface="Calibri"/>
                <a:cs typeface="Calibri"/>
              </a:rPr>
              <a:t> </a:t>
            </a:r>
            <a:r>
              <a:rPr sz="2000" dirty="0">
                <a:solidFill>
                  <a:srgbClr val="FF0000"/>
                </a:solidFill>
                <a:latin typeface="Calibri"/>
                <a:cs typeface="Calibri"/>
              </a:rPr>
              <a:t>address</a:t>
            </a:r>
            <a:r>
              <a:rPr sz="2000" spc="53" dirty="0">
                <a:solidFill>
                  <a:srgbClr val="FF0000"/>
                </a:solidFill>
                <a:latin typeface="Calibri"/>
                <a:cs typeface="Calibri"/>
              </a:rPr>
              <a:t> </a:t>
            </a:r>
            <a:r>
              <a:rPr sz="2000" spc="-9" dirty="0">
                <a:solidFill>
                  <a:srgbClr val="FF0000"/>
                </a:solidFill>
                <a:latin typeface="Calibri"/>
                <a:cs typeface="Calibri"/>
              </a:rPr>
              <a:t>earlier</a:t>
            </a:r>
            <a:endParaRPr sz="2000" dirty="0">
              <a:latin typeface="Calibri"/>
              <a:cs typeface="Calibri"/>
            </a:endParaRPr>
          </a:p>
          <a:p>
            <a:pPr marL="659501" lvl="1" indent="-215164">
              <a:spcBef>
                <a:spcPts val="468"/>
              </a:spcBef>
              <a:spcAft>
                <a:spcPts val="1800"/>
              </a:spcAft>
              <a:buChar char="–"/>
              <a:tabLst>
                <a:tab pos="659501" algn="l"/>
              </a:tabLst>
            </a:pPr>
            <a:r>
              <a:rPr sz="2000" dirty="0">
                <a:latin typeface="Calibri"/>
                <a:cs typeface="Calibri"/>
              </a:rPr>
              <a:t>MIPS</a:t>
            </a:r>
            <a:r>
              <a:rPr sz="2000" spc="31" dirty="0">
                <a:latin typeface="Calibri"/>
                <a:cs typeface="Calibri"/>
              </a:rPr>
              <a:t> </a:t>
            </a:r>
            <a:r>
              <a:rPr sz="2000" dirty="0">
                <a:latin typeface="Calibri"/>
                <a:cs typeface="Calibri"/>
              </a:rPr>
              <a:t>branch</a:t>
            </a:r>
            <a:r>
              <a:rPr sz="2000" spc="40" dirty="0">
                <a:latin typeface="Calibri"/>
                <a:cs typeface="Calibri"/>
              </a:rPr>
              <a:t> </a:t>
            </a:r>
            <a:r>
              <a:rPr sz="2000" dirty="0">
                <a:latin typeface="Calibri"/>
                <a:cs typeface="Calibri"/>
              </a:rPr>
              <a:t>tests</a:t>
            </a:r>
            <a:r>
              <a:rPr sz="2000" spc="26" dirty="0">
                <a:latin typeface="Calibri"/>
                <a:cs typeface="Calibri"/>
              </a:rPr>
              <a:t> </a:t>
            </a:r>
            <a:r>
              <a:rPr sz="2000" dirty="0">
                <a:latin typeface="Calibri"/>
                <a:cs typeface="Calibri"/>
              </a:rPr>
              <a:t>if</a:t>
            </a:r>
            <a:r>
              <a:rPr sz="2000" spc="26" dirty="0">
                <a:latin typeface="Calibri"/>
                <a:cs typeface="Calibri"/>
              </a:rPr>
              <a:t> </a:t>
            </a:r>
            <a:r>
              <a:rPr sz="2000" dirty="0">
                <a:latin typeface="Calibri"/>
                <a:cs typeface="Calibri"/>
              </a:rPr>
              <a:t>register</a:t>
            </a:r>
            <a:r>
              <a:rPr sz="2000" spc="31" dirty="0">
                <a:latin typeface="Calibri"/>
                <a:cs typeface="Calibri"/>
              </a:rPr>
              <a:t> </a:t>
            </a:r>
            <a:r>
              <a:rPr sz="2000" dirty="0">
                <a:latin typeface="Calibri"/>
                <a:cs typeface="Calibri"/>
              </a:rPr>
              <a:t>=</a:t>
            </a:r>
            <a:r>
              <a:rPr sz="2000" spc="35" dirty="0">
                <a:latin typeface="Calibri"/>
                <a:cs typeface="Calibri"/>
              </a:rPr>
              <a:t> </a:t>
            </a:r>
            <a:r>
              <a:rPr sz="2000" dirty="0">
                <a:latin typeface="Calibri"/>
                <a:cs typeface="Calibri"/>
              </a:rPr>
              <a:t>0</a:t>
            </a:r>
            <a:r>
              <a:rPr sz="2000" spc="35" dirty="0">
                <a:latin typeface="Calibri"/>
                <a:cs typeface="Calibri"/>
              </a:rPr>
              <a:t> </a:t>
            </a:r>
            <a:r>
              <a:rPr sz="2000" dirty="0">
                <a:latin typeface="Calibri"/>
                <a:cs typeface="Calibri"/>
              </a:rPr>
              <a:t>or</a:t>
            </a:r>
            <a:r>
              <a:rPr sz="2000" spc="35" dirty="0">
                <a:latin typeface="Calibri"/>
                <a:cs typeface="Calibri"/>
              </a:rPr>
              <a:t> </a:t>
            </a:r>
            <a:r>
              <a:rPr sz="2000" dirty="0">
                <a:latin typeface="Symbol"/>
                <a:cs typeface="Symbol"/>
              </a:rPr>
              <a:t></a:t>
            </a:r>
            <a:r>
              <a:rPr sz="2000" dirty="0">
                <a:latin typeface="Times New Roman"/>
                <a:cs typeface="Times New Roman"/>
              </a:rPr>
              <a:t> </a:t>
            </a:r>
            <a:r>
              <a:rPr sz="2000" spc="-44" dirty="0">
                <a:latin typeface="Calibri"/>
                <a:cs typeface="Calibri"/>
              </a:rPr>
              <a:t>0</a:t>
            </a:r>
            <a:endParaRPr sz="1677" dirty="0">
              <a:latin typeface="Calibri"/>
              <a:cs typeface="Calibri"/>
            </a:endParaRPr>
          </a:p>
          <a:p>
            <a:pPr marL="281843" indent="-270636">
              <a:spcBef>
                <a:spcPts val="4"/>
              </a:spcBef>
              <a:buChar char="•"/>
              <a:tabLst>
                <a:tab pos="281843" algn="l"/>
              </a:tabLst>
            </a:pPr>
            <a:r>
              <a:rPr sz="2400" spc="-9" dirty="0">
                <a:latin typeface="Calibri"/>
                <a:cs typeface="Calibri"/>
              </a:rPr>
              <a:t>Original</a:t>
            </a:r>
            <a:r>
              <a:rPr sz="2400" spc="-71" dirty="0">
                <a:latin typeface="Calibri"/>
                <a:cs typeface="Calibri"/>
              </a:rPr>
              <a:t> </a:t>
            </a:r>
            <a:r>
              <a:rPr sz="2400" dirty="0">
                <a:latin typeface="Calibri"/>
                <a:cs typeface="Calibri"/>
              </a:rPr>
              <a:t>1986</a:t>
            </a:r>
            <a:r>
              <a:rPr sz="2400" spc="-79" dirty="0">
                <a:latin typeface="Calibri"/>
                <a:cs typeface="Calibri"/>
              </a:rPr>
              <a:t> </a:t>
            </a:r>
            <a:r>
              <a:rPr sz="2400" dirty="0">
                <a:latin typeface="Calibri"/>
                <a:cs typeface="Calibri"/>
              </a:rPr>
              <a:t>MIPS</a:t>
            </a:r>
            <a:r>
              <a:rPr sz="2400" spc="-79" dirty="0">
                <a:latin typeface="Calibri"/>
                <a:cs typeface="Calibri"/>
              </a:rPr>
              <a:t> </a:t>
            </a:r>
            <a:r>
              <a:rPr sz="2400" spc="-9" dirty="0">
                <a:latin typeface="Calibri"/>
                <a:cs typeface="Calibri"/>
              </a:rPr>
              <a:t>Solution:</a:t>
            </a:r>
            <a:endParaRPr sz="2400" dirty="0">
              <a:latin typeface="Calibri"/>
              <a:cs typeface="Calibri"/>
            </a:endParaRPr>
          </a:p>
          <a:p>
            <a:pPr marL="659501" lvl="1" indent="-215164">
              <a:spcBef>
                <a:spcPts val="405"/>
              </a:spcBef>
              <a:buChar char="–"/>
              <a:tabLst>
                <a:tab pos="659501" algn="l"/>
              </a:tabLst>
            </a:pPr>
            <a:r>
              <a:rPr sz="2000" dirty="0">
                <a:solidFill>
                  <a:srgbClr val="FF0000"/>
                </a:solidFill>
                <a:latin typeface="Calibri"/>
                <a:cs typeface="Calibri"/>
              </a:rPr>
              <a:t>Move</a:t>
            </a:r>
            <a:r>
              <a:rPr sz="2000" spc="53" dirty="0">
                <a:solidFill>
                  <a:srgbClr val="FF0000"/>
                </a:solidFill>
                <a:latin typeface="Calibri"/>
                <a:cs typeface="Calibri"/>
              </a:rPr>
              <a:t> </a:t>
            </a:r>
            <a:r>
              <a:rPr sz="2000" dirty="0">
                <a:solidFill>
                  <a:srgbClr val="FF0000"/>
                </a:solidFill>
                <a:latin typeface="Calibri"/>
                <a:cs typeface="Calibri"/>
              </a:rPr>
              <a:t>zero_test</a:t>
            </a:r>
            <a:r>
              <a:rPr sz="2000" spc="44" dirty="0">
                <a:solidFill>
                  <a:srgbClr val="FF0000"/>
                </a:solidFill>
                <a:latin typeface="Calibri"/>
                <a:cs typeface="Calibri"/>
              </a:rPr>
              <a:t> </a:t>
            </a:r>
            <a:r>
              <a:rPr sz="2000" dirty="0">
                <a:latin typeface="Calibri"/>
                <a:cs typeface="Calibri"/>
              </a:rPr>
              <a:t>to</a:t>
            </a:r>
            <a:r>
              <a:rPr sz="2000" spc="49" dirty="0">
                <a:latin typeface="Calibri"/>
                <a:cs typeface="Calibri"/>
              </a:rPr>
              <a:t> </a:t>
            </a:r>
            <a:r>
              <a:rPr sz="2000" dirty="0">
                <a:latin typeface="Calibri"/>
                <a:cs typeface="Calibri"/>
              </a:rPr>
              <a:t>ID/RF</a:t>
            </a:r>
            <a:r>
              <a:rPr sz="2000" spc="49" dirty="0">
                <a:latin typeface="Calibri"/>
                <a:cs typeface="Calibri"/>
              </a:rPr>
              <a:t> </a:t>
            </a:r>
            <a:r>
              <a:rPr sz="2000" dirty="0">
                <a:latin typeface="Calibri"/>
                <a:cs typeface="Calibri"/>
              </a:rPr>
              <a:t>(Inst.</a:t>
            </a:r>
            <a:r>
              <a:rPr sz="2000" spc="35" dirty="0">
                <a:latin typeface="Calibri"/>
                <a:cs typeface="Calibri"/>
              </a:rPr>
              <a:t> </a:t>
            </a:r>
            <a:r>
              <a:rPr sz="2000" dirty="0">
                <a:latin typeface="Calibri"/>
                <a:cs typeface="Calibri"/>
              </a:rPr>
              <a:t>decode</a:t>
            </a:r>
            <a:r>
              <a:rPr sz="2000" spc="57" dirty="0">
                <a:latin typeface="Calibri"/>
                <a:cs typeface="Calibri"/>
              </a:rPr>
              <a:t> </a:t>
            </a:r>
            <a:r>
              <a:rPr sz="2000" dirty="0">
                <a:latin typeface="Calibri"/>
                <a:cs typeface="Calibri"/>
              </a:rPr>
              <a:t>&amp;</a:t>
            </a:r>
            <a:r>
              <a:rPr sz="2000" spc="53" dirty="0">
                <a:latin typeface="Calibri"/>
                <a:cs typeface="Calibri"/>
              </a:rPr>
              <a:t> </a:t>
            </a:r>
            <a:r>
              <a:rPr sz="2000" dirty="0">
                <a:latin typeface="Calibri"/>
                <a:cs typeface="Calibri"/>
              </a:rPr>
              <a:t>Reg.</a:t>
            </a:r>
            <a:r>
              <a:rPr sz="2000" spc="40" dirty="0">
                <a:latin typeface="Calibri"/>
                <a:cs typeface="Calibri"/>
              </a:rPr>
              <a:t> </a:t>
            </a:r>
            <a:r>
              <a:rPr sz="2000" dirty="0">
                <a:latin typeface="Calibri"/>
                <a:cs typeface="Calibri"/>
              </a:rPr>
              <a:t>fetch)</a:t>
            </a:r>
            <a:r>
              <a:rPr sz="2000" spc="44" dirty="0">
                <a:latin typeface="Calibri"/>
                <a:cs typeface="Calibri"/>
              </a:rPr>
              <a:t> </a:t>
            </a:r>
            <a:r>
              <a:rPr sz="2000" dirty="0">
                <a:latin typeface="Calibri"/>
                <a:cs typeface="Calibri"/>
              </a:rPr>
              <a:t>stage</a:t>
            </a:r>
            <a:r>
              <a:rPr sz="2000" spc="57" dirty="0">
                <a:latin typeface="Calibri"/>
                <a:cs typeface="Calibri"/>
              </a:rPr>
              <a:t> </a:t>
            </a:r>
            <a:r>
              <a:rPr sz="2000" dirty="0">
                <a:latin typeface="Calibri"/>
                <a:cs typeface="Calibri"/>
              </a:rPr>
              <a:t>from</a:t>
            </a:r>
            <a:r>
              <a:rPr sz="2000" spc="57" dirty="0">
                <a:latin typeface="Calibri"/>
                <a:cs typeface="Calibri"/>
              </a:rPr>
              <a:t> </a:t>
            </a:r>
            <a:r>
              <a:rPr sz="2000" spc="-22" dirty="0">
                <a:latin typeface="Calibri"/>
                <a:cs typeface="Calibri"/>
              </a:rPr>
              <a:t>MEM</a:t>
            </a:r>
            <a:endParaRPr sz="2000" dirty="0">
              <a:latin typeface="Calibri"/>
              <a:cs typeface="Calibri"/>
            </a:endParaRPr>
          </a:p>
          <a:p>
            <a:pPr marL="659501" lvl="1" indent="-215164">
              <a:spcBef>
                <a:spcPts val="463"/>
              </a:spcBef>
              <a:buChar char="–"/>
              <a:tabLst>
                <a:tab pos="659501" algn="l"/>
              </a:tabLst>
            </a:pPr>
            <a:r>
              <a:rPr sz="2000" dirty="0">
                <a:solidFill>
                  <a:srgbClr val="FF0000"/>
                </a:solidFill>
                <a:latin typeface="Calibri"/>
                <a:cs typeface="Calibri"/>
              </a:rPr>
              <a:t>Add</a:t>
            </a:r>
            <a:r>
              <a:rPr sz="2000" spc="44" dirty="0">
                <a:solidFill>
                  <a:srgbClr val="FF0000"/>
                </a:solidFill>
                <a:latin typeface="Calibri"/>
                <a:cs typeface="Calibri"/>
              </a:rPr>
              <a:t> </a:t>
            </a:r>
            <a:r>
              <a:rPr sz="2000" dirty="0">
                <a:solidFill>
                  <a:srgbClr val="FF0000"/>
                </a:solidFill>
                <a:latin typeface="Calibri"/>
                <a:cs typeface="Calibri"/>
              </a:rPr>
              <a:t>extra</a:t>
            </a:r>
            <a:r>
              <a:rPr sz="2000" spc="44" dirty="0">
                <a:solidFill>
                  <a:srgbClr val="FF0000"/>
                </a:solidFill>
                <a:latin typeface="Calibri"/>
                <a:cs typeface="Calibri"/>
              </a:rPr>
              <a:t> </a:t>
            </a:r>
            <a:r>
              <a:rPr sz="2000" dirty="0">
                <a:solidFill>
                  <a:srgbClr val="FF0000"/>
                </a:solidFill>
                <a:latin typeface="Calibri"/>
                <a:cs typeface="Calibri"/>
              </a:rPr>
              <a:t>adder</a:t>
            </a:r>
            <a:r>
              <a:rPr sz="2000" spc="35" dirty="0">
                <a:solidFill>
                  <a:srgbClr val="FF0000"/>
                </a:solidFill>
                <a:latin typeface="Calibri"/>
                <a:cs typeface="Calibri"/>
              </a:rPr>
              <a:t> </a:t>
            </a:r>
            <a:r>
              <a:rPr sz="2000" dirty="0">
                <a:latin typeface="Calibri"/>
                <a:cs typeface="Calibri"/>
              </a:rPr>
              <a:t>to</a:t>
            </a:r>
            <a:r>
              <a:rPr sz="2000" spc="44" dirty="0">
                <a:latin typeface="Calibri"/>
                <a:cs typeface="Calibri"/>
              </a:rPr>
              <a:t> </a:t>
            </a:r>
            <a:r>
              <a:rPr sz="2000" dirty="0">
                <a:latin typeface="Calibri"/>
                <a:cs typeface="Calibri"/>
              </a:rPr>
              <a:t>calculate</a:t>
            </a:r>
            <a:r>
              <a:rPr sz="2000" spc="44" dirty="0">
                <a:latin typeface="Calibri"/>
                <a:cs typeface="Calibri"/>
              </a:rPr>
              <a:t> </a:t>
            </a:r>
            <a:r>
              <a:rPr sz="2000" dirty="0">
                <a:latin typeface="Calibri"/>
                <a:cs typeface="Calibri"/>
              </a:rPr>
              <a:t>new</a:t>
            </a:r>
            <a:r>
              <a:rPr sz="2000" spc="53" dirty="0">
                <a:latin typeface="Calibri"/>
                <a:cs typeface="Calibri"/>
              </a:rPr>
              <a:t> </a:t>
            </a:r>
            <a:r>
              <a:rPr sz="2000" dirty="0">
                <a:latin typeface="Calibri"/>
                <a:cs typeface="Calibri"/>
              </a:rPr>
              <a:t>PC</a:t>
            </a:r>
            <a:r>
              <a:rPr sz="2000" spc="49" dirty="0">
                <a:latin typeface="Calibri"/>
                <a:cs typeface="Calibri"/>
              </a:rPr>
              <a:t> </a:t>
            </a:r>
            <a:r>
              <a:rPr sz="2000" dirty="0">
                <a:latin typeface="Calibri"/>
                <a:cs typeface="Calibri"/>
              </a:rPr>
              <a:t>(Program</a:t>
            </a:r>
            <a:r>
              <a:rPr sz="2000" spc="53" dirty="0">
                <a:latin typeface="Calibri"/>
                <a:cs typeface="Calibri"/>
              </a:rPr>
              <a:t> </a:t>
            </a:r>
            <a:r>
              <a:rPr sz="2000" dirty="0">
                <a:latin typeface="Calibri"/>
                <a:cs typeface="Calibri"/>
              </a:rPr>
              <a:t>Counter)</a:t>
            </a:r>
            <a:r>
              <a:rPr sz="2000" spc="40" dirty="0">
                <a:latin typeface="Calibri"/>
                <a:cs typeface="Calibri"/>
              </a:rPr>
              <a:t> </a:t>
            </a:r>
            <a:r>
              <a:rPr sz="2000" dirty="0">
                <a:latin typeface="Calibri"/>
                <a:cs typeface="Calibri"/>
              </a:rPr>
              <a:t>in</a:t>
            </a:r>
            <a:r>
              <a:rPr sz="2000" spc="49" dirty="0">
                <a:latin typeface="Calibri"/>
                <a:cs typeface="Calibri"/>
              </a:rPr>
              <a:t> </a:t>
            </a:r>
            <a:r>
              <a:rPr sz="2000" dirty="0">
                <a:latin typeface="Calibri"/>
                <a:cs typeface="Calibri"/>
              </a:rPr>
              <a:t>ID/RF</a:t>
            </a:r>
            <a:r>
              <a:rPr sz="2000" spc="35" dirty="0">
                <a:latin typeface="Calibri"/>
                <a:cs typeface="Calibri"/>
              </a:rPr>
              <a:t> </a:t>
            </a:r>
            <a:r>
              <a:rPr sz="2000" spc="-9" dirty="0">
                <a:latin typeface="Calibri"/>
                <a:cs typeface="Calibri"/>
              </a:rPr>
              <a:t>stage</a:t>
            </a:r>
            <a:endParaRPr sz="2000" dirty="0">
              <a:latin typeface="Calibri"/>
              <a:cs typeface="Calibri"/>
            </a:endParaRPr>
          </a:p>
          <a:p>
            <a:pPr marL="659501" lvl="1" indent="-215164">
              <a:spcBef>
                <a:spcPts val="468"/>
              </a:spcBef>
              <a:spcAft>
                <a:spcPts val="1800"/>
              </a:spcAft>
              <a:buChar char="–"/>
              <a:tabLst>
                <a:tab pos="659501" algn="l"/>
              </a:tabLst>
            </a:pPr>
            <a:r>
              <a:rPr sz="2000" dirty="0">
                <a:solidFill>
                  <a:srgbClr val="FF0000"/>
                </a:solidFill>
                <a:latin typeface="Calibri"/>
                <a:cs typeface="Calibri"/>
              </a:rPr>
              <a:t>Result</a:t>
            </a:r>
            <a:r>
              <a:rPr sz="2000" spc="35" dirty="0">
                <a:solidFill>
                  <a:srgbClr val="FF0000"/>
                </a:solidFill>
                <a:latin typeface="Calibri"/>
                <a:cs typeface="Calibri"/>
              </a:rPr>
              <a:t> </a:t>
            </a:r>
            <a:r>
              <a:rPr sz="2000" dirty="0">
                <a:solidFill>
                  <a:srgbClr val="FF0000"/>
                </a:solidFill>
                <a:latin typeface="Calibri"/>
                <a:cs typeface="Calibri"/>
              </a:rPr>
              <a:t>is</a:t>
            </a:r>
            <a:r>
              <a:rPr sz="2000" spc="35" dirty="0">
                <a:solidFill>
                  <a:srgbClr val="FF0000"/>
                </a:solidFill>
                <a:latin typeface="Calibri"/>
                <a:cs typeface="Calibri"/>
              </a:rPr>
              <a:t> </a:t>
            </a:r>
            <a:r>
              <a:rPr sz="2000" dirty="0">
                <a:solidFill>
                  <a:srgbClr val="FF0000"/>
                </a:solidFill>
                <a:latin typeface="Calibri"/>
                <a:cs typeface="Calibri"/>
              </a:rPr>
              <a:t>1</a:t>
            </a:r>
            <a:r>
              <a:rPr sz="2000" spc="49" dirty="0">
                <a:solidFill>
                  <a:srgbClr val="FF0000"/>
                </a:solidFill>
                <a:latin typeface="Calibri"/>
                <a:cs typeface="Calibri"/>
              </a:rPr>
              <a:t> </a:t>
            </a:r>
            <a:r>
              <a:rPr sz="2000" dirty="0">
                <a:solidFill>
                  <a:srgbClr val="FF0000"/>
                </a:solidFill>
                <a:latin typeface="Calibri"/>
                <a:cs typeface="Calibri"/>
              </a:rPr>
              <a:t>clock</a:t>
            </a:r>
            <a:r>
              <a:rPr sz="2000" spc="35" dirty="0">
                <a:solidFill>
                  <a:srgbClr val="FF0000"/>
                </a:solidFill>
                <a:latin typeface="Calibri"/>
                <a:cs typeface="Calibri"/>
              </a:rPr>
              <a:t> </a:t>
            </a:r>
            <a:r>
              <a:rPr sz="2000" dirty="0">
                <a:solidFill>
                  <a:srgbClr val="FF0000"/>
                </a:solidFill>
                <a:latin typeface="Calibri"/>
                <a:cs typeface="Calibri"/>
              </a:rPr>
              <a:t>cycle</a:t>
            </a:r>
            <a:r>
              <a:rPr sz="2000" spc="53" dirty="0">
                <a:solidFill>
                  <a:srgbClr val="FF0000"/>
                </a:solidFill>
                <a:latin typeface="Calibri"/>
                <a:cs typeface="Calibri"/>
              </a:rPr>
              <a:t> </a:t>
            </a:r>
            <a:r>
              <a:rPr sz="2000" dirty="0">
                <a:solidFill>
                  <a:srgbClr val="FF0000"/>
                </a:solidFill>
                <a:latin typeface="Calibri"/>
                <a:cs typeface="Calibri"/>
              </a:rPr>
              <a:t>penalty</a:t>
            </a:r>
            <a:r>
              <a:rPr sz="2000" spc="40" dirty="0">
                <a:solidFill>
                  <a:srgbClr val="FF0000"/>
                </a:solidFill>
                <a:latin typeface="Calibri"/>
                <a:cs typeface="Calibri"/>
              </a:rPr>
              <a:t> </a:t>
            </a:r>
            <a:r>
              <a:rPr sz="2000" dirty="0">
                <a:solidFill>
                  <a:srgbClr val="FF0000"/>
                </a:solidFill>
                <a:latin typeface="Calibri"/>
                <a:cs typeface="Calibri"/>
              </a:rPr>
              <a:t>for</a:t>
            </a:r>
            <a:r>
              <a:rPr sz="2000" spc="35" dirty="0">
                <a:solidFill>
                  <a:srgbClr val="FF0000"/>
                </a:solidFill>
                <a:latin typeface="Calibri"/>
                <a:cs typeface="Calibri"/>
              </a:rPr>
              <a:t> </a:t>
            </a:r>
            <a:r>
              <a:rPr sz="2000" dirty="0">
                <a:solidFill>
                  <a:srgbClr val="FF0000"/>
                </a:solidFill>
                <a:latin typeface="Calibri"/>
                <a:cs typeface="Calibri"/>
              </a:rPr>
              <a:t>branch</a:t>
            </a:r>
            <a:r>
              <a:rPr sz="2000" spc="53" dirty="0">
                <a:solidFill>
                  <a:srgbClr val="FF0000"/>
                </a:solidFill>
                <a:latin typeface="Calibri"/>
                <a:cs typeface="Calibri"/>
              </a:rPr>
              <a:t> </a:t>
            </a:r>
            <a:r>
              <a:rPr sz="2000" dirty="0">
                <a:solidFill>
                  <a:srgbClr val="FF0000"/>
                </a:solidFill>
                <a:latin typeface="Calibri"/>
                <a:cs typeface="Calibri"/>
              </a:rPr>
              <a:t>versus</a:t>
            </a:r>
            <a:r>
              <a:rPr sz="2000" spc="35" dirty="0">
                <a:solidFill>
                  <a:srgbClr val="FF0000"/>
                </a:solidFill>
                <a:latin typeface="Calibri"/>
                <a:cs typeface="Calibri"/>
              </a:rPr>
              <a:t> </a:t>
            </a:r>
            <a:r>
              <a:rPr sz="2000" dirty="0">
                <a:solidFill>
                  <a:srgbClr val="FF0000"/>
                </a:solidFill>
                <a:latin typeface="Calibri"/>
                <a:cs typeface="Calibri"/>
              </a:rPr>
              <a:t>3</a:t>
            </a:r>
            <a:r>
              <a:rPr sz="2000" spc="49" dirty="0">
                <a:solidFill>
                  <a:srgbClr val="FF0000"/>
                </a:solidFill>
                <a:latin typeface="Calibri"/>
                <a:cs typeface="Calibri"/>
              </a:rPr>
              <a:t> </a:t>
            </a:r>
            <a:r>
              <a:rPr sz="2000" dirty="0">
                <a:solidFill>
                  <a:srgbClr val="FF0000"/>
                </a:solidFill>
                <a:latin typeface="Calibri"/>
                <a:cs typeface="Calibri"/>
              </a:rPr>
              <a:t>when</a:t>
            </a:r>
            <a:r>
              <a:rPr sz="2000" spc="49" dirty="0">
                <a:solidFill>
                  <a:srgbClr val="FF0000"/>
                </a:solidFill>
                <a:latin typeface="Calibri"/>
                <a:cs typeface="Calibri"/>
              </a:rPr>
              <a:t> </a:t>
            </a:r>
            <a:r>
              <a:rPr sz="2000" dirty="0">
                <a:solidFill>
                  <a:srgbClr val="FF0000"/>
                </a:solidFill>
                <a:latin typeface="Calibri"/>
                <a:cs typeface="Calibri"/>
              </a:rPr>
              <a:t>decided</a:t>
            </a:r>
            <a:r>
              <a:rPr sz="2000" spc="53" dirty="0">
                <a:solidFill>
                  <a:srgbClr val="FF0000"/>
                </a:solidFill>
                <a:latin typeface="Calibri"/>
                <a:cs typeface="Calibri"/>
              </a:rPr>
              <a:t> </a:t>
            </a:r>
            <a:r>
              <a:rPr sz="2000" dirty="0">
                <a:solidFill>
                  <a:srgbClr val="FF0000"/>
                </a:solidFill>
                <a:latin typeface="Calibri"/>
                <a:cs typeface="Calibri"/>
              </a:rPr>
              <a:t>in</a:t>
            </a:r>
            <a:r>
              <a:rPr sz="2000" spc="49" dirty="0">
                <a:solidFill>
                  <a:srgbClr val="FF0000"/>
                </a:solidFill>
                <a:latin typeface="Calibri"/>
                <a:cs typeface="Calibri"/>
              </a:rPr>
              <a:t> </a:t>
            </a:r>
            <a:r>
              <a:rPr sz="2000" spc="-22" dirty="0">
                <a:solidFill>
                  <a:srgbClr val="FF0000"/>
                </a:solidFill>
                <a:latin typeface="Calibri"/>
                <a:cs typeface="Calibri"/>
              </a:rPr>
              <a:t>MEM</a:t>
            </a:r>
            <a:endParaRPr sz="1677" dirty="0">
              <a:latin typeface="Calibri"/>
              <a:cs typeface="Calibri"/>
            </a:endParaRPr>
          </a:p>
          <a:p>
            <a:pPr marL="281843" marR="319945" indent="-271197">
              <a:lnSpc>
                <a:spcPts val="2374"/>
              </a:lnSpc>
              <a:buChar char="•"/>
              <a:tabLst>
                <a:tab pos="281843" algn="l"/>
              </a:tabLst>
            </a:pPr>
            <a:r>
              <a:rPr sz="2400" dirty="0">
                <a:latin typeface="Calibri"/>
                <a:cs typeface="Calibri"/>
              </a:rPr>
              <a:t>If</a:t>
            </a:r>
            <a:r>
              <a:rPr sz="2400" spc="-66" dirty="0">
                <a:latin typeface="Calibri"/>
                <a:cs typeface="Calibri"/>
              </a:rPr>
              <a:t> </a:t>
            </a:r>
            <a:r>
              <a:rPr sz="2400" dirty="0">
                <a:latin typeface="Calibri"/>
                <a:cs typeface="Calibri"/>
              </a:rPr>
              <a:t>branch</a:t>
            </a:r>
            <a:r>
              <a:rPr sz="2400" spc="-71" dirty="0">
                <a:latin typeface="Calibri"/>
                <a:cs typeface="Calibri"/>
              </a:rPr>
              <a:t> </a:t>
            </a:r>
            <a:r>
              <a:rPr lang="en-US" sz="2400" dirty="0">
                <a:latin typeface="Calibri"/>
                <a:cs typeface="Calibri"/>
              </a:rPr>
              <a:t>comprises</a:t>
            </a:r>
            <a:r>
              <a:rPr sz="2400" spc="-66" dirty="0">
                <a:latin typeface="Calibri"/>
                <a:cs typeface="Calibri"/>
              </a:rPr>
              <a:t> </a:t>
            </a:r>
            <a:r>
              <a:rPr sz="2400" dirty="0">
                <a:latin typeface="Calibri"/>
                <a:cs typeface="Calibri"/>
              </a:rPr>
              <a:t>15%</a:t>
            </a:r>
            <a:r>
              <a:rPr sz="2400" spc="-79" dirty="0">
                <a:latin typeface="Calibri"/>
                <a:cs typeface="Calibri"/>
              </a:rPr>
              <a:t> </a:t>
            </a:r>
            <a:r>
              <a:rPr sz="2400" dirty="0">
                <a:latin typeface="Calibri"/>
                <a:cs typeface="Calibri"/>
              </a:rPr>
              <a:t>of</a:t>
            </a:r>
            <a:r>
              <a:rPr sz="2400" spc="-62" dirty="0">
                <a:latin typeface="Calibri"/>
                <a:cs typeface="Calibri"/>
              </a:rPr>
              <a:t> </a:t>
            </a:r>
            <a:r>
              <a:rPr sz="2400" spc="-9" dirty="0">
                <a:latin typeface="Calibri"/>
                <a:cs typeface="Calibri"/>
              </a:rPr>
              <a:t>instructions,</a:t>
            </a:r>
            <a:r>
              <a:rPr sz="2400" spc="-66" dirty="0">
                <a:latin typeface="Calibri"/>
                <a:cs typeface="Calibri"/>
              </a:rPr>
              <a:t> </a:t>
            </a:r>
            <a:r>
              <a:rPr sz="2400" dirty="0">
                <a:latin typeface="Calibri"/>
                <a:cs typeface="Calibri"/>
              </a:rPr>
              <a:t>what</a:t>
            </a:r>
            <a:r>
              <a:rPr sz="2400" spc="-71" dirty="0">
                <a:latin typeface="Calibri"/>
                <a:cs typeface="Calibri"/>
              </a:rPr>
              <a:t> </a:t>
            </a:r>
            <a:r>
              <a:rPr sz="2400" dirty="0">
                <a:latin typeface="Calibri"/>
                <a:cs typeface="Calibri"/>
              </a:rPr>
              <a:t>is</a:t>
            </a:r>
            <a:r>
              <a:rPr sz="2400" spc="-71" dirty="0">
                <a:latin typeface="Calibri"/>
                <a:cs typeface="Calibri"/>
              </a:rPr>
              <a:t> </a:t>
            </a:r>
            <a:r>
              <a:rPr sz="2400" spc="-22" dirty="0">
                <a:latin typeface="Calibri"/>
                <a:cs typeface="Calibri"/>
              </a:rPr>
              <a:t>the </a:t>
            </a:r>
            <a:r>
              <a:rPr sz="2400" dirty="0">
                <a:latin typeface="Calibri"/>
                <a:cs typeface="Calibri"/>
              </a:rPr>
              <a:t>average</a:t>
            </a:r>
            <a:r>
              <a:rPr sz="2400" spc="-119" dirty="0">
                <a:latin typeface="Calibri"/>
                <a:cs typeface="Calibri"/>
              </a:rPr>
              <a:t> </a:t>
            </a:r>
            <a:r>
              <a:rPr sz="2400" spc="-18" dirty="0">
                <a:latin typeface="Calibri"/>
                <a:cs typeface="Calibri"/>
              </a:rPr>
              <a:t>CPI?</a:t>
            </a:r>
            <a:endParaRPr sz="2400" dirty="0">
              <a:latin typeface="Calibri"/>
              <a:cs typeface="Calibri"/>
            </a:endParaRPr>
          </a:p>
          <a:p>
            <a:pPr marL="659501" marR="504852" lvl="1" indent="-215164">
              <a:spcBef>
                <a:spcPts val="679"/>
              </a:spcBef>
              <a:buChar char="–"/>
              <a:tabLst>
                <a:tab pos="661182" algn="l"/>
              </a:tabLst>
            </a:pPr>
            <a:r>
              <a:rPr sz="2000" dirty="0">
                <a:latin typeface="Calibri"/>
                <a:cs typeface="Calibri"/>
              </a:rPr>
              <a:t>Per</a:t>
            </a:r>
            <a:r>
              <a:rPr sz="2000" spc="35" dirty="0">
                <a:latin typeface="Calibri"/>
                <a:cs typeface="Calibri"/>
              </a:rPr>
              <a:t> </a:t>
            </a:r>
            <a:r>
              <a:rPr sz="2000" dirty="0">
                <a:latin typeface="Calibri"/>
                <a:cs typeface="Calibri"/>
              </a:rPr>
              <a:t>cycle,</a:t>
            </a:r>
            <a:r>
              <a:rPr sz="2000" spc="35" dirty="0">
                <a:latin typeface="Calibri"/>
                <a:cs typeface="Calibri"/>
              </a:rPr>
              <a:t> </a:t>
            </a:r>
            <a:r>
              <a:rPr sz="2000" dirty="0">
                <a:latin typeface="Calibri"/>
                <a:cs typeface="Calibri"/>
              </a:rPr>
              <a:t>have</a:t>
            </a:r>
            <a:r>
              <a:rPr sz="2000" spc="49" dirty="0">
                <a:latin typeface="Calibri"/>
                <a:cs typeface="Calibri"/>
              </a:rPr>
              <a:t> </a:t>
            </a:r>
            <a:r>
              <a:rPr sz="2000" dirty="0">
                <a:latin typeface="Calibri"/>
                <a:cs typeface="Calibri"/>
              </a:rPr>
              <a:t>85%</a:t>
            </a:r>
            <a:r>
              <a:rPr sz="2000" spc="49" dirty="0">
                <a:latin typeface="Calibri"/>
                <a:cs typeface="Calibri"/>
              </a:rPr>
              <a:t> </a:t>
            </a:r>
            <a:r>
              <a:rPr sz="2000" dirty="0">
                <a:latin typeface="Calibri"/>
                <a:cs typeface="Calibri"/>
              </a:rPr>
              <a:t>of</a:t>
            </a:r>
            <a:r>
              <a:rPr sz="2000" spc="40" dirty="0">
                <a:latin typeface="Calibri"/>
                <a:cs typeface="Calibri"/>
              </a:rPr>
              <a:t> </a:t>
            </a:r>
            <a:r>
              <a:rPr sz="2000" dirty="0">
                <a:latin typeface="Calibri"/>
                <a:cs typeface="Calibri"/>
              </a:rPr>
              <a:t>instructions</a:t>
            </a:r>
            <a:r>
              <a:rPr sz="2000" spc="35" dirty="0">
                <a:latin typeface="Calibri"/>
                <a:cs typeface="Calibri"/>
              </a:rPr>
              <a:t> </a:t>
            </a:r>
            <a:r>
              <a:rPr sz="2000" dirty="0">
                <a:latin typeface="Calibri"/>
                <a:cs typeface="Calibri"/>
              </a:rPr>
              <a:t>executing</a:t>
            </a:r>
            <a:r>
              <a:rPr sz="2000" spc="44" dirty="0">
                <a:latin typeface="Calibri"/>
                <a:cs typeface="Calibri"/>
              </a:rPr>
              <a:t> </a:t>
            </a:r>
            <a:r>
              <a:rPr sz="2000" dirty="0">
                <a:latin typeface="Calibri"/>
                <a:cs typeface="Calibri"/>
              </a:rPr>
              <a:t>in</a:t>
            </a:r>
            <a:r>
              <a:rPr sz="2000" spc="49" dirty="0">
                <a:latin typeface="Calibri"/>
                <a:cs typeface="Calibri"/>
              </a:rPr>
              <a:t> </a:t>
            </a:r>
            <a:r>
              <a:rPr sz="2000" dirty="0">
                <a:latin typeface="Calibri"/>
                <a:cs typeface="Calibri"/>
              </a:rPr>
              <a:t>1</a:t>
            </a:r>
            <a:r>
              <a:rPr sz="2000" spc="49" dirty="0">
                <a:latin typeface="Calibri"/>
                <a:cs typeface="Calibri"/>
              </a:rPr>
              <a:t> </a:t>
            </a:r>
            <a:r>
              <a:rPr sz="2000" dirty="0">
                <a:latin typeface="Calibri"/>
                <a:cs typeface="Calibri"/>
              </a:rPr>
              <a:t>cycle</a:t>
            </a:r>
            <a:r>
              <a:rPr sz="2000" spc="49" dirty="0">
                <a:latin typeface="Calibri"/>
                <a:cs typeface="Calibri"/>
              </a:rPr>
              <a:t> </a:t>
            </a:r>
            <a:r>
              <a:rPr sz="2000" dirty="0">
                <a:latin typeface="Calibri"/>
                <a:cs typeface="Calibri"/>
              </a:rPr>
              <a:t>and</a:t>
            </a:r>
            <a:r>
              <a:rPr sz="2000" spc="49" dirty="0">
                <a:latin typeface="Calibri"/>
                <a:cs typeface="Calibri"/>
              </a:rPr>
              <a:t> </a:t>
            </a:r>
            <a:r>
              <a:rPr sz="2000" dirty="0">
                <a:latin typeface="Calibri"/>
                <a:cs typeface="Calibri"/>
              </a:rPr>
              <a:t>15%</a:t>
            </a:r>
            <a:r>
              <a:rPr sz="2000" spc="49" dirty="0">
                <a:latin typeface="Calibri"/>
                <a:cs typeface="Calibri"/>
              </a:rPr>
              <a:t> </a:t>
            </a:r>
            <a:r>
              <a:rPr sz="2000" spc="-22" dirty="0">
                <a:latin typeface="Calibri"/>
                <a:cs typeface="Calibri"/>
              </a:rPr>
              <a:t>of 	</a:t>
            </a:r>
            <a:r>
              <a:rPr sz="2000" dirty="0">
                <a:latin typeface="Calibri"/>
                <a:cs typeface="Calibri"/>
              </a:rPr>
              <a:t>instructions</a:t>
            </a:r>
            <a:r>
              <a:rPr sz="2000" spc="35" dirty="0">
                <a:latin typeface="Calibri"/>
                <a:cs typeface="Calibri"/>
              </a:rPr>
              <a:t> </a:t>
            </a:r>
            <a:r>
              <a:rPr sz="2000" dirty="0">
                <a:latin typeface="Calibri"/>
                <a:cs typeface="Calibri"/>
              </a:rPr>
              <a:t>executing</a:t>
            </a:r>
            <a:r>
              <a:rPr sz="2000" spc="49" dirty="0">
                <a:latin typeface="Calibri"/>
                <a:cs typeface="Calibri"/>
              </a:rPr>
              <a:t> </a:t>
            </a:r>
            <a:r>
              <a:rPr sz="2000" dirty="0">
                <a:latin typeface="Calibri"/>
                <a:cs typeface="Calibri"/>
              </a:rPr>
              <a:t>in</a:t>
            </a:r>
            <a:r>
              <a:rPr sz="2000" spc="53" dirty="0">
                <a:latin typeface="Calibri"/>
                <a:cs typeface="Calibri"/>
              </a:rPr>
              <a:t> </a:t>
            </a:r>
            <a:r>
              <a:rPr sz="2000" dirty="0">
                <a:latin typeface="Calibri"/>
                <a:cs typeface="Calibri"/>
              </a:rPr>
              <a:t>2</a:t>
            </a:r>
            <a:r>
              <a:rPr sz="2000" spc="49" dirty="0">
                <a:latin typeface="Calibri"/>
                <a:cs typeface="Calibri"/>
              </a:rPr>
              <a:t> </a:t>
            </a:r>
            <a:r>
              <a:rPr sz="2000" spc="-9" dirty="0">
                <a:latin typeface="Calibri"/>
                <a:cs typeface="Calibri"/>
              </a:rPr>
              <a:t>cycles</a:t>
            </a:r>
            <a:endParaRPr sz="2000" dirty="0">
              <a:latin typeface="Calibri"/>
              <a:cs typeface="Calibri"/>
            </a:endParaRPr>
          </a:p>
          <a:p>
            <a:pPr marL="659501" lvl="1" indent="-215164">
              <a:spcBef>
                <a:spcPts val="326"/>
              </a:spcBef>
              <a:buChar char="–"/>
              <a:tabLst>
                <a:tab pos="659501" algn="l"/>
              </a:tabLst>
            </a:pPr>
            <a:r>
              <a:rPr sz="2000" dirty="0">
                <a:latin typeface="Calibri"/>
                <a:cs typeface="Calibri"/>
              </a:rPr>
              <a:t>An</a:t>
            </a:r>
            <a:r>
              <a:rPr sz="2000" spc="40" dirty="0">
                <a:latin typeface="Calibri"/>
                <a:cs typeface="Calibri"/>
              </a:rPr>
              <a:t> </a:t>
            </a:r>
            <a:r>
              <a:rPr sz="2000" dirty="0">
                <a:latin typeface="Calibri"/>
                <a:cs typeface="Calibri"/>
              </a:rPr>
              <a:t>average</a:t>
            </a:r>
            <a:r>
              <a:rPr sz="2000" spc="40" dirty="0">
                <a:latin typeface="Calibri"/>
                <a:cs typeface="Calibri"/>
              </a:rPr>
              <a:t> </a:t>
            </a:r>
            <a:r>
              <a:rPr sz="2000" dirty="0">
                <a:latin typeface="Calibri"/>
                <a:cs typeface="Calibri"/>
              </a:rPr>
              <a:t>of</a:t>
            </a:r>
            <a:r>
              <a:rPr sz="2000" spc="31" dirty="0">
                <a:latin typeface="Calibri"/>
                <a:cs typeface="Calibri"/>
              </a:rPr>
              <a:t> </a:t>
            </a:r>
            <a:r>
              <a:rPr sz="2000" dirty="0">
                <a:latin typeface="Calibri"/>
                <a:cs typeface="Calibri"/>
              </a:rPr>
              <a:t>.85</a:t>
            </a:r>
            <a:r>
              <a:rPr sz="2000" spc="40" dirty="0">
                <a:latin typeface="Calibri"/>
                <a:cs typeface="Calibri"/>
              </a:rPr>
              <a:t> </a:t>
            </a:r>
            <a:r>
              <a:rPr sz="2000" dirty="0">
                <a:latin typeface="Calibri"/>
                <a:cs typeface="Calibri"/>
              </a:rPr>
              <a:t>+</a:t>
            </a:r>
            <a:r>
              <a:rPr sz="2000" spc="40" dirty="0">
                <a:latin typeface="Calibri"/>
                <a:cs typeface="Calibri"/>
              </a:rPr>
              <a:t> </a:t>
            </a:r>
            <a:r>
              <a:rPr sz="2000" dirty="0">
                <a:latin typeface="Calibri"/>
                <a:cs typeface="Calibri"/>
              </a:rPr>
              <a:t>.3</a:t>
            </a:r>
            <a:r>
              <a:rPr sz="2000" spc="40" dirty="0">
                <a:latin typeface="Calibri"/>
                <a:cs typeface="Calibri"/>
              </a:rPr>
              <a:t> </a:t>
            </a:r>
            <a:r>
              <a:rPr sz="2000" dirty="0">
                <a:latin typeface="Calibri"/>
                <a:cs typeface="Calibri"/>
              </a:rPr>
              <a:t>=</a:t>
            </a:r>
            <a:r>
              <a:rPr sz="2000" spc="40" dirty="0">
                <a:latin typeface="Calibri"/>
                <a:cs typeface="Calibri"/>
              </a:rPr>
              <a:t> </a:t>
            </a:r>
            <a:r>
              <a:rPr sz="2000" dirty="0">
                <a:latin typeface="Calibri"/>
                <a:cs typeface="Calibri"/>
              </a:rPr>
              <a:t>1.15</a:t>
            </a:r>
            <a:r>
              <a:rPr sz="2000" spc="40" dirty="0">
                <a:latin typeface="Calibri"/>
                <a:cs typeface="Calibri"/>
              </a:rPr>
              <a:t> </a:t>
            </a:r>
            <a:r>
              <a:rPr sz="2000" dirty="0">
                <a:latin typeface="Calibri"/>
                <a:cs typeface="Calibri"/>
              </a:rPr>
              <a:t>cycles</a:t>
            </a:r>
            <a:r>
              <a:rPr sz="2000" spc="31" dirty="0">
                <a:latin typeface="Calibri"/>
                <a:cs typeface="Calibri"/>
              </a:rPr>
              <a:t> </a:t>
            </a:r>
            <a:r>
              <a:rPr sz="2000" dirty="0">
                <a:latin typeface="Calibri"/>
                <a:cs typeface="Calibri"/>
              </a:rPr>
              <a:t>per</a:t>
            </a:r>
            <a:r>
              <a:rPr sz="2000" spc="26" dirty="0">
                <a:latin typeface="Calibri"/>
                <a:cs typeface="Calibri"/>
              </a:rPr>
              <a:t> </a:t>
            </a:r>
            <a:r>
              <a:rPr sz="2000" dirty="0">
                <a:latin typeface="Calibri"/>
                <a:cs typeface="Calibri"/>
              </a:rPr>
              <a:t>instruction</a:t>
            </a:r>
            <a:r>
              <a:rPr sz="2000" spc="44" dirty="0">
                <a:latin typeface="Calibri"/>
                <a:cs typeface="Calibri"/>
              </a:rPr>
              <a:t> </a:t>
            </a:r>
            <a:r>
              <a:rPr sz="2000" dirty="0">
                <a:latin typeface="Calibri"/>
                <a:cs typeface="Calibri"/>
              </a:rPr>
              <a:t>(or</a:t>
            </a:r>
            <a:r>
              <a:rPr sz="2000" spc="31" dirty="0">
                <a:latin typeface="Calibri"/>
                <a:cs typeface="Calibri"/>
              </a:rPr>
              <a:t> </a:t>
            </a:r>
            <a:r>
              <a:rPr sz="2000" dirty="0">
                <a:latin typeface="Calibri"/>
                <a:cs typeface="Calibri"/>
              </a:rPr>
              <a:t>1</a:t>
            </a:r>
            <a:r>
              <a:rPr sz="2000" spc="40" dirty="0">
                <a:latin typeface="Calibri"/>
                <a:cs typeface="Calibri"/>
              </a:rPr>
              <a:t> </a:t>
            </a:r>
            <a:r>
              <a:rPr sz="2000" dirty="0">
                <a:latin typeface="Calibri"/>
                <a:cs typeface="Calibri"/>
              </a:rPr>
              <a:t>+</a:t>
            </a:r>
            <a:r>
              <a:rPr sz="2000" spc="40" dirty="0">
                <a:latin typeface="Calibri"/>
                <a:cs typeface="Calibri"/>
              </a:rPr>
              <a:t> </a:t>
            </a:r>
            <a:r>
              <a:rPr sz="2000" dirty="0">
                <a:latin typeface="Calibri"/>
                <a:cs typeface="Calibri"/>
              </a:rPr>
              <a:t>1*.15</a:t>
            </a:r>
            <a:r>
              <a:rPr sz="2000" spc="40" dirty="0">
                <a:latin typeface="Calibri"/>
                <a:cs typeface="Calibri"/>
              </a:rPr>
              <a:t> </a:t>
            </a:r>
            <a:r>
              <a:rPr sz="2000" dirty="0">
                <a:latin typeface="Calibri"/>
                <a:cs typeface="Calibri"/>
              </a:rPr>
              <a:t>=</a:t>
            </a:r>
            <a:r>
              <a:rPr sz="2000" spc="40" dirty="0">
                <a:latin typeface="Calibri"/>
                <a:cs typeface="Calibri"/>
              </a:rPr>
              <a:t> </a:t>
            </a:r>
            <a:r>
              <a:rPr sz="2000" spc="-9" dirty="0">
                <a:latin typeface="Calibri"/>
                <a:cs typeface="Calibri"/>
              </a:rPr>
              <a:t>1.15).</a:t>
            </a:r>
            <a:br>
              <a:rPr lang="en-US" sz="2000" dirty="0">
                <a:latin typeface="Calibri"/>
                <a:cs typeface="Calibri"/>
              </a:rPr>
            </a:br>
            <a:r>
              <a:rPr sz="2000" dirty="0">
                <a:latin typeface="Calibri"/>
                <a:cs typeface="Calibri"/>
              </a:rPr>
              <a:t>Worse</a:t>
            </a:r>
            <a:r>
              <a:rPr sz="2000" spc="44" dirty="0">
                <a:latin typeface="Calibri"/>
                <a:cs typeface="Calibri"/>
              </a:rPr>
              <a:t> </a:t>
            </a:r>
            <a:r>
              <a:rPr sz="2000" dirty="0">
                <a:latin typeface="Calibri"/>
                <a:cs typeface="Calibri"/>
              </a:rPr>
              <a:t>by</a:t>
            </a:r>
            <a:r>
              <a:rPr sz="2000" spc="40" dirty="0">
                <a:latin typeface="Calibri"/>
                <a:cs typeface="Calibri"/>
              </a:rPr>
              <a:t> </a:t>
            </a:r>
            <a:r>
              <a:rPr sz="2000" spc="-22" dirty="0">
                <a:latin typeface="Calibri"/>
                <a:cs typeface="Calibri"/>
              </a:rPr>
              <a:t>15%</a:t>
            </a:r>
            <a:endParaRPr sz="20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fade">
                                      <p:cBhvr>
                                        <p:cTn id="16" dur="500"/>
                                        <p:tgtEl>
                                          <p:spTgt spid="3">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500"/>
                                        <p:tgtEl>
                                          <p:spTgt spid="3">
                                            <p:txEl>
                                              <p:pRg st="9" end="9"/>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Effect transition="in" filter="fade">
                                      <p:cBhvr>
                                        <p:cTn id="2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863061" y="1390336"/>
            <a:ext cx="0" cy="4746251"/>
          </a:xfrm>
          <a:custGeom>
            <a:avLst/>
            <a:gdLst/>
            <a:ahLst/>
            <a:cxnLst/>
            <a:rect l="l" t="t" r="r" b="b"/>
            <a:pathLst>
              <a:path h="5379084">
                <a:moveTo>
                  <a:pt x="0" y="0"/>
                </a:moveTo>
                <a:lnTo>
                  <a:pt x="0" y="5378594"/>
                </a:lnTo>
              </a:path>
            </a:pathLst>
          </a:custGeom>
          <a:ln w="30719">
            <a:solidFill>
              <a:srgbClr val="000000"/>
            </a:solidFill>
          </a:ln>
        </p:spPr>
        <p:txBody>
          <a:bodyPr wrap="square" lIns="0" tIns="0" rIns="0" bIns="0" rtlCol="0"/>
          <a:lstStyle/>
          <a:p>
            <a:endParaRPr sz="1588"/>
          </a:p>
        </p:txBody>
      </p:sp>
      <p:sp>
        <p:nvSpPr>
          <p:cNvPr id="3" name="object 3"/>
          <p:cNvSpPr/>
          <p:nvPr/>
        </p:nvSpPr>
        <p:spPr>
          <a:xfrm>
            <a:off x="4788834" y="1381293"/>
            <a:ext cx="0" cy="4755216"/>
          </a:xfrm>
          <a:custGeom>
            <a:avLst/>
            <a:gdLst/>
            <a:ahLst/>
            <a:cxnLst/>
            <a:rect l="l" t="t" r="r" b="b"/>
            <a:pathLst>
              <a:path h="5389245">
                <a:moveTo>
                  <a:pt x="0" y="0"/>
                </a:moveTo>
                <a:lnTo>
                  <a:pt x="0" y="5388842"/>
                </a:lnTo>
              </a:path>
            </a:pathLst>
          </a:custGeom>
          <a:ln w="30719">
            <a:solidFill>
              <a:srgbClr val="000000"/>
            </a:solidFill>
          </a:ln>
        </p:spPr>
        <p:txBody>
          <a:bodyPr wrap="square" lIns="0" tIns="0" rIns="0" bIns="0" rtlCol="0"/>
          <a:lstStyle/>
          <a:p>
            <a:endParaRPr sz="1588"/>
          </a:p>
        </p:txBody>
      </p:sp>
      <p:sp>
        <p:nvSpPr>
          <p:cNvPr id="4" name="object 4"/>
          <p:cNvSpPr/>
          <p:nvPr/>
        </p:nvSpPr>
        <p:spPr>
          <a:xfrm>
            <a:off x="6360879" y="1397871"/>
            <a:ext cx="0" cy="4738407"/>
          </a:xfrm>
          <a:custGeom>
            <a:avLst/>
            <a:gdLst/>
            <a:ahLst/>
            <a:cxnLst/>
            <a:rect l="l" t="t" r="r" b="b"/>
            <a:pathLst>
              <a:path h="5370195">
                <a:moveTo>
                  <a:pt x="0" y="0"/>
                </a:moveTo>
                <a:lnTo>
                  <a:pt x="0" y="5370054"/>
                </a:lnTo>
              </a:path>
            </a:pathLst>
          </a:custGeom>
          <a:ln w="30719">
            <a:solidFill>
              <a:srgbClr val="000000"/>
            </a:solidFill>
          </a:ln>
        </p:spPr>
        <p:txBody>
          <a:bodyPr wrap="square" lIns="0" tIns="0" rIns="0" bIns="0" rtlCol="0"/>
          <a:lstStyle/>
          <a:p>
            <a:endParaRPr sz="1588"/>
          </a:p>
        </p:txBody>
      </p:sp>
      <p:grpSp>
        <p:nvGrpSpPr>
          <p:cNvPr id="5" name="object 5"/>
          <p:cNvGrpSpPr/>
          <p:nvPr/>
        </p:nvGrpSpPr>
        <p:grpSpPr>
          <a:xfrm>
            <a:off x="3422906" y="1367566"/>
            <a:ext cx="4367493" cy="5091393"/>
            <a:chOff x="3726893" y="1549908"/>
            <a:chExt cx="4949825" cy="5770245"/>
          </a:xfrm>
        </p:grpSpPr>
        <p:sp>
          <p:nvSpPr>
            <p:cNvPr id="6" name="object 6"/>
            <p:cNvSpPr/>
            <p:nvPr/>
          </p:nvSpPr>
          <p:spPr>
            <a:xfrm>
              <a:off x="8660765" y="1565465"/>
              <a:ext cx="0" cy="5739130"/>
            </a:xfrm>
            <a:custGeom>
              <a:avLst/>
              <a:gdLst/>
              <a:ahLst/>
              <a:cxnLst/>
              <a:rect l="l" t="t" r="r" b="b"/>
              <a:pathLst>
                <a:path h="5739130">
                  <a:moveTo>
                    <a:pt x="0" y="0"/>
                  </a:moveTo>
                  <a:lnTo>
                    <a:pt x="1" y="5738989"/>
                  </a:lnTo>
                </a:path>
              </a:pathLst>
            </a:custGeom>
            <a:ln w="30718">
              <a:solidFill>
                <a:srgbClr val="000000"/>
              </a:solidFill>
            </a:ln>
          </p:spPr>
          <p:txBody>
            <a:bodyPr wrap="square" lIns="0" tIns="0" rIns="0" bIns="0" rtlCol="0"/>
            <a:lstStyle/>
            <a:p>
              <a:endParaRPr sz="1588"/>
            </a:p>
          </p:txBody>
        </p:sp>
        <p:sp>
          <p:nvSpPr>
            <p:cNvPr id="7" name="object 7"/>
            <p:cNvSpPr/>
            <p:nvPr/>
          </p:nvSpPr>
          <p:spPr>
            <a:xfrm>
              <a:off x="3742451" y="2805497"/>
              <a:ext cx="467995" cy="830580"/>
            </a:xfrm>
            <a:custGeom>
              <a:avLst/>
              <a:gdLst/>
              <a:ahLst/>
              <a:cxnLst/>
              <a:rect l="l" t="t" r="r" b="b"/>
              <a:pathLst>
                <a:path w="467995" h="830579">
                  <a:moveTo>
                    <a:pt x="0" y="0"/>
                  </a:moveTo>
                  <a:lnTo>
                    <a:pt x="0" y="830103"/>
                  </a:lnTo>
                  <a:lnTo>
                    <a:pt x="467598" y="622578"/>
                  </a:lnTo>
                  <a:lnTo>
                    <a:pt x="467598" y="207525"/>
                  </a:lnTo>
                  <a:lnTo>
                    <a:pt x="0" y="0"/>
                  </a:lnTo>
                  <a:close/>
                </a:path>
              </a:pathLst>
            </a:custGeom>
            <a:solidFill>
              <a:srgbClr val="FC0128"/>
            </a:solidFill>
          </p:spPr>
          <p:txBody>
            <a:bodyPr wrap="square" lIns="0" tIns="0" rIns="0" bIns="0" rtlCol="0"/>
            <a:lstStyle/>
            <a:p>
              <a:endParaRPr sz="1588"/>
            </a:p>
          </p:txBody>
        </p:sp>
        <p:sp>
          <p:nvSpPr>
            <p:cNvPr id="8" name="object 8"/>
            <p:cNvSpPr/>
            <p:nvPr/>
          </p:nvSpPr>
          <p:spPr>
            <a:xfrm>
              <a:off x="3742451" y="2805497"/>
              <a:ext cx="467995" cy="830580"/>
            </a:xfrm>
            <a:custGeom>
              <a:avLst/>
              <a:gdLst/>
              <a:ahLst/>
              <a:cxnLst/>
              <a:rect l="l" t="t" r="r" b="b"/>
              <a:pathLst>
                <a:path w="467995" h="830579">
                  <a:moveTo>
                    <a:pt x="0" y="830103"/>
                  </a:moveTo>
                  <a:lnTo>
                    <a:pt x="467598" y="622577"/>
                  </a:lnTo>
                  <a:lnTo>
                    <a:pt x="467598" y="207525"/>
                  </a:lnTo>
                  <a:lnTo>
                    <a:pt x="0" y="0"/>
                  </a:lnTo>
                  <a:lnTo>
                    <a:pt x="0" y="830103"/>
                  </a:lnTo>
                  <a:close/>
                </a:path>
              </a:pathLst>
            </a:custGeom>
            <a:ln w="30738">
              <a:solidFill>
                <a:srgbClr val="000000"/>
              </a:solidFill>
            </a:ln>
          </p:spPr>
          <p:txBody>
            <a:bodyPr wrap="square" lIns="0" tIns="0" rIns="0" bIns="0" rtlCol="0"/>
            <a:lstStyle/>
            <a:p>
              <a:endParaRPr sz="1588"/>
            </a:p>
          </p:txBody>
        </p:sp>
      </p:grpSp>
      <p:sp>
        <p:nvSpPr>
          <p:cNvPr id="9" name="object 9"/>
          <p:cNvSpPr txBox="1">
            <a:spLocks noGrp="1"/>
          </p:cNvSpPr>
          <p:nvPr>
            <p:ph type="title"/>
          </p:nvPr>
        </p:nvSpPr>
        <p:spPr>
          <a:xfrm>
            <a:off x="961955" y="-13598"/>
            <a:ext cx="7144309" cy="1365532"/>
          </a:xfrm>
          <a:prstGeom prst="rect">
            <a:avLst/>
          </a:prstGeom>
        </p:spPr>
        <p:txBody>
          <a:bodyPr vert="horz" wrap="square" lIns="0" tIns="11206" rIns="0" bIns="0" rtlCol="0" anchor="ctr">
            <a:spAutoFit/>
          </a:bodyPr>
          <a:lstStyle/>
          <a:p>
            <a:pPr marL="11206">
              <a:lnSpc>
                <a:spcPct val="100000"/>
              </a:lnSpc>
              <a:spcBef>
                <a:spcPts val="88"/>
              </a:spcBef>
            </a:pPr>
            <a:r>
              <a:rPr dirty="0"/>
              <a:t>New</a:t>
            </a:r>
            <a:r>
              <a:rPr spc="57" dirty="0"/>
              <a:t> </a:t>
            </a:r>
            <a:r>
              <a:rPr dirty="0"/>
              <a:t>Pipelined</a:t>
            </a:r>
            <a:r>
              <a:rPr spc="57" dirty="0"/>
              <a:t> </a:t>
            </a:r>
            <a:r>
              <a:rPr dirty="0"/>
              <a:t>MIPS</a:t>
            </a:r>
            <a:r>
              <a:rPr spc="53" dirty="0"/>
              <a:t> </a:t>
            </a:r>
            <a:r>
              <a:rPr dirty="0"/>
              <a:t>Data</a:t>
            </a:r>
            <a:r>
              <a:rPr spc="57" dirty="0"/>
              <a:t> </a:t>
            </a:r>
            <a:r>
              <a:rPr dirty="0"/>
              <a:t>Path:</a:t>
            </a:r>
            <a:r>
              <a:rPr spc="49" dirty="0"/>
              <a:t> </a:t>
            </a:r>
            <a:r>
              <a:rPr dirty="0"/>
              <a:t>Faster</a:t>
            </a:r>
            <a:r>
              <a:rPr spc="44" dirty="0"/>
              <a:t> </a:t>
            </a:r>
            <a:r>
              <a:rPr spc="-9" dirty="0"/>
              <a:t>Branch</a:t>
            </a:r>
          </a:p>
        </p:txBody>
      </p:sp>
      <p:sp>
        <p:nvSpPr>
          <p:cNvPr id="127" name="Slide Number Placeholder 126">
            <a:extLst>
              <a:ext uri="{FF2B5EF4-FFF2-40B4-BE49-F238E27FC236}">
                <a16:creationId xmlns:a16="http://schemas.microsoft.com/office/drawing/2014/main" id="{2E7C89D2-D58A-40EE-6DAB-895B1A3B397F}"/>
              </a:ext>
            </a:extLst>
          </p:cNvPr>
          <p:cNvSpPr>
            <a:spLocks noGrp="1"/>
          </p:cNvSpPr>
          <p:nvPr>
            <p:ph type="sldNum" sz="quarter" idx="7"/>
          </p:nvPr>
        </p:nvSpPr>
        <p:spPr/>
        <p:txBody>
          <a:bodyPr/>
          <a:lstStyle/>
          <a:p>
            <a:fld id="{4FE321F0-2018-4E50-8BB3-A5631EBD98DD}" type="slidenum">
              <a:rPr lang="en-US" smtClean="0"/>
              <a:t>60</a:t>
            </a:fld>
            <a:endParaRPr lang="en-US"/>
          </a:p>
        </p:txBody>
      </p:sp>
      <p:sp>
        <p:nvSpPr>
          <p:cNvPr id="10" name="object 10"/>
          <p:cNvSpPr txBox="1"/>
          <p:nvPr/>
        </p:nvSpPr>
        <p:spPr>
          <a:xfrm>
            <a:off x="961955" y="877013"/>
            <a:ext cx="1010210" cy="269399"/>
          </a:xfrm>
          <a:prstGeom prst="rect">
            <a:avLst/>
          </a:prstGeom>
        </p:spPr>
        <p:txBody>
          <a:bodyPr vert="horz" wrap="square" lIns="0" tIns="11206" rIns="0" bIns="0" rtlCol="0">
            <a:spAutoFit/>
          </a:bodyPr>
          <a:lstStyle/>
          <a:p>
            <a:pPr marL="11206">
              <a:spcBef>
                <a:spcPts val="88"/>
              </a:spcBef>
            </a:pPr>
            <a:r>
              <a:rPr sz="1677" dirty="0">
                <a:solidFill>
                  <a:srgbClr val="0332B7"/>
                </a:solidFill>
                <a:latin typeface="Calibri"/>
                <a:cs typeface="Calibri"/>
              </a:rPr>
              <a:t>Figure</a:t>
            </a:r>
            <a:r>
              <a:rPr sz="1677" spc="35" dirty="0">
                <a:solidFill>
                  <a:srgbClr val="0332B7"/>
                </a:solidFill>
                <a:latin typeface="Calibri"/>
                <a:cs typeface="Calibri"/>
              </a:rPr>
              <a:t> </a:t>
            </a:r>
            <a:r>
              <a:rPr sz="1677" spc="-18" dirty="0">
                <a:solidFill>
                  <a:srgbClr val="0332B7"/>
                </a:solidFill>
                <a:latin typeface="Calibri"/>
                <a:cs typeface="Calibri"/>
              </a:rPr>
              <a:t>C.28</a:t>
            </a:r>
            <a:endParaRPr sz="1677">
              <a:latin typeface="Calibri"/>
              <a:cs typeface="Calibri"/>
            </a:endParaRPr>
          </a:p>
        </p:txBody>
      </p:sp>
      <p:sp>
        <p:nvSpPr>
          <p:cNvPr id="11" name="object 11"/>
          <p:cNvSpPr txBox="1"/>
          <p:nvPr/>
        </p:nvSpPr>
        <p:spPr>
          <a:xfrm>
            <a:off x="3577032" y="2574663"/>
            <a:ext cx="218008" cy="546287"/>
          </a:xfrm>
          <a:prstGeom prst="rect">
            <a:avLst/>
          </a:prstGeom>
        </p:spPr>
        <p:txBody>
          <a:bodyPr vert="vert" wrap="square" lIns="0" tIns="0" rIns="0" bIns="0" rtlCol="0">
            <a:spAutoFit/>
          </a:bodyPr>
          <a:lstStyle/>
          <a:p>
            <a:pPr marL="11206">
              <a:lnSpc>
                <a:spcPts val="1725"/>
              </a:lnSpc>
            </a:pPr>
            <a:r>
              <a:rPr sz="1500" b="1" spc="-9" dirty="0">
                <a:latin typeface="Times New Roman"/>
                <a:cs typeface="Times New Roman"/>
              </a:rPr>
              <a:t>Adder</a:t>
            </a:r>
            <a:endParaRPr sz="1500">
              <a:latin typeface="Times New Roman"/>
              <a:cs typeface="Times New Roman"/>
            </a:endParaRPr>
          </a:p>
        </p:txBody>
      </p:sp>
      <p:grpSp>
        <p:nvGrpSpPr>
          <p:cNvPr id="12" name="object 12"/>
          <p:cNvGrpSpPr/>
          <p:nvPr/>
        </p:nvGrpSpPr>
        <p:grpSpPr>
          <a:xfrm>
            <a:off x="2548217" y="2461711"/>
            <a:ext cx="867335" cy="3188074"/>
            <a:chOff x="2735579" y="2789939"/>
            <a:chExt cx="982980" cy="3613150"/>
          </a:xfrm>
        </p:grpSpPr>
        <p:sp>
          <p:nvSpPr>
            <p:cNvPr id="13" name="object 13"/>
            <p:cNvSpPr/>
            <p:nvPr/>
          </p:nvSpPr>
          <p:spPr>
            <a:xfrm>
              <a:off x="2735579" y="2887484"/>
              <a:ext cx="982980" cy="92710"/>
            </a:xfrm>
            <a:custGeom>
              <a:avLst/>
              <a:gdLst/>
              <a:ahLst/>
              <a:cxnLst/>
              <a:rect l="l" t="t" r="r" b="b"/>
              <a:pathLst>
                <a:path w="982979" h="92710">
                  <a:moveTo>
                    <a:pt x="890824" y="0"/>
                  </a:moveTo>
                  <a:lnTo>
                    <a:pt x="890824" y="92233"/>
                  </a:lnTo>
                  <a:lnTo>
                    <a:pt x="952262" y="61488"/>
                  </a:lnTo>
                  <a:lnTo>
                    <a:pt x="906185" y="61488"/>
                  </a:lnTo>
                  <a:lnTo>
                    <a:pt x="906185" y="30744"/>
                  </a:lnTo>
                  <a:lnTo>
                    <a:pt x="952261" y="30744"/>
                  </a:lnTo>
                  <a:lnTo>
                    <a:pt x="890824" y="0"/>
                  </a:lnTo>
                  <a:close/>
                </a:path>
                <a:path w="982979" h="92710">
                  <a:moveTo>
                    <a:pt x="890824" y="30744"/>
                  </a:moveTo>
                  <a:lnTo>
                    <a:pt x="0" y="30744"/>
                  </a:lnTo>
                  <a:lnTo>
                    <a:pt x="0" y="61488"/>
                  </a:lnTo>
                  <a:lnTo>
                    <a:pt x="890824" y="61488"/>
                  </a:lnTo>
                  <a:lnTo>
                    <a:pt x="890824" y="30744"/>
                  </a:lnTo>
                  <a:close/>
                </a:path>
                <a:path w="982979" h="92710">
                  <a:moveTo>
                    <a:pt x="952261" y="30744"/>
                  </a:moveTo>
                  <a:lnTo>
                    <a:pt x="906185" y="30744"/>
                  </a:lnTo>
                  <a:lnTo>
                    <a:pt x="906185" y="61488"/>
                  </a:lnTo>
                  <a:lnTo>
                    <a:pt x="952262" y="61488"/>
                  </a:lnTo>
                  <a:lnTo>
                    <a:pt x="982980" y="46116"/>
                  </a:lnTo>
                  <a:lnTo>
                    <a:pt x="952261" y="30744"/>
                  </a:lnTo>
                  <a:close/>
                </a:path>
              </a:pathLst>
            </a:custGeom>
            <a:solidFill>
              <a:srgbClr val="FF0000"/>
            </a:solidFill>
          </p:spPr>
          <p:txBody>
            <a:bodyPr wrap="square" lIns="0" tIns="0" rIns="0" bIns="0" rtlCol="0"/>
            <a:lstStyle/>
            <a:p>
              <a:endParaRPr sz="1588"/>
            </a:p>
          </p:txBody>
        </p:sp>
        <p:sp>
          <p:nvSpPr>
            <p:cNvPr id="14" name="object 14"/>
            <p:cNvSpPr/>
            <p:nvPr/>
          </p:nvSpPr>
          <p:spPr>
            <a:xfrm>
              <a:off x="2926714" y="2805497"/>
              <a:ext cx="327660" cy="3582035"/>
            </a:xfrm>
            <a:custGeom>
              <a:avLst/>
              <a:gdLst/>
              <a:ahLst/>
              <a:cxnLst/>
              <a:rect l="l" t="t" r="r" b="b"/>
              <a:pathLst>
                <a:path w="327660" h="3582035">
                  <a:moveTo>
                    <a:pt x="327660" y="0"/>
                  </a:moveTo>
                  <a:lnTo>
                    <a:pt x="0" y="0"/>
                  </a:lnTo>
                  <a:lnTo>
                    <a:pt x="0" y="3581744"/>
                  </a:lnTo>
                  <a:lnTo>
                    <a:pt x="327660" y="3581744"/>
                  </a:lnTo>
                  <a:lnTo>
                    <a:pt x="327660" y="0"/>
                  </a:lnTo>
                  <a:close/>
                </a:path>
              </a:pathLst>
            </a:custGeom>
            <a:solidFill>
              <a:srgbClr val="07F707"/>
            </a:solidFill>
          </p:spPr>
          <p:txBody>
            <a:bodyPr wrap="square" lIns="0" tIns="0" rIns="0" bIns="0" rtlCol="0"/>
            <a:lstStyle/>
            <a:p>
              <a:endParaRPr sz="1588"/>
            </a:p>
          </p:txBody>
        </p:sp>
        <p:sp>
          <p:nvSpPr>
            <p:cNvPr id="15" name="object 15"/>
            <p:cNvSpPr/>
            <p:nvPr/>
          </p:nvSpPr>
          <p:spPr>
            <a:xfrm>
              <a:off x="2926714" y="2805497"/>
              <a:ext cx="327660" cy="3582035"/>
            </a:xfrm>
            <a:custGeom>
              <a:avLst/>
              <a:gdLst/>
              <a:ahLst/>
              <a:cxnLst/>
              <a:rect l="l" t="t" r="r" b="b"/>
              <a:pathLst>
                <a:path w="327660" h="3582035">
                  <a:moveTo>
                    <a:pt x="0" y="0"/>
                  </a:moveTo>
                  <a:lnTo>
                    <a:pt x="327659" y="0"/>
                  </a:lnTo>
                  <a:lnTo>
                    <a:pt x="327659" y="3581744"/>
                  </a:lnTo>
                  <a:lnTo>
                    <a:pt x="0" y="3581744"/>
                  </a:lnTo>
                  <a:lnTo>
                    <a:pt x="0" y="0"/>
                  </a:lnTo>
                  <a:close/>
                </a:path>
              </a:pathLst>
            </a:custGeom>
            <a:ln w="30718">
              <a:solidFill>
                <a:srgbClr val="000000"/>
              </a:solidFill>
            </a:ln>
          </p:spPr>
          <p:txBody>
            <a:bodyPr wrap="square" lIns="0" tIns="0" rIns="0" bIns="0" rtlCol="0"/>
            <a:lstStyle/>
            <a:p>
              <a:endParaRPr sz="1588"/>
            </a:p>
          </p:txBody>
        </p:sp>
      </p:grpSp>
      <p:sp>
        <p:nvSpPr>
          <p:cNvPr id="16" name="object 16"/>
          <p:cNvSpPr txBox="1"/>
          <p:nvPr/>
        </p:nvSpPr>
        <p:spPr>
          <a:xfrm>
            <a:off x="2734939" y="3787588"/>
            <a:ext cx="243656" cy="540124"/>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IF/ID</a:t>
            </a:r>
            <a:endParaRPr sz="1677">
              <a:latin typeface="Times New Roman"/>
              <a:cs typeface="Times New Roman"/>
            </a:endParaRPr>
          </a:p>
        </p:txBody>
      </p:sp>
      <p:grpSp>
        <p:nvGrpSpPr>
          <p:cNvPr id="17" name="object 17"/>
          <p:cNvGrpSpPr/>
          <p:nvPr/>
        </p:nvGrpSpPr>
        <p:grpSpPr>
          <a:xfrm>
            <a:off x="1691248" y="3393092"/>
            <a:ext cx="6446743" cy="2256865"/>
            <a:chOff x="1764347" y="3845504"/>
            <a:chExt cx="7306309" cy="2557780"/>
          </a:xfrm>
        </p:grpSpPr>
        <p:sp>
          <p:nvSpPr>
            <p:cNvPr id="18" name="object 18"/>
            <p:cNvSpPr/>
            <p:nvPr/>
          </p:nvSpPr>
          <p:spPr>
            <a:xfrm>
              <a:off x="2926715" y="6087591"/>
              <a:ext cx="327660" cy="299720"/>
            </a:xfrm>
            <a:custGeom>
              <a:avLst/>
              <a:gdLst/>
              <a:ahLst/>
              <a:cxnLst/>
              <a:rect l="l" t="t" r="r" b="b"/>
              <a:pathLst>
                <a:path w="327660" h="299720">
                  <a:moveTo>
                    <a:pt x="0" y="299649"/>
                  </a:moveTo>
                  <a:lnTo>
                    <a:pt x="163829" y="0"/>
                  </a:lnTo>
                  <a:lnTo>
                    <a:pt x="327659" y="299649"/>
                  </a:lnTo>
                  <a:lnTo>
                    <a:pt x="0" y="299649"/>
                  </a:lnTo>
                  <a:close/>
                </a:path>
              </a:pathLst>
            </a:custGeom>
            <a:ln w="30732">
              <a:solidFill>
                <a:srgbClr val="000000"/>
              </a:solidFill>
            </a:ln>
          </p:spPr>
          <p:txBody>
            <a:bodyPr wrap="square" lIns="0" tIns="0" rIns="0" bIns="0" rtlCol="0"/>
            <a:lstStyle/>
            <a:p>
              <a:endParaRPr sz="1588"/>
            </a:p>
          </p:txBody>
        </p:sp>
        <p:sp>
          <p:nvSpPr>
            <p:cNvPr id="19" name="object 19"/>
            <p:cNvSpPr/>
            <p:nvPr/>
          </p:nvSpPr>
          <p:spPr>
            <a:xfrm>
              <a:off x="8333104" y="4798772"/>
              <a:ext cx="737235" cy="92710"/>
            </a:xfrm>
            <a:custGeom>
              <a:avLst/>
              <a:gdLst/>
              <a:ahLst/>
              <a:cxnLst/>
              <a:rect l="l" t="t" r="r" b="b"/>
              <a:pathLst>
                <a:path w="737234" h="92710">
                  <a:moveTo>
                    <a:pt x="645079" y="0"/>
                  </a:moveTo>
                  <a:lnTo>
                    <a:pt x="645079" y="92233"/>
                  </a:lnTo>
                  <a:lnTo>
                    <a:pt x="706517" y="61488"/>
                  </a:lnTo>
                  <a:lnTo>
                    <a:pt x="660439" y="61488"/>
                  </a:lnTo>
                  <a:lnTo>
                    <a:pt x="660439" y="30744"/>
                  </a:lnTo>
                  <a:lnTo>
                    <a:pt x="706516" y="30744"/>
                  </a:lnTo>
                  <a:lnTo>
                    <a:pt x="645079" y="0"/>
                  </a:lnTo>
                  <a:close/>
                </a:path>
                <a:path w="737234" h="92710">
                  <a:moveTo>
                    <a:pt x="645079" y="30744"/>
                  </a:moveTo>
                  <a:lnTo>
                    <a:pt x="0" y="30744"/>
                  </a:lnTo>
                  <a:lnTo>
                    <a:pt x="0" y="61488"/>
                  </a:lnTo>
                  <a:lnTo>
                    <a:pt x="645079" y="61488"/>
                  </a:lnTo>
                  <a:lnTo>
                    <a:pt x="645079" y="30744"/>
                  </a:lnTo>
                  <a:close/>
                </a:path>
                <a:path w="737234" h="92710">
                  <a:moveTo>
                    <a:pt x="706516" y="30744"/>
                  </a:moveTo>
                  <a:lnTo>
                    <a:pt x="660439" y="30744"/>
                  </a:lnTo>
                  <a:lnTo>
                    <a:pt x="660439" y="61488"/>
                  </a:lnTo>
                  <a:lnTo>
                    <a:pt x="706517" y="61488"/>
                  </a:lnTo>
                  <a:lnTo>
                    <a:pt x="737235" y="46116"/>
                  </a:lnTo>
                  <a:lnTo>
                    <a:pt x="706516" y="30744"/>
                  </a:lnTo>
                  <a:close/>
                </a:path>
              </a:pathLst>
            </a:custGeom>
            <a:solidFill>
              <a:srgbClr val="000000"/>
            </a:solidFill>
          </p:spPr>
          <p:txBody>
            <a:bodyPr wrap="square" lIns="0" tIns="0" rIns="0" bIns="0" rtlCol="0"/>
            <a:lstStyle/>
            <a:p>
              <a:endParaRPr sz="1588"/>
            </a:p>
          </p:txBody>
        </p:sp>
        <p:sp>
          <p:nvSpPr>
            <p:cNvPr id="20" name="object 20"/>
            <p:cNvSpPr/>
            <p:nvPr/>
          </p:nvSpPr>
          <p:spPr>
            <a:xfrm>
              <a:off x="6310839" y="3861061"/>
              <a:ext cx="457834" cy="1178560"/>
            </a:xfrm>
            <a:custGeom>
              <a:avLst/>
              <a:gdLst/>
              <a:ahLst/>
              <a:cxnLst/>
              <a:rect l="l" t="t" r="r" b="b"/>
              <a:pathLst>
                <a:path w="457834" h="1178560">
                  <a:moveTo>
                    <a:pt x="0" y="0"/>
                  </a:moveTo>
                  <a:lnTo>
                    <a:pt x="0" y="1178542"/>
                  </a:lnTo>
                  <a:lnTo>
                    <a:pt x="457360" y="883906"/>
                  </a:lnTo>
                  <a:lnTo>
                    <a:pt x="457360" y="294634"/>
                  </a:lnTo>
                  <a:lnTo>
                    <a:pt x="0" y="0"/>
                  </a:lnTo>
                  <a:close/>
                </a:path>
              </a:pathLst>
            </a:custGeom>
            <a:solidFill>
              <a:srgbClr val="618FFD"/>
            </a:solidFill>
          </p:spPr>
          <p:txBody>
            <a:bodyPr wrap="square" lIns="0" tIns="0" rIns="0" bIns="0" rtlCol="0"/>
            <a:lstStyle/>
            <a:p>
              <a:endParaRPr sz="1588"/>
            </a:p>
          </p:txBody>
        </p:sp>
        <p:sp>
          <p:nvSpPr>
            <p:cNvPr id="21" name="object 21"/>
            <p:cNvSpPr/>
            <p:nvPr/>
          </p:nvSpPr>
          <p:spPr>
            <a:xfrm>
              <a:off x="6310839" y="3861061"/>
              <a:ext cx="457834" cy="1178560"/>
            </a:xfrm>
            <a:custGeom>
              <a:avLst/>
              <a:gdLst/>
              <a:ahLst/>
              <a:cxnLst/>
              <a:rect l="l" t="t" r="r" b="b"/>
              <a:pathLst>
                <a:path w="457834" h="1178560">
                  <a:moveTo>
                    <a:pt x="0" y="1178542"/>
                  </a:moveTo>
                  <a:lnTo>
                    <a:pt x="457359" y="883906"/>
                  </a:lnTo>
                  <a:lnTo>
                    <a:pt x="457359" y="294635"/>
                  </a:lnTo>
                  <a:lnTo>
                    <a:pt x="0" y="0"/>
                  </a:lnTo>
                  <a:lnTo>
                    <a:pt x="0" y="1178542"/>
                  </a:lnTo>
                  <a:close/>
                </a:path>
              </a:pathLst>
            </a:custGeom>
            <a:ln w="30741">
              <a:solidFill>
                <a:srgbClr val="000000"/>
              </a:solidFill>
            </a:ln>
          </p:spPr>
          <p:txBody>
            <a:bodyPr wrap="square" lIns="0" tIns="0" rIns="0" bIns="0" rtlCol="0"/>
            <a:lstStyle/>
            <a:p>
              <a:endParaRPr sz="1588"/>
            </a:p>
          </p:txBody>
        </p:sp>
        <p:sp>
          <p:nvSpPr>
            <p:cNvPr id="22" name="object 22"/>
            <p:cNvSpPr/>
            <p:nvPr/>
          </p:nvSpPr>
          <p:spPr>
            <a:xfrm>
              <a:off x="6285230" y="4219244"/>
              <a:ext cx="220345" cy="356870"/>
            </a:xfrm>
            <a:custGeom>
              <a:avLst/>
              <a:gdLst/>
              <a:ahLst/>
              <a:cxnLst/>
              <a:rect l="l" t="t" r="r" b="b"/>
              <a:pathLst>
                <a:path w="220345" h="356870">
                  <a:moveTo>
                    <a:pt x="220154" y="178371"/>
                  </a:moveTo>
                  <a:lnTo>
                    <a:pt x="202145" y="163791"/>
                  </a:lnTo>
                  <a:lnTo>
                    <a:pt x="20485" y="0"/>
                  </a:lnTo>
                  <a:lnTo>
                    <a:pt x="20485" y="16598"/>
                  </a:lnTo>
                  <a:lnTo>
                    <a:pt x="0" y="0"/>
                  </a:lnTo>
                  <a:lnTo>
                    <a:pt x="0" y="356743"/>
                  </a:lnTo>
                  <a:lnTo>
                    <a:pt x="20485" y="340156"/>
                  </a:lnTo>
                  <a:lnTo>
                    <a:pt x="20485" y="353860"/>
                  </a:lnTo>
                  <a:lnTo>
                    <a:pt x="170700" y="218440"/>
                  </a:lnTo>
                  <a:lnTo>
                    <a:pt x="220154" y="178371"/>
                  </a:lnTo>
                  <a:close/>
                </a:path>
              </a:pathLst>
            </a:custGeom>
            <a:solidFill>
              <a:srgbClr val="FFFFFF"/>
            </a:solidFill>
          </p:spPr>
          <p:txBody>
            <a:bodyPr wrap="square" lIns="0" tIns="0" rIns="0" bIns="0" rtlCol="0"/>
            <a:lstStyle/>
            <a:p>
              <a:endParaRPr sz="1588"/>
            </a:p>
          </p:txBody>
        </p:sp>
        <p:sp>
          <p:nvSpPr>
            <p:cNvPr id="23" name="object 23"/>
            <p:cNvSpPr/>
            <p:nvPr/>
          </p:nvSpPr>
          <p:spPr>
            <a:xfrm>
              <a:off x="6305719" y="4219244"/>
              <a:ext cx="196850" cy="354330"/>
            </a:xfrm>
            <a:custGeom>
              <a:avLst/>
              <a:gdLst/>
              <a:ahLst/>
              <a:cxnLst/>
              <a:rect l="l" t="t" r="r" b="b"/>
              <a:pathLst>
                <a:path w="196850" h="354329">
                  <a:moveTo>
                    <a:pt x="0" y="0"/>
                  </a:moveTo>
                  <a:lnTo>
                    <a:pt x="196255" y="176925"/>
                  </a:lnTo>
                  <a:lnTo>
                    <a:pt x="0" y="353851"/>
                  </a:lnTo>
                </a:path>
              </a:pathLst>
            </a:custGeom>
            <a:ln w="30738">
              <a:solidFill>
                <a:srgbClr val="000000"/>
              </a:solidFill>
            </a:ln>
          </p:spPr>
          <p:txBody>
            <a:bodyPr wrap="square" lIns="0" tIns="0" rIns="0" bIns="0" rtlCol="0"/>
            <a:lstStyle/>
            <a:p>
              <a:endParaRPr sz="1588"/>
            </a:p>
          </p:txBody>
        </p:sp>
        <p:sp>
          <p:nvSpPr>
            <p:cNvPr id="24" name="object 24"/>
            <p:cNvSpPr/>
            <p:nvPr/>
          </p:nvSpPr>
          <p:spPr>
            <a:xfrm>
              <a:off x="1779905" y="3861061"/>
              <a:ext cx="819150" cy="984250"/>
            </a:xfrm>
            <a:custGeom>
              <a:avLst/>
              <a:gdLst/>
              <a:ahLst/>
              <a:cxnLst/>
              <a:rect l="l" t="t" r="r" b="b"/>
              <a:pathLst>
                <a:path w="819150" h="984250">
                  <a:moveTo>
                    <a:pt x="819150" y="0"/>
                  </a:moveTo>
                  <a:lnTo>
                    <a:pt x="0" y="0"/>
                  </a:lnTo>
                  <a:lnTo>
                    <a:pt x="0" y="983825"/>
                  </a:lnTo>
                  <a:lnTo>
                    <a:pt x="819150" y="983825"/>
                  </a:lnTo>
                  <a:lnTo>
                    <a:pt x="819150" y="0"/>
                  </a:lnTo>
                  <a:close/>
                </a:path>
              </a:pathLst>
            </a:custGeom>
            <a:solidFill>
              <a:srgbClr val="618FFD"/>
            </a:solidFill>
          </p:spPr>
          <p:txBody>
            <a:bodyPr wrap="square" lIns="0" tIns="0" rIns="0" bIns="0" rtlCol="0"/>
            <a:lstStyle/>
            <a:p>
              <a:endParaRPr sz="1588"/>
            </a:p>
          </p:txBody>
        </p:sp>
        <p:sp>
          <p:nvSpPr>
            <p:cNvPr id="25" name="object 25"/>
            <p:cNvSpPr/>
            <p:nvPr/>
          </p:nvSpPr>
          <p:spPr>
            <a:xfrm>
              <a:off x="1779905" y="3861061"/>
              <a:ext cx="819150" cy="984250"/>
            </a:xfrm>
            <a:custGeom>
              <a:avLst/>
              <a:gdLst/>
              <a:ahLst/>
              <a:cxnLst/>
              <a:rect l="l" t="t" r="r" b="b"/>
              <a:pathLst>
                <a:path w="819150" h="984250">
                  <a:moveTo>
                    <a:pt x="0" y="0"/>
                  </a:moveTo>
                  <a:lnTo>
                    <a:pt x="819149" y="0"/>
                  </a:lnTo>
                  <a:lnTo>
                    <a:pt x="819149" y="983826"/>
                  </a:lnTo>
                  <a:lnTo>
                    <a:pt x="0" y="983826"/>
                  </a:lnTo>
                  <a:lnTo>
                    <a:pt x="0" y="0"/>
                  </a:lnTo>
                  <a:close/>
                </a:path>
              </a:pathLst>
            </a:custGeom>
            <a:ln w="30728">
              <a:solidFill>
                <a:srgbClr val="000000"/>
              </a:solidFill>
            </a:ln>
          </p:spPr>
          <p:txBody>
            <a:bodyPr wrap="square" lIns="0" tIns="0" rIns="0" bIns="0" rtlCol="0"/>
            <a:lstStyle/>
            <a:p>
              <a:endParaRPr sz="1588"/>
            </a:p>
          </p:txBody>
        </p:sp>
      </p:grpSp>
      <p:sp>
        <p:nvSpPr>
          <p:cNvPr id="26" name="object 26"/>
          <p:cNvSpPr txBox="1"/>
          <p:nvPr/>
        </p:nvSpPr>
        <p:spPr>
          <a:xfrm>
            <a:off x="1939882" y="3459480"/>
            <a:ext cx="243656" cy="768723"/>
          </a:xfrm>
          <a:prstGeom prst="rect">
            <a:avLst/>
          </a:prstGeom>
        </p:spPr>
        <p:txBody>
          <a:bodyPr vert="vert" wrap="square" lIns="0" tIns="0" rIns="0" bIns="0" rtlCol="0">
            <a:spAutoFit/>
          </a:bodyPr>
          <a:lstStyle/>
          <a:p>
            <a:pPr marL="11206">
              <a:lnSpc>
                <a:spcPts val="1915"/>
              </a:lnSpc>
            </a:pPr>
            <a:r>
              <a:rPr sz="1677" spc="-9" dirty="0">
                <a:latin typeface="Times New Roman"/>
                <a:cs typeface="Times New Roman"/>
              </a:rPr>
              <a:t>Memory</a:t>
            </a:r>
            <a:endParaRPr sz="1677">
              <a:latin typeface="Times New Roman"/>
              <a:cs typeface="Times New Roman"/>
            </a:endParaRPr>
          </a:p>
        </p:txBody>
      </p:sp>
      <p:grpSp>
        <p:nvGrpSpPr>
          <p:cNvPr id="27" name="object 27"/>
          <p:cNvGrpSpPr/>
          <p:nvPr/>
        </p:nvGrpSpPr>
        <p:grpSpPr>
          <a:xfrm>
            <a:off x="3859586" y="3257453"/>
            <a:ext cx="587749" cy="1325096"/>
            <a:chOff x="4221797" y="3691780"/>
            <a:chExt cx="666115" cy="1501775"/>
          </a:xfrm>
        </p:grpSpPr>
        <p:sp>
          <p:nvSpPr>
            <p:cNvPr id="28" name="object 28"/>
            <p:cNvSpPr/>
            <p:nvPr/>
          </p:nvSpPr>
          <p:spPr>
            <a:xfrm>
              <a:off x="4237354" y="3707338"/>
              <a:ext cx="635000" cy="1470660"/>
            </a:xfrm>
            <a:custGeom>
              <a:avLst/>
              <a:gdLst/>
              <a:ahLst/>
              <a:cxnLst/>
              <a:rect l="l" t="t" r="r" b="b"/>
              <a:pathLst>
                <a:path w="635000" h="1470660">
                  <a:moveTo>
                    <a:pt x="634841" y="0"/>
                  </a:moveTo>
                  <a:lnTo>
                    <a:pt x="0" y="0"/>
                  </a:lnTo>
                  <a:lnTo>
                    <a:pt x="0" y="1470616"/>
                  </a:lnTo>
                  <a:lnTo>
                    <a:pt x="634841" y="1470616"/>
                  </a:lnTo>
                  <a:lnTo>
                    <a:pt x="634841" y="0"/>
                  </a:lnTo>
                  <a:close/>
                </a:path>
              </a:pathLst>
            </a:custGeom>
            <a:solidFill>
              <a:srgbClr val="618FFD"/>
            </a:solidFill>
          </p:spPr>
          <p:txBody>
            <a:bodyPr wrap="square" lIns="0" tIns="0" rIns="0" bIns="0" rtlCol="0"/>
            <a:lstStyle/>
            <a:p>
              <a:endParaRPr sz="1588"/>
            </a:p>
          </p:txBody>
        </p:sp>
        <p:sp>
          <p:nvSpPr>
            <p:cNvPr id="29" name="object 29"/>
            <p:cNvSpPr/>
            <p:nvPr/>
          </p:nvSpPr>
          <p:spPr>
            <a:xfrm>
              <a:off x="4237354" y="3707338"/>
              <a:ext cx="635000" cy="1470660"/>
            </a:xfrm>
            <a:custGeom>
              <a:avLst/>
              <a:gdLst/>
              <a:ahLst/>
              <a:cxnLst/>
              <a:rect l="l" t="t" r="r" b="b"/>
              <a:pathLst>
                <a:path w="635000" h="1470660">
                  <a:moveTo>
                    <a:pt x="0" y="0"/>
                  </a:moveTo>
                  <a:lnTo>
                    <a:pt x="634841" y="0"/>
                  </a:lnTo>
                  <a:lnTo>
                    <a:pt x="634841" y="1470616"/>
                  </a:lnTo>
                  <a:lnTo>
                    <a:pt x="0" y="1470616"/>
                  </a:lnTo>
                  <a:lnTo>
                    <a:pt x="0" y="0"/>
                  </a:lnTo>
                  <a:close/>
                </a:path>
              </a:pathLst>
            </a:custGeom>
            <a:ln w="30722">
              <a:solidFill>
                <a:srgbClr val="000000"/>
              </a:solidFill>
            </a:ln>
          </p:spPr>
          <p:txBody>
            <a:bodyPr wrap="square" lIns="0" tIns="0" rIns="0" bIns="0" rtlCol="0"/>
            <a:lstStyle/>
            <a:p>
              <a:endParaRPr sz="1588"/>
            </a:p>
          </p:txBody>
        </p:sp>
      </p:grpSp>
      <p:sp>
        <p:nvSpPr>
          <p:cNvPr id="30" name="object 30"/>
          <p:cNvSpPr txBox="1"/>
          <p:nvPr/>
        </p:nvSpPr>
        <p:spPr>
          <a:xfrm>
            <a:off x="4026907" y="3540163"/>
            <a:ext cx="243656" cy="763120"/>
          </a:xfrm>
          <a:prstGeom prst="rect">
            <a:avLst/>
          </a:prstGeom>
        </p:spPr>
        <p:txBody>
          <a:bodyPr vert="vert" wrap="square" lIns="0" tIns="0" rIns="0" bIns="0" rtlCol="0">
            <a:spAutoFit/>
          </a:bodyPr>
          <a:lstStyle/>
          <a:p>
            <a:pPr marL="11206">
              <a:lnSpc>
                <a:spcPts val="1915"/>
              </a:lnSpc>
            </a:pPr>
            <a:r>
              <a:rPr sz="1677" dirty="0">
                <a:latin typeface="Times New Roman"/>
                <a:cs typeface="Times New Roman"/>
              </a:rPr>
              <a:t>Reg</a:t>
            </a:r>
            <a:r>
              <a:rPr sz="1677" spc="53" dirty="0">
                <a:latin typeface="Times New Roman"/>
                <a:cs typeface="Times New Roman"/>
              </a:rPr>
              <a:t> </a:t>
            </a:r>
            <a:r>
              <a:rPr sz="1677" spc="-18" dirty="0">
                <a:latin typeface="Times New Roman"/>
                <a:cs typeface="Times New Roman"/>
              </a:rPr>
              <a:t>File</a:t>
            </a:r>
            <a:endParaRPr sz="1677">
              <a:latin typeface="Times New Roman"/>
              <a:cs typeface="Times New Roman"/>
            </a:endParaRPr>
          </a:p>
        </p:txBody>
      </p:sp>
      <p:grpSp>
        <p:nvGrpSpPr>
          <p:cNvPr id="31" name="object 31"/>
          <p:cNvGrpSpPr/>
          <p:nvPr/>
        </p:nvGrpSpPr>
        <p:grpSpPr>
          <a:xfrm>
            <a:off x="5249430" y="3922078"/>
            <a:ext cx="226359" cy="552450"/>
            <a:chOff x="5796954" y="4445022"/>
            <a:chExt cx="256540" cy="626110"/>
          </a:xfrm>
        </p:grpSpPr>
        <p:sp>
          <p:nvSpPr>
            <p:cNvPr id="32" name="object 32"/>
            <p:cNvSpPr/>
            <p:nvPr/>
          </p:nvSpPr>
          <p:spPr>
            <a:xfrm>
              <a:off x="5812511" y="4460580"/>
              <a:ext cx="225425" cy="594995"/>
            </a:xfrm>
            <a:custGeom>
              <a:avLst/>
              <a:gdLst/>
              <a:ahLst/>
              <a:cxnLst/>
              <a:rect l="l" t="t" r="r" b="b"/>
              <a:pathLst>
                <a:path w="225425" h="594995">
                  <a:moveTo>
                    <a:pt x="112633" y="0"/>
                  </a:moveTo>
                  <a:lnTo>
                    <a:pt x="63100" y="30207"/>
                  </a:lnTo>
                  <a:lnTo>
                    <a:pt x="42187" y="65291"/>
                  </a:lnTo>
                  <a:lnTo>
                    <a:pt x="24744" y="111315"/>
                  </a:lnTo>
                  <a:lnTo>
                    <a:pt x="11448" y="166497"/>
                  </a:lnTo>
                  <a:lnTo>
                    <a:pt x="2974" y="229053"/>
                  </a:lnTo>
                  <a:lnTo>
                    <a:pt x="0" y="297197"/>
                  </a:lnTo>
                  <a:lnTo>
                    <a:pt x="2974" y="365342"/>
                  </a:lnTo>
                  <a:lnTo>
                    <a:pt x="11448" y="427898"/>
                  </a:lnTo>
                  <a:lnTo>
                    <a:pt x="24744" y="483080"/>
                  </a:lnTo>
                  <a:lnTo>
                    <a:pt x="42187" y="529104"/>
                  </a:lnTo>
                  <a:lnTo>
                    <a:pt x="63100" y="564188"/>
                  </a:lnTo>
                  <a:lnTo>
                    <a:pt x="112633" y="594395"/>
                  </a:lnTo>
                  <a:lnTo>
                    <a:pt x="138459" y="586546"/>
                  </a:lnTo>
                  <a:lnTo>
                    <a:pt x="183079" y="529104"/>
                  </a:lnTo>
                  <a:lnTo>
                    <a:pt x="200522" y="483080"/>
                  </a:lnTo>
                  <a:lnTo>
                    <a:pt x="213818" y="427898"/>
                  </a:lnTo>
                  <a:lnTo>
                    <a:pt x="222291" y="365342"/>
                  </a:lnTo>
                  <a:lnTo>
                    <a:pt x="225266" y="297197"/>
                  </a:lnTo>
                  <a:lnTo>
                    <a:pt x="222291" y="229053"/>
                  </a:lnTo>
                  <a:lnTo>
                    <a:pt x="213818" y="166497"/>
                  </a:lnTo>
                  <a:lnTo>
                    <a:pt x="200522" y="111315"/>
                  </a:lnTo>
                  <a:lnTo>
                    <a:pt x="183079" y="65291"/>
                  </a:lnTo>
                  <a:lnTo>
                    <a:pt x="162166" y="30207"/>
                  </a:lnTo>
                  <a:lnTo>
                    <a:pt x="112633" y="0"/>
                  </a:lnTo>
                  <a:close/>
                </a:path>
              </a:pathLst>
            </a:custGeom>
            <a:solidFill>
              <a:srgbClr val="618FFD"/>
            </a:solidFill>
          </p:spPr>
          <p:txBody>
            <a:bodyPr wrap="square" lIns="0" tIns="0" rIns="0" bIns="0" rtlCol="0"/>
            <a:lstStyle/>
            <a:p>
              <a:endParaRPr sz="1588"/>
            </a:p>
          </p:txBody>
        </p:sp>
        <p:sp>
          <p:nvSpPr>
            <p:cNvPr id="33" name="object 33"/>
            <p:cNvSpPr/>
            <p:nvPr/>
          </p:nvSpPr>
          <p:spPr>
            <a:xfrm>
              <a:off x="5812511" y="4460580"/>
              <a:ext cx="225425" cy="594995"/>
            </a:xfrm>
            <a:custGeom>
              <a:avLst/>
              <a:gdLst/>
              <a:ahLst/>
              <a:cxnLst/>
              <a:rect l="l" t="t" r="r" b="b"/>
              <a:pathLst>
                <a:path w="225425" h="594995">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34" name="object 34"/>
          <p:cNvSpPr txBox="1"/>
          <p:nvPr/>
        </p:nvSpPr>
        <p:spPr>
          <a:xfrm>
            <a:off x="5274579" y="3991983"/>
            <a:ext cx="192360" cy="417419"/>
          </a:xfrm>
          <a:prstGeom prst="rect">
            <a:avLst/>
          </a:prstGeom>
        </p:spPr>
        <p:txBody>
          <a:bodyPr vert="vert" wrap="square" lIns="0" tIns="0" rIns="0" bIns="0" rtlCol="0">
            <a:spAutoFit/>
          </a:bodyPr>
          <a:lstStyle/>
          <a:p>
            <a:pPr marL="11206">
              <a:lnSpc>
                <a:spcPts val="1531"/>
              </a:lnSpc>
            </a:pPr>
            <a:r>
              <a:rPr sz="1324" spc="-22" dirty="0">
                <a:latin typeface="Times New Roman"/>
                <a:cs typeface="Times New Roman"/>
              </a:rPr>
              <a:t>MUX</a:t>
            </a:r>
            <a:endParaRPr sz="1324">
              <a:latin typeface="Times New Roman"/>
              <a:cs typeface="Times New Roman"/>
            </a:endParaRPr>
          </a:p>
        </p:txBody>
      </p:sp>
      <p:grpSp>
        <p:nvGrpSpPr>
          <p:cNvPr id="35" name="object 35"/>
          <p:cNvGrpSpPr/>
          <p:nvPr/>
        </p:nvGrpSpPr>
        <p:grpSpPr>
          <a:xfrm>
            <a:off x="6984102" y="3705058"/>
            <a:ext cx="1366557" cy="1112744"/>
            <a:chOff x="7762915" y="4199066"/>
            <a:chExt cx="1548765" cy="1261110"/>
          </a:xfrm>
        </p:grpSpPr>
        <p:sp>
          <p:nvSpPr>
            <p:cNvPr id="36" name="object 36"/>
            <p:cNvSpPr/>
            <p:nvPr/>
          </p:nvSpPr>
          <p:spPr>
            <a:xfrm>
              <a:off x="7778472" y="4214624"/>
              <a:ext cx="573405" cy="1229995"/>
            </a:xfrm>
            <a:custGeom>
              <a:avLst/>
              <a:gdLst/>
              <a:ahLst/>
              <a:cxnLst/>
              <a:rect l="l" t="t" r="r" b="b"/>
              <a:pathLst>
                <a:path w="573404" h="1229995">
                  <a:moveTo>
                    <a:pt x="573404" y="0"/>
                  </a:moveTo>
                  <a:lnTo>
                    <a:pt x="0" y="0"/>
                  </a:lnTo>
                  <a:lnTo>
                    <a:pt x="0" y="1229782"/>
                  </a:lnTo>
                  <a:lnTo>
                    <a:pt x="573404" y="1229782"/>
                  </a:lnTo>
                  <a:lnTo>
                    <a:pt x="573404" y="0"/>
                  </a:lnTo>
                  <a:close/>
                </a:path>
              </a:pathLst>
            </a:custGeom>
            <a:solidFill>
              <a:srgbClr val="618FFD"/>
            </a:solidFill>
          </p:spPr>
          <p:txBody>
            <a:bodyPr wrap="square" lIns="0" tIns="0" rIns="0" bIns="0" rtlCol="0"/>
            <a:lstStyle/>
            <a:p>
              <a:endParaRPr sz="1588"/>
            </a:p>
          </p:txBody>
        </p:sp>
        <p:sp>
          <p:nvSpPr>
            <p:cNvPr id="37" name="object 37"/>
            <p:cNvSpPr/>
            <p:nvPr/>
          </p:nvSpPr>
          <p:spPr>
            <a:xfrm>
              <a:off x="7778472" y="4214624"/>
              <a:ext cx="573405" cy="1229995"/>
            </a:xfrm>
            <a:custGeom>
              <a:avLst/>
              <a:gdLst/>
              <a:ahLst/>
              <a:cxnLst/>
              <a:rect l="l" t="t" r="r" b="b"/>
              <a:pathLst>
                <a:path w="573404" h="1229995">
                  <a:moveTo>
                    <a:pt x="0" y="0"/>
                  </a:moveTo>
                  <a:lnTo>
                    <a:pt x="573404" y="0"/>
                  </a:lnTo>
                  <a:lnTo>
                    <a:pt x="573404" y="1229783"/>
                  </a:lnTo>
                  <a:lnTo>
                    <a:pt x="0" y="1229783"/>
                  </a:lnTo>
                  <a:lnTo>
                    <a:pt x="0" y="0"/>
                  </a:lnTo>
                  <a:close/>
                </a:path>
              </a:pathLst>
            </a:custGeom>
            <a:ln w="30722">
              <a:solidFill>
                <a:srgbClr val="000000"/>
              </a:solidFill>
            </a:ln>
          </p:spPr>
          <p:txBody>
            <a:bodyPr wrap="square" lIns="0" tIns="0" rIns="0" bIns="0" rtlCol="0"/>
            <a:lstStyle/>
            <a:p>
              <a:endParaRPr sz="1588"/>
            </a:p>
          </p:txBody>
        </p:sp>
        <p:sp>
          <p:nvSpPr>
            <p:cNvPr id="38" name="object 38"/>
            <p:cNvSpPr/>
            <p:nvPr/>
          </p:nvSpPr>
          <p:spPr>
            <a:xfrm>
              <a:off x="9070339" y="4762902"/>
              <a:ext cx="225425" cy="594995"/>
            </a:xfrm>
            <a:custGeom>
              <a:avLst/>
              <a:gdLst/>
              <a:ahLst/>
              <a:cxnLst/>
              <a:rect l="l" t="t" r="r" b="b"/>
              <a:pathLst>
                <a:path w="225425" h="594995">
                  <a:moveTo>
                    <a:pt x="112632" y="0"/>
                  </a:moveTo>
                  <a:lnTo>
                    <a:pt x="63099" y="30207"/>
                  </a:lnTo>
                  <a:lnTo>
                    <a:pt x="42186" y="65290"/>
                  </a:lnTo>
                  <a:lnTo>
                    <a:pt x="24743" y="111315"/>
                  </a:lnTo>
                  <a:lnTo>
                    <a:pt x="11447" y="166497"/>
                  </a:lnTo>
                  <a:lnTo>
                    <a:pt x="2974" y="229052"/>
                  </a:lnTo>
                  <a:lnTo>
                    <a:pt x="0" y="297197"/>
                  </a:lnTo>
                  <a:lnTo>
                    <a:pt x="2974" y="365342"/>
                  </a:lnTo>
                  <a:lnTo>
                    <a:pt x="11447" y="427897"/>
                  </a:lnTo>
                  <a:lnTo>
                    <a:pt x="24743" y="483079"/>
                  </a:lnTo>
                  <a:lnTo>
                    <a:pt x="42186" y="529103"/>
                  </a:lnTo>
                  <a:lnTo>
                    <a:pt x="63099" y="564186"/>
                  </a:lnTo>
                  <a:lnTo>
                    <a:pt x="112632" y="594394"/>
                  </a:lnTo>
                  <a:lnTo>
                    <a:pt x="138458" y="586545"/>
                  </a:lnTo>
                  <a:lnTo>
                    <a:pt x="183079" y="529103"/>
                  </a:lnTo>
                  <a:lnTo>
                    <a:pt x="200521" y="483079"/>
                  </a:lnTo>
                  <a:lnTo>
                    <a:pt x="213818" y="427897"/>
                  </a:lnTo>
                  <a:lnTo>
                    <a:pt x="222291" y="365342"/>
                  </a:lnTo>
                  <a:lnTo>
                    <a:pt x="225266" y="297197"/>
                  </a:lnTo>
                  <a:lnTo>
                    <a:pt x="222291" y="229052"/>
                  </a:lnTo>
                  <a:lnTo>
                    <a:pt x="213818" y="166497"/>
                  </a:lnTo>
                  <a:lnTo>
                    <a:pt x="200521" y="111315"/>
                  </a:lnTo>
                  <a:lnTo>
                    <a:pt x="183079" y="65290"/>
                  </a:lnTo>
                  <a:lnTo>
                    <a:pt x="162165" y="30207"/>
                  </a:lnTo>
                  <a:lnTo>
                    <a:pt x="112632" y="0"/>
                  </a:lnTo>
                  <a:close/>
                </a:path>
              </a:pathLst>
            </a:custGeom>
            <a:solidFill>
              <a:srgbClr val="618FFD"/>
            </a:solidFill>
          </p:spPr>
          <p:txBody>
            <a:bodyPr wrap="square" lIns="0" tIns="0" rIns="0" bIns="0" rtlCol="0"/>
            <a:lstStyle/>
            <a:p>
              <a:endParaRPr sz="1588"/>
            </a:p>
          </p:txBody>
        </p:sp>
        <p:sp>
          <p:nvSpPr>
            <p:cNvPr id="39" name="object 39"/>
            <p:cNvSpPr/>
            <p:nvPr/>
          </p:nvSpPr>
          <p:spPr>
            <a:xfrm>
              <a:off x="9070339" y="4762902"/>
              <a:ext cx="225425" cy="594995"/>
            </a:xfrm>
            <a:custGeom>
              <a:avLst/>
              <a:gdLst/>
              <a:ahLst/>
              <a:cxnLst/>
              <a:rect l="l" t="t" r="r" b="b"/>
              <a:pathLst>
                <a:path w="225425" h="594995">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40" name="object 40"/>
          <p:cNvSpPr txBox="1"/>
          <p:nvPr/>
        </p:nvSpPr>
        <p:spPr>
          <a:xfrm>
            <a:off x="8149132" y="4260924"/>
            <a:ext cx="192360" cy="417419"/>
          </a:xfrm>
          <a:prstGeom prst="rect">
            <a:avLst/>
          </a:prstGeom>
        </p:spPr>
        <p:txBody>
          <a:bodyPr vert="vert" wrap="square" lIns="0" tIns="0" rIns="0" bIns="0" rtlCol="0">
            <a:spAutoFit/>
          </a:bodyPr>
          <a:lstStyle/>
          <a:p>
            <a:pPr marL="11206">
              <a:lnSpc>
                <a:spcPts val="1531"/>
              </a:lnSpc>
            </a:pPr>
            <a:r>
              <a:rPr sz="1324" spc="-22" dirty="0">
                <a:latin typeface="Times New Roman"/>
                <a:cs typeface="Times New Roman"/>
              </a:rPr>
              <a:t>MUX</a:t>
            </a:r>
            <a:endParaRPr sz="1324">
              <a:latin typeface="Times New Roman"/>
              <a:cs typeface="Times New Roman"/>
            </a:endParaRPr>
          </a:p>
        </p:txBody>
      </p:sp>
      <p:grpSp>
        <p:nvGrpSpPr>
          <p:cNvPr id="41" name="object 41"/>
          <p:cNvGrpSpPr/>
          <p:nvPr/>
        </p:nvGrpSpPr>
        <p:grpSpPr>
          <a:xfrm>
            <a:off x="3859586" y="4634932"/>
            <a:ext cx="452157" cy="669551"/>
            <a:chOff x="4221797" y="5252922"/>
            <a:chExt cx="512445" cy="758825"/>
          </a:xfrm>
        </p:grpSpPr>
        <p:sp>
          <p:nvSpPr>
            <p:cNvPr id="42" name="object 42"/>
            <p:cNvSpPr/>
            <p:nvPr/>
          </p:nvSpPr>
          <p:spPr>
            <a:xfrm>
              <a:off x="4237354" y="5268479"/>
              <a:ext cx="481330" cy="727710"/>
            </a:xfrm>
            <a:custGeom>
              <a:avLst/>
              <a:gdLst/>
              <a:ahLst/>
              <a:cxnLst/>
              <a:rect l="l" t="t" r="r" b="b"/>
              <a:pathLst>
                <a:path w="481329" h="727710">
                  <a:moveTo>
                    <a:pt x="240625" y="0"/>
                  </a:moveTo>
                  <a:lnTo>
                    <a:pt x="201594" y="4761"/>
                  </a:lnTo>
                  <a:lnTo>
                    <a:pt x="164569" y="18547"/>
                  </a:lnTo>
                  <a:lnTo>
                    <a:pt x="130044" y="40607"/>
                  </a:lnTo>
                  <a:lnTo>
                    <a:pt x="98515" y="70194"/>
                  </a:lnTo>
                  <a:lnTo>
                    <a:pt x="70477" y="106557"/>
                  </a:lnTo>
                  <a:lnTo>
                    <a:pt x="46426" y="148949"/>
                  </a:lnTo>
                  <a:lnTo>
                    <a:pt x="26858" y="196619"/>
                  </a:lnTo>
                  <a:lnTo>
                    <a:pt x="12267" y="248819"/>
                  </a:lnTo>
                  <a:lnTo>
                    <a:pt x="3149" y="304799"/>
                  </a:lnTo>
                  <a:lnTo>
                    <a:pt x="0" y="363811"/>
                  </a:lnTo>
                  <a:lnTo>
                    <a:pt x="3149" y="422823"/>
                  </a:lnTo>
                  <a:lnTo>
                    <a:pt x="12267" y="478803"/>
                  </a:lnTo>
                  <a:lnTo>
                    <a:pt x="26858" y="531003"/>
                  </a:lnTo>
                  <a:lnTo>
                    <a:pt x="46426" y="578673"/>
                  </a:lnTo>
                  <a:lnTo>
                    <a:pt x="70477" y="621064"/>
                  </a:lnTo>
                  <a:lnTo>
                    <a:pt x="98515" y="657427"/>
                  </a:lnTo>
                  <a:lnTo>
                    <a:pt x="130044" y="687014"/>
                  </a:lnTo>
                  <a:lnTo>
                    <a:pt x="164569" y="709075"/>
                  </a:lnTo>
                  <a:lnTo>
                    <a:pt x="201594" y="722860"/>
                  </a:lnTo>
                  <a:lnTo>
                    <a:pt x="240625" y="727622"/>
                  </a:lnTo>
                  <a:lnTo>
                    <a:pt x="279656" y="722860"/>
                  </a:lnTo>
                  <a:lnTo>
                    <a:pt x="316681" y="709075"/>
                  </a:lnTo>
                  <a:lnTo>
                    <a:pt x="351206" y="687014"/>
                  </a:lnTo>
                  <a:lnTo>
                    <a:pt x="382735" y="657427"/>
                  </a:lnTo>
                  <a:lnTo>
                    <a:pt x="410773" y="621064"/>
                  </a:lnTo>
                  <a:lnTo>
                    <a:pt x="434824" y="578673"/>
                  </a:lnTo>
                  <a:lnTo>
                    <a:pt x="454392" y="531003"/>
                  </a:lnTo>
                  <a:lnTo>
                    <a:pt x="468983" y="478803"/>
                  </a:lnTo>
                  <a:lnTo>
                    <a:pt x="478101" y="422823"/>
                  </a:lnTo>
                  <a:lnTo>
                    <a:pt x="481251" y="363811"/>
                  </a:lnTo>
                  <a:lnTo>
                    <a:pt x="478101" y="304799"/>
                  </a:lnTo>
                  <a:lnTo>
                    <a:pt x="468983" y="248819"/>
                  </a:lnTo>
                  <a:lnTo>
                    <a:pt x="454392" y="196619"/>
                  </a:lnTo>
                  <a:lnTo>
                    <a:pt x="434824" y="148949"/>
                  </a:lnTo>
                  <a:lnTo>
                    <a:pt x="410773" y="106557"/>
                  </a:lnTo>
                  <a:lnTo>
                    <a:pt x="382735" y="70194"/>
                  </a:lnTo>
                  <a:lnTo>
                    <a:pt x="351206" y="40607"/>
                  </a:lnTo>
                  <a:lnTo>
                    <a:pt x="316681" y="18547"/>
                  </a:lnTo>
                  <a:lnTo>
                    <a:pt x="279656" y="4761"/>
                  </a:lnTo>
                  <a:lnTo>
                    <a:pt x="240625" y="0"/>
                  </a:lnTo>
                  <a:close/>
                </a:path>
              </a:pathLst>
            </a:custGeom>
            <a:solidFill>
              <a:srgbClr val="618FFD"/>
            </a:solidFill>
          </p:spPr>
          <p:txBody>
            <a:bodyPr wrap="square" lIns="0" tIns="0" rIns="0" bIns="0" rtlCol="0"/>
            <a:lstStyle/>
            <a:p>
              <a:endParaRPr sz="1588"/>
            </a:p>
          </p:txBody>
        </p:sp>
        <p:sp>
          <p:nvSpPr>
            <p:cNvPr id="43" name="object 43"/>
            <p:cNvSpPr/>
            <p:nvPr/>
          </p:nvSpPr>
          <p:spPr>
            <a:xfrm>
              <a:off x="4237354" y="5268479"/>
              <a:ext cx="481330" cy="727710"/>
            </a:xfrm>
            <a:custGeom>
              <a:avLst/>
              <a:gdLst/>
              <a:ahLst/>
              <a:cxnLst/>
              <a:rect l="l" t="t" r="r" b="b"/>
              <a:pathLst>
                <a:path w="481329" h="727710">
                  <a:moveTo>
                    <a:pt x="0" y="363810"/>
                  </a:moveTo>
                  <a:lnTo>
                    <a:pt x="3149" y="304798"/>
                  </a:lnTo>
                  <a:lnTo>
                    <a:pt x="12267" y="248818"/>
                  </a:lnTo>
                  <a:lnTo>
                    <a:pt x="26858" y="196618"/>
                  </a:lnTo>
                  <a:lnTo>
                    <a:pt x="46426" y="148948"/>
                  </a:lnTo>
                  <a:lnTo>
                    <a:pt x="70477" y="106557"/>
                  </a:lnTo>
                  <a:lnTo>
                    <a:pt x="98515" y="70194"/>
                  </a:lnTo>
                  <a:lnTo>
                    <a:pt x="130044" y="40607"/>
                  </a:lnTo>
                  <a:lnTo>
                    <a:pt x="164569" y="18547"/>
                  </a:lnTo>
                  <a:lnTo>
                    <a:pt x="201594" y="4761"/>
                  </a:lnTo>
                  <a:lnTo>
                    <a:pt x="240625" y="0"/>
                  </a:lnTo>
                  <a:lnTo>
                    <a:pt x="279655" y="4761"/>
                  </a:lnTo>
                  <a:lnTo>
                    <a:pt x="316681" y="18547"/>
                  </a:lnTo>
                  <a:lnTo>
                    <a:pt x="351206" y="40607"/>
                  </a:lnTo>
                  <a:lnTo>
                    <a:pt x="382735" y="70194"/>
                  </a:lnTo>
                  <a:lnTo>
                    <a:pt x="410773" y="106557"/>
                  </a:lnTo>
                  <a:lnTo>
                    <a:pt x="434823" y="148948"/>
                  </a:lnTo>
                  <a:lnTo>
                    <a:pt x="454392" y="196618"/>
                  </a:lnTo>
                  <a:lnTo>
                    <a:pt x="468983" y="248818"/>
                  </a:lnTo>
                  <a:lnTo>
                    <a:pt x="478101" y="304798"/>
                  </a:lnTo>
                  <a:lnTo>
                    <a:pt x="481250" y="363810"/>
                  </a:lnTo>
                  <a:lnTo>
                    <a:pt x="478101" y="422822"/>
                  </a:lnTo>
                  <a:lnTo>
                    <a:pt x="468983" y="478803"/>
                  </a:lnTo>
                  <a:lnTo>
                    <a:pt x="454392" y="531002"/>
                  </a:lnTo>
                  <a:lnTo>
                    <a:pt x="434823" y="578672"/>
                  </a:lnTo>
                  <a:lnTo>
                    <a:pt x="410773" y="621064"/>
                  </a:lnTo>
                  <a:lnTo>
                    <a:pt x="382735" y="657427"/>
                  </a:lnTo>
                  <a:lnTo>
                    <a:pt x="351206" y="687013"/>
                  </a:lnTo>
                  <a:lnTo>
                    <a:pt x="316681" y="709074"/>
                  </a:lnTo>
                  <a:lnTo>
                    <a:pt x="279655" y="722860"/>
                  </a:lnTo>
                  <a:lnTo>
                    <a:pt x="240625" y="727621"/>
                  </a:lnTo>
                  <a:lnTo>
                    <a:pt x="201594" y="722860"/>
                  </a:lnTo>
                  <a:lnTo>
                    <a:pt x="164569" y="709074"/>
                  </a:lnTo>
                  <a:lnTo>
                    <a:pt x="130044" y="687013"/>
                  </a:lnTo>
                  <a:lnTo>
                    <a:pt x="98515" y="657427"/>
                  </a:lnTo>
                  <a:lnTo>
                    <a:pt x="70477" y="621064"/>
                  </a:lnTo>
                  <a:lnTo>
                    <a:pt x="46426" y="578672"/>
                  </a:lnTo>
                  <a:lnTo>
                    <a:pt x="26858" y="531002"/>
                  </a:lnTo>
                  <a:lnTo>
                    <a:pt x="12267" y="478803"/>
                  </a:lnTo>
                  <a:lnTo>
                    <a:pt x="3149" y="422822"/>
                  </a:lnTo>
                  <a:lnTo>
                    <a:pt x="0" y="363810"/>
                  </a:lnTo>
                  <a:close/>
                </a:path>
              </a:pathLst>
            </a:custGeom>
            <a:ln w="30726">
              <a:solidFill>
                <a:srgbClr val="000000"/>
              </a:solidFill>
            </a:ln>
          </p:spPr>
          <p:txBody>
            <a:bodyPr wrap="square" lIns="0" tIns="0" rIns="0" bIns="0" rtlCol="0"/>
            <a:lstStyle/>
            <a:p>
              <a:endParaRPr sz="1588"/>
            </a:p>
          </p:txBody>
        </p:sp>
      </p:grpSp>
      <p:sp>
        <p:nvSpPr>
          <p:cNvPr id="44" name="object 44"/>
          <p:cNvSpPr txBox="1"/>
          <p:nvPr/>
        </p:nvSpPr>
        <p:spPr>
          <a:xfrm>
            <a:off x="3890717" y="4807217"/>
            <a:ext cx="392206" cy="300233"/>
          </a:xfrm>
          <a:prstGeom prst="rect">
            <a:avLst/>
          </a:prstGeom>
        </p:spPr>
        <p:txBody>
          <a:bodyPr vert="horz" wrap="square" lIns="0" tIns="17929" rIns="0" bIns="0" rtlCol="0">
            <a:spAutoFit/>
          </a:bodyPr>
          <a:lstStyle/>
          <a:p>
            <a:pPr marL="11206" marR="4483" indent="70601">
              <a:lnSpc>
                <a:spcPts val="1147"/>
              </a:lnSpc>
              <a:spcBef>
                <a:spcPts val="141"/>
              </a:spcBef>
            </a:pPr>
            <a:r>
              <a:rPr sz="971" b="1" spc="-18" dirty="0">
                <a:latin typeface="Times New Roman"/>
                <a:cs typeface="Times New Roman"/>
              </a:rPr>
              <a:t>Sign </a:t>
            </a:r>
            <a:r>
              <a:rPr sz="971" b="1" spc="-22" dirty="0">
                <a:latin typeface="Times New Roman"/>
                <a:cs typeface="Times New Roman"/>
              </a:rPr>
              <a:t>Extend</a:t>
            </a:r>
            <a:endParaRPr sz="971">
              <a:latin typeface="Times New Roman"/>
              <a:cs typeface="Times New Roman"/>
            </a:endParaRPr>
          </a:p>
        </p:txBody>
      </p:sp>
      <p:grpSp>
        <p:nvGrpSpPr>
          <p:cNvPr id="45" name="object 45"/>
          <p:cNvGrpSpPr/>
          <p:nvPr/>
        </p:nvGrpSpPr>
        <p:grpSpPr>
          <a:xfrm>
            <a:off x="2427754" y="2910824"/>
            <a:ext cx="3300693" cy="2128557"/>
            <a:chOff x="2599054" y="3298933"/>
            <a:chExt cx="3740785" cy="2412365"/>
          </a:xfrm>
        </p:grpSpPr>
        <p:sp>
          <p:nvSpPr>
            <p:cNvPr id="46" name="object 46"/>
            <p:cNvSpPr/>
            <p:nvPr/>
          </p:nvSpPr>
          <p:spPr>
            <a:xfrm>
              <a:off x="2599054" y="4306858"/>
              <a:ext cx="327660" cy="92710"/>
            </a:xfrm>
            <a:custGeom>
              <a:avLst/>
              <a:gdLst/>
              <a:ahLst/>
              <a:cxnLst/>
              <a:rect l="l" t="t" r="r" b="b"/>
              <a:pathLst>
                <a:path w="327660" h="92710">
                  <a:moveTo>
                    <a:pt x="235506" y="0"/>
                  </a:moveTo>
                  <a:lnTo>
                    <a:pt x="235504" y="92233"/>
                  </a:lnTo>
                  <a:lnTo>
                    <a:pt x="296941" y="61489"/>
                  </a:lnTo>
                  <a:lnTo>
                    <a:pt x="250864" y="61489"/>
                  </a:lnTo>
                  <a:lnTo>
                    <a:pt x="250864" y="30744"/>
                  </a:lnTo>
                  <a:lnTo>
                    <a:pt x="296940" y="30744"/>
                  </a:lnTo>
                  <a:lnTo>
                    <a:pt x="235506" y="0"/>
                  </a:lnTo>
                  <a:close/>
                </a:path>
                <a:path w="327660" h="92710">
                  <a:moveTo>
                    <a:pt x="235505" y="30744"/>
                  </a:moveTo>
                  <a:lnTo>
                    <a:pt x="0" y="30744"/>
                  </a:lnTo>
                  <a:lnTo>
                    <a:pt x="0" y="61489"/>
                  </a:lnTo>
                  <a:lnTo>
                    <a:pt x="235505" y="61489"/>
                  </a:lnTo>
                  <a:lnTo>
                    <a:pt x="235505" y="30744"/>
                  </a:lnTo>
                  <a:close/>
                </a:path>
                <a:path w="327660" h="92710">
                  <a:moveTo>
                    <a:pt x="296940" y="30744"/>
                  </a:moveTo>
                  <a:lnTo>
                    <a:pt x="250864" y="30744"/>
                  </a:lnTo>
                  <a:lnTo>
                    <a:pt x="250864" y="61489"/>
                  </a:lnTo>
                  <a:lnTo>
                    <a:pt x="296941" y="61489"/>
                  </a:lnTo>
                  <a:lnTo>
                    <a:pt x="327659" y="46117"/>
                  </a:lnTo>
                  <a:lnTo>
                    <a:pt x="296940" y="30744"/>
                  </a:lnTo>
                  <a:close/>
                </a:path>
              </a:pathLst>
            </a:custGeom>
            <a:solidFill>
              <a:srgbClr val="000000"/>
            </a:solidFill>
          </p:spPr>
          <p:txBody>
            <a:bodyPr wrap="square" lIns="0" tIns="0" rIns="0" bIns="0" rtlCol="0"/>
            <a:lstStyle/>
            <a:p>
              <a:endParaRPr sz="1588"/>
            </a:p>
          </p:txBody>
        </p:sp>
        <p:pic>
          <p:nvPicPr>
            <p:cNvPr id="47" name="object 47"/>
            <p:cNvPicPr/>
            <p:nvPr/>
          </p:nvPicPr>
          <p:blipFill>
            <a:blip r:embed="rId3" cstate="print"/>
            <a:stretch>
              <a:fillRect/>
            </a:stretch>
          </p:blipFill>
          <p:spPr>
            <a:xfrm>
              <a:off x="3254374" y="4306858"/>
              <a:ext cx="245745" cy="92233"/>
            </a:xfrm>
            <a:prstGeom prst="rect">
              <a:avLst/>
            </a:prstGeom>
          </p:spPr>
        </p:pic>
        <p:sp>
          <p:nvSpPr>
            <p:cNvPr id="48" name="object 48"/>
            <p:cNvSpPr/>
            <p:nvPr/>
          </p:nvSpPr>
          <p:spPr>
            <a:xfrm>
              <a:off x="3484753" y="3773957"/>
              <a:ext cx="2855595" cy="1937385"/>
            </a:xfrm>
            <a:custGeom>
              <a:avLst/>
              <a:gdLst/>
              <a:ahLst/>
              <a:cxnLst/>
              <a:rect l="l" t="t" r="r" b="b"/>
              <a:pathLst>
                <a:path w="2855595" h="1937385">
                  <a:moveTo>
                    <a:pt x="752602" y="333070"/>
                  </a:moveTo>
                  <a:lnTo>
                    <a:pt x="721880" y="317690"/>
                  </a:lnTo>
                  <a:lnTo>
                    <a:pt x="660438" y="286943"/>
                  </a:lnTo>
                  <a:lnTo>
                    <a:pt x="660438" y="317690"/>
                  </a:lnTo>
                  <a:lnTo>
                    <a:pt x="30721" y="317690"/>
                  </a:lnTo>
                  <a:lnTo>
                    <a:pt x="30721" y="0"/>
                  </a:lnTo>
                  <a:lnTo>
                    <a:pt x="0" y="0"/>
                  </a:lnTo>
                  <a:lnTo>
                    <a:pt x="0" y="1899285"/>
                  </a:lnTo>
                  <a:lnTo>
                    <a:pt x="6883" y="1906168"/>
                  </a:lnTo>
                  <a:lnTo>
                    <a:pt x="660438" y="1906168"/>
                  </a:lnTo>
                  <a:lnTo>
                    <a:pt x="660438" y="1936902"/>
                  </a:lnTo>
                  <a:lnTo>
                    <a:pt x="721880" y="1906168"/>
                  </a:lnTo>
                  <a:lnTo>
                    <a:pt x="752602" y="1890788"/>
                  </a:lnTo>
                  <a:lnTo>
                    <a:pt x="721880" y="1875421"/>
                  </a:lnTo>
                  <a:lnTo>
                    <a:pt x="660438" y="1844675"/>
                  </a:lnTo>
                  <a:lnTo>
                    <a:pt x="660438" y="1875421"/>
                  </a:lnTo>
                  <a:lnTo>
                    <a:pt x="30721" y="1875421"/>
                  </a:lnTo>
                  <a:lnTo>
                    <a:pt x="30721" y="348437"/>
                  </a:lnTo>
                  <a:lnTo>
                    <a:pt x="660438" y="348437"/>
                  </a:lnTo>
                  <a:lnTo>
                    <a:pt x="660438" y="379183"/>
                  </a:lnTo>
                  <a:lnTo>
                    <a:pt x="721880" y="348437"/>
                  </a:lnTo>
                  <a:lnTo>
                    <a:pt x="752602" y="333070"/>
                  </a:lnTo>
                  <a:close/>
                </a:path>
                <a:path w="2855595" h="1937385">
                  <a:moveTo>
                    <a:pt x="2855087" y="261327"/>
                  </a:moveTo>
                  <a:lnTo>
                    <a:pt x="2824365" y="245960"/>
                  </a:lnTo>
                  <a:lnTo>
                    <a:pt x="2762923" y="215214"/>
                  </a:lnTo>
                  <a:lnTo>
                    <a:pt x="2762923" y="245960"/>
                  </a:lnTo>
                  <a:lnTo>
                    <a:pt x="1380617" y="245960"/>
                  </a:lnTo>
                  <a:lnTo>
                    <a:pt x="1380617" y="276707"/>
                  </a:lnTo>
                  <a:lnTo>
                    <a:pt x="2762923" y="276707"/>
                  </a:lnTo>
                  <a:lnTo>
                    <a:pt x="2762923" y="307441"/>
                  </a:lnTo>
                  <a:lnTo>
                    <a:pt x="2824365" y="276707"/>
                  </a:lnTo>
                  <a:lnTo>
                    <a:pt x="2855087" y="261327"/>
                  </a:lnTo>
                  <a:close/>
                </a:path>
              </a:pathLst>
            </a:custGeom>
            <a:solidFill>
              <a:srgbClr val="000000"/>
            </a:solidFill>
          </p:spPr>
          <p:txBody>
            <a:bodyPr wrap="square" lIns="0" tIns="0" rIns="0" bIns="0" rtlCol="0"/>
            <a:lstStyle/>
            <a:p>
              <a:endParaRPr sz="1588"/>
            </a:p>
          </p:txBody>
        </p:sp>
        <p:sp>
          <p:nvSpPr>
            <p:cNvPr id="49" name="object 49"/>
            <p:cNvSpPr/>
            <p:nvPr/>
          </p:nvSpPr>
          <p:spPr>
            <a:xfrm>
              <a:off x="4394358" y="3314490"/>
              <a:ext cx="436880" cy="318135"/>
            </a:xfrm>
            <a:custGeom>
              <a:avLst/>
              <a:gdLst/>
              <a:ahLst/>
              <a:cxnLst/>
              <a:rect l="l" t="t" r="r" b="b"/>
              <a:pathLst>
                <a:path w="436879" h="318135">
                  <a:moveTo>
                    <a:pt x="436880" y="0"/>
                  </a:moveTo>
                  <a:lnTo>
                    <a:pt x="0" y="0"/>
                  </a:lnTo>
                  <a:lnTo>
                    <a:pt x="0" y="317694"/>
                  </a:lnTo>
                  <a:lnTo>
                    <a:pt x="436880" y="317694"/>
                  </a:lnTo>
                  <a:lnTo>
                    <a:pt x="436880" y="0"/>
                  </a:lnTo>
                  <a:close/>
                </a:path>
              </a:pathLst>
            </a:custGeom>
            <a:solidFill>
              <a:srgbClr val="FC0128"/>
            </a:solidFill>
          </p:spPr>
          <p:txBody>
            <a:bodyPr wrap="square" lIns="0" tIns="0" rIns="0" bIns="0" rtlCol="0"/>
            <a:lstStyle/>
            <a:p>
              <a:endParaRPr sz="1588"/>
            </a:p>
          </p:txBody>
        </p:sp>
        <p:sp>
          <p:nvSpPr>
            <p:cNvPr id="50" name="object 50"/>
            <p:cNvSpPr/>
            <p:nvPr/>
          </p:nvSpPr>
          <p:spPr>
            <a:xfrm>
              <a:off x="4394358" y="3314490"/>
              <a:ext cx="436880" cy="318135"/>
            </a:xfrm>
            <a:custGeom>
              <a:avLst/>
              <a:gdLst/>
              <a:ahLst/>
              <a:cxnLst/>
              <a:rect l="l" t="t" r="r" b="b"/>
              <a:pathLst>
                <a:path w="436879" h="318135">
                  <a:moveTo>
                    <a:pt x="0" y="0"/>
                  </a:moveTo>
                  <a:lnTo>
                    <a:pt x="436879" y="0"/>
                  </a:lnTo>
                  <a:lnTo>
                    <a:pt x="436879" y="317694"/>
                  </a:lnTo>
                  <a:lnTo>
                    <a:pt x="0" y="317694"/>
                  </a:lnTo>
                  <a:lnTo>
                    <a:pt x="0" y="0"/>
                  </a:lnTo>
                  <a:close/>
                </a:path>
              </a:pathLst>
            </a:custGeom>
            <a:ln w="30735">
              <a:solidFill>
                <a:srgbClr val="000000"/>
              </a:solidFill>
            </a:ln>
          </p:spPr>
          <p:txBody>
            <a:bodyPr wrap="square" lIns="0" tIns="0" rIns="0" bIns="0" rtlCol="0"/>
            <a:lstStyle/>
            <a:p>
              <a:endParaRPr sz="1588"/>
            </a:p>
          </p:txBody>
        </p:sp>
      </p:grpSp>
      <p:sp>
        <p:nvSpPr>
          <p:cNvPr id="51" name="object 51"/>
          <p:cNvSpPr txBox="1"/>
          <p:nvPr/>
        </p:nvSpPr>
        <p:spPr>
          <a:xfrm>
            <a:off x="4023980" y="2958675"/>
            <a:ext cx="361390" cy="187839"/>
          </a:xfrm>
          <a:prstGeom prst="rect">
            <a:avLst/>
          </a:prstGeom>
        </p:spPr>
        <p:txBody>
          <a:bodyPr vert="horz" wrap="square" lIns="0" tIns="11206" rIns="0" bIns="0" rtlCol="0">
            <a:spAutoFit/>
          </a:bodyPr>
          <a:lstStyle/>
          <a:p>
            <a:pPr marL="11206">
              <a:spcBef>
                <a:spcPts val="88"/>
              </a:spcBef>
            </a:pPr>
            <a:r>
              <a:rPr sz="1147" spc="-9" dirty="0">
                <a:latin typeface="Times New Roman"/>
                <a:cs typeface="Times New Roman"/>
              </a:rPr>
              <a:t>Zero?</a:t>
            </a:r>
            <a:endParaRPr sz="1147">
              <a:latin typeface="Times New Roman"/>
              <a:cs typeface="Times New Roman"/>
            </a:endParaRPr>
          </a:p>
        </p:txBody>
      </p:sp>
      <p:grpSp>
        <p:nvGrpSpPr>
          <p:cNvPr id="52" name="object 52"/>
          <p:cNvGrpSpPr/>
          <p:nvPr/>
        </p:nvGrpSpPr>
        <p:grpSpPr>
          <a:xfrm>
            <a:off x="679519" y="2091131"/>
            <a:ext cx="7905750" cy="3861547"/>
            <a:chOff x="617721" y="2369948"/>
            <a:chExt cx="8959850" cy="4376420"/>
          </a:xfrm>
        </p:grpSpPr>
        <p:pic>
          <p:nvPicPr>
            <p:cNvPr id="53" name="object 53"/>
            <p:cNvPicPr/>
            <p:nvPr/>
          </p:nvPicPr>
          <p:blipFill>
            <a:blip r:embed="rId3" cstate="print"/>
            <a:stretch>
              <a:fillRect/>
            </a:stretch>
          </p:blipFill>
          <p:spPr>
            <a:xfrm>
              <a:off x="6039485" y="4716786"/>
              <a:ext cx="245744" cy="92233"/>
            </a:xfrm>
            <a:prstGeom prst="rect">
              <a:avLst/>
            </a:prstGeom>
          </p:spPr>
        </p:pic>
        <p:sp>
          <p:nvSpPr>
            <p:cNvPr id="54" name="object 54"/>
            <p:cNvSpPr/>
            <p:nvPr/>
          </p:nvSpPr>
          <p:spPr>
            <a:xfrm>
              <a:off x="617721" y="2369948"/>
              <a:ext cx="4263390" cy="2012314"/>
            </a:xfrm>
            <a:custGeom>
              <a:avLst/>
              <a:gdLst/>
              <a:ahLst/>
              <a:cxnLst/>
              <a:rect l="l" t="t" r="r" b="b"/>
              <a:pathLst>
                <a:path w="4263390" h="2012314">
                  <a:moveTo>
                    <a:pt x="215041" y="1919828"/>
                  </a:moveTo>
                  <a:lnTo>
                    <a:pt x="215041" y="2012062"/>
                  </a:lnTo>
                  <a:lnTo>
                    <a:pt x="276477" y="1981318"/>
                  </a:lnTo>
                  <a:lnTo>
                    <a:pt x="230400" y="1981318"/>
                  </a:lnTo>
                  <a:lnTo>
                    <a:pt x="230400" y="1950573"/>
                  </a:lnTo>
                  <a:lnTo>
                    <a:pt x="276478" y="1950573"/>
                  </a:lnTo>
                  <a:lnTo>
                    <a:pt x="215041" y="1919828"/>
                  </a:lnTo>
                  <a:close/>
                </a:path>
                <a:path w="4263390" h="2012314">
                  <a:moveTo>
                    <a:pt x="4251716" y="0"/>
                  </a:moveTo>
                  <a:lnTo>
                    <a:pt x="6865" y="6846"/>
                  </a:lnTo>
                  <a:lnTo>
                    <a:pt x="0" y="13741"/>
                  </a:lnTo>
                  <a:lnTo>
                    <a:pt x="3347" y="1919828"/>
                  </a:lnTo>
                  <a:lnTo>
                    <a:pt x="3442" y="1974452"/>
                  </a:lnTo>
                  <a:lnTo>
                    <a:pt x="10315" y="1981318"/>
                  </a:lnTo>
                  <a:lnTo>
                    <a:pt x="215041" y="1981318"/>
                  </a:lnTo>
                  <a:lnTo>
                    <a:pt x="215041" y="1965946"/>
                  </a:lnTo>
                  <a:lnTo>
                    <a:pt x="34172" y="1965946"/>
                  </a:lnTo>
                  <a:lnTo>
                    <a:pt x="18787" y="1950573"/>
                  </a:lnTo>
                  <a:lnTo>
                    <a:pt x="34119" y="1950573"/>
                  </a:lnTo>
                  <a:lnTo>
                    <a:pt x="30760" y="37576"/>
                  </a:lnTo>
                  <a:lnTo>
                    <a:pt x="15398" y="37576"/>
                  </a:lnTo>
                  <a:lnTo>
                    <a:pt x="30678" y="22232"/>
                  </a:lnTo>
                  <a:lnTo>
                    <a:pt x="4232289" y="22232"/>
                  </a:lnTo>
                  <a:lnTo>
                    <a:pt x="4232289" y="15373"/>
                  </a:lnTo>
                  <a:lnTo>
                    <a:pt x="4263008" y="15373"/>
                  </a:lnTo>
                  <a:lnTo>
                    <a:pt x="4263008" y="11291"/>
                  </a:lnTo>
                  <a:lnTo>
                    <a:pt x="4261386" y="7377"/>
                  </a:lnTo>
                  <a:lnTo>
                    <a:pt x="4255614" y="1610"/>
                  </a:lnTo>
                  <a:lnTo>
                    <a:pt x="4251716" y="0"/>
                  </a:lnTo>
                  <a:close/>
                </a:path>
                <a:path w="4263390" h="2012314">
                  <a:moveTo>
                    <a:pt x="276478" y="1950573"/>
                  </a:moveTo>
                  <a:lnTo>
                    <a:pt x="230400" y="1950573"/>
                  </a:lnTo>
                  <a:lnTo>
                    <a:pt x="230400" y="1981318"/>
                  </a:lnTo>
                  <a:lnTo>
                    <a:pt x="276477" y="1981318"/>
                  </a:lnTo>
                  <a:lnTo>
                    <a:pt x="307196" y="1965946"/>
                  </a:lnTo>
                  <a:lnTo>
                    <a:pt x="276478" y="1950573"/>
                  </a:lnTo>
                  <a:close/>
                </a:path>
                <a:path w="4263390" h="2012314">
                  <a:moveTo>
                    <a:pt x="34119" y="1950573"/>
                  </a:moveTo>
                  <a:lnTo>
                    <a:pt x="18787" y="1950573"/>
                  </a:lnTo>
                  <a:lnTo>
                    <a:pt x="34172" y="1965946"/>
                  </a:lnTo>
                  <a:lnTo>
                    <a:pt x="34119" y="1950573"/>
                  </a:lnTo>
                  <a:close/>
                </a:path>
                <a:path w="4263390" h="2012314">
                  <a:moveTo>
                    <a:pt x="215041" y="1950573"/>
                  </a:moveTo>
                  <a:lnTo>
                    <a:pt x="34119" y="1950573"/>
                  </a:lnTo>
                  <a:lnTo>
                    <a:pt x="34146" y="1965946"/>
                  </a:lnTo>
                  <a:lnTo>
                    <a:pt x="215041" y="1965946"/>
                  </a:lnTo>
                  <a:lnTo>
                    <a:pt x="215041" y="1950573"/>
                  </a:lnTo>
                  <a:close/>
                </a:path>
                <a:path w="4263390" h="2012314">
                  <a:moveTo>
                    <a:pt x="4232289" y="491914"/>
                  </a:moveTo>
                  <a:lnTo>
                    <a:pt x="3827833" y="491914"/>
                  </a:lnTo>
                  <a:lnTo>
                    <a:pt x="3827833" y="522658"/>
                  </a:lnTo>
                  <a:lnTo>
                    <a:pt x="4256131" y="522658"/>
                  </a:lnTo>
                  <a:lnTo>
                    <a:pt x="4263008" y="515776"/>
                  </a:lnTo>
                  <a:lnTo>
                    <a:pt x="4263008" y="507286"/>
                  </a:lnTo>
                  <a:lnTo>
                    <a:pt x="4232289" y="507286"/>
                  </a:lnTo>
                  <a:lnTo>
                    <a:pt x="4232289" y="491914"/>
                  </a:lnTo>
                  <a:close/>
                </a:path>
                <a:path w="4263390" h="2012314">
                  <a:moveTo>
                    <a:pt x="4232289" y="15373"/>
                  </a:moveTo>
                  <a:lnTo>
                    <a:pt x="4232289" y="507286"/>
                  </a:lnTo>
                  <a:lnTo>
                    <a:pt x="4247648" y="491914"/>
                  </a:lnTo>
                  <a:lnTo>
                    <a:pt x="4263008" y="491914"/>
                  </a:lnTo>
                  <a:lnTo>
                    <a:pt x="4263008" y="30770"/>
                  </a:lnTo>
                  <a:lnTo>
                    <a:pt x="4247697" y="30770"/>
                  </a:lnTo>
                  <a:lnTo>
                    <a:pt x="4232289" y="15373"/>
                  </a:lnTo>
                  <a:close/>
                </a:path>
                <a:path w="4263390" h="2012314">
                  <a:moveTo>
                    <a:pt x="4263008" y="491914"/>
                  </a:moveTo>
                  <a:lnTo>
                    <a:pt x="4247648" y="491914"/>
                  </a:lnTo>
                  <a:lnTo>
                    <a:pt x="4232289" y="507286"/>
                  </a:lnTo>
                  <a:lnTo>
                    <a:pt x="4263008" y="507286"/>
                  </a:lnTo>
                  <a:lnTo>
                    <a:pt x="4263008" y="491914"/>
                  </a:lnTo>
                  <a:close/>
                </a:path>
                <a:path w="4263390" h="2012314">
                  <a:moveTo>
                    <a:pt x="30733" y="22232"/>
                  </a:moveTo>
                  <a:lnTo>
                    <a:pt x="15398" y="37576"/>
                  </a:lnTo>
                  <a:lnTo>
                    <a:pt x="30760" y="37576"/>
                  </a:lnTo>
                  <a:lnTo>
                    <a:pt x="30733" y="22232"/>
                  </a:lnTo>
                  <a:close/>
                </a:path>
                <a:path w="4263390" h="2012314">
                  <a:moveTo>
                    <a:pt x="4232289" y="22232"/>
                  </a:moveTo>
                  <a:lnTo>
                    <a:pt x="30733" y="22232"/>
                  </a:lnTo>
                  <a:lnTo>
                    <a:pt x="30760" y="37576"/>
                  </a:lnTo>
                  <a:lnTo>
                    <a:pt x="15398" y="37576"/>
                  </a:lnTo>
                  <a:lnTo>
                    <a:pt x="4232289" y="30770"/>
                  </a:lnTo>
                  <a:lnTo>
                    <a:pt x="4232289" y="22232"/>
                  </a:lnTo>
                  <a:close/>
                </a:path>
                <a:path w="4263390" h="2012314">
                  <a:moveTo>
                    <a:pt x="4263008" y="15373"/>
                  </a:moveTo>
                  <a:lnTo>
                    <a:pt x="4232289" y="15373"/>
                  </a:lnTo>
                  <a:lnTo>
                    <a:pt x="4247697" y="30770"/>
                  </a:lnTo>
                  <a:lnTo>
                    <a:pt x="4263008" y="30770"/>
                  </a:lnTo>
                  <a:lnTo>
                    <a:pt x="4263008" y="15373"/>
                  </a:lnTo>
                  <a:close/>
                </a:path>
              </a:pathLst>
            </a:custGeom>
            <a:solidFill>
              <a:srgbClr val="FF0000"/>
            </a:solidFill>
          </p:spPr>
          <p:txBody>
            <a:bodyPr wrap="square" lIns="0" tIns="0" rIns="0" bIns="0" rtlCol="0"/>
            <a:lstStyle/>
            <a:p>
              <a:endParaRPr sz="1588"/>
            </a:p>
          </p:txBody>
        </p:sp>
        <p:sp>
          <p:nvSpPr>
            <p:cNvPr id="55" name="object 55"/>
            <p:cNvSpPr/>
            <p:nvPr/>
          </p:nvSpPr>
          <p:spPr>
            <a:xfrm>
              <a:off x="1288415" y="4306862"/>
              <a:ext cx="6471285" cy="420370"/>
            </a:xfrm>
            <a:custGeom>
              <a:avLst/>
              <a:gdLst/>
              <a:ahLst/>
              <a:cxnLst/>
              <a:rect l="l" t="t" r="r" b="b"/>
              <a:pathLst>
                <a:path w="6471284" h="420370">
                  <a:moveTo>
                    <a:pt x="491490" y="46113"/>
                  </a:moveTo>
                  <a:lnTo>
                    <a:pt x="460768" y="30746"/>
                  </a:lnTo>
                  <a:lnTo>
                    <a:pt x="399326" y="0"/>
                  </a:lnTo>
                  <a:lnTo>
                    <a:pt x="399326" y="30746"/>
                  </a:lnTo>
                  <a:lnTo>
                    <a:pt x="0" y="30746"/>
                  </a:lnTo>
                  <a:lnTo>
                    <a:pt x="0" y="61493"/>
                  </a:lnTo>
                  <a:lnTo>
                    <a:pt x="399326" y="61493"/>
                  </a:lnTo>
                  <a:lnTo>
                    <a:pt x="399326" y="92240"/>
                  </a:lnTo>
                  <a:lnTo>
                    <a:pt x="460768" y="61493"/>
                  </a:lnTo>
                  <a:lnTo>
                    <a:pt x="491490" y="46113"/>
                  </a:lnTo>
                  <a:close/>
                </a:path>
                <a:path w="6471284" h="420370">
                  <a:moveTo>
                    <a:pt x="4505325" y="374065"/>
                  </a:moveTo>
                  <a:lnTo>
                    <a:pt x="4474603" y="358686"/>
                  </a:lnTo>
                  <a:lnTo>
                    <a:pt x="4413161" y="327939"/>
                  </a:lnTo>
                  <a:lnTo>
                    <a:pt x="4413161" y="358686"/>
                  </a:lnTo>
                  <a:lnTo>
                    <a:pt x="3604260" y="358686"/>
                  </a:lnTo>
                  <a:lnTo>
                    <a:pt x="3604260" y="389432"/>
                  </a:lnTo>
                  <a:lnTo>
                    <a:pt x="4413161" y="389432"/>
                  </a:lnTo>
                  <a:lnTo>
                    <a:pt x="4413161" y="420179"/>
                  </a:lnTo>
                  <a:lnTo>
                    <a:pt x="4474603" y="389432"/>
                  </a:lnTo>
                  <a:lnTo>
                    <a:pt x="4505325" y="374065"/>
                  </a:lnTo>
                  <a:close/>
                </a:path>
                <a:path w="6471284" h="420370">
                  <a:moveTo>
                    <a:pt x="6471285" y="128104"/>
                  </a:moveTo>
                  <a:lnTo>
                    <a:pt x="6440564" y="112737"/>
                  </a:lnTo>
                  <a:lnTo>
                    <a:pt x="6379121" y="81991"/>
                  </a:lnTo>
                  <a:lnTo>
                    <a:pt x="6379121" y="112737"/>
                  </a:lnTo>
                  <a:lnTo>
                    <a:pt x="5488305" y="112737"/>
                  </a:lnTo>
                  <a:lnTo>
                    <a:pt x="5488305" y="143484"/>
                  </a:lnTo>
                  <a:lnTo>
                    <a:pt x="6379121" y="143484"/>
                  </a:lnTo>
                  <a:lnTo>
                    <a:pt x="6379121" y="174218"/>
                  </a:lnTo>
                  <a:lnTo>
                    <a:pt x="6440564" y="143484"/>
                  </a:lnTo>
                  <a:lnTo>
                    <a:pt x="6471285" y="128104"/>
                  </a:lnTo>
                  <a:close/>
                </a:path>
              </a:pathLst>
            </a:custGeom>
            <a:solidFill>
              <a:srgbClr val="000000"/>
            </a:solidFill>
          </p:spPr>
          <p:txBody>
            <a:bodyPr wrap="square" lIns="0" tIns="0" rIns="0" bIns="0" rtlCol="0"/>
            <a:lstStyle/>
            <a:p>
              <a:endParaRPr sz="1588"/>
            </a:p>
          </p:txBody>
        </p:sp>
        <p:pic>
          <p:nvPicPr>
            <p:cNvPr id="56" name="object 56"/>
            <p:cNvPicPr/>
            <p:nvPr/>
          </p:nvPicPr>
          <p:blipFill>
            <a:blip r:embed="rId4" cstate="print"/>
            <a:stretch>
              <a:fillRect/>
            </a:stretch>
          </p:blipFill>
          <p:spPr>
            <a:xfrm>
              <a:off x="1779905" y="3487002"/>
              <a:ext cx="245744" cy="92233"/>
            </a:xfrm>
            <a:prstGeom prst="rect">
              <a:avLst/>
            </a:prstGeom>
          </p:spPr>
        </p:pic>
        <p:sp>
          <p:nvSpPr>
            <p:cNvPr id="57" name="object 57"/>
            <p:cNvSpPr/>
            <p:nvPr/>
          </p:nvSpPr>
          <p:spPr>
            <a:xfrm>
              <a:off x="1436878" y="2831121"/>
              <a:ext cx="8140700" cy="3915410"/>
            </a:xfrm>
            <a:custGeom>
              <a:avLst/>
              <a:gdLst/>
              <a:ahLst/>
              <a:cxnLst/>
              <a:rect l="l" t="t" r="r" b="b"/>
              <a:pathLst>
                <a:path w="8140700" h="3915409">
                  <a:moveTo>
                    <a:pt x="588772" y="46113"/>
                  </a:moveTo>
                  <a:lnTo>
                    <a:pt x="558050" y="30746"/>
                  </a:lnTo>
                  <a:lnTo>
                    <a:pt x="496608" y="0"/>
                  </a:lnTo>
                  <a:lnTo>
                    <a:pt x="496608" y="30746"/>
                  </a:lnTo>
                  <a:lnTo>
                    <a:pt x="6883" y="30746"/>
                  </a:lnTo>
                  <a:lnTo>
                    <a:pt x="0" y="37630"/>
                  </a:lnTo>
                  <a:lnTo>
                    <a:pt x="0" y="1521853"/>
                  </a:lnTo>
                  <a:lnTo>
                    <a:pt x="30721" y="1521853"/>
                  </a:lnTo>
                  <a:lnTo>
                    <a:pt x="30721" y="61493"/>
                  </a:lnTo>
                  <a:lnTo>
                    <a:pt x="496608" y="61493"/>
                  </a:lnTo>
                  <a:lnTo>
                    <a:pt x="496608" y="92240"/>
                  </a:lnTo>
                  <a:lnTo>
                    <a:pt x="558050" y="61493"/>
                  </a:lnTo>
                  <a:lnTo>
                    <a:pt x="588772" y="46113"/>
                  </a:lnTo>
                  <a:close/>
                </a:path>
                <a:path w="8140700" h="3915409">
                  <a:moveTo>
                    <a:pt x="7633462" y="2423693"/>
                  </a:moveTo>
                  <a:lnTo>
                    <a:pt x="7602741" y="2408326"/>
                  </a:lnTo>
                  <a:lnTo>
                    <a:pt x="7541298" y="2377579"/>
                  </a:lnTo>
                  <a:lnTo>
                    <a:pt x="7541298" y="2408326"/>
                  </a:lnTo>
                  <a:lnTo>
                    <a:pt x="7377036" y="2408326"/>
                  </a:lnTo>
                  <a:lnTo>
                    <a:pt x="7370153" y="2415209"/>
                  </a:lnTo>
                  <a:lnTo>
                    <a:pt x="7370153" y="2818257"/>
                  </a:lnTo>
                  <a:lnTo>
                    <a:pt x="5913247" y="2818257"/>
                  </a:lnTo>
                  <a:lnTo>
                    <a:pt x="5913247" y="2439073"/>
                  </a:lnTo>
                  <a:lnTo>
                    <a:pt x="6230658" y="2439073"/>
                  </a:lnTo>
                  <a:lnTo>
                    <a:pt x="6230658" y="2469819"/>
                  </a:lnTo>
                  <a:lnTo>
                    <a:pt x="6292100" y="2439073"/>
                  </a:lnTo>
                  <a:lnTo>
                    <a:pt x="6322822" y="2423693"/>
                  </a:lnTo>
                  <a:lnTo>
                    <a:pt x="6292100" y="2408326"/>
                  </a:lnTo>
                  <a:lnTo>
                    <a:pt x="6230658" y="2377579"/>
                  </a:lnTo>
                  <a:lnTo>
                    <a:pt x="6230658" y="2408326"/>
                  </a:lnTo>
                  <a:lnTo>
                    <a:pt x="5913247" y="2408326"/>
                  </a:lnTo>
                  <a:lnTo>
                    <a:pt x="5913247" y="1603844"/>
                  </a:lnTo>
                  <a:lnTo>
                    <a:pt x="5882525" y="1603844"/>
                  </a:lnTo>
                  <a:lnTo>
                    <a:pt x="5882525" y="2408326"/>
                  </a:lnTo>
                  <a:lnTo>
                    <a:pt x="4099166" y="2408326"/>
                  </a:lnTo>
                  <a:lnTo>
                    <a:pt x="4099166" y="1849805"/>
                  </a:lnTo>
                  <a:lnTo>
                    <a:pt x="4068445" y="1849805"/>
                  </a:lnTo>
                  <a:lnTo>
                    <a:pt x="4068445" y="2432189"/>
                  </a:lnTo>
                  <a:lnTo>
                    <a:pt x="4075328" y="2439073"/>
                  </a:lnTo>
                  <a:lnTo>
                    <a:pt x="5882525" y="2439073"/>
                  </a:lnTo>
                  <a:lnTo>
                    <a:pt x="5882525" y="2842120"/>
                  </a:lnTo>
                  <a:lnTo>
                    <a:pt x="5889396" y="2849003"/>
                  </a:lnTo>
                  <a:lnTo>
                    <a:pt x="7394003" y="2849003"/>
                  </a:lnTo>
                  <a:lnTo>
                    <a:pt x="7400874" y="2842120"/>
                  </a:lnTo>
                  <a:lnTo>
                    <a:pt x="7400874" y="2833624"/>
                  </a:lnTo>
                  <a:lnTo>
                    <a:pt x="7400874" y="2818257"/>
                  </a:lnTo>
                  <a:lnTo>
                    <a:pt x="7400874" y="2439073"/>
                  </a:lnTo>
                  <a:lnTo>
                    <a:pt x="7541298" y="2439073"/>
                  </a:lnTo>
                  <a:lnTo>
                    <a:pt x="7541298" y="2469819"/>
                  </a:lnTo>
                  <a:lnTo>
                    <a:pt x="7602741" y="2439073"/>
                  </a:lnTo>
                  <a:lnTo>
                    <a:pt x="7633462" y="2423693"/>
                  </a:lnTo>
                  <a:close/>
                </a:path>
                <a:path w="8140700" h="3915409">
                  <a:moveTo>
                    <a:pt x="8140306" y="2169249"/>
                  </a:moveTo>
                  <a:lnTo>
                    <a:pt x="8133423" y="2162365"/>
                  </a:lnTo>
                  <a:lnTo>
                    <a:pt x="7875638" y="2162365"/>
                  </a:lnTo>
                  <a:lnTo>
                    <a:pt x="7875638" y="2193112"/>
                  </a:lnTo>
                  <a:lnTo>
                    <a:pt x="8109585" y="2193112"/>
                  </a:lnTo>
                  <a:lnTo>
                    <a:pt x="8109585" y="3884066"/>
                  </a:lnTo>
                  <a:lnTo>
                    <a:pt x="2406256" y="3884066"/>
                  </a:lnTo>
                  <a:lnTo>
                    <a:pt x="2406256" y="3668852"/>
                  </a:lnTo>
                  <a:lnTo>
                    <a:pt x="7887678" y="3668852"/>
                  </a:lnTo>
                  <a:lnTo>
                    <a:pt x="7894561" y="3661968"/>
                  </a:lnTo>
                  <a:lnTo>
                    <a:pt x="7894561" y="3251466"/>
                  </a:lnTo>
                  <a:lnTo>
                    <a:pt x="7887678" y="3244583"/>
                  </a:lnTo>
                  <a:lnTo>
                    <a:pt x="7387717" y="3244583"/>
                  </a:lnTo>
                  <a:lnTo>
                    <a:pt x="7387717" y="3275330"/>
                  </a:lnTo>
                  <a:lnTo>
                    <a:pt x="7863840" y="3275330"/>
                  </a:lnTo>
                  <a:lnTo>
                    <a:pt x="7863840" y="3638105"/>
                  </a:lnTo>
                  <a:lnTo>
                    <a:pt x="2406256" y="3638105"/>
                  </a:lnTo>
                  <a:lnTo>
                    <a:pt x="2406256" y="1947164"/>
                  </a:lnTo>
                  <a:lnTo>
                    <a:pt x="2714256" y="1947164"/>
                  </a:lnTo>
                  <a:lnTo>
                    <a:pt x="2714256" y="1977898"/>
                  </a:lnTo>
                  <a:lnTo>
                    <a:pt x="2775686" y="1947164"/>
                  </a:lnTo>
                  <a:lnTo>
                    <a:pt x="2806408" y="1931784"/>
                  </a:lnTo>
                  <a:lnTo>
                    <a:pt x="2775686" y="1916417"/>
                  </a:lnTo>
                  <a:lnTo>
                    <a:pt x="2714256" y="1885670"/>
                  </a:lnTo>
                  <a:lnTo>
                    <a:pt x="2714256" y="1916417"/>
                  </a:lnTo>
                  <a:lnTo>
                    <a:pt x="2382418" y="1916417"/>
                  </a:lnTo>
                  <a:lnTo>
                    <a:pt x="2375535" y="1923300"/>
                  </a:lnTo>
                  <a:lnTo>
                    <a:pt x="2375535" y="3638105"/>
                  </a:lnTo>
                  <a:lnTo>
                    <a:pt x="2242426" y="3638105"/>
                  </a:lnTo>
                  <a:lnTo>
                    <a:pt x="2242426" y="1701203"/>
                  </a:lnTo>
                  <a:lnTo>
                    <a:pt x="2708313" y="1701203"/>
                  </a:lnTo>
                  <a:lnTo>
                    <a:pt x="2708313" y="1731949"/>
                  </a:lnTo>
                  <a:lnTo>
                    <a:pt x="2769755" y="1701203"/>
                  </a:lnTo>
                  <a:lnTo>
                    <a:pt x="2800477" y="1685836"/>
                  </a:lnTo>
                  <a:lnTo>
                    <a:pt x="2769755" y="1670456"/>
                  </a:lnTo>
                  <a:lnTo>
                    <a:pt x="2708313" y="1639709"/>
                  </a:lnTo>
                  <a:lnTo>
                    <a:pt x="2708313" y="1670456"/>
                  </a:lnTo>
                  <a:lnTo>
                    <a:pt x="2218588" y="1670456"/>
                  </a:lnTo>
                  <a:lnTo>
                    <a:pt x="2211705" y="1677339"/>
                  </a:lnTo>
                  <a:lnTo>
                    <a:pt x="2211705" y="3661968"/>
                  </a:lnTo>
                  <a:lnTo>
                    <a:pt x="2218588" y="3668852"/>
                  </a:lnTo>
                  <a:lnTo>
                    <a:pt x="2375535" y="3668852"/>
                  </a:lnTo>
                  <a:lnTo>
                    <a:pt x="2375535" y="3907929"/>
                  </a:lnTo>
                  <a:lnTo>
                    <a:pt x="2382418" y="3914813"/>
                  </a:lnTo>
                  <a:lnTo>
                    <a:pt x="8133423" y="3914813"/>
                  </a:lnTo>
                  <a:lnTo>
                    <a:pt x="8140306" y="3907929"/>
                  </a:lnTo>
                  <a:lnTo>
                    <a:pt x="8140306" y="3899433"/>
                  </a:lnTo>
                  <a:lnTo>
                    <a:pt x="8140306" y="3884066"/>
                  </a:lnTo>
                  <a:lnTo>
                    <a:pt x="8140306" y="2193112"/>
                  </a:lnTo>
                  <a:lnTo>
                    <a:pt x="8140306" y="2177745"/>
                  </a:lnTo>
                  <a:lnTo>
                    <a:pt x="8140306" y="2169249"/>
                  </a:lnTo>
                  <a:close/>
                </a:path>
              </a:pathLst>
            </a:custGeom>
            <a:solidFill>
              <a:srgbClr val="000000"/>
            </a:solidFill>
          </p:spPr>
          <p:txBody>
            <a:bodyPr wrap="square" lIns="0" tIns="0" rIns="0" bIns="0" rtlCol="0"/>
            <a:lstStyle/>
            <a:p>
              <a:endParaRPr sz="1588"/>
            </a:p>
          </p:txBody>
        </p:sp>
        <p:sp>
          <p:nvSpPr>
            <p:cNvPr id="58" name="object 58"/>
            <p:cNvSpPr/>
            <p:nvPr/>
          </p:nvSpPr>
          <p:spPr>
            <a:xfrm>
              <a:off x="8498641" y="2467306"/>
              <a:ext cx="327660" cy="3920490"/>
            </a:xfrm>
            <a:custGeom>
              <a:avLst/>
              <a:gdLst/>
              <a:ahLst/>
              <a:cxnLst/>
              <a:rect l="l" t="t" r="r" b="b"/>
              <a:pathLst>
                <a:path w="327659" h="3920490">
                  <a:moveTo>
                    <a:pt x="327660" y="0"/>
                  </a:moveTo>
                  <a:lnTo>
                    <a:pt x="0" y="0"/>
                  </a:lnTo>
                  <a:lnTo>
                    <a:pt x="0" y="3919935"/>
                  </a:lnTo>
                  <a:lnTo>
                    <a:pt x="327660" y="3919935"/>
                  </a:lnTo>
                  <a:lnTo>
                    <a:pt x="327660" y="0"/>
                  </a:lnTo>
                  <a:close/>
                </a:path>
              </a:pathLst>
            </a:custGeom>
            <a:solidFill>
              <a:srgbClr val="07F707"/>
            </a:solidFill>
          </p:spPr>
          <p:txBody>
            <a:bodyPr wrap="square" lIns="0" tIns="0" rIns="0" bIns="0" rtlCol="0"/>
            <a:lstStyle/>
            <a:p>
              <a:endParaRPr sz="1588"/>
            </a:p>
          </p:txBody>
        </p:sp>
        <p:sp>
          <p:nvSpPr>
            <p:cNvPr id="59" name="object 59"/>
            <p:cNvSpPr/>
            <p:nvPr/>
          </p:nvSpPr>
          <p:spPr>
            <a:xfrm>
              <a:off x="8498641" y="2467306"/>
              <a:ext cx="327660" cy="3920490"/>
            </a:xfrm>
            <a:custGeom>
              <a:avLst/>
              <a:gdLst/>
              <a:ahLst/>
              <a:cxnLst/>
              <a:rect l="l" t="t" r="r" b="b"/>
              <a:pathLst>
                <a:path w="327659"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60" name="object 60"/>
          <p:cNvSpPr txBox="1"/>
          <p:nvPr/>
        </p:nvSpPr>
        <p:spPr>
          <a:xfrm>
            <a:off x="7025557" y="3408381"/>
            <a:ext cx="869469" cy="1239371"/>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MEM/WB</a:t>
            </a:r>
            <a:endParaRPr sz="1677">
              <a:latin typeface="Times New Roman"/>
              <a:cs typeface="Times New Roman"/>
            </a:endParaRPr>
          </a:p>
          <a:p>
            <a:pPr marL="481879" marR="4483" indent="169218">
              <a:lnSpc>
                <a:spcPct val="78700"/>
              </a:lnSpc>
              <a:spcBef>
                <a:spcPts val="1747"/>
              </a:spcBef>
            </a:pPr>
            <a:r>
              <a:rPr sz="1677" spc="-18" dirty="0">
                <a:latin typeface="Times New Roman"/>
                <a:cs typeface="Times New Roman"/>
              </a:rPr>
              <a:t>Data </a:t>
            </a:r>
            <a:r>
              <a:rPr sz="1677" spc="-9" dirty="0">
                <a:latin typeface="Times New Roman"/>
                <a:cs typeface="Times New Roman"/>
              </a:rPr>
              <a:t>Memory</a:t>
            </a:r>
            <a:endParaRPr sz="1677">
              <a:latin typeface="Times New Roman"/>
              <a:cs typeface="Times New Roman"/>
            </a:endParaRPr>
          </a:p>
        </p:txBody>
      </p:sp>
      <p:grpSp>
        <p:nvGrpSpPr>
          <p:cNvPr id="61" name="object 61"/>
          <p:cNvGrpSpPr/>
          <p:nvPr/>
        </p:nvGrpSpPr>
        <p:grpSpPr>
          <a:xfrm>
            <a:off x="6219160" y="2163307"/>
            <a:ext cx="1717301" cy="3486709"/>
            <a:chOff x="6895980" y="2451748"/>
            <a:chExt cx="1946275" cy="3951604"/>
          </a:xfrm>
        </p:grpSpPr>
        <p:sp>
          <p:nvSpPr>
            <p:cNvPr id="62" name="object 62"/>
            <p:cNvSpPr/>
            <p:nvPr/>
          </p:nvSpPr>
          <p:spPr>
            <a:xfrm>
              <a:off x="8498641" y="6059299"/>
              <a:ext cx="327660" cy="328295"/>
            </a:xfrm>
            <a:custGeom>
              <a:avLst/>
              <a:gdLst/>
              <a:ahLst/>
              <a:cxnLst/>
              <a:rect l="l" t="t" r="r" b="b"/>
              <a:pathLst>
                <a:path w="327659"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63" name="object 63"/>
            <p:cNvSpPr/>
            <p:nvPr/>
          </p:nvSpPr>
          <p:spPr>
            <a:xfrm>
              <a:off x="6911538" y="2467306"/>
              <a:ext cx="327660" cy="3920490"/>
            </a:xfrm>
            <a:custGeom>
              <a:avLst/>
              <a:gdLst/>
              <a:ahLst/>
              <a:cxnLst/>
              <a:rect l="l" t="t" r="r" b="b"/>
              <a:pathLst>
                <a:path w="327659" h="3920490">
                  <a:moveTo>
                    <a:pt x="327659" y="0"/>
                  </a:moveTo>
                  <a:lnTo>
                    <a:pt x="0" y="0"/>
                  </a:lnTo>
                  <a:lnTo>
                    <a:pt x="0" y="3919935"/>
                  </a:lnTo>
                  <a:lnTo>
                    <a:pt x="327659" y="3919935"/>
                  </a:lnTo>
                  <a:lnTo>
                    <a:pt x="327659" y="0"/>
                  </a:lnTo>
                  <a:close/>
                </a:path>
              </a:pathLst>
            </a:custGeom>
            <a:solidFill>
              <a:srgbClr val="07F707"/>
            </a:solidFill>
          </p:spPr>
          <p:txBody>
            <a:bodyPr wrap="square" lIns="0" tIns="0" rIns="0" bIns="0" rtlCol="0"/>
            <a:lstStyle/>
            <a:p>
              <a:endParaRPr sz="1588"/>
            </a:p>
          </p:txBody>
        </p:sp>
        <p:sp>
          <p:nvSpPr>
            <p:cNvPr id="64" name="object 64"/>
            <p:cNvSpPr/>
            <p:nvPr/>
          </p:nvSpPr>
          <p:spPr>
            <a:xfrm>
              <a:off x="6911538" y="2467306"/>
              <a:ext cx="327660" cy="3920490"/>
            </a:xfrm>
            <a:custGeom>
              <a:avLst/>
              <a:gdLst/>
              <a:ahLst/>
              <a:cxnLst/>
              <a:rect l="l" t="t" r="r" b="b"/>
              <a:pathLst>
                <a:path w="327659"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65" name="object 65"/>
          <p:cNvSpPr txBox="1"/>
          <p:nvPr/>
        </p:nvSpPr>
        <p:spPr>
          <a:xfrm>
            <a:off x="5878961" y="3440654"/>
            <a:ext cx="615553" cy="938493"/>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EX/MEM</a:t>
            </a:r>
            <a:endParaRPr sz="1677">
              <a:latin typeface="Times New Roman"/>
              <a:cs typeface="Times New Roman"/>
            </a:endParaRPr>
          </a:p>
          <a:p>
            <a:pPr marL="301454">
              <a:spcBef>
                <a:spcPts val="1090"/>
              </a:spcBef>
            </a:pPr>
            <a:r>
              <a:rPr sz="1500" b="1" spc="-22" dirty="0">
                <a:latin typeface="Times New Roman"/>
                <a:cs typeface="Times New Roman"/>
              </a:rPr>
              <a:t>ALU</a:t>
            </a:r>
            <a:endParaRPr sz="1500">
              <a:latin typeface="Times New Roman"/>
              <a:cs typeface="Times New Roman"/>
            </a:endParaRPr>
          </a:p>
        </p:txBody>
      </p:sp>
      <p:grpSp>
        <p:nvGrpSpPr>
          <p:cNvPr id="66" name="object 66"/>
          <p:cNvGrpSpPr/>
          <p:nvPr/>
        </p:nvGrpSpPr>
        <p:grpSpPr>
          <a:xfrm>
            <a:off x="1893953" y="2290066"/>
            <a:ext cx="5737971" cy="3350559"/>
            <a:chOff x="1994080" y="2595408"/>
            <a:chExt cx="6503034" cy="3797300"/>
          </a:xfrm>
        </p:grpSpPr>
        <p:sp>
          <p:nvSpPr>
            <p:cNvPr id="67" name="object 67"/>
            <p:cNvSpPr/>
            <p:nvPr/>
          </p:nvSpPr>
          <p:spPr>
            <a:xfrm>
              <a:off x="6911538" y="6049050"/>
              <a:ext cx="327660" cy="328295"/>
            </a:xfrm>
            <a:custGeom>
              <a:avLst/>
              <a:gdLst/>
              <a:ahLst/>
              <a:cxnLst/>
              <a:rect l="l" t="t" r="r" b="b"/>
              <a:pathLst>
                <a:path w="327659"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68" name="object 68"/>
            <p:cNvSpPr/>
            <p:nvPr/>
          </p:nvSpPr>
          <p:spPr>
            <a:xfrm>
              <a:off x="3484753" y="4809020"/>
              <a:ext cx="5012690" cy="1311910"/>
            </a:xfrm>
            <a:custGeom>
              <a:avLst/>
              <a:gdLst/>
              <a:ahLst/>
              <a:cxnLst/>
              <a:rect l="l" t="t" r="r" b="b"/>
              <a:pathLst>
                <a:path w="5012690" h="1311910">
                  <a:moveTo>
                    <a:pt x="1596339" y="873836"/>
                  </a:moveTo>
                  <a:lnTo>
                    <a:pt x="1549425" y="873836"/>
                  </a:lnTo>
                  <a:lnTo>
                    <a:pt x="1534071" y="873836"/>
                  </a:lnTo>
                  <a:lnTo>
                    <a:pt x="1533791" y="904430"/>
                  </a:lnTo>
                  <a:lnTo>
                    <a:pt x="1596339" y="873836"/>
                  </a:lnTo>
                  <a:close/>
                </a:path>
                <a:path w="5012690" h="1311910">
                  <a:moveTo>
                    <a:pt x="1626362" y="1265656"/>
                  </a:moveTo>
                  <a:lnTo>
                    <a:pt x="1595640" y="1250289"/>
                  </a:lnTo>
                  <a:lnTo>
                    <a:pt x="1534198" y="1219542"/>
                  </a:lnTo>
                  <a:lnTo>
                    <a:pt x="1534198" y="1250289"/>
                  </a:lnTo>
                  <a:lnTo>
                    <a:pt x="30721" y="1250289"/>
                  </a:lnTo>
                  <a:lnTo>
                    <a:pt x="30721" y="855726"/>
                  </a:lnTo>
                  <a:lnTo>
                    <a:pt x="0" y="855726"/>
                  </a:lnTo>
                  <a:lnTo>
                    <a:pt x="0" y="1274140"/>
                  </a:lnTo>
                  <a:lnTo>
                    <a:pt x="6883" y="1281023"/>
                  </a:lnTo>
                  <a:lnTo>
                    <a:pt x="1534198" y="1281023"/>
                  </a:lnTo>
                  <a:lnTo>
                    <a:pt x="1534198" y="1311770"/>
                  </a:lnTo>
                  <a:lnTo>
                    <a:pt x="1595640" y="1281023"/>
                  </a:lnTo>
                  <a:lnTo>
                    <a:pt x="1626362" y="1265656"/>
                  </a:lnTo>
                  <a:close/>
                </a:path>
                <a:path w="5012690" h="1311910">
                  <a:moveTo>
                    <a:pt x="1626362" y="859142"/>
                  </a:moveTo>
                  <a:lnTo>
                    <a:pt x="1534617" y="812203"/>
                  </a:lnTo>
                  <a:lnTo>
                    <a:pt x="1534363" y="840359"/>
                  </a:lnTo>
                  <a:lnTo>
                    <a:pt x="1534337" y="842949"/>
                  </a:lnTo>
                  <a:lnTo>
                    <a:pt x="1244219" y="840359"/>
                  </a:lnTo>
                  <a:lnTo>
                    <a:pt x="1244053" y="859142"/>
                  </a:lnTo>
                  <a:lnTo>
                    <a:pt x="1243952" y="871105"/>
                  </a:lnTo>
                  <a:lnTo>
                    <a:pt x="1534071" y="873696"/>
                  </a:lnTo>
                  <a:lnTo>
                    <a:pt x="1534210" y="857072"/>
                  </a:lnTo>
                  <a:lnTo>
                    <a:pt x="1534198" y="859142"/>
                  </a:lnTo>
                  <a:lnTo>
                    <a:pt x="1534096" y="871105"/>
                  </a:lnTo>
                  <a:lnTo>
                    <a:pt x="1534071" y="873696"/>
                  </a:lnTo>
                  <a:lnTo>
                    <a:pt x="1549425" y="873836"/>
                  </a:lnTo>
                  <a:lnTo>
                    <a:pt x="1549450" y="870127"/>
                  </a:lnTo>
                  <a:lnTo>
                    <a:pt x="1549450" y="871105"/>
                  </a:lnTo>
                  <a:lnTo>
                    <a:pt x="1549425" y="873836"/>
                  </a:lnTo>
                  <a:lnTo>
                    <a:pt x="1596618" y="873696"/>
                  </a:lnTo>
                  <a:lnTo>
                    <a:pt x="1626362" y="859142"/>
                  </a:lnTo>
                  <a:close/>
                </a:path>
                <a:path w="5012690" h="1311910">
                  <a:moveTo>
                    <a:pt x="2308987" y="46126"/>
                  </a:moveTo>
                  <a:lnTo>
                    <a:pt x="2278265" y="30746"/>
                  </a:lnTo>
                  <a:lnTo>
                    <a:pt x="2216823" y="0"/>
                  </a:lnTo>
                  <a:lnTo>
                    <a:pt x="2216823" y="30746"/>
                  </a:lnTo>
                  <a:lnTo>
                    <a:pt x="2089861" y="30746"/>
                  </a:lnTo>
                  <a:lnTo>
                    <a:pt x="2082977" y="37630"/>
                  </a:lnTo>
                  <a:lnTo>
                    <a:pt x="2082977" y="840359"/>
                  </a:lnTo>
                  <a:lnTo>
                    <a:pt x="1817497" y="840359"/>
                  </a:lnTo>
                  <a:lnTo>
                    <a:pt x="1817497" y="871105"/>
                  </a:lnTo>
                  <a:lnTo>
                    <a:pt x="2106828" y="871105"/>
                  </a:lnTo>
                  <a:lnTo>
                    <a:pt x="2113699" y="864222"/>
                  </a:lnTo>
                  <a:lnTo>
                    <a:pt x="2113699" y="855726"/>
                  </a:lnTo>
                  <a:lnTo>
                    <a:pt x="2113699" y="840359"/>
                  </a:lnTo>
                  <a:lnTo>
                    <a:pt x="2113699" y="61493"/>
                  </a:lnTo>
                  <a:lnTo>
                    <a:pt x="2216823" y="61493"/>
                  </a:lnTo>
                  <a:lnTo>
                    <a:pt x="2216823" y="92240"/>
                  </a:lnTo>
                  <a:lnTo>
                    <a:pt x="2278265" y="61493"/>
                  </a:lnTo>
                  <a:lnTo>
                    <a:pt x="2308987" y="46126"/>
                  </a:lnTo>
                  <a:close/>
                </a:path>
                <a:path w="5012690" h="1311910">
                  <a:moveTo>
                    <a:pt x="3373882" y="1265656"/>
                  </a:moveTo>
                  <a:lnTo>
                    <a:pt x="3343160" y="1250289"/>
                  </a:lnTo>
                  <a:lnTo>
                    <a:pt x="3281718" y="1219542"/>
                  </a:lnTo>
                  <a:lnTo>
                    <a:pt x="3281718" y="1250289"/>
                  </a:lnTo>
                  <a:lnTo>
                    <a:pt x="1817497" y="1250289"/>
                  </a:lnTo>
                  <a:lnTo>
                    <a:pt x="1817497" y="1281023"/>
                  </a:lnTo>
                  <a:lnTo>
                    <a:pt x="3281718" y="1281023"/>
                  </a:lnTo>
                  <a:lnTo>
                    <a:pt x="3281718" y="1311770"/>
                  </a:lnTo>
                  <a:lnTo>
                    <a:pt x="3343160" y="1281023"/>
                  </a:lnTo>
                  <a:lnTo>
                    <a:pt x="3373882" y="1265656"/>
                  </a:lnTo>
                  <a:close/>
                </a:path>
                <a:path w="5012690" h="1311910">
                  <a:moveTo>
                    <a:pt x="5012182" y="1265656"/>
                  </a:moveTo>
                  <a:lnTo>
                    <a:pt x="4981460" y="1250289"/>
                  </a:lnTo>
                  <a:lnTo>
                    <a:pt x="4920018" y="1219542"/>
                  </a:lnTo>
                  <a:lnTo>
                    <a:pt x="4920018" y="1250289"/>
                  </a:lnTo>
                  <a:lnTo>
                    <a:pt x="3783457" y="1250289"/>
                  </a:lnTo>
                  <a:lnTo>
                    <a:pt x="3783457" y="1281023"/>
                  </a:lnTo>
                  <a:lnTo>
                    <a:pt x="4920018" y="1281023"/>
                  </a:lnTo>
                  <a:lnTo>
                    <a:pt x="4920018" y="1311770"/>
                  </a:lnTo>
                  <a:lnTo>
                    <a:pt x="4981460" y="1281023"/>
                  </a:lnTo>
                  <a:lnTo>
                    <a:pt x="5012182" y="1265656"/>
                  </a:lnTo>
                  <a:close/>
                </a:path>
              </a:pathLst>
            </a:custGeom>
            <a:solidFill>
              <a:srgbClr val="000000"/>
            </a:solidFill>
          </p:spPr>
          <p:txBody>
            <a:bodyPr wrap="square" lIns="0" tIns="0" rIns="0" bIns="0" rtlCol="0"/>
            <a:lstStyle/>
            <a:p>
              <a:endParaRPr sz="1588"/>
            </a:p>
          </p:txBody>
        </p:sp>
        <p:sp>
          <p:nvSpPr>
            <p:cNvPr id="69" name="object 69"/>
            <p:cNvSpPr/>
            <p:nvPr/>
          </p:nvSpPr>
          <p:spPr>
            <a:xfrm>
              <a:off x="2435225" y="2595408"/>
              <a:ext cx="2046605" cy="625475"/>
            </a:xfrm>
            <a:custGeom>
              <a:avLst/>
              <a:gdLst/>
              <a:ahLst/>
              <a:cxnLst/>
              <a:rect l="l" t="t" r="r" b="b"/>
              <a:pathLst>
                <a:path w="2046604" h="625475">
                  <a:moveTo>
                    <a:pt x="279876" y="594395"/>
                  </a:moveTo>
                  <a:lnTo>
                    <a:pt x="0" y="594395"/>
                  </a:lnTo>
                  <a:lnTo>
                    <a:pt x="0" y="625139"/>
                  </a:lnTo>
                  <a:lnTo>
                    <a:pt x="303717" y="625139"/>
                  </a:lnTo>
                  <a:lnTo>
                    <a:pt x="310593" y="618257"/>
                  </a:lnTo>
                  <a:lnTo>
                    <a:pt x="310593" y="609767"/>
                  </a:lnTo>
                  <a:lnTo>
                    <a:pt x="279876" y="609767"/>
                  </a:lnTo>
                  <a:lnTo>
                    <a:pt x="279876" y="594395"/>
                  </a:lnTo>
                  <a:close/>
                </a:path>
                <a:path w="2046604" h="625475">
                  <a:moveTo>
                    <a:pt x="1954014" y="30745"/>
                  </a:moveTo>
                  <a:lnTo>
                    <a:pt x="286753" y="30745"/>
                  </a:lnTo>
                  <a:lnTo>
                    <a:pt x="279876" y="37627"/>
                  </a:lnTo>
                  <a:lnTo>
                    <a:pt x="279876" y="609767"/>
                  </a:lnTo>
                  <a:lnTo>
                    <a:pt x="295235" y="594395"/>
                  </a:lnTo>
                  <a:lnTo>
                    <a:pt x="310593" y="594395"/>
                  </a:lnTo>
                  <a:lnTo>
                    <a:pt x="310593" y="61489"/>
                  </a:lnTo>
                  <a:lnTo>
                    <a:pt x="295235" y="61489"/>
                  </a:lnTo>
                  <a:lnTo>
                    <a:pt x="310593" y="46117"/>
                  </a:lnTo>
                  <a:lnTo>
                    <a:pt x="1954014" y="46117"/>
                  </a:lnTo>
                  <a:lnTo>
                    <a:pt x="1954014" y="30745"/>
                  </a:lnTo>
                  <a:close/>
                </a:path>
                <a:path w="2046604" h="625475">
                  <a:moveTo>
                    <a:pt x="310593" y="594395"/>
                  </a:moveTo>
                  <a:lnTo>
                    <a:pt x="295235" y="594395"/>
                  </a:lnTo>
                  <a:lnTo>
                    <a:pt x="279876" y="609767"/>
                  </a:lnTo>
                  <a:lnTo>
                    <a:pt x="310593" y="609767"/>
                  </a:lnTo>
                  <a:lnTo>
                    <a:pt x="310593" y="594395"/>
                  </a:lnTo>
                  <a:close/>
                </a:path>
                <a:path w="2046604" h="625475">
                  <a:moveTo>
                    <a:pt x="1954014" y="0"/>
                  </a:moveTo>
                  <a:lnTo>
                    <a:pt x="1954014" y="92233"/>
                  </a:lnTo>
                  <a:lnTo>
                    <a:pt x="2015451" y="61489"/>
                  </a:lnTo>
                  <a:lnTo>
                    <a:pt x="1969373" y="61489"/>
                  </a:lnTo>
                  <a:lnTo>
                    <a:pt x="1969373" y="30745"/>
                  </a:lnTo>
                  <a:lnTo>
                    <a:pt x="2015451" y="30745"/>
                  </a:lnTo>
                  <a:lnTo>
                    <a:pt x="1954014" y="0"/>
                  </a:lnTo>
                  <a:close/>
                </a:path>
                <a:path w="2046604" h="625475">
                  <a:moveTo>
                    <a:pt x="310593" y="46117"/>
                  </a:moveTo>
                  <a:lnTo>
                    <a:pt x="295235" y="61489"/>
                  </a:lnTo>
                  <a:lnTo>
                    <a:pt x="310593" y="61489"/>
                  </a:lnTo>
                  <a:lnTo>
                    <a:pt x="310593" y="46117"/>
                  </a:lnTo>
                  <a:close/>
                </a:path>
                <a:path w="2046604" h="625475">
                  <a:moveTo>
                    <a:pt x="1954014" y="46117"/>
                  </a:moveTo>
                  <a:lnTo>
                    <a:pt x="310593" y="46117"/>
                  </a:lnTo>
                  <a:lnTo>
                    <a:pt x="310593" y="61489"/>
                  </a:lnTo>
                  <a:lnTo>
                    <a:pt x="1954014" y="61489"/>
                  </a:lnTo>
                  <a:lnTo>
                    <a:pt x="1954014" y="46117"/>
                  </a:lnTo>
                  <a:close/>
                </a:path>
                <a:path w="2046604" h="625475">
                  <a:moveTo>
                    <a:pt x="2015451" y="30745"/>
                  </a:moveTo>
                  <a:lnTo>
                    <a:pt x="1969373" y="30745"/>
                  </a:lnTo>
                  <a:lnTo>
                    <a:pt x="1969373" y="61489"/>
                  </a:lnTo>
                  <a:lnTo>
                    <a:pt x="2015451" y="61489"/>
                  </a:lnTo>
                  <a:lnTo>
                    <a:pt x="2046169" y="46117"/>
                  </a:lnTo>
                  <a:lnTo>
                    <a:pt x="2015451" y="30745"/>
                  </a:lnTo>
                  <a:close/>
                </a:path>
              </a:pathLst>
            </a:custGeom>
            <a:solidFill>
              <a:srgbClr val="FF0000"/>
            </a:solidFill>
          </p:spPr>
          <p:txBody>
            <a:bodyPr wrap="square" lIns="0" tIns="0" rIns="0" bIns="0" rtlCol="0"/>
            <a:lstStyle/>
            <a:p>
              <a:endParaRPr sz="1588"/>
            </a:p>
          </p:txBody>
        </p:sp>
        <p:sp>
          <p:nvSpPr>
            <p:cNvPr id="70" name="object 70"/>
            <p:cNvSpPr/>
            <p:nvPr/>
          </p:nvSpPr>
          <p:spPr>
            <a:xfrm>
              <a:off x="2023091" y="2738032"/>
              <a:ext cx="513715" cy="984250"/>
            </a:xfrm>
            <a:custGeom>
              <a:avLst/>
              <a:gdLst/>
              <a:ahLst/>
              <a:cxnLst/>
              <a:rect l="l" t="t" r="r" b="b"/>
              <a:pathLst>
                <a:path w="513714" h="984250">
                  <a:moveTo>
                    <a:pt x="0" y="0"/>
                  </a:moveTo>
                  <a:lnTo>
                    <a:pt x="0" y="983825"/>
                  </a:lnTo>
                  <a:lnTo>
                    <a:pt x="513676" y="737870"/>
                  </a:lnTo>
                  <a:lnTo>
                    <a:pt x="513676" y="245955"/>
                  </a:lnTo>
                  <a:lnTo>
                    <a:pt x="0" y="0"/>
                  </a:lnTo>
                  <a:close/>
                </a:path>
              </a:pathLst>
            </a:custGeom>
            <a:solidFill>
              <a:srgbClr val="07F707"/>
            </a:solidFill>
          </p:spPr>
          <p:txBody>
            <a:bodyPr wrap="square" lIns="0" tIns="0" rIns="0" bIns="0" rtlCol="0"/>
            <a:lstStyle/>
            <a:p>
              <a:endParaRPr sz="1588"/>
            </a:p>
          </p:txBody>
        </p:sp>
        <p:sp>
          <p:nvSpPr>
            <p:cNvPr id="71" name="object 71"/>
            <p:cNvSpPr/>
            <p:nvPr/>
          </p:nvSpPr>
          <p:spPr>
            <a:xfrm>
              <a:off x="2023091" y="2738031"/>
              <a:ext cx="513715" cy="984250"/>
            </a:xfrm>
            <a:custGeom>
              <a:avLst/>
              <a:gdLst/>
              <a:ahLst/>
              <a:cxnLst/>
              <a:rect l="l" t="t" r="r" b="b"/>
              <a:pathLst>
                <a:path w="513714" h="984250">
                  <a:moveTo>
                    <a:pt x="0" y="983826"/>
                  </a:moveTo>
                  <a:lnTo>
                    <a:pt x="513675" y="737870"/>
                  </a:lnTo>
                  <a:lnTo>
                    <a:pt x="513675" y="245956"/>
                  </a:lnTo>
                  <a:lnTo>
                    <a:pt x="0" y="0"/>
                  </a:lnTo>
                  <a:lnTo>
                    <a:pt x="0" y="983826"/>
                  </a:lnTo>
                  <a:close/>
                </a:path>
              </a:pathLst>
            </a:custGeom>
            <a:ln w="30738">
              <a:solidFill>
                <a:srgbClr val="000000"/>
              </a:solidFill>
            </a:ln>
          </p:spPr>
          <p:txBody>
            <a:bodyPr wrap="square" lIns="0" tIns="0" rIns="0" bIns="0" rtlCol="0"/>
            <a:lstStyle/>
            <a:p>
              <a:endParaRPr sz="1588"/>
            </a:p>
          </p:txBody>
        </p:sp>
        <p:sp>
          <p:nvSpPr>
            <p:cNvPr id="72" name="object 72"/>
            <p:cNvSpPr/>
            <p:nvPr/>
          </p:nvSpPr>
          <p:spPr>
            <a:xfrm>
              <a:off x="1994080" y="3036938"/>
              <a:ext cx="247650" cy="297815"/>
            </a:xfrm>
            <a:custGeom>
              <a:avLst/>
              <a:gdLst/>
              <a:ahLst/>
              <a:cxnLst/>
              <a:rect l="l" t="t" r="r" b="b"/>
              <a:pathLst>
                <a:path w="247650" h="297814">
                  <a:moveTo>
                    <a:pt x="0" y="0"/>
                  </a:moveTo>
                  <a:lnTo>
                    <a:pt x="0" y="297197"/>
                  </a:lnTo>
                  <a:lnTo>
                    <a:pt x="247451" y="148598"/>
                  </a:lnTo>
                  <a:lnTo>
                    <a:pt x="0" y="0"/>
                  </a:lnTo>
                  <a:close/>
                </a:path>
              </a:pathLst>
            </a:custGeom>
            <a:solidFill>
              <a:srgbClr val="FFFFFF"/>
            </a:solidFill>
          </p:spPr>
          <p:txBody>
            <a:bodyPr wrap="square" lIns="0" tIns="0" rIns="0" bIns="0" rtlCol="0"/>
            <a:lstStyle/>
            <a:p>
              <a:endParaRPr sz="1588"/>
            </a:p>
          </p:txBody>
        </p:sp>
      </p:grpSp>
      <p:sp>
        <p:nvSpPr>
          <p:cNvPr id="73" name="object 73"/>
          <p:cNvSpPr txBox="1"/>
          <p:nvPr/>
        </p:nvSpPr>
        <p:spPr>
          <a:xfrm>
            <a:off x="1464049" y="2909481"/>
            <a:ext cx="289112" cy="336578"/>
          </a:xfrm>
          <a:prstGeom prst="rect">
            <a:avLst/>
          </a:prstGeom>
          <a:solidFill>
            <a:srgbClr val="FFFFFF"/>
          </a:solidFill>
        </p:spPr>
        <p:txBody>
          <a:bodyPr vert="horz" wrap="square" lIns="0" tIns="37540" rIns="0" bIns="0" rtlCol="0">
            <a:spAutoFit/>
          </a:bodyPr>
          <a:lstStyle/>
          <a:p>
            <a:pPr marL="84049">
              <a:spcBef>
                <a:spcPts val="296"/>
              </a:spcBef>
            </a:pPr>
            <a:r>
              <a:rPr sz="1941" b="1" spc="-44" dirty="0">
                <a:latin typeface="Times New Roman"/>
                <a:cs typeface="Times New Roman"/>
              </a:rPr>
              <a:t>4</a:t>
            </a:r>
            <a:endParaRPr sz="1941">
              <a:latin typeface="Times New Roman"/>
              <a:cs typeface="Times New Roman"/>
            </a:endParaRPr>
          </a:p>
        </p:txBody>
      </p:sp>
      <p:sp>
        <p:nvSpPr>
          <p:cNvPr id="74" name="object 74"/>
          <p:cNvSpPr txBox="1"/>
          <p:nvPr/>
        </p:nvSpPr>
        <p:spPr>
          <a:xfrm>
            <a:off x="2044893" y="2588111"/>
            <a:ext cx="218008" cy="546287"/>
          </a:xfrm>
          <a:prstGeom prst="rect">
            <a:avLst/>
          </a:prstGeom>
        </p:spPr>
        <p:txBody>
          <a:bodyPr vert="vert" wrap="square" lIns="0" tIns="0" rIns="0" bIns="0" rtlCol="0">
            <a:spAutoFit/>
          </a:bodyPr>
          <a:lstStyle/>
          <a:p>
            <a:pPr marL="11206">
              <a:lnSpc>
                <a:spcPts val="1725"/>
              </a:lnSpc>
            </a:pPr>
            <a:r>
              <a:rPr sz="1500" b="1" spc="-9" dirty="0">
                <a:latin typeface="Times New Roman"/>
                <a:cs typeface="Times New Roman"/>
              </a:rPr>
              <a:t>Adder</a:t>
            </a:r>
            <a:endParaRPr sz="1500">
              <a:latin typeface="Times New Roman"/>
              <a:cs typeface="Times New Roman"/>
            </a:endParaRPr>
          </a:p>
        </p:txBody>
      </p:sp>
      <p:grpSp>
        <p:nvGrpSpPr>
          <p:cNvPr id="75" name="object 75"/>
          <p:cNvGrpSpPr/>
          <p:nvPr/>
        </p:nvGrpSpPr>
        <p:grpSpPr>
          <a:xfrm>
            <a:off x="1357132" y="2667430"/>
            <a:ext cx="5297581" cy="2371725"/>
            <a:chOff x="1385683" y="3023087"/>
            <a:chExt cx="6003925" cy="2687955"/>
          </a:xfrm>
        </p:grpSpPr>
        <p:sp>
          <p:nvSpPr>
            <p:cNvPr id="76" name="object 76"/>
            <p:cNvSpPr/>
            <p:nvPr/>
          </p:nvSpPr>
          <p:spPr>
            <a:xfrm>
              <a:off x="2014559" y="3038645"/>
              <a:ext cx="222250" cy="295910"/>
            </a:xfrm>
            <a:custGeom>
              <a:avLst/>
              <a:gdLst/>
              <a:ahLst/>
              <a:cxnLst/>
              <a:rect l="l" t="t" r="r" b="b"/>
              <a:pathLst>
                <a:path w="222250" h="295910">
                  <a:moveTo>
                    <a:pt x="0" y="0"/>
                  </a:moveTo>
                  <a:lnTo>
                    <a:pt x="0" y="295490"/>
                  </a:lnTo>
                  <a:lnTo>
                    <a:pt x="221852" y="147745"/>
                  </a:lnTo>
                  <a:lnTo>
                    <a:pt x="0" y="0"/>
                  </a:lnTo>
                  <a:close/>
                </a:path>
              </a:pathLst>
            </a:custGeom>
            <a:solidFill>
              <a:srgbClr val="FFFFFF"/>
            </a:solidFill>
          </p:spPr>
          <p:txBody>
            <a:bodyPr wrap="square" lIns="0" tIns="0" rIns="0" bIns="0" rtlCol="0"/>
            <a:lstStyle/>
            <a:p>
              <a:endParaRPr sz="1588"/>
            </a:p>
          </p:txBody>
        </p:sp>
        <p:sp>
          <p:nvSpPr>
            <p:cNvPr id="77" name="object 77"/>
            <p:cNvSpPr/>
            <p:nvPr/>
          </p:nvSpPr>
          <p:spPr>
            <a:xfrm>
              <a:off x="2014558" y="3038645"/>
              <a:ext cx="222250" cy="295910"/>
            </a:xfrm>
            <a:custGeom>
              <a:avLst/>
              <a:gdLst/>
              <a:ahLst/>
              <a:cxnLst/>
              <a:rect l="l" t="t" r="r" b="b"/>
              <a:pathLst>
                <a:path w="222250" h="295910">
                  <a:moveTo>
                    <a:pt x="0" y="0"/>
                  </a:moveTo>
                  <a:lnTo>
                    <a:pt x="221853" y="147745"/>
                  </a:lnTo>
                  <a:lnTo>
                    <a:pt x="0" y="295490"/>
                  </a:lnTo>
                </a:path>
              </a:pathLst>
            </a:custGeom>
            <a:ln w="30735">
              <a:solidFill>
                <a:srgbClr val="000000"/>
              </a:solidFill>
            </a:ln>
          </p:spPr>
          <p:txBody>
            <a:bodyPr wrap="square" lIns="0" tIns="0" rIns="0" bIns="0" rtlCol="0"/>
            <a:lstStyle/>
            <a:p>
              <a:endParaRPr sz="1588"/>
            </a:p>
          </p:txBody>
        </p:sp>
        <p:pic>
          <p:nvPicPr>
            <p:cNvPr id="78" name="object 78"/>
            <p:cNvPicPr/>
            <p:nvPr/>
          </p:nvPicPr>
          <p:blipFill>
            <a:blip r:embed="rId5" cstate="print"/>
            <a:stretch>
              <a:fillRect/>
            </a:stretch>
          </p:blipFill>
          <p:spPr>
            <a:xfrm>
              <a:off x="7278443" y="4378602"/>
              <a:ext cx="110939" cy="111009"/>
            </a:xfrm>
            <a:prstGeom prst="rect">
              <a:avLst/>
            </a:prstGeom>
          </p:spPr>
        </p:pic>
        <p:pic>
          <p:nvPicPr>
            <p:cNvPr id="79" name="object 79"/>
            <p:cNvPicPr/>
            <p:nvPr/>
          </p:nvPicPr>
          <p:blipFill>
            <a:blip r:embed="rId6" cstate="print"/>
            <a:stretch>
              <a:fillRect/>
            </a:stretch>
          </p:blipFill>
          <p:spPr>
            <a:xfrm>
              <a:off x="5460954" y="4627974"/>
              <a:ext cx="110940" cy="111009"/>
            </a:xfrm>
            <a:prstGeom prst="rect">
              <a:avLst/>
            </a:prstGeom>
          </p:spPr>
        </p:pic>
        <p:pic>
          <p:nvPicPr>
            <p:cNvPr id="80" name="object 80"/>
            <p:cNvPicPr/>
            <p:nvPr/>
          </p:nvPicPr>
          <p:blipFill>
            <a:blip r:embed="rId7" cstate="print"/>
            <a:stretch>
              <a:fillRect/>
            </a:stretch>
          </p:blipFill>
          <p:spPr>
            <a:xfrm>
              <a:off x="3438677" y="4045535"/>
              <a:ext cx="110939" cy="111008"/>
            </a:xfrm>
            <a:prstGeom prst="rect">
              <a:avLst/>
            </a:prstGeom>
          </p:spPr>
        </p:pic>
        <p:pic>
          <p:nvPicPr>
            <p:cNvPr id="81" name="object 81"/>
            <p:cNvPicPr/>
            <p:nvPr/>
          </p:nvPicPr>
          <p:blipFill>
            <a:blip r:embed="rId6" cstate="print"/>
            <a:stretch>
              <a:fillRect/>
            </a:stretch>
          </p:blipFill>
          <p:spPr>
            <a:xfrm>
              <a:off x="3447209" y="5599845"/>
              <a:ext cx="110940" cy="111008"/>
            </a:xfrm>
            <a:prstGeom prst="rect">
              <a:avLst/>
            </a:prstGeom>
          </p:spPr>
        </p:pic>
        <p:pic>
          <p:nvPicPr>
            <p:cNvPr id="82" name="object 82"/>
            <p:cNvPicPr/>
            <p:nvPr/>
          </p:nvPicPr>
          <p:blipFill>
            <a:blip r:embed="rId6" cstate="print"/>
            <a:stretch>
              <a:fillRect/>
            </a:stretch>
          </p:blipFill>
          <p:spPr>
            <a:xfrm>
              <a:off x="1385683" y="4291492"/>
              <a:ext cx="110940" cy="111008"/>
            </a:xfrm>
            <a:prstGeom prst="rect">
              <a:avLst/>
            </a:prstGeom>
          </p:spPr>
        </p:pic>
      </p:grpSp>
      <p:sp>
        <p:nvSpPr>
          <p:cNvPr id="83" name="object 83"/>
          <p:cNvSpPr txBox="1"/>
          <p:nvPr/>
        </p:nvSpPr>
        <p:spPr>
          <a:xfrm>
            <a:off x="3956219" y="5400662"/>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84" name="object 84"/>
          <p:cNvSpPr txBox="1"/>
          <p:nvPr/>
        </p:nvSpPr>
        <p:spPr>
          <a:xfrm>
            <a:off x="5302395" y="5400662"/>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85" name="object 85"/>
          <p:cNvSpPr txBox="1"/>
          <p:nvPr/>
        </p:nvSpPr>
        <p:spPr>
          <a:xfrm>
            <a:off x="6892509" y="5400662"/>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86" name="object 86"/>
          <p:cNvSpPr txBox="1"/>
          <p:nvPr/>
        </p:nvSpPr>
        <p:spPr>
          <a:xfrm>
            <a:off x="8590484" y="4796656"/>
            <a:ext cx="192360" cy="656665"/>
          </a:xfrm>
          <a:prstGeom prst="rect">
            <a:avLst/>
          </a:prstGeom>
        </p:spPr>
        <p:txBody>
          <a:bodyPr vert="vert270" wrap="square" lIns="0" tIns="0" rIns="0" bIns="0" rtlCol="0">
            <a:spAutoFit/>
          </a:bodyPr>
          <a:lstStyle/>
          <a:p>
            <a:pPr marL="11206">
              <a:lnSpc>
                <a:spcPts val="1531"/>
              </a:lnSpc>
            </a:pPr>
            <a:r>
              <a:rPr sz="1324" dirty="0">
                <a:latin typeface="Times New Roman"/>
                <a:cs typeface="Times New Roman"/>
              </a:rPr>
              <a:t>WB </a:t>
            </a:r>
            <a:r>
              <a:rPr sz="1324" spc="-18" dirty="0">
                <a:latin typeface="Times New Roman"/>
                <a:cs typeface="Times New Roman"/>
              </a:rPr>
              <a:t>Data</a:t>
            </a:r>
            <a:endParaRPr sz="1324">
              <a:latin typeface="Times New Roman"/>
              <a:cs typeface="Times New Roman"/>
            </a:endParaRPr>
          </a:p>
        </p:txBody>
      </p:sp>
      <p:sp>
        <p:nvSpPr>
          <p:cNvPr id="87" name="object 87"/>
          <p:cNvSpPr txBox="1"/>
          <p:nvPr/>
        </p:nvSpPr>
        <p:spPr>
          <a:xfrm>
            <a:off x="922804" y="2137488"/>
            <a:ext cx="598394" cy="215089"/>
          </a:xfrm>
          <a:prstGeom prst="rect">
            <a:avLst/>
          </a:prstGeom>
        </p:spPr>
        <p:txBody>
          <a:bodyPr vert="horz" wrap="square" lIns="0" tIns="11206" rIns="0" bIns="0" rtlCol="0">
            <a:spAutoFit/>
          </a:bodyPr>
          <a:lstStyle/>
          <a:p>
            <a:pPr marL="11206">
              <a:spcBef>
                <a:spcPts val="88"/>
              </a:spcBef>
            </a:pPr>
            <a:r>
              <a:rPr sz="1324" dirty="0">
                <a:latin typeface="Times New Roman"/>
                <a:cs typeface="Times New Roman"/>
              </a:rPr>
              <a:t>Next</a:t>
            </a:r>
            <a:r>
              <a:rPr sz="1324" spc="-13"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88" name="object 88"/>
          <p:cNvSpPr/>
          <p:nvPr/>
        </p:nvSpPr>
        <p:spPr>
          <a:xfrm>
            <a:off x="970149" y="3262137"/>
            <a:ext cx="289112" cy="1157568"/>
          </a:xfrm>
          <a:custGeom>
            <a:avLst/>
            <a:gdLst/>
            <a:ahLst/>
            <a:cxnLst/>
            <a:rect l="l" t="t" r="r" b="b"/>
            <a:pathLst>
              <a:path w="327659" h="1311910">
                <a:moveTo>
                  <a:pt x="327659" y="0"/>
                </a:moveTo>
                <a:lnTo>
                  <a:pt x="0" y="0"/>
                </a:lnTo>
                <a:lnTo>
                  <a:pt x="0" y="1311769"/>
                </a:lnTo>
                <a:lnTo>
                  <a:pt x="327659" y="1311769"/>
                </a:lnTo>
                <a:lnTo>
                  <a:pt x="327659" y="0"/>
                </a:lnTo>
                <a:close/>
              </a:path>
            </a:pathLst>
          </a:custGeom>
          <a:solidFill>
            <a:srgbClr val="07F707"/>
          </a:solidFill>
        </p:spPr>
        <p:txBody>
          <a:bodyPr wrap="square" lIns="0" tIns="0" rIns="0" bIns="0" rtlCol="0"/>
          <a:lstStyle/>
          <a:p>
            <a:endParaRPr sz="1588"/>
          </a:p>
        </p:txBody>
      </p:sp>
      <p:sp>
        <p:nvSpPr>
          <p:cNvPr id="89" name="object 89"/>
          <p:cNvSpPr txBox="1"/>
          <p:nvPr/>
        </p:nvSpPr>
        <p:spPr>
          <a:xfrm>
            <a:off x="1001177" y="3262137"/>
            <a:ext cx="258084" cy="1157568"/>
          </a:xfrm>
          <a:prstGeom prst="rect">
            <a:avLst/>
          </a:prstGeom>
          <a:ln w="30719">
            <a:solidFill>
              <a:srgbClr val="000000"/>
            </a:solidFill>
          </a:ln>
        </p:spPr>
        <p:txBody>
          <a:bodyPr vert="vert" wrap="square" lIns="0" tIns="15128" rIns="0" bIns="0" rtlCol="0">
            <a:spAutoFit/>
          </a:bodyPr>
          <a:lstStyle/>
          <a:p>
            <a:pPr marL="224690">
              <a:spcBef>
                <a:spcPts val="119"/>
              </a:spcBef>
            </a:pPr>
            <a:r>
              <a:rPr sz="1677" spc="-9" dirty="0">
                <a:latin typeface="Times New Roman"/>
                <a:cs typeface="Times New Roman"/>
              </a:rPr>
              <a:t>Address</a:t>
            </a:r>
            <a:endParaRPr sz="1677">
              <a:latin typeface="Times New Roman"/>
              <a:cs typeface="Times New Roman"/>
            </a:endParaRPr>
          </a:p>
        </p:txBody>
      </p:sp>
      <p:sp>
        <p:nvSpPr>
          <p:cNvPr id="90" name="object 90"/>
          <p:cNvSpPr/>
          <p:nvPr/>
        </p:nvSpPr>
        <p:spPr>
          <a:xfrm>
            <a:off x="982196" y="4211604"/>
            <a:ext cx="263899" cy="217393"/>
          </a:xfrm>
          <a:custGeom>
            <a:avLst/>
            <a:gdLst/>
            <a:ahLst/>
            <a:cxnLst/>
            <a:rect l="l" t="t" r="r" b="b"/>
            <a:pathLst>
              <a:path w="299084" h="246379">
                <a:moveTo>
                  <a:pt x="0" y="245956"/>
                </a:moveTo>
                <a:lnTo>
                  <a:pt x="149324" y="0"/>
                </a:lnTo>
                <a:lnTo>
                  <a:pt x="298648" y="245956"/>
                </a:lnTo>
                <a:lnTo>
                  <a:pt x="0" y="245956"/>
                </a:lnTo>
                <a:close/>
              </a:path>
            </a:pathLst>
          </a:custGeom>
          <a:ln w="30733">
            <a:solidFill>
              <a:srgbClr val="000000"/>
            </a:solidFill>
          </a:ln>
        </p:spPr>
        <p:txBody>
          <a:bodyPr wrap="square" lIns="0" tIns="0" rIns="0" bIns="0" rtlCol="0"/>
          <a:lstStyle/>
          <a:p>
            <a:endParaRPr sz="1588"/>
          </a:p>
        </p:txBody>
      </p:sp>
      <p:sp>
        <p:nvSpPr>
          <p:cNvPr id="91" name="object 91"/>
          <p:cNvSpPr txBox="1"/>
          <p:nvPr/>
        </p:nvSpPr>
        <p:spPr>
          <a:xfrm>
            <a:off x="3423169" y="3150539"/>
            <a:ext cx="230281"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RS1</a:t>
            </a:r>
            <a:endParaRPr sz="971">
              <a:latin typeface="Times New Roman"/>
              <a:cs typeface="Times New Roman"/>
            </a:endParaRPr>
          </a:p>
        </p:txBody>
      </p:sp>
      <p:sp>
        <p:nvSpPr>
          <p:cNvPr id="92" name="object 92"/>
          <p:cNvSpPr txBox="1"/>
          <p:nvPr/>
        </p:nvSpPr>
        <p:spPr>
          <a:xfrm>
            <a:off x="3432957" y="3440996"/>
            <a:ext cx="230281"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RS2</a:t>
            </a:r>
            <a:endParaRPr sz="971">
              <a:latin typeface="Times New Roman"/>
              <a:cs typeface="Times New Roman"/>
            </a:endParaRPr>
          </a:p>
        </p:txBody>
      </p:sp>
      <p:sp>
        <p:nvSpPr>
          <p:cNvPr id="93" name="object 93"/>
          <p:cNvSpPr txBox="1"/>
          <p:nvPr/>
        </p:nvSpPr>
        <p:spPr>
          <a:xfrm>
            <a:off x="3564713" y="5019681"/>
            <a:ext cx="252693"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Imm</a:t>
            </a:r>
            <a:endParaRPr sz="971">
              <a:latin typeface="Times New Roman"/>
              <a:cs typeface="Times New Roman"/>
            </a:endParaRPr>
          </a:p>
        </p:txBody>
      </p:sp>
      <p:grpSp>
        <p:nvGrpSpPr>
          <p:cNvPr id="94" name="object 94"/>
          <p:cNvGrpSpPr/>
          <p:nvPr/>
        </p:nvGrpSpPr>
        <p:grpSpPr>
          <a:xfrm>
            <a:off x="4052327" y="2234141"/>
            <a:ext cx="226359" cy="552450"/>
            <a:chOff x="4440237" y="2532026"/>
            <a:chExt cx="256540" cy="626110"/>
          </a:xfrm>
        </p:grpSpPr>
        <p:sp>
          <p:nvSpPr>
            <p:cNvPr id="95" name="object 95"/>
            <p:cNvSpPr/>
            <p:nvPr/>
          </p:nvSpPr>
          <p:spPr>
            <a:xfrm>
              <a:off x="4455795" y="2547584"/>
              <a:ext cx="225425" cy="594995"/>
            </a:xfrm>
            <a:custGeom>
              <a:avLst/>
              <a:gdLst/>
              <a:ahLst/>
              <a:cxnLst/>
              <a:rect l="l" t="t" r="r" b="b"/>
              <a:pathLst>
                <a:path w="225425" h="594994">
                  <a:moveTo>
                    <a:pt x="112632" y="0"/>
                  </a:moveTo>
                  <a:lnTo>
                    <a:pt x="63099" y="30207"/>
                  </a:lnTo>
                  <a:lnTo>
                    <a:pt x="42186" y="65291"/>
                  </a:lnTo>
                  <a:lnTo>
                    <a:pt x="24744" y="111315"/>
                  </a:lnTo>
                  <a:lnTo>
                    <a:pt x="11448" y="166497"/>
                  </a:lnTo>
                  <a:lnTo>
                    <a:pt x="2974" y="229053"/>
                  </a:lnTo>
                  <a:lnTo>
                    <a:pt x="0" y="297197"/>
                  </a:lnTo>
                  <a:lnTo>
                    <a:pt x="2974" y="365342"/>
                  </a:lnTo>
                  <a:lnTo>
                    <a:pt x="11448" y="427897"/>
                  </a:lnTo>
                  <a:lnTo>
                    <a:pt x="24744" y="483079"/>
                  </a:lnTo>
                  <a:lnTo>
                    <a:pt x="42186" y="529104"/>
                  </a:lnTo>
                  <a:lnTo>
                    <a:pt x="63099" y="564187"/>
                  </a:lnTo>
                  <a:lnTo>
                    <a:pt x="112632" y="594395"/>
                  </a:lnTo>
                  <a:lnTo>
                    <a:pt x="138458" y="586546"/>
                  </a:lnTo>
                  <a:lnTo>
                    <a:pt x="183079" y="529104"/>
                  </a:lnTo>
                  <a:lnTo>
                    <a:pt x="200521" y="483079"/>
                  </a:lnTo>
                  <a:lnTo>
                    <a:pt x="213818" y="427897"/>
                  </a:lnTo>
                  <a:lnTo>
                    <a:pt x="222291" y="365342"/>
                  </a:lnTo>
                  <a:lnTo>
                    <a:pt x="225266" y="297197"/>
                  </a:lnTo>
                  <a:lnTo>
                    <a:pt x="222291" y="229053"/>
                  </a:lnTo>
                  <a:lnTo>
                    <a:pt x="213818" y="166497"/>
                  </a:lnTo>
                  <a:lnTo>
                    <a:pt x="200521" y="111315"/>
                  </a:lnTo>
                  <a:lnTo>
                    <a:pt x="183079" y="65291"/>
                  </a:lnTo>
                  <a:lnTo>
                    <a:pt x="162165" y="30207"/>
                  </a:lnTo>
                  <a:lnTo>
                    <a:pt x="112632" y="0"/>
                  </a:lnTo>
                  <a:close/>
                </a:path>
              </a:pathLst>
            </a:custGeom>
            <a:solidFill>
              <a:srgbClr val="FC0128"/>
            </a:solidFill>
          </p:spPr>
          <p:txBody>
            <a:bodyPr wrap="square" lIns="0" tIns="0" rIns="0" bIns="0" rtlCol="0"/>
            <a:lstStyle/>
            <a:p>
              <a:endParaRPr sz="1588"/>
            </a:p>
          </p:txBody>
        </p:sp>
        <p:sp>
          <p:nvSpPr>
            <p:cNvPr id="96" name="object 96"/>
            <p:cNvSpPr/>
            <p:nvPr/>
          </p:nvSpPr>
          <p:spPr>
            <a:xfrm>
              <a:off x="4455795" y="2547584"/>
              <a:ext cx="225425" cy="594995"/>
            </a:xfrm>
            <a:custGeom>
              <a:avLst/>
              <a:gdLst/>
              <a:ahLst/>
              <a:cxnLst/>
              <a:rect l="l" t="t" r="r" b="b"/>
              <a:pathLst>
                <a:path w="225425" h="594994">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97" name="object 97"/>
          <p:cNvSpPr txBox="1"/>
          <p:nvPr/>
        </p:nvSpPr>
        <p:spPr>
          <a:xfrm>
            <a:off x="4077475" y="2303033"/>
            <a:ext cx="192360" cy="417419"/>
          </a:xfrm>
          <a:prstGeom prst="rect">
            <a:avLst/>
          </a:prstGeom>
        </p:spPr>
        <p:txBody>
          <a:bodyPr vert="vert" wrap="square" lIns="0" tIns="0" rIns="0" bIns="0" rtlCol="0">
            <a:spAutoFit/>
          </a:bodyPr>
          <a:lstStyle/>
          <a:p>
            <a:pPr marL="11206">
              <a:lnSpc>
                <a:spcPts val="1531"/>
              </a:lnSpc>
            </a:pPr>
            <a:r>
              <a:rPr sz="1324" spc="-22" dirty="0">
                <a:latin typeface="Times New Roman"/>
                <a:cs typeface="Times New Roman"/>
              </a:rPr>
              <a:t>MUX</a:t>
            </a:r>
            <a:endParaRPr sz="1324">
              <a:latin typeface="Times New Roman"/>
              <a:cs typeface="Times New Roman"/>
            </a:endParaRPr>
          </a:p>
        </p:txBody>
      </p:sp>
      <p:grpSp>
        <p:nvGrpSpPr>
          <p:cNvPr id="98" name="object 98"/>
          <p:cNvGrpSpPr/>
          <p:nvPr/>
        </p:nvGrpSpPr>
        <p:grpSpPr>
          <a:xfrm>
            <a:off x="3198720" y="2172351"/>
            <a:ext cx="1750358" cy="3486709"/>
            <a:chOff x="3472815" y="2461997"/>
            <a:chExt cx="1983739" cy="3951604"/>
          </a:xfrm>
        </p:grpSpPr>
        <p:sp>
          <p:nvSpPr>
            <p:cNvPr id="99" name="object 99"/>
            <p:cNvSpPr/>
            <p:nvPr/>
          </p:nvSpPr>
          <p:spPr>
            <a:xfrm>
              <a:off x="3493293" y="3743208"/>
              <a:ext cx="737235" cy="92710"/>
            </a:xfrm>
            <a:custGeom>
              <a:avLst/>
              <a:gdLst/>
              <a:ahLst/>
              <a:cxnLst/>
              <a:rect l="l" t="t" r="r" b="b"/>
              <a:pathLst>
                <a:path w="737235" h="92710">
                  <a:moveTo>
                    <a:pt x="645079" y="0"/>
                  </a:moveTo>
                  <a:lnTo>
                    <a:pt x="645079" y="92233"/>
                  </a:lnTo>
                  <a:lnTo>
                    <a:pt x="706517" y="61488"/>
                  </a:lnTo>
                  <a:lnTo>
                    <a:pt x="660439" y="61488"/>
                  </a:lnTo>
                  <a:lnTo>
                    <a:pt x="660439" y="30744"/>
                  </a:lnTo>
                  <a:lnTo>
                    <a:pt x="706516" y="30744"/>
                  </a:lnTo>
                  <a:lnTo>
                    <a:pt x="645079" y="0"/>
                  </a:lnTo>
                  <a:close/>
                </a:path>
                <a:path w="737235" h="92710">
                  <a:moveTo>
                    <a:pt x="645079" y="30744"/>
                  </a:moveTo>
                  <a:lnTo>
                    <a:pt x="0" y="30744"/>
                  </a:lnTo>
                  <a:lnTo>
                    <a:pt x="0" y="61488"/>
                  </a:lnTo>
                  <a:lnTo>
                    <a:pt x="645079" y="61488"/>
                  </a:lnTo>
                  <a:lnTo>
                    <a:pt x="645079" y="30744"/>
                  </a:lnTo>
                  <a:close/>
                </a:path>
                <a:path w="737235" h="92710">
                  <a:moveTo>
                    <a:pt x="706516" y="30744"/>
                  </a:moveTo>
                  <a:lnTo>
                    <a:pt x="660439" y="30744"/>
                  </a:lnTo>
                  <a:lnTo>
                    <a:pt x="660439" y="61488"/>
                  </a:lnTo>
                  <a:lnTo>
                    <a:pt x="706517" y="61488"/>
                  </a:lnTo>
                  <a:lnTo>
                    <a:pt x="737235" y="46116"/>
                  </a:lnTo>
                  <a:lnTo>
                    <a:pt x="706516" y="30744"/>
                  </a:lnTo>
                  <a:close/>
                </a:path>
              </a:pathLst>
            </a:custGeom>
            <a:solidFill>
              <a:srgbClr val="000000"/>
            </a:solidFill>
          </p:spPr>
          <p:txBody>
            <a:bodyPr wrap="square" lIns="0" tIns="0" rIns="0" bIns="0" rtlCol="0"/>
            <a:lstStyle/>
            <a:p>
              <a:endParaRPr sz="1588"/>
            </a:p>
          </p:txBody>
        </p:sp>
        <p:sp>
          <p:nvSpPr>
            <p:cNvPr id="100" name="object 100"/>
            <p:cNvSpPr/>
            <p:nvPr/>
          </p:nvSpPr>
          <p:spPr>
            <a:xfrm>
              <a:off x="3715146" y="3085614"/>
              <a:ext cx="203200" cy="251460"/>
            </a:xfrm>
            <a:custGeom>
              <a:avLst/>
              <a:gdLst/>
              <a:ahLst/>
              <a:cxnLst/>
              <a:rect l="l" t="t" r="r" b="b"/>
              <a:pathLst>
                <a:path w="203200" h="251460">
                  <a:moveTo>
                    <a:pt x="0" y="0"/>
                  </a:moveTo>
                  <a:lnTo>
                    <a:pt x="0" y="251080"/>
                  </a:lnTo>
                  <a:lnTo>
                    <a:pt x="203081" y="125540"/>
                  </a:lnTo>
                  <a:lnTo>
                    <a:pt x="0" y="0"/>
                  </a:lnTo>
                  <a:close/>
                </a:path>
              </a:pathLst>
            </a:custGeom>
            <a:solidFill>
              <a:srgbClr val="FFFFFF"/>
            </a:solidFill>
          </p:spPr>
          <p:txBody>
            <a:bodyPr wrap="square" lIns="0" tIns="0" rIns="0" bIns="0" rtlCol="0"/>
            <a:lstStyle/>
            <a:p>
              <a:endParaRPr sz="1588"/>
            </a:p>
          </p:txBody>
        </p:sp>
        <p:sp>
          <p:nvSpPr>
            <p:cNvPr id="101" name="object 101"/>
            <p:cNvSpPr/>
            <p:nvPr/>
          </p:nvSpPr>
          <p:spPr>
            <a:xfrm>
              <a:off x="3715146" y="3085614"/>
              <a:ext cx="203200" cy="251460"/>
            </a:xfrm>
            <a:custGeom>
              <a:avLst/>
              <a:gdLst/>
              <a:ahLst/>
              <a:cxnLst/>
              <a:rect l="l" t="t" r="r" b="b"/>
              <a:pathLst>
                <a:path w="203200" h="251460">
                  <a:moveTo>
                    <a:pt x="0" y="0"/>
                  </a:moveTo>
                  <a:lnTo>
                    <a:pt x="203081" y="125540"/>
                  </a:lnTo>
                  <a:lnTo>
                    <a:pt x="0" y="251081"/>
                  </a:lnTo>
                </a:path>
              </a:pathLst>
            </a:custGeom>
            <a:ln w="30734">
              <a:solidFill>
                <a:srgbClr val="000000"/>
              </a:solidFill>
            </a:ln>
          </p:spPr>
          <p:txBody>
            <a:bodyPr wrap="square" lIns="0" tIns="0" rIns="0" bIns="0" rtlCol="0"/>
            <a:lstStyle/>
            <a:p>
              <a:endParaRPr sz="1588"/>
            </a:p>
          </p:txBody>
        </p:sp>
        <p:sp>
          <p:nvSpPr>
            <p:cNvPr id="102" name="object 102"/>
            <p:cNvSpPr/>
            <p:nvPr/>
          </p:nvSpPr>
          <p:spPr>
            <a:xfrm>
              <a:off x="3472815" y="3058286"/>
              <a:ext cx="225425" cy="251460"/>
            </a:xfrm>
            <a:custGeom>
              <a:avLst/>
              <a:gdLst/>
              <a:ahLst/>
              <a:cxnLst/>
              <a:rect l="l" t="t" r="r" b="b"/>
              <a:pathLst>
                <a:path w="225425" h="251460">
                  <a:moveTo>
                    <a:pt x="0" y="0"/>
                  </a:moveTo>
                  <a:lnTo>
                    <a:pt x="0" y="251080"/>
                  </a:lnTo>
                  <a:lnTo>
                    <a:pt x="225266" y="125539"/>
                  </a:lnTo>
                  <a:lnTo>
                    <a:pt x="0" y="0"/>
                  </a:lnTo>
                  <a:close/>
                </a:path>
              </a:pathLst>
            </a:custGeom>
            <a:solidFill>
              <a:srgbClr val="FFFFFF"/>
            </a:solidFill>
          </p:spPr>
          <p:txBody>
            <a:bodyPr wrap="square" lIns="0" tIns="0" rIns="0" bIns="0" rtlCol="0"/>
            <a:lstStyle/>
            <a:p>
              <a:endParaRPr sz="1588"/>
            </a:p>
          </p:txBody>
        </p:sp>
        <p:pic>
          <p:nvPicPr>
            <p:cNvPr id="103" name="object 103"/>
            <p:cNvPicPr/>
            <p:nvPr/>
          </p:nvPicPr>
          <p:blipFill>
            <a:blip r:embed="rId8" cstate="print"/>
            <a:stretch>
              <a:fillRect/>
            </a:stretch>
          </p:blipFill>
          <p:spPr>
            <a:xfrm>
              <a:off x="4210050" y="3005336"/>
              <a:ext cx="245745" cy="225460"/>
            </a:xfrm>
            <a:prstGeom prst="rect">
              <a:avLst/>
            </a:prstGeom>
          </p:spPr>
        </p:pic>
        <p:sp>
          <p:nvSpPr>
            <p:cNvPr id="104" name="object 104"/>
            <p:cNvSpPr/>
            <p:nvPr/>
          </p:nvSpPr>
          <p:spPr>
            <a:xfrm>
              <a:off x="5112822" y="2477555"/>
              <a:ext cx="327660" cy="3920490"/>
            </a:xfrm>
            <a:custGeom>
              <a:avLst/>
              <a:gdLst/>
              <a:ahLst/>
              <a:cxnLst/>
              <a:rect l="l" t="t" r="r" b="b"/>
              <a:pathLst>
                <a:path w="327660" h="3920490">
                  <a:moveTo>
                    <a:pt x="327660" y="0"/>
                  </a:moveTo>
                  <a:lnTo>
                    <a:pt x="0" y="0"/>
                  </a:lnTo>
                  <a:lnTo>
                    <a:pt x="0" y="3919933"/>
                  </a:lnTo>
                  <a:lnTo>
                    <a:pt x="327660" y="3919933"/>
                  </a:lnTo>
                  <a:lnTo>
                    <a:pt x="327660" y="0"/>
                  </a:lnTo>
                  <a:close/>
                </a:path>
              </a:pathLst>
            </a:custGeom>
            <a:solidFill>
              <a:srgbClr val="07F707"/>
            </a:solidFill>
          </p:spPr>
          <p:txBody>
            <a:bodyPr wrap="square" lIns="0" tIns="0" rIns="0" bIns="0" rtlCol="0"/>
            <a:lstStyle/>
            <a:p>
              <a:endParaRPr sz="1588"/>
            </a:p>
          </p:txBody>
        </p:sp>
        <p:sp>
          <p:nvSpPr>
            <p:cNvPr id="105" name="object 105"/>
            <p:cNvSpPr/>
            <p:nvPr/>
          </p:nvSpPr>
          <p:spPr>
            <a:xfrm>
              <a:off x="5112822" y="2477555"/>
              <a:ext cx="327660" cy="3920490"/>
            </a:xfrm>
            <a:custGeom>
              <a:avLst/>
              <a:gdLst/>
              <a:ahLst/>
              <a:cxnLst/>
              <a:rect l="l" t="t" r="r" b="b"/>
              <a:pathLst>
                <a:path w="327660"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106" name="object 106"/>
          <p:cNvSpPr txBox="1"/>
          <p:nvPr/>
        </p:nvSpPr>
        <p:spPr>
          <a:xfrm>
            <a:off x="4663856" y="3604707"/>
            <a:ext cx="243656" cy="623047"/>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ID/EX</a:t>
            </a:r>
            <a:endParaRPr sz="1677">
              <a:latin typeface="Times New Roman"/>
              <a:cs typeface="Times New Roman"/>
            </a:endParaRPr>
          </a:p>
        </p:txBody>
      </p:sp>
      <p:grpSp>
        <p:nvGrpSpPr>
          <p:cNvPr id="107" name="object 107"/>
          <p:cNvGrpSpPr/>
          <p:nvPr/>
        </p:nvGrpSpPr>
        <p:grpSpPr>
          <a:xfrm>
            <a:off x="2900574" y="2745208"/>
            <a:ext cx="2046754" cy="3410510"/>
            <a:chOff x="3134916" y="3111235"/>
            <a:chExt cx="2319655" cy="3865245"/>
          </a:xfrm>
        </p:grpSpPr>
        <p:sp>
          <p:nvSpPr>
            <p:cNvPr id="108" name="object 108"/>
            <p:cNvSpPr/>
            <p:nvPr/>
          </p:nvSpPr>
          <p:spPr>
            <a:xfrm>
              <a:off x="5111114" y="6059299"/>
              <a:ext cx="327660" cy="328295"/>
            </a:xfrm>
            <a:custGeom>
              <a:avLst/>
              <a:gdLst/>
              <a:ahLst/>
              <a:cxnLst/>
              <a:rect l="l" t="t" r="r" b="b"/>
              <a:pathLst>
                <a:path w="327660"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109" name="object 109"/>
            <p:cNvSpPr/>
            <p:nvPr/>
          </p:nvSpPr>
          <p:spPr>
            <a:xfrm>
              <a:off x="4817586" y="3413556"/>
              <a:ext cx="239395" cy="622300"/>
            </a:xfrm>
            <a:custGeom>
              <a:avLst/>
              <a:gdLst/>
              <a:ahLst/>
              <a:cxnLst/>
              <a:rect l="l" t="t" r="r" b="b"/>
              <a:pathLst>
                <a:path w="239395" h="622300">
                  <a:moveTo>
                    <a:pt x="208201" y="46117"/>
                  </a:moveTo>
                  <a:lnTo>
                    <a:pt x="208201" y="621723"/>
                  </a:lnTo>
                  <a:lnTo>
                    <a:pt x="238918" y="621723"/>
                  </a:lnTo>
                  <a:lnTo>
                    <a:pt x="238918" y="61489"/>
                  </a:lnTo>
                  <a:lnTo>
                    <a:pt x="223559" y="61489"/>
                  </a:lnTo>
                  <a:lnTo>
                    <a:pt x="208201" y="46117"/>
                  </a:lnTo>
                  <a:close/>
                </a:path>
                <a:path w="239395" h="622300">
                  <a:moveTo>
                    <a:pt x="92153" y="0"/>
                  </a:moveTo>
                  <a:lnTo>
                    <a:pt x="0" y="46117"/>
                  </a:lnTo>
                  <a:lnTo>
                    <a:pt x="92153" y="92233"/>
                  </a:lnTo>
                  <a:lnTo>
                    <a:pt x="92153" y="61489"/>
                  </a:lnTo>
                  <a:lnTo>
                    <a:pt x="76795" y="61489"/>
                  </a:lnTo>
                  <a:lnTo>
                    <a:pt x="76795" y="30744"/>
                  </a:lnTo>
                  <a:lnTo>
                    <a:pt x="92153" y="30744"/>
                  </a:lnTo>
                  <a:lnTo>
                    <a:pt x="92153" y="0"/>
                  </a:lnTo>
                  <a:close/>
                </a:path>
                <a:path w="239395" h="622300">
                  <a:moveTo>
                    <a:pt x="92153" y="30744"/>
                  </a:moveTo>
                  <a:lnTo>
                    <a:pt x="76795" y="30744"/>
                  </a:lnTo>
                  <a:lnTo>
                    <a:pt x="76795" y="61489"/>
                  </a:lnTo>
                  <a:lnTo>
                    <a:pt x="92153" y="61489"/>
                  </a:lnTo>
                  <a:lnTo>
                    <a:pt x="92153" y="30744"/>
                  </a:lnTo>
                  <a:close/>
                </a:path>
                <a:path w="239395" h="622300">
                  <a:moveTo>
                    <a:pt x="232042" y="30744"/>
                  </a:moveTo>
                  <a:lnTo>
                    <a:pt x="92153" y="30744"/>
                  </a:lnTo>
                  <a:lnTo>
                    <a:pt x="92153" y="61489"/>
                  </a:lnTo>
                  <a:lnTo>
                    <a:pt x="208201" y="61489"/>
                  </a:lnTo>
                  <a:lnTo>
                    <a:pt x="208201" y="46117"/>
                  </a:lnTo>
                  <a:lnTo>
                    <a:pt x="238918" y="46117"/>
                  </a:lnTo>
                  <a:lnTo>
                    <a:pt x="238918" y="37627"/>
                  </a:lnTo>
                  <a:lnTo>
                    <a:pt x="232042" y="30744"/>
                  </a:lnTo>
                  <a:close/>
                </a:path>
                <a:path w="239395" h="622300">
                  <a:moveTo>
                    <a:pt x="238918" y="46117"/>
                  </a:moveTo>
                  <a:lnTo>
                    <a:pt x="208201" y="46117"/>
                  </a:lnTo>
                  <a:lnTo>
                    <a:pt x="223559" y="61489"/>
                  </a:lnTo>
                  <a:lnTo>
                    <a:pt x="238918" y="61489"/>
                  </a:lnTo>
                  <a:lnTo>
                    <a:pt x="238918" y="46117"/>
                  </a:lnTo>
                  <a:close/>
                </a:path>
              </a:pathLst>
            </a:custGeom>
            <a:solidFill>
              <a:srgbClr val="000000"/>
            </a:solidFill>
          </p:spPr>
          <p:txBody>
            <a:bodyPr wrap="square" lIns="0" tIns="0" rIns="0" bIns="0" rtlCol="0"/>
            <a:lstStyle/>
            <a:p>
              <a:endParaRPr sz="1588"/>
            </a:p>
          </p:txBody>
        </p:sp>
        <p:pic>
          <p:nvPicPr>
            <p:cNvPr id="110" name="object 110"/>
            <p:cNvPicPr/>
            <p:nvPr/>
          </p:nvPicPr>
          <p:blipFill>
            <a:blip r:embed="rId6" cstate="print"/>
            <a:stretch>
              <a:fillRect/>
            </a:stretch>
          </p:blipFill>
          <p:spPr>
            <a:xfrm>
              <a:off x="4976289" y="3972090"/>
              <a:ext cx="110940" cy="111009"/>
            </a:xfrm>
            <a:prstGeom prst="rect">
              <a:avLst/>
            </a:prstGeom>
          </p:spPr>
        </p:pic>
        <p:sp>
          <p:nvSpPr>
            <p:cNvPr id="111" name="object 111"/>
            <p:cNvSpPr/>
            <p:nvPr/>
          </p:nvSpPr>
          <p:spPr>
            <a:xfrm>
              <a:off x="3375540" y="3415264"/>
              <a:ext cx="1505585" cy="2931160"/>
            </a:xfrm>
            <a:custGeom>
              <a:avLst/>
              <a:gdLst/>
              <a:ahLst/>
              <a:cxnLst/>
              <a:rect l="l" t="t" r="r" b="b"/>
              <a:pathLst>
                <a:path w="1505585" h="2931160">
                  <a:moveTo>
                    <a:pt x="250864" y="30744"/>
                  </a:moveTo>
                  <a:lnTo>
                    <a:pt x="6877" y="30744"/>
                  </a:lnTo>
                  <a:lnTo>
                    <a:pt x="0" y="37626"/>
                  </a:lnTo>
                  <a:lnTo>
                    <a:pt x="0" y="2924101"/>
                  </a:lnTo>
                  <a:lnTo>
                    <a:pt x="6877" y="2930983"/>
                  </a:lnTo>
                  <a:lnTo>
                    <a:pt x="1498311" y="2930983"/>
                  </a:lnTo>
                  <a:lnTo>
                    <a:pt x="1505188" y="2924101"/>
                  </a:lnTo>
                  <a:lnTo>
                    <a:pt x="1505188" y="2915611"/>
                  </a:lnTo>
                  <a:lnTo>
                    <a:pt x="30718" y="2915611"/>
                  </a:lnTo>
                  <a:lnTo>
                    <a:pt x="15359" y="2900239"/>
                  </a:lnTo>
                  <a:lnTo>
                    <a:pt x="30718" y="2900239"/>
                  </a:lnTo>
                  <a:lnTo>
                    <a:pt x="30718" y="61488"/>
                  </a:lnTo>
                  <a:lnTo>
                    <a:pt x="15359" y="61488"/>
                  </a:lnTo>
                  <a:lnTo>
                    <a:pt x="30718" y="46116"/>
                  </a:lnTo>
                  <a:lnTo>
                    <a:pt x="250864" y="46116"/>
                  </a:lnTo>
                  <a:lnTo>
                    <a:pt x="250864" y="30744"/>
                  </a:lnTo>
                  <a:close/>
                </a:path>
                <a:path w="1505585" h="2931160">
                  <a:moveTo>
                    <a:pt x="30718" y="2900239"/>
                  </a:moveTo>
                  <a:lnTo>
                    <a:pt x="15359" y="2900239"/>
                  </a:lnTo>
                  <a:lnTo>
                    <a:pt x="30718" y="2915611"/>
                  </a:lnTo>
                  <a:lnTo>
                    <a:pt x="30718" y="2900239"/>
                  </a:lnTo>
                  <a:close/>
                </a:path>
                <a:path w="1505585" h="2931160">
                  <a:moveTo>
                    <a:pt x="1474470" y="2900239"/>
                  </a:moveTo>
                  <a:lnTo>
                    <a:pt x="30718" y="2900239"/>
                  </a:lnTo>
                  <a:lnTo>
                    <a:pt x="30718" y="2915611"/>
                  </a:lnTo>
                  <a:lnTo>
                    <a:pt x="1474470" y="2915611"/>
                  </a:lnTo>
                  <a:lnTo>
                    <a:pt x="1474470" y="2900239"/>
                  </a:lnTo>
                  <a:close/>
                </a:path>
                <a:path w="1505585" h="2931160">
                  <a:moveTo>
                    <a:pt x="1505188" y="2259726"/>
                  </a:moveTo>
                  <a:lnTo>
                    <a:pt x="1474470" y="2259726"/>
                  </a:lnTo>
                  <a:lnTo>
                    <a:pt x="1474470" y="2915611"/>
                  </a:lnTo>
                  <a:lnTo>
                    <a:pt x="1489829" y="2900239"/>
                  </a:lnTo>
                  <a:lnTo>
                    <a:pt x="1505188" y="2900239"/>
                  </a:lnTo>
                  <a:lnTo>
                    <a:pt x="1505188" y="2259726"/>
                  </a:lnTo>
                  <a:close/>
                </a:path>
                <a:path w="1505585" h="2931160">
                  <a:moveTo>
                    <a:pt x="1505188" y="2900239"/>
                  </a:moveTo>
                  <a:lnTo>
                    <a:pt x="1489829" y="2900239"/>
                  </a:lnTo>
                  <a:lnTo>
                    <a:pt x="1474470" y="2915611"/>
                  </a:lnTo>
                  <a:lnTo>
                    <a:pt x="1505188" y="2915611"/>
                  </a:lnTo>
                  <a:lnTo>
                    <a:pt x="1505188" y="2900239"/>
                  </a:lnTo>
                  <a:close/>
                </a:path>
                <a:path w="1505585" h="2931160">
                  <a:moveTo>
                    <a:pt x="250864" y="0"/>
                  </a:moveTo>
                  <a:lnTo>
                    <a:pt x="250864" y="92233"/>
                  </a:lnTo>
                  <a:lnTo>
                    <a:pt x="312301" y="61488"/>
                  </a:lnTo>
                  <a:lnTo>
                    <a:pt x="266223" y="61488"/>
                  </a:lnTo>
                  <a:lnTo>
                    <a:pt x="266223" y="30744"/>
                  </a:lnTo>
                  <a:lnTo>
                    <a:pt x="312301" y="30744"/>
                  </a:lnTo>
                  <a:lnTo>
                    <a:pt x="250864" y="0"/>
                  </a:lnTo>
                  <a:close/>
                </a:path>
                <a:path w="1505585" h="2931160">
                  <a:moveTo>
                    <a:pt x="30718" y="46116"/>
                  </a:moveTo>
                  <a:lnTo>
                    <a:pt x="15359" y="61488"/>
                  </a:lnTo>
                  <a:lnTo>
                    <a:pt x="30718" y="61488"/>
                  </a:lnTo>
                  <a:lnTo>
                    <a:pt x="30718" y="46116"/>
                  </a:lnTo>
                  <a:close/>
                </a:path>
                <a:path w="1505585" h="2931160">
                  <a:moveTo>
                    <a:pt x="250864" y="46116"/>
                  </a:moveTo>
                  <a:lnTo>
                    <a:pt x="30718" y="46116"/>
                  </a:lnTo>
                  <a:lnTo>
                    <a:pt x="30718" y="61488"/>
                  </a:lnTo>
                  <a:lnTo>
                    <a:pt x="250864" y="61488"/>
                  </a:lnTo>
                  <a:lnTo>
                    <a:pt x="250864" y="46116"/>
                  </a:lnTo>
                  <a:close/>
                </a:path>
                <a:path w="1505585" h="2931160">
                  <a:moveTo>
                    <a:pt x="312301" y="30744"/>
                  </a:moveTo>
                  <a:lnTo>
                    <a:pt x="266223" y="30744"/>
                  </a:lnTo>
                  <a:lnTo>
                    <a:pt x="266223" y="61488"/>
                  </a:lnTo>
                  <a:lnTo>
                    <a:pt x="312301" y="61488"/>
                  </a:lnTo>
                  <a:lnTo>
                    <a:pt x="343019" y="46116"/>
                  </a:lnTo>
                  <a:lnTo>
                    <a:pt x="312301" y="30744"/>
                  </a:lnTo>
                  <a:close/>
                </a:path>
              </a:pathLst>
            </a:custGeom>
            <a:solidFill>
              <a:srgbClr val="FF0000"/>
            </a:solidFill>
          </p:spPr>
          <p:txBody>
            <a:bodyPr wrap="square" lIns="0" tIns="0" rIns="0" bIns="0" rtlCol="0"/>
            <a:lstStyle/>
            <a:p>
              <a:endParaRPr sz="1588"/>
            </a:p>
          </p:txBody>
        </p:sp>
        <p:pic>
          <p:nvPicPr>
            <p:cNvPr id="112" name="object 112"/>
            <p:cNvPicPr/>
            <p:nvPr/>
          </p:nvPicPr>
          <p:blipFill>
            <a:blip r:embed="rId9" cstate="print"/>
            <a:stretch>
              <a:fillRect/>
            </a:stretch>
          </p:blipFill>
          <p:spPr>
            <a:xfrm>
              <a:off x="4536003" y="3111235"/>
              <a:ext cx="92154" cy="186174"/>
            </a:xfrm>
            <a:prstGeom prst="rect">
              <a:avLst/>
            </a:prstGeom>
          </p:spPr>
        </p:pic>
        <p:pic>
          <p:nvPicPr>
            <p:cNvPr id="113" name="object 113"/>
            <p:cNvPicPr/>
            <p:nvPr/>
          </p:nvPicPr>
          <p:blipFill>
            <a:blip r:embed="rId10" cstate="print"/>
            <a:stretch>
              <a:fillRect/>
            </a:stretch>
          </p:blipFill>
          <p:spPr>
            <a:xfrm>
              <a:off x="4805634" y="5613509"/>
              <a:ext cx="110940" cy="111008"/>
            </a:xfrm>
            <a:prstGeom prst="rect">
              <a:avLst/>
            </a:prstGeom>
          </p:spPr>
        </p:pic>
        <p:sp>
          <p:nvSpPr>
            <p:cNvPr id="114" name="object 114"/>
            <p:cNvSpPr/>
            <p:nvPr/>
          </p:nvSpPr>
          <p:spPr>
            <a:xfrm>
              <a:off x="3134916" y="6778382"/>
              <a:ext cx="2129790" cy="92710"/>
            </a:xfrm>
            <a:custGeom>
              <a:avLst/>
              <a:gdLst/>
              <a:ahLst/>
              <a:cxnLst/>
              <a:rect l="l" t="t" r="r" b="b"/>
              <a:pathLst>
                <a:path w="2129790" h="92709">
                  <a:moveTo>
                    <a:pt x="92152" y="0"/>
                  </a:moveTo>
                  <a:lnTo>
                    <a:pt x="0" y="46116"/>
                  </a:lnTo>
                  <a:lnTo>
                    <a:pt x="92155" y="92233"/>
                  </a:lnTo>
                  <a:lnTo>
                    <a:pt x="92152" y="61489"/>
                  </a:lnTo>
                  <a:lnTo>
                    <a:pt x="76793" y="61489"/>
                  </a:lnTo>
                  <a:lnTo>
                    <a:pt x="76793" y="30744"/>
                  </a:lnTo>
                  <a:lnTo>
                    <a:pt x="92152" y="30744"/>
                  </a:lnTo>
                  <a:lnTo>
                    <a:pt x="92152" y="0"/>
                  </a:lnTo>
                  <a:close/>
                </a:path>
                <a:path w="2129790" h="92709">
                  <a:moveTo>
                    <a:pt x="2037634" y="0"/>
                  </a:moveTo>
                  <a:lnTo>
                    <a:pt x="2037634" y="92233"/>
                  </a:lnTo>
                  <a:lnTo>
                    <a:pt x="2099069" y="61489"/>
                  </a:lnTo>
                  <a:lnTo>
                    <a:pt x="2052993" y="61489"/>
                  </a:lnTo>
                  <a:lnTo>
                    <a:pt x="2052993" y="30744"/>
                  </a:lnTo>
                  <a:lnTo>
                    <a:pt x="2099069" y="30744"/>
                  </a:lnTo>
                  <a:lnTo>
                    <a:pt x="2037634" y="0"/>
                  </a:lnTo>
                  <a:close/>
                </a:path>
                <a:path w="2129790" h="92709">
                  <a:moveTo>
                    <a:pt x="92152" y="30744"/>
                  </a:moveTo>
                  <a:lnTo>
                    <a:pt x="76793" y="30744"/>
                  </a:lnTo>
                  <a:lnTo>
                    <a:pt x="76793" y="61489"/>
                  </a:lnTo>
                  <a:lnTo>
                    <a:pt x="92152" y="61489"/>
                  </a:lnTo>
                  <a:lnTo>
                    <a:pt x="92152" y="30744"/>
                  </a:lnTo>
                  <a:close/>
                </a:path>
                <a:path w="2129790" h="92709">
                  <a:moveTo>
                    <a:pt x="2037634" y="30744"/>
                  </a:moveTo>
                  <a:lnTo>
                    <a:pt x="92152" y="30744"/>
                  </a:lnTo>
                  <a:lnTo>
                    <a:pt x="92152" y="61489"/>
                  </a:lnTo>
                  <a:lnTo>
                    <a:pt x="2037634" y="61489"/>
                  </a:lnTo>
                  <a:lnTo>
                    <a:pt x="2037634" y="30744"/>
                  </a:lnTo>
                  <a:close/>
                </a:path>
                <a:path w="2129790" h="92709">
                  <a:moveTo>
                    <a:pt x="2099069" y="30744"/>
                  </a:moveTo>
                  <a:lnTo>
                    <a:pt x="2052993" y="30744"/>
                  </a:lnTo>
                  <a:lnTo>
                    <a:pt x="2052993" y="61489"/>
                  </a:lnTo>
                  <a:lnTo>
                    <a:pt x="2099069" y="61489"/>
                  </a:lnTo>
                  <a:lnTo>
                    <a:pt x="2129787" y="46116"/>
                  </a:lnTo>
                  <a:lnTo>
                    <a:pt x="2099069" y="30744"/>
                  </a:lnTo>
                  <a:close/>
                </a:path>
              </a:pathLst>
            </a:custGeom>
            <a:solidFill>
              <a:srgbClr val="FF0000"/>
            </a:solidFill>
          </p:spPr>
          <p:txBody>
            <a:bodyPr wrap="square" lIns="0" tIns="0" rIns="0" bIns="0" rtlCol="0"/>
            <a:lstStyle/>
            <a:p>
              <a:endParaRPr sz="1588"/>
            </a:p>
          </p:txBody>
        </p:sp>
        <p:sp>
          <p:nvSpPr>
            <p:cNvPr id="115" name="object 115"/>
            <p:cNvSpPr/>
            <p:nvPr/>
          </p:nvSpPr>
          <p:spPr>
            <a:xfrm>
              <a:off x="5270678" y="6399210"/>
              <a:ext cx="0" cy="555625"/>
            </a:xfrm>
            <a:custGeom>
              <a:avLst/>
              <a:gdLst/>
              <a:ahLst/>
              <a:cxnLst/>
              <a:rect l="l" t="t" r="r" b="b"/>
              <a:pathLst>
                <a:path h="555625">
                  <a:moveTo>
                    <a:pt x="0" y="0"/>
                  </a:moveTo>
                  <a:lnTo>
                    <a:pt x="0" y="555097"/>
                  </a:lnTo>
                </a:path>
              </a:pathLst>
            </a:custGeom>
            <a:ln w="42664">
              <a:solidFill>
                <a:srgbClr val="FC0128"/>
              </a:solidFill>
            </a:ln>
          </p:spPr>
          <p:txBody>
            <a:bodyPr wrap="square" lIns="0" tIns="0" rIns="0" bIns="0" rtlCol="0"/>
            <a:lstStyle/>
            <a:p>
              <a:endParaRPr sz="1588"/>
            </a:p>
          </p:txBody>
        </p:sp>
      </p:grpSp>
      <p:sp>
        <p:nvSpPr>
          <p:cNvPr id="116" name="object 116"/>
          <p:cNvSpPr txBox="1"/>
          <p:nvPr/>
        </p:nvSpPr>
        <p:spPr>
          <a:xfrm>
            <a:off x="599059" y="1191674"/>
            <a:ext cx="683559" cy="269399"/>
          </a:xfrm>
          <a:prstGeom prst="rect">
            <a:avLst/>
          </a:prstGeom>
        </p:spPr>
        <p:txBody>
          <a:bodyPr vert="horz" wrap="square" lIns="0" tIns="11206" rIns="0" bIns="0" rtlCol="0">
            <a:spAutoFit/>
          </a:bodyPr>
          <a:lstStyle/>
          <a:p>
            <a:pPr marL="11206">
              <a:spcBef>
                <a:spcPts val="88"/>
              </a:spcBef>
            </a:pPr>
            <a:r>
              <a:rPr sz="1677" b="1" spc="-9" dirty="0">
                <a:latin typeface="Times New Roman"/>
                <a:cs typeface="Times New Roman"/>
              </a:rPr>
              <a:t>Stages:</a:t>
            </a:r>
            <a:endParaRPr sz="1677">
              <a:latin typeface="Times New Roman"/>
              <a:cs typeface="Times New Roman"/>
            </a:endParaRPr>
          </a:p>
        </p:txBody>
      </p:sp>
      <p:sp>
        <p:nvSpPr>
          <p:cNvPr id="117" name="object 117"/>
          <p:cNvSpPr txBox="1"/>
          <p:nvPr/>
        </p:nvSpPr>
        <p:spPr>
          <a:xfrm>
            <a:off x="1462630" y="1156931"/>
            <a:ext cx="1056715" cy="849497"/>
          </a:xfrm>
          <a:prstGeom prst="rect">
            <a:avLst/>
          </a:prstGeom>
        </p:spPr>
        <p:txBody>
          <a:bodyPr vert="horz" wrap="square" lIns="0" tIns="45943" rIns="0" bIns="0" rtlCol="0">
            <a:spAutoFit/>
          </a:bodyPr>
          <a:lstStyle/>
          <a:p>
            <a:pPr marL="80687" algn="ctr">
              <a:spcBef>
                <a:spcPts val="361"/>
              </a:spcBef>
            </a:pPr>
            <a:r>
              <a:rPr sz="1677" b="1" spc="-44" dirty="0">
                <a:latin typeface="Times New Roman"/>
                <a:cs typeface="Times New Roman"/>
              </a:rPr>
              <a:t>1</a:t>
            </a:r>
            <a:endParaRPr sz="1677">
              <a:latin typeface="Times New Roman"/>
              <a:cs typeface="Times New Roman"/>
            </a:endParaRPr>
          </a:p>
          <a:p>
            <a:pPr marL="10646" marR="4483" algn="ctr">
              <a:lnSpc>
                <a:spcPct val="101099"/>
              </a:lnSpc>
              <a:spcBef>
                <a:spcPts val="251"/>
              </a:spcBef>
            </a:pPr>
            <a:r>
              <a:rPr sz="1677" b="1" spc="-9" dirty="0">
                <a:latin typeface="Times New Roman"/>
                <a:cs typeface="Times New Roman"/>
              </a:rPr>
              <a:t>Instruction Fetch</a:t>
            </a:r>
            <a:endParaRPr sz="1677">
              <a:latin typeface="Times New Roman"/>
              <a:cs typeface="Times New Roman"/>
            </a:endParaRPr>
          </a:p>
        </p:txBody>
      </p:sp>
      <p:sp>
        <p:nvSpPr>
          <p:cNvPr id="118" name="object 118"/>
          <p:cNvSpPr txBox="1"/>
          <p:nvPr/>
        </p:nvSpPr>
        <p:spPr>
          <a:xfrm>
            <a:off x="3085119" y="1151553"/>
            <a:ext cx="1297641" cy="1392866"/>
          </a:xfrm>
          <a:prstGeom prst="rect">
            <a:avLst/>
          </a:prstGeom>
        </p:spPr>
        <p:txBody>
          <a:bodyPr vert="horz" wrap="square" lIns="0" tIns="51546" rIns="0" bIns="0" rtlCol="0">
            <a:spAutoFit/>
          </a:bodyPr>
          <a:lstStyle/>
          <a:p>
            <a:pPr marL="63317" algn="ctr">
              <a:spcBef>
                <a:spcPts val="405"/>
              </a:spcBef>
            </a:pPr>
            <a:r>
              <a:rPr sz="1677" b="1" spc="-44" dirty="0">
                <a:solidFill>
                  <a:srgbClr val="0000FF"/>
                </a:solidFill>
                <a:latin typeface="Times New Roman"/>
                <a:cs typeface="Times New Roman"/>
              </a:rPr>
              <a:t>2</a:t>
            </a:r>
            <a:endParaRPr sz="1677">
              <a:latin typeface="Times New Roman"/>
              <a:cs typeface="Times New Roman"/>
            </a:endParaRPr>
          </a:p>
          <a:p>
            <a:pPr marL="66679" marR="4483" algn="ctr">
              <a:lnSpc>
                <a:spcPct val="101099"/>
              </a:lnSpc>
              <a:spcBef>
                <a:spcPts val="295"/>
              </a:spcBef>
            </a:pPr>
            <a:r>
              <a:rPr sz="1677" b="1" spc="-9" dirty="0">
                <a:latin typeface="Times New Roman"/>
                <a:cs typeface="Times New Roman"/>
              </a:rPr>
              <a:t>Instr.</a:t>
            </a:r>
            <a:r>
              <a:rPr sz="1677" b="1" spc="-71" dirty="0">
                <a:latin typeface="Times New Roman"/>
                <a:cs typeface="Times New Roman"/>
              </a:rPr>
              <a:t> </a:t>
            </a:r>
            <a:r>
              <a:rPr sz="1677" b="1" spc="-9" dirty="0">
                <a:latin typeface="Times New Roman"/>
                <a:cs typeface="Times New Roman"/>
              </a:rPr>
              <a:t>Decode </a:t>
            </a:r>
            <a:r>
              <a:rPr sz="1677" b="1" dirty="0">
                <a:latin typeface="Times New Roman"/>
                <a:cs typeface="Times New Roman"/>
              </a:rPr>
              <a:t>Reg.</a:t>
            </a:r>
            <a:r>
              <a:rPr sz="1677" b="1" spc="53" dirty="0">
                <a:latin typeface="Times New Roman"/>
                <a:cs typeface="Times New Roman"/>
              </a:rPr>
              <a:t> </a:t>
            </a:r>
            <a:r>
              <a:rPr sz="1677" b="1" spc="-18" dirty="0">
                <a:latin typeface="Times New Roman"/>
                <a:cs typeface="Times New Roman"/>
              </a:rPr>
              <a:t>Fetch</a:t>
            </a:r>
            <a:endParaRPr sz="1677">
              <a:latin typeface="Times New Roman"/>
              <a:cs typeface="Times New Roman"/>
            </a:endParaRPr>
          </a:p>
          <a:p>
            <a:pPr marL="11206" marR="713853" indent="118789">
              <a:spcBef>
                <a:spcPts val="860"/>
              </a:spcBef>
            </a:pPr>
            <a:r>
              <a:rPr sz="1324" spc="-18" dirty="0">
                <a:latin typeface="Times New Roman"/>
                <a:cs typeface="Times New Roman"/>
              </a:rPr>
              <a:t>Next </a:t>
            </a:r>
            <a:r>
              <a:rPr sz="1324" dirty="0">
                <a:latin typeface="Times New Roman"/>
                <a:cs typeface="Times New Roman"/>
              </a:rPr>
              <a:t>SEQ</a:t>
            </a:r>
            <a:r>
              <a:rPr sz="1324" spc="-18"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119" name="object 119"/>
          <p:cNvSpPr txBox="1"/>
          <p:nvPr/>
        </p:nvSpPr>
        <p:spPr>
          <a:xfrm>
            <a:off x="5024726" y="1156931"/>
            <a:ext cx="1024778" cy="849497"/>
          </a:xfrm>
          <a:prstGeom prst="rect">
            <a:avLst/>
          </a:prstGeom>
        </p:spPr>
        <p:txBody>
          <a:bodyPr vert="horz" wrap="square" lIns="0" tIns="45943" rIns="0" bIns="0" rtlCol="0">
            <a:spAutoFit/>
          </a:bodyPr>
          <a:lstStyle/>
          <a:p>
            <a:pPr marL="34180" algn="ctr">
              <a:spcBef>
                <a:spcPts val="361"/>
              </a:spcBef>
            </a:pPr>
            <a:r>
              <a:rPr sz="1677" b="1" spc="-44" dirty="0">
                <a:latin typeface="Times New Roman"/>
                <a:cs typeface="Times New Roman"/>
              </a:rPr>
              <a:t>3</a:t>
            </a:r>
            <a:endParaRPr sz="1677">
              <a:latin typeface="Times New Roman"/>
              <a:cs typeface="Times New Roman"/>
            </a:endParaRPr>
          </a:p>
          <a:p>
            <a:pPr marL="11206" marR="4483" algn="ctr">
              <a:lnSpc>
                <a:spcPct val="101099"/>
              </a:lnSpc>
              <a:spcBef>
                <a:spcPts val="251"/>
              </a:spcBef>
            </a:pPr>
            <a:r>
              <a:rPr sz="1677" b="1" spc="-9" dirty="0">
                <a:latin typeface="Times New Roman"/>
                <a:cs typeface="Times New Roman"/>
              </a:rPr>
              <a:t>Execute Addr.</a:t>
            </a:r>
            <a:r>
              <a:rPr sz="1677" b="1" spc="-75" dirty="0">
                <a:latin typeface="Times New Roman"/>
                <a:cs typeface="Times New Roman"/>
              </a:rPr>
              <a:t> </a:t>
            </a:r>
            <a:r>
              <a:rPr sz="1677" b="1" spc="-18" dirty="0">
                <a:latin typeface="Times New Roman"/>
                <a:cs typeface="Times New Roman"/>
              </a:rPr>
              <a:t>Calc</a:t>
            </a:r>
            <a:endParaRPr sz="1677">
              <a:latin typeface="Times New Roman"/>
              <a:cs typeface="Times New Roman"/>
            </a:endParaRPr>
          </a:p>
        </p:txBody>
      </p:sp>
      <p:sp>
        <p:nvSpPr>
          <p:cNvPr id="120" name="object 120"/>
          <p:cNvSpPr txBox="1"/>
          <p:nvPr/>
        </p:nvSpPr>
        <p:spPr>
          <a:xfrm>
            <a:off x="6750214" y="1151552"/>
            <a:ext cx="1774451" cy="864772"/>
          </a:xfrm>
          <a:prstGeom prst="rect">
            <a:avLst/>
          </a:prstGeom>
        </p:spPr>
        <p:txBody>
          <a:bodyPr vert="horz" wrap="square" lIns="0" tIns="51546" rIns="0" bIns="0" rtlCol="0">
            <a:spAutoFit/>
          </a:bodyPr>
          <a:lstStyle/>
          <a:p>
            <a:pPr marL="268395">
              <a:spcBef>
                <a:spcPts val="405"/>
              </a:spcBef>
              <a:tabLst>
                <a:tab pos="1406974" algn="l"/>
              </a:tabLst>
            </a:pPr>
            <a:r>
              <a:rPr sz="1677" b="1" spc="-44" dirty="0">
                <a:solidFill>
                  <a:srgbClr val="FF0000"/>
                </a:solidFill>
                <a:latin typeface="Times New Roman"/>
                <a:cs typeface="Times New Roman"/>
              </a:rPr>
              <a:t>4</a:t>
            </a:r>
            <a:r>
              <a:rPr sz="1677" b="1" dirty="0">
                <a:solidFill>
                  <a:srgbClr val="FF0000"/>
                </a:solidFill>
                <a:latin typeface="Times New Roman"/>
                <a:cs typeface="Times New Roman"/>
              </a:rPr>
              <a:t>	</a:t>
            </a:r>
            <a:r>
              <a:rPr sz="1677" b="1" spc="-44" dirty="0">
                <a:latin typeface="Times New Roman"/>
                <a:cs typeface="Times New Roman"/>
              </a:rPr>
              <a:t>5</a:t>
            </a:r>
            <a:endParaRPr sz="1677">
              <a:latin typeface="Times New Roman"/>
              <a:cs typeface="Times New Roman"/>
            </a:endParaRPr>
          </a:p>
          <a:p>
            <a:pPr marL="11206">
              <a:spcBef>
                <a:spcPts val="317"/>
              </a:spcBef>
              <a:tabLst>
                <a:tab pos="1226549" algn="l"/>
              </a:tabLst>
            </a:pPr>
            <a:r>
              <a:rPr sz="2515" b="1" spc="-13" baseline="1461" dirty="0">
                <a:latin typeface="Times New Roman"/>
                <a:cs typeface="Times New Roman"/>
              </a:rPr>
              <a:t>Memory</a:t>
            </a:r>
            <a:r>
              <a:rPr sz="2515" b="1" baseline="1461" dirty="0">
                <a:latin typeface="Times New Roman"/>
                <a:cs typeface="Times New Roman"/>
              </a:rPr>
              <a:t>	</a:t>
            </a:r>
            <a:r>
              <a:rPr sz="1677" b="1" spc="-18" dirty="0">
                <a:latin typeface="Times New Roman"/>
                <a:cs typeface="Times New Roman"/>
              </a:rPr>
              <a:t>Write</a:t>
            </a:r>
            <a:endParaRPr sz="1677">
              <a:latin typeface="Times New Roman"/>
              <a:cs typeface="Times New Roman"/>
            </a:endParaRPr>
          </a:p>
          <a:p>
            <a:pPr marL="101419">
              <a:spcBef>
                <a:spcPts val="18"/>
              </a:spcBef>
              <a:tabLst>
                <a:tab pos="1260729" algn="l"/>
              </a:tabLst>
            </a:pPr>
            <a:r>
              <a:rPr sz="2515" b="1" spc="-13" baseline="1461" dirty="0">
                <a:latin typeface="Times New Roman"/>
                <a:cs typeface="Times New Roman"/>
              </a:rPr>
              <a:t>Access</a:t>
            </a:r>
            <a:r>
              <a:rPr sz="2515" b="1" baseline="1461" dirty="0">
                <a:latin typeface="Times New Roman"/>
                <a:cs typeface="Times New Roman"/>
              </a:rPr>
              <a:t>	</a:t>
            </a:r>
            <a:r>
              <a:rPr sz="1677" b="1" spc="-18" dirty="0">
                <a:latin typeface="Times New Roman"/>
                <a:cs typeface="Times New Roman"/>
              </a:rPr>
              <a:t>Back</a:t>
            </a:r>
            <a:endParaRPr sz="1677">
              <a:latin typeface="Times New Roman"/>
              <a:cs typeface="Times New Roman"/>
            </a:endParaRPr>
          </a:p>
        </p:txBody>
      </p:sp>
      <p:sp>
        <p:nvSpPr>
          <p:cNvPr id="121" name="object 121"/>
          <p:cNvSpPr txBox="1"/>
          <p:nvPr/>
        </p:nvSpPr>
        <p:spPr>
          <a:xfrm>
            <a:off x="511121" y="4764129"/>
            <a:ext cx="2100543" cy="1164912"/>
          </a:xfrm>
          <a:prstGeom prst="rect">
            <a:avLst/>
          </a:prstGeom>
        </p:spPr>
        <p:txBody>
          <a:bodyPr vert="horz" wrap="square" lIns="0" tIns="10646" rIns="0" bIns="0" rtlCol="0">
            <a:spAutoFit/>
          </a:bodyPr>
          <a:lstStyle/>
          <a:p>
            <a:pPr marL="11206" marR="4483">
              <a:lnSpc>
                <a:spcPct val="100299"/>
              </a:lnSpc>
              <a:spcBef>
                <a:spcPts val="84"/>
              </a:spcBef>
            </a:pPr>
            <a:r>
              <a:rPr sz="1500" dirty="0">
                <a:solidFill>
                  <a:srgbClr val="FF0000"/>
                </a:solidFill>
                <a:latin typeface="Times New Roman"/>
                <a:cs typeface="Times New Roman"/>
              </a:rPr>
              <a:t>The</a:t>
            </a:r>
            <a:r>
              <a:rPr sz="1500" spc="31" dirty="0">
                <a:solidFill>
                  <a:srgbClr val="FF0000"/>
                </a:solidFill>
                <a:latin typeface="Times New Roman"/>
                <a:cs typeface="Times New Roman"/>
              </a:rPr>
              <a:t> </a:t>
            </a:r>
            <a:r>
              <a:rPr sz="1500" dirty="0">
                <a:solidFill>
                  <a:srgbClr val="FF0000"/>
                </a:solidFill>
                <a:latin typeface="Times New Roman"/>
                <a:cs typeface="Times New Roman"/>
              </a:rPr>
              <a:t>fast</a:t>
            </a:r>
            <a:r>
              <a:rPr sz="1500" spc="35" dirty="0">
                <a:solidFill>
                  <a:srgbClr val="FF0000"/>
                </a:solidFill>
                <a:latin typeface="Times New Roman"/>
                <a:cs typeface="Times New Roman"/>
              </a:rPr>
              <a:t> </a:t>
            </a:r>
            <a:r>
              <a:rPr sz="1500" dirty="0">
                <a:solidFill>
                  <a:srgbClr val="FF0000"/>
                </a:solidFill>
                <a:latin typeface="Times New Roman"/>
                <a:cs typeface="Times New Roman"/>
              </a:rPr>
              <a:t>branch</a:t>
            </a:r>
            <a:r>
              <a:rPr sz="1500" spc="26" dirty="0">
                <a:solidFill>
                  <a:srgbClr val="FF0000"/>
                </a:solidFill>
                <a:latin typeface="Times New Roman"/>
                <a:cs typeface="Times New Roman"/>
              </a:rPr>
              <a:t> </a:t>
            </a:r>
            <a:r>
              <a:rPr sz="1500" spc="-9" dirty="0">
                <a:solidFill>
                  <a:srgbClr val="FF0000"/>
                </a:solidFill>
                <a:latin typeface="Times New Roman"/>
                <a:cs typeface="Times New Roman"/>
              </a:rPr>
              <a:t>design </a:t>
            </a:r>
            <a:r>
              <a:rPr sz="1500" dirty="0">
                <a:solidFill>
                  <a:srgbClr val="FF0000"/>
                </a:solidFill>
                <a:latin typeface="Times New Roman"/>
                <a:cs typeface="Times New Roman"/>
              </a:rPr>
              <a:t>needs</a:t>
            </a:r>
            <a:r>
              <a:rPr sz="1500" spc="22" dirty="0">
                <a:solidFill>
                  <a:srgbClr val="FF0000"/>
                </a:solidFill>
                <a:latin typeface="Times New Roman"/>
                <a:cs typeface="Times New Roman"/>
              </a:rPr>
              <a:t> </a:t>
            </a:r>
            <a:r>
              <a:rPr sz="1500" dirty="0">
                <a:solidFill>
                  <a:srgbClr val="FF0000"/>
                </a:solidFill>
                <a:latin typeface="Times New Roman"/>
                <a:cs typeface="Times New Roman"/>
              </a:rPr>
              <a:t>a</a:t>
            </a:r>
            <a:r>
              <a:rPr sz="1500" spc="26" dirty="0">
                <a:solidFill>
                  <a:srgbClr val="FF0000"/>
                </a:solidFill>
                <a:latin typeface="Times New Roman"/>
                <a:cs typeface="Times New Roman"/>
              </a:rPr>
              <a:t> </a:t>
            </a:r>
            <a:r>
              <a:rPr sz="1500" u="heavy" dirty="0">
                <a:solidFill>
                  <a:srgbClr val="FF0000"/>
                </a:solidFill>
                <a:uFill>
                  <a:solidFill>
                    <a:srgbClr val="FF0000"/>
                  </a:solidFill>
                </a:uFill>
                <a:latin typeface="Times New Roman"/>
                <a:cs typeface="Times New Roman"/>
              </a:rPr>
              <a:t>slightly</a:t>
            </a:r>
            <a:r>
              <a:rPr sz="1500" u="heavy" spc="26" dirty="0">
                <a:solidFill>
                  <a:srgbClr val="FF0000"/>
                </a:solidFill>
                <a:uFill>
                  <a:solidFill>
                    <a:srgbClr val="FF0000"/>
                  </a:solidFill>
                </a:uFill>
                <a:latin typeface="Times New Roman"/>
                <a:cs typeface="Times New Roman"/>
              </a:rPr>
              <a:t> </a:t>
            </a:r>
            <a:r>
              <a:rPr sz="1500" u="heavy" spc="-9" dirty="0">
                <a:solidFill>
                  <a:srgbClr val="FF0000"/>
                </a:solidFill>
                <a:uFill>
                  <a:solidFill>
                    <a:srgbClr val="FF0000"/>
                  </a:solidFill>
                </a:uFill>
                <a:latin typeface="Times New Roman"/>
                <a:cs typeface="Times New Roman"/>
              </a:rPr>
              <a:t>longer</a:t>
            </a:r>
            <a:r>
              <a:rPr sz="1500" spc="-9" dirty="0">
                <a:solidFill>
                  <a:srgbClr val="FF0000"/>
                </a:solidFill>
                <a:latin typeface="Times New Roman"/>
                <a:cs typeface="Times New Roman"/>
              </a:rPr>
              <a:t> </a:t>
            </a:r>
            <a:r>
              <a:rPr sz="1500" u="heavy" dirty="0">
                <a:solidFill>
                  <a:srgbClr val="FF0000"/>
                </a:solidFill>
                <a:uFill>
                  <a:solidFill>
                    <a:srgbClr val="FF0000"/>
                  </a:solidFill>
                </a:uFill>
                <a:latin typeface="Times New Roman"/>
                <a:cs typeface="Times New Roman"/>
              </a:rPr>
              <a:t>stage</a:t>
            </a:r>
            <a:r>
              <a:rPr sz="1500" u="heavy" spc="35" dirty="0">
                <a:solidFill>
                  <a:srgbClr val="FF0000"/>
                </a:solidFill>
                <a:uFill>
                  <a:solidFill>
                    <a:srgbClr val="FF0000"/>
                  </a:solidFill>
                </a:uFill>
                <a:latin typeface="Times New Roman"/>
                <a:cs typeface="Times New Roman"/>
              </a:rPr>
              <a:t> </a:t>
            </a:r>
            <a:r>
              <a:rPr sz="1500" u="heavy" dirty="0">
                <a:solidFill>
                  <a:srgbClr val="FF0000"/>
                </a:solidFill>
                <a:uFill>
                  <a:solidFill>
                    <a:srgbClr val="FF0000"/>
                  </a:solidFill>
                </a:uFill>
                <a:latin typeface="Times New Roman"/>
                <a:cs typeface="Times New Roman"/>
              </a:rPr>
              <a:t>2</a:t>
            </a:r>
            <a:r>
              <a:rPr sz="1500" u="heavy" spc="35" dirty="0">
                <a:solidFill>
                  <a:srgbClr val="FF0000"/>
                </a:solidFill>
                <a:uFill>
                  <a:solidFill>
                    <a:srgbClr val="FF0000"/>
                  </a:solidFill>
                </a:uFill>
                <a:latin typeface="Times New Roman"/>
                <a:cs typeface="Times New Roman"/>
              </a:rPr>
              <a:t> </a:t>
            </a:r>
            <a:r>
              <a:rPr sz="1500" u="heavy" dirty="0">
                <a:solidFill>
                  <a:srgbClr val="FF0000"/>
                </a:solidFill>
                <a:uFill>
                  <a:solidFill>
                    <a:srgbClr val="FF0000"/>
                  </a:solidFill>
                </a:uFill>
                <a:latin typeface="Times New Roman"/>
                <a:cs typeface="Times New Roman"/>
              </a:rPr>
              <a:t>cycle</a:t>
            </a:r>
            <a:r>
              <a:rPr sz="1500" u="heavy" spc="40" dirty="0">
                <a:solidFill>
                  <a:srgbClr val="FF0000"/>
                </a:solidFill>
                <a:uFill>
                  <a:solidFill>
                    <a:srgbClr val="FF0000"/>
                  </a:solidFill>
                </a:uFill>
                <a:latin typeface="Times New Roman"/>
                <a:cs typeface="Times New Roman"/>
              </a:rPr>
              <a:t> </a:t>
            </a:r>
            <a:r>
              <a:rPr sz="1500" u="heavy" dirty="0">
                <a:solidFill>
                  <a:srgbClr val="FF0000"/>
                </a:solidFill>
                <a:uFill>
                  <a:solidFill>
                    <a:srgbClr val="FF0000"/>
                  </a:solidFill>
                </a:uFill>
                <a:latin typeface="Times New Roman"/>
                <a:cs typeface="Times New Roman"/>
              </a:rPr>
              <a:t>time</a:t>
            </a:r>
            <a:r>
              <a:rPr sz="1500" dirty="0">
                <a:solidFill>
                  <a:srgbClr val="FF0000"/>
                </a:solidFill>
                <a:latin typeface="Times New Roman"/>
                <a:cs typeface="Times New Roman"/>
              </a:rPr>
              <a:t>,</a:t>
            </a:r>
            <a:r>
              <a:rPr sz="1500" spc="26" dirty="0">
                <a:solidFill>
                  <a:srgbClr val="FF0000"/>
                </a:solidFill>
                <a:latin typeface="Times New Roman"/>
                <a:cs typeface="Times New Roman"/>
              </a:rPr>
              <a:t> </a:t>
            </a:r>
            <a:r>
              <a:rPr sz="1500" spc="-9" dirty="0">
                <a:solidFill>
                  <a:srgbClr val="FF0000"/>
                </a:solidFill>
                <a:latin typeface="Times New Roman"/>
                <a:cs typeface="Times New Roman"/>
              </a:rPr>
              <a:t>making </a:t>
            </a:r>
            <a:r>
              <a:rPr sz="1500" dirty="0">
                <a:solidFill>
                  <a:srgbClr val="FF0000"/>
                </a:solidFill>
                <a:latin typeface="Times New Roman"/>
                <a:cs typeface="Times New Roman"/>
              </a:rPr>
              <a:t>the</a:t>
            </a:r>
            <a:r>
              <a:rPr sz="1500" spc="26" dirty="0">
                <a:solidFill>
                  <a:srgbClr val="FF0000"/>
                </a:solidFill>
                <a:latin typeface="Times New Roman"/>
                <a:cs typeface="Times New Roman"/>
              </a:rPr>
              <a:t> </a:t>
            </a:r>
            <a:r>
              <a:rPr sz="1500" dirty="0">
                <a:solidFill>
                  <a:srgbClr val="FF0000"/>
                </a:solidFill>
                <a:latin typeface="Times New Roman"/>
                <a:cs typeface="Times New Roman"/>
              </a:rPr>
              <a:t>clock</a:t>
            </a:r>
            <a:r>
              <a:rPr sz="1500" spc="22" dirty="0">
                <a:solidFill>
                  <a:srgbClr val="FF0000"/>
                </a:solidFill>
                <a:latin typeface="Times New Roman"/>
                <a:cs typeface="Times New Roman"/>
              </a:rPr>
              <a:t> </a:t>
            </a:r>
            <a:r>
              <a:rPr sz="1500" dirty="0">
                <a:solidFill>
                  <a:srgbClr val="FF0000"/>
                </a:solidFill>
                <a:latin typeface="Times New Roman"/>
                <a:cs typeface="Times New Roman"/>
              </a:rPr>
              <a:t>a</a:t>
            </a:r>
            <a:r>
              <a:rPr sz="1500" spc="26" dirty="0">
                <a:solidFill>
                  <a:srgbClr val="FF0000"/>
                </a:solidFill>
                <a:latin typeface="Times New Roman"/>
                <a:cs typeface="Times New Roman"/>
              </a:rPr>
              <a:t> </a:t>
            </a:r>
            <a:r>
              <a:rPr sz="1500" dirty="0">
                <a:solidFill>
                  <a:srgbClr val="FF0000"/>
                </a:solidFill>
                <a:latin typeface="Times New Roman"/>
                <a:cs typeface="Times New Roman"/>
              </a:rPr>
              <a:t>little</a:t>
            </a:r>
            <a:r>
              <a:rPr sz="1500" spc="26" dirty="0">
                <a:solidFill>
                  <a:srgbClr val="FF0000"/>
                </a:solidFill>
                <a:latin typeface="Times New Roman"/>
                <a:cs typeface="Times New Roman"/>
              </a:rPr>
              <a:t> </a:t>
            </a:r>
            <a:r>
              <a:rPr sz="1500" dirty="0">
                <a:solidFill>
                  <a:srgbClr val="FF0000"/>
                </a:solidFill>
                <a:latin typeface="Times New Roman"/>
                <a:cs typeface="Times New Roman"/>
              </a:rPr>
              <a:t>slower</a:t>
            </a:r>
            <a:r>
              <a:rPr sz="1500" spc="26" dirty="0">
                <a:solidFill>
                  <a:srgbClr val="FF0000"/>
                </a:solidFill>
                <a:latin typeface="Times New Roman"/>
                <a:cs typeface="Times New Roman"/>
              </a:rPr>
              <a:t> </a:t>
            </a:r>
            <a:r>
              <a:rPr sz="1500" spc="-22" dirty="0">
                <a:solidFill>
                  <a:srgbClr val="FF0000"/>
                </a:solidFill>
                <a:latin typeface="Times New Roman"/>
                <a:cs typeface="Times New Roman"/>
              </a:rPr>
              <a:t>for </a:t>
            </a:r>
            <a:r>
              <a:rPr sz="1500" dirty="0">
                <a:solidFill>
                  <a:srgbClr val="FF0000"/>
                </a:solidFill>
                <a:latin typeface="Times New Roman"/>
                <a:cs typeface="Times New Roman"/>
              </a:rPr>
              <a:t>all</a:t>
            </a:r>
            <a:r>
              <a:rPr sz="1500" spc="13" dirty="0">
                <a:solidFill>
                  <a:srgbClr val="FF0000"/>
                </a:solidFill>
                <a:latin typeface="Times New Roman"/>
                <a:cs typeface="Times New Roman"/>
              </a:rPr>
              <a:t> </a:t>
            </a:r>
            <a:r>
              <a:rPr sz="1500" spc="-9" dirty="0">
                <a:solidFill>
                  <a:srgbClr val="FF0000"/>
                </a:solidFill>
                <a:latin typeface="Times New Roman"/>
                <a:cs typeface="Times New Roman"/>
              </a:rPr>
              <a:t>stages.</a:t>
            </a:r>
            <a:endParaRPr sz="1500" dirty="0">
              <a:latin typeface="Times New Roman"/>
              <a:cs typeface="Times New Roman"/>
            </a:endParaRPr>
          </a:p>
        </p:txBody>
      </p:sp>
      <p:grpSp>
        <p:nvGrpSpPr>
          <p:cNvPr id="122" name="object 122"/>
          <p:cNvGrpSpPr/>
          <p:nvPr/>
        </p:nvGrpSpPr>
        <p:grpSpPr>
          <a:xfrm>
            <a:off x="679532" y="5689701"/>
            <a:ext cx="7101728" cy="772085"/>
            <a:chOff x="617736" y="6448328"/>
            <a:chExt cx="8048625" cy="875030"/>
          </a:xfrm>
        </p:grpSpPr>
        <p:sp>
          <p:nvSpPr>
            <p:cNvPr id="123" name="object 123"/>
            <p:cNvSpPr/>
            <p:nvPr/>
          </p:nvSpPr>
          <p:spPr>
            <a:xfrm>
              <a:off x="2566045" y="6448328"/>
              <a:ext cx="824865" cy="351155"/>
            </a:xfrm>
            <a:custGeom>
              <a:avLst/>
              <a:gdLst/>
              <a:ahLst/>
              <a:cxnLst/>
              <a:rect l="l" t="t" r="r" b="b"/>
              <a:pathLst>
                <a:path w="824864" h="351154">
                  <a:moveTo>
                    <a:pt x="733587" y="322233"/>
                  </a:moveTo>
                  <a:lnTo>
                    <a:pt x="722179" y="350778"/>
                  </a:lnTo>
                  <a:lnTo>
                    <a:pt x="824854" y="342215"/>
                  </a:lnTo>
                  <a:lnTo>
                    <a:pt x="812178" y="327942"/>
                  </a:lnTo>
                  <a:lnTo>
                    <a:pt x="747848" y="327942"/>
                  </a:lnTo>
                  <a:lnTo>
                    <a:pt x="733587" y="322233"/>
                  </a:lnTo>
                  <a:close/>
                </a:path>
                <a:path w="824864" h="351154">
                  <a:moveTo>
                    <a:pt x="744996" y="293687"/>
                  </a:moveTo>
                  <a:lnTo>
                    <a:pt x="733587" y="322233"/>
                  </a:lnTo>
                  <a:lnTo>
                    <a:pt x="747848" y="327942"/>
                  </a:lnTo>
                  <a:lnTo>
                    <a:pt x="759256" y="299396"/>
                  </a:lnTo>
                  <a:lnTo>
                    <a:pt x="744996" y="293687"/>
                  </a:lnTo>
                  <a:close/>
                </a:path>
                <a:path w="824864" h="351154">
                  <a:moveTo>
                    <a:pt x="756404" y="265142"/>
                  </a:moveTo>
                  <a:lnTo>
                    <a:pt x="744996" y="293687"/>
                  </a:lnTo>
                  <a:lnTo>
                    <a:pt x="759256" y="299396"/>
                  </a:lnTo>
                  <a:lnTo>
                    <a:pt x="747848" y="327942"/>
                  </a:lnTo>
                  <a:lnTo>
                    <a:pt x="812178" y="327942"/>
                  </a:lnTo>
                  <a:lnTo>
                    <a:pt x="756404" y="265142"/>
                  </a:lnTo>
                  <a:close/>
                </a:path>
                <a:path w="824864" h="351154">
                  <a:moveTo>
                    <a:pt x="11408" y="0"/>
                  </a:moveTo>
                  <a:lnTo>
                    <a:pt x="0" y="28545"/>
                  </a:lnTo>
                  <a:lnTo>
                    <a:pt x="733587" y="322233"/>
                  </a:lnTo>
                  <a:lnTo>
                    <a:pt x="744996" y="293687"/>
                  </a:lnTo>
                  <a:lnTo>
                    <a:pt x="11408" y="0"/>
                  </a:lnTo>
                  <a:close/>
                </a:path>
              </a:pathLst>
            </a:custGeom>
            <a:solidFill>
              <a:srgbClr val="FF0000"/>
            </a:solidFill>
          </p:spPr>
          <p:txBody>
            <a:bodyPr wrap="square" lIns="0" tIns="0" rIns="0" bIns="0" rtlCol="0"/>
            <a:lstStyle/>
            <a:p>
              <a:endParaRPr sz="1588"/>
            </a:p>
          </p:txBody>
        </p:sp>
        <p:sp>
          <p:nvSpPr>
            <p:cNvPr id="124" name="object 124"/>
            <p:cNvSpPr/>
            <p:nvPr/>
          </p:nvSpPr>
          <p:spPr>
            <a:xfrm>
              <a:off x="617736" y="6954308"/>
              <a:ext cx="8048625" cy="368935"/>
            </a:xfrm>
            <a:custGeom>
              <a:avLst/>
              <a:gdLst/>
              <a:ahLst/>
              <a:cxnLst/>
              <a:rect l="l" t="t" r="r" b="b"/>
              <a:pathLst>
                <a:path w="8048625" h="368934">
                  <a:moveTo>
                    <a:pt x="8048149" y="0"/>
                  </a:moveTo>
                  <a:lnTo>
                    <a:pt x="0" y="0"/>
                  </a:lnTo>
                  <a:lnTo>
                    <a:pt x="0" y="368935"/>
                  </a:lnTo>
                  <a:lnTo>
                    <a:pt x="8048149" y="368935"/>
                  </a:lnTo>
                  <a:lnTo>
                    <a:pt x="8048149" y="0"/>
                  </a:lnTo>
                  <a:close/>
                </a:path>
              </a:pathLst>
            </a:custGeom>
            <a:solidFill>
              <a:srgbClr val="FFFFFF"/>
            </a:solidFill>
          </p:spPr>
          <p:txBody>
            <a:bodyPr wrap="square" lIns="0" tIns="0" rIns="0" bIns="0" rtlCol="0"/>
            <a:lstStyle/>
            <a:p>
              <a:endParaRPr sz="1588"/>
            </a:p>
          </p:txBody>
        </p:sp>
      </p:grpSp>
      <p:sp>
        <p:nvSpPr>
          <p:cNvPr id="125" name="object 125"/>
          <p:cNvSpPr txBox="1"/>
          <p:nvPr/>
        </p:nvSpPr>
        <p:spPr>
          <a:xfrm>
            <a:off x="754157" y="6163395"/>
            <a:ext cx="5790079" cy="243656"/>
          </a:xfrm>
          <a:prstGeom prst="rect">
            <a:avLst/>
          </a:prstGeom>
        </p:spPr>
        <p:txBody>
          <a:bodyPr vert="horz" wrap="square" lIns="0" tIns="0" rIns="0" bIns="0" rtlCol="0">
            <a:spAutoFit/>
          </a:bodyPr>
          <a:lstStyle/>
          <a:p>
            <a:pPr marL="11206">
              <a:lnSpc>
                <a:spcPts val="1919"/>
              </a:lnSpc>
            </a:pPr>
            <a:r>
              <a:rPr sz="1677" dirty="0">
                <a:latin typeface="Times New Roman"/>
                <a:cs typeface="Times New Roman"/>
              </a:rPr>
              <a:t>•</a:t>
            </a:r>
            <a:r>
              <a:rPr sz="1677" spc="40" dirty="0">
                <a:latin typeface="Times New Roman"/>
                <a:cs typeface="Times New Roman"/>
              </a:rPr>
              <a:t> </a:t>
            </a:r>
            <a:r>
              <a:rPr sz="1677" b="1" dirty="0">
                <a:latin typeface="Times New Roman"/>
                <a:cs typeface="Times New Roman"/>
              </a:rPr>
              <a:t>Example</a:t>
            </a:r>
            <a:r>
              <a:rPr sz="1677" b="1" spc="53" dirty="0">
                <a:latin typeface="Times New Roman"/>
                <a:cs typeface="Times New Roman"/>
              </a:rPr>
              <a:t> </a:t>
            </a:r>
            <a:r>
              <a:rPr sz="1677" b="1" dirty="0">
                <a:latin typeface="Times New Roman"/>
                <a:cs typeface="Times New Roman"/>
              </a:rPr>
              <a:t>of</a:t>
            </a:r>
            <a:r>
              <a:rPr sz="1677" b="1" spc="49" dirty="0">
                <a:latin typeface="Times New Roman"/>
                <a:cs typeface="Times New Roman"/>
              </a:rPr>
              <a:t> </a:t>
            </a:r>
            <a:r>
              <a:rPr sz="1677" b="1" dirty="0">
                <a:latin typeface="Times New Roman"/>
                <a:cs typeface="Times New Roman"/>
              </a:rPr>
              <a:t>interplay</a:t>
            </a:r>
            <a:r>
              <a:rPr sz="1677" b="1" spc="53" dirty="0">
                <a:latin typeface="Times New Roman"/>
                <a:cs typeface="Times New Roman"/>
              </a:rPr>
              <a:t> </a:t>
            </a:r>
            <a:r>
              <a:rPr sz="1677" b="1" dirty="0">
                <a:latin typeface="Times New Roman"/>
                <a:cs typeface="Times New Roman"/>
              </a:rPr>
              <a:t>of</a:t>
            </a:r>
            <a:r>
              <a:rPr sz="1677" b="1" spc="49" dirty="0">
                <a:latin typeface="Times New Roman"/>
                <a:cs typeface="Times New Roman"/>
              </a:rPr>
              <a:t> </a:t>
            </a:r>
            <a:r>
              <a:rPr sz="1677" b="1" dirty="0">
                <a:latin typeface="Times New Roman"/>
                <a:cs typeface="Times New Roman"/>
              </a:rPr>
              <a:t>instruction</a:t>
            </a:r>
            <a:r>
              <a:rPr sz="1677" b="1" spc="53" dirty="0">
                <a:latin typeface="Times New Roman"/>
                <a:cs typeface="Times New Roman"/>
              </a:rPr>
              <a:t> </a:t>
            </a:r>
            <a:r>
              <a:rPr sz="1677" b="1" dirty="0">
                <a:latin typeface="Times New Roman"/>
                <a:cs typeface="Times New Roman"/>
              </a:rPr>
              <a:t>set</a:t>
            </a:r>
            <a:r>
              <a:rPr sz="1677" b="1" spc="49" dirty="0">
                <a:latin typeface="Times New Roman"/>
                <a:cs typeface="Times New Roman"/>
              </a:rPr>
              <a:t> </a:t>
            </a:r>
            <a:r>
              <a:rPr sz="1677" b="1" dirty="0">
                <a:latin typeface="Times New Roman"/>
                <a:cs typeface="Times New Roman"/>
              </a:rPr>
              <a:t>design</a:t>
            </a:r>
            <a:r>
              <a:rPr sz="1677" b="1" spc="53" dirty="0">
                <a:latin typeface="Times New Roman"/>
                <a:cs typeface="Times New Roman"/>
              </a:rPr>
              <a:t> </a:t>
            </a:r>
            <a:r>
              <a:rPr sz="1677" b="1" dirty="0">
                <a:latin typeface="Times New Roman"/>
                <a:cs typeface="Times New Roman"/>
              </a:rPr>
              <a:t>and</a:t>
            </a:r>
            <a:r>
              <a:rPr sz="1677" b="1" spc="53" dirty="0">
                <a:latin typeface="Times New Roman"/>
                <a:cs typeface="Times New Roman"/>
              </a:rPr>
              <a:t> </a:t>
            </a:r>
            <a:r>
              <a:rPr sz="1677" b="1" dirty="0">
                <a:latin typeface="Times New Roman"/>
                <a:cs typeface="Times New Roman"/>
              </a:rPr>
              <a:t>cycle</a:t>
            </a:r>
            <a:r>
              <a:rPr sz="1677" b="1" spc="49" dirty="0">
                <a:latin typeface="Times New Roman"/>
                <a:cs typeface="Times New Roman"/>
              </a:rPr>
              <a:t> </a:t>
            </a:r>
            <a:r>
              <a:rPr sz="1677" b="1" spc="-9" dirty="0">
                <a:latin typeface="Times New Roman"/>
                <a:cs typeface="Times New Roman"/>
              </a:rPr>
              <a:t>time.</a:t>
            </a:r>
            <a:endParaRPr sz="1677">
              <a:latin typeface="Times New Roman"/>
              <a:cs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863061" y="1390336"/>
            <a:ext cx="0" cy="4746251"/>
          </a:xfrm>
          <a:custGeom>
            <a:avLst/>
            <a:gdLst/>
            <a:ahLst/>
            <a:cxnLst/>
            <a:rect l="l" t="t" r="r" b="b"/>
            <a:pathLst>
              <a:path h="5379084">
                <a:moveTo>
                  <a:pt x="0" y="0"/>
                </a:moveTo>
                <a:lnTo>
                  <a:pt x="0" y="5378594"/>
                </a:lnTo>
              </a:path>
            </a:pathLst>
          </a:custGeom>
          <a:ln w="30719">
            <a:solidFill>
              <a:srgbClr val="000000"/>
            </a:solidFill>
          </a:ln>
        </p:spPr>
        <p:txBody>
          <a:bodyPr wrap="square" lIns="0" tIns="0" rIns="0" bIns="0" rtlCol="0"/>
          <a:lstStyle/>
          <a:p>
            <a:endParaRPr sz="1588"/>
          </a:p>
        </p:txBody>
      </p:sp>
      <p:sp>
        <p:nvSpPr>
          <p:cNvPr id="3" name="object 3"/>
          <p:cNvSpPr/>
          <p:nvPr/>
        </p:nvSpPr>
        <p:spPr>
          <a:xfrm>
            <a:off x="4788834" y="1381293"/>
            <a:ext cx="0" cy="4755216"/>
          </a:xfrm>
          <a:custGeom>
            <a:avLst/>
            <a:gdLst/>
            <a:ahLst/>
            <a:cxnLst/>
            <a:rect l="l" t="t" r="r" b="b"/>
            <a:pathLst>
              <a:path h="5389245">
                <a:moveTo>
                  <a:pt x="0" y="0"/>
                </a:moveTo>
                <a:lnTo>
                  <a:pt x="0" y="5388842"/>
                </a:lnTo>
              </a:path>
            </a:pathLst>
          </a:custGeom>
          <a:ln w="30719">
            <a:solidFill>
              <a:srgbClr val="000000"/>
            </a:solidFill>
          </a:ln>
        </p:spPr>
        <p:txBody>
          <a:bodyPr wrap="square" lIns="0" tIns="0" rIns="0" bIns="0" rtlCol="0"/>
          <a:lstStyle/>
          <a:p>
            <a:endParaRPr sz="1588"/>
          </a:p>
        </p:txBody>
      </p:sp>
      <p:sp>
        <p:nvSpPr>
          <p:cNvPr id="4" name="object 4"/>
          <p:cNvSpPr/>
          <p:nvPr/>
        </p:nvSpPr>
        <p:spPr>
          <a:xfrm>
            <a:off x="6360879" y="1397871"/>
            <a:ext cx="0" cy="4738407"/>
          </a:xfrm>
          <a:custGeom>
            <a:avLst/>
            <a:gdLst/>
            <a:ahLst/>
            <a:cxnLst/>
            <a:rect l="l" t="t" r="r" b="b"/>
            <a:pathLst>
              <a:path h="5370195">
                <a:moveTo>
                  <a:pt x="0" y="0"/>
                </a:moveTo>
                <a:lnTo>
                  <a:pt x="0" y="5370054"/>
                </a:lnTo>
              </a:path>
            </a:pathLst>
          </a:custGeom>
          <a:ln w="30719">
            <a:solidFill>
              <a:srgbClr val="000000"/>
            </a:solidFill>
          </a:ln>
        </p:spPr>
        <p:txBody>
          <a:bodyPr wrap="square" lIns="0" tIns="0" rIns="0" bIns="0" rtlCol="0"/>
          <a:lstStyle/>
          <a:p>
            <a:endParaRPr sz="1588"/>
          </a:p>
        </p:txBody>
      </p:sp>
      <p:sp>
        <p:nvSpPr>
          <p:cNvPr id="5" name="object 5"/>
          <p:cNvSpPr/>
          <p:nvPr/>
        </p:nvSpPr>
        <p:spPr>
          <a:xfrm>
            <a:off x="7776322" y="1381293"/>
            <a:ext cx="0" cy="5063938"/>
          </a:xfrm>
          <a:custGeom>
            <a:avLst/>
            <a:gdLst/>
            <a:ahLst/>
            <a:cxnLst/>
            <a:rect l="l" t="t" r="r" b="b"/>
            <a:pathLst>
              <a:path h="5739130">
                <a:moveTo>
                  <a:pt x="0" y="0"/>
                </a:moveTo>
                <a:lnTo>
                  <a:pt x="1" y="5738989"/>
                </a:lnTo>
              </a:path>
            </a:pathLst>
          </a:custGeom>
          <a:ln w="30718">
            <a:solidFill>
              <a:srgbClr val="000000"/>
            </a:solidFill>
          </a:ln>
        </p:spPr>
        <p:txBody>
          <a:bodyPr wrap="square" lIns="0" tIns="0" rIns="0" bIns="0" rtlCol="0"/>
          <a:lstStyle/>
          <a:p>
            <a:endParaRPr sz="1588"/>
          </a:p>
        </p:txBody>
      </p:sp>
      <p:grpSp>
        <p:nvGrpSpPr>
          <p:cNvPr id="6" name="object 6"/>
          <p:cNvGrpSpPr/>
          <p:nvPr/>
        </p:nvGrpSpPr>
        <p:grpSpPr>
          <a:xfrm>
            <a:off x="3422906" y="2461711"/>
            <a:ext cx="440390" cy="760318"/>
            <a:chOff x="3726893" y="2789939"/>
            <a:chExt cx="499109" cy="861694"/>
          </a:xfrm>
        </p:grpSpPr>
        <p:sp>
          <p:nvSpPr>
            <p:cNvPr id="7" name="object 7"/>
            <p:cNvSpPr/>
            <p:nvPr/>
          </p:nvSpPr>
          <p:spPr>
            <a:xfrm>
              <a:off x="3742451" y="2805497"/>
              <a:ext cx="467995" cy="830580"/>
            </a:xfrm>
            <a:custGeom>
              <a:avLst/>
              <a:gdLst/>
              <a:ahLst/>
              <a:cxnLst/>
              <a:rect l="l" t="t" r="r" b="b"/>
              <a:pathLst>
                <a:path w="467995" h="830579">
                  <a:moveTo>
                    <a:pt x="0" y="0"/>
                  </a:moveTo>
                  <a:lnTo>
                    <a:pt x="0" y="830103"/>
                  </a:lnTo>
                  <a:lnTo>
                    <a:pt x="467598" y="622578"/>
                  </a:lnTo>
                  <a:lnTo>
                    <a:pt x="467598" y="207525"/>
                  </a:lnTo>
                  <a:lnTo>
                    <a:pt x="0" y="0"/>
                  </a:lnTo>
                  <a:close/>
                </a:path>
              </a:pathLst>
            </a:custGeom>
            <a:solidFill>
              <a:srgbClr val="FC0128"/>
            </a:solidFill>
          </p:spPr>
          <p:txBody>
            <a:bodyPr wrap="square" lIns="0" tIns="0" rIns="0" bIns="0" rtlCol="0"/>
            <a:lstStyle/>
            <a:p>
              <a:endParaRPr sz="1588"/>
            </a:p>
          </p:txBody>
        </p:sp>
        <p:sp>
          <p:nvSpPr>
            <p:cNvPr id="8" name="object 8"/>
            <p:cNvSpPr/>
            <p:nvPr/>
          </p:nvSpPr>
          <p:spPr>
            <a:xfrm>
              <a:off x="3742451" y="2805497"/>
              <a:ext cx="467995" cy="830580"/>
            </a:xfrm>
            <a:custGeom>
              <a:avLst/>
              <a:gdLst/>
              <a:ahLst/>
              <a:cxnLst/>
              <a:rect l="l" t="t" r="r" b="b"/>
              <a:pathLst>
                <a:path w="467995" h="830579">
                  <a:moveTo>
                    <a:pt x="0" y="830103"/>
                  </a:moveTo>
                  <a:lnTo>
                    <a:pt x="467598" y="622577"/>
                  </a:lnTo>
                  <a:lnTo>
                    <a:pt x="467598" y="207525"/>
                  </a:lnTo>
                  <a:lnTo>
                    <a:pt x="0" y="0"/>
                  </a:lnTo>
                  <a:lnTo>
                    <a:pt x="0" y="830103"/>
                  </a:lnTo>
                  <a:close/>
                </a:path>
              </a:pathLst>
            </a:custGeom>
            <a:ln w="30738">
              <a:solidFill>
                <a:srgbClr val="000000"/>
              </a:solidFill>
            </a:ln>
          </p:spPr>
          <p:txBody>
            <a:bodyPr wrap="square" lIns="0" tIns="0" rIns="0" bIns="0" rtlCol="0"/>
            <a:lstStyle/>
            <a:p>
              <a:endParaRPr sz="1588"/>
            </a:p>
          </p:txBody>
        </p:sp>
      </p:grpSp>
      <p:sp>
        <p:nvSpPr>
          <p:cNvPr id="9" name="object 9"/>
          <p:cNvSpPr txBox="1"/>
          <p:nvPr/>
        </p:nvSpPr>
        <p:spPr>
          <a:xfrm>
            <a:off x="3577032" y="2574663"/>
            <a:ext cx="218008" cy="546287"/>
          </a:xfrm>
          <a:prstGeom prst="rect">
            <a:avLst/>
          </a:prstGeom>
        </p:spPr>
        <p:txBody>
          <a:bodyPr vert="vert" wrap="square" lIns="0" tIns="0" rIns="0" bIns="0" rtlCol="0">
            <a:spAutoFit/>
          </a:bodyPr>
          <a:lstStyle/>
          <a:p>
            <a:pPr marL="11206">
              <a:lnSpc>
                <a:spcPts val="1725"/>
              </a:lnSpc>
            </a:pPr>
            <a:r>
              <a:rPr sz="1500" b="1" spc="-9" dirty="0">
                <a:latin typeface="Times New Roman"/>
                <a:cs typeface="Times New Roman"/>
              </a:rPr>
              <a:t>Adder</a:t>
            </a:r>
            <a:endParaRPr sz="1500">
              <a:latin typeface="Times New Roman"/>
              <a:cs typeface="Times New Roman"/>
            </a:endParaRPr>
          </a:p>
        </p:txBody>
      </p:sp>
      <p:grpSp>
        <p:nvGrpSpPr>
          <p:cNvPr id="10" name="object 10"/>
          <p:cNvGrpSpPr/>
          <p:nvPr/>
        </p:nvGrpSpPr>
        <p:grpSpPr>
          <a:xfrm>
            <a:off x="2548217" y="2461711"/>
            <a:ext cx="867335" cy="3188074"/>
            <a:chOff x="2735579" y="2789939"/>
            <a:chExt cx="982980" cy="3613150"/>
          </a:xfrm>
        </p:grpSpPr>
        <p:sp>
          <p:nvSpPr>
            <p:cNvPr id="11" name="object 11"/>
            <p:cNvSpPr/>
            <p:nvPr/>
          </p:nvSpPr>
          <p:spPr>
            <a:xfrm>
              <a:off x="2735579" y="2887484"/>
              <a:ext cx="982980" cy="92710"/>
            </a:xfrm>
            <a:custGeom>
              <a:avLst/>
              <a:gdLst/>
              <a:ahLst/>
              <a:cxnLst/>
              <a:rect l="l" t="t" r="r" b="b"/>
              <a:pathLst>
                <a:path w="982979" h="92710">
                  <a:moveTo>
                    <a:pt x="890824" y="0"/>
                  </a:moveTo>
                  <a:lnTo>
                    <a:pt x="890824" y="92233"/>
                  </a:lnTo>
                  <a:lnTo>
                    <a:pt x="952262" y="61488"/>
                  </a:lnTo>
                  <a:lnTo>
                    <a:pt x="906185" y="61488"/>
                  </a:lnTo>
                  <a:lnTo>
                    <a:pt x="906185" y="30744"/>
                  </a:lnTo>
                  <a:lnTo>
                    <a:pt x="952261" y="30744"/>
                  </a:lnTo>
                  <a:lnTo>
                    <a:pt x="890824" y="0"/>
                  </a:lnTo>
                  <a:close/>
                </a:path>
                <a:path w="982979" h="92710">
                  <a:moveTo>
                    <a:pt x="890824" y="30744"/>
                  </a:moveTo>
                  <a:lnTo>
                    <a:pt x="0" y="30744"/>
                  </a:lnTo>
                  <a:lnTo>
                    <a:pt x="0" y="61488"/>
                  </a:lnTo>
                  <a:lnTo>
                    <a:pt x="890824" y="61488"/>
                  </a:lnTo>
                  <a:lnTo>
                    <a:pt x="890824" y="30744"/>
                  </a:lnTo>
                  <a:close/>
                </a:path>
                <a:path w="982979" h="92710">
                  <a:moveTo>
                    <a:pt x="952261" y="30744"/>
                  </a:moveTo>
                  <a:lnTo>
                    <a:pt x="906185" y="30744"/>
                  </a:lnTo>
                  <a:lnTo>
                    <a:pt x="906185" y="61488"/>
                  </a:lnTo>
                  <a:lnTo>
                    <a:pt x="952262" y="61488"/>
                  </a:lnTo>
                  <a:lnTo>
                    <a:pt x="982980" y="46116"/>
                  </a:lnTo>
                  <a:lnTo>
                    <a:pt x="952261" y="30744"/>
                  </a:lnTo>
                  <a:close/>
                </a:path>
              </a:pathLst>
            </a:custGeom>
            <a:solidFill>
              <a:srgbClr val="FF0000"/>
            </a:solidFill>
          </p:spPr>
          <p:txBody>
            <a:bodyPr wrap="square" lIns="0" tIns="0" rIns="0" bIns="0" rtlCol="0"/>
            <a:lstStyle/>
            <a:p>
              <a:endParaRPr sz="1588"/>
            </a:p>
          </p:txBody>
        </p:sp>
        <p:sp>
          <p:nvSpPr>
            <p:cNvPr id="12" name="object 12"/>
            <p:cNvSpPr/>
            <p:nvPr/>
          </p:nvSpPr>
          <p:spPr>
            <a:xfrm>
              <a:off x="2926714" y="2805497"/>
              <a:ext cx="327660" cy="3582035"/>
            </a:xfrm>
            <a:custGeom>
              <a:avLst/>
              <a:gdLst/>
              <a:ahLst/>
              <a:cxnLst/>
              <a:rect l="l" t="t" r="r" b="b"/>
              <a:pathLst>
                <a:path w="327660" h="3582035">
                  <a:moveTo>
                    <a:pt x="327660" y="0"/>
                  </a:moveTo>
                  <a:lnTo>
                    <a:pt x="0" y="0"/>
                  </a:lnTo>
                  <a:lnTo>
                    <a:pt x="0" y="3581744"/>
                  </a:lnTo>
                  <a:lnTo>
                    <a:pt x="327660" y="3581744"/>
                  </a:lnTo>
                  <a:lnTo>
                    <a:pt x="327660" y="0"/>
                  </a:lnTo>
                  <a:close/>
                </a:path>
              </a:pathLst>
            </a:custGeom>
            <a:solidFill>
              <a:srgbClr val="07F707"/>
            </a:solidFill>
          </p:spPr>
          <p:txBody>
            <a:bodyPr wrap="square" lIns="0" tIns="0" rIns="0" bIns="0" rtlCol="0"/>
            <a:lstStyle/>
            <a:p>
              <a:endParaRPr sz="1588"/>
            </a:p>
          </p:txBody>
        </p:sp>
        <p:sp>
          <p:nvSpPr>
            <p:cNvPr id="13" name="object 13"/>
            <p:cNvSpPr/>
            <p:nvPr/>
          </p:nvSpPr>
          <p:spPr>
            <a:xfrm>
              <a:off x="2926714" y="2805497"/>
              <a:ext cx="327660" cy="3582035"/>
            </a:xfrm>
            <a:custGeom>
              <a:avLst/>
              <a:gdLst/>
              <a:ahLst/>
              <a:cxnLst/>
              <a:rect l="l" t="t" r="r" b="b"/>
              <a:pathLst>
                <a:path w="327660" h="3582035">
                  <a:moveTo>
                    <a:pt x="0" y="0"/>
                  </a:moveTo>
                  <a:lnTo>
                    <a:pt x="327659" y="0"/>
                  </a:lnTo>
                  <a:lnTo>
                    <a:pt x="327659" y="3581744"/>
                  </a:lnTo>
                  <a:lnTo>
                    <a:pt x="0" y="3581744"/>
                  </a:lnTo>
                  <a:lnTo>
                    <a:pt x="0" y="0"/>
                  </a:lnTo>
                  <a:close/>
                </a:path>
              </a:pathLst>
            </a:custGeom>
            <a:ln w="30718">
              <a:solidFill>
                <a:srgbClr val="000000"/>
              </a:solidFill>
            </a:ln>
          </p:spPr>
          <p:txBody>
            <a:bodyPr wrap="square" lIns="0" tIns="0" rIns="0" bIns="0" rtlCol="0"/>
            <a:lstStyle/>
            <a:p>
              <a:endParaRPr sz="1588"/>
            </a:p>
          </p:txBody>
        </p:sp>
      </p:grpSp>
      <p:sp>
        <p:nvSpPr>
          <p:cNvPr id="14" name="object 14"/>
          <p:cNvSpPr txBox="1"/>
          <p:nvPr/>
        </p:nvSpPr>
        <p:spPr>
          <a:xfrm>
            <a:off x="2734939" y="3787588"/>
            <a:ext cx="243656" cy="540124"/>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IF/ID</a:t>
            </a:r>
            <a:endParaRPr sz="1677">
              <a:latin typeface="Times New Roman"/>
              <a:cs typeface="Times New Roman"/>
            </a:endParaRPr>
          </a:p>
        </p:txBody>
      </p:sp>
      <p:grpSp>
        <p:nvGrpSpPr>
          <p:cNvPr id="15" name="object 15"/>
          <p:cNvGrpSpPr/>
          <p:nvPr/>
        </p:nvGrpSpPr>
        <p:grpSpPr>
          <a:xfrm>
            <a:off x="1691248" y="3393092"/>
            <a:ext cx="6446743" cy="2256865"/>
            <a:chOff x="1764347" y="3845504"/>
            <a:chExt cx="7306309" cy="2557780"/>
          </a:xfrm>
        </p:grpSpPr>
        <p:sp>
          <p:nvSpPr>
            <p:cNvPr id="16" name="object 16"/>
            <p:cNvSpPr/>
            <p:nvPr/>
          </p:nvSpPr>
          <p:spPr>
            <a:xfrm>
              <a:off x="2926715" y="6087591"/>
              <a:ext cx="327660" cy="299720"/>
            </a:xfrm>
            <a:custGeom>
              <a:avLst/>
              <a:gdLst/>
              <a:ahLst/>
              <a:cxnLst/>
              <a:rect l="l" t="t" r="r" b="b"/>
              <a:pathLst>
                <a:path w="327660" h="299720">
                  <a:moveTo>
                    <a:pt x="0" y="299649"/>
                  </a:moveTo>
                  <a:lnTo>
                    <a:pt x="163829" y="0"/>
                  </a:lnTo>
                  <a:lnTo>
                    <a:pt x="327659" y="299649"/>
                  </a:lnTo>
                  <a:lnTo>
                    <a:pt x="0" y="299649"/>
                  </a:lnTo>
                  <a:close/>
                </a:path>
              </a:pathLst>
            </a:custGeom>
            <a:ln w="30732">
              <a:solidFill>
                <a:srgbClr val="000000"/>
              </a:solidFill>
            </a:ln>
          </p:spPr>
          <p:txBody>
            <a:bodyPr wrap="square" lIns="0" tIns="0" rIns="0" bIns="0" rtlCol="0"/>
            <a:lstStyle/>
            <a:p>
              <a:endParaRPr sz="1588"/>
            </a:p>
          </p:txBody>
        </p:sp>
        <p:sp>
          <p:nvSpPr>
            <p:cNvPr id="17" name="object 17"/>
            <p:cNvSpPr/>
            <p:nvPr/>
          </p:nvSpPr>
          <p:spPr>
            <a:xfrm>
              <a:off x="8333104" y="4798772"/>
              <a:ext cx="737235" cy="92710"/>
            </a:xfrm>
            <a:custGeom>
              <a:avLst/>
              <a:gdLst/>
              <a:ahLst/>
              <a:cxnLst/>
              <a:rect l="l" t="t" r="r" b="b"/>
              <a:pathLst>
                <a:path w="737234" h="92710">
                  <a:moveTo>
                    <a:pt x="645079" y="0"/>
                  </a:moveTo>
                  <a:lnTo>
                    <a:pt x="645079" y="92233"/>
                  </a:lnTo>
                  <a:lnTo>
                    <a:pt x="706517" y="61488"/>
                  </a:lnTo>
                  <a:lnTo>
                    <a:pt x="660439" y="61488"/>
                  </a:lnTo>
                  <a:lnTo>
                    <a:pt x="660439" y="30744"/>
                  </a:lnTo>
                  <a:lnTo>
                    <a:pt x="706516" y="30744"/>
                  </a:lnTo>
                  <a:lnTo>
                    <a:pt x="645079" y="0"/>
                  </a:lnTo>
                  <a:close/>
                </a:path>
                <a:path w="737234" h="92710">
                  <a:moveTo>
                    <a:pt x="645079" y="30744"/>
                  </a:moveTo>
                  <a:lnTo>
                    <a:pt x="0" y="30744"/>
                  </a:lnTo>
                  <a:lnTo>
                    <a:pt x="0" y="61488"/>
                  </a:lnTo>
                  <a:lnTo>
                    <a:pt x="645079" y="61488"/>
                  </a:lnTo>
                  <a:lnTo>
                    <a:pt x="645079" y="30744"/>
                  </a:lnTo>
                  <a:close/>
                </a:path>
                <a:path w="737234" h="92710">
                  <a:moveTo>
                    <a:pt x="706516" y="30744"/>
                  </a:moveTo>
                  <a:lnTo>
                    <a:pt x="660439" y="30744"/>
                  </a:lnTo>
                  <a:lnTo>
                    <a:pt x="660439" y="61488"/>
                  </a:lnTo>
                  <a:lnTo>
                    <a:pt x="706517" y="61488"/>
                  </a:lnTo>
                  <a:lnTo>
                    <a:pt x="737235" y="46116"/>
                  </a:lnTo>
                  <a:lnTo>
                    <a:pt x="706516" y="30744"/>
                  </a:lnTo>
                  <a:close/>
                </a:path>
              </a:pathLst>
            </a:custGeom>
            <a:solidFill>
              <a:srgbClr val="000000"/>
            </a:solidFill>
          </p:spPr>
          <p:txBody>
            <a:bodyPr wrap="square" lIns="0" tIns="0" rIns="0" bIns="0" rtlCol="0"/>
            <a:lstStyle/>
            <a:p>
              <a:endParaRPr sz="1588"/>
            </a:p>
          </p:txBody>
        </p:sp>
        <p:sp>
          <p:nvSpPr>
            <p:cNvPr id="18" name="object 18"/>
            <p:cNvSpPr/>
            <p:nvPr/>
          </p:nvSpPr>
          <p:spPr>
            <a:xfrm>
              <a:off x="6310839" y="3861061"/>
              <a:ext cx="457834" cy="1178560"/>
            </a:xfrm>
            <a:custGeom>
              <a:avLst/>
              <a:gdLst/>
              <a:ahLst/>
              <a:cxnLst/>
              <a:rect l="l" t="t" r="r" b="b"/>
              <a:pathLst>
                <a:path w="457834" h="1178560">
                  <a:moveTo>
                    <a:pt x="0" y="0"/>
                  </a:moveTo>
                  <a:lnTo>
                    <a:pt x="0" y="1178542"/>
                  </a:lnTo>
                  <a:lnTo>
                    <a:pt x="457360" y="883906"/>
                  </a:lnTo>
                  <a:lnTo>
                    <a:pt x="457360" y="294634"/>
                  </a:lnTo>
                  <a:lnTo>
                    <a:pt x="0" y="0"/>
                  </a:lnTo>
                  <a:close/>
                </a:path>
              </a:pathLst>
            </a:custGeom>
            <a:solidFill>
              <a:srgbClr val="618FFD"/>
            </a:solidFill>
          </p:spPr>
          <p:txBody>
            <a:bodyPr wrap="square" lIns="0" tIns="0" rIns="0" bIns="0" rtlCol="0"/>
            <a:lstStyle/>
            <a:p>
              <a:endParaRPr sz="1588"/>
            </a:p>
          </p:txBody>
        </p:sp>
        <p:sp>
          <p:nvSpPr>
            <p:cNvPr id="19" name="object 19"/>
            <p:cNvSpPr/>
            <p:nvPr/>
          </p:nvSpPr>
          <p:spPr>
            <a:xfrm>
              <a:off x="6310839" y="3861061"/>
              <a:ext cx="457834" cy="1178560"/>
            </a:xfrm>
            <a:custGeom>
              <a:avLst/>
              <a:gdLst/>
              <a:ahLst/>
              <a:cxnLst/>
              <a:rect l="l" t="t" r="r" b="b"/>
              <a:pathLst>
                <a:path w="457834" h="1178560">
                  <a:moveTo>
                    <a:pt x="0" y="1178542"/>
                  </a:moveTo>
                  <a:lnTo>
                    <a:pt x="457359" y="883906"/>
                  </a:lnTo>
                  <a:lnTo>
                    <a:pt x="457359" y="294635"/>
                  </a:lnTo>
                  <a:lnTo>
                    <a:pt x="0" y="0"/>
                  </a:lnTo>
                  <a:lnTo>
                    <a:pt x="0" y="1178542"/>
                  </a:lnTo>
                  <a:close/>
                </a:path>
              </a:pathLst>
            </a:custGeom>
            <a:ln w="30741">
              <a:solidFill>
                <a:srgbClr val="000000"/>
              </a:solidFill>
            </a:ln>
          </p:spPr>
          <p:txBody>
            <a:bodyPr wrap="square" lIns="0" tIns="0" rIns="0" bIns="0" rtlCol="0"/>
            <a:lstStyle/>
            <a:p>
              <a:endParaRPr sz="1588"/>
            </a:p>
          </p:txBody>
        </p:sp>
        <p:sp>
          <p:nvSpPr>
            <p:cNvPr id="20" name="object 20"/>
            <p:cNvSpPr/>
            <p:nvPr/>
          </p:nvSpPr>
          <p:spPr>
            <a:xfrm>
              <a:off x="6285230" y="4219244"/>
              <a:ext cx="220345" cy="356870"/>
            </a:xfrm>
            <a:custGeom>
              <a:avLst/>
              <a:gdLst/>
              <a:ahLst/>
              <a:cxnLst/>
              <a:rect l="l" t="t" r="r" b="b"/>
              <a:pathLst>
                <a:path w="220345" h="356870">
                  <a:moveTo>
                    <a:pt x="220154" y="178371"/>
                  </a:moveTo>
                  <a:lnTo>
                    <a:pt x="202145" y="163791"/>
                  </a:lnTo>
                  <a:lnTo>
                    <a:pt x="20485" y="0"/>
                  </a:lnTo>
                  <a:lnTo>
                    <a:pt x="20485" y="16598"/>
                  </a:lnTo>
                  <a:lnTo>
                    <a:pt x="0" y="0"/>
                  </a:lnTo>
                  <a:lnTo>
                    <a:pt x="0" y="356743"/>
                  </a:lnTo>
                  <a:lnTo>
                    <a:pt x="20485" y="340156"/>
                  </a:lnTo>
                  <a:lnTo>
                    <a:pt x="20485" y="353860"/>
                  </a:lnTo>
                  <a:lnTo>
                    <a:pt x="170700" y="218440"/>
                  </a:lnTo>
                  <a:lnTo>
                    <a:pt x="220154" y="178371"/>
                  </a:lnTo>
                  <a:close/>
                </a:path>
              </a:pathLst>
            </a:custGeom>
            <a:solidFill>
              <a:srgbClr val="FFFFFF"/>
            </a:solidFill>
          </p:spPr>
          <p:txBody>
            <a:bodyPr wrap="square" lIns="0" tIns="0" rIns="0" bIns="0" rtlCol="0"/>
            <a:lstStyle/>
            <a:p>
              <a:endParaRPr sz="1588"/>
            </a:p>
          </p:txBody>
        </p:sp>
        <p:sp>
          <p:nvSpPr>
            <p:cNvPr id="21" name="object 21"/>
            <p:cNvSpPr/>
            <p:nvPr/>
          </p:nvSpPr>
          <p:spPr>
            <a:xfrm>
              <a:off x="6305719" y="4219244"/>
              <a:ext cx="196850" cy="354330"/>
            </a:xfrm>
            <a:custGeom>
              <a:avLst/>
              <a:gdLst/>
              <a:ahLst/>
              <a:cxnLst/>
              <a:rect l="l" t="t" r="r" b="b"/>
              <a:pathLst>
                <a:path w="196850" h="354329">
                  <a:moveTo>
                    <a:pt x="0" y="0"/>
                  </a:moveTo>
                  <a:lnTo>
                    <a:pt x="196255" y="176925"/>
                  </a:lnTo>
                  <a:lnTo>
                    <a:pt x="0" y="353851"/>
                  </a:lnTo>
                </a:path>
              </a:pathLst>
            </a:custGeom>
            <a:ln w="30738">
              <a:solidFill>
                <a:srgbClr val="000000"/>
              </a:solidFill>
            </a:ln>
          </p:spPr>
          <p:txBody>
            <a:bodyPr wrap="square" lIns="0" tIns="0" rIns="0" bIns="0" rtlCol="0"/>
            <a:lstStyle/>
            <a:p>
              <a:endParaRPr sz="1588"/>
            </a:p>
          </p:txBody>
        </p:sp>
        <p:sp>
          <p:nvSpPr>
            <p:cNvPr id="22" name="object 22"/>
            <p:cNvSpPr/>
            <p:nvPr/>
          </p:nvSpPr>
          <p:spPr>
            <a:xfrm>
              <a:off x="1779905" y="3861061"/>
              <a:ext cx="819150" cy="984250"/>
            </a:xfrm>
            <a:custGeom>
              <a:avLst/>
              <a:gdLst/>
              <a:ahLst/>
              <a:cxnLst/>
              <a:rect l="l" t="t" r="r" b="b"/>
              <a:pathLst>
                <a:path w="819150" h="984250">
                  <a:moveTo>
                    <a:pt x="819150" y="0"/>
                  </a:moveTo>
                  <a:lnTo>
                    <a:pt x="0" y="0"/>
                  </a:lnTo>
                  <a:lnTo>
                    <a:pt x="0" y="983825"/>
                  </a:lnTo>
                  <a:lnTo>
                    <a:pt x="819150" y="983825"/>
                  </a:lnTo>
                  <a:lnTo>
                    <a:pt x="819150" y="0"/>
                  </a:lnTo>
                  <a:close/>
                </a:path>
              </a:pathLst>
            </a:custGeom>
            <a:solidFill>
              <a:srgbClr val="618FFD"/>
            </a:solidFill>
          </p:spPr>
          <p:txBody>
            <a:bodyPr wrap="square" lIns="0" tIns="0" rIns="0" bIns="0" rtlCol="0"/>
            <a:lstStyle/>
            <a:p>
              <a:endParaRPr sz="1588"/>
            </a:p>
          </p:txBody>
        </p:sp>
        <p:sp>
          <p:nvSpPr>
            <p:cNvPr id="23" name="object 23"/>
            <p:cNvSpPr/>
            <p:nvPr/>
          </p:nvSpPr>
          <p:spPr>
            <a:xfrm>
              <a:off x="1779905" y="3861061"/>
              <a:ext cx="819150" cy="984250"/>
            </a:xfrm>
            <a:custGeom>
              <a:avLst/>
              <a:gdLst/>
              <a:ahLst/>
              <a:cxnLst/>
              <a:rect l="l" t="t" r="r" b="b"/>
              <a:pathLst>
                <a:path w="819150" h="984250">
                  <a:moveTo>
                    <a:pt x="0" y="0"/>
                  </a:moveTo>
                  <a:lnTo>
                    <a:pt x="819149" y="0"/>
                  </a:lnTo>
                  <a:lnTo>
                    <a:pt x="819149" y="983826"/>
                  </a:lnTo>
                  <a:lnTo>
                    <a:pt x="0" y="983826"/>
                  </a:lnTo>
                  <a:lnTo>
                    <a:pt x="0" y="0"/>
                  </a:lnTo>
                  <a:close/>
                </a:path>
              </a:pathLst>
            </a:custGeom>
            <a:ln w="30728">
              <a:solidFill>
                <a:srgbClr val="000000"/>
              </a:solidFill>
            </a:ln>
          </p:spPr>
          <p:txBody>
            <a:bodyPr wrap="square" lIns="0" tIns="0" rIns="0" bIns="0" rtlCol="0"/>
            <a:lstStyle/>
            <a:p>
              <a:endParaRPr sz="1588"/>
            </a:p>
          </p:txBody>
        </p:sp>
      </p:grpSp>
      <p:sp>
        <p:nvSpPr>
          <p:cNvPr id="24" name="object 24"/>
          <p:cNvSpPr txBox="1"/>
          <p:nvPr/>
        </p:nvSpPr>
        <p:spPr>
          <a:xfrm>
            <a:off x="1939882" y="3459480"/>
            <a:ext cx="243656" cy="768723"/>
          </a:xfrm>
          <a:prstGeom prst="rect">
            <a:avLst/>
          </a:prstGeom>
        </p:spPr>
        <p:txBody>
          <a:bodyPr vert="vert" wrap="square" lIns="0" tIns="0" rIns="0" bIns="0" rtlCol="0">
            <a:spAutoFit/>
          </a:bodyPr>
          <a:lstStyle/>
          <a:p>
            <a:pPr marL="11206">
              <a:lnSpc>
                <a:spcPts val="1915"/>
              </a:lnSpc>
            </a:pPr>
            <a:r>
              <a:rPr sz="1677" spc="-9" dirty="0">
                <a:latin typeface="Times New Roman"/>
                <a:cs typeface="Times New Roman"/>
              </a:rPr>
              <a:t>Memory</a:t>
            </a:r>
            <a:endParaRPr sz="1677">
              <a:latin typeface="Times New Roman"/>
              <a:cs typeface="Times New Roman"/>
            </a:endParaRPr>
          </a:p>
        </p:txBody>
      </p:sp>
      <p:grpSp>
        <p:nvGrpSpPr>
          <p:cNvPr id="25" name="object 25"/>
          <p:cNvGrpSpPr/>
          <p:nvPr/>
        </p:nvGrpSpPr>
        <p:grpSpPr>
          <a:xfrm>
            <a:off x="3859586" y="3257453"/>
            <a:ext cx="587749" cy="1325096"/>
            <a:chOff x="4221797" y="3691780"/>
            <a:chExt cx="666115" cy="1501775"/>
          </a:xfrm>
        </p:grpSpPr>
        <p:sp>
          <p:nvSpPr>
            <p:cNvPr id="26" name="object 26"/>
            <p:cNvSpPr/>
            <p:nvPr/>
          </p:nvSpPr>
          <p:spPr>
            <a:xfrm>
              <a:off x="4237354" y="3707338"/>
              <a:ext cx="635000" cy="1470660"/>
            </a:xfrm>
            <a:custGeom>
              <a:avLst/>
              <a:gdLst/>
              <a:ahLst/>
              <a:cxnLst/>
              <a:rect l="l" t="t" r="r" b="b"/>
              <a:pathLst>
                <a:path w="635000" h="1470660">
                  <a:moveTo>
                    <a:pt x="634841" y="0"/>
                  </a:moveTo>
                  <a:lnTo>
                    <a:pt x="0" y="0"/>
                  </a:lnTo>
                  <a:lnTo>
                    <a:pt x="0" y="1470616"/>
                  </a:lnTo>
                  <a:lnTo>
                    <a:pt x="634841" y="1470616"/>
                  </a:lnTo>
                  <a:lnTo>
                    <a:pt x="634841" y="0"/>
                  </a:lnTo>
                  <a:close/>
                </a:path>
              </a:pathLst>
            </a:custGeom>
            <a:solidFill>
              <a:srgbClr val="618FFD"/>
            </a:solidFill>
          </p:spPr>
          <p:txBody>
            <a:bodyPr wrap="square" lIns="0" tIns="0" rIns="0" bIns="0" rtlCol="0"/>
            <a:lstStyle/>
            <a:p>
              <a:endParaRPr sz="1588"/>
            </a:p>
          </p:txBody>
        </p:sp>
        <p:sp>
          <p:nvSpPr>
            <p:cNvPr id="27" name="object 27"/>
            <p:cNvSpPr/>
            <p:nvPr/>
          </p:nvSpPr>
          <p:spPr>
            <a:xfrm>
              <a:off x="4237354" y="3707338"/>
              <a:ext cx="635000" cy="1470660"/>
            </a:xfrm>
            <a:custGeom>
              <a:avLst/>
              <a:gdLst/>
              <a:ahLst/>
              <a:cxnLst/>
              <a:rect l="l" t="t" r="r" b="b"/>
              <a:pathLst>
                <a:path w="635000" h="1470660">
                  <a:moveTo>
                    <a:pt x="0" y="0"/>
                  </a:moveTo>
                  <a:lnTo>
                    <a:pt x="634841" y="0"/>
                  </a:lnTo>
                  <a:lnTo>
                    <a:pt x="634841" y="1470616"/>
                  </a:lnTo>
                  <a:lnTo>
                    <a:pt x="0" y="1470616"/>
                  </a:lnTo>
                  <a:lnTo>
                    <a:pt x="0" y="0"/>
                  </a:lnTo>
                  <a:close/>
                </a:path>
              </a:pathLst>
            </a:custGeom>
            <a:ln w="30722">
              <a:solidFill>
                <a:srgbClr val="000000"/>
              </a:solidFill>
            </a:ln>
          </p:spPr>
          <p:txBody>
            <a:bodyPr wrap="square" lIns="0" tIns="0" rIns="0" bIns="0" rtlCol="0"/>
            <a:lstStyle/>
            <a:p>
              <a:endParaRPr sz="1588"/>
            </a:p>
          </p:txBody>
        </p:sp>
      </p:grpSp>
      <p:sp>
        <p:nvSpPr>
          <p:cNvPr id="28" name="object 28"/>
          <p:cNvSpPr txBox="1"/>
          <p:nvPr/>
        </p:nvSpPr>
        <p:spPr>
          <a:xfrm>
            <a:off x="4026907" y="3540163"/>
            <a:ext cx="243656" cy="763120"/>
          </a:xfrm>
          <a:prstGeom prst="rect">
            <a:avLst/>
          </a:prstGeom>
        </p:spPr>
        <p:txBody>
          <a:bodyPr vert="vert" wrap="square" lIns="0" tIns="0" rIns="0" bIns="0" rtlCol="0">
            <a:spAutoFit/>
          </a:bodyPr>
          <a:lstStyle/>
          <a:p>
            <a:pPr marL="11206">
              <a:lnSpc>
                <a:spcPts val="1915"/>
              </a:lnSpc>
            </a:pPr>
            <a:r>
              <a:rPr sz="1677" dirty="0">
                <a:latin typeface="Times New Roman"/>
                <a:cs typeface="Times New Roman"/>
              </a:rPr>
              <a:t>Reg</a:t>
            </a:r>
            <a:r>
              <a:rPr sz="1677" spc="53" dirty="0">
                <a:latin typeface="Times New Roman"/>
                <a:cs typeface="Times New Roman"/>
              </a:rPr>
              <a:t> </a:t>
            </a:r>
            <a:r>
              <a:rPr sz="1677" spc="-18" dirty="0">
                <a:latin typeface="Times New Roman"/>
                <a:cs typeface="Times New Roman"/>
              </a:rPr>
              <a:t>File</a:t>
            </a:r>
            <a:endParaRPr sz="1677">
              <a:latin typeface="Times New Roman"/>
              <a:cs typeface="Times New Roman"/>
            </a:endParaRPr>
          </a:p>
        </p:txBody>
      </p:sp>
      <p:grpSp>
        <p:nvGrpSpPr>
          <p:cNvPr id="29" name="object 29"/>
          <p:cNvGrpSpPr/>
          <p:nvPr/>
        </p:nvGrpSpPr>
        <p:grpSpPr>
          <a:xfrm>
            <a:off x="5249430" y="3922078"/>
            <a:ext cx="226359" cy="552450"/>
            <a:chOff x="5796954" y="4445022"/>
            <a:chExt cx="256540" cy="626110"/>
          </a:xfrm>
        </p:grpSpPr>
        <p:sp>
          <p:nvSpPr>
            <p:cNvPr id="30" name="object 30"/>
            <p:cNvSpPr/>
            <p:nvPr/>
          </p:nvSpPr>
          <p:spPr>
            <a:xfrm>
              <a:off x="5812511" y="4460580"/>
              <a:ext cx="225425" cy="594995"/>
            </a:xfrm>
            <a:custGeom>
              <a:avLst/>
              <a:gdLst/>
              <a:ahLst/>
              <a:cxnLst/>
              <a:rect l="l" t="t" r="r" b="b"/>
              <a:pathLst>
                <a:path w="225425" h="594995">
                  <a:moveTo>
                    <a:pt x="112633" y="0"/>
                  </a:moveTo>
                  <a:lnTo>
                    <a:pt x="63100" y="30207"/>
                  </a:lnTo>
                  <a:lnTo>
                    <a:pt x="42187" y="65291"/>
                  </a:lnTo>
                  <a:lnTo>
                    <a:pt x="24744" y="111315"/>
                  </a:lnTo>
                  <a:lnTo>
                    <a:pt x="11448" y="166497"/>
                  </a:lnTo>
                  <a:lnTo>
                    <a:pt x="2974" y="229053"/>
                  </a:lnTo>
                  <a:lnTo>
                    <a:pt x="0" y="297197"/>
                  </a:lnTo>
                  <a:lnTo>
                    <a:pt x="2974" y="365342"/>
                  </a:lnTo>
                  <a:lnTo>
                    <a:pt x="11448" y="427898"/>
                  </a:lnTo>
                  <a:lnTo>
                    <a:pt x="24744" y="483080"/>
                  </a:lnTo>
                  <a:lnTo>
                    <a:pt x="42187" y="529104"/>
                  </a:lnTo>
                  <a:lnTo>
                    <a:pt x="63100" y="564188"/>
                  </a:lnTo>
                  <a:lnTo>
                    <a:pt x="112633" y="594395"/>
                  </a:lnTo>
                  <a:lnTo>
                    <a:pt x="138459" y="586546"/>
                  </a:lnTo>
                  <a:lnTo>
                    <a:pt x="183079" y="529104"/>
                  </a:lnTo>
                  <a:lnTo>
                    <a:pt x="200522" y="483080"/>
                  </a:lnTo>
                  <a:lnTo>
                    <a:pt x="213818" y="427898"/>
                  </a:lnTo>
                  <a:lnTo>
                    <a:pt x="222291" y="365342"/>
                  </a:lnTo>
                  <a:lnTo>
                    <a:pt x="225266" y="297197"/>
                  </a:lnTo>
                  <a:lnTo>
                    <a:pt x="222291" y="229053"/>
                  </a:lnTo>
                  <a:lnTo>
                    <a:pt x="213818" y="166497"/>
                  </a:lnTo>
                  <a:lnTo>
                    <a:pt x="200522" y="111315"/>
                  </a:lnTo>
                  <a:lnTo>
                    <a:pt x="183079" y="65291"/>
                  </a:lnTo>
                  <a:lnTo>
                    <a:pt x="162166" y="30207"/>
                  </a:lnTo>
                  <a:lnTo>
                    <a:pt x="112633" y="0"/>
                  </a:lnTo>
                  <a:close/>
                </a:path>
              </a:pathLst>
            </a:custGeom>
            <a:solidFill>
              <a:srgbClr val="618FFD"/>
            </a:solidFill>
          </p:spPr>
          <p:txBody>
            <a:bodyPr wrap="square" lIns="0" tIns="0" rIns="0" bIns="0" rtlCol="0"/>
            <a:lstStyle/>
            <a:p>
              <a:endParaRPr sz="1588"/>
            </a:p>
          </p:txBody>
        </p:sp>
        <p:sp>
          <p:nvSpPr>
            <p:cNvPr id="31" name="object 31"/>
            <p:cNvSpPr/>
            <p:nvPr/>
          </p:nvSpPr>
          <p:spPr>
            <a:xfrm>
              <a:off x="5812511" y="4460580"/>
              <a:ext cx="225425" cy="594995"/>
            </a:xfrm>
            <a:custGeom>
              <a:avLst/>
              <a:gdLst/>
              <a:ahLst/>
              <a:cxnLst/>
              <a:rect l="l" t="t" r="r" b="b"/>
              <a:pathLst>
                <a:path w="225425" h="594995">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32" name="object 32"/>
          <p:cNvSpPr txBox="1"/>
          <p:nvPr/>
        </p:nvSpPr>
        <p:spPr>
          <a:xfrm>
            <a:off x="5274579" y="3991983"/>
            <a:ext cx="192360" cy="417419"/>
          </a:xfrm>
          <a:prstGeom prst="rect">
            <a:avLst/>
          </a:prstGeom>
        </p:spPr>
        <p:txBody>
          <a:bodyPr vert="vert" wrap="square" lIns="0" tIns="0" rIns="0" bIns="0" rtlCol="0">
            <a:spAutoFit/>
          </a:bodyPr>
          <a:lstStyle/>
          <a:p>
            <a:pPr marL="11206">
              <a:lnSpc>
                <a:spcPts val="1531"/>
              </a:lnSpc>
            </a:pPr>
            <a:r>
              <a:rPr sz="1324" spc="-22" dirty="0">
                <a:latin typeface="Times New Roman"/>
                <a:cs typeface="Times New Roman"/>
              </a:rPr>
              <a:t>MUX</a:t>
            </a:r>
            <a:endParaRPr sz="1324">
              <a:latin typeface="Times New Roman"/>
              <a:cs typeface="Times New Roman"/>
            </a:endParaRPr>
          </a:p>
        </p:txBody>
      </p:sp>
      <p:grpSp>
        <p:nvGrpSpPr>
          <p:cNvPr id="33" name="object 33"/>
          <p:cNvGrpSpPr/>
          <p:nvPr/>
        </p:nvGrpSpPr>
        <p:grpSpPr>
          <a:xfrm>
            <a:off x="6984102" y="3705058"/>
            <a:ext cx="1366557" cy="1112744"/>
            <a:chOff x="7762915" y="4199066"/>
            <a:chExt cx="1548765" cy="1261110"/>
          </a:xfrm>
        </p:grpSpPr>
        <p:sp>
          <p:nvSpPr>
            <p:cNvPr id="34" name="object 34"/>
            <p:cNvSpPr/>
            <p:nvPr/>
          </p:nvSpPr>
          <p:spPr>
            <a:xfrm>
              <a:off x="7778472" y="4214624"/>
              <a:ext cx="573405" cy="1229995"/>
            </a:xfrm>
            <a:custGeom>
              <a:avLst/>
              <a:gdLst/>
              <a:ahLst/>
              <a:cxnLst/>
              <a:rect l="l" t="t" r="r" b="b"/>
              <a:pathLst>
                <a:path w="573404" h="1229995">
                  <a:moveTo>
                    <a:pt x="573404" y="0"/>
                  </a:moveTo>
                  <a:lnTo>
                    <a:pt x="0" y="0"/>
                  </a:lnTo>
                  <a:lnTo>
                    <a:pt x="0" y="1229782"/>
                  </a:lnTo>
                  <a:lnTo>
                    <a:pt x="573404" y="1229782"/>
                  </a:lnTo>
                  <a:lnTo>
                    <a:pt x="573404" y="0"/>
                  </a:lnTo>
                  <a:close/>
                </a:path>
              </a:pathLst>
            </a:custGeom>
            <a:solidFill>
              <a:srgbClr val="618FFD"/>
            </a:solidFill>
          </p:spPr>
          <p:txBody>
            <a:bodyPr wrap="square" lIns="0" tIns="0" rIns="0" bIns="0" rtlCol="0"/>
            <a:lstStyle/>
            <a:p>
              <a:endParaRPr sz="1588"/>
            </a:p>
          </p:txBody>
        </p:sp>
        <p:sp>
          <p:nvSpPr>
            <p:cNvPr id="35" name="object 35"/>
            <p:cNvSpPr/>
            <p:nvPr/>
          </p:nvSpPr>
          <p:spPr>
            <a:xfrm>
              <a:off x="7778472" y="4214624"/>
              <a:ext cx="573405" cy="1229995"/>
            </a:xfrm>
            <a:custGeom>
              <a:avLst/>
              <a:gdLst/>
              <a:ahLst/>
              <a:cxnLst/>
              <a:rect l="l" t="t" r="r" b="b"/>
              <a:pathLst>
                <a:path w="573404" h="1229995">
                  <a:moveTo>
                    <a:pt x="0" y="0"/>
                  </a:moveTo>
                  <a:lnTo>
                    <a:pt x="573404" y="0"/>
                  </a:lnTo>
                  <a:lnTo>
                    <a:pt x="573404" y="1229783"/>
                  </a:lnTo>
                  <a:lnTo>
                    <a:pt x="0" y="1229783"/>
                  </a:lnTo>
                  <a:lnTo>
                    <a:pt x="0" y="0"/>
                  </a:lnTo>
                  <a:close/>
                </a:path>
              </a:pathLst>
            </a:custGeom>
            <a:ln w="30722">
              <a:solidFill>
                <a:srgbClr val="000000"/>
              </a:solidFill>
            </a:ln>
          </p:spPr>
          <p:txBody>
            <a:bodyPr wrap="square" lIns="0" tIns="0" rIns="0" bIns="0" rtlCol="0"/>
            <a:lstStyle/>
            <a:p>
              <a:endParaRPr sz="1588"/>
            </a:p>
          </p:txBody>
        </p:sp>
        <p:sp>
          <p:nvSpPr>
            <p:cNvPr id="36" name="object 36"/>
            <p:cNvSpPr/>
            <p:nvPr/>
          </p:nvSpPr>
          <p:spPr>
            <a:xfrm>
              <a:off x="9070339" y="4762902"/>
              <a:ext cx="225425" cy="594995"/>
            </a:xfrm>
            <a:custGeom>
              <a:avLst/>
              <a:gdLst/>
              <a:ahLst/>
              <a:cxnLst/>
              <a:rect l="l" t="t" r="r" b="b"/>
              <a:pathLst>
                <a:path w="225425" h="594995">
                  <a:moveTo>
                    <a:pt x="112632" y="0"/>
                  </a:moveTo>
                  <a:lnTo>
                    <a:pt x="63099" y="30207"/>
                  </a:lnTo>
                  <a:lnTo>
                    <a:pt x="42186" y="65290"/>
                  </a:lnTo>
                  <a:lnTo>
                    <a:pt x="24743" y="111315"/>
                  </a:lnTo>
                  <a:lnTo>
                    <a:pt x="11447" y="166497"/>
                  </a:lnTo>
                  <a:lnTo>
                    <a:pt x="2974" y="229052"/>
                  </a:lnTo>
                  <a:lnTo>
                    <a:pt x="0" y="297197"/>
                  </a:lnTo>
                  <a:lnTo>
                    <a:pt x="2974" y="365342"/>
                  </a:lnTo>
                  <a:lnTo>
                    <a:pt x="11447" y="427897"/>
                  </a:lnTo>
                  <a:lnTo>
                    <a:pt x="24743" y="483079"/>
                  </a:lnTo>
                  <a:lnTo>
                    <a:pt x="42186" y="529103"/>
                  </a:lnTo>
                  <a:lnTo>
                    <a:pt x="63099" y="564186"/>
                  </a:lnTo>
                  <a:lnTo>
                    <a:pt x="112632" y="594394"/>
                  </a:lnTo>
                  <a:lnTo>
                    <a:pt x="138458" y="586545"/>
                  </a:lnTo>
                  <a:lnTo>
                    <a:pt x="183079" y="529103"/>
                  </a:lnTo>
                  <a:lnTo>
                    <a:pt x="200521" y="483079"/>
                  </a:lnTo>
                  <a:lnTo>
                    <a:pt x="213818" y="427897"/>
                  </a:lnTo>
                  <a:lnTo>
                    <a:pt x="222291" y="365342"/>
                  </a:lnTo>
                  <a:lnTo>
                    <a:pt x="225266" y="297197"/>
                  </a:lnTo>
                  <a:lnTo>
                    <a:pt x="222291" y="229052"/>
                  </a:lnTo>
                  <a:lnTo>
                    <a:pt x="213818" y="166497"/>
                  </a:lnTo>
                  <a:lnTo>
                    <a:pt x="200521" y="111315"/>
                  </a:lnTo>
                  <a:lnTo>
                    <a:pt x="183079" y="65290"/>
                  </a:lnTo>
                  <a:lnTo>
                    <a:pt x="162165" y="30207"/>
                  </a:lnTo>
                  <a:lnTo>
                    <a:pt x="112632" y="0"/>
                  </a:lnTo>
                  <a:close/>
                </a:path>
              </a:pathLst>
            </a:custGeom>
            <a:solidFill>
              <a:srgbClr val="618FFD"/>
            </a:solidFill>
          </p:spPr>
          <p:txBody>
            <a:bodyPr wrap="square" lIns="0" tIns="0" rIns="0" bIns="0" rtlCol="0"/>
            <a:lstStyle/>
            <a:p>
              <a:endParaRPr sz="1588"/>
            </a:p>
          </p:txBody>
        </p:sp>
        <p:sp>
          <p:nvSpPr>
            <p:cNvPr id="37" name="object 37"/>
            <p:cNvSpPr/>
            <p:nvPr/>
          </p:nvSpPr>
          <p:spPr>
            <a:xfrm>
              <a:off x="9070339" y="4762902"/>
              <a:ext cx="225425" cy="594995"/>
            </a:xfrm>
            <a:custGeom>
              <a:avLst/>
              <a:gdLst/>
              <a:ahLst/>
              <a:cxnLst/>
              <a:rect l="l" t="t" r="r" b="b"/>
              <a:pathLst>
                <a:path w="225425" h="594995">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38" name="object 38"/>
          <p:cNvSpPr txBox="1"/>
          <p:nvPr/>
        </p:nvSpPr>
        <p:spPr>
          <a:xfrm>
            <a:off x="8149132" y="4260924"/>
            <a:ext cx="192360" cy="417419"/>
          </a:xfrm>
          <a:prstGeom prst="rect">
            <a:avLst/>
          </a:prstGeom>
        </p:spPr>
        <p:txBody>
          <a:bodyPr vert="vert" wrap="square" lIns="0" tIns="0" rIns="0" bIns="0" rtlCol="0">
            <a:spAutoFit/>
          </a:bodyPr>
          <a:lstStyle/>
          <a:p>
            <a:pPr marL="11206">
              <a:lnSpc>
                <a:spcPts val="1531"/>
              </a:lnSpc>
            </a:pPr>
            <a:r>
              <a:rPr sz="1324" spc="-22" dirty="0">
                <a:latin typeface="Times New Roman"/>
                <a:cs typeface="Times New Roman"/>
              </a:rPr>
              <a:t>MUX</a:t>
            </a:r>
            <a:endParaRPr sz="1324">
              <a:latin typeface="Times New Roman"/>
              <a:cs typeface="Times New Roman"/>
            </a:endParaRPr>
          </a:p>
        </p:txBody>
      </p:sp>
      <p:grpSp>
        <p:nvGrpSpPr>
          <p:cNvPr id="39" name="object 39"/>
          <p:cNvGrpSpPr/>
          <p:nvPr/>
        </p:nvGrpSpPr>
        <p:grpSpPr>
          <a:xfrm>
            <a:off x="3859586" y="4634932"/>
            <a:ext cx="452157" cy="669551"/>
            <a:chOff x="4221797" y="5252922"/>
            <a:chExt cx="512445" cy="758825"/>
          </a:xfrm>
        </p:grpSpPr>
        <p:sp>
          <p:nvSpPr>
            <p:cNvPr id="40" name="object 40"/>
            <p:cNvSpPr/>
            <p:nvPr/>
          </p:nvSpPr>
          <p:spPr>
            <a:xfrm>
              <a:off x="4237354" y="5268479"/>
              <a:ext cx="481330" cy="727710"/>
            </a:xfrm>
            <a:custGeom>
              <a:avLst/>
              <a:gdLst/>
              <a:ahLst/>
              <a:cxnLst/>
              <a:rect l="l" t="t" r="r" b="b"/>
              <a:pathLst>
                <a:path w="481329" h="727710">
                  <a:moveTo>
                    <a:pt x="240625" y="0"/>
                  </a:moveTo>
                  <a:lnTo>
                    <a:pt x="201594" y="4761"/>
                  </a:lnTo>
                  <a:lnTo>
                    <a:pt x="164569" y="18547"/>
                  </a:lnTo>
                  <a:lnTo>
                    <a:pt x="130044" y="40607"/>
                  </a:lnTo>
                  <a:lnTo>
                    <a:pt x="98515" y="70194"/>
                  </a:lnTo>
                  <a:lnTo>
                    <a:pt x="70477" y="106557"/>
                  </a:lnTo>
                  <a:lnTo>
                    <a:pt x="46426" y="148949"/>
                  </a:lnTo>
                  <a:lnTo>
                    <a:pt x="26858" y="196619"/>
                  </a:lnTo>
                  <a:lnTo>
                    <a:pt x="12267" y="248819"/>
                  </a:lnTo>
                  <a:lnTo>
                    <a:pt x="3149" y="304799"/>
                  </a:lnTo>
                  <a:lnTo>
                    <a:pt x="0" y="363811"/>
                  </a:lnTo>
                  <a:lnTo>
                    <a:pt x="3149" y="422823"/>
                  </a:lnTo>
                  <a:lnTo>
                    <a:pt x="12267" y="478803"/>
                  </a:lnTo>
                  <a:lnTo>
                    <a:pt x="26858" y="531003"/>
                  </a:lnTo>
                  <a:lnTo>
                    <a:pt x="46426" y="578673"/>
                  </a:lnTo>
                  <a:lnTo>
                    <a:pt x="70477" y="621064"/>
                  </a:lnTo>
                  <a:lnTo>
                    <a:pt x="98515" y="657427"/>
                  </a:lnTo>
                  <a:lnTo>
                    <a:pt x="130044" y="687014"/>
                  </a:lnTo>
                  <a:lnTo>
                    <a:pt x="164569" y="709075"/>
                  </a:lnTo>
                  <a:lnTo>
                    <a:pt x="201594" y="722860"/>
                  </a:lnTo>
                  <a:lnTo>
                    <a:pt x="240625" y="727622"/>
                  </a:lnTo>
                  <a:lnTo>
                    <a:pt x="279656" y="722860"/>
                  </a:lnTo>
                  <a:lnTo>
                    <a:pt x="316681" y="709075"/>
                  </a:lnTo>
                  <a:lnTo>
                    <a:pt x="351206" y="687014"/>
                  </a:lnTo>
                  <a:lnTo>
                    <a:pt x="382735" y="657427"/>
                  </a:lnTo>
                  <a:lnTo>
                    <a:pt x="410773" y="621064"/>
                  </a:lnTo>
                  <a:lnTo>
                    <a:pt x="434824" y="578673"/>
                  </a:lnTo>
                  <a:lnTo>
                    <a:pt x="454392" y="531003"/>
                  </a:lnTo>
                  <a:lnTo>
                    <a:pt x="468983" y="478803"/>
                  </a:lnTo>
                  <a:lnTo>
                    <a:pt x="478101" y="422823"/>
                  </a:lnTo>
                  <a:lnTo>
                    <a:pt x="481251" y="363811"/>
                  </a:lnTo>
                  <a:lnTo>
                    <a:pt x="478101" y="304799"/>
                  </a:lnTo>
                  <a:lnTo>
                    <a:pt x="468983" y="248819"/>
                  </a:lnTo>
                  <a:lnTo>
                    <a:pt x="454392" y="196619"/>
                  </a:lnTo>
                  <a:lnTo>
                    <a:pt x="434824" y="148949"/>
                  </a:lnTo>
                  <a:lnTo>
                    <a:pt x="410773" y="106557"/>
                  </a:lnTo>
                  <a:lnTo>
                    <a:pt x="382735" y="70194"/>
                  </a:lnTo>
                  <a:lnTo>
                    <a:pt x="351206" y="40607"/>
                  </a:lnTo>
                  <a:lnTo>
                    <a:pt x="316681" y="18547"/>
                  </a:lnTo>
                  <a:lnTo>
                    <a:pt x="279656" y="4761"/>
                  </a:lnTo>
                  <a:lnTo>
                    <a:pt x="240625" y="0"/>
                  </a:lnTo>
                  <a:close/>
                </a:path>
              </a:pathLst>
            </a:custGeom>
            <a:solidFill>
              <a:srgbClr val="618FFD"/>
            </a:solidFill>
          </p:spPr>
          <p:txBody>
            <a:bodyPr wrap="square" lIns="0" tIns="0" rIns="0" bIns="0" rtlCol="0"/>
            <a:lstStyle/>
            <a:p>
              <a:endParaRPr sz="1588"/>
            </a:p>
          </p:txBody>
        </p:sp>
        <p:sp>
          <p:nvSpPr>
            <p:cNvPr id="41" name="object 41"/>
            <p:cNvSpPr/>
            <p:nvPr/>
          </p:nvSpPr>
          <p:spPr>
            <a:xfrm>
              <a:off x="4237354" y="5268479"/>
              <a:ext cx="481330" cy="727710"/>
            </a:xfrm>
            <a:custGeom>
              <a:avLst/>
              <a:gdLst/>
              <a:ahLst/>
              <a:cxnLst/>
              <a:rect l="l" t="t" r="r" b="b"/>
              <a:pathLst>
                <a:path w="481329" h="727710">
                  <a:moveTo>
                    <a:pt x="0" y="363810"/>
                  </a:moveTo>
                  <a:lnTo>
                    <a:pt x="3149" y="304798"/>
                  </a:lnTo>
                  <a:lnTo>
                    <a:pt x="12267" y="248818"/>
                  </a:lnTo>
                  <a:lnTo>
                    <a:pt x="26858" y="196618"/>
                  </a:lnTo>
                  <a:lnTo>
                    <a:pt x="46426" y="148948"/>
                  </a:lnTo>
                  <a:lnTo>
                    <a:pt x="70477" y="106557"/>
                  </a:lnTo>
                  <a:lnTo>
                    <a:pt x="98515" y="70194"/>
                  </a:lnTo>
                  <a:lnTo>
                    <a:pt x="130044" y="40607"/>
                  </a:lnTo>
                  <a:lnTo>
                    <a:pt x="164569" y="18547"/>
                  </a:lnTo>
                  <a:lnTo>
                    <a:pt x="201594" y="4761"/>
                  </a:lnTo>
                  <a:lnTo>
                    <a:pt x="240625" y="0"/>
                  </a:lnTo>
                  <a:lnTo>
                    <a:pt x="279655" y="4761"/>
                  </a:lnTo>
                  <a:lnTo>
                    <a:pt x="316681" y="18547"/>
                  </a:lnTo>
                  <a:lnTo>
                    <a:pt x="351206" y="40607"/>
                  </a:lnTo>
                  <a:lnTo>
                    <a:pt x="382735" y="70194"/>
                  </a:lnTo>
                  <a:lnTo>
                    <a:pt x="410773" y="106557"/>
                  </a:lnTo>
                  <a:lnTo>
                    <a:pt x="434823" y="148948"/>
                  </a:lnTo>
                  <a:lnTo>
                    <a:pt x="454392" y="196618"/>
                  </a:lnTo>
                  <a:lnTo>
                    <a:pt x="468983" y="248818"/>
                  </a:lnTo>
                  <a:lnTo>
                    <a:pt x="478101" y="304798"/>
                  </a:lnTo>
                  <a:lnTo>
                    <a:pt x="481250" y="363810"/>
                  </a:lnTo>
                  <a:lnTo>
                    <a:pt x="478101" y="422822"/>
                  </a:lnTo>
                  <a:lnTo>
                    <a:pt x="468983" y="478803"/>
                  </a:lnTo>
                  <a:lnTo>
                    <a:pt x="454392" y="531002"/>
                  </a:lnTo>
                  <a:lnTo>
                    <a:pt x="434823" y="578672"/>
                  </a:lnTo>
                  <a:lnTo>
                    <a:pt x="410773" y="621064"/>
                  </a:lnTo>
                  <a:lnTo>
                    <a:pt x="382735" y="657427"/>
                  </a:lnTo>
                  <a:lnTo>
                    <a:pt x="351206" y="687013"/>
                  </a:lnTo>
                  <a:lnTo>
                    <a:pt x="316681" y="709074"/>
                  </a:lnTo>
                  <a:lnTo>
                    <a:pt x="279655" y="722860"/>
                  </a:lnTo>
                  <a:lnTo>
                    <a:pt x="240625" y="727621"/>
                  </a:lnTo>
                  <a:lnTo>
                    <a:pt x="201594" y="722860"/>
                  </a:lnTo>
                  <a:lnTo>
                    <a:pt x="164569" y="709074"/>
                  </a:lnTo>
                  <a:lnTo>
                    <a:pt x="130044" y="687013"/>
                  </a:lnTo>
                  <a:lnTo>
                    <a:pt x="98515" y="657427"/>
                  </a:lnTo>
                  <a:lnTo>
                    <a:pt x="70477" y="621064"/>
                  </a:lnTo>
                  <a:lnTo>
                    <a:pt x="46426" y="578672"/>
                  </a:lnTo>
                  <a:lnTo>
                    <a:pt x="26858" y="531002"/>
                  </a:lnTo>
                  <a:lnTo>
                    <a:pt x="12267" y="478803"/>
                  </a:lnTo>
                  <a:lnTo>
                    <a:pt x="3149" y="422822"/>
                  </a:lnTo>
                  <a:lnTo>
                    <a:pt x="0" y="363810"/>
                  </a:lnTo>
                  <a:close/>
                </a:path>
              </a:pathLst>
            </a:custGeom>
            <a:ln w="30726">
              <a:solidFill>
                <a:srgbClr val="000000"/>
              </a:solidFill>
            </a:ln>
          </p:spPr>
          <p:txBody>
            <a:bodyPr wrap="square" lIns="0" tIns="0" rIns="0" bIns="0" rtlCol="0"/>
            <a:lstStyle/>
            <a:p>
              <a:endParaRPr sz="1588"/>
            </a:p>
          </p:txBody>
        </p:sp>
      </p:grpSp>
      <p:sp>
        <p:nvSpPr>
          <p:cNvPr id="42" name="object 42"/>
          <p:cNvSpPr txBox="1"/>
          <p:nvPr/>
        </p:nvSpPr>
        <p:spPr>
          <a:xfrm>
            <a:off x="3890717" y="4807217"/>
            <a:ext cx="392206" cy="300233"/>
          </a:xfrm>
          <a:prstGeom prst="rect">
            <a:avLst/>
          </a:prstGeom>
        </p:spPr>
        <p:txBody>
          <a:bodyPr vert="horz" wrap="square" lIns="0" tIns="17929" rIns="0" bIns="0" rtlCol="0">
            <a:spAutoFit/>
          </a:bodyPr>
          <a:lstStyle/>
          <a:p>
            <a:pPr marL="11206" marR="4483" indent="70601">
              <a:lnSpc>
                <a:spcPts val="1147"/>
              </a:lnSpc>
              <a:spcBef>
                <a:spcPts val="141"/>
              </a:spcBef>
            </a:pPr>
            <a:r>
              <a:rPr sz="971" b="1" spc="-18" dirty="0">
                <a:latin typeface="Times New Roman"/>
                <a:cs typeface="Times New Roman"/>
              </a:rPr>
              <a:t>Sign </a:t>
            </a:r>
            <a:r>
              <a:rPr sz="971" b="1" spc="-22" dirty="0">
                <a:latin typeface="Times New Roman"/>
                <a:cs typeface="Times New Roman"/>
              </a:rPr>
              <a:t>Extend</a:t>
            </a:r>
            <a:endParaRPr sz="971">
              <a:latin typeface="Times New Roman"/>
              <a:cs typeface="Times New Roman"/>
            </a:endParaRPr>
          </a:p>
        </p:txBody>
      </p:sp>
      <p:grpSp>
        <p:nvGrpSpPr>
          <p:cNvPr id="43" name="object 43"/>
          <p:cNvGrpSpPr/>
          <p:nvPr/>
        </p:nvGrpSpPr>
        <p:grpSpPr>
          <a:xfrm>
            <a:off x="2427754" y="2910824"/>
            <a:ext cx="3300693" cy="2128557"/>
            <a:chOff x="2599054" y="3298933"/>
            <a:chExt cx="3740785" cy="2412365"/>
          </a:xfrm>
        </p:grpSpPr>
        <p:sp>
          <p:nvSpPr>
            <p:cNvPr id="44" name="object 44"/>
            <p:cNvSpPr/>
            <p:nvPr/>
          </p:nvSpPr>
          <p:spPr>
            <a:xfrm>
              <a:off x="2599054" y="4306858"/>
              <a:ext cx="327660" cy="92710"/>
            </a:xfrm>
            <a:custGeom>
              <a:avLst/>
              <a:gdLst/>
              <a:ahLst/>
              <a:cxnLst/>
              <a:rect l="l" t="t" r="r" b="b"/>
              <a:pathLst>
                <a:path w="327660" h="92710">
                  <a:moveTo>
                    <a:pt x="235506" y="0"/>
                  </a:moveTo>
                  <a:lnTo>
                    <a:pt x="235504" y="92233"/>
                  </a:lnTo>
                  <a:lnTo>
                    <a:pt x="296941" y="61489"/>
                  </a:lnTo>
                  <a:lnTo>
                    <a:pt x="250864" y="61489"/>
                  </a:lnTo>
                  <a:lnTo>
                    <a:pt x="250864" y="30744"/>
                  </a:lnTo>
                  <a:lnTo>
                    <a:pt x="296940" y="30744"/>
                  </a:lnTo>
                  <a:lnTo>
                    <a:pt x="235506" y="0"/>
                  </a:lnTo>
                  <a:close/>
                </a:path>
                <a:path w="327660" h="92710">
                  <a:moveTo>
                    <a:pt x="235505" y="30744"/>
                  </a:moveTo>
                  <a:lnTo>
                    <a:pt x="0" y="30744"/>
                  </a:lnTo>
                  <a:lnTo>
                    <a:pt x="0" y="61489"/>
                  </a:lnTo>
                  <a:lnTo>
                    <a:pt x="235505" y="61489"/>
                  </a:lnTo>
                  <a:lnTo>
                    <a:pt x="235505" y="30744"/>
                  </a:lnTo>
                  <a:close/>
                </a:path>
                <a:path w="327660" h="92710">
                  <a:moveTo>
                    <a:pt x="296940" y="30744"/>
                  </a:moveTo>
                  <a:lnTo>
                    <a:pt x="250864" y="30744"/>
                  </a:lnTo>
                  <a:lnTo>
                    <a:pt x="250864" y="61489"/>
                  </a:lnTo>
                  <a:lnTo>
                    <a:pt x="296941" y="61489"/>
                  </a:lnTo>
                  <a:lnTo>
                    <a:pt x="327659" y="46117"/>
                  </a:lnTo>
                  <a:lnTo>
                    <a:pt x="296940" y="30744"/>
                  </a:lnTo>
                  <a:close/>
                </a:path>
              </a:pathLst>
            </a:custGeom>
            <a:solidFill>
              <a:srgbClr val="000000"/>
            </a:solidFill>
          </p:spPr>
          <p:txBody>
            <a:bodyPr wrap="square" lIns="0" tIns="0" rIns="0" bIns="0" rtlCol="0"/>
            <a:lstStyle/>
            <a:p>
              <a:endParaRPr sz="1588"/>
            </a:p>
          </p:txBody>
        </p:sp>
        <p:pic>
          <p:nvPicPr>
            <p:cNvPr id="45" name="object 45"/>
            <p:cNvPicPr/>
            <p:nvPr/>
          </p:nvPicPr>
          <p:blipFill>
            <a:blip r:embed="rId3" cstate="print"/>
            <a:stretch>
              <a:fillRect/>
            </a:stretch>
          </p:blipFill>
          <p:spPr>
            <a:xfrm>
              <a:off x="3254374" y="4306858"/>
              <a:ext cx="245745" cy="92233"/>
            </a:xfrm>
            <a:prstGeom prst="rect">
              <a:avLst/>
            </a:prstGeom>
          </p:spPr>
        </p:pic>
        <p:sp>
          <p:nvSpPr>
            <p:cNvPr id="46" name="object 46"/>
            <p:cNvSpPr/>
            <p:nvPr/>
          </p:nvSpPr>
          <p:spPr>
            <a:xfrm>
              <a:off x="3484753" y="3773957"/>
              <a:ext cx="2855595" cy="1937385"/>
            </a:xfrm>
            <a:custGeom>
              <a:avLst/>
              <a:gdLst/>
              <a:ahLst/>
              <a:cxnLst/>
              <a:rect l="l" t="t" r="r" b="b"/>
              <a:pathLst>
                <a:path w="2855595" h="1937385">
                  <a:moveTo>
                    <a:pt x="752602" y="333070"/>
                  </a:moveTo>
                  <a:lnTo>
                    <a:pt x="721880" y="317690"/>
                  </a:lnTo>
                  <a:lnTo>
                    <a:pt x="660438" y="286943"/>
                  </a:lnTo>
                  <a:lnTo>
                    <a:pt x="660438" y="317690"/>
                  </a:lnTo>
                  <a:lnTo>
                    <a:pt x="30721" y="317690"/>
                  </a:lnTo>
                  <a:lnTo>
                    <a:pt x="30721" y="0"/>
                  </a:lnTo>
                  <a:lnTo>
                    <a:pt x="0" y="0"/>
                  </a:lnTo>
                  <a:lnTo>
                    <a:pt x="0" y="1899285"/>
                  </a:lnTo>
                  <a:lnTo>
                    <a:pt x="6883" y="1906168"/>
                  </a:lnTo>
                  <a:lnTo>
                    <a:pt x="660438" y="1906168"/>
                  </a:lnTo>
                  <a:lnTo>
                    <a:pt x="660438" y="1936902"/>
                  </a:lnTo>
                  <a:lnTo>
                    <a:pt x="721880" y="1906168"/>
                  </a:lnTo>
                  <a:lnTo>
                    <a:pt x="752602" y="1890788"/>
                  </a:lnTo>
                  <a:lnTo>
                    <a:pt x="721880" y="1875421"/>
                  </a:lnTo>
                  <a:lnTo>
                    <a:pt x="660438" y="1844675"/>
                  </a:lnTo>
                  <a:lnTo>
                    <a:pt x="660438" y="1875421"/>
                  </a:lnTo>
                  <a:lnTo>
                    <a:pt x="30721" y="1875421"/>
                  </a:lnTo>
                  <a:lnTo>
                    <a:pt x="30721" y="348437"/>
                  </a:lnTo>
                  <a:lnTo>
                    <a:pt x="660438" y="348437"/>
                  </a:lnTo>
                  <a:lnTo>
                    <a:pt x="660438" y="379183"/>
                  </a:lnTo>
                  <a:lnTo>
                    <a:pt x="721880" y="348437"/>
                  </a:lnTo>
                  <a:lnTo>
                    <a:pt x="752602" y="333070"/>
                  </a:lnTo>
                  <a:close/>
                </a:path>
                <a:path w="2855595" h="1937385">
                  <a:moveTo>
                    <a:pt x="2855087" y="261327"/>
                  </a:moveTo>
                  <a:lnTo>
                    <a:pt x="2824365" y="245960"/>
                  </a:lnTo>
                  <a:lnTo>
                    <a:pt x="2762923" y="215214"/>
                  </a:lnTo>
                  <a:lnTo>
                    <a:pt x="2762923" y="245960"/>
                  </a:lnTo>
                  <a:lnTo>
                    <a:pt x="1380617" y="245960"/>
                  </a:lnTo>
                  <a:lnTo>
                    <a:pt x="1380617" y="276707"/>
                  </a:lnTo>
                  <a:lnTo>
                    <a:pt x="2762923" y="276707"/>
                  </a:lnTo>
                  <a:lnTo>
                    <a:pt x="2762923" y="307441"/>
                  </a:lnTo>
                  <a:lnTo>
                    <a:pt x="2824365" y="276707"/>
                  </a:lnTo>
                  <a:lnTo>
                    <a:pt x="2855087" y="261327"/>
                  </a:lnTo>
                  <a:close/>
                </a:path>
              </a:pathLst>
            </a:custGeom>
            <a:solidFill>
              <a:srgbClr val="000000"/>
            </a:solidFill>
          </p:spPr>
          <p:txBody>
            <a:bodyPr wrap="square" lIns="0" tIns="0" rIns="0" bIns="0" rtlCol="0"/>
            <a:lstStyle/>
            <a:p>
              <a:endParaRPr sz="1588"/>
            </a:p>
          </p:txBody>
        </p:sp>
        <p:sp>
          <p:nvSpPr>
            <p:cNvPr id="47" name="object 47"/>
            <p:cNvSpPr/>
            <p:nvPr/>
          </p:nvSpPr>
          <p:spPr>
            <a:xfrm>
              <a:off x="4394358" y="3314490"/>
              <a:ext cx="436880" cy="318135"/>
            </a:xfrm>
            <a:custGeom>
              <a:avLst/>
              <a:gdLst/>
              <a:ahLst/>
              <a:cxnLst/>
              <a:rect l="l" t="t" r="r" b="b"/>
              <a:pathLst>
                <a:path w="436879" h="318135">
                  <a:moveTo>
                    <a:pt x="436880" y="0"/>
                  </a:moveTo>
                  <a:lnTo>
                    <a:pt x="0" y="0"/>
                  </a:lnTo>
                  <a:lnTo>
                    <a:pt x="0" y="317694"/>
                  </a:lnTo>
                  <a:lnTo>
                    <a:pt x="436880" y="317694"/>
                  </a:lnTo>
                  <a:lnTo>
                    <a:pt x="436880" y="0"/>
                  </a:lnTo>
                  <a:close/>
                </a:path>
              </a:pathLst>
            </a:custGeom>
            <a:solidFill>
              <a:srgbClr val="FC0128"/>
            </a:solidFill>
          </p:spPr>
          <p:txBody>
            <a:bodyPr wrap="square" lIns="0" tIns="0" rIns="0" bIns="0" rtlCol="0"/>
            <a:lstStyle/>
            <a:p>
              <a:endParaRPr sz="1588"/>
            </a:p>
          </p:txBody>
        </p:sp>
        <p:sp>
          <p:nvSpPr>
            <p:cNvPr id="48" name="object 48"/>
            <p:cNvSpPr/>
            <p:nvPr/>
          </p:nvSpPr>
          <p:spPr>
            <a:xfrm>
              <a:off x="4394358" y="3314490"/>
              <a:ext cx="436880" cy="318135"/>
            </a:xfrm>
            <a:custGeom>
              <a:avLst/>
              <a:gdLst/>
              <a:ahLst/>
              <a:cxnLst/>
              <a:rect l="l" t="t" r="r" b="b"/>
              <a:pathLst>
                <a:path w="436879" h="318135">
                  <a:moveTo>
                    <a:pt x="0" y="0"/>
                  </a:moveTo>
                  <a:lnTo>
                    <a:pt x="436879" y="0"/>
                  </a:lnTo>
                  <a:lnTo>
                    <a:pt x="436879" y="317694"/>
                  </a:lnTo>
                  <a:lnTo>
                    <a:pt x="0" y="317694"/>
                  </a:lnTo>
                  <a:lnTo>
                    <a:pt x="0" y="0"/>
                  </a:lnTo>
                  <a:close/>
                </a:path>
              </a:pathLst>
            </a:custGeom>
            <a:ln w="30735">
              <a:solidFill>
                <a:srgbClr val="000000"/>
              </a:solidFill>
            </a:ln>
          </p:spPr>
          <p:txBody>
            <a:bodyPr wrap="square" lIns="0" tIns="0" rIns="0" bIns="0" rtlCol="0"/>
            <a:lstStyle/>
            <a:p>
              <a:endParaRPr sz="1588"/>
            </a:p>
          </p:txBody>
        </p:sp>
      </p:grpSp>
      <p:sp>
        <p:nvSpPr>
          <p:cNvPr id="49" name="object 49"/>
          <p:cNvSpPr txBox="1"/>
          <p:nvPr/>
        </p:nvSpPr>
        <p:spPr>
          <a:xfrm>
            <a:off x="4023980" y="2958675"/>
            <a:ext cx="361390" cy="187839"/>
          </a:xfrm>
          <a:prstGeom prst="rect">
            <a:avLst/>
          </a:prstGeom>
        </p:spPr>
        <p:txBody>
          <a:bodyPr vert="horz" wrap="square" lIns="0" tIns="11206" rIns="0" bIns="0" rtlCol="0">
            <a:spAutoFit/>
          </a:bodyPr>
          <a:lstStyle/>
          <a:p>
            <a:pPr marL="11206">
              <a:spcBef>
                <a:spcPts val="88"/>
              </a:spcBef>
            </a:pPr>
            <a:r>
              <a:rPr sz="1147" spc="-9" dirty="0">
                <a:latin typeface="Times New Roman"/>
                <a:cs typeface="Times New Roman"/>
              </a:rPr>
              <a:t>Zero?</a:t>
            </a:r>
            <a:endParaRPr sz="1147">
              <a:latin typeface="Times New Roman"/>
              <a:cs typeface="Times New Roman"/>
            </a:endParaRPr>
          </a:p>
        </p:txBody>
      </p:sp>
      <p:grpSp>
        <p:nvGrpSpPr>
          <p:cNvPr id="50" name="object 50"/>
          <p:cNvGrpSpPr/>
          <p:nvPr/>
        </p:nvGrpSpPr>
        <p:grpSpPr>
          <a:xfrm>
            <a:off x="679519" y="2091131"/>
            <a:ext cx="7905750" cy="3861547"/>
            <a:chOff x="617721" y="2369948"/>
            <a:chExt cx="8959850" cy="4376420"/>
          </a:xfrm>
        </p:grpSpPr>
        <p:pic>
          <p:nvPicPr>
            <p:cNvPr id="51" name="object 51"/>
            <p:cNvPicPr/>
            <p:nvPr/>
          </p:nvPicPr>
          <p:blipFill>
            <a:blip r:embed="rId3" cstate="print"/>
            <a:stretch>
              <a:fillRect/>
            </a:stretch>
          </p:blipFill>
          <p:spPr>
            <a:xfrm>
              <a:off x="6039485" y="4716786"/>
              <a:ext cx="245744" cy="92233"/>
            </a:xfrm>
            <a:prstGeom prst="rect">
              <a:avLst/>
            </a:prstGeom>
          </p:spPr>
        </p:pic>
        <p:sp>
          <p:nvSpPr>
            <p:cNvPr id="52" name="object 52"/>
            <p:cNvSpPr/>
            <p:nvPr/>
          </p:nvSpPr>
          <p:spPr>
            <a:xfrm>
              <a:off x="617721" y="2369948"/>
              <a:ext cx="4263390" cy="2012314"/>
            </a:xfrm>
            <a:custGeom>
              <a:avLst/>
              <a:gdLst/>
              <a:ahLst/>
              <a:cxnLst/>
              <a:rect l="l" t="t" r="r" b="b"/>
              <a:pathLst>
                <a:path w="4263390" h="2012314">
                  <a:moveTo>
                    <a:pt x="215041" y="1919828"/>
                  </a:moveTo>
                  <a:lnTo>
                    <a:pt x="215041" y="2012062"/>
                  </a:lnTo>
                  <a:lnTo>
                    <a:pt x="276477" y="1981318"/>
                  </a:lnTo>
                  <a:lnTo>
                    <a:pt x="230400" y="1981318"/>
                  </a:lnTo>
                  <a:lnTo>
                    <a:pt x="230400" y="1950573"/>
                  </a:lnTo>
                  <a:lnTo>
                    <a:pt x="276478" y="1950573"/>
                  </a:lnTo>
                  <a:lnTo>
                    <a:pt x="215041" y="1919828"/>
                  </a:lnTo>
                  <a:close/>
                </a:path>
                <a:path w="4263390" h="2012314">
                  <a:moveTo>
                    <a:pt x="4251716" y="0"/>
                  </a:moveTo>
                  <a:lnTo>
                    <a:pt x="6865" y="6846"/>
                  </a:lnTo>
                  <a:lnTo>
                    <a:pt x="0" y="13741"/>
                  </a:lnTo>
                  <a:lnTo>
                    <a:pt x="3347" y="1919828"/>
                  </a:lnTo>
                  <a:lnTo>
                    <a:pt x="3442" y="1974452"/>
                  </a:lnTo>
                  <a:lnTo>
                    <a:pt x="10315" y="1981318"/>
                  </a:lnTo>
                  <a:lnTo>
                    <a:pt x="215041" y="1981318"/>
                  </a:lnTo>
                  <a:lnTo>
                    <a:pt x="215041" y="1965946"/>
                  </a:lnTo>
                  <a:lnTo>
                    <a:pt x="34172" y="1965946"/>
                  </a:lnTo>
                  <a:lnTo>
                    <a:pt x="18787" y="1950573"/>
                  </a:lnTo>
                  <a:lnTo>
                    <a:pt x="34119" y="1950573"/>
                  </a:lnTo>
                  <a:lnTo>
                    <a:pt x="30760" y="37576"/>
                  </a:lnTo>
                  <a:lnTo>
                    <a:pt x="15398" y="37576"/>
                  </a:lnTo>
                  <a:lnTo>
                    <a:pt x="30678" y="22232"/>
                  </a:lnTo>
                  <a:lnTo>
                    <a:pt x="4232289" y="22232"/>
                  </a:lnTo>
                  <a:lnTo>
                    <a:pt x="4232289" y="15373"/>
                  </a:lnTo>
                  <a:lnTo>
                    <a:pt x="4263008" y="15373"/>
                  </a:lnTo>
                  <a:lnTo>
                    <a:pt x="4263008" y="11291"/>
                  </a:lnTo>
                  <a:lnTo>
                    <a:pt x="4261386" y="7377"/>
                  </a:lnTo>
                  <a:lnTo>
                    <a:pt x="4255614" y="1610"/>
                  </a:lnTo>
                  <a:lnTo>
                    <a:pt x="4251716" y="0"/>
                  </a:lnTo>
                  <a:close/>
                </a:path>
                <a:path w="4263390" h="2012314">
                  <a:moveTo>
                    <a:pt x="276478" y="1950573"/>
                  </a:moveTo>
                  <a:lnTo>
                    <a:pt x="230400" y="1950573"/>
                  </a:lnTo>
                  <a:lnTo>
                    <a:pt x="230400" y="1981318"/>
                  </a:lnTo>
                  <a:lnTo>
                    <a:pt x="276477" y="1981318"/>
                  </a:lnTo>
                  <a:lnTo>
                    <a:pt x="307196" y="1965946"/>
                  </a:lnTo>
                  <a:lnTo>
                    <a:pt x="276478" y="1950573"/>
                  </a:lnTo>
                  <a:close/>
                </a:path>
                <a:path w="4263390" h="2012314">
                  <a:moveTo>
                    <a:pt x="34119" y="1950573"/>
                  </a:moveTo>
                  <a:lnTo>
                    <a:pt x="18787" y="1950573"/>
                  </a:lnTo>
                  <a:lnTo>
                    <a:pt x="34172" y="1965946"/>
                  </a:lnTo>
                  <a:lnTo>
                    <a:pt x="34119" y="1950573"/>
                  </a:lnTo>
                  <a:close/>
                </a:path>
                <a:path w="4263390" h="2012314">
                  <a:moveTo>
                    <a:pt x="215041" y="1950573"/>
                  </a:moveTo>
                  <a:lnTo>
                    <a:pt x="34119" y="1950573"/>
                  </a:lnTo>
                  <a:lnTo>
                    <a:pt x="34146" y="1965946"/>
                  </a:lnTo>
                  <a:lnTo>
                    <a:pt x="215041" y="1965946"/>
                  </a:lnTo>
                  <a:lnTo>
                    <a:pt x="215041" y="1950573"/>
                  </a:lnTo>
                  <a:close/>
                </a:path>
                <a:path w="4263390" h="2012314">
                  <a:moveTo>
                    <a:pt x="4232289" y="491914"/>
                  </a:moveTo>
                  <a:lnTo>
                    <a:pt x="3827833" y="491914"/>
                  </a:lnTo>
                  <a:lnTo>
                    <a:pt x="3827833" y="522658"/>
                  </a:lnTo>
                  <a:lnTo>
                    <a:pt x="4256131" y="522658"/>
                  </a:lnTo>
                  <a:lnTo>
                    <a:pt x="4263008" y="515776"/>
                  </a:lnTo>
                  <a:lnTo>
                    <a:pt x="4263008" y="507286"/>
                  </a:lnTo>
                  <a:lnTo>
                    <a:pt x="4232289" y="507286"/>
                  </a:lnTo>
                  <a:lnTo>
                    <a:pt x="4232289" y="491914"/>
                  </a:lnTo>
                  <a:close/>
                </a:path>
                <a:path w="4263390" h="2012314">
                  <a:moveTo>
                    <a:pt x="4232289" y="15373"/>
                  </a:moveTo>
                  <a:lnTo>
                    <a:pt x="4232289" y="507286"/>
                  </a:lnTo>
                  <a:lnTo>
                    <a:pt x="4247648" y="491914"/>
                  </a:lnTo>
                  <a:lnTo>
                    <a:pt x="4263008" y="491914"/>
                  </a:lnTo>
                  <a:lnTo>
                    <a:pt x="4263008" y="30770"/>
                  </a:lnTo>
                  <a:lnTo>
                    <a:pt x="4247697" y="30770"/>
                  </a:lnTo>
                  <a:lnTo>
                    <a:pt x="4232289" y="15373"/>
                  </a:lnTo>
                  <a:close/>
                </a:path>
                <a:path w="4263390" h="2012314">
                  <a:moveTo>
                    <a:pt x="4263008" y="491914"/>
                  </a:moveTo>
                  <a:lnTo>
                    <a:pt x="4247648" y="491914"/>
                  </a:lnTo>
                  <a:lnTo>
                    <a:pt x="4232289" y="507286"/>
                  </a:lnTo>
                  <a:lnTo>
                    <a:pt x="4263008" y="507286"/>
                  </a:lnTo>
                  <a:lnTo>
                    <a:pt x="4263008" y="491914"/>
                  </a:lnTo>
                  <a:close/>
                </a:path>
                <a:path w="4263390" h="2012314">
                  <a:moveTo>
                    <a:pt x="30733" y="22232"/>
                  </a:moveTo>
                  <a:lnTo>
                    <a:pt x="15398" y="37576"/>
                  </a:lnTo>
                  <a:lnTo>
                    <a:pt x="30760" y="37576"/>
                  </a:lnTo>
                  <a:lnTo>
                    <a:pt x="30733" y="22232"/>
                  </a:lnTo>
                  <a:close/>
                </a:path>
                <a:path w="4263390" h="2012314">
                  <a:moveTo>
                    <a:pt x="4232289" y="22232"/>
                  </a:moveTo>
                  <a:lnTo>
                    <a:pt x="30733" y="22232"/>
                  </a:lnTo>
                  <a:lnTo>
                    <a:pt x="30760" y="37576"/>
                  </a:lnTo>
                  <a:lnTo>
                    <a:pt x="15398" y="37576"/>
                  </a:lnTo>
                  <a:lnTo>
                    <a:pt x="4232289" y="30770"/>
                  </a:lnTo>
                  <a:lnTo>
                    <a:pt x="4232289" y="22232"/>
                  </a:lnTo>
                  <a:close/>
                </a:path>
                <a:path w="4263390" h="2012314">
                  <a:moveTo>
                    <a:pt x="4263008" y="15373"/>
                  </a:moveTo>
                  <a:lnTo>
                    <a:pt x="4232289" y="15373"/>
                  </a:lnTo>
                  <a:lnTo>
                    <a:pt x="4247697" y="30770"/>
                  </a:lnTo>
                  <a:lnTo>
                    <a:pt x="4263008" y="30770"/>
                  </a:lnTo>
                  <a:lnTo>
                    <a:pt x="4263008" y="15373"/>
                  </a:lnTo>
                  <a:close/>
                </a:path>
              </a:pathLst>
            </a:custGeom>
            <a:solidFill>
              <a:srgbClr val="FF0000"/>
            </a:solidFill>
          </p:spPr>
          <p:txBody>
            <a:bodyPr wrap="square" lIns="0" tIns="0" rIns="0" bIns="0" rtlCol="0"/>
            <a:lstStyle/>
            <a:p>
              <a:endParaRPr sz="1588"/>
            </a:p>
          </p:txBody>
        </p:sp>
        <p:sp>
          <p:nvSpPr>
            <p:cNvPr id="53" name="object 53"/>
            <p:cNvSpPr/>
            <p:nvPr/>
          </p:nvSpPr>
          <p:spPr>
            <a:xfrm>
              <a:off x="1288415" y="4306862"/>
              <a:ext cx="6471285" cy="420370"/>
            </a:xfrm>
            <a:custGeom>
              <a:avLst/>
              <a:gdLst/>
              <a:ahLst/>
              <a:cxnLst/>
              <a:rect l="l" t="t" r="r" b="b"/>
              <a:pathLst>
                <a:path w="6471284" h="420370">
                  <a:moveTo>
                    <a:pt x="491490" y="46113"/>
                  </a:moveTo>
                  <a:lnTo>
                    <a:pt x="460768" y="30746"/>
                  </a:lnTo>
                  <a:lnTo>
                    <a:pt x="399326" y="0"/>
                  </a:lnTo>
                  <a:lnTo>
                    <a:pt x="399326" y="30746"/>
                  </a:lnTo>
                  <a:lnTo>
                    <a:pt x="0" y="30746"/>
                  </a:lnTo>
                  <a:lnTo>
                    <a:pt x="0" y="61493"/>
                  </a:lnTo>
                  <a:lnTo>
                    <a:pt x="399326" y="61493"/>
                  </a:lnTo>
                  <a:lnTo>
                    <a:pt x="399326" y="92240"/>
                  </a:lnTo>
                  <a:lnTo>
                    <a:pt x="460768" y="61493"/>
                  </a:lnTo>
                  <a:lnTo>
                    <a:pt x="491490" y="46113"/>
                  </a:lnTo>
                  <a:close/>
                </a:path>
                <a:path w="6471284" h="420370">
                  <a:moveTo>
                    <a:pt x="4505325" y="374065"/>
                  </a:moveTo>
                  <a:lnTo>
                    <a:pt x="4474603" y="358686"/>
                  </a:lnTo>
                  <a:lnTo>
                    <a:pt x="4413161" y="327939"/>
                  </a:lnTo>
                  <a:lnTo>
                    <a:pt x="4413161" y="358686"/>
                  </a:lnTo>
                  <a:lnTo>
                    <a:pt x="3604260" y="358686"/>
                  </a:lnTo>
                  <a:lnTo>
                    <a:pt x="3604260" y="389432"/>
                  </a:lnTo>
                  <a:lnTo>
                    <a:pt x="4413161" y="389432"/>
                  </a:lnTo>
                  <a:lnTo>
                    <a:pt x="4413161" y="420179"/>
                  </a:lnTo>
                  <a:lnTo>
                    <a:pt x="4474603" y="389432"/>
                  </a:lnTo>
                  <a:lnTo>
                    <a:pt x="4505325" y="374065"/>
                  </a:lnTo>
                  <a:close/>
                </a:path>
                <a:path w="6471284" h="420370">
                  <a:moveTo>
                    <a:pt x="6471285" y="128104"/>
                  </a:moveTo>
                  <a:lnTo>
                    <a:pt x="6440564" y="112737"/>
                  </a:lnTo>
                  <a:lnTo>
                    <a:pt x="6379121" y="81991"/>
                  </a:lnTo>
                  <a:lnTo>
                    <a:pt x="6379121" y="112737"/>
                  </a:lnTo>
                  <a:lnTo>
                    <a:pt x="5488305" y="112737"/>
                  </a:lnTo>
                  <a:lnTo>
                    <a:pt x="5488305" y="143484"/>
                  </a:lnTo>
                  <a:lnTo>
                    <a:pt x="6379121" y="143484"/>
                  </a:lnTo>
                  <a:lnTo>
                    <a:pt x="6379121" y="174218"/>
                  </a:lnTo>
                  <a:lnTo>
                    <a:pt x="6440564" y="143484"/>
                  </a:lnTo>
                  <a:lnTo>
                    <a:pt x="6471285" y="128104"/>
                  </a:lnTo>
                  <a:close/>
                </a:path>
              </a:pathLst>
            </a:custGeom>
            <a:solidFill>
              <a:srgbClr val="000000"/>
            </a:solidFill>
          </p:spPr>
          <p:txBody>
            <a:bodyPr wrap="square" lIns="0" tIns="0" rIns="0" bIns="0" rtlCol="0"/>
            <a:lstStyle/>
            <a:p>
              <a:endParaRPr sz="1588"/>
            </a:p>
          </p:txBody>
        </p:sp>
        <p:pic>
          <p:nvPicPr>
            <p:cNvPr id="54" name="object 54"/>
            <p:cNvPicPr/>
            <p:nvPr/>
          </p:nvPicPr>
          <p:blipFill>
            <a:blip r:embed="rId4" cstate="print"/>
            <a:stretch>
              <a:fillRect/>
            </a:stretch>
          </p:blipFill>
          <p:spPr>
            <a:xfrm>
              <a:off x="1779905" y="3487002"/>
              <a:ext cx="245744" cy="92233"/>
            </a:xfrm>
            <a:prstGeom prst="rect">
              <a:avLst/>
            </a:prstGeom>
          </p:spPr>
        </p:pic>
        <p:sp>
          <p:nvSpPr>
            <p:cNvPr id="55" name="object 55"/>
            <p:cNvSpPr/>
            <p:nvPr/>
          </p:nvSpPr>
          <p:spPr>
            <a:xfrm>
              <a:off x="1436878" y="2831121"/>
              <a:ext cx="8140700" cy="3915410"/>
            </a:xfrm>
            <a:custGeom>
              <a:avLst/>
              <a:gdLst/>
              <a:ahLst/>
              <a:cxnLst/>
              <a:rect l="l" t="t" r="r" b="b"/>
              <a:pathLst>
                <a:path w="8140700" h="3915409">
                  <a:moveTo>
                    <a:pt x="588772" y="46113"/>
                  </a:moveTo>
                  <a:lnTo>
                    <a:pt x="558050" y="30746"/>
                  </a:lnTo>
                  <a:lnTo>
                    <a:pt x="496608" y="0"/>
                  </a:lnTo>
                  <a:lnTo>
                    <a:pt x="496608" y="30746"/>
                  </a:lnTo>
                  <a:lnTo>
                    <a:pt x="6883" y="30746"/>
                  </a:lnTo>
                  <a:lnTo>
                    <a:pt x="0" y="37630"/>
                  </a:lnTo>
                  <a:lnTo>
                    <a:pt x="0" y="1521853"/>
                  </a:lnTo>
                  <a:lnTo>
                    <a:pt x="30721" y="1521853"/>
                  </a:lnTo>
                  <a:lnTo>
                    <a:pt x="30721" y="61493"/>
                  </a:lnTo>
                  <a:lnTo>
                    <a:pt x="496608" y="61493"/>
                  </a:lnTo>
                  <a:lnTo>
                    <a:pt x="496608" y="92240"/>
                  </a:lnTo>
                  <a:lnTo>
                    <a:pt x="558050" y="61493"/>
                  </a:lnTo>
                  <a:lnTo>
                    <a:pt x="588772" y="46113"/>
                  </a:lnTo>
                  <a:close/>
                </a:path>
                <a:path w="8140700" h="3915409">
                  <a:moveTo>
                    <a:pt x="7633462" y="2423693"/>
                  </a:moveTo>
                  <a:lnTo>
                    <a:pt x="7602741" y="2408326"/>
                  </a:lnTo>
                  <a:lnTo>
                    <a:pt x="7541298" y="2377579"/>
                  </a:lnTo>
                  <a:lnTo>
                    <a:pt x="7541298" y="2408326"/>
                  </a:lnTo>
                  <a:lnTo>
                    <a:pt x="7377036" y="2408326"/>
                  </a:lnTo>
                  <a:lnTo>
                    <a:pt x="7370153" y="2415209"/>
                  </a:lnTo>
                  <a:lnTo>
                    <a:pt x="7370153" y="2818257"/>
                  </a:lnTo>
                  <a:lnTo>
                    <a:pt x="5913247" y="2818257"/>
                  </a:lnTo>
                  <a:lnTo>
                    <a:pt x="5913247" y="2439073"/>
                  </a:lnTo>
                  <a:lnTo>
                    <a:pt x="6230658" y="2439073"/>
                  </a:lnTo>
                  <a:lnTo>
                    <a:pt x="6230658" y="2469819"/>
                  </a:lnTo>
                  <a:lnTo>
                    <a:pt x="6292100" y="2439073"/>
                  </a:lnTo>
                  <a:lnTo>
                    <a:pt x="6322822" y="2423693"/>
                  </a:lnTo>
                  <a:lnTo>
                    <a:pt x="6292100" y="2408326"/>
                  </a:lnTo>
                  <a:lnTo>
                    <a:pt x="6230658" y="2377579"/>
                  </a:lnTo>
                  <a:lnTo>
                    <a:pt x="6230658" y="2408326"/>
                  </a:lnTo>
                  <a:lnTo>
                    <a:pt x="5913247" y="2408326"/>
                  </a:lnTo>
                  <a:lnTo>
                    <a:pt x="5913247" y="1603844"/>
                  </a:lnTo>
                  <a:lnTo>
                    <a:pt x="5882525" y="1603844"/>
                  </a:lnTo>
                  <a:lnTo>
                    <a:pt x="5882525" y="2408326"/>
                  </a:lnTo>
                  <a:lnTo>
                    <a:pt x="4099166" y="2408326"/>
                  </a:lnTo>
                  <a:lnTo>
                    <a:pt x="4099166" y="1849805"/>
                  </a:lnTo>
                  <a:lnTo>
                    <a:pt x="4068445" y="1849805"/>
                  </a:lnTo>
                  <a:lnTo>
                    <a:pt x="4068445" y="2432189"/>
                  </a:lnTo>
                  <a:lnTo>
                    <a:pt x="4075328" y="2439073"/>
                  </a:lnTo>
                  <a:lnTo>
                    <a:pt x="5882525" y="2439073"/>
                  </a:lnTo>
                  <a:lnTo>
                    <a:pt x="5882525" y="2842120"/>
                  </a:lnTo>
                  <a:lnTo>
                    <a:pt x="5889396" y="2849003"/>
                  </a:lnTo>
                  <a:lnTo>
                    <a:pt x="7394003" y="2849003"/>
                  </a:lnTo>
                  <a:lnTo>
                    <a:pt x="7400874" y="2842120"/>
                  </a:lnTo>
                  <a:lnTo>
                    <a:pt x="7400874" y="2833624"/>
                  </a:lnTo>
                  <a:lnTo>
                    <a:pt x="7400874" y="2818257"/>
                  </a:lnTo>
                  <a:lnTo>
                    <a:pt x="7400874" y="2439073"/>
                  </a:lnTo>
                  <a:lnTo>
                    <a:pt x="7541298" y="2439073"/>
                  </a:lnTo>
                  <a:lnTo>
                    <a:pt x="7541298" y="2469819"/>
                  </a:lnTo>
                  <a:lnTo>
                    <a:pt x="7602741" y="2439073"/>
                  </a:lnTo>
                  <a:lnTo>
                    <a:pt x="7633462" y="2423693"/>
                  </a:lnTo>
                  <a:close/>
                </a:path>
                <a:path w="8140700" h="3915409">
                  <a:moveTo>
                    <a:pt x="8140306" y="2169249"/>
                  </a:moveTo>
                  <a:lnTo>
                    <a:pt x="8133423" y="2162365"/>
                  </a:lnTo>
                  <a:lnTo>
                    <a:pt x="7875638" y="2162365"/>
                  </a:lnTo>
                  <a:lnTo>
                    <a:pt x="7875638" y="2193112"/>
                  </a:lnTo>
                  <a:lnTo>
                    <a:pt x="8109585" y="2193112"/>
                  </a:lnTo>
                  <a:lnTo>
                    <a:pt x="8109585" y="3884066"/>
                  </a:lnTo>
                  <a:lnTo>
                    <a:pt x="2406256" y="3884066"/>
                  </a:lnTo>
                  <a:lnTo>
                    <a:pt x="2406256" y="3668852"/>
                  </a:lnTo>
                  <a:lnTo>
                    <a:pt x="7887678" y="3668852"/>
                  </a:lnTo>
                  <a:lnTo>
                    <a:pt x="7894561" y="3661968"/>
                  </a:lnTo>
                  <a:lnTo>
                    <a:pt x="7894561" y="3251466"/>
                  </a:lnTo>
                  <a:lnTo>
                    <a:pt x="7887678" y="3244583"/>
                  </a:lnTo>
                  <a:lnTo>
                    <a:pt x="7387717" y="3244583"/>
                  </a:lnTo>
                  <a:lnTo>
                    <a:pt x="7387717" y="3275330"/>
                  </a:lnTo>
                  <a:lnTo>
                    <a:pt x="7863840" y="3275330"/>
                  </a:lnTo>
                  <a:lnTo>
                    <a:pt x="7863840" y="3638105"/>
                  </a:lnTo>
                  <a:lnTo>
                    <a:pt x="2406256" y="3638105"/>
                  </a:lnTo>
                  <a:lnTo>
                    <a:pt x="2406256" y="1947164"/>
                  </a:lnTo>
                  <a:lnTo>
                    <a:pt x="2714256" y="1947164"/>
                  </a:lnTo>
                  <a:lnTo>
                    <a:pt x="2714256" y="1977898"/>
                  </a:lnTo>
                  <a:lnTo>
                    <a:pt x="2775686" y="1947164"/>
                  </a:lnTo>
                  <a:lnTo>
                    <a:pt x="2806408" y="1931784"/>
                  </a:lnTo>
                  <a:lnTo>
                    <a:pt x="2775686" y="1916417"/>
                  </a:lnTo>
                  <a:lnTo>
                    <a:pt x="2714256" y="1885670"/>
                  </a:lnTo>
                  <a:lnTo>
                    <a:pt x="2714256" y="1916417"/>
                  </a:lnTo>
                  <a:lnTo>
                    <a:pt x="2382418" y="1916417"/>
                  </a:lnTo>
                  <a:lnTo>
                    <a:pt x="2375535" y="1923300"/>
                  </a:lnTo>
                  <a:lnTo>
                    <a:pt x="2375535" y="3638105"/>
                  </a:lnTo>
                  <a:lnTo>
                    <a:pt x="2242426" y="3638105"/>
                  </a:lnTo>
                  <a:lnTo>
                    <a:pt x="2242426" y="1701203"/>
                  </a:lnTo>
                  <a:lnTo>
                    <a:pt x="2708313" y="1701203"/>
                  </a:lnTo>
                  <a:lnTo>
                    <a:pt x="2708313" y="1731949"/>
                  </a:lnTo>
                  <a:lnTo>
                    <a:pt x="2769755" y="1701203"/>
                  </a:lnTo>
                  <a:lnTo>
                    <a:pt x="2800477" y="1685836"/>
                  </a:lnTo>
                  <a:lnTo>
                    <a:pt x="2769755" y="1670456"/>
                  </a:lnTo>
                  <a:lnTo>
                    <a:pt x="2708313" y="1639709"/>
                  </a:lnTo>
                  <a:lnTo>
                    <a:pt x="2708313" y="1670456"/>
                  </a:lnTo>
                  <a:lnTo>
                    <a:pt x="2218588" y="1670456"/>
                  </a:lnTo>
                  <a:lnTo>
                    <a:pt x="2211705" y="1677339"/>
                  </a:lnTo>
                  <a:lnTo>
                    <a:pt x="2211705" y="3661968"/>
                  </a:lnTo>
                  <a:lnTo>
                    <a:pt x="2218588" y="3668852"/>
                  </a:lnTo>
                  <a:lnTo>
                    <a:pt x="2375535" y="3668852"/>
                  </a:lnTo>
                  <a:lnTo>
                    <a:pt x="2375535" y="3907929"/>
                  </a:lnTo>
                  <a:lnTo>
                    <a:pt x="2382418" y="3914813"/>
                  </a:lnTo>
                  <a:lnTo>
                    <a:pt x="8133423" y="3914813"/>
                  </a:lnTo>
                  <a:lnTo>
                    <a:pt x="8140306" y="3907929"/>
                  </a:lnTo>
                  <a:lnTo>
                    <a:pt x="8140306" y="3899433"/>
                  </a:lnTo>
                  <a:lnTo>
                    <a:pt x="8140306" y="3884066"/>
                  </a:lnTo>
                  <a:lnTo>
                    <a:pt x="8140306" y="2193112"/>
                  </a:lnTo>
                  <a:lnTo>
                    <a:pt x="8140306" y="2177745"/>
                  </a:lnTo>
                  <a:lnTo>
                    <a:pt x="8140306" y="2169249"/>
                  </a:lnTo>
                  <a:close/>
                </a:path>
              </a:pathLst>
            </a:custGeom>
            <a:solidFill>
              <a:srgbClr val="000000"/>
            </a:solidFill>
          </p:spPr>
          <p:txBody>
            <a:bodyPr wrap="square" lIns="0" tIns="0" rIns="0" bIns="0" rtlCol="0"/>
            <a:lstStyle/>
            <a:p>
              <a:endParaRPr sz="1588"/>
            </a:p>
          </p:txBody>
        </p:sp>
        <p:sp>
          <p:nvSpPr>
            <p:cNvPr id="56" name="object 56"/>
            <p:cNvSpPr/>
            <p:nvPr/>
          </p:nvSpPr>
          <p:spPr>
            <a:xfrm>
              <a:off x="8498641" y="2467306"/>
              <a:ext cx="327660" cy="3920490"/>
            </a:xfrm>
            <a:custGeom>
              <a:avLst/>
              <a:gdLst/>
              <a:ahLst/>
              <a:cxnLst/>
              <a:rect l="l" t="t" r="r" b="b"/>
              <a:pathLst>
                <a:path w="327659" h="3920490">
                  <a:moveTo>
                    <a:pt x="327660" y="0"/>
                  </a:moveTo>
                  <a:lnTo>
                    <a:pt x="0" y="0"/>
                  </a:lnTo>
                  <a:lnTo>
                    <a:pt x="0" y="3919935"/>
                  </a:lnTo>
                  <a:lnTo>
                    <a:pt x="327660" y="3919935"/>
                  </a:lnTo>
                  <a:lnTo>
                    <a:pt x="327660" y="0"/>
                  </a:lnTo>
                  <a:close/>
                </a:path>
              </a:pathLst>
            </a:custGeom>
            <a:solidFill>
              <a:srgbClr val="07F707"/>
            </a:solidFill>
          </p:spPr>
          <p:txBody>
            <a:bodyPr wrap="square" lIns="0" tIns="0" rIns="0" bIns="0" rtlCol="0"/>
            <a:lstStyle/>
            <a:p>
              <a:endParaRPr sz="1588"/>
            </a:p>
          </p:txBody>
        </p:sp>
        <p:sp>
          <p:nvSpPr>
            <p:cNvPr id="57" name="object 57"/>
            <p:cNvSpPr/>
            <p:nvPr/>
          </p:nvSpPr>
          <p:spPr>
            <a:xfrm>
              <a:off x="8498641" y="2467306"/>
              <a:ext cx="327660" cy="3920490"/>
            </a:xfrm>
            <a:custGeom>
              <a:avLst/>
              <a:gdLst/>
              <a:ahLst/>
              <a:cxnLst/>
              <a:rect l="l" t="t" r="r" b="b"/>
              <a:pathLst>
                <a:path w="327659"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58" name="object 58"/>
          <p:cNvSpPr txBox="1"/>
          <p:nvPr/>
        </p:nvSpPr>
        <p:spPr>
          <a:xfrm>
            <a:off x="7025557" y="3408381"/>
            <a:ext cx="869469" cy="1239371"/>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MEM/WB</a:t>
            </a:r>
            <a:endParaRPr sz="1677">
              <a:latin typeface="Times New Roman"/>
              <a:cs typeface="Times New Roman"/>
            </a:endParaRPr>
          </a:p>
          <a:p>
            <a:pPr marL="481879" marR="4483" indent="169218">
              <a:lnSpc>
                <a:spcPct val="78700"/>
              </a:lnSpc>
              <a:spcBef>
                <a:spcPts val="1747"/>
              </a:spcBef>
            </a:pPr>
            <a:r>
              <a:rPr sz="1677" spc="-18" dirty="0">
                <a:latin typeface="Times New Roman"/>
                <a:cs typeface="Times New Roman"/>
              </a:rPr>
              <a:t>Data </a:t>
            </a:r>
            <a:r>
              <a:rPr sz="1677" spc="-9" dirty="0">
                <a:latin typeface="Times New Roman"/>
                <a:cs typeface="Times New Roman"/>
              </a:rPr>
              <a:t>Memory</a:t>
            </a:r>
            <a:endParaRPr sz="1677">
              <a:latin typeface="Times New Roman"/>
              <a:cs typeface="Times New Roman"/>
            </a:endParaRPr>
          </a:p>
        </p:txBody>
      </p:sp>
      <p:grpSp>
        <p:nvGrpSpPr>
          <p:cNvPr id="59" name="object 59"/>
          <p:cNvGrpSpPr/>
          <p:nvPr/>
        </p:nvGrpSpPr>
        <p:grpSpPr>
          <a:xfrm>
            <a:off x="6219160" y="2163307"/>
            <a:ext cx="1717301" cy="3486709"/>
            <a:chOff x="6895980" y="2451748"/>
            <a:chExt cx="1946275" cy="3951604"/>
          </a:xfrm>
        </p:grpSpPr>
        <p:sp>
          <p:nvSpPr>
            <p:cNvPr id="60" name="object 60"/>
            <p:cNvSpPr/>
            <p:nvPr/>
          </p:nvSpPr>
          <p:spPr>
            <a:xfrm>
              <a:off x="8498641" y="6059299"/>
              <a:ext cx="327660" cy="328295"/>
            </a:xfrm>
            <a:custGeom>
              <a:avLst/>
              <a:gdLst/>
              <a:ahLst/>
              <a:cxnLst/>
              <a:rect l="l" t="t" r="r" b="b"/>
              <a:pathLst>
                <a:path w="327659"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61" name="object 61"/>
            <p:cNvSpPr/>
            <p:nvPr/>
          </p:nvSpPr>
          <p:spPr>
            <a:xfrm>
              <a:off x="6911538" y="2467306"/>
              <a:ext cx="327660" cy="3920490"/>
            </a:xfrm>
            <a:custGeom>
              <a:avLst/>
              <a:gdLst/>
              <a:ahLst/>
              <a:cxnLst/>
              <a:rect l="l" t="t" r="r" b="b"/>
              <a:pathLst>
                <a:path w="327659" h="3920490">
                  <a:moveTo>
                    <a:pt x="327659" y="0"/>
                  </a:moveTo>
                  <a:lnTo>
                    <a:pt x="0" y="0"/>
                  </a:lnTo>
                  <a:lnTo>
                    <a:pt x="0" y="3919935"/>
                  </a:lnTo>
                  <a:lnTo>
                    <a:pt x="327659" y="3919935"/>
                  </a:lnTo>
                  <a:lnTo>
                    <a:pt x="327659" y="0"/>
                  </a:lnTo>
                  <a:close/>
                </a:path>
              </a:pathLst>
            </a:custGeom>
            <a:solidFill>
              <a:srgbClr val="07F707"/>
            </a:solidFill>
          </p:spPr>
          <p:txBody>
            <a:bodyPr wrap="square" lIns="0" tIns="0" rIns="0" bIns="0" rtlCol="0"/>
            <a:lstStyle/>
            <a:p>
              <a:endParaRPr sz="1588"/>
            </a:p>
          </p:txBody>
        </p:sp>
        <p:sp>
          <p:nvSpPr>
            <p:cNvPr id="62" name="object 62"/>
            <p:cNvSpPr/>
            <p:nvPr/>
          </p:nvSpPr>
          <p:spPr>
            <a:xfrm>
              <a:off x="6911538" y="2467306"/>
              <a:ext cx="327660" cy="3920490"/>
            </a:xfrm>
            <a:custGeom>
              <a:avLst/>
              <a:gdLst/>
              <a:ahLst/>
              <a:cxnLst/>
              <a:rect l="l" t="t" r="r" b="b"/>
              <a:pathLst>
                <a:path w="327659"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63" name="object 63"/>
          <p:cNvSpPr txBox="1"/>
          <p:nvPr/>
        </p:nvSpPr>
        <p:spPr>
          <a:xfrm>
            <a:off x="5878961" y="3440654"/>
            <a:ext cx="615553" cy="938493"/>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EX/MEM</a:t>
            </a:r>
            <a:endParaRPr sz="1677">
              <a:latin typeface="Times New Roman"/>
              <a:cs typeface="Times New Roman"/>
            </a:endParaRPr>
          </a:p>
          <a:p>
            <a:pPr marL="301454">
              <a:spcBef>
                <a:spcPts val="1090"/>
              </a:spcBef>
            </a:pPr>
            <a:r>
              <a:rPr sz="1500" b="1" spc="-22" dirty="0">
                <a:latin typeface="Times New Roman"/>
                <a:cs typeface="Times New Roman"/>
              </a:rPr>
              <a:t>ALU</a:t>
            </a:r>
            <a:endParaRPr sz="1500">
              <a:latin typeface="Times New Roman"/>
              <a:cs typeface="Times New Roman"/>
            </a:endParaRPr>
          </a:p>
        </p:txBody>
      </p:sp>
      <p:grpSp>
        <p:nvGrpSpPr>
          <p:cNvPr id="64" name="object 64"/>
          <p:cNvGrpSpPr/>
          <p:nvPr/>
        </p:nvGrpSpPr>
        <p:grpSpPr>
          <a:xfrm>
            <a:off x="1893953" y="2290066"/>
            <a:ext cx="5737971" cy="3350559"/>
            <a:chOff x="1994080" y="2595408"/>
            <a:chExt cx="6503034" cy="3797300"/>
          </a:xfrm>
        </p:grpSpPr>
        <p:sp>
          <p:nvSpPr>
            <p:cNvPr id="65" name="object 65"/>
            <p:cNvSpPr/>
            <p:nvPr/>
          </p:nvSpPr>
          <p:spPr>
            <a:xfrm>
              <a:off x="6911538" y="6049050"/>
              <a:ext cx="327660" cy="328295"/>
            </a:xfrm>
            <a:custGeom>
              <a:avLst/>
              <a:gdLst/>
              <a:ahLst/>
              <a:cxnLst/>
              <a:rect l="l" t="t" r="r" b="b"/>
              <a:pathLst>
                <a:path w="327659"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66" name="object 66"/>
            <p:cNvSpPr/>
            <p:nvPr/>
          </p:nvSpPr>
          <p:spPr>
            <a:xfrm>
              <a:off x="3484753" y="4809020"/>
              <a:ext cx="5012690" cy="1311910"/>
            </a:xfrm>
            <a:custGeom>
              <a:avLst/>
              <a:gdLst/>
              <a:ahLst/>
              <a:cxnLst/>
              <a:rect l="l" t="t" r="r" b="b"/>
              <a:pathLst>
                <a:path w="5012690" h="1311910">
                  <a:moveTo>
                    <a:pt x="1596339" y="873836"/>
                  </a:moveTo>
                  <a:lnTo>
                    <a:pt x="1549425" y="873836"/>
                  </a:lnTo>
                  <a:lnTo>
                    <a:pt x="1534071" y="873836"/>
                  </a:lnTo>
                  <a:lnTo>
                    <a:pt x="1533791" y="904430"/>
                  </a:lnTo>
                  <a:lnTo>
                    <a:pt x="1596339" y="873836"/>
                  </a:lnTo>
                  <a:close/>
                </a:path>
                <a:path w="5012690" h="1311910">
                  <a:moveTo>
                    <a:pt x="1626362" y="1265656"/>
                  </a:moveTo>
                  <a:lnTo>
                    <a:pt x="1595640" y="1250289"/>
                  </a:lnTo>
                  <a:lnTo>
                    <a:pt x="1534198" y="1219542"/>
                  </a:lnTo>
                  <a:lnTo>
                    <a:pt x="1534198" y="1250289"/>
                  </a:lnTo>
                  <a:lnTo>
                    <a:pt x="30721" y="1250289"/>
                  </a:lnTo>
                  <a:lnTo>
                    <a:pt x="30721" y="855726"/>
                  </a:lnTo>
                  <a:lnTo>
                    <a:pt x="0" y="855726"/>
                  </a:lnTo>
                  <a:lnTo>
                    <a:pt x="0" y="1274140"/>
                  </a:lnTo>
                  <a:lnTo>
                    <a:pt x="6883" y="1281023"/>
                  </a:lnTo>
                  <a:lnTo>
                    <a:pt x="1534198" y="1281023"/>
                  </a:lnTo>
                  <a:lnTo>
                    <a:pt x="1534198" y="1311770"/>
                  </a:lnTo>
                  <a:lnTo>
                    <a:pt x="1595640" y="1281023"/>
                  </a:lnTo>
                  <a:lnTo>
                    <a:pt x="1626362" y="1265656"/>
                  </a:lnTo>
                  <a:close/>
                </a:path>
                <a:path w="5012690" h="1311910">
                  <a:moveTo>
                    <a:pt x="1626362" y="859142"/>
                  </a:moveTo>
                  <a:lnTo>
                    <a:pt x="1534617" y="812203"/>
                  </a:lnTo>
                  <a:lnTo>
                    <a:pt x="1534363" y="840359"/>
                  </a:lnTo>
                  <a:lnTo>
                    <a:pt x="1534337" y="842949"/>
                  </a:lnTo>
                  <a:lnTo>
                    <a:pt x="1244219" y="840359"/>
                  </a:lnTo>
                  <a:lnTo>
                    <a:pt x="1244053" y="859142"/>
                  </a:lnTo>
                  <a:lnTo>
                    <a:pt x="1243952" y="871105"/>
                  </a:lnTo>
                  <a:lnTo>
                    <a:pt x="1534071" y="873696"/>
                  </a:lnTo>
                  <a:lnTo>
                    <a:pt x="1534210" y="857072"/>
                  </a:lnTo>
                  <a:lnTo>
                    <a:pt x="1534198" y="859142"/>
                  </a:lnTo>
                  <a:lnTo>
                    <a:pt x="1534096" y="871105"/>
                  </a:lnTo>
                  <a:lnTo>
                    <a:pt x="1534071" y="873696"/>
                  </a:lnTo>
                  <a:lnTo>
                    <a:pt x="1549425" y="873836"/>
                  </a:lnTo>
                  <a:lnTo>
                    <a:pt x="1549450" y="870127"/>
                  </a:lnTo>
                  <a:lnTo>
                    <a:pt x="1549450" y="871105"/>
                  </a:lnTo>
                  <a:lnTo>
                    <a:pt x="1549425" y="873836"/>
                  </a:lnTo>
                  <a:lnTo>
                    <a:pt x="1596618" y="873696"/>
                  </a:lnTo>
                  <a:lnTo>
                    <a:pt x="1626362" y="859142"/>
                  </a:lnTo>
                  <a:close/>
                </a:path>
                <a:path w="5012690" h="1311910">
                  <a:moveTo>
                    <a:pt x="2308987" y="46126"/>
                  </a:moveTo>
                  <a:lnTo>
                    <a:pt x="2278265" y="30746"/>
                  </a:lnTo>
                  <a:lnTo>
                    <a:pt x="2216823" y="0"/>
                  </a:lnTo>
                  <a:lnTo>
                    <a:pt x="2216823" y="30746"/>
                  </a:lnTo>
                  <a:lnTo>
                    <a:pt x="2089861" y="30746"/>
                  </a:lnTo>
                  <a:lnTo>
                    <a:pt x="2082977" y="37630"/>
                  </a:lnTo>
                  <a:lnTo>
                    <a:pt x="2082977" y="840359"/>
                  </a:lnTo>
                  <a:lnTo>
                    <a:pt x="1817497" y="840359"/>
                  </a:lnTo>
                  <a:lnTo>
                    <a:pt x="1817497" y="871105"/>
                  </a:lnTo>
                  <a:lnTo>
                    <a:pt x="2106828" y="871105"/>
                  </a:lnTo>
                  <a:lnTo>
                    <a:pt x="2113699" y="864222"/>
                  </a:lnTo>
                  <a:lnTo>
                    <a:pt x="2113699" y="855726"/>
                  </a:lnTo>
                  <a:lnTo>
                    <a:pt x="2113699" y="840359"/>
                  </a:lnTo>
                  <a:lnTo>
                    <a:pt x="2113699" y="61493"/>
                  </a:lnTo>
                  <a:lnTo>
                    <a:pt x="2216823" y="61493"/>
                  </a:lnTo>
                  <a:lnTo>
                    <a:pt x="2216823" y="92240"/>
                  </a:lnTo>
                  <a:lnTo>
                    <a:pt x="2278265" y="61493"/>
                  </a:lnTo>
                  <a:lnTo>
                    <a:pt x="2308987" y="46126"/>
                  </a:lnTo>
                  <a:close/>
                </a:path>
                <a:path w="5012690" h="1311910">
                  <a:moveTo>
                    <a:pt x="3373882" y="1265656"/>
                  </a:moveTo>
                  <a:lnTo>
                    <a:pt x="3343160" y="1250289"/>
                  </a:lnTo>
                  <a:lnTo>
                    <a:pt x="3281718" y="1219542"/>
                  </a:lnTo>
                  <a:lnTo>
                    <a:pt x="3281718" y="1250289"/>
                  </a:lnTo>
                  <a:lnTo>
                    <a:pt x="1817497" y="1250289"/>
                  </a:lnTo>
                  <a:lnTo>
                    <a:pt x="1817497" y="1281023"/>
                  </a:lnTo>
                  <a:lnTo>
                    <a:pt x="3281718" y="1281023"/>
                  </a:lnTo>
                  <a:lnTo>
                    <a:pt x="3281718" y="1311770"/>
                  </a:lnTo>
                  <a:lnTo>
                    <a:pt x="3343160" y="1281023"/>
                  </a:lnTo>
                  <a:lnTo>
                    <a:pt x="3373882" y="1265656"/>
                  </a:lnTo>
                  <a:close/>
                </a:path>
                <a:path w="5012690" h="1311910">
                  <a:moveTo>
                    <a:pt x="5012182" y="1265656"/>
                  </a:moveTo>
                  <a:lnTo>
                    <a:pt x="4981460" y="1250289"/>
                  </a:lnTo>
                  <a:lnTo>
                    <a:pt x="4920018" y="1219542"/>
                  </a:lnTo>
                  <a:lnTo>
                    <a:pt x="4920018" y="1250289"/>
                  </a:lnTo>
                  <a:lnTo>
                    <a:pt x="3783457" y="1250289"/>
                  </a:lnTo>
                  <a:lnTo>
                    <a:pt x="3783457" y="1281023"/>
                  </a:lnTo>
                  <a:lnTo>
                    <a:pt x="4920018" y="1281023"/>
                  </a:lnTo>
                  <a:lnTo>
                    <a:pt x="4920018" y="1311770"/>
                  </a:lnTo>
                  <a:lnTo>
                    <a:pt x="4981460" y="1281023"/>
                  </a:lnTo>
                  <a:lnTo>
                    <a:pt x="5012182" y="1265656"/>
                  </a:lnTo>
                  <a:close/>
                </a:path>
              </a:pathLst>
            </a:custGeom>
            <a:solidFill>
              <a:srgbClr val="000000"/>
            </a:solidFill>
          </p:spPr>
          <p:txBody>
            <a:bodyPr wrap="square" lIns="0" tIns="0" rIns="0" bIns="0" rtlCol="0"/>
            <a:lstStyle/>
            <a:p>
              <a:endParaRPr sz="1588"/>
            </a:p>
          </p:txBody>
        </p:sp>
        <p:sp>
          <p:nvSpPr>
            <p:cNvPr id="67" name="object 67"/>
            <p:cNvSpPr/>
            <p:nvPr/>
          </p:nvSpPr>
          <p:spPr>
            <a:xfrm>
              <a:off x="2435225" y="2595408"/>
              <a:ext cx="2046605" cy="625475"/>
            </a:xfrm>
            <a:custGeom>
              <a:avLst/>
              <a:gdLst/>
              <a:ahLst/>
              <a:cxnLst/>
              <a:rect l="l" t="t" r="r" b="b"/>
              <a:pathLst>
                <a:path w="2046604" h="625475">
                  <a:moveTo>
                    <a:pt x="279876" y="594395"/>
                  </a:moveTo>
                  <a:lnTo>
                    <a:pt x="0" y="594395"/>
                  </a:lnTo>
                  <a:lnTo>
                    <a:pt x="0" y="625139"/>
                  </a:lnTo>
                  <a:lnTo>
                    <a:pt x="303717" y="625139"/>
                  </a:lnTo>
                  <a:lnTo>
                    <a:pt x="310593" y="618257"/>
                  </a:lnTo>
                  <a:lnTo>
                    <a:pt x="310593" y="609767"/>
                  </a:lnTo>
                  <a:lnTo>
                    <a:pt x="279876" y="609767"/>
                  </a:lnTo>
                  <a:lnTo>
                    <a:pt x="279876" y="594395"/>
                  </a:lnTo>
                  <a:close/>
                </a:path>
                <a:path w="2046604" h="625475">
                  <a:moveTo>
                    <a:pt x="1954014" y="30745"/>
                  </a:moveTo>
                  <a:lnTo>
                    <a:pt x="286753" y="30745"/>
                  </a:lnTo>
                  <a:lnTo>
                    <a:pt x="279876" y="37627"/>
                  </a:lnTo>
                  <a:lnTo>
                    <a:pt x="279876" y="609767"/>
                  </a:lnTo>
                  <a:lnTo>
                    <a:pt x="295235" y="594395"/>
                  </a:lnTo>
                  <a:lnTo>
                    <a:pt x="310593" y="594395"/>
                  </a:lnTo>
                  <a:lnTo>
                    <a:pt x="310593" y="61489"/>
                  </a:lnTo>
                  <a:lnTo>
                    <a:pt x="295235" y="61489"/>
                  </a:lnTo>
                  <a:lnTo>
                    <a:pt x="310593" y="46117"/>
                  </a:lnTo>
                  <a:lnTo>
                    <a:pt x="1954014" y="46117"/>
                  </a:lnTo>
                  <a:lnTo>
                    <a:pt x="1954014" y="30745"/>
                  </a:lnTo>
                  <a:close/>
                </a:path>
                <a:path w="2046604" h="625475">
                  <a:moveTo>
                    <a:pt x="310593" y="594395"/>
                  </a:moveTo>
                  <a:lnTo>
                    <a:pt x="295235" y="594395"/>
                  </a:lnTo>
                  <a:lnTo>
                    <a:pt x="279876" y="609767"/>
                  </a:lnTo>
                  <a:lnTo>
                    <a:pt x="310593" y="609767"/>
                  </a:lnTo>
                  <a:lnTo>
                    <a:pt x="310593" y="594395"/>
                  </a:lnTo>
                  <a:close/>
                </a:path>
                <a:path w="2046604" h="625475">
                  <a:moveTo>
                    <a:pt x="1954014" y="0"/>
                  </a:moveTo>
                  <a:lnTo>
                    <a:pt x="1954014" y="92233"/>
                  </a:lnTo>
                  <a:lnTo>
                    <a:pt x="2015451" y="61489"/>
                  </a:lnTo>
                  <a:lnTo>
                    <a:pt x="1969373" y="61489"/>
                  </a:lnTo>
                  <a:lnTo>
                    <a:pt x="1969373" y="30745"/>
                  </a:lnTo>
                  <a:lnTo>
                    <a:pt x="2015451" y="30745"/>
                  </a:lnTo>
                  <a:lnTo>
                    <a:pt x="1954014" y="0"/>
                  </a:lnTo>
                  <a:close/>
                </a:path>
                <a:path w="2046604" h="625475">
                  <a:moveTo>
                    <a:pt x="310593" y="46117"/>
                  </a:moveTo>
                  <a:lnTo>
                    <a:pt x="295235" y="61489"/>
                  </a:lnTo>
                  <a:lnTo>
                    <a:pt x="310593" y="61489"/>
                  </a:lnTo>
                  <a:lnTo>
                    <a:pt x="310593" y="46117"/>
                  </a:lnTo>
                  <a:close/>
                </a:path>
                <a:path w="2046604" h="625475">
                  <a:moveTo>
                    <a:pt x="1954014" y="46117"/>
                  </a:moveTo>
                  <a:lnTo>
                    <a:pt x="310593" y="46117"/>
                  </a:lnTo>
                  <a:lnTo>
                    <a:pt x="310593" y="61489"/>
                  </a:lnTo>
                  <a:lnTo>
                    <a:pt x="1954014" y="61489"/>
                  </a:lnTo>
                  <a:lnTo>
                    <a:pt x="1954014" y="46117"/>
                  </a:lnTo>
                  <a:close/>
                </a:path>
                <a:path w="2046604" h="625475">
                  <a:moveTo>
                    <a:pt x="2015451" y="30745"/>
                  </a:moveTo>
                  <a:lnTo>
                    <a:pt x="1969373" y="30745"/>
                  </a:lnTo>
                  <a:lnTo>
                    <a:pt x="1969373" y="61489"/>
                  </a:lnTo>
                  <a:lnTo>
                    <a:pt x="2015451" y="61489"/>
                  </a:lnTo>
                  <a:lnTo>
                    <a:pt x="2046169" y="46117"/>
                  </a:lnTo>
                  <a:lnTo>
                    <a:pt x="2015451" y="30745"/>
                  </a:lnTo>
                  <a:close/>
                </a:path>
              </a:pathLst>
            </a:custGeom>
            <a:solidFill>
              <a:srgbClr val="FF0000"/>
            </a:solidFill>
          </p:spPr>
          <p:txBody>
            <a:bodyPr wrap="square" lIns="0" tIns="0" rIns="0" bIns="0" rtlCol="0"/>
            <a:lstStyle/>
            <a:p>
              <a:endParaRPr sz="1588"/>
            </a:p>
          </p:txBody>
        </p:sp>
        <p:sp>
          <p:nvSpPr>
            <p:cNvPr id="68" name="object 68"/>
            <p:cNvSpPr/>
            <p:nvPr/>
          </p:nvSpPr>
          <p:spPr>
            <a:xfrm>
              <a:off x="2023091" y="2738032"/>
              <a:ext cx="513715" cy="984250"/>
            </a:xfrm>
            <a:custGeom>
              <a:avLst/>
              <a:gdLst/>
              <a:ahLst/>
              <a:cxnLst/>
              <a:rect l="l" t="t" r="r" b="b"/>
              <a:pathLst>
                <a:path w="513714" h="984250">
                  <a:moveTo>
                    <a:pt x="0" y="0"/>
                  </a:moveTo>
                  <a:lnTo>
                    <a:pt x="0" y="983825"/>
                  </a:lnTo>
                  <a:lnTo>
                    <a:pt x="513676" y="737870"/>
                  </a:lnTo>
                  <a:lnTo>
                    <a:pt x="513676" y="245955"/>
                  </a:lnTo>
                  <a:lnTo>
                    <a:pt x="0" y="0"/>
                  </a:lnTo>
                  <a:close/>
                </a:path>
              </a:pathLst>
            </a:custGeom>
            <a:solidFill>
              <a:srgbClr val="07F707"/>
            </a:solidFill>
          </p:spPr>
          <p:txBody>
            <a:bodyPr wrap="square" lIns="0" tIns="0" rIns="0" bIns="0" rtlCol="0"/>
            <a:lstStyle/>
            <a:p>
              <a:endParaRPr sz="1588"/>
            </a:p>
          </p:txBody>
        </p:sp>
        <p:sp>
          <p:nvSpPr>
            <p:cNvPr id="69" name="object 69"/>
            <p:cNvSpPr/>
            <p:nvPr/>
          </p:nvSpPr>
          <p:spPr>
            <a:xfrm>
              <a:off x="2023091" y="2738031"/>
              <a:ext cx="513715" cy="984250"/>
            </a:xfrm>
            <a:custGeom>
              <a:avLst/>
              <a:gdLst/>
              <a:ahLst/>
              <a:cxnLst/>
              <a:rect l="l" t="t" r="r" b="b"/>
              <a:pathLst>
                <a:path w="513714" h="984250">
                  <a:moveTo>
                    <a:pt x="0" y="983826"/>
                  </a:moveTo>
                  <a:lnTo>
                    <a:pt x="513675" y="737870"/>
                  </a:lnTo>
                  <a:lnTo>
                    <a:pt x="513675" y="245956"/>
                  </a:lnTo>
                  <a:lnTo>
                    <a:pt x="0" y="0"/>
                  </a:lnTo>
                  <a:lnTo>
                    <a:pt x="0" y="983826"/>
                  </a:lnTo>
                  <a:close/>
                </a:path>
              </a:pathLst>
            </a:custGeom>
            <a:ln w="30738">
              <a:solidFill>
                <a:srgbClr val="000000"/>
              </a:solidFill>
            </a:ln>
          </p:spPr>
          <p:txBody>
            <a:bodyPr wrap="square" lIns="0" tIns="0" rIns="0" bIns="0" rtlCol="0"/>
            <a:lstStyle/>
            <a:p>
              <a:endParaRPr sz="1588"/>
            </a:p>
          </p:txBody>
        </p:sp>
        <p:sp>
          <p:nvSpPr>
            <p:cNvPr id="70" name="object 70"/>
            <p:cNvSpPr/>
            <p:nvPr/>
          </p:nvSpPr>
          <p:spPr>
            <a:xfrm>
              <a:off x="1994080" y="3036938"/>
              <a:ext cx="247650" cy="297815"/>
            </a:xfrm>
            <a:custGeom>
              <a:avLst/>
              <a:gdLst/>
              <a:ahLst/>
              <a:cxnLst/>
              <a:rect l="l" t="t" r="r" b="b"/>
              <a:pathLst>
                <a:path w="247650" h="297814">
                  <a:moveTo>
                    <a:pt x="0" y="0"/>
                  </a:moveTo>
                  <a:lnTo>
                    <a:pt x="0" y="297197"/>
                  </a:lnTo>
                  <a:lnTo>
                    <a:pt x="247451" y="148598"/>
                  </a:lnTo>
                  <a:lnTo>
                    <a:pt x="0" y="0"/>
                  </a:lnTo>
                  <a:close/>
                </a:path>
              </a:pathLst>
            </a:custGeom>
            <a:solidFill>
              <a:srgbClr val="FFFFFF"/>
            </a:solidFill>
          </p:spPr>
          <p:txBody>
            <a:bodyPr wrap="square" lIns="0" tIns="0" rIns="0" bIns="0" rtlCol="0"/>
            <a:lstStyle/>
            <a:p>
              <a:endParaRPr sz="1588"/>
            </a:p>
          </p:txBody>
        </p:sp>
      </p:grpSp>
      <p:sp>
        <p:nvSpPr>
          <p:cNvPr id="71" name="object 71"/>
          <p:cNvSpPr txBox="1"/>
          <p:nvPr/>
        </p:nvSpPr>
        <p:spPr>
          <a:xfrm>
            <a:off x="1464049" y="2909481"/>
            <a:ext cx="289112" cy="336578"/>
          </a:xfrm>
          <a:prstGeom prst="rect">
            <a:avLst/>
          </a:prstGeom>
          <a:solidFill>
            <a:srgbClr val="FFFFFF"/>
          </a:solidFill>
        </p:spPr>
        <p:txBody>
          <a:bodyPr vert="horz" wrap="square" lIns="0" tIns="37540" rIns="0" bIns="0" rtlCol="0">
            <a:spAutoFit/>
          </a:bodyPr>
          <a:lstStyle/>
          <a:p>
            <a:pPr marL="84049">
              <a:spcBef>
                <a:spcPts val="296"/>
              </a:spcBef>
            </a:pPr>
            <a:r>
              <a:rPr sz="1941" b="1" spc="-44" dirty="0">
                <a:latin typeface="Times New Roman"/>
                <a:cs typeface="Times New Roman"/>
              </a:rPr>
              <a:t>4</a:t>
            </a:r>
            <a:endParaRPr sz="1941">
              <a:latin typeface="Times New Roman"/>
              <a:cs typeface="Times New Roman"/>
            </a:endParaRPr>
          </a:p>
        </p:txBody>
      </p:sp>
      <p:sp>
        <p:nvSpPr>
          <p:cNvPr id="72" name="object 72"/>
          <p:cNvSpPr txBox="1"/>
          <p:nvPr/>
        </p:nvSpPr>
        <p:spPr>
          <a:xfrm>
            <a:off x="2044893" y="2588111"/>
            <a:ext cx="218008" cy="546287"/>
          </a:xfrm>
          <a:prstGeom prst="rect">
            <a:avLst/>
          </a:prstGeom>
        </p:spPr>
        <p:txBody>
          <a:bodyPr vert="vert" wrap="square" lIns="0" tIns="0" rIns="0" bIns="0" rtlCol="0">
            <a:spAutoFit/>
          </a:bodyPr>
          <a:lstStyle/>
          <a:p>
            <a:pPr marL="11206">
              <a:lnSpc>
                <a:spcPts val="1725"/>
              </a:lnSpc>
            </a:pPr>
            <a:r>
              <a:rPr sz="1500" b="1" spc="-9" dirty="0">
                <a:latin typeface="Times New Roman"/>
                <a:cs typeface="Times New Roman"/>
              </a:rPr>
              <a:t>Adder</a:t>
            </a:r>
            <a:endParaRPr sz="1500">
              <a:latin typeface="Times New Roman"/>
              <a:cs typeface="Times New Roman"/>
            </a:endParaRPr>
          </a:p>
        </p:txBody>
      </p:sp>
      <p:grpSp>
        <p:nvGrpSpPr>
          <p:cNvPr id="73" name="object 73"/>
          <p:cNvGrpSpPr/>
          <p:nvPr/>
        </p:nvGrpSpPr>
        <p:grpSpPr>
          <a:xfrm>
            <a:off x="1357132" y="2667430"/>
            <a:ext cx="5297581" cy="2371725"/>
            <a:chOff x="1385683" y="3023087"/>
            <a:chExt cx="6003925" cy="2687955"/>
          </a:xfrm>
        </p:grpSpPr>
        <p:sp>
          <p:nvSpPr>
            <p:cNvPr id="74" name="object 74"/>
            <p:cNvSpPr/>
            <p:nvPr/>
          </p:nvSpPr>
          <p:spPr>
            <a:xfrm>
              <a:off x="2014559" y="3038645"/>
              <a:ext cx="222250" cy="295910"/>
            </a:xfrm>
            <a:custGeom>
              <a:avLst/>
              <a:gdLst/>
              <a:ahLst/>
              <a:cxnLst/>
              <a:rect l="l" t="t" r="r" b="b"/>
              <a:pathLst>
                <a:path w="222250" h="295910">
                  <a:moveTo>
                    <a:pt x="0" y="0"/>
                  </a:moveTo>
                  <a:lnTo>
                    <a:pt x="0" y="295490"/>
                  </a:lnTo>
                  <a:lnTo>
                    <a:pt x="221852" y="147745"/>
                  </a:lnTo>
                  <a:lnTo>
                    <a:pt x="0" y="0"/>
                  </a:lnTo>
                  <a:close/>
                </a:path>
              </a:pathLst>
            </a:custGeom>
            <a:solidFill>
              <a:srgbClr val="FFFFFF"/>
            </a:solidFill>
          </p:spPr>
          <p:txBody>
            <a:bodyPr wrap="square" lIns="0" tIns="0" rIns="0" bIns="0" rtlCol="0"/>
            <a:lstStyle/>
            <a:p>
              <a:endParaRPr sz="1588"/>
            </a:p>
          </p:txBody>
        </p:sp>
        <p:sp>
          <p:nvSpPr>
            <p:cNvPr id="75" name="object 75"/>
            <p:cNvSpPr/>
            <p:nvPr/>
          </p:nvSpPr>
          <p:spPr>
            <a:xfrm>
              <a:off x="2014558" y="3038645"/>
              <a:ext cx="222250" cy="295910"/>
            </a:xfrm>
            <a:custGeom>
              <a:avLst/>
              <a:gdLst/>
              <a:ahLst/>
              <a:cxnLst/>
              <a:rect l="l" t="t" r="r" b="b"/>
              <a:pathLst>
                <a:path w="222250" h="295910">
                  <a:moveTo>
                    <a:pt x="0" y="0"/>
                  </a:moveTo>
                  <a:lnTo>
                    <a:pt x="221853" y="147745"/>
                  </a:lnTo>
                  <a:lnTo>
                    <a:pt x="0" y="295490"/>
                  </a:lnTo>
                </a:path>
              </a:pathLst>
            </a:custGeom>
            <a:ln w="30735">
              <a:solidFill>
                <a:srgbClr val="000000"/>
              </a:solidFill>
            </a:ln>
          </p:spPr>
          <p:txBody>
            <a:bodyPr wrap="square" lIns="0" tIns="0" rIns="0" bIns="0" rtlCol="0"/>
            <a:lstStyle/>
            <a:p>
              <a:endParaRPr sz="1588"/>
            </a:p>
          </p:txBody>
        </p:sp>
        <p:pic>
          <p:nvPicPr>
            <p:cNvPr id="76" name="object 76"/>
            <p:cNvPicPr/>
            <p:nvPr/>
          </p:nvPicPr>
          <p:blipFill>
            <a:blip r:embed="rId5" cstate="print"/>
            <a:stretch>
              <a:fillRect/>
            </a:stretch>
          </p:blipFill>
          <p:spPr>
            <a:xfrm>
              <a:off x="7278443" y="4378602"/>
              <a:ext cx="110939" cy="111009"/>
            </a:xfrm>
            <a:prstGeom prst="rect">
              <a:avLst/>
            </a:prstGeom>
          </p:spPr>
        </p:pic>
        <p:pic>
          <p:nvPicPr>
            <p:cNvPr id="77" name="object 77"/>
            <p:cNvPicPr/>
            <p:nvPr/>
          </p:nvPicPr>
          <p:blipFill>
            <a:blip r:embed="rId6" cstate="print"/>
            <a:stretch>
              <a:fillRect/>
            </a:stretch>
          </p:blipFill>
          <p:spPr>
            <a:xfrm>
              <a:off x="5460954" y="4627974"/>
              <a:ext cx="110940" cy="111009"/>
            </a:xfrm>
            <a:prstGeom prst="rect">
              <a:avLst/>
            </a:prstGeom>
          </p:spPr>
        </p:pic>
        <p:pic>
          <p:nvPicPr>
            <p:cNvPr id="78" name="object 78"/>
            <p:cNvPicPr/>
            <p:nvPr/>
          </p:nvPicPr>
          <p:blipFill>
            <a:blip r:embed="rId7" cstate="print"/>
            <a:stretch>
              <a:fillRect/>
            </a:stretch>
          </p:blipFill>
          <p:spPr>
            <a:xfrm>
              <a:off x="3438677" y="4045535"/>
              <a:ext cx="110939" cy="111008"/>
            </a:xfrm>
            <a:prstGeom prst="rect">
              <a:avLst/>
            </a:prstGeom>
          </p:spPr>
        </p:pic>
        <p:pic>
          <p:nvPicPr>
            <p:cNvPr id="79" name="object 79"/>
            <p:cNvPicPr/>
            <p:nvPr/>
          </p:nvPicPr>
          <p:blipFill>
            <a:blip r:embed="rId6" cstate="print"/>
            <a:stretch>
              <a:fillRect/>
            </a:stretch>
          </p:blipFill>
          <p:spPr>
            <a:xfrm>
              <a:off x="3447209" y="5599845"/>
              <a:ext cx="110940" cy="111008"/>
            </a:xfrm>
            <a:prstGeom prst="rect">
              <a:avLst/>
            </a:prstGeom>
          </p:spPr>
        </p:pic>
        <p:pic>
          <p:nvPicPr>
            <p:cNvPr id="80" name="object 80"/>
            <p:cNvPicPr/>
            <p:nvPr/>
          </p:nvPicPr>
          <p:blipFill>
            <a:blip r:embed="rId6" cstate="print"/>
            <a:stretch>
              <a:fillRect/>
            </a:stretch>
          </p:blipFill>
          <p:spPr>
            <a:xfrm>
              <a:off x="1385683" y="4291492"/>
              <a:ext cx="110940" cy="111008"/>
            </a:xfrm>
            <a:prstGeom prst="rect">
              <a:avLst/>
            </a:prstGeom>
          </p:spPr>
        </p:pic>
      </p:grpSp>
      <p:sp>
        <p:nvSpPr>
          <p:cNvPr id="81" name="object 81"/>
          <p:cNvSpPr txBox="1"/>
          <p:nvPr/>
        </p:nvSpPr>
        <p:spPr>
          <a:xfrm>
            <a:off x="3956219" y="5400662"/>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82" name="object 82"/>
          <p:cNvSpPr txBox="1"/>
          <p:nvPr/>
        </p:nvSpPr>
        <p:spPr>
          <a:xfrm>
            <a:off x="5302395" y="5400662"/>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83" name="object 83"/>
          <p:cNvSpPr txBox="1"/>
          <p:nvPr/>
        </p:nvSpPr>
        <p:spPr>
          <a:xfrm>
            <a:off x="6892509" y="5400662"/>
            <a:ext cx="223557" cy="187839"/>
          </a:xfrm>
          <a:prstGeom prst="rect">
            <a:avLst/>
          </a:prstGeom>
        </p:spPr>
        <p:txBody>
          <a:bodyPr vert="horz" wrap="square" lIns="0" tIns="11206" rIns="0" bIns="0" rtlCol="0">
            <a:spAutoFit/>
          </a:bodyPr>
          <a:lstStyle/>
          <a:p>
            <a:pPr marL="11206">
              <a:spcBef>
                <a:spcPts val="88"/>
              </a:spcBef>
            </a:pPr>
            <a:r>
              <a:rPr sz="1147" spc="-22" dirty="0">
                <a:latin typeface="Times New Roman"/>
                <a:cs typeface="Times New Roman"/>
              </a:rPr>
              <a:t>RD</a:t>
            </a:r>
            <a:endParaRPr sz="1147">
              <a:latin typeface="Times New Roman"/>
              <a:cs typeface="Times New Roman"/>
            </a:endParaRPr>
          </a:p>
        </p:txBody>
      </p:sp>
      <p:sp>
        <p:nvSpPr>
          <p:cNvPr id="84" name="object 84"/>
          <p:cNvSpPr txBox="1"/>
          <p:nvPr/>
        </p:nvSpPr>
        <p:spPr>
          <a:xfrm>
            <a:off x="8590484" y="4796656"/>
            <a:ext cx="192360" cy="656665"/>
          </a:xfrm>
          <a:prstGeom prst="rect">
            <a:avLst/>
          </a:prstGeom>
        </p:spPr>
        <p:txBody>
          <a:bodyPr vert="vert270" wrap="square" lIns="0" tIns="0" rIns="0" bIns="0" rtlCol="0">
            <a:spAutoFit/>
          </a:bodyPr>
          <a:lstStyle/>
          <a:p>
            <a:pPr marL="11206">
              <a:lnSpc>
                <a:spcPts val="1531"/>
              </a:lnSpc>
            </a:pPr>
            <a:r>
              <a:rPr sz="1324" dirty="0">
                <a:latin typeface="Times New Roman"/>
                <a:cs typeface="Times New Roman"/>
              </a:rPr>
              <a:t>WB </a:t>
            </a:r>
            <a:r>
              <a:rPr sz="1324" spc="-18" dirty="0">
                <a:latin typeface="Times New Roman"/>
                <a:cs typeface="Times New Roman"/>
              </a:rPr>
              <a:t>Data</a:t>
            </a:r>
            <a:endParaRPr sz="1324">
              <a:latin typeface="Times New Roman"/>
              <a:cs typeface="Times New Roman"/>
            </a:endParaRPr>
          </a:p>
        </p:txBody>
      </p:sp>
      <p:sp>
        <p:nvSpPr>
          <p:cNvPr id="85" name="object 85"/>
          <p:cNvSpPr txBox="1"/>
          <p:nvPr/>
        </p:nvSpPr>
        <p:spPr>
          <a:xfrm>
            <a:off x="922804" y="2137488"/>
            <a:ext cx="598394" cy="215089"/>
          </a:xfrm>
          <a:prstGeom prst="rect">
            <a:avLst/>
          </a:prstGeom>
        </p:spPr>
        <p:txBody>
          <a:bodyPr vert="horz" wrap="square" lIns="0" tIns="11206" rIns="0" bIns="0" rtlCol="0">
            <a:spAutoFit/>
          </a:bodyPr>
          <a:lstStyle/>
          <a:p>
            <a:pPr marL="11206">
              <a:spcBef>
                <a:spcPts val="88"/>
              </a:spcBef>
            </a:pPr>
            <a:r>
              <a:rPr sz="1324" dirty="0">
                <a:latin typeface="Times New Roman"/>
                <a:cs typeface="Times New Roman"/>
              </a:rPr>
              <a:t>Next</a:t>
            </a:r>
            <a:r>
              <a:rPr sz="1324" spc="-13"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86" name="object 86"/>
          <p:cNvSpPr/>
          <p:nvPr/>
        </p:nvSpPr>
        <p:spPr>
          <a:xfrm>
            <a:off x="970149" y="3262137"/>
            <a:ext cx="289112" cy="1157568"/>
          </a:xfrm>
          <a:custGeom>
            <a:avLst/>
            <a:gdLst/>
            <a:ahLst/>
            <a:cxnLst/>
            <a:rect l="l" t="t" r="r" b="b"/>
            <a:pathLst>
              <a:path w="327659" h="1311910">
                <a:moveTo>
                  <a:pt x="327659" y="0"/>
                </a:moveTo>
                <a:lnTo>
                  <a:pt x="0" y="0"/>
                </a:lnTo>
                <a:lnTo>
                  <a:pt x="0" y="1311769"/>
                </a:lnTo>
                <a:lnTo>
                  <a:pt x="327659" y="1311769"/>
                </a:lnTo>
                <a:lnTo>
                  <a:pt x="327659" y="0"/>
                </a:lnTo>
                <a:close/>
              </a:path>
            </a:pathLst>
          </a:custGeom>
          <a:solidFill>
            <a:srgbClr val="07F707"/>
          </a:solidFill>
        </p:spPr>
        <p:txBody>
          <a:bodyPr wrap="square" lIns="0" tIns="0" rIns="0" bIns="0" rtlCol="0"/>
          <a:lstStyle/>
          <a:p>
            <a:endParaRPr sz="1588"/>
          </a:p>
        </p:txBody>
      </p:sp>
      <p:sp>
        <p:nvSpPr>
          <p:cNvPr id="87" name="object 87"/>
          <p:cNvSpPr txBox="1"/>
          <p:nvPr/>
        </p:nvSpPr>
        <p:spPr>
          <a:xfrm>
            <a:off x="1001177" y="3262137"/>
            <a:ext cx="258084" cy="1157568"/>
          </a:xfrm>
          <a:prstGeom prst="rect">
            <a:avLst/>
          </a:prstGeom>
          <a:ln w="30719">
            <a:solidFill>
              <a:srgbClr val="000000"/>
            </a:solidFill>
          </a:ln>
        </p:spPr>
        <p:txBody>
          <a:bodyPr vert="vert" wrap="square" lIns="0" tIns="15128" rIns="0" bIns="0" rtlCol="0">
            <a:spAutoFit/>
          </a:bodyPr>
          <a:lstStyle/>
          <a:p>
            <a:pPr marL="224690">
              <a:spcBef>
                <a:spcPts val="119"/>
              </a:spcBef>
            </a:pPr>
            <a:r>
              <a:rPr sz="1677" spc="-9" dirty="0">
                <a:latin typeface="Times New Roman"/>
                <a:cs typeface="Times New Roman"/>
              </a:rPr>
              <a:t>Address</a:t>
            </a:r>
            <a:endParaRPr sz="1677">
              <a:latin typeface="Times New Roman"/>
              <a:cs typeface="Times New Roman"/>
            </a:endParaRPr>
          </a:p>
        </p:txBody>
      </p:sp>
      <p:sp>
        <p:nvSpPr>
          <p:cNvPr id="88" name="object 88"/>
          <p:cNvSpPr/>
          <p:nvPr/>
        </p:nvSpPr>
        <p:spPr>
          <a:xfrm>
            <a:off x="982196" y="4211604"/>
            <a:ext cx="263899" cy="217393"/>
          </a:xfrm>
          <a:custGeom>
            <a:avLst/>
            <a:gdLst/>
            <a:ahLst/>
            <a:cxnLst/>
            <a:rect l="l" t="t" r="r" b="b"/>
            <a:pathLst>
              <a:path w="299084" h="246379">
                <a:moveTo>
                  <a:pt x="0" y="245956"/>
                </a:moveTo>
                <a:lnTo>
                  <a:pt x="149324" y="0"/>
                </a:lnTo>
                <a:lnTo>
                  <a:pt x="298648" y="245956"/>
                </a:lnTo>
                <a:lnTo>
                  <a:pt x="0" y="245956"/>
                </a:lnTo>
                <a:close/>
              </a:path>
            </a:pathLst>
          </a:custGeom>
          <a:ln w="30733">
            <a:solidFill>
              <a:srgbClr val="000000"/>
            </a:solidFill>
          </a:ln>
        </p:spPr>
        <p:txBody>
          <a:bodyPr wrap="square" lIns="0" tIns="0" rIns="0" bIns="0" rtlCol="0"/>
          <a:lstStyle/>
          <a:p>
            <a:endParaRPr sz="1588"/>
          </a:p>
        </p:txBody>
      </p:sp>
      <p:sp>
        <p:nvSpPr>
          <p:cNvPr id="89" name="object 89"/>
          <p:cNvSpPr txBox="1"/>
          <p:nvPr/>
        </p:nvSpPr>
        <p:spPr>
          <a:xfrm>
            <a:off x="3423169" y="3150539"/>
            <a:ext cx="230281"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RS1</a:t>
            </a:r>
            <a:endParaRPr sz="971">
              <a:latin typeface="Times New Roman"/>
              <a:cs typeface="Times New Roman"/>
            </a:endParaRPr>
          </a:p>
        </p:txBody>
      </p:sp>
      <p:sp>
        <p:nvSpPr>
          <p:cNvPr id="90" name="object 90"/>
          <p:cNvSpPr txBox="1"/>
          <p:nvPr/>
        </p:nvSpPr>
        <p:spPr>
          <a:xfrm>
            <a:off x="3432957" y="3440996"/>
            <a:ext cx="230281"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RS2</a:t>
            </a:r>
            <a:endParaRPr sz="971">
              <a:latin typeface="Times New Roman"/>
              <a:cs typeface="Times New Roman"/>
            </a:endParaRPr>
          </a:p>
        </p:txBody>
      </p:sp>
      <p:sp>
        <p:nvSpPr>
          <p:cNvPr id="91" name="object 91"/>
          <p:cNvSpPr txBox="1"/>
          <p:nvPr/>
        </p:nvSpPr>
        <p:spPr>
          <a:xfrm>
            <a:off x="3564713" y="5019681"/>
            <a:ext cx="252693" cy="160715"/>
          </a:xfrm>
          <a:prstGeom prst="rect">
            <a:avLst/>
          </a:prstGeom>
        </p:spPr>
        <p:txBody>
          <a:bodyPr vert="horz" wrap="square" lIns="0" tIns="11206" rIns="0" bIns="0" rtlCol="0">
            <a:spAutoFit/>
          </a:bodyPr>
          <a:lstStyle/>
          <a:p>
            <a:pPr marL="11206">
              <a:spcBef>
                <a:spcPts val="88"/>
              </a:spcBef>
            </a:pPr>
            <a:r>
              <a:rPr sz="971" spc="-22" dirty="0">
                <a:latin typeface="Times New Roman"/>
                <a:cs typeface="Times New Roman"/>
              </a:rPr>
              <a:t>Imm</a:t>
            </a:r>
            <a:endParaRPr sz="971">
              <a:latin typeface="Times New Roman"/>
              <a:cs typeface="Times New Roman"/>
            </a:endParaRPr>
          </a:p>
        </p:txBody>
      </p:sp>
      <p:grpSp>
        <p:nvGrpSpPr>
          <p:cNvPr id="92" name="object 92"/>
          <p:cNvGrpSpPr/>
          <p:nvPr/>
        </p:nvGrpSpPr>
        <p:grpSpPr>
          <a:xfrm>
            <a:off x="4052327" y="2234141"/>
            <a:ext cx="226359" cy="552450"/>
            <a:chOff x="4440237" y="2532026"/>
            <a:chExt cx="256540" cy="626110"/>
          </a:xfrm>
        </p:grpSpPr>
        <p:sp>
          <p:nvSpPr>
            <p:cNvPr id="93" name="object 93"/>
            <p:cNvSpPr/>
            <p:nvPr/>
          </p:nvSpPr>
          <p:spPr>
            <a:xfrm>
              <a:off x="4455795" y="2547584"/>
              <a:ext cx="225425" cy="594995"/>
            </a:xfrm>
            <a:custGeom>
              <a:avLst/>
              <a:gdLst/>
              <a:ahLst/>
              <a:cxnLst/>
              <a:rect l="l" t="t" r="r" b="b"/>
              <a:pathLst>
                <a:path w="225425" h="594994">
                  <a:moveTo>
                    <a:pt x="112632" y="0"/>
                  </a:moveTo>
                  <a:lnTo>
                    <a:pt x="63099" y="30207"/>
                  </a:lnTo>
                  <a:lnTo>
                    <a:pt x="42186" y="65291"/>
                  </a:lnTo>
                  <a:lnTo>
                    <a:pt x="24744" y="111315"/>
                  </a:lnTo>
                  <a:lnTo>
                    <a:pt x="11448" y="166497"/>
                  </a:lnTo>
                  <a:lnTo>
                    <a:pt x="2974" y="229053"/>
                  </a:lnTo>
                  <a:lnTo>
                    <a:pt x="0" y="297197"/>
                  </a:lnTo>
                  <a:lnTo>
                    <a:pt x="2974" y="365342"/>
                  </a:lnTo>
                  <a:lnTo>
                    <a:pt x="11448" y="427897"/>
                  </a:lnTo>
                  <a:lnTo>
                    <a:pt x="24744" y="483079"/>
                  </a:lnTo>
                  <a:lnTo>
                    <a:pt x="42186" y="529104"/>
                  </a:lnTo>
                  <a:lnTo>
                    <a:pt x="63099" y="564187"/>
                  </a:lnTo>
                  <a:lnTo>
                    <a:pt x="112632" y="594395"/>
                  </a:lnTo>
                  <a:lnTo>
                    <a:pt x="138458" y="586546"/>
                  </a:lnTo>
                  <a:lnTo>
                    <a:pt x="183079" y="529104"/>
                  </a:lnTo>
                  <a:lnTo>
                    <a:pt x="200521" y="483079"/>
                  </a:lnTo>
                  <a:lnTo>
                    <a:pt x="213818" y="427897"/>
                  </a:lnTo>
                  <a:lnTo>
                    <a:pt x="222291" y="365342"/>
                  </a:lnTo>
                  <a:lnTo>
                    <a:pt x="225266" y="297197"/>
                  </a:lnTo>
                  <a:lnTo>
                    <a:pt x="222291" y="229053"/>
                  </a:lnTo>
                  <a:lnTo>
                    <a:pt x="213818" y="166497"/>
                  </a:lnTo>
                  <a:lnTo>
                    <a:pt x="200521" y="111315"/>
                  </a:lnTo>
                  <a:lnTo>
                    <a:pt x="183079" y="65291"/>
                  </a:lnTo>
                  <a:lnTo>
                    <a:pt x="162165" y="30207"/>
                  </a:lnTo>
                  <a:lnTo>
                    <a:pt x="112632" y="0"/>
                  </a:lnTo>
                  <a:close/>
                </a:path>
              </a:pathLst>
            </a:custGeom>
            <a:solidFill>
              <a:srgbClr val="FC0128"/>
            </a:solidFill>
          </p:spPr>
          <p:txBody>
            <a:bodyPr wrap="square" lIns="0" tIns="0" rIns="0" bIns="0" rtlCol="0"/>
            <a:lstStyle/>
            <a:p>
              <a:endParaRPr sz="1588"/>
            </a:p>
          </p:txBody>
        </p:sp>
        <p:sp>
          <p:nvSpPr>
            <p:cNvPr id="94" name="object 94"/>
            <p:cNvSpPr/>
            <p:nvPr/>
          </p:nvSpPr>
          <p:spPr>
            <a:xfrm>
              <a:off x="4455795" y="2547584"/>
              <a:ext cx="225425" cy="594995"/>
            </a:xfrm>
            <a:custGeom>
              <a:avLst/>
              <a:gdLst/>
              <a:ahLst/>
              <a:cxnLst/>
              <a:rect l="l" t="t" r="r" b="b"/>
              <a:pathLst>
                <a:path w="225425" h="594994">
                  <a:moveTo>
                    <a:pt x="0" y="297197"/>
                  </a:moveTo>
                  <a:lnTo>
                    <a:pt x="2974" y="229052"/>
                  </a:lnTo>
                  <a:lnTo>
                    <a:pt x="11448" y="166497"/>
                  </a:lnTo>
                  <a:lnTo>
                    <a:pt x="24744" y="111315"/>
                  </a:lnTo>
                  <a:lnTo>
                    <a:pt x="42186" y="65290"/>
                  </a:lnTo>
                  <a:lnTo>
                    <a:pt x="63099" y="30207"/>
                  </a:lnTo>
                  <a:lnTo>
                    <a:pt x="112633" y="0"/>
                  </a:lnTo>
                  <a:lnTo>
                    <a:pt x="138458" y="7849"/>
                  </a:lnTo>
                  <a:lnTo>
                    <a:pt x="183079" y="65290"/>
                  </a:lnTo>
                  <a:lnTo>
                    <a:pt x="200522" y="111315"/>
                  </a:lnTo>
                  <a:lnTo>
                    <a:pt x="213818" y="166497"/>
                  </a:lnTo>
                  <a:lnTo>
                    <a:pt x="222291" y="229052"/>
                  </a:lnTo>
                  <a:lnTo>
                    <a:pt x="225266" y="297197"/>
                  </a:lnTo>
                  <a:lnTo>
                    <a:pt x="222291" y="365342"/>
                  </a:lnTo>
                  <a:lnTo>
                    <a:pt x="213818" y="427897"/>
                  </a:lnTo>
                  <a:lnTo>
                    <a:pt x="200522" y="483079"/>
                  </a:lnTo>
                  <a:lnTo>
                    <a:pt x="183079" y="529104"/>
                  </a:lnTo>
                  <a:lnTo>
                    <a:pt x="162166" y="564187"/>
                  </a:lnTo>
                  <a:lnTo>
                    <a:pt x="112633" y="594395"/>
                  </a:lnTo>
                  <a:lnTo>
                    <a:pt x="86807" y="586546"/>
                  </a:lnTo>
                  <a:lnTo>
                    <a:pt x="42186" y="529104"/>
                  </a:lnTo>
                  <a:lnTo>
                    <a:pt x="24744" y="483079"/>
                  </a:lnTo>
                  <a:lnTo>
                    <a:pt x="11448" y="427897"/>
                  </a:lnTo>
                  <a:lnTo>
                    <a:pt x="2974" y="365342"/>
                  </a:lnTo>
                  <a:lnTo>
                    <a:pt x="0" y="297197"/>
                  </a:lnTo>
                  <a:close/>
                </a:path>
              </a:pathLst>
            </a:custGeom>
            <a:ln w="30721">
              <a:solidFill>
                <a:srgbClr val="000000"/>
              </a:solidFill>
            </a:ln>
          </p:spPr>
          <p:txBody>
            <a:bodyPr wrap="square" lIns="0" tIns="0" rIns="0" bIns="0" rtlCol="0"/>
            <a:lstStyle/>
            <a:p>
              <a:endParaRPr sz="1588"/>
            </a:p>
          </p:txBody>
        </p:sp>
      </p:grpSp>
      <p:sp>
        <p:nvSpPr>
          <p:cNvPr id="95" name="object 95"/>
          <p:cNvSpPr txBox="1"/>
          <p:nvPr/>
        </p:nvSpPr>
        <p:spPr>
          <a:xfrm>
            <a:off x="4077475" y="2303033"/>
            <a:ext cx="192360" cy="417419"/>
          </a:xfrm>
          <a:prstGeom prst="rect">
            <a:avLst/>
          </a:prstGeom>
        </p:spPr>
        <p:txBody>
          <a:bodyPr vert="vert" wrap="square" lIns="0" tIns="0" rIns="0" bIns="0" rtlCol="0">
            <a:spAutoFit/>
          </a:bodyPr>
          <a:lstStyle/>
          <a:p>
            <a:pPr marL="11206">
              <a:lnSpc>
                <a:spcPts val="1531"/>
              </a:lnSpc>
            </a:pPr>
            <a:r>
              <a:rPr sz="1324" spc="-22" dirty="0">
                <a:latin typeface="Times New Roman"/>
                <a:cs typeface="Times New Roman"/>
              </a:rPr>
              <a:t>MUX</a:t>
            </a:r>
            <a:endParaRPr sz="1324">
              <a:latin typeface="Times New Roman"/>
              <a:cs typeface="Times New Roman"/>
            </a:endParaRPr>
          </a:p>
        </p:txBody>
      </p:sp>
      <p:grpSp>
        <p:nvGrpSpPr>
          <p:cNvPr id="96" name="object 96"/>
          <p:cNvGrpSpPr/>
          <p:nvPr/>
        </p:nvGrpSpPr>
        <p:grpSpPr>
          <a:xfrm>
            <a:off x="3198720" y="2172351"/>
            <a:ext cx="1750358" cy="3486709"/>
            <a:chOff x="3472815" y="2461997"/>
            <a:chExt cx="1983739" cy="3951604"/>
          </a:xfrm>
        </p:grpSpPr>
        <p:sp>
          <p:nvSpPr>
            <p:cNvPr id="97" name="object 97"/>
            <p:cNvSpPr/>
            <p:nvPr/>
          </p:nvSpPr>
          <p:spPr>
            <a:xfrm>
              <a:off x="3493293" y="3743208"/>
              <a:ext cx="737235" cy="92710"/>
            </a:xfrm>
            <a:custGeom>
              <a:avLst/>
              <a:gdLst/>
              <a:ahLst/>
              <a:cxnLst/>
              <a:rect l="l" t="t" r="r" b="b"/>
              <a:pathLst>
                <a:path w="737235" h="92710">
                  <a:moveTo>
                    <a:pt x="645079" y="0"/>
                  </a:moveTo>
                  <a:lnTo>
                    <a:pt x="645079" y="92233"/>
                  </a:lnTo>
                  <a:lnTo>
                    <a:pt x="706517" y="61488"/>
                  </a:lnTo>
                  <a:lnTo>
                    <a:pt x="660439" y="61488"/>
                  </a:lnTo>
                  <a:lnTo>
                    <a:pt x="660439" y="30744"/>
                  </a:lnTo>
                  <a:lnTo>
                    <a:pt x="706516" y="30744"/>
                  </a:lnTo>
                  <a:lnTo>
                    <a:pt x="645079" y="0"/>
                  </a:lnTo>
                  <a:close/>
                </a:path>
                <a:path w="737235" h="92710">
                  <a:moveTo>
                    <a:pt x="645079" y="30744"/>
                  </a:moveTo>
                  <a:lnTo>
                    <a:pt x="0" y="30744"/>
                  </a:lnTo>
                  <a:lnTo>
                    <a:pt x="0" y="61488"/>
                  </a:lnTo>
                  <a:lnTo>
                    <a:pt x="645079" y="61488"/>
                  </a:lnTo>
                  <a:lnTo>
                    <a:pt x="645079" y="30744"/>
                  </a:lnTo>
                  <a:close/>
                </a:path>
                <a:path w="737235" h="92710">
                  <a:moveTo>
                    <a:pt x="706516" y="30744"/>
                  </a:moveTo>
                  <a:lnTo>
                    <a:pt x="660439" y="30744"/>
                  </a:lnTo>
                  <a:lnTo>
                    <a:pt x="660439" y="61488"/>
                  </a:lnTo>
                  <a:lnTo>
                    <a:pt x="706517" y="61488"/>
                  </a:lnTo>
                  <a:lnTo>
                    <a:pt x="737235" y="46116"/>
                  </a:lnTo>
                  <a:lnTo>
                    <a:pt x="706516" y="30744"/>
                  </a:lnTo>
                  <a:close/>
                </a:path>
              </a:pathLst>
            </a:custGeom>
            <a:solidFill>
              <a:srgbClr val="000000"/>
            </a:solidFill>
          </p:spPr>
          <p:txBody>
            <a:bodyPr wrap="square" lIns="0" tIns="0" rIns="0" bIns="0" rtlCol="0"/>
            <a:lstStyle/>
            <a:p>
              <a:endParaRPr sz="1588"/>
            </a:p>
          </p:txBody>
        </p:sp>
        <p:sp>
          <p:nvSpPr>
            <p:cNvPr id="98" name="object 98"/>
            <p:cNvSpPr/>
            <p:nvPr/>
          </p:nvSpPr>
          <p:spPr>
            <a:xfrm>
              <a:off x="3715146" y="3085614"/>
              <a:ext cx="203200" cy="251460"/>
            </a:xfrm>
            <a:custGeom>
              <a:avLst/>
              <a:gdLst/>
              <a:ahLst/>
              <a:cxnLst/>
              <a:rect l="l" t="t" r="r" b="b"/>
              <a:pathLst>
                <a:path w="203200" h="251460">
                  <a:moveTo>
                    <a:pt x="0" y="0"/>
                  </a:moveTo>
                  <a:lnTo>
                    <a:pt x="0" y="251080"/>
                  </a:lnTo>
                  <a:lnTo>
                    <a:pt x="203081" y="125540"/>
                  </a:lnTo>
                  <a:lnTo>
                    <a:pt x="0" y="0"/>
                  </a:lnTo>
                  <a:close/>
                </a:path>
              </a:pathLst>
            </a:custGeom>
            <a:solidFill>
              <a:srgbClr val="FFFFFF"/>
            </a:solidFill>
          </p:spPr>
          <p:txBody>
            <a:bodyPr wrap="square" lIns="0" tIns="0" rIns="0" bIns="0" rtlCol="0"/>
            <a:lstStyle/>
            <a:p>
              <a:endParaRPr sz="1588"/>
            </a:p>
          </p:txBody>
        </p:sp>
        <p:sp>
          <p:nvSpPr>
            <p:cNvPr id="99" name="object 99"/>
            <p:cNvSpPr/>
            <p:nvPr/>
          </p:nvSpPr>
          <p:spPr>
            <a:xfrm>
              <a:off x="3715146" y="3085614"/>
              <a:ext cx="203200" cy="251460"/>
            </a:xfrm>
            <a:custGeom>
              <a:avLst/>
              <a:gdLst/>
              <a:ahLst/>
              <a:cxnLst/>
              <a:rect l="l" t="t" r="r" b="b"/>
              <a:pathLst>
                <a:path w="203200" h="251460">
                  <a:moveTo>
                    <a:pt x="0" y="0"/>
                  </a:moveTo>
                  <a:lnTo>
                    <a:pt x="203081" y="125540"/>
                  </a:lnTo>
                  <a:lnTo>
                    <a:pt x="0" y="251081"/>
                  </a:lnTo>
                </a:path>
              </a:pathLst>
            </a:custGeom>
            <a:ln w="30734">
              <a:solidFill>
                <a:srgbClr val="000000"/>
              </a:solidFill>
            </a:ln>
          </p:spPr>
          <p:txBody>
            <a:bodyPr wrap="square" lIns="0" tIns="0" rIns="0" bIns="0" rtlCol="0"/>
            <a:lstStyle/>
            <a:p>
              <a:endParaRPr sz="1588"/>
            </a:p>
          </p:txBody>
        </p:sp>
        <p:sp>
          <p:nvSpPr>
            <p:cNvPr id="100" name="object 100"/>
            <p:cNvSpPr/>
            <p:nvPr/>
          </p:nvSpPr>
          <p:spPr>
            <a:xfrm>
              <a:off x="3472815" y="3058286"/>
              <a:ext cx="225425" cy="251460"/>
            </a:xfrm>
            <a:custGeom>
              <a:avLst/>
              <a:gdLst/>
              <a:ahLst/>
              <a:cxnLst/>
              <a:rect l="l" t="t" r="r" b="b"/>
              <a:pathLst>
                <a:path w="225425" h="251460">
                  <a:moveTo>
                    <a:pt x="0" y="0"/>
                  </a:moveTo>
                  <a:lnTo>
                    <a:pt x="0" y="251080"/>
                  </a:lnTo>
                  <a:lnTo>
                    <a:pt x="225266" y="125539"/>
                  </a:lnTo>
                  <a:lnTo>
                    <a:pt x="0" y="0"/>
                  </a:lnTo>
                  <a:close/>
                </a:path>
              </a:pathLst>
            </a:custGeom>
            <a:solidFill>
              <a:srgbClr val="FFFFFF"/>
            </a:solidFill>
          </p:spPr>
          <p:txBody>
            <a:bodyPr wrap="square" lIns="0" tIns="0" rIns="0" bIns="0" rtlCol="0"/>
            <a:lstStyle/>
            <a:p>
              <a:endParaRPr sz="1588"/>
            </a:p>
          </p:txBody>
        </p:sp>
        <p:pic>
          <p:nvPicPr>
            <p:cNvPr id="101" name="object 101"/>
            <p:cNvPicPr/>
            <p:nvPr/>
          </p:nvPicPr>
          <p:blipFill>
            <a:blip r:embed="rId8" cstate="print"/>
            <a:stretch>
              <a:fillRect/>
            </a:stretch>
          </p:blipFill>
          <p:spPr>
            <a:xfrm>
              <a:off x="4210050" y="3005336"/>
              <a:ext cx="245745" cy="225460"/>
            </a:xfrm>
            <a:prstGeom prst="rect">
              <a:avLst/>
            </a:prstGeom>
          </p:spPr>
        </p:pic>
        <p:sp>
          <p:nvSpPr>
            <p:cNvPr id="102" name="object 102"/>
            <p:cNvSpPr/>
            <p:nvPr/>
          </p:nvSpPr>
          <p:spPr>
            <a:xfrm>
              <a:off x="5112822" y="2477555"/>
              <a:ext cx="327660" cy="3920490"/>
            </a:xfrm>
            <a:custGeom>
              <a:avLst/>
              <a:gdLst/>
              <a:ahLst/>
              <a:cxnLst/>
              <a:rect l="l" t="t" r="r" b="b"/>
              <a:pathLst>
                <a:path w="327660" h="3920490">
                  <a:moveTo>
                    <a:pt x="327660" y="0"/>
                  </a:moveTo>
                  <a:lnTo>
                    <a:pt x="0" y="0"/>
                  </a:lnTo>
                  <a:lnTo>
                    <a:pt x="0" y="3919933"/>
                  </a:lnTo>
                  <a:lnTo>
                    <a:pt x="327660" y="3919933"/>
                  </a:lnTo>
                  <a:lnTo>
                    <a:pt x="327660" y="0"/>
                  </a:lnTo>
                  <a:close/>
                </a:path>
              </a:pathLst>
            </a:custGeom>
            <a:solidFill>
              <a:srgbClr val="07F707"/>
            </a:solidFill>
          </p:spPr>
          <p:txBody>
            <a:bodyPr wrap="square" lIns="0" tIns="0" rIns="0" bIns="0" rtlCol="0"/>
            <a:lstStyle/>
            <a:p>
              <a:endParaRPr sz="1588"/>
            </a:p>
          </p:txBody>
        </p:sp>
        <p:sp>
          <p:nvSpPr>
            <p:cNvPr id="103" name="object 103"/>
            <p:cNvSpPr/>
            <p:nvPr/>
          </p:nvSpPr>
          <p:spPr>
            <a:xfrm>
              <a:off x="5112822" y="2477555"/>
              <a:ext cx="327660" cy="3920490"/>
            </a:xfrm>
            <a:custGeom>
              <a:avLst/>
              <a:gdLst/>
              <a:ahLst/>
              <a:cxnLst/>
              <a:rect l="l" t="t" r="r" b="b"/>
              <a:pathLst>
                <a:path w="327660" h="3920490">
                  <a:moveTo>
                    <a:pt x="0" y="0"/>
                  </a:moveTo>
                  <a:lnTo>
                    <a:pt x="327659" y="0"/>
                  </a:lnTo>
                  <a:lnTo>
                    <a:pt x="327659" y="3919935"/>
                  </a:lnTo>
                  <a:lnTo>
                    <a:pt x="0" y="3919935"/>
                  </a:lnTo>
                  <a:lnTo>
                    <a:pt x="0" y="0"/>
                  </a:lnTo>
                  <a:close/>
                </a:path>
              </a:pathLst>
            </a:custGeom>
            <a:ln w="30718">
              <a:solidFill>
                <a:srgbClr val="000000"/>
              </a:solidFill>
            </a:ln>
          </p:spPr>
          <p:txBody>
            <a:bodyPr wrap="square" lIns="0" tIns="0" rIns="0" bIns="0" rtlCol="0"/>
            <a:lstStyle/>
            <a:p>
              <a:endParaRPr sz="1588"/>
            </a:p>
          </p:txBody>
        </p:sp>
      </p:grpSp>
      <p:sp>
        <p:nvSpPr>
          <p:cNvPr id="104" name="object 104"/>
          <p:cNvSpPr txBox="1"/>
          <p:nvPr/>
        </p:nvSpPr>
        <p:spPr>
          <a:xfrm>
            <a:off x="4663856" y="3604707"/>
            <a:ext cx="243656" cy="623047"/>
          </a:xfrm>
          <a:prstGeom prst="rect">
            <a:avLst/>
          </a:prstGeom>
        </p:spPr>
        <p:txBody>
          <a:bodyPr vert="vert" wrap="square" lIns="0" tIns="0" rIns="0" bIns="0" rtlCol="0">
            <a:spAutoFit/>
          </a:bodyPr>
          <a:lstStyle/>
          <a:p>
            <a:pPr marL="11206">
              <a:lnSpc>
                <a:spcPts val="1915"/>
              </a:lnSpc>
            </a:pPr>
            <a:r>
              <a:rPr sz="1677" b="1" spc="-9" dirty="0">
                <a:latin typeface="Times New Roman"/>
                <a:cs typeface="Times New Roman"/>
              </a:rPr>
              <a:t>ID/EX</a:t>
            </a:r>
            <a:endParaRPr sz="1677">
              <a:latin typeface="Times New Roman"/>
              <a:cs typeface="Times New Roman"/>
            </a:endParaRPr>
          </a:p>
        </p:txBody>
      </p:sp>
      <p:grpSp>
        <p:nvGrpSpPr>
          <p:cNvPr id="105" name="object 105"/>
          <p:cNvGrpSpPr/>
          <p:nvPr/>
        </p:nvGrpSpPr>
        <p:grpSpPr>
          <a:xfrm>
            <a:off x="2900574" y="2745208"/>
            <a:ext cx="2046754" cy="3410510"/>
            <a:chOff x="3134916" y="3111235"/>
            <a:chExt cx="2319655" cy="3865245"/>
          </a:xfrm>
        </p:grpSpPr>
        <p:sp>
          <p:nvSpPr>
            <p:cNvPr id="106" name="object 106"/>
            <p:cNvSpPr/>
            <p:nvPr/>
          </p:nvSpPr>
          <p:spPr>
            <a:xfrm>
              <a:off x="5111114" y="6059299"/>
              <a:ext cx="327660" cy="328295"/>
            </a:xfrm>
            <a:custGeom>
              <a:avLst/>
              <a:gdLst/>
              <a:ahLst/>
              <a:cxnLst/>
              <a:rect l="l" t="t" r="r" b="b"/>
              <a:pathLst>
                <a:path w="327660" h="328295">
                  <a:moveTo>
                    <a:pt x="0" y="327942"/>
                  </a:moveTo>
                  <a:lnTo>
                    <a:pt x="163829" y="0"/>
                  </a:lnTo>
                  <a:lnTo>
                    <a:pt x="327659" y="327942"/>
                  </a:lnTo>
                  <a:lnTo>
                    <a:pt x="0" y="327942"/>
                  </a:lnTo>
                  <a:close/>
                </a:path>
              </a:pathLst>
            </a:custGeom>
            <a:ln w="30731">
              <a:solidFill>
                <a:srgbClr val="000000"/>
              </a:solidFill>
            </a:ln>
          </p:spPr>
          <p:txBody>
            <a:bodyPr wrap="square" lIns="0" tIns="0" rIns="0" bIns="0" rtlCol="0"/>
            <a:lstStyle/>
            <a:p>
              <a:endParaRPr sz="1588"/>
            </a:p>
          </p:txBody>
        </p:sp>
        <p:sp>
          <p:nvSpPr>
            <p:cNvPr id="107" name="object 107"/>
            <p:cNvSpPr/>
            <p:nvPr/>
          </p:nvSpPr>
          <p:spPr>
            <a:xfrm>
              <a:off x="4817586" y="3413556"/>
              <a:ext cx="239395" cy="622300"/>
            </a:xfrm>
            <a:custGeom>
              <a:avLst/>
              <a:gdLst/>
              <a:ahLst/>
              <a:cxnLst/>
              <a:rect l="l" t="t" r="r" b="b"/>
              <a:pathLst>
                <a:path w="239395" h="622300">
                  <a:moveTo>
                    <a:pt x="208201" y="46117"/>
                  </a:moveTo>
                  <a:lnTo>
                    <a:pt x="208201" y="621723"/>
                  </a:lnTo>
                  <a:lnTo>
                    <a:pt x="238918" y="621723"/>
                  </a:lnTo>
                  <a:lnTo>
                    <a:pt x="238918" y="61489"/>
                  </a:lnTo>
                  <a:lnTo>
                    <a:pt x="223559" y="61489"/>
                  </a:lnTo>
                  <a:lnTo>
                    <a:pt x="208201" y="46117"/>
                  </a:lnTo>
                  <a:close/>
                </a:path>
                <a:path w="239395" h="622300">
                  <a:moveTo>
                    <a:pt x="92153" y="0"/>
                  </a:moveTo>
                  <a:lnTo>
                    <a:pt x="0" y="46117"/>
                  </a:lnTo>
                  <a:lnTo>
                    <a:pt x="92153" y="92233"/>
                  </a:lnTo>
                  <a:lnTo>
                    <a:pt x="92153" y="61489"/>
                  </a:lnTo>
                  <a:lnTo>
                    <a:pt x="76795" y="61489"/>
                  </a:lnTo>
                  <a:lnTo>
                    <a:pt x="76795" y="30744"/>
                  </a:lnTo>
                  <a:lnTo>
                    <a:pt x="92153" y="30744"/>
                  </a:lnTo>
                  <a:lnTo>
                    <a:pt x="92153" y="0"/>
                  </a:lnTo>
                  <a:close/>
                </a:path>
                <a:path w="239395" h="622300">
                  <a:moveTo>
                    <a:pt x="92153" y="30744"/>
                  </a:moveTo>
                  <a:lnTo>
                    <a:pt x="76795" y="30744"/>
                  </a:lnTo>
                  <a:lnTo>
                    <a:pt x="76795" y="61489"/>
                  </a:lnTo>
                  <a:lnTo>
                    <a:pt x="92153" y="61489"/>
                  </a:lnTo>
                  <a:lnTo>
                    <a:pt x="92153" y="30744"/>
                  </a:lnTo>
                  <a:close/>
                </a:path>
                <a:path w="239395" h="622300">
                  <a:moveTo>
                    <a:pt x="232042" y="30744"/>
                  </a:moveTo>
                  <a:lnTo>
                    <a:pt x="92153" y="30744"/>
                  </a:lnTo>
                  <a:lnTo>
                    <a:pt x="92153" y="61489"/>
                  </a:lnTo>
                  <a:lnTo>
                    <a:pt x="208201" y="61489"/>
                  </a:lnTo>
                  <a:lnTo>
                    <a:pt x="208201" y="46117"/>
                  </a:lnTo>
                  <a:lnTo>
                    <a:pt x="238918" y="46117"/>
                  </a:lnTo>
                  <a:lnTo>
                    <a:pt x="238918" y="37627"/>
                  </a:lnTo>
                  <a:lnTo>
                    <a:pt x="232042" y="30744"/>
                  </a:lnTo>
                  <a:close/>
                </a:path>
                <a:path w="239395" h="622300">
                  <a:moveTo>
                    <a:pt x="238918" y="46117"/>
                  </a:moveTo>
                  <a:lnTo>
                    <a:pt x="208201" y="46117"/>
                  </a:lnTo>
                  <a:lnTo>
                    <a:pt x="223559" y="61489"/>
                  </a:lnTo>
                  <a:lnTo>
                    <a:pt x="238918" y="61489"/>
                  </a:lnTo>
                  <a:lnTo>
                    <a:pt x="238918" y="46117"/>
                  </a:lnTo>
                  <a:close/>
                </a:path>
              </a:pathLst>
            </a:custGeom>
            <a:solidFill>
              <a:srgbClr val="000000"/>
            </a:solidFill>
          </p:spPr>
          <p:txBody>
            <a:bodyPr wrap="square" lIns="0" tIns="0" rIns="0" bIns="0" rtlCol="0"/>
            <a:lstStyle/>
            <a:p>
              <a:endParaRPr sz="1588"/>
            </a:p>
          </p:txBody>
        </p:sp>
        <p:pic>
          <p:nvPicPr>
            <p:cNvPr id="108" name="object 108"/>
            <p:cNvPicPr/>
            <p:nvPr/>
          </p:nvPicPr>
          <p:blipFill>
            <a:blip r:embed="rId6" cstate="print"/>
            <a:stretch>
              <a:fillRect/>
            </a:stretch>
          </p:blipFill>
          <p:spPr>
            <a:xfrm>
              <a:off x="4976289" y="3972090"/>
              <a:ext cx="110940" cy="111009"/>
            </a:xfrm>
            <a:prstGeom prst="rect">
              <a:avLst/>
            </a:prstGeom>
          </p:spPr>
        </p:pic>
        <p:sp>
          <p:nvSpPr>
            <p:cNvPr id="109" name="object 109"/>
            <p:cNvSpPr/>
            <p:nvPr/>
          </p:nvSpPr>
          <p:spPr>
            <a:xfrm>
              <a:off x="3375540" y="3415264"/>
              <a:ext cx="1505585" cy="2931160"/>
            </a:xfrm>
            <a:custGeom>
              <a:avLst/>
              <a:gdLst/>
              <a:ahLst/>
              <a:cxnLst/>
              <a:rect l="l" t="t" r="r" b="b"/>
              <a:pathLst>
                <a:path w="1505585" h="2931160">
                  <a:moveTo>
                    <a:pt x="250864" y="30744"/>
                  </a:moveTo>
                  <a:lnTo>
                    <a:pt x="6877" y="30744"/>
                  </a:lnTo>
                  <a:lnTo>
                    <a:pt x="0" y="37626"/>
                  </a:lnTo>
                  <a:lnTo>
                    <a:pt x="0" y="2924101"/>
                  </a:lnTo>
                  <a:lnTo>
                    <a:pt x="6877" y="2930983"/>
                  </a:lnTo>
                  <a:lnTo>
                    <a:pt x="1498311" y="2930983"/>
                  </a:lnTo>
                  <a:lnTo>
                    <a:pt x="1505188" y="2924101"/>
                  </a:lnTo>
                  <a:lnTo>
                    <a:pt x="1505188" y="2915611"/>
                  </a:lnTo>
                  <a:lnTo>
                    <a:pt x="30718" y="2915611"/>
                  </a:lnTo>
                  <a:lnTo>
                    <a:pt x="15359" y="2900239"/>
                  </a:lnTo>
                  <a:lnTo>
                    <a:pt x="30718" y="2900239"/>
                  </a:lnTo>
                  <a:lnTo>
                    <a:pt x="30718" y="61488"/>
                  </a:lnTo>
                  <a:lnTo>
                    <a:pt x="15359" y="61488"/>
                  </a:lnTo>
                  <a:lnTo>
                    <a:pt x="30718" y="46116"/>
                  </a:lnTo>
                  <a:lnTo>
                    <a:pt x="250864" y="46116"/>
                  </a:lnTo>
                  <a:lnTo>
                    <a:pt x="250864" y="30744"/>
                  </a:lnTo>
                  <a:close/>
                </a:path>
                <a:path w="1505585" h="2931160">
                  <a:moveTo>
                    <a:pt x="30718" y="2900239"/>
                  </a:moveTo>
                  <a:lnTo>
                    <a:pt x="15359" y="2900239"/>
                  </a:lnTo>
                  <a:lnTo>
                    <a:pt x="30718" y="2915611"/>
                  </a:lnTo>
                  <a:lnTo>
                    <a:pt x="30718" y="2900239"/>
                  </a:lnTo>
                  <a:close/>
                </a:path>
                <a:path w="1505585" h="2931160">
                  <a:moveTo>
                    <a:pt x="1474470" y="2900239"/>
                  </a:moveTo>
                  <a:lnTo>
                    <a:pt x="30718" y="2900239"/>
                  </a:lnTo>
                  <a:lnTo>
                    <a:pt x="30718" y="2915611"/>
                  </a:lnTo>
                  <a:lnTo>
                    <a:pt x="1474470" y="2915611"/>
                  </a:lnTo>
                  <a:lnTo>
                    <a:pt x="1474470" y="2900239"/>
                  </a:lnTo>
                  <a:close/>
                </a:path>
                <a:path w="1505585" h="2931160">
                  <a:moveTo>
                    <a:pt x="1505188" y="2259726"/>
                  </a:moveTo>
                  <a:lnTo>
                    <a:pt x="1474470" y="2259726"/>
                  </a:lnTo>
                  <a:lnTo>
                    <a:pt x="1474470" y="2915611"/>
                  </a:lnTo>
                  <a:lnTo>
                    <a:pt x="1489829" y="2900239"/>
                  </a:lnTo>
                  <a:lnTo>
                    <a:pt x="1505188" y="2900239"/>
                  </a:lnTo>
                  <a:lnTo>
                    <a:pt x="1505188" y="2259726"/>
                  </a:lnTo>
                  <a:close/>
                </a:path>
                <a:path w="1505585" h="2931160">
                  <a:moveTo>
                    <a:pt x="1505188" y="2900239"/>
                  </a:moveTo>
                  <a:lnTo>
                    <a:pt x="1489829" y="2900239"/>
                  </a:lnTo>
                  <a:lnTo>
                    <a:pt x="1474470" y="2915611"/>
                  </a:lnTo>
                  <a:lnTo>
                    <a:pt x="1505188" y="2915611"/>
                  </a:lnTo>
                  <a:lnTo>
                    <a:pt x="1505188" y="2900239"/>
                  </a:lnTo>
                  <a:close/>
                </a:path>
                <a:path w="1505585" h="2931160">
                  <a:moveTo>
                    <a:pt x="250864" y="0"/>
                  </a:moveTo>
                  <a:lnTo>
                    <a:pt x="250864" y="92233"/>
                  </a:lnTo>
                  <a:lnTo>
                    <a:pt x="312301" y="61488"/>
                  </a:lnTo>
                  <a:lnTo>
                    <a:pt x="266223" y="61488"/>
                  </a:lnTo>
                  <a:lnTo>
                    <a:pt x="266223" y="30744"/>
                  </a:lnTo>
                  <a:lnTo>
                    <a:pt x="312301" y="30744"/>
                  </a:lnTo>
                  <a:lnTo>
                    <a:pt x="250864" y="0"/>
                  </a:lnTo>
                  <a:close/>
                </a:path>
                <a:path w="1505585" h="2931160">
                  <a:moveTo>
                    <a:pt x="30718" y="46116"/>
                  </a:moveTo>
                  <a:lnTo>
                    <a:pt x="15359" y="61488"/>
                  </a:lnTo>
                  <a:lnTo>
                    <a:pt x="30718" y="61488"/>
                  </a:lnTo>
                  <a:lnTo>
                    <a:pt x="30718" y="46116"/>
                  </a:lnTo>
                  <a:close/>
                </a:path>
                <a:path w="1505585" h="2931160">
                  <a:moveTo>
                    <a:pt x="250864" y="46116"/>
                  </a:moveTo>
                  <a:lnTo>
                    <a:pt x="30718" y="46116"/>
                  </a:lnTo>
                  <a:lnTo>
                    <a:pt x="30718" y="61488"/>
                  </a:lnTo>
                  <a:lnTo>
                    <a:pt x="250864" y="61488"/>
                  </a:lnTo>
                  <a:lnTo>
                    <a:pt x="250864" y="46116"/>
                  </a:lnTo>
                  <a:close/>
                </a:path>
                <a:path w="1505585" h="2931160">
                  <a:moveTo>
                    <a:pt x="312301" y="30744"/>
                  </a:moveTo>
                  <a:lnTo>
                    <a:pt x="266223" y="30744"/>
                  </a:lnTo>
                  <a:lnTo>
                    <a:pt x="266223" y="61488"/>
                  </a:lnTo>
                  <a:lnTo>
                    <a:pt x="312301" y="61488"/>
                  </a:lnTo>
                  <a:lnTo>
                    <a:pt x="343019" y="46116"/>
                  </a:lnTo>
                  <a:lnTo>
                    <a:pt x="312301" y="30744"/>
                  </a:lnTo>
                  <a:close/>
                </a:path>
              </a:pathLst>
            </a:custGeom>
            <a:solidFill>
              <a:srgbClr val="FF0000"/>
            </a:solidFill>
          </p:spPr>
          <p:txBody>
            <a:bodyPr wrap="square" lIns="0" tIns="0" rIns="0" bIns="0" rtlCol="0"/>
            <a:lstStyle/>
            <a:p>
              <a:endParaRPr sz="1588"/>
            </a:p>
          </p:txBody>
        </p:sp>
        <p:pic>
          <p:nvPicPr>
            <p:cNvPr id="110" name="object 110"/>
            <p:cNvPicPr/>
            <p:nvPr/>
          </p:nvPicPr>
          <p:blipFill>
            <a:blip r:embed="rId9" cstate="print"/>
            <a:stretch>
              <a:fillRect/>
            </a:stretch>
          </p:blipFill>
          <p:spPr>
            <a:xfrm>
              <a:off x="4536003" y="3111235"/>
              <a:ext cx="92154" cy="186174"/>
            </a:xfrm>
            <a:prstGeom prst="rect">
              <a:avLst/>
            </a:prstGeom>
          </p:spPr>
        </p:pic>
        <p:pic>
          <p:nvPicPr>
            <p:cNvPr id="111" name="object 111"/>
            <p:cNvPicPr/>
            <p:nvPr/>
          </p:nvPicPr>
          <p:blipFill>
            <a:blip r:embed="rId10" cstate="print"/>
            <a:stretch>
              <a:fillRect/>
            </a:stretch>
          </p:blipFill>
          <p:spPr>
            <a:xfrm>
              <a:off x="4805634" y="5613509"/>
              <a:ext cx="110940" cy="111008"/>
            </a:xfrm>
            <a:prstGeom prst="rect">
              <a:avLst/>
            </a:prstGeom>
          </p:spPr>
        </p:pic>
        <p:sp>
          <p:nvSpPr>
            <p:cNvPr id="112" name="object 112"/>
            <p:cNvSpPr/>
            <p:nvPr/>
          </p:nvSpPr>
          <p:spPr>
            <a:xfrm>
              <a:off x="3134916" y="6778382"/>
              <a:ext cx="2129790" cy="92710"/>
            </a:xfrm>
            <a:custGeom>
              <a:avLst/>
              <a:gdLst/>
              <a:ahLst/>
              <a:cxnLst/>
              <a:rect l="l" t="t" r="r" b="b"/>
              <a:pathLst>
                <a:path w="2129790" h="92709">
                  <a:moveTo>
                    <a:pt x="92152" y="0"/>
                  </a:moveTo>
                  <a:lnTo>
                    <a:pt x="0" y="46116"/>
                  </a:lnTo>
                  <a:lnTo>
                    <a:pt x="92155" y="92233"/>
                  </a:lnTo>
                  <a:lnTo>
                    <a:pt x="92152" y="61489"/>
                  </a:lnTo>
                  <a:lnTo>
                    <a:pt x="76793" y="61489"/>
                  </a:lnTo>
                  <a:lnTo>
                    <a:pt x="76793" y="30744"/>
                  </a:lnTo>
                  <a:lnTo>
                    <a:pt x="92152" y="30744"/>
                  </a:lnTo>
                  <a:lnTo>
                    <a:pt x="92152" y="0"/>
                  </a:lnTo>
                  <a:close/>
                </a:path>
                <a:path w="2129790" h="92709">
                  <a:moveTo>
                    <a:pt x="2037634" y="0"/>
                  </a:moveTo>
                  <a:lnTo>
                    <a:pt x="2037634" y="92233"/>
                  </a:lnTo>
                  <a:lnTo>
                    <a:pt x="2099069" y="61489"/>
                  </a:lnTo>
                  <a:lnTo>
                    <a:pt x="2052993" y="61489"/>
                  </a:lnTo>
                  <a:lnTo>
                    <a:pt x="2052993" y="30744"/>
                  </a:lnTo>
                  <a:lnTo>
                    <a:pt x="2099069" y="30744"/>
                  </a:lnTo>
                  <a:lnTo>
                    <a:pt x="2037634" y="0"/>
                  </a:lnTo>
                  <a:close/>
                </a:path>
                <a:path w="2129790" h="92709">
                  <a:moveTo>
                    <a:pt x="92152" y="30744"/>
                  </a:moveTo>
                  <a:lnTo>
                    <a:pt x="76793" y="30744"/>
                  </a:lnTo>
                  <a:lnTo>
                    <a:pt x="76793" y="61489"/>
                  </a:lnTo>
                  <a:lnTo>
                    <a:pt x="92152" y="61489"/>
                  </a:lnTo>
                  <a:lnTo>
                    <a:pt x="92152" y="30744"/>
                  </a:lnTo>
                  <a:close/>
                </a:path>
                <a:path w="2129790" h="92709">
                  <a:moveTo>
                    <a:pt x="2037634" y="30744"/>
                  </a:moveTo>
                  <a:lnTo>
                    <a:pt x="92152" y="30744"/>
                  </a:lnTo>
                  <a:lnTo>
                    <a:pt x="92152" y="61489"/>
                  </a:lnTo>
                  <a:lnTo>
                    <a:pt x="2037634" y="61489"/>
                  </a:lnTo>
                  <a:lnTo>
                    <a:pt x="2037634" y="30744"/>
                  </a:lnTo>
                  <a:close/>
                </a:path>
                <a:path w="2129790" h="92709">
                  <a:moveTo>
                    <a:pt x="2099069" y="30744"/>
                  </a:moveTo>
                  <a:lnTo>
                    <a:pt x="2052993" y="30744"/>
                  </a:lnTo>
                  <a:lnTo>
                    <a:pt x="2052993" y="61489"/>
                  </a:lnTo>
                  <a:lnTo>
                    <a:pt x="2099069" y="61489"/>
                  </a:lnTo>
                  <a:lnTo>
                    <a:pt x="2129787" y="46116"/>
                  </a:lnTo>
                  <a:lnTo>
                    <a:pt x="2099069" y="30744"/>
                  </a:lnTo>
                  <a:close/>
                </a:path>
              </a:pathLst>
            </a:custGeom>
            <a:solidFill>
              <a:srgbClr val="FF0000"/>
            </a:solidFill>
          </p:spPr>
          <p:txBody>
            <a:bodyPr wrap="square" lIns="0" tIns="0" rIns="0" bIns="0" rtlCol="0"/>
            <a:lstStyle/>
            <a:p>
              <a:endParaRPr sz="1588"/>
            </a:p>
          </p:txBody>
        </p:sp>
        <p:sp>
          <p:nvSpPr>
            <p:cNvPr id="113" name="object 113"/>
            <p:cNvSpPr/>
            <p:nvPr/>
          </p:nvSpPr>
          <p:spPr>
            <a:xfrm>
              <a:off x="5270678" y="6399210"/>
              <a:ext cx="0" cy="555625"/>
            </a:xfrm>
            <a:custGeom>
              <a:avLst/>
              <a:gdLst/>
              <a:ahLst/>
              <a:cxnLst/>
              <a:rect l="l" t="t" r="r" b="b"/>
              <a:pathLst>
                <a:path h="555625">
                  <a:moveTo>
                    <a:pt x="0" y="0"/>
                  </a:moveTo>
                  <a:lnTo>
                    <a:pt x="0" y="555097"/>
                  </a:lnTo>
                </a:path>
              </a:pathLst>
            </a:custGeom>
            <a:ln w="42664">
              <a:solidFill>
                <a:srgbClr val="FC0128"/>
              </a:solidFill>
            </a:ln>
          </p:spPr>
          <p:txBody>
            <a:bodyPr wrap="square" lIns="0" tIns="0" rIns="0" bIns="0" rtlCol="0"/>
            <a:lstStyle/>
            <a:p>
              <a:endParaRPr sz="1588"/>
            </a:p>
          </p:txBody>
        </p:sp>
      </p:grpSp>
      <p:sp>
        <p:nvSpPr>
          <p:cNvPr id="114" name="object 114"/>
          <p:cNvSpPr txBox="1"/>
          <p:nvPr/>
        </p:nvSpPr>
        <p:spPr>
          <a:xfrm>
            <a:off x="1462630" y="1156931"/>
            <a:ext cx="1056715" cy="849497"/>
          </a:xfrm>
          <a:prstGeom prst="rect">
            <a:avLst/>
          </a:prstGeom>
        </p:spPr>
        <p:txBody>
          <a:bodyPr vert="horz" wrap="square" lIns="0" tIns="45943" rIns="0" bIns="0" rtlCol="0">
            <a:spAutoFit/>
          </a:bodyPr>
          <a:lstStyle/>
          <a:p>
            <a:pPr marL="80687" algn="ctr">
              <a:spcBef>
                <a:spcPts val="361"/>
              </a:spcBef>
            </a:pPr>
            <a:r>
              <a:rPr sz="1677" b="1" spc="-44" dirty="0">
                <a:latin typeface="Times New Roman"/>
                <a:cs typeface="Times New Roman"/>
              </a:rPr>
              <a:t>1</a:t>
            </a:r>
            <a:endParaRPr sz="1677">
              <a:latin typeface="Times New Roman"/>
              <a:cs typeface="Times New Roman"/>
            </a:endParaRPr>
          </a:p>
          <a:p>
            <a:pPr marL="10646" marR="4483" algn="ctr">
              <a:lnSpc>
                <a:spcPct val="101099"/>
              </a:lnSpc>
              <a:spcBef>
                <a:spcPts val="251"/>
              </a:spcBef>
            </a:pPr>
            <a:r>
              <a:rPr sz="1677" b="1" spc="-9" dirty="0">
                <a:latin typeface="Times New Roman"/>
                <a:cs typeface="Times New Roman"/>
              </a:rPr>
              <a:t>Instruction Fetch</a:t>
            </a:r>
            <a:endParaRPr sz="1677">
              <a:latin typeface="Times New Roman"/>
              <a:cs typeface="Times New Roman"/>
            </a:endParaRPr>
          </a:p>
        </p:txBody>
      </p:sp>
      <p:sp>
        <p:nvSpPr>
          <p:cNvPr id="115" name="object 115"/>
          <p:cNvSpPr txBox="1"/>
          <p:nvPr/>
        </p:nvSpPr>
        <p:spPr>
          <a:xfrm>
            <a:off x="3085119" y="1151553"/>
            <a:ext cx="1297641" cy="1392866"/>
          </a:xfrm>
          <a:prstGeom prst="rect">
            <a:avLst/>
          </a:prstGeom>
        </p:spPr>
        <p:txBody>
          <a:bodyPr vert="horz" wrap="square" lIns="0" tIns="51546" rIns="0" bIns="0" rtlCol="0">
            <a:spAutoFit/>
          </a:bodyPr>
          <a:lstStyle/>
          <a:p>
            <a:pPr marL="63317" algn="ctr">
              <a:spcBef>
                <a:spcPts val="405"/>
              </a:spcBef>
            </a:pPr>
            <a:r>
              <a:rPr sz="1677" b="1" spc="-44" dirty="0">
                <a:solidFill>
                  <a:srgbClr val="0000FF"/>
                </a:solidFill>
                <a:latin typeface="Times New Roman"/>
                <a:cs typeface="Times New Roman"/>
              </a:rPr>
              <a:t>2</a:t>
            </a:r>
            <a:endParaRPr sz="1677">
              <a:latin typeface="Times New Roman"/>
              <a:cs typeface="Times New Roman"/>
            </a:endParaRPr>
          </a:p>
          <a:p>
            <a:pPr marL="66679" marR="4483" algn="ctr">
              <a:lnSpc>
                <a:spcPct val="101099"/>
              </a:lnSpc>
              <a:spcBef>
                <a:spcPts val="295"/>
              </a:spcBef>
            </a:pPr>
            <a:r>
              <a:rPr sz="1677" b="1" spc="-9" dirty="0">
                <a:latin typeface="Times New Roman"/>
                <a:cs typeface="Times New Roman"/>
              </a:rPr>
              <a:t>Instr.</a:t>
            </a:r>
            <a:r>
              <a:rPr sz="1677" b="1" spc="-71" dirty="0">
                <a:latin typeface="Times New Roman"/>
                <a:cs typeface="Times New Roman"/>
              </a:rPr>
              <a:t> </a:t>
            </a:r>
            <a:r>
              <a:rPr sz="1677" b="1" spc="-9" dirty="0">
                <a:latin typeface="Times New Roman"/>
                <a:cs typeface="Times New Roman"/>
              </a:rPr>
              <a:t>Decode </a:t>
            </a:r>
            <a:r>
              <a:rPr sz="1677" b="1" dirty="0">
                <a:latin typeface="Times New Roman"/>
                <a:cs typeface="Times New Roman"/>
              </a:rPr>
              <a:t>Reg.</a:t>
            </a:r>
            <a:r>
              <a:rPr sz="1677" b="1" spc="53" dirty="0">
                <a:latin typeface="Times New Roman"/>
                <a:cs typeface="Times New Roman"/>
              </a:rPr>
              <a:t> </a:t>
            </a:r>
            <a:r>
              <a:rPr sz="1677" b="1" spc="-18" dirty="0">
                <a:latin typeface="Times New Roman"/>
                <a:cs typeface="Times New Roman"/>
              </a:rPr>
              <a:t>Fetch</a:t>
            </a:r>
            <a:endParaRPr sz="1677">
              <a:latin typeface="Times New Roman"/>
              <a:cs typeface="Times New Roman"/>
            </a:endParaRPr>
          </a:p>
          <a:p>
            <a:pPr marL="11206" marR="713853" indent="118789">
              <a:spcBef>
                <a:spcPts val="860"/>
              </a:spcBef>
            </a:pPr>
            <a:r>
              <a:rPr sz="1324" spc="-18" dirty="0">
                <a:latin typeface="Times New Roman"/>
                <a:cs typeface="Times New Roman"/>
              </a:rPr>
              <a:t>Next </a:t>
            </a:r>
            <a:r>
              <a:rPr sz="1324" dirty="0">
                <a:latin typeface="Times New Roman"/>
                <a:cs typeface="Times New Roman"/>
              </a:rPr>
              <a:t>SEQ</a:t>
            </a:r>
            <a:r>
              <a:rPr sz="1324" spc="-18" dirty="0">
                <a:latin typeface="Times New Roman"/>
                <a:cs typeface="Times New Roman"/>
              </a:rPr>
              <a:t> </a:t>
            </a:r>
            <a:r>
              <a:rPr sz="1324" spc="-22" dirty="0">
                <a:latin typeface="Times New Roman"/>
                <a:cs typeface="Times New Roman"/>
              </a:rPr>
              <a:t>PC</a:t>
            </a:r>
            <a:endParaRPr sz="1324">
              <a:latin typeface="Times New Roman"/>
              <a:cs typeface="Times New Roman"/>
            </a:endParaRPr>
          </a:p>
        </p:txBody>
      </p:sp>
      <p:sp>
        <p:nvSpPr>
          <p:cNvPr id="116" name="object 116"/>
          <p:cNvSpPr txBox="1"/>
          <p:nvPr/>
        </p:nvSpPr>
        <p:spPr>
          <a:xfrm>
            <a:off x="5024726" y="1156931"/>
            <a:ext cx="1024778" cy="849497"/>
          </a:xfrm>
          <a:prstGeom prst="rect">
            <a:avLst/>
          </a:prstGeom>
        </p:spPr>
        <p:txBody>
          <a:bodyPr vert="horz" wrap="square" lIns="0" tIns="45943" rIns="0" bIns="0" rtlCol="0">
            <a:spAutoFit/>
          </a:bodyPr>
          <a:lstStyle/>
          <a:p>
            <a:pPr marL="34180" algn="ctr">
              <a:spcBef>
                <a:spcPts val="361"/>
              </a:spcBef>
            </a:pPr>
            <a:r>
              <a:rPr sz="1677" b="1" spc="-44" dirty="0">
                <a:latin typeface="Times New Roman"/>
                <a:cs typeface="Times New Roman"/>
              </a:rPr>
              <a:t>3</a:t>
            </a:r>
            <a:endParaRPr sz="1677">
              <a:latin typeface="Times New Roman"/>
              <a:cs typeface="Times New Roman"/>
            </a:endParaRPr>
          </a:p>
          <a:p>
            <a:pPr marL="11206" marR="4483" algn="ctr">
              <a:lnSpc>
                <a:spcPct val="101099"/>
              </a:lnSpc>
              <a:spcBef>
                <a:spcPts val="251"/>
              </a:spcBef>
            </a:pPr>
            <a:r>
              <a:rPr sz="1677" b="1" spc="-9" dirty="0">
                <a:latin typeface="Times New Roman"/>
                <a:cs typeface="Times New Roman"/>
              </a:rPr>
              <a:t>Execute Addr.</a:t>
            </a:r>
            <a:r>
              <a:rPr sz="1677" b="1" spc="-75" dirty="0">
                <a:latin typeface="Times New Roman"/>
                <a:cs typeface="Times New Roman"/>
              </a:rPr>
              <a:t> </a:t>
            </a:r>
            <a:r>
              <a:rPr sz="1677" b="1" spc="-18" dirty="0">
                <a:latin typeface="Times New Roman"/>
                <a:cs typeface="Times New Roman"/>
              </a:rPr>
              <a:t>Calc</a:t>
            </a:r>
            <a:endParaRPr sz="1677">
              <a:latin typeface="Times New Roman"/>
              <a:cs typeface="Times New Roman"/>
            </a:endParaRPr>
          </a:p>
        </p:txBody>
      </p:sp>
      <p:sp>
        <p:nvSpPr>
          <p:cNvPr id="117" name="object 117"/>
          <p:cNvSpPr txBox="1"/>
          <p:nvPr/>
        </p:nvSpPr>
        <p:spPr>
          <a:xfrm>
            <a:off x="6750214" y="1151552"/>
            <a:ext cx="1774451" cy="864772"/>
          </a:xfrm>
          <a:prstGeom prst="rect">
            <a:avLst/>
          </a:prstGeom>
        </p:spPr>
        <p:txBody>
          <a:bodyPr vert="horz" wrap="square" lIns="0" tIns="51546" rIns="0" bIns="0" rtlCol="0">
            <a:spAutoFit/>
          </a:bodyPr>
          <a:lstStyle/>
          <a:p>
            <a:pPr marL="268395">
              <a:spcBef>
                <a:spcPts val="405"/>
              </a:spcBef>
              <a:tabLst>
                <a:tab pos="1406974" algn="l"/>
              </a:tabLst>
            </a:pPr>
            <a:r>
              <a:rPr sz="1677" b="1" spc="-44" dirty="0">
                <a:solidFill>
                  <a:srgbClr val="FF0000"/>
                </a:solidFill>
                <a:latin typeface="Times New Roman"/>
                <a:cs typeface="Times New Roman"/>
              </a:rPr>
              <a:t>4</a:t>
            </a:r>
            <a:r>
              <a:rPr sz="1677" b="1" dirty="0">
                <a:solidFill>
                  <a:srgbClr val="FF0000"/>
                </a:solidFill>
                <a:latin typeface="Times New Roman"/>
                <a:cs typeface="Times New Roman"/>
              </a:rPr>
              <a:t>	</a:t>
            </a:r>
            <a:r>
              <a:rPr sz="1677" b="1" spc="-44" dirty="0">
                <a:latin typeface="Times New Roman"/>
                <a:cs typeface="Times New Roman"/>
              </a:rPr>
              <a:t>5</a:t>
            </a:r>
            <a:endParaRPr sz="1677">
              <a:latin typeface="Times New Roman"/>
              <a:cs typeface="Times New Roman"/>
            </a:endParaRPr>
          </a:p>
          <a:p>
            <a:pPr marL="11206">
              <a:spcBef>
                <a:spcPts val="317"/>
              </a:spcBef>
              <a:tabLst>
                <a:tab pos="1226549" algn="l"/>
              </a:tabLst>
            </a:pPr>
            <a:r>
              <a:rPr sz="2515" b="1" spc="-13" baseline="1461" dirty="0">
                <a:latin typeface="Times New Roman"/>
                <a:cs typeface="Times New Roman"/>
              </a:rPr>
              <a:t>Memory</a:t>
            </a:r>
            <a:r>
              <a:rPr sz="2515" b="1" baseline="1461" dirty="0">
                <a:latin typeface="Times New Roman"/>
                <a:cs typeface="Times New Roman"/>
              </a:rPr>
              <a:t>	</a:t>
            </a:r>
            <a:r>
              <a:rPr sz="1677" b="1" spc="-18" dirty="0">
                <a:latin typeface="Times New Roman"/>
                <a:cs typeface="Times New Roman"/>
              </a:rPr>
              <a:t>Write</a:t>
            </a:r>
            <a:endParaRPr sz="1677">
              <a:latin typeface="Times New Roman"/>
              <a:cs typeface="Times New Roman"/>
            </a:endParaRPr>
          </a:p>
          <a:p>
            <a:pPr marL="101419">
              <a:spcBef>
                <a:spcPts val="18"/>
              </a:spcBef>
              <a:tabLst>
                <a:tab pos="1260729" algn="l"/>
              </a:tabLst>
            </a:pPr>
            <a:r>
              <a:rPr sz="2515" b="1" spc="-13" baseline="1461" dirty="0">
                <a:latin typeface="Times New Roman"/>
                <a:cs typeface="Times New Roman"/>
              </a:rPr>
              <a:t>Access</a:t>
            </a:r>
            <a:r>
              <a:rPr sz="2515" b="1" baseline="1461" dirty="0">
                <a:latin typeface="Times New Roman"/>
                <a:cs typeface="Times New Roman"/>
              </a:rPr>
              <a:t>	</a:t>
            </a:r>
            <a:r>
              <a:rPr sz="1677" b="1" spc="-18" dirty="0">
                <a:latin typeface="Times New Roman"/>
                <a:cs typeface="Times New Roman"/>
              </a:rPr>
              <a:t>Back</a:t>
            </a:r>
            <a:endParaRPr sz="1677">
              <a:latin typeface="Times New Roman"/>
              <a:cs typeface="Times New Roman"/>
            </a:endParaRPr>
          </a:p>
        </p:txBody>
      </p:sp>
      <p:sp>
        <p:nvSpPr>
          <p:cNvPr id="118" name="object 118"/>
          <p:cNvSpPr txBox="1">
            <a:spLocks noGrp="1"/>
          </p:cNvSpPr>
          <p:nvPr>
            <p:ph type="title"/>
          </p:nvPr>
        </p:nvSpPr>
        <p:spPr>
          <a:xfrm>
            <a:off x="599059" y="1196208"/>
            <a:ext cx="683559" cy="269399"/>
          </a:xfrm>
          <a:prstGeom prst="rect">
            <a:avLst/>
          </a:prstGeom>
        </p:spPr>
        <p:txBody>
          <a:bodyPr vert="horz" wrap="square" lIns="0" tIns="11206" rIns="0" bIns="0" rtlCol="0" anchor="ctr">
            <a:spAutoFit/>
          </a:bodyPr>
          <a:lstStyle/>
          <a:p>
            <a:pPr marL="11206">
              <a:lnSpc>
                <a:spcPct val="100000"/>
              </a:lnSpc>
              <a:spcBef>
                <a:spcPts val="88"/>
              </a:spcBef>
            </a:pPr>
            <a:r>
              <a:rPr sz="1677" b="1" spc="-9" dirty="0">
                <a:solidFill>
                  <a:srgbClr val="000000"/>
                </a:solidFill>
                <a:latin typeface="Times New Roman"/>
                <a:cs typeface="Times New Roman"/>
              </a:rPr>
              <a:t>Stages:</a:t>
            </a:r>
            <a:endParaRPr sz="1677">
              <a:latin typeface="Times New Roman"/>
              <a:cs typeface="Times New Roman"/>
            </a:endParaRPr>
          </a:p>
        </p:txBody>
      </p:sp>
      <p:sp>
        <p:nvSpPr>
          <p:cNvPr id="126" name="Slide Number Placeholder 125">
            <a:extLst>
              <a:ext uri="{FF2B5EF4-FFF2-40B4-BE49-F238E27FC236}">
                <a16:creationId xmlns:a16="http://schemas.microsoft.com/office/drawing/2014/main" id="{432ED3FF-E881-1C3B-3681-3A9BF4975CE0}"/>
              </a:ext>
            </a:extLst>
          </p:cNvPr>
          <p:cNvSpPr>
            <a:spLocks noGrp="1"/>
          </p:cNvSpPr>
          <p:nvPr>
            <p:ph type="sldNum" sz="quarter" idx="7"/>
          </p:nvPr>
        </p:nvSpPr>
        <p:spPr/>
        <p:txBody>
          <a:bodyPr/>
          <a:lstStyle/>
          <a:p>
            <a:fld id="{4FE321F0-2018-4E50-8BB3-A5631EBD98DD}" type="slidenum">
              <a:rPr lang="en-US" smtClean="0"/>
              <a:t>61</a:t>
            </a:fld>
            <a:endParaRPr lang="en-US"/>
          </a:p>
        </p:txBody>
      </p:sp>
      <p:sp>
        <p:nvSpPr>
          <p:cNvPr id="119" name="object 119"/>
          <p:cNvSpPr txBox="1"/>
          <p:nvPr/>
        </p:nvSpPr>
        <p:spPr>
          <a:xfrm>
            <a:off x="511121" y="4764129"/>
            <a:ext cx="2100543" cy="1164912"/>
          </a:xfrm>
          <a:prstGeom prst="rect">
            <a:avLst/>
          </a:prstGeom>
        </p:spPr>
        <p:txBody>
          <a:bodyPr vert="horz" wrap="square" lIns="0" tIns="10646" rIns="0" bIns="0" rtlCol="0">
            <a:spAutoFit/>
          </a:bodyPr>
          <a:lstStyle/>
          <a:p>
            <a:pPr marL="11206" marR="4483">
              <a:lnSpc>
                <a:spcPct val="100299"/>
              </a:lnSpc>
              <a:spcBef>
                <a:spcPts val="84"/>
              </a:spcBef>
            </a:pPr>
            <a:r>
              <a:rPr sz="1500" dirty="0">
                <a:solidFill>
                  <a:srgbClr val="FF0000"/>
                </a:solidFill>
                <a:latin typeface="Times New Roman"/>
                <a:cs typeface="Times New Roman"/>
              </a:rPr>
              <a:t>The</a:t>
            </a:r>
            <a:r>
              <a:rPr sz="1500" spc="31" dirty="0">
                <a:solidFill>
                  <a:srgbClr val="FF0000"/>
                </a:solidFill>
                <a:latin typeface="Times New Roman"/>
                <a:cs typeface="Times New Roman"/>
              </a:rPr>
              <a:t> </a:t>
            </a:r>
            <a:r>
              <a:rPr sz="1500" dirty="0">
                <a:solidFill>
                  <a:srgbClr val="FF0000"/>
                </a:solidFill>
                <a:latin typeface="Times New Roman"/>
                <a:cs typeface="Times New Roman"/>
              </a:rPr>
              <a:t>fast</a:t>
            </a:r>
            <a:r>
              <a:rPr sz="1500" spc="35" dirty="0">
                <a:solidFill>
                  <a:srgbClr val="FF0000"/>
                </a:solidFill>
                <a:latin typeface="Times New Roman"/>
                <a:cs typeface="Times New Roman"/>
              </a:rPr>
              <a:t> </a:t>
            </a:r>
            <a:r>
              <a:rPr sz="1500" dirty="0">
                <a:solidFill>
                  <a:srgbClr val="FF0000"/>
                </a:solidFill>
                <a:latin typeface="Times New Roman"/>
                <a:cs typeface="Times New Roman"/>
              </a:rPr>
              <a:t>branch</a:t>
            </a:r>
            <a:r>
              <a:rPr sz="1500" spc="26" dirty="0">
                <a:solidFill>
                  <a:srgbClr val="FF0000"/>
                </a:solidFill>
                <a:latin typeface="Times New Roman"/>
                <a:cs typeface="Times New Roman"/>
              </a:rPr>
              <a:t> </a:t>
            </a:r>
            <a:r>
              <a:rPr sz="1500" spc="-9" dirty="0">
                <a:solidFill>
                  <a:srgbClr val="FF0000"/>
                </a:solidFill>
                <a:latin typeface="Times New Roman"/>
                <a:cs typeface="Times New Roman"/>
              </a:rPr>
              <a:t>design </a:t>
            </a:r>
            <a:r>
              <a:rPr sz="1500" dirty="0">
                <a:solidFill>
                  <a:srgbClr val="FF0000"/>
                </a:solidFill>
                <a:latin typeface="Times New Roman"/>
                <a:cs typeface="Times New Roman"/>
              </a:rPr>
              <a:t>needs</a:t>
            </a:r>
            <a:r>
              <a:rPr sz="1500" spc="22" dirty="0">
                <a:solidFill>
                  <a:srgbClr val="FF0000"/>
                </a:solidFill>
                <a:latin typeface="Times New Roman"/>
                <a:cs typeface="Times New Roman"/>
              </a:rPr>
              <a:t> </a:t>
            </a:r>
            <a:r>
              <a:rPr sz="1500" dirty="0">
                <a:solidFill>
                  <a:srgbClr val="FF0000"/>
                </a:solidFill>
                <a:latin typeface="Times New Roman"/>
                <a:cs typeface="Times New Roman"/>
              </a:rPr>
              <a:t>a</a:t>
            </a:r>
            <a:r>
              <a:rPr sz="1500" spc="26" dirty="0">
                <a:solidFill>
                  <a:srgbClr val="FF0000"/>
                </a:solidFill>
                <a:latin typeface="Times New Roman"/>
                <a:cs typeface="Times New Roman"/>
              </a:rPr>
              <a:t> </a:t>
            </a:r>
            <a:r>
              <a:rPr sz="1500" u="heavy" dirty="0">
                <a:solidFill>
                  <a:srgbClr val="FF0000"/>
                </a:solidFill>
                <a:uFill>
                  <a:solidFill>
                    <a:srgbClr val="FF0000"/>
                  </a:solidFill>
                </a:uFill>
                <a:latin typeface="Times New Roman"/>
                <a:cs typeface="Times New Roman"/>
              </a:rPr>
              <a:t>slightly</a:t>
            </a:r>
            <a:r>
              <a:rPr sz="1500" u="heavy" spc="26" dirty="0">
                <a:solidFill>
                  <a:srgbClr val="FF0000"/>
                </a:solidFill>
                <a:uFill>
                  <a:solidFill>
                    <a:srgbClr val="FF0000"/>
                  </a:solidFill>
                </a:uFill>
                <a:latin typeface="Times New Roman"/>
                <a:cs typeface="Times New Roman"/>
              </a:rPr>
              <a:t> </a:t>
            </a:r>
            <a:r>
              <a:rPr sz="1500" u="heavy" spc="-9" dirty="0">
                <a:solidFill>
                  <a:srgbClr val="FF0000"/>
                </a:solidFill>
                <a:uFill>
                  <a:solidFill>
                    <a:srgbClr val="FF0000"/>
                  </a:solidFill>
                </a:uFill>
                <a:latin typeface="Times New Roman"/>
                <a:cs typeface="Times New Roman"/>
              </a:rPr>
              <a:t>longer</a:t>
            </a:r>
            <a:r>
              <a:rPr sz="1500" spc="-9" dirty="0">
                <a:solidFill>
                  <a:srgbClr val="FF0000"/>
                </a:solidFill>
                <a:latin typeface="Times New Roman"/>
                <a:cs typeface="Times New Roman"/>
              </a:rPr>
              <a:t> </a:t>
            </a:r>
            <a:r>
              <a:rPr sz="1500" u="heavy" dirty="0">
                <a:solidFill>
                  <a:srgbClr val="FF0000"/>
                </a:solidFill>
                <a:uFill>
                  <a:solidFill>
                    <a:srgbClr val="FF0000"/>
                  </a:solidFill>
                </a:uFill>
                <a:latin typeface="Times New Roman"/>
                <a:cs typeface="Times New Roman"/>
              </a:rPr>
              <a:t>stage</a:t>
            </a:r>
            <a:r>
              <a:rPr sz="1500" u="heavy" spc="35" dirty="0">
                <a:solidFill>
                  <a:srgbClr val="FF0000"/>
                </a:solidFill>
                <a:uFill>
                  <a:solidFill>
                    <a:srgbClr val="FF0000"/>
                  </a:solidFill>
                </a:uFill>
                <a:latin typeface="Times New Roman"/>
                <a:cs typeface="Times New Roman"/>
              </a:rPr>
              <a:t> </a:t>
            </a:r>
            <a:r>
              <a:rPr sz="1500" u="heavy" dirty="0">
                <a:solidFill>
                  <a:srgbClr val="FF0000"/>
                </a:solidFill>
                <a:uFill>
                  <a:solidFill>
                    <a:srgbClr val="FF0000"/>
                  </a:solidFill>
                </a:uFill>
                <a:latin typeface="Times New Roman"/>
                <a:cs typeface="Times New Roman"/>
              </a:rPr>
              <a:t>2</a:t>
            </a:r>
            <a:r>
              <a:rPr sz="1500" u="heavy" spc="35" dirty="0">
                <a:solidFill>
                  <a:srgbClr val="FF0000"/>
                </a:solidFill>
                <a:uFill>
                  <a:solidFill>
                    <a:srgbClr val="FF0000"/>
                  </a:solidFill>
                </a:uFill>
                <a:latin typeface="Times New Roman"/>
                <a:cs typeface="Times New Roman"/>
              </a:rPr>
              <a:t> </a:t>
            </a:r>
            <a:r>
              <a:rPr sz="1500" u="heavy" dirty="0">
                <a:solidFill>
                  <a:srgbClr val="FF0000"/>
                </a:solidFill>
                <a:uFill>
                  <a:solidFill>
                    <a:srgbClr val="FF0000"/>
                  </a:solidFill>
                </a:uFill>
                <a:latin typeface="Times New Roman"/>
                <a:cs typeface="Times New Roman"/>
              </a:rPr>
              <a:t>cycle</a:t>
            </a:r>
            <a:r>
              <a:rPr sz="1500" u="heavy" spc="40" dirty="0">
                <a:solidFill>
                  <a:srgbClr val="FF0000"/>
                </a:solidFill>
                <a:uFill>
                  <a:solidFill>
                    <a:srgbClr val="FF0000"/>
                  </a:solidFill>
                </a:uFill>
                <a:latin typeface="Times New Roman"/>
                <a:cs typeface="Times New Roman"/>
              </a:rPr>
              <a:t> </a:t>
            </a:r>
            <a:r>
              <a:rPr sz="1500" u="heavy" dirty="0">
                <a:solidFill>
                  <a:srgbClr val="FF0000"/>
                </a:solidFill>
                <a:uFill>
                  <a:solidFill>
                    <a:srgbClr val="FF0000"/>
                  </a:solidFill>
                </a:uFill>
                <a:latin typeface="Times New Roman"/>
                <a:cs typeface="Times New Roman"/>
              </a:rPr>
              <a:t>time</a:t>
            </a:r>
            <a:r>
              <a:rPr sz="1500" dirty="0">
                <a:solidFill>
                  <a:srgbClr val="FF0000"/>
                </a:solidFill>
                <a:latin typeface="Times New Roman"/>
                <a:cs typeface="Times New Roman"/>
              </a:rPr>
              <a:t>,</a:t>
            </a:r>
            <a:r>
              <a:rPr sz="1500" spc="26" dirty="0">
                <a:solidFill>
                  <a:srgbClr val="FF0000"/>
                </a:solidFill>
                <a:latin typeface="Times New Roman"/>
                <a:cs typeface="Times New Roman"/>
              </a:rPr>
              <a:t> </a:t>
            </a:r>
            <a:r>
              <a:rPr sz="1500" spc="-9" dirty="0">
                <a:solidFill>
                  <a:srgbClr val="FF0000"/>
                </a:solidFill>
                <a:latin typeface="Times New Roman"/>
                <a:cs typeface="Times New Roman"/>
              </a:rPr>
              <a:t>making </a:t>
            </a:r>
            <a:r>
              <a:rPr sz="1500" dirty="0">
                <a:solidFill>
                  <a:srgbClr val="FF0000"/>
                </a:solidFill>
                <a:latin typeface="Times New Roman"/>
                <a:cs typeface="Times New Roman"/>
              </a:rPr>
              <a:t>the</a:t>
            </a:r>
            <a:r>
              <a:rPr sz="1500" spc="26" dirty="0">
                <a:solidFill>
                  <a:srgbClr val="FF0000"/>
                </a:solidFill>
                <a:latin typeface="Times New Roman"/>
                <a:cs typeface="Times New Roman"/>
              </a:rPr>
              <a:t> </a:t>
            </a:r>
            <a:r>
              <a:rPr sz="1500" dirty="0">
                <a:solidFill>
                  <a:srgbClr val="FF0000"/>
                </a:solidFill>
                <a:latin typeface="Times New Roman"/>
                <a:cs typeface="Times New Roman"/>
              </a:rPr>
              <a:t>clock</a:t>
            </a:r>
            <a:r>
              <a:rPr sz="1500" spc="22" dirty="0">
                <a:solidFill>
                  <a:srgbClr val="FF0000"/>
                </a:solidFill>
                <a:latin typeface="Times New Roman"/>
                <a:cs typeface="Times New Roman"/>
              </a:rPr>
              <a:t> </a:t>
            </a:r>
            <a:r>
              <a:rPr sz="1500" dirty="0">
                <a:solidFill>
                  <a:srgbClr val="FF0000"/>
                </a:solidFill>
                <a:latin typeface="Times New Roman"/>
                <a:cs typeface="Times New Roman"/>
              </a:rPr>
              <a:t>a</a:t>
            </a:r>
            <a:r>
              <a:rPr sz="1500" spc="26" dirty="0">
                <a:solidFill>
                  <a:srgbClr val="FF0000"/>
                </a:solidFill>
                <a:latin typeface="Times New Roman"/>
                <a:cs typeface="Times New Roman"/>
              </a:rPr>
              <a:t> </a:t>
            </a:r>
            <a:r>
              <a:rPr sz="1500" dirty="0">
                <a:solidFill>
                  <a:srgbClr val="FF0000"/>
                </a:solidFill>
                <a:latin typeface="Times New Roman"/>
                <a:cs typeface="Times New Roman"/>
              </a:rPr>
              <a:t>little</a:t>
            </a:r>
            <a:r>
              <a:rPr sz="1500" spc="26" dirty="0">
                <a:solidFill>
                  <a:srgbClr val="FF0000"/>
                </a:solidFill>
                <a:latin typeface="Times New Roman"/>
                <a:cs typeface="Times New Roman"/>
              </a:rPr>
              <a:t> </a:t>
            </a:r>
            <a:r>
              <a:rPr sz="1500" dirty="0">
                <a:solidFill>
                  <a:srgbClr val="FF0000"/>
                </a:solidFill>
                <a:latin typeface="Times New Roman"/>
                <a:cs typeface="Times New Roman"/>
              </a:rPr>
              <a:t>slower</a:t>
            </a:r>
            <a:r>
              <a:rPr sz="1500" spc="26" dirty="0">
                <a:solidFill>
                  <a:srgbClr val="FF0000"/>
                </a:solidFill>
                <a:latin typeface="Times New Roman"/>
                <a:cs typeface="Times New Roman"/>
              </a:rPr>
              <a:t> </a:t>
            </a:r>
            <a:r>
              <a:rPr sz="1500" spc="-22" dirty="0">
                <a:solidFill>
                  <a:srgbClr val="FF0000"/>
                </a:solidFill>
                <a:latin typeface="Times New Roman"/>
                <a:cs typeface="Times New Roman"/>
              </a:rPr>
              <a:t>for </a:t>
            </a:r>
            <a:r>
              <a:rPr sz="1500" dirty="0">
                <a:solidFill>
                  <a:srgbClr val="FF0000"/>
                </a:solidFill>
                <a:latin typeface="Times New Roman"/>
                <a:cs typeface="Times New Roman"/>
              </a:rPr>
              <a:t>all</a:t>
            </a:r>
            <a:r>
              <a:rPr sz="1500" spc="13" dirty="0">
                <a:solidFill>
                  <a:srgbClr val="FF0000"/>
                </a:solidFill>
                <a:latin typeface="Times New Roman"/>
                <a:cs typeface="Times New Roman"/>
              </a:rPr>
              <a:t> </a:t>
            </a:r>
            <a:r>
              <a:rPr sz="1500" spc="-9" dirty="0">
                <a:solidFill>
                  <a:srgbClr val="FF0000"/>
                </a:solidFill>
                <a:latin typeface="Times New Roman"/>
                <a:cs typeface="Times New Roman"/>
              </a:rPr>
              <a:t>stages.</a:t>
            </a:r>
            <a:endParaRPr sz="1500">
              <a:latin typeface="Times New Roman"/>
              <a:cs typeface="Times New Roman"/>
            </a:endParaRPr>
          </a:p>
        </p:txBody>
      </p:sp>
      <p:grpSp>
        <p:nvGrpSpPr>
          <p:cNvPr id="120" name="object 120"/>
          <p:cNvGrpSpPr/>
          <p:nvPr/>
        </p:nvGrpSpPr>
        <p:grpSpPr>
          <a:xfrm>
            <a:off x="679532" y="5689701"/>
            <a:ext cx="7101728" cy="772085"/>
            <a:chOff x="617736" y="6448328"/>
            <a:chExt cx="8048625" cy="875030"/>
          </a:xfrm>
        </p:grpSpPr>
        <p:sp>
          <p:nvSpPr>
            <p:cNvPr id="121" name="object 121"/>
            <p:cNvSpPr/>
            <p:nvPr/>
          </p:nvSpPr>
          <p:spPr>
            <a:xfrm>
              <a:off x="2566045" y="6448328"/>
              <a:ext cx="824865" cy="351155"/>
            </a:xfrm>
            <a:custGeom>
              <a:avLst/>
              <a:gdLst/>
              <a:ahLst/>
              <a:cxnLst/>
              <a:rect l="l" t="t" r="r" b="b"/>
              <a:pathLst>
                <a:path w="824864" h="351154">
                  <a:moveTo>
                    <a:pt x="733587" y="322233"/>
                  </a:moveTo>
                  <a:lnTo>
                    <a:pt x="722179" y="350778"/>
                  </a:lnTo>
                  <a:lnTo>
                    <a:pt x="824854" y="342215"/>
                  </a:lnTo>
                  <a:lnTo>
                    <a:pt x="812178" y="327942"/>
                  </a:lnTo>
                  <a:lnTo>
                    <a:pt x="747848" y="327942"/>
                  </a:lnTo>
                  <a:lnTo>
                    <a:pt x="733587" y="322233"/>
                  </a:lnTo>
                  <a:close/>
                </a:path>
                <a:path w="824864" h="351154">
                  <a:moveTo>
                    <a:pt x="744996" y="293687"/>
                  </a:moveTo>
                  <a:lnTo>
                    <a:pt x="733587" y="322233"/>
                  </a:lnTo>
                  <a:lnTo>
                    <a:pt x="747848" y="327942"/>
                  </a:lnTo>
                  <a:lnTo>
                    <a:pt x="759256" y="299396"/>
                  </a:lnTo>
                  <a:lnTo>
                    <a:pt x="744996" y="293687"/>
                  </a:lnTo>
                  <a:close/>
                </a:path>
                <a:path w="824864" h="351154">
                  <a:moveTo>
                    <a:pt x="756404" y="265142"/>
                  </a:moveTo>
                  <a:lnTo>
                    <a:pt x="744996" y="293687"/>
                  </a:lnTo>
                  <a:lnTo>
                    <a:pt x="759256" y="299396"/>
                  </a:lnTo>
                  <a:lnTo>
                    <a:pt x="747848" y="327942"/>
                  </a:lnTo>
                  <a:lnTo>
                    <a:pt x="812178" y="327942"/>
                  </a:lnTo>
                  <a:lnTo>
                    <a:pt x="756404" y="265142"/>
                  </a:lnTo>
                  <a:close/>
                </a:path>
                <a:path w="824864" h="351154">
                  <a:moveTo>
                    <a:pt x="11408" y="0"/>
                  </a:moveTo>
                  <a:lnTo>
                    <a:pt x="0" y="28545"/>
                  </a:lnTo>
                  <a:lnTo>
                    <a:pt x="733587" y="322233"/>
                  </a:lnTo>
                  <a:lnTo>
                    <a:pt x="744996" y="293687"/>
                  </a:lnTo>
                  <a:lnTo>
                    <a:pt x="11408" y="0"/>
                  </a:lnTo>
                  <a:close/>
                </a:path>
              </a:pathLst>
            </a:custGeom>
            <a:solidFill>
              <a:srgbClr val="FF0000"/>
            </a:solidFill>
          </p:spPr>
          <p:txBody>
            <a:bodyPr wrap="square" lIns="0" tIns="0" rIns="0" bIns="0" rtlCol="0"/>
            <a:lstStyle/>
            <a:p>
              <a:endParaRPr sz="1588"/>
            </a:p>
          </p:txBody>
        </p:sp>
        <p:sp>
          <p:nvSpPr>
            <p:cNvPr id="122" name="object 122"/>
            <p:cNvSpPr/>
            <p:nvPr/>
          </p:nvSpPr>
          <p:spPr>
            <a:xfrm>
              <a:off x="617736" y="6954308"/>
              <a:ext cx="8048625" cy="368935"/>
            </a:xfrm>
            <a:custGeom>
              <a:avLst/>
              <a:gdLst/>
              <a:ahLst/>
              <a:cxnLst/>
              <a:rect l="l" t="t" r="r" b="b"/>
              <a:pathLst>
                <a:path w="8048625" h="368934">
                  <a:moveTo>
                    <a:pt x="8048149" y="0"/>
                  </a:moveTo>
                  <a:lnTo>
                    <a:pt x="0" y="0"/>
                  </a:lnTo>
                  <a:lnTo>
                    <a:pt x="0" y="368935"/>
                  </a:lnTo>
                  <a:lnTo>
                    <a:pt x="8048149" y="368935"/>
                  </a:lnTo>
                  <a:lnTo>
                    <a:pt x="8048149" y="0"/>
                  </a:lnTo>
                  <a:close/>
                </a:path>
              </a:pathLst>
            </a:custGeom>
            <a:solidFill>
              <a:srgbClr val="FFFFFF"/>
            </a:solidFill>
          </p:spPr>
          <p:txBody>
            <a:bodyPr wrap="square" lIns="0" tIns="0" rIns="0" bIns="0" rtlCol="0"/>
            <a:lstStyle/>
            <a:p>
              <a:endParaRPr sz="1588"/>
            </a:p>
          </p:txBody>
        </p:sp>
      </p:grpSp>
      <p:pic>
        <p:nvPicPr>
          <p:cNvPr id="123" name="object 123"/>
          <p:cNvPicPr/>
          <p:nvPr/>
        </p:nvPicPr>
        <p:blipFill>
          <a:blip r:embed="rId11" cstate="print"/>
          <a:stretch>
            <a:fillRect/>
          </a:stretch>
        </p:blipFill>
        <p:spPr>
          <a:xfrm>
            <a:off x="823630" y="406257"/>
            <a:ext cx="7301696" cy="670357"/>
          </a:xfrm>
          <a:prstGeom prst="rect">
            <a:avLst/>
          </a:prstGeom>
        </p:spPr>
      </p:pic>
      <p:sp>
        <p:nvSpPr>
          <p:cNvPr id="124" name="object 124"/>
          <p:cNvSpPr txBox="1"/>
          <p:nvPr/>
        </p:nvSpPr>
        <p:spPr>
          <a:xfrm>
            <a:off x="754157" y="6163395"/>
            <a:ext cx="5790079" cy="243656"/>
          </a:xfrm>
          <a:prstGeom prst="rect">
            <a:avLst/>
          </a:prstGeom>
        </p:spPr>
        <p:txBody>
          <a:bodyPr vert="horz" wrap="square" lIns="0" tIns="0" rIns="0" bIns="0" rtlCol="0">
            <a:spAutoFit/>
          </a:bodyPr>
          <a:lstStyle/>
          <a:p>
            <a:pPr marL="11206">
              <a:lnSpc>
                <a:spcPts val="1919"/>
              </a:lnSpc>
            </a:pPr>
            <a:r>
              <a:rPr sz="1677" dirty="0">
                <a:latin typeface="Times New Roman"/>
                <a:cs typeface="Times New Roman"/>
              </a:rPr>
              <a:t>•</a:t>
            </a:r>
            <a:r>
              <a:rPr sz="1677" spc="40" dirty="0">
                <a:latin typeface="Times New Roman"/>
                <a:cs typeface="Times New Roman"/>
              </a:rPr>
              <a:t> </a:t>
            </a:r>
            <a:r>
              <a:rPr sz="1677" b="1" dirty="0">
                <a:latin typeface="Times New Roman"/>
                <a:cs typeface="Times New Roman"/>
              </a:rPr>
              <a:t>Example</a:t>
            </a:r>
            <a:r>
              <a:rPr sz="1677" b="1" spc="53" dirty="0">
                <a:latin typeface="Times New Roman"/>
                <a:cs typeface="Times New Roman"/>
              </a:rPr>
              <a:t> </a:t>
            </a:r>
            <a:r>
              <a:rPr sz="1677" b="1" dirty="0">
                <a:latin typeface="Times New Roman"/>
                <a:cs typeface="Times New Roman"/>
              </a:rPr>
              <a:t>of</a:t>
            </a:r>
            <a:r>
              <a:rPr sz="1677" b="1" spc="49" dirty="0">
                <a:latin typeface="Times New Roman"/>
                <a:cs typeface="Times New Roman"/>
              </a:rPr>
              <a:t> </a:t>
            </a:r>
            <a:r>
              <a:rPr sz="1677" b="1" dirty="0">
                <a:latin typeface="Times New Roman"/>
                <a:cs typeface="Times New Roman"/>
              </a:rPr>
              <a:t>interplay</a:t>
            </a:r>
            <a:r>
              <a:rPr sz="1677" b="1" spc="53" dirty="0">
                <a:latin typeface="Times New Roman"/>
                <a:cs typeface="Times New Roman"/>
              </a:rPr>
              <a:t> </a:t>
            </a:r>
            <a:r>
              <a:rPr sz="1677" b="1" dirty="0">
                <a:latin typeface="Times New Roman"/>
                <a:cs typeface="Times New Roman"/>
              </a:rPr>
              <a:t>of</a:t>
            </a:r>
            <a:r>
              <a:rPr sz="1677" b="1" spc="49" dirty="0">
                <a:latin typeface="Times New Roman"/>
                <a:cs typeface="Times New Roman"/>
              </a:rPr>
              <a:t> </a:t>
            </a:r>
            <a:r>
              <a:rPr sz="1677" b="1" dirty="0">
                <a:latin typeface="Times New Roman"/>
                <a:cs typeface="Times New Roman"/>
              </a:rPr>
              <a:t>instruction</a:t>
            </a:r>
            <a:r>
              <a:rPr sz="1677" b="1" spc="53" dirty="0">
                <a:latin typeface="Times New Roman"/>
                <a:cs typeface="Times New Roman"/>
              </a:rPr>
              <a:t> </a:t>
            </a:r>
            <a:r>
              <a:rPr sz="1677" b="1" dirty="0">
                <a:latin typeface="Times New Roman"/>
                <a:cs typeface="Times New Roman"/>
              </a:rPr>
              <a:t>set</a:t>
            </a:r>
            <a:r>
              <a:rPr sz="1677" b="1" spc="49" dirty="0">
                <a:latin typeface="Times New Roman"/>
                <a:cs typeface="Times New Roman"/>
              </a:rPr>
              <a:t> </a:t>
            </a:r>
            <a:r>
              <a:rPr sz="1677" b="1" dirty="0">
                <a:latin typeface="Times New Roman"/>
                <a:cs typeface="Times New Roman"/>
              </a:rPr>
              <a:t>design</a:t>
            </a:r>
            <a:r>
              <a:rPr sz="1677" b="1" spc="53" dirty="0">
                <a:latin typeface="Times New Roman"/>
                <a:cs typeface="Times New Roman"/>
              </a:rPr>
              <a:t> </a:t>
            </a:r>
            <a:r>
              <a:rPr sz="1677" b="1" dirty="0">
                <a:latin typeface="Times New Roman"/>
                <a:cs typeface="Times New Roman"/>
              </a:rPr>
              <a:t>and</a:t>
            </a:r>
            <a:r>
              <a:rPr sz="1677" b="1" spc="53" dirty="0">
                <a:latin typeface="Times New Roman"/>
                <a:cs typeface="Times New Roman"/>
              </a:rPr>
              <a:t> </a:t>
            </a:r>
            <a:r>
              <a:rPr sz="1677" b="1" dirty="0">
                <a:latin typeface="Times New Roman"/>
                <a:cs typeface="Times New Roman"/>
              </a:rPr>
              <a:t>cycle</a:t>
            </a:r>
            <a:r>
              <a:rPr sz="1677" b="1" spc="49" dirty="0">
                <a:latin typeface="Times New Roman"/>
                <a:cs typeface="Times New Roman"/>
              </a:rPr>
              <a:t> </a:t>
            </a:r>
            <a:r>
              <a:rPr sz="1677" b="1" spc="-9" dirty="0">
                <a:latin typeface="Times New Roman"/>
                <a:cs typeface="Times New Roman"/>
              </a:rPr>
              <a:t>time.</a:t>
            </a:r>
            <a:endParaRPr sz="1677">
              <a:latin typeface="Times New Roman"/>
              <a:cs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3377" y="612099"/>
            <a:ext cx="6814638" cy="589755"/>
          </a:xfrm>
          <a:prstGeom prst="rect">
            <a:avLst/>
          </a:prstGeom>
        </p:spPr>
        <p:txBody>
          <a:bodyPr vert="horz" wrap="square" lIns="0" tIns="126851" rIns="0" bIns="0" rtlCol="0" anchor="ctr">
            <a:spAutoFit/>
          </a:bodyPr>
          <a:lstStyle/>
          <a:p>
            <a:pPr marL="11206">
              <a:lnSpc>
                <a:spcPct val="100000"/>
              </a:lnSpc>
              <a:spcBef>
                <a:spcPts val="88"/>
              </a:spcBef>
            </a:pPr>
            <a:r>
              <a:rPr dirty="0"/>
              <a:t>Review</a:t>
            </a:r>
            <a:r>
              <a:rPr spc="9" dirty="0"/>
              <a:t> </a:t>
            </a:r>
            <a:r>
              <a:rPr spc="-9" dirty="0"/>
              <a:t>Question</a:t>
            </a:r>
          </a:p>
        </p:txBody>
      </p:sp>
      <p:sp>
        <p:nvSpPr>
          <p:cNvPr id="8" name="Slide Number Placeholder 7">
            <a:extLst>
              <a:ext uri="{FF2B5EF4-FFF2-40B4-BE49-F238E27FC236}">
                <a16:creationId xmlns:a16="http://schemas.microsoft.com/office/drawing/2014/main" id="{AC70ADA2-A6E6-F011-0DD4-7846D5062488}"/>
              </a:ext>
            </a:extLst>
          </p:cNvPr>
          <p:cNvSpPr>
            <a:spLocks noGrp="1"/>
          </p:cNvSpPr>
          <p:nvPr>
            <p:ph type="sldNum" sz="quarter" idx="7"/>
          </p:nvPr>
        </p:nvSpPr>
        <p:spPr/>
        <p:txBody>
          <a:bodyPr/>
          <a:lstStyle/>
          <a:p>
            <a:fld id="{4FE321F0-2018-4E50-8BB3-A5631EBD98DD}" type="slidenum">
              <a:rPr lang="en-US" smtClean="0"/>
              <a:t>62</a:t>
            </a:fld>
            <a:endParaRPr lang="en-US"/>
          </a:p>
        </p:txBody>
      </p:sp>
      <p:sp>
        <p:nvSpPr>
          <p:cNvPr id="3" name="object 3"/>
          <p:cNvSpPr txBox="1"/>
          <p:nvPr/>
        </p:nvSpPr>
        <p:spPr>
          <a:xfrm>
            <a:off x="524435" y="1300330"/>
            <a:ext cx="8189259" cy="5265058"/>
          </a:xfrm>
          <a:prstGeom prst="rect">
            <a:avLst/>
          </a:prstGeom>
        </p:spPr>
        <p:txBody>
          <a:bodyPr vert="horz" wrap="square" lIns="0" tIns="52668" rIns="0" bIns="0" rtlCol="0">
            <a:spAutoFit/>
          </a:bodyPr>
          <a:lstStyle/>
          <a:p>
            <a:pPr marL="279602" marR="4483" indent="-268956">
              <a:lnSpc>
                <a:spcPct val="88100"/>
              </a:lnSpc>
              <a:spcBef>
                <a:spcPts val="415"/>
              </a:spcBef>
              <a:buChar char="•"/>
              <a:tabLst>
                <a:tab pos="279602" algn="l"/>
              </a:tabLst>
            </a:pPr>
            <a:r>
              <a:rPr sz="2400" spc="-9" dirty="0">
                <a:latin typeface="Calibri"/>
                <a:cs typeface="Calibri"/>
              </a:rPr>
              <a:t>Suppose</a:t>
            </a:r>
            <a:r>
              <a:rPr sz="2400" spc="-84" dirty="0">
                <a:latin typeface="Calibri"/>
                <a:cs typeface="Calibri"/>
              </a:rPr>
              <a:t> </a:t>
            </a:r>
            <a:r>
              <a:rPr sz="2400" dirty="0">
                <a:latin typeface="Calibri"/>
                <a:cs typeface="Calibri"/>
              </a:rPr>
              <a:t>that</a:t>
            </a:r>
            <a:r>
              <a:rPr sz="2400" spc="-88" dirty="0">
                <a:latin typeface="Calibri"/>
                <a:cs typeface="Calibri"/>
              </a:rPr>
              <a:t> </a:t>
            </a:r>
            <a:r>
              <a:rPr sz="2400" dirty="0">
                <a:latin typeface="Calibri"/>
                <a:cs typeface="Calibri"/>
              </a:rPr>
              <a:t>an</a:t>
            </a:r>
            <a:r>
              <a:rPr sz="2400" spc="-88" dirty="0">
                <a:latin typeface="Calibri"/>
                <a:cs typeface="Calibri"/>
              </a:rPr>
              <a:t> </a:t>
            </a:r>
            <a:r>
              <a:rPr sz="2400" spc="-9" dirty="0">
                <a:latin typeface="Calibri"/>
                <a:cs typeface="Calibri"/>
              </a:rPr>
              <a:t>unpipelined</a:t>
            </a:r>
            <a:r>
              <a:rPr sz="2400" spc="-84" dirty="0">
                <a:latin typeface="Calibri"/>
                <a:cs typeface="Calibri"/>
              </a:rPr>
              <a:t> </a:t>
            </a:r>
            <a:r>
              <a:rPr sz="2400" spc="-31" dirty="0">
                <a:latin typeface="Calibri"/>
                <a:cs typeface="Calibri"/>
              </a:rPr>
              <a:t>multi-</a:t>
            </a:r>
            <a:r>
              <a:rPr sz="2400" dirty="0">
                <a:latin typeface="Calibri"/>
                <a:cs typeface="Calibri"/>
              </a:rPr>
              <a:t>cycle</a:t>
            </a:r>
            <a:r>
              <a:rPr sz="2400" spc="-84" dirty="0">
                <a:latin typeface="Calibri"/>
                <a:cs typeface="Calibri"/>
              </a:rPr>
              <a:t> </a:t>
            </a:r>
            <a:r>
              <a:rPr sz="2400" spc="-18" dirty="0">
                <a:latin typeface="Calibri"/>
                <a:cs typeface="Calibri"/>
              </a:rPr>
              <a:t>processor</a:t>
            </a:r>
            <a:r>
              <a:rPr sz="2400" spc="-84" dirty="0">
                <a:latin typeface="Calibri"/>
                <a:cs typeface="Calibri"/>
              </a:rPr>
              <a:t> </a:t>
            </a:r>
            <a:r>
              <a:rPr sz="2400" spc="-9" dirty="0">
                <a:latin typeface="Calibri"/>
                <a:cs typeface="Calibri"/>
              </a:rPr>
              <a:t>executes </a:t>
            </a:r>
            <a:r>
              <a:rPr sz="2400" dirty="0">
                <a:latin typeface="Calibri"/>
                <a:cs typeface="Calibri"/>
              </a:rPr>
              <a:t>a</a:t>
            </a:r>
            <a:r>
              <a:rPr sz="2400" spc="-75" dirty="0">
                <a:latin typeface="Calibri"/>
                <a:cs typeface="Calibri"/>
              </a:rPr>
              <a:t> </a:t>
            </a:r>
            <a:r>
              <a:rPr sz="2400" spc="-22" dirty="0">
                <a:latin typeface="Calibri"/>
                <a:cs typeface="Calibri"/>
              </a:rPr>
              <a:t>program</a:t>
            </a:r>
            <a:r>
              <a:rPr sz="2400" spc="-84" dirty="0">
                <a:latin typeface="Calibri"/>
                <a:cs typeface="Calibri"/>
              </a:rPr>
              <a:t> </a:t>
            </a:r>
            <a:r>
              <a:rPr sz="2400" spc="-9" dirty="0">
                <a:latin typeface="Calibri"/>
                <a:cs typeface="Calibri"/>
              </a:rPr>
              <a:t>with</a:t>
            </a:r>
            <a:r>
              <a:rPr sz="2400" spc="-71" dirty="0">
                <a:latin typeface="Calibri"/>
                <a:cs typeface="Calibri"/>
              </a:rPr>
              <a:t> </a:t>
            </a:r>
            <a:r>
              <a:rPr sz="2400" dirty="0">
                <a:latin typeface="Calibri"/>
                <a:cs typeface="Calibri"/>
              </a:rPr>
              <a:t>the</a:t>
            </a:r>
            <a:r>
              <a:rPr sz="2400" spc="-71" dirty="0">
                <a:latin typeface="Calibri"/>
                <a:cs typeface="Calibri"/>
              </a:rPr>
              <a:t> </a:t>
            </a:r>
            <a:r>
              <a:rPr sz="2400" spc="-18" dirty="0">
                <a:latin typeface="Calibri"/>
                <a:cs typeface="Calibri"/>
              </a:rPr>
              <a:t>following</a:t>
            </a:r>
            <a:r>
              <a:rPr sz="2400" spc="-75" dirty="0">
                <a:latin typeface="Calibri"/>
                <a:cs typeface="Calibri"/>
              </a:rPr>
              <a:t> </a:t>
            </a:r>
            <a:r>
              <a:rPr sz="2400" spc="-18" dirty="0">
                <a:latin typeface="Calibri"/>
                <a:cs typeface="Calibri"/>
              </a:rPr>
              <a:t>instruction</a:t>
            </a:r>
            <a:r>
              <a:rPr sz="2400" spc="-71" dirty="0">
                <a:latin typeface="Calibri"/>
                <a:cs typeface="Calibri"/>
              </a:rPr>
              <a:t> </a:t>
            </a:r>
            <a:r>
              <a:rPr sz="2400" spc="-9" dirty="0">
                <a:latin typeface="Calibri"/>
                <a:cs typeface="Calibri"/>
              </a:rPr>
              <a:t>frequencies</a:t>
            </a:r>
            <a:r>
              <a:rPr sz="2400" spc="-71" dirty="0">
                <a:latin typeface="Calibri"/>
                <a:cs typeface="Calibri"/>
              </a:rPr>
              <a:t> </a:t>
            </a:r>
            <a:r>
              <a:rPr sz="2400" spc="-22" dirty="0">
                <a:latin typeface="Calibri"/>
                <a:cs typeface="Calibri"/>
              </a:rPr>
              <a:t>and </a:t>
            </a:r>
            <a:r>
              <a:rPr sz="2400" spc="-9" dirty="0">
                <a:latin typeface="Calibri"/>
                <a:cs typeface="Calibri"/>
              </a:rPr>
              <a:t>costs:</a:t>
            </a:r>
            <a:endParaRPr sz="2400" dirty="0">
              <a:latin typeface="Calibri"/>
              <a:cs typeface="Calibri"/>
            </a:endParaRPr>
          </a:p>
          <a:p>
            <a:pPr marL="654458" lvl="1" indent="-213483">
              <a:spcBef>
                <a:spcPts val="512"/>
              </a:spcBef>
              <a:buChar char="–"/>
              <a:tabLst>
                <a:tab pos="654458" algn="l"/>
              </a:tabLst>
            </a:pPr>
            <a:r>
              <a:rPr sz="2200" dirty="0">
                <a:latin typeface="Calibri"/>
                <a:cs typeface="Calibri"/>
              </a:rPr>
              <a:t>Integer</a:t>
            </a:r>
            <a:r>
              <a:rPr sz="2200" spc="9" dirty="0">
                <a:latin typeface="Calibri"/>
                <a:cs typeface="Calibri"/>
              </a:rPr>
              <a:t> </a:t>
            </a:r>
            <a:r>
              <a:rPr sz="2200" dirty="0">
                <a:latin typeface="Calibri"/>
                <a:cs typeface="Calibri"/>
              </a:rPr>
              <a:t>ALU:</a:t>
            </a:r>
            <a:r>
              <a:rPr sz="2200" spc="22" dirty="0">
                <a:latin typeface="Calibri"/>
                <a:cs typeface="Calibri"/>
              </a:rPr>
              <a:t> </a:t>
            </a:r>
            <a:r>
              <a:rPr sz="2200" dirty="0">
                <a:latin typeface="Calibri"/>
                <a:cs typeface="Calibri"/>
              </a:rPr>
              <a:t>50%,</a:t>
            </a:r>
            <a:r>
              <a:rPr sz="2200" spc="18" dirty="0">
                <a:latin typeface="Calibri"/>
                <a:cs typeface="Calibri"/>
              </a:rPr>
              <a:t> </a:t>
            </a:r>
            <a:r>
              <a:rPr sz="2200" dirty="0">
                <a:latin typeface="Calibri"/>
                <a:cs typeface="Calibri"/>
              </a:rPr>
              <a:t>4</a:t>
            </a:r>
            <a:r>
              <a:rPr sz="2200" spc="18" dirty="0">
                <a:latin typeface="Calibri"/>
                <a:cs typeface="Calibri"/>
              </a:rPr>
              <a:t> </a:t>
            </a:r>
            <a:r>
              <a:rPr sz="2200" spc="-9" dirty="0">
                <a:latin typeface="Calibri"/>
                <a:cs typeface="Calibri"/>
              </a:rPr>
              <a:t>cycles</a:t>
            </a:r>
            <a:endParaRPr sz="2200" dirty="0">
              <a:latin typeface="Calibri"/>
              <a:cs typeface="Calibri"/>
            </a:endParaRPr>
          </a:p>
          <a:p>
            <a:pPr marL="654458" lvl="1" indent="-213483">
              <a:spcBef>
                <a:spcPts val="468"/>
              </a:spcBef>
              <a:buChar char="–"/>
              <a:tabLst>
                <a:tab pos="654458" algn="l"/>
              </a:tabLst>
            </a:pPr>
            <a:r>
              <a:rPr sz="2200" dirty="0">
                <a:latin typeface="Calibri"/>
                <a:cs typeface="Calibri"/>
              </a:rPr>
              <a:t>Load:</a:t>
            </a:r>
            <a:r>
              <a:rPr sz="2200" spc="26" dirty="0">
                <a:latin typeface="Calibri"/>
                <a:cs typeface="Calibri"/>
              </a:rPr>
              <a:t> </a:t>
            </a:r>
            <a:r>
              <a:rPr sz="2200" dirty="0">
                <a:latin typeface="Calibri"/>
                <a:cs typeface="Calibri"/>
              </a:rPr>
              <a:t>20%,</a:t>
            </a:r>
            <a:r>
              <a:rPr sz="2200" spc="18" dirty="0">
                <a:latin typeface="Calibri"/>
                <a:cs typeface="Calibri"/>
              </a:rPr>
              <a:t> </a:t>
            </a:r>
            <a:r>
              <a:rPr sz="2200" dirty="0">
                <a:latin typeface="Calibri"/>
                <a:cs typeface="Calibri"/>
              </a:rPr>
              <a:t>5</a:t>
            </a:r>
            <a:r>
              <a:rPr sz="2200" spc="22" dirty="0">
                <a:latin typeface="Calibri"/>
                <a:cs typeface="Calibri"/>
              </a:rPr>
              <a:t> </a:t>
            </a:r>
            <a:r>
              <a:rPr sz="2200" spc="-9" dirty="0">
                <a:latin typeface="Calibri"/>
                <a:cs typeface="Calibri"/>
              </a:rPr>
              <a:t>cycles</a:t>
            </a:r>
            <a:endParaRPr sz="2200" dirty="0">
              <a:latin typeface="Calibri"/>
              <a:cs typeface="Calibri"/>
            </a:endParaRPr>
          </a:p>
          <a:p>
            <a:pPr marL="654458" lvl="1" indent="-213483">
              <a:spcBef>
                <a:spcPts val="357"/>
              </a:spcBef>
              <a:buChar char="–"/>
              <a:tabLst>
                <a:tab pos="654458" algn="l"/>
              </a:tabLst>
            </a:pPr>
            <a:r>
              <a:rPr sz="2200" dirty="0">
                <a:latin typeface="Calibri"/>
                <a:cs typeface="Calibri"/>
              </a:rPr>
              <a:t>Store:</a:t>
            </a:r>
            <a:r>
              <a:rPr sz="2200" spc="18" dirty="0">
                <a:latin typeface="Calibri"/>
                <a:cs typeface="Calibri"/>
              </a:rPr>
              <a:t> </a:t>
            </a:r>
            <a:r>
              <a:rPr sz="2200" dirty="0">
                <a:latin typeface="Calibri"/>
                <a:cs typeface="Calibri"/>
              </a:rPr>
              <a:t>10%,</a:t>
            </a:r>
            <a:r>
              <a:rPr sz="2200" spc="9" dirty="0">
                <a:latin typeface="Calibri"/>
                <a:cs typeface="Calibri"/>
              </a:rPr>
              <a:t> </a:t>
            </a:r>
            <a:r>
              <a:rPr sz="2200" dirty="0">
                <a:latin typeface="Calibri"/>
                <a:cs typeface="Calibri"/>
              </a:rPr>
              <a:t>4</a:t>
            </a:r>
            <a:r>
              <a:rPr sz="2200" spc="18" dirty="0">
                <a:latin typeface="Calibri"/>
                <a:cs typeface="Calibri"/>
              </a:rPr>
              <a:t> </a:t>
            </a:r>
            <a:r>
              <a:rPr sz="2200" spc="-18" dirty="0">
                <a:latin typeface="Calibri"/>
                <a:cs typeface="Calibri"/>
              </a:rPr>
              <a:t>cycle</a:t>
            </a:r>
            <a:endParaRPr sz="2200" dirty="0">
              <a:latin typeface="Calibri"/>
              <a:cs typeface="Calibri"/>
            </a:endParaRPr>
          </a:p>
          <a:p>
            <a:pPr marL="654458" lvl="1" indent="-213483">
              <a:spcBef>
                <a:spcPts val="468"/>
              </a:spcBef>
              <a:buChar char="–"/>
              <a:tabLst>
                <a:tab pos="654458" algn="l"/>
              </a:tabLst>
            </a:pPr>
            <a:r>
              <a:rPr sz="2200" dirty="0">
                <a:latin typeface="Calibri"/>
                <a:cs typeface="Calibri"/>
              </a:rPr>
              <a:t>Branch:</a:t>
            </a:r>
            <a:r>
              <a:rPr sz="2200" spc="22" dirty="0">
                <a:latin typeface="Calibri"/>
                <a:cs typeface="Calibri"/>
              </a:rPr>
              <a:t> </a:t>
            </a:r>
            <a:r>
              <a:rPr sz="2200" dirty="0">
                <a:latin typeface="Calibri"/>
                <a:cs typeface="Calibri"/>
              </a:rPr>
              <a:t>20%,</a:t>
            </a:r>
            <a:r>
              <a:rPr sz="2200" spc="18" dirty="0">
                <a:latin typeface="Calibri"/>
                <a:cs typeface="Calibri"/>
              </a:rPr>
              <a:t> </a:t>
            </a:r>
            <a:r>
              <a:rPr sz="2200" dirty="0">
                <a:latin typeface="Calibri"/>
                <a:cs typeface="Calibri"/>
              </a:rPr>
              <a:t>3</a:t>
            </a:r>
            <a:r>
              <a:rPr sz="2200" spc="22" dirty="0">
                <a:latin typeface="Calibri"/>
                <a:cs typeface="Calibri"/>
              </a:rPr>
              <a:t> </a:t>
            </a:r>
            <a:r>
              <a:rPr sz="2200" spc="-9" dirty="0">
                <a:latin typeface="Calibri"/>
                <a:cs typeface="Calibri"/>
              </a:rPr>
              <a:t>cycles</a:t>
            </a:r>
            <a:endParaRPr sz="2200" dirty="0">
              <a:latin typeface="Calibri"/>
              <a:cs typeface="Calibri"/>
            </a:endParaRPr>
          </a:p>
          <a:p>
            <a:pPr lvl="1">
              <a:spcBef>
                <a:spcPts val="1222"/>
              </a:spcBef>
              <a:buFont typeface="Calibri"/>
              <a:buChar char="–"/>
            </a:pPr>
            <a:endParaRPr sz="1677" dirty="0">
              <a:latin typeface="Calibri"/>
              <a:cs typeface="Calibri"/>
            </a:endParaRPr>
          </a:p>
          <a:p>
            <a:pPr marL="279602" marR="489723" indent="-268956">
              <a:lnSpc>
                <a:spcPts val="2453"/>
              </a:lnSpc>
              <a:buChar char="•"/>
              <a:tabLst>
                <a:tab pos="279602" algn="l"/>
              </a:tabLst>
            </a:pPr>
            <a:r>
              <a:rPr sz="2400" dirty="0">
                <a:latin typeface="Calibri"/>
                <a:cs typeface="Calibri"/>
              </a:rPr>
              <a:t>Which</a:t>
            </a:r>
            <a:r>
              <a:rPr sz="2400" spc="-93" dirty="0">
                <a:latin typeface="Calibri"/>
                <a:cs typeface="Calibri"/>
              </a:rPr>
              <a:t> </a:t>
            </a:r>
            <a:r>
              <a:rPr sz="2400" dirty="0">
                <a:latin typeface="Calibri"/>
                <a:cs typeface="Calibri"/>
              </a:rPr>
              <a:t>of</a:t>
            </a:r>
            <a:r>
              <a:rPr sz="2400" spc="-75" dirty="0">
                <a:latin typeface="Calibri"/>
                <a:cs typeface="Calibri"/>
              </a:rPr>
              <a:t> </a:t>
            </a:r>
            <a:r>
              <a:rPr sz="2400" dirty="0">
                <a:latin typeface="Calibri"/>
                <a:cs typeface="Calibri"/>
              </a:rPr>
              <a:t>the</a:t>
            </a:r>
            <a:r>
              <a:rPr sz="2400" spc="-84" dirty="0">
                <a:latin typeface="Calibri"/>
                <a:cs typeface="Calibri"/>
              </a:rPr>
              <a:t> </a:t>
            </a:r>
            <a:r>
              <a:rPr sz="2400" spc="-18" dirty="0">
                <a:latin typeface="Calibri"/>
                <a:cs typeface="Calibri"/>
              </a:rPr>
              <a:t>following</a:t>
            </a:r>
            <a:r>
              <a:rPr sz="2400" spc="-93" dirty="0">
                <a:latin typeface="Calibri"/>
                <a:cs typeface="Calibri"/>
              </a:rPr>
              <a:t> </a:t>
            </a:r>
            <a:r>
              <a:rPr sz="2400" spc="-9" dirty="0">
                <a:latin typeface="Calibri"/>
                <a:cs typeface="Calibri"/>
              </a:rPr>
              <a:t>would</a:t>
            </a:r>
            <a:r>
              <a:rPr sz="2400" spc="-88" dirty="0">
                <a:latin typeface="Calibri"/>
                <a:cs typeface="Calibri"/>
              </a:rPr>
              <a:t> </a:t>
            </a:r>
            <a:r>
              <a:rPr sz="2400" spc="-9" dirty="0">
                <a:latin typeface="Calibri"/>
                <a:cs typeface="Calibri"/>
              </a:rPr>
              <a:t>improve</a:t>
            </a:r>
            <a:r>
              <a:rPr sz="2400" spc="-84" dirty="0">
                <a:latin typeface="Calibri"/>
                <a:cs typeface="Calibri"/>
              </a:rPr>
              <a:t> </a:t>
            </a:r>
            <a:r>
              <a:rPr sz="2400" dirty="0">
                <a:latin typeface="Calibri"/>
                <a:cs typeface="Calibri"/>
              </a:rPr>
              <a:t>the</a:t>
            </a:r>
            <a:r>
              <a:rPr sz="2400" spc="-84" dirty="0">
                <a:latin typeface="Calibri"/>
                <a:cs typeface="Calibri"/>
              </a:rPr>
              <a:t> </a:t>
            </a:r>
            <a:r>
              <a:rPr sz="2400" spc="-9" dirty="0">
                <a:latin typeface="Calibri"/>
                <a:cs typeface="Calibri"/>
              </a:rPr>
              <a:t>performance more?</a:t>
            </a:r>
            <a:endParaRPr sz="2400" dirty="0">
              <a:latin typeface="Calibri"/>
              <a:cs typeface="Calibri"/>
            </a:endParaRPr>
          </a:p>
          <a:p>
            <a:pPr marL="654458" lvl="1" indent="-213483">
              <a:spcBef>
                <a:spcPts val="401"/>
              </a:spcBef>
              <a:buChar char="–"/>
              <a:tabLst>
                <a:tab pos="654458" algn="l"/>
              </a:tabLst>
            </a:pPr>
            <a:r>
              <a:rPr sz="2200" dirty="0">
                <a:latin typeface="Calibri"/>
                <a:cs typeface="Calibri"/>
              </a:rPr>
              <a:t>assume</a:t>
            </a:r>
            <a:r>
              <a:rPr sz="2200" spc="13" dirty="0">
                <a:latin typeface="Calibri"/>
                <a:cs typeface="Calibri"/>
              </a:rPr>
              <a:t> </a:t>
            </a:r>
            <a:r>
              <a:rPr sz="2200" dirty="0">
                <a:latin typeface="Calibri"/>
                <a:cs typeface="Calibri"/>
              </a:rPr>
              <a:t>both</a:t>
            </a:r>
            <a:r>
              <a:rPr sz="2200" spc="18" dirty="0">
                <a:latin typeface="Calibri"/>
                <a:cs typeface="Calibri"/>
              </a:rPr>
              <a:t> </a:t>
            </a:r>
            <a:r>
              <a:rPr sz="2200" dirty="0">
                <a:latin typeface="Calibri"/>
                <a:cs typeface="Calibri"/>
              </a:rPr>
              <a:t>A</a:t>
            </a:r>
            <a:r>
              <a:rPr sz="2200" spc="13" dirty="0">
                <a:latin typeface="Calibri"/>
                <a:cs typeface="Calibri"/>
              </a:rPr>
              <a:t> </a:t>
            </a:r>
            <a:r>
              <a:rPr sz="2200" dirty="0">
                <a:latin typeface="Calibri"/>
                <a:cs typeface="Calibri"/>
              </a:rPr>
              <a:t>and</a:t>
            </a:r>
            <a:r>
              <a:rPr sz="2200" spc="13" dirty="0">
                <a:latin typeface="Calibri"/>
                <a:cs typeface="Calibri"/>
              </a:rPr>
              <a:t> </a:t>
            </a:r>
            <a:r>
              <a:rPr sz="2200" dirty="0">
                <a:latin typeface="Calibri"/>
                <a:cs typeface="Calibri"/>
              </a:rPr>
              <a:t>B</a:t>
            </a:r>
            <a:r>
              <a:rPr sz="2200" spc="13" dirty="0">
                <a:latin typeface="Calibri"/>
                <a:cs typeface="Calibri"/>
              </a:rPr>
              <a:t> </a:t>
            </a:r>
            <a:r>
              <a:rPr sz="2200" dirty="0">
                <a:latin typeface="Calibri"/>
                <a:cs typeface="Calibri"/>
              </a:rPr>
              <a:t>are</a:t>
            </a:r>
            <a:r>
              <a:rPr sz="2200" spc="18" dirty="0">
                <a:latin typeface="Calibri"/>
                <a:cs typeface="Calibri"/>
              </a:rPr>
              <a:t> </a:t>
            </a:r>
            <a:r>
              <a:rPr sz="2200" dirty="0">
                <a:latin typeface="Calibri"/>
                <a:cs typeface="Calibri"/>
              </a:rPr>
              <a:t>multi-cycle</a:t>
            </a:r>
            <a:r>
              <a:rPr sz="2200" spc="22" dirty="0">
                <a:latin typeface="Calibri"/>
                <a:cs typeface="Calibri"/>
              </a:rPr>
              <a:t> </a:t>
            </a:r>
            <a:r>
              <a:rPr sz="2200" dirty="0">
                <a:latin typeface="Calibri"/>
                <a:cs typeface="Calibri"/>
              </a:rPr>
              <a:t>implementation</a:t>
            </a:r>
            <a:r>
              <a:rPr sz="2200" spc="18" dirty="0">
                <a:latin typeface="Calibri"/>
                <a:cs typeface="Calibri"/>
              </a:rPr>
              <a:t> </a:t>
            </a:r>
            <a:r>
              <a:rPr sz="2200" dirty="0">
                <a:latin typeface="Calibri"/>
                <a:cs typeface="Calibri"/>
              </a:rPr>
              <a:t>/</a:t>
            </a:r>
            <a:r>
              <a:rPr sz="2200" spc="18" dirty="0">
                <a:latin typeface="Calibri"/>
                <a:cs typeface="Calibri"/>
              </a:rPr>
              <a:t> </a:t>
            </a:r>
            <a:r>
              <a:rPr sz="2200" dirty="0">
                <a:latin typeface="Calibri"/>
                <a:cs typeface="Calibri"/>
              </a:rPr>
              <a:t>same</a:t>
            </a:r>
            <a:r>
              <a:rPr sz="2200" spc="22" dirty="0">
                <a:latin typeface="Calibri"/>
                <a:cs typeface="Calibri"/>
              </a:rPr>
              <a:t> </a:t>
            </a:r>
            <a:r>
              <a:rPr sz="2200" dirty="0">
                <a:latin typeface="Calibri"/>
                <a:cs typeface="Calibri"/>
              </a:rPr>
              <a:t>IC</a:t>
            </a:r>
            <a:r>
              <a:rPr sz="2200" spc="13" dirty="0">
                <a:latin typeface="Calibri"/>
                <a:cs typeface="Calibri"/>
              </a:rPr>
              <a:t> </a:t>
            </a:r>
            <a:r>
              <a:rPr sz="2200" dirty="0">
                <a:latin typeface="Calibri"/>
                <a:cs typeface="Calibri"/>
              </a:rPr>
              <a:t>and</a:t>
            </a:r>
            <a:r>
              <a:rPr sz="2200" spc="18" dirty="0">
                <a:latin typeface="Calibri"/>
                <a:cs typeface="Calibri"/>
              </a:rPr>
              <a:t> </a:t>
            </a:r>
            <a:r>
              <a:rPr sz="2200" spc="-22" dirty="0">
                <a:latin typeface="Calibri"/>
                <a:cs typeface="Calibri"/>
              </a:rPr>
              <a:t>cct</a:t>
            </a:r>
            <a:endParaRPr sz="2200" dirty="0">
              <a:latin typeface="Calibri"/>
              <a:cs typeface="Calibri"/>
            </a:endParaRPr>
          </a:p>
          <a:p>
            <a:pPr marL="763722" indent="-322747">
              <a:spcBef>
                <a:spcPts val="463"/>
              </a:spcBef>
              <a:buAutoNum type="alphaUcPeriod"/>
              <a:tabLst>
                <a:tab pos="763722" algn="l"/>
              </a:tabLst>
            </a:pPr>
            <a:r>
              <a:rPr sz="2200" dirty="0">
                <a:latin typeface="Calibri"/>
                <a:cs typeface="Calibri"/>
              </a:rPr>
              <a:t>Reducing</a:t>
            </a:r>
            <a:r>
              <a:rPr sz="2200" spc="13" dirty="0">
                <a:latin typeface="Calibri"/>
                <a:cs typeface="Calibri"/>
              </a:rPr>
              <a:t> </a:t>
            </a:r>
            <a:r>
              <a:rPr sz="2200" dirty="0">
                <a:latin typeface="Calibri"/>
                <a:cs typeface="Calibri"/>
              </a:rPr>
              <a:t>the</a:t>
            </a:r>
            <a:r>
              <a:rPr sz="2200" spc="22" dirty="0">
                <a:latin typeface="Calibri"/>
                <a:cs typeface="Calibri"/>
              </a:rPr>
              <a:t> </a:t>
            </a:r>
            <a:r>
              <a:rPr sz="2200" dirty="0">
                <a:latin typeface="Calibri"/>
                <a:cs typeface="Calibri"/>
              </a:rPr>
              <a:t>branch</a:t>
            </a:r>
            <a:r>
              <a:rPr sz="2200" spc="22" dirty="0">
                <a:latin typeface="Calibri"/>
                <a:cs typeface="Calibri"/>
              </a:rPr>
              <a:t> </a:t>
            </a:r>
            <a:r>
              <a:rPr sz="2200" dirty="0">
                <a:latin typeface="Calibri"/>
                <a:cs typeface="Calibri"/>
              </a:rPr>
              <a:t>cost</a:t>
            </a:r>
            <a:r>
              <a:rPr sz="2200" spc="9" dirty="0">
                <a:latin typeface="Calibri"/>
                <a:cs typeface="Calibri"/>
              </a:rPr>
              <a:t> </a:t>
            </a:r>
            <a:r>
              <a:rPr sz="2200" dirty="0">
                <a:latin typeface="Calibri"/>
                <a:cs typeface="Calibri"/>
              </a:rPr>
              <a:t>to</a:t>
            </a:r>
            <a:r>
              <a:rPr sz="2200" spc="18" dirty="0">
                <a:latin typeface="Calibri"/>
                <a:cs typeface="Calibri"/>
              </a:rPr>
              <a:t> </a:t>
            </a:r>
            <a:r>
              <a:rPr sz="2200" dirty="0">
                <a:latin typeface="Calibri"/>
                <a:cs typeface="Calibri"/>
              </a:rPr>
              <a:t>1</a:t>
            </a:r>
            <a:r>
              <a:rPr sz="2200" spc="18" dirty="0">
                <a:latin typeface="Calibri"/>
                <a:cs typeface="Calibri"/>
              </a:rPr>
              <a:t> </a:t>
            </a:r>
            <a:r>
              <a:rPr sz="2200" dirty="0">
                <a:latin typeface="Calibri"/>
                <a:cs typeface="Calibri"/>
              </a:rPr>
              <a:t>cycle</a:t>
            </a:r>
            <a:r>
              <a:rPr sz="2200" spc="22" dirty="0">
                <a:latin typeface="Calibri"/>
                <a:cs typeface="Calibri"/>
              </a:rPr>
              <a:t> </a:t>
            </a:r>
            <a:r>
              <a:rPr sz="2200" dirty="0">
                <a:latin typeface="Calibri"/>
                <a:cs typeface="Calibri"/>
              </a:rPr>
              <a:t>using</a:t>
            </a:r>
            <a:r>
              <a:rPr sz="2200" spc="18" dirty="0">
                <a:latin typeface="Calibri"/>
                <a:cs typeface="Calibri"/>
              </a:rPr>
              <a:t> </a:t>
            </a:r>
            <a:r>
              <a:rPr sz="2200" dirty="0">
                <a:latin typeface="Calibri"/>
                <a:cs typeface="Calibri"/>
              </a:rPr>
              <a:t>better</a:t>
            </a:r>
            <a:r>
              <a:rPr sz="2200" spc="9" dirty="0">
                <a:latin typeface="Calibri"/>
                <a:cs typeface="Calibri"/>
              </a:rPr>
              <a:t> </a:t>
            </a:r>
            <a:r>
              <a:rPr sz="2200" dirty="0">
                <a:latin typeface="Calibri"/>
                <a:cs typeface="Calibri"/>
              </a:rPr>
              <a:t>branch</a:t>
            </a:r>
            <a:r>
              <a:rPr sz="2200" spc="22" dirty="0">
                <a:latin typeface="Calibri"/>
                <a:cs typeface="Calibri"/>
              </a:rPr>
              <a:t> </a:t>
            </a:r>
            <a:r>
              <a:rPr sz="2200" spc="-9" dirty="0">
                <a:latin typeface="Calibri"/>
                <a:cs typeface="Calibri"/>
              </a:rPr>
              <a:t>handling</a:t>
            </a:r>
            <a:endParaRPr sz="2200" dirty="0">
              <a:latin typeface="Calibri"/>
              <a:cs typeface="Calibri"/>
            </a:endParaRPr>
          </a:p>
          <a:p>
            <a:pPr marL="763722" indent="-322747">
              <a:spcBef>
                <a:spcPts val="446"/>
              </a:spcBef>
              <a:buAutoNum type="alphaUcPeriod"/>
              <a:tabLst>
                <a:tab pos="763722" algn="l"/>
              </a:tabLst>
            </a:pPr>
            <a:r>
              <a:rPr sz="2200" dirty="0">
                <a:latin typeface="Calibri"/>
                <a:cs typeface="Calibri"/>
              </a:rPr>
              <a:t>Reducing</a:t>
            </a:r>
            <a:r>
              <a:rPr sz="2200" spc="13" dirty="0">
                <a:latin typeface="Calibri"/>
                <a:cs typeface="Calibri"/>
              </a:rPr>
              <a:t> </a:t>
            </a:r>
            <a:r>
              <a:rPr sz="2200" dirty="0">
                <a:latin typeface="Calibri"/>
                <a:cs typeface="Calibri"/>
              </a:rPr>
              <a:t>load</a:t>
            </a:r>
            <a:r>
              <a:rPr sz="2200" spc="22" dirty="0">
                <a:latin typeface="Calibri"/>
                <a:cs typeface="Calibri"/>
              </a:rPr>
              <a:t> </a:t>
            </a:r>
            <a:r>
              <a:rPr sz="2200" dirty="0">
                <a:latin typeface="Calibri"/>
                <a:cs typeface="Calibri"/>
              </a:rPr>
              <a:t>cost</a:t>
            </a:r>
            <a:r>
              <a:rPr sz="2200" spc="9" dirty="0">
                <a:latin typeface="Calibri"/>
                <a:cs typeface="Calibri"/>
              </a:rPr>
              <a:t> </a:t>
            </a:r>
            <a:r>
              <a:rPr sz="2200" dirty="0">
                <a:latin typeface="Calibri"/>
                <a:cs typeface="Calibri"/>
              </a:rPr>
              <a:t>to</a:t>
            </a:r>
            <a:r>
              <a:rPr sz="2200" spc="18" dirty="0">
                <a:latin typeface="Calibri"/>
                <a:cs typeface="Calibri"/>
              </a:rPr>
              <a:t> </a:t>
            </a:r>
            <a:r>
              <a:rPr sz="2200" dirty="0">
                <a:latin typeface="Calibri"/>
                <a:cs typeface="Calibri"/>
              </a:rPr>
              <a:t>3</a:t>
            </a:r>
            <a:r>
              <a:rPr sz="2200" spc="18" dirty="0">
                <a:latin typeface="Calibri"/>
                <a:cs typeface="Calibri"/>
              </a:rPr>
              <a:t> </a:t>
            </a:r>
            <a:r>
              <a:rPr sz="2200" dirty="0">
                <a:latin typeface="Calibri"/>
                <a:cs typeface="Calibri"/>
              </a:rPr>
              <a:t>cycles</a:t>
            </a:r>
            <a:r>
              <a:rPr sz="2200" spc="9" dirty="0">
                <a:latin typeface="Calibri"/>
                <a:cs typeface="Calibri"/>
              </a:rPr>
              <a:t> </a:t>
            </a:r>
            <a:r>
              <a:rPr sz="2200" dirty="0">
                <a:latin typeface="Calibri"/>
                <a:cs typeface="Calibri"/>
              </a:rPr>
              <a:t>using</a:t>
            </a:r>
            <a:r>
              <a:rPr sz="2200" spc="18" dirty="0">
                <a:latin typeface="Calibri"/>
                <a:cs typeface="Calibri"/>
              </a:rPr>
              <a:t> </a:t>
            </a:r>
            <a:r>
              <a:rPr sz="2200" dirty="0">
                <a:latin typeface="Calibri"/>
                <a:cs typeface="Calibri"/>
              </a:rPr>
              <a:t>better</a:t>
            </a:r>
            <a:r>
              <a:rPr sz="2200" spc="9" dirty="0">
                <a:latin typeface="Calibri"/>
                <a:cs typeface="Calibri"/>
              </a:rPr>
              <a:t> </a:t>
            </a:r>
            <a:r>
              <a:rPr sz="2200" dirty="0">
                <a:latin typeface="Calibri"/>
                <a:cs typeface="Calibri"/>
              </a:rPr>
              <a:t>data</a:t>
            </a:r>
            <a:r>
              <a:rPr sz="2200" spc="18" dirty="0">
                <a:latin typeface="Calibri"/>
                <a:cs typeface="Calibri"/>
              </a:rPr>
              <a:t> </a:t>
            </a:r>
            <a:r>
              <a:rPr sz="2200" spc="-9" dirty="0">
                <a:latin typeface="Calibri"/>
                <a:cs typeface="Calibri"/>
              </a:rPr>
              <a:t>cache</a:t>
            </a:r>
            <a:endParaRPr sz="2200" dirty="0">
              <a:latin typeface="Calibri"/>
              <a:cs typeface="Calibri"/>
            </a:endParaRPr>
          </a:p>
          <a:p>
            <a:pPr marL="763722" indent="-322747">
              <a:spcBef>
                <a:spcPts val="383"/>
              </a:spcBef>
              <a:buAutoNum type="alphaUcPeriod"/>
              <a:tabLst>
                <a:tab pos="763722" algn="l"/>
              </a:tabLst>
            </a:pPr>
            <a:r>
              <a:rPr sz="2200" dirty="0">
                <a:latin typeface="Calibri"/>
                <a:cs typeface="Calibri"/>
              </a:rPr>
              <a:t>Same</a:t>
            </a:r>
            <a:r>
              <a:rPr sz="2200" spc="18" dirty="0">
                <a:latin typeface="Calibri"/>
                <a:cs typeface="Calibri"/>
              </a:rPr>
              <a:t> </a:t>
            </a:r>
            <a:r>
              <a:rPr sz="2200" dirty="0">
                <a:latin typeface="Calibri"/>
                <a:cs typeface="Calibri"/>
              </a:rPr>
              <a:t>speedup</a:t>
            </a:r>
            <a:r>
              <a:rPr sz="2200" spc="18" dirty="0">
                <a:latin typeface="Calibri"/>
                <a:cs typeface="Calibri"/>
              </a:rPr>
              <a:t> </a:t>
            </a:r>
            <a:r>
              <a:rPr sz="2200" dirty="0">
                <a:latin typeface="Calibri"/>
                <a:cs typeface="Calibri"/>
              </a:rPr>
              <a:t>from</a:t>
            </a:r>
            <a:r>
              <a:rPr sz="2200" spc="22" dirty="0">
                <a:latin typeface="Calibri"/>
                <a:cs typeface="Calibri"/>
              </a:rPr>
              <a:t> </a:t>
            </a:r>
            <a:r>
              <a:rPr sz="2200" spc="-18" dirty="0">
                <a:latin typeface="Calibri"/>
                <a:cs typeface="Calibri"/>
              </a:rPr>
              <a:t>both</a:t>
            </a:r>
            <a:endParaRPr sz="2200" dirty="0">
              <a:latin typeface="Calibri"/>
              <a:cs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4952" y="612100"/>
            <a:ext cx="6803063" cy="589755"/>
          </a:xfrm>
          <a:prstGeom prst="rect">
            <a:avLst/>
          </a:prstGeom>
        </p:spPr>
        <p:txBody>
          <a:bodyPr vert="horz" wrap="square" lIns="0" tIns="126851" rIns="0" bIns="0" rtlCol="0" anchor="ctr">
            <a:spAutoFit/>
          </a:bodyPr>
          <a:lstStyle/>
          <a:p>
            <a:pPr marL="11206">
              <a:lnSpc>
                <a:spcPct val="100000"/>
              </a:lnSpc>
              <a:spcBef>
                <a:spcPts val="88"/>
              </a:spcBef>
            </a:pPr>
            <a:r>
              <a:rPr dirty="0"/>
              <a:t>Four</a:t>
            </a:r>
            <a:r>
              <a:rPr spc="-13" dirty="0"/>
              <a:t> </a:t>
            </a:r>
            <a:r>
              <a:rPr dirty="0"/>
              <a:t>Branch</a:t>
            </a:r>
            <a:r>
              <a:rPr spc="-4" dirty="0"/>
              <a:t> </a:t>
            </a:r>
            <a:r>
              <a:rPr dirty="0"/>
              <a:t>Hazard </a:t>
            </a:r>
            <a:r>
              <a:rPr spc="-9" dirty="0"/>
              <a:t>Alternatives</a:t>
            </a:r>
          </a:p>
        </p:txBody>
      </p:sp>
      <p:sp>
        <p:nvSpPr>
          <p:cNvPr id="5" name="Slide Number Placeholder 4">
            <a:extLst>
              <a:ext uri="{FF2B5EF4-FFF2-40B4-BE49-F238E27FC236}">
                <a16:creationId xmlns:a16="http://schemas.microsoft.com/office/drawing/2014/main" id="{8EDC2828-A938-0802-C619-E2AACAC84076}"/>
              </a:ext>
            </a:extLst>
          </p:cNvPr>
          <p:cNvSpPr>
            <a:spLocks noGrp="1"/>
          </p:cNvSpPr>
          <p:nvPr>
            <p:ph type="sldNum" sz="quarter" idx="7"/>
          </p:nvPr>
        </p:nvSpPr>
        <p:spPr/>
        <p:txBody>
          <a:bodyPr/>
          <a:lstStyle/>
          <a:p>
            <a:fld id="{4FE321F0-2018-4E50-8BB3-A5631EBD98DD}" type="slidenum">
              <a:rPr lang="en-US" smtClean="0"/>
              <a:t>63</a:t>
            </a:fld>
            <a:endParaRPr lang="en-US"/>
          </a:p>
        </p:txBody>
      </p:sp>
      <p:sp>
        <p:nvSpPr>
          <p:cNvPr id="3" name="object 3"/>
          <p:cNvSpPr txBox="1"/>
          <p:nvPr/>
        </p:nvSpPr>
        <p:spPr>
          <a:xfrm>
            <a:off x="844952" y="1235785"/>
            <a:ext cx="7511970" cy="4582741"/>
          </a:xfrm>
          <a:prstGeom prst="rect">
            <a:avLst/>
          </a:prstGeom>
        </p:spPr>
        <p:txBody>
          <a:bodyPr vert="horz" wrap="square" lIns="0" tIns="75640" rIns="0" bIns="0" rtlCol="0">
            <a:spAutoFit/>
          </a:bodyPr>
          <a:lstStyle/>
          <a:p>
            <a:pPr marL="279602" indent="-268395">
              <a:spcBef>
                <a:spcPts val="596"/>
              </a:spcBef>
              <a:buFont typeface="Calibri"/>
              <a:buChar char="•"/>
              <a:tabLst>
                <a:tab pos="279602" algn="l"/>
              </a:tabLst>
            </a:pPr>
            <a:r>
              <a:rPr sz="2400" b="1" dirty="0">
                <a:latin typeface="Calibri"/>
                <a:cs typeface="Calibri"/>
              </a:rPr>
              <a:t>#1:</a:t>
            </a:r>
            <a:r>
              <a:rPr sz="2400" b="1" spc="-79" dirty="0">
                <a:latin typeface="Calibri"/>
                <a:cs typeface="Calibri"/>
              </a:rPr>
              <a:t> </a:t>
            </a:r>
            <a:r>
              <a:rPr sz="2400" b="1" dirty="0">
                <a:latin typeface="Calibri"/>
                <a:cs typeface="Calibri"/>
              </a:rPr>
              <a:t>Stall</a:t>
            </a:r>
            <a:r>
              <a:rPr sz="2400" b="1" spc="-84" dirty="0">
                <a:latin typeface="Calibri"/>
                <a:cs typeface="Calibri"/>
              </a:rPr>
              <a:t> </a:t>
            </a:r>
            <a:r>
              <a:rPr sz="2400" b="1" dirty="0">
                <a:latin typeface="Calibri"/>
                <a:cs typeface="Calibri"/>
              </a:rPr>
              <a:t>until</a:t>
            </a:r>
            <a:r>
              <a:rPr sz="2400" b="1" spc="-84" dirty="0">
                <a:latin typeface="Calibri"/>
                <a:cs typeface="Calibri"/>
              </a:rPr>
              <a:t> </a:t>
            </a:r>
            <a:r>
              <a:rPr sz="2400" b="1" spc="-18" dirty="0">
                <a:latin typeface="Calibri"/>
                <a:cs typeface="Calibri"/>
              </a:rPr>
              <a:t>branch</a:t>
            </a:r>
            <a:r>
              <a:rPr sz="2400" b="1" spc="-88" dirty="0">
                <a:latin typeface="Calibri"/>
                <a:cs typeface="Calibri"/>
              </a:rPr>
              <a:t> </a:t>
            </a:r>
            <a:r>
              <a:rPr sz="2400" b="1" spc="-18" dirty="0">
                <a:latin typeface="Calibri"/>
                <a:cs typeface="Calibri"/>
              </a:rPr>
              <a:t>direction</a:t>
            </a:r>
            <a:r>
              <a:rPr sz="2400" b="1" spc="-93" dirty="0">
                <a:latin typeface="Calibri"/>
                <a:cs typeface="Calibri"/>
              </a:rPr>
              <a:t> </a:t>
            </a:r>
            <a:r>
              <a:rPr sz="2400" b="1" dirty="0">
                <a:latin typeface="Calibri"/>
                <a:cs typeface="Calibri"/>
              </a:rPr>
              <a:t>is</a:t>
            </a:r>
            <a:r>
              <a:rPr sz="2400" b="1" spc="-79" dirty="0">
                <a:latin typeface="Calibri"/>
                <a:cs typeface="Calibri"/>
              </a:rPr>
              <a:t> </a:t>
            </a:r>
            <a:r>
              <a:rPr sz="2400" b="1" spc="-9" dirty="0">
                <a:latin typeface="Calibri"/>
                <a:cs typeface="Calibri"/>
              </a:rPr>
              <a:t>clearly</a:t>
            </a:r>
            <a:r>
              <a:rPr sz="2400" b="1" spc="-84" dirty="0">
                <a:latin typeface="Calibri"/>
                <a:cs typeface="Calibri"/>
              </a:rPr>
              <a:t> </a:t>
            </a:r>
            <a:r>
              <a:rPr sz="2400" b="1" spc="-9" dirty="0">
                <a:latin typeface="Calibri"/>
                <a:cs typeface="Calibri"/>
              </a:rPr>
              <a:t>known</a:t>
            </a:r>
            <a:endParaRPr sz="2400" dirty="0">
              <a:latin typeface="Calibri"/>
              <a:cs typeface="Calibri"/>
            </a:endParaRPr>
          </a:p>
          <a:p>
            <a:pPr marL="279602" indent="-268395">
              <a:spcBef>
                <a:spcPts val="507"/>
              </a:spcBef>
              <a:buFont typeface="Calibri"/>
              <a:buChar char="•"/>
              <a:tabLst>
                <a:tab pos="279602" algn="l"/>
              </a:tabLst>
            </a:pPr>
            <a:r>
              <a:rPr sz="2400" b="1" dirty="0">
                <a:latin typeface="Calibri"/>
                <a:cs typeface="Calibri"/>
              </a:rPr>
              <a:t>#2:</a:t>
            </a:r>
            <a:r>
              <a:rPr sz="2400" b="1" spc="-79" dirty="0">
                <a:latin typeface="Calibri"/>
                <a:cs typeface="Calibri"/>
              </a:rPr>
              <a:t> </a:t>
            </a:r>
            <a:r>
              <a:rPr sz="2400" b="1" spc="-9" dirty="0">
                <a:latin typeface="Calibri"/>
                <a:cs typeface="Calibri"/>
              </a:rPr>
              <a:t>Predict</a:t>
            </a:r>
            <a:r>
              <a:rPr sz="2400" b="1" spc="-84" dirty="0">
                <a:latin typeface="Calibri"/>
                <a:cs typeface="Calibri"/>
              </a:rPr>
              <a:t> </a:t>
            </a:r>
            <a:r>
              <a:rPr sz="2400" b="1" spc="-18" dirty="0">
                <a:latin typeface="Calibri"/>
                <a:cs typeface="Calibri"/>
              </a:rPr>
              <a:t>Branch</a:t>
            </a:r>
            <a:r>
              <a:rPr sz="2400" b="1" spc="-88" dirty="0">
                <a:latin typeface="Calibri"/>
                <a:cs typeface="Calibri"/>
              </a:rPr>
              <a:t> </a:t>
            </a:r>
            <a:r>
              <a:rPr sz="2400" b="1" dirty="0">
                <a:latin typeface="Calibri"/>
                <a:cs typeface="Calibri"/>
              </a:rPr>
              <a:t>Not</a:t>
            </a:r>
            <a:r>
              <a:rPr sz="2400" b="1" spc="-79" dirty="0">
                <a:latin typeface="Calibri"/>
                <a:cs typeface="Calibri"/>
              </a:rPr>
              <a:t> </a:t>
            </a:r>
            <a:r>
              <a:rPr sz="2400" b="1" spc="-9" dirty="0">
                <a:latin typeface="Calibri"/>
                <a:cs typeface="Calibri"/>
              </a:rPr>
              <a:t>Taken</a:t>
            </a:r>
            <a:r>
              <a:rPr sz="2400" b="1" spc="-93" dirty="0">
                <a:latin typeface="Calibri"/>
                <a:cs typeface="Calibri"/>
              </a:rPr>
              <a:t> </a:t>
            </a:r>
            <a:r>
              <a:rPr sz="2400" b="1" dirty="0">
                <a:latin typeface="Calibri"/>
                <a:cs typeface="Calibri"/>
              </a:rPr>
              <a:t>–</a:t>
            </a:r>
            <a:r>
              <a:rPr sz="2400" b="1" spc="-84" dirty="0">
                <a:latin typeface="Calibri"/>
                <a:cs typeface="Calibri"/>
              </a:rPr>
              <a:t> </a:t>
            </a:r>
            <a:r>
              <a:rPr sz="2400" b="1" dirty="0">
                <a:latin typeface="Calibri"/>
                <a:cs typeface="Calibri"/>
              </a:rPr>
              <a:t>Easy</a:t>
            </a:r>
            <a:r>
              <a:rPr sz="2400" b="1" spc="-88" dirty="0">
                <a:latin typeface="Calibri"/>
                <a:cs typeface="Calibri"/>
              </a:rPr>
              <a:t> </a:t>
            </a:r>
            <a:r>
              <a:rPr sz="2400" b="1" spc="-9" dirty="0">
                <a:latin typeface="Calibri"/>
                <a:cs typeface="Calibri"/>
              </a:rPr>
              <a:t>Solution</a:t>
            </a:r>
            <a:endParaRPr sz="2400" dirty="0">
              <a:latin typeface="Calibri"/>
              <a:cs typeface="Calibri"/>
            </a:endParaRPr>
          </a:p>
          <a:p>
            <a:pPr marL="654458" lvl="1" indent="-213483">
              <a:spcBef>
                <a:spcPts val="427"/>
              </a:spcBef>
              <a:buChar char="–"/>
              <a:tabLst>
                <a:tab pos="654458" algn="l"/>
              </a:tabLst>
            </a:pPr>
            <a:r>
              <a:rPr sz="2000" dirty="0">
                <a:latin typeface="Calibri"/>
                <a:cs typeface="Calibri"/>
              </a:rPr>
              <a:t>Execute</a:t>
            </a:r>
            <a:r>
              <a:rPr sz="2000" spc="4" dirty="0">
                <a:latin typeface="Calibri"/>
                <a:cs typeface="Calibri"/>
              </a:rPr>
              <a:t> </a:t>
            </a:r>
            <a:r>
              <a:rPr sz="2000" dirty="0">
                <a:latin typeface="Calibri"/>
                <a:cs typeface="Calibri"/>
              </a:rPr>
              <a:t>the</a:t>
            </a:r>
            <a:r>
              <a:rPr sz="2000" spc="9" dirty="0">
                <a:latin typeface="Calibri"/>
                <a:cs typeface="Calibri"/>
              </a:rPr>
              <a:t> </a:t>
            </a:r>
            <a:r>
              <a:rPr sz="2000" dirty="0">
                <a:latin typeface="Calibri"/>
                <a:cs typeface="Calibri"/>
              </a:rPr>
              <a:t>next instructions in</a:t>
            </a:r>
            <a:r>
              <a:rPr sz="2000" spc="9" dirty="0">
                <a:latin typeface="Calibri"/>
                <a:cs typeface="Calibri"/>
              </a:rPr>
              <a:t> </a:t>
            </a:r>
            <a:r>
              <a:rPr sz="2000" spc="-9" dirty="0">
                <a:latin typeface="Calibri"/>
                <a:cs typeface="Calibri"/>
              </a:rPr>
              <a:t>sequence</a:t>
            </a:r>
            <a:endParaRPr sz="2000" dirty="0">
              <a:latin typeface="Calibri"/>
              <a:cs typeface="Calibri"/>
            </a:endParaRPr>
          </a:p>
          <a:p>
            <a:pPr marL="654458" lvl="1" indent="-213483">
              <a:spcBef>
                <a:spcPts val="463"/>
              </a:spcBef>
              <a:buChar char="–"/>
              <a:tabLst>
                <a:tab pos="654458" algn="l"/>
              </a:tabLst>
            </a:pPr>
            <a:r>
              <a:rPr sz="2000" dirty="0">
                <a:latin typeface="Calibri"/>
                <a:cs typeface="Calibri"/>
              </a:rPr>
              <a:t>PC+4</a:t>
            </a:r>
            <a:r>
              <a:rPr sz="2000" spc="13" dirty="0">
                <a:latin typeface="Calibri"/>
                <a:cs typeface="Calibri"/>
              </a:rPr>
              <a:t> </a:t>
            </a:r>
            <a:r>
              <a:rPr sz="2000" dirty="0">
                <a:latin typeface="Calibri"/>
                <a:cs typeface="Calibri"/>
              </a:rPr>
              <a:t>already</a:t>
            </a:r>
            <a:r>
              <a:rPr sz="2000" spc="13" dirty="0">
                <a:latin typeface="Calibri"/>
                <a:cs typeface="Calibri"/>
              </a:rPr>
              <a:t> </a:t>
            </a:r>
            <a:r>
              <a:rPr sz="2000" dirty="0">
                <a:latin typeface="Calibri"/>
                <a:cs typeface="Calibri"/>
              </a:rPr>
              <a:t>calculated,</a:t>
            </a:r>
            <a:r>
              <a:rPr sz="2000" spc="13" dirty="0">
                <a:latin typeface="Calibri"/>
                <a:cs typeface="Calibri"/>
              </a:rPr>
              <a:t> </a:t>
            </a:r>
            <a:r>
              <a:rPr sz="2000" dirty="0">
                <a:latin typeface="Calibri"/>
                <a:cs typeface="Calibri"/>
              </a:rPr>
              <a:t>so</a:t>
            </a:r>
            <a:r>
              <a:rPr sz="2000" spc="18" dirty="0">
                <a:latin typeface="Calibri"/>
                <a:cs typeface="Calibri"/>
              </a:rPr>
              <a:t> </a:t>
            </a:r>
            <a:r>
              <a:rPr sz="2000" dirty="0">
                <a:latin typeface="Calibri"/>
                <a:cs typeface="Calibri"/>
              </a:rPr>
              <a:t>use</a:t>
            </a:r>
            <a:r>
              <a:rPr sz="2000" spc="18" dirty="0">
                <a:latin typeface="Calibri"/>
                <a:cs typeface="Calibri"/>
              </a:rPr>
              <a:t> </a:t>
            </a:r>
            <a:r>
              <a:rPr sz="2000" dirty="0">
                <a:latin typeface="Calibri"/>
                <a:cs typeface="Calibri"/>
              </a:rPr>
              <a:t>it</a:t>
            </a:r>
            <a:r>
              <a:rPr sz="2000" spc="9" dirty="0">
                <a:latin typeface="Calibri"/>
                <a:cs typeface="Calibri"/>
              </a:rPr>
              <a:t> </a:t>
            </a:r>
            <a:r>
              <a:rPr sz="2000" dirty="0">
                <a:latin typeface="Calibri"/>
                <a:cs typeface="Calibri"/>
              </a:rPr>
              <a:t>to</a:t>
            </a:r>
            <a:r>
              <a:rPr sz="2000" spc="18" dirty="0">
                <a:latin typeface="Calibri"/>
                <a:cs typeface="Calibri"/>
              </a:rPr>
              <a:t> </a:t>
            </a:r>
            <a:r>
              <a:rPr sz="2000" dirty="0">
                <a:latin typeface="Calibri"/>
                <a:cs typeface="Calibri"/>
              </a:rPr>
              <a:t>get</a:t>
            </a:r>
            <a:r>
              <a:rPr sz="2000" spc="9" dirty="0">
                <a:latin typeface="Calibri"/>
                <a:cs typeface="Calibri"/>
              </a:rPr>
              <a:t> </a:t>
            </a:r>
            <a:r>
              <a:rPr sz="2000" dirty="0">
                <a:latin typeface="Calibri"/>
                <a:cs typeface="Calibri"/>
              </a:rPr>
              <a:t>next</a:t>
            </a:r>
            <a:r>
              <a:rPr sz="2000" spc="9" dirty="0">
                <a:latin typeface="Calibri"/>
                <a:cs typeface="Calibri"/>
              </a:rPr>
              <a:t> </a:t>
            </a:r>
            <a:r>
              <a:rPr sz="2000" spc="-9" dirty="0">
                <a:latin typeface="Calibri"/>
                <a:cs typeface="Calibri"/>
              </a:rPr>
              <a:t>instruction</a:t>
            </a:r>
            <a:endParaRPr sz="2000" dirty="0">
              <a:latin typeface="Calibri"/>
              <a:cs typeface="Calibri"/>
            </a:endParaRPr>
          </a:p>
          <a:p>
            <a:pPr marL="654458" lvl="1" indent="-213483">
              <a:spcBef>
                <a:spcPts val="446"/>
              </a:spcBef>
              <a:buChar char="–"/>
              <a:tabLst>
                <a:tab pos="654458" algn="l"/>
              </a:tabLst>
            </a:pPr>
            <a:r>
              <a:rPr sz="2000" dirty="0">
                <a:latin typeface="Calibri"/>
                <a:cs typeface="Calibri"/>
              </a:rPr>
              <a:t>Nullify</a:t>
            </a:r>
            <a:r>
              <a:rPr sz="2000" spc="9" dirty="0">
                <a:latin typeface="Calibri"/>
                <a:cs typeface="Calibri"/>
              </a:rPr>
              <a:t> </a:t>
            </a:r>
            <a:r>
              <a:rPr sz="2000" dirty="0">
                <a:latin typeface="Calibri"/>
                <a:cs typeface="Calibri"/>
              </a:rPr>
              <a:t>bad</a:t>
            </a:r>
            <a:r>
              <a:rPr sz="2000" spc="18" dirty="0">
                <a:latin typeface="Calibri"/>
                <a:cs typeface="Calibri"/>
              </a:rPr>
              <a:t> </a:t>
            </a:r>
            <a:r>
              <a:rPr sz="2000" dirty="0">
                <a:latin typeface="Calibri"/>
                <a:cs typeface="Calibri"/>
              </a:rPr>
              <a:t>instructions</a:t>
            </a:r>
            <a:r>
              <a:rPr sz="2000" spc="4" dirty="0">
                <a:latin typeface="Calibri"/>
                <a:cs typeface="Calibri"/>
              </a:rPr>
              <a:t> </a:t>
            </a:r>
            <a:r>
              <a:rPr sz="2000" dirty="0">
                <a:latin typeface="Calibri"/>
                <a:cs typeface="Calibri"/>
              </a:rPr>
              <a:t>in</a:t>
            </a:r>
            <a:r>
              <a:rPr sz="2000" spc="22" dirty="0">
                <a:latin typeface="Calibri"/>
                <a:cs typeface="Calibri"/>
              </a:rPr>
              <a:t> </a:t>
            </a:r>
            <a:r>
              <a:rPr sz="2000" dirty="0">
                <a:latin typeface="Calibri"/>
                <a:cs typeface="Calibri"/>
              </a:rPr>
              <a:t>pipeline</a:t>
            </a:r>
            <a:r>
              <a:rPr sz="2000" spc="18" dirty="0">
                <a:latin typeface="Calibri"/>
                <a:cs typeface="Calibri"/>
              </a:rPr>
              <a:t> </a:t>
            </a:r>
            <a:r>
              <a:rPr sz="2000" dirty="0">
                <a:latin typeface="Calibri"/>
                <a:cs typeface="Calibri"/>
              </a:rPr>
              <a:t>if</a:t>
            </a:r>
            <a:r>
              <a:rPr sz="2000" spc="9" dirty="0">
                <a:latin typeface="Calibri"/>
                <a:cs typeface="Calibri"/>
              </a:rPr>
              <a:t> </a:t>
            </a:r>
            <a:r>
              <a:rPr sz="2000" dirty="0">
                <a:latin typeface="Calibri"/>
                <a:cs typeface="Calibri"/>
              </a:rPr>
              <a:t>branch</a:t>
            </a:r>
            <a:r>
              <a:rPr sz="2000" spc="18" dirty="0">
                <a:latin typeface="Calibri"/>
                <a:cs typeface="Calibri"/>
              </a:rPr>
              <a:t> </a:t>
            </a:r>
            <a:r>
              <a:rPr sz="2000" dirty="0">
                <a:latin typeface="Calibri"/>
                <a:cs typeface="Calibri"/>
              </a:rPr>
              <a:t>is</a:t>
            </a:r>
            <a:r>
              <a:rPr sz="2000" spc="9" dirty="0">
                <a:latin typeface="Calibri"/>
                <a:cs typeface="Calibri"/>
              </a:rPr>
              <a:t> </a:t>
            </a:r>
            <a:r>
              <a:rPr sz="2000" dirty="0">
                <a:latin typeface="Calibri"/>
                <a:cs typeface="Calibri"/>
              </a:rPr>
              <a:t>actually</a:t>
            </a:r>
            <a:r>
              <a:rPr sz="2000" spc="9" dirty="0">
                <a:latin typeface="Calibri"/>
                <a:cs typeface="Calibri"/>
              </a:rPr>
              <a:t> </a:t>
            </a:r>
            <a:r>
              <a:rPr sz="2000" spc="-9" dirty="0">
                <a:latin typeface="Calibri"/>
                <a:cs typeface="Calibri"/>
              </a:rPr>
              <a:t>taken</a:t>
            </a:r>
            <a:endParaRPr sz="2000" dirty="0">
              <a:latin typeface="Calibri"/>
              <a:cs typeface="Calibri"/>
            </a:endParaRPr>
          </a:p>
          <a:p>
            <a:pPr marL="654458" lvl="1" indent="-213483">
              <a:spcBef>
                <a:spcPts val="383"/>
              </a:spcBef>
              <a:buChar char="–"/>
              <a:tabLst>
                <a:tab pos="654458" algn="l"/>
              </a:tabLst>
            </a:pPr>
            <a:r>
              <a:rPr sz="2000" dirty="0">
                <a:latin typeface="Calibri"/>
                <a:cs typeface="Calibri"/>
              </a:rPr>
              <a:t>Nullify</a:t>
            </a:r>
            <a:r>
              <a:rPr sz="2000" spc="4" dirty="0">
                <a:latin typeface="Calibri"/>
                <a:cs typeface="Calibri"/>
              </a:rPr>
              <a:t> </a:t>
            </a:r>
            <a:r>
              <a:rPr sz="2000" dirty="0">
                <a:latin typeface="Calibri"/>
                <a:cs typeface="Calibri"/>
              </a:rPr>
              <a:t>easier</a:t>
            </a:r>
            <a:r>
              <a:rPr sz="2000" spc="4" dirty="0">
                <a:latin typeface="Calibri"/>
                <a:cs typeface="Calibri"/>
              </a:rPr>
              <a:t> </a:t>
            </a:r>
            <a:r>
              <a:rPr sz="2000" dirty="0">
                <a:latin typeface="Calibri"/>
                <a:cs typeface="Calibri"/>
              </a:rPr>
              <a:t>since</a:t>
            </a:r>
            <a:r>
              <a:rPr sz="2000" spc="18" dirty="0">
                <a:latin typeface="Calibri"/>
                <a:cs typeface="Calibri"/>
              </a:rPr>
              <a:t> </a:t>
            </a:r>
            <a:r>
              <a:rPr sz="2000" dirty="0">
                <a:latin typeface="Calibri"/>
                <a:cs typeface="Calibri"/>
              </a:rPr>
              <a:t>pipeline</a:t>
            </a:r>
            <a:r>
              <a:rPr sz="2000" spc="18" dirty="0">
                <a:latin typeface="Calibri"/>
                <a:cs typeface="Calibri"/>
              </a:rPr>
              <a:t> </a:t>
            </a:r>
            <a:r>
              <a:rPr sz="2000" dirty="0">
                <a:latin typeface="Calibri"/>
                <a:cs typeface="Calibri"/>
              </a:rPr>
              <a:t>state</a:t>
            </a:r>
            <a:r>
              <a:rPr sz="2000" spc="18" dirty="0">
                <a:latin typeface="Calibri"/>
                <a:cs typeface="Calibri"/>
              </a:rPr>
              <a:t> </a:t>
            </a:r>
            <a:r>
              <a:rPr sz="2000" dirty="0">
                <a:latin typeface="Calibri"/>
                <a:cs typeface="Calibri"/>
              </a:rPr>
              <a:t>updates</a:t>
            </a:r>
            <a:r>
              <a:rPr sz="2000" spc="4" dirty="0">
                <a:latin typeface="Calibri"/>
                <a:cs typeface="Calibri"/>
              </a:rPr>
              <a:t> </a:t>
            </a:r>
            <a:r>
              <a:rPr sz="2000" dirty="0">
                <a:latin typeface="Calibri"/>
                <a:cs typeface="Calibri"/>
              </a:rPr>
              <a:t>are</a:t>
            </a:r>
            <a:r>
              <a:rPr sz="2000" spc="13" dirty="0">
                <a:latin typeface="Calibri"/>
                <a:cs typeface="Calibri"/>
              </a:rPr>
              <a:t> </a:t>
            </a:r>
            <a:r>
              <a:rPr sz="2000" dirty="0">
                <a:latin typeface="Calibri"/>
                <a:cs typeface="Calibri"/>
              </a:rPr>
              <a:t>late</a:t>
            </a:r>
            <a:r>
              <a:rPr sz="2000" spc="18" dirty="0">
                <a:latin typeface="Calibri"/>
                <a:cs typeface="Calibri"/>
              </a:rPr>
              <a:t> </a:t>
            </a:r>
            <a:r>
              <a:rPr sz="2000" dirty="0">
                <a:latin typeface="Calibri"/>
                <a:cs typeface="Calibri"/>
              </a:rPr>
              <a:t>(MEM,</a:t>
            </a:r>
            <a:r>
              <a:rPr sz="2000" spc="9" dirty="0">
                <a:latin typeface="Calibri"/>
                <a:cs typeface="Calibri"/>
              </a:rPr>
              <a:t> </a:t>
            </a:r>
            <a:r>
              <a:rPr sz="2000" spc="-22" dirty="0">
                <a:latin typeface="Calibri"/>
                <a:cs typeface="Calibri"/>
              </a:rPr>
              <a:t>WB)</a:t>
            </a:r>
            <a:endParaRPr sz="2000" dirty="0">
              <a:latin typeface="Calibri"/>
              <a:cs typeface="Calibri"/>
            </a:endParaRPr>
          </a:p>
          <a:p>
            <a:pPr marL="654458" lvl="1" indent="-213483">
              <a:spcBef>
                <a:spcPts val="463"/>
              </a:spcBef>
              <a:buChar char="–"/>
              <a:tabLst>
                <a:tab pos="654458" algn="l"/>
              </a:tabLst>
            </a:pPr>
            <a:r>
              <a:rPr sz="2000" dirty="0">
                <a:latin typeface="Calibri"/>
                <a:cs typeface="Calibri"/>
              </a:rPr>
              <a:t>47%</a:t>
            </a:r>
            <a:r>
              <a:rPr sz="2000" spc="18" dirty="0">
                <a:latin typeface="Calibri"/>
                <a:cs typeface="Calibri"/>
              </a:rPr>
              <a:t> </a:t>
            </a:r>
            <a:r>
              <a:rPr sz="2000" dirty="0">
                <a:latin typeface="Calibri"/>
                <a:cs typeface="Calibri"/>
              </a:rPr>
              <a:t>MIPS</a:t>
            </a:r>
            <a:r>
              <a:rPr sz="2000" spc="9" dirty="0">
                <a:latin typeface="Calibri"/>
                <a:cs typeface="Calibri"/>
              </a:rPr>
              <a:t> </a:t>
            </a:r>
            <a:r>
              <a:rPr sz="2000" dirty="0">
                <a:latin typeface="Calibri"/>
                <a:cs typeface="Calibri"/>
              </a:rPr>
              <a:t>branches</a:t>
            </a:r>
            <a:r>
              <a:rPr sz="2000" spc="9" dirty="0">
                <a:latin typeface="Calibri"/>
                <a:cs typeface="Calibri"/>
              </a:rPr>
              <a:t> </a:t>
            </a:r>
            <a:r>
              <a:rPr sz="2000" dirty="0">
                <a:latin typeface="Calibri"/>
                <a:cs typeface="Calibri"/>
              </a:rPr>
              <a:t>not</a:t>
            </a:r>
            <a:r>
              <a:rPr sz="2000" spc="4" dirty="0">
                <a:latin typeface="Calibri"/>
                <a:cs typeface="Calibri"/>
              </a:rPr>
              <a:t> </a:t>
            </a:r>
            <a:r>
              <a:rPr sz="2000" dirty="0">
                <a:latin typeface="Calibri"/>
                <a:cs typeface="Calibri"/>
              </a:rPr>
              <a:t>taken</a:t>
            </a:r>
            <a:r>
              <a:rPr sz="2000" spc="22" dirty="0">
                <a:latin typeface="Calibri"/>
                <a:cs typeface="Calibri"/>
              </a:rPr>
              <a:t> </a:t>
            </a:r>
            <a:r>
              <a:rPr sz="2000" dirty="0">
                <a:latin typeface="Calibri"/>
                <a:cs typeface="Calibri"/>
              </a:rPr>
              <a:t>on</a:t>
            </a:r>
            <a:r>
              <a:rPr sz="2000" spc="18" dirty="0">
                <a:latin typeface="Calibri"/>
                <a:cs typeface="Calibri"/>
              </a:rPr>
              <a:t> </a:t>
            </a:r>
            <a:r>
              <a:rPr sz="2000" spc="-9" dirty="0">
                <a:latin typeface="Calibri"/>
                <a:cs typeface="Calibri"/>
              </a:rPr>
              <a:t>average</a:t>
            </a:r>
            <a:endParaRPr sz="2000" dirty="0">
              <a:latin typeface="Calibri"/>
              <a:cs typeface="Calibri"/>
            </a:endParaRPr>
          </a:p>
          <a:p>
            <a:pPr marL="279602" indent="-268395">
              <a:spcBef>
                <a:spcPts val="441"/>
              </a:spcBef>
              <a:buFont typeface="Calibri"/>
              <a:buChar char="•"/>
              <a:tabLst>
                <a:tab pos="279602" algn="l"/>
              </a:tabLst>
            </a:pPr>
            <a:r>
              <a:rPr sz="2400" b="1" dirty="0">
                <a:latin typeface="Calibri"/>
                <a:cs typeface="Calibri"/>
              </a:rPr>
              <a:t>#3:</a:t>
            </a:r>
            <a:r>
              <a:rPr sz="2400" b="1" spc="-84" dirty="0">
                <a:latin typeface="Calibri"/>
                <a:cs typeface="Calibri"/>
              </a:rPr>
              <a:t> </a:t>
            </a:r>
            <a:r>
              <a:rPr sz="2400" b="1" spc="-9" dirty="0">
                <a:latin typeface="Calibri"/>
                <a:cs typeface="Calibri"/>
              </a:rPr>
              <a:t>Predict</a:t>
            </a:r>
            <a:r>
              <a:rPr sz="2400" b="1" spc="-79" dirty="0">
                <a:latin typeface="Calibri"/>
                <a:cs typeface="Calibri"/>
              </a:rPr>
              <a:t> </a:t>
            </a:r>
            <a:r>
              <a:rPr sz="2400" b="1" spc="-18" dirty="0">
                <a:latin typeface="Calibri"/>
                <a:cs typeface="Calibri"/>
              </a:rPr>
              <a:t>Branch</a:t>
            </a:r>
            <a:r>
              <a:rPr sz="2400" b="1" spc="-93" dirty="0">
                <a:latin typeface="Calibri"/>
                <a:cs typeface="Calibri"/>
              </a:rPr>
              <a:t> </a:t>
            </a:r>
            <a:r>
              <a:rPr sz="2400" b="1" spc="-9" dirty="0">
                <a:latin typeface="Calibri"/>
                <a:cs typeface="Calibri"/>
              </a:rPr>
              <a:t>Taken</a:t>
            </a:r>
            <a:endParaRPr sz="2400" dirty="0">
              <a:latin typeface="Calibri"/>
              <a:cs typeface="Calibri"/>
            </a:endParaRPr>
          </a:p>
          <a:p>
            <a:pPr marL="654458" lvl="1" indent="-213483">
              <a:spcBef>
                <a:spcPts val="512"/>
              </a:spcBef>
              <a:buChar char="–"/>
              <a:tabLst>
                <a:tab pos="654458" algn="l"/>
              </a:tabLst>
            </a:pPr>
            <a:r>
              <a:rPr sz="2000" dirty="0">
                <a:latin typeface="Calibri"/>
                <a:cs typeface="Calibri"/>
              </a:rPr>
              <a:t>53%</a:t>
            </a:r>
            <a:r>
              <a:rPr sz="2000" spc="13" dirty="0">
                <a:latin typeface="Calibri"/>
                <a:cs typeface="Calibri"/>
              </a:rPr>
              <a:t> </a:t>
            </a:r>
            <a:r>
              <a:rPr sz="2000" dirty="0">
                <a:latin typeface="Calibri"/>
                <a:cs typeface="Calibri"/>
              </a:rPr>
              <a:t>MIPS</a:t>
            </a:r>
            <a:r>
              <a:rPr sz="2000" spc="9" dirty="0">
                <a:latin typeface="Calibri"/>
                <a:cs typeface="Calibri"/>
              </a:rPr>
              <a:t> </a:t>
            </a:r>
            <a:r>
              <a:rPr sz="2000" dirty="0">
                <a:latin typeface="Calibri"/>
                <a:cs typeface="Calibri"/>
              </a:rPr>
              <a:t>branches</a:t>
            </a:r>
            <a:r>
              <a:rPr sz="2000" spc="4" dirty="0">
                <a:latin typeface="Calibri"/>
                <a:cs typeface="Calibri"/>
              </a:rPr>
              <a:t> </a:t>
            </a:r>
            <a:r>
              <a:rPr sz="2000" dirty="0">
                <a:latin typeface="Calibri"/>
                <a:cs typeface="Calibri"/>
              </a:rPr>
              <a:t>taken</a:t>
            </a:r>
            <a:r>
              <a:rPr sz="2000" spc="18" dirty="0">
                <a:latin typeface="Calibri"/>
                <a:cs typeface="Calibri"/>
              </a:rPr>
              <a:t> </a:t>
            </a:r>
            <a:r>
              <a:rPr sz="2000" dirty="0">
                <a:latin typeface="Calibri"/>
                <a:cs typeface="Calibri"/>
              </a:rPr>
              <a:t>on</a:t>
            </a:r>
            <a:r>
              <a:rPr sz="2000" spc="18" dirty="0">
                <a:latin typeface="Calibri"/>
                <a:cs typeface="Calibri"/>
              </a:rPr>
              <a:t> </a:t>
            </a:r>
            <a:r>
              <a:rPr sz="2000" spc="-9" dirty="0">
                <a:latin typeface="Calibri"/>
                <a:cs typeface="Calibri"/>
              </a:rPr>
              <a:t>average</a:t>
            </a:r>
            <a:endParaRPr sz="2000" dirty="0">
              <a:latin typeface="Calibri"/>
              <a:cs typeface="Calibri"/>
            </a:endParaRPr>
          </a:p>
          <a:p>
            <a:pPr marL="654458" lvl="1" indent="-213483">
              <a:spcBef>
                <a:spcPts val="468"/>
              </a:spcBef>
              <a:buChar char="–"/>
              <a:tabLst>
                <a:tab pos="654458" algn="l"/>
              </a:tabLst>
            </a:pPr>
            <a:r>
              <a:rPr sz="2000" dirty="0">
                <a:solidFill>
                  <a:srgbClr val="FF0000"/>
                </a:solidFill>
                <a:latin typeface="Calibri"/>
                <a:cs typeface="Calibri"/>
              </a:rPr>
              <a:t>But</a:t>
            </a:r>
            <a:r>
              <a:rPr sz="2000" spc="4" dirty="0">
                <a:solidFill>
                  <a:srgbClr val="FF0000"/>
                </a:solidFill>
                <a:latin typeface="Calibri"/>
                <a:cs typeface="Calibri"/>
              </a:rPr>
              <a:t> </a:t>
            </a:r>
            <a:r>
              <a:rPr sz="2000" dirty="0">
                <a:solidFill>
                  <a:srgbClr val="FF0000"/>
                </a:solidFill>
                <a:latin typeface="Calibri"/>
                <a:cs typeface="Calibri"/>
              </a:rPr>
              <a:t>have</a:t>
            </a:r>
            <a:r>
              <a:rPr sz="2000" spc="18" dirty="0">
                <a:solidFill>
                  <a:srgbClr val="FF0000"/>
                </a:solidFill>
                <a:latin typeface="Calibri"/>
                <a:cs typeface="Calibri"/>
              </a:rPr>
              <a:t> </a:t>
            </a:r>
            <a:r>
              <a:rPr sz="2000" dirty="0">
                <a:solidFill>
                  <a:srgbClr val="FF0000"/>
                </a:solidFill>
                <a:latin typeface="Calibri"/>
                <a:cs typeface="Calibri"/>
              </a:rPr>
              <a:t>not</a:t>
            </a:r>
            <a:r>
              <a:rPr sz="2000" spc="9" dirty="0">
                <a:solidFill>
                  <a:srgbClr val="FF0000"/>
                </a:solidFill>
                <a:latin typeface="Calibri"/>
                <a:cs typeface="Calibri"/>
              </a:rPr>
              <a:t> </a:t>
            </a:r>
            <a:r>
              <a:rPr sz="2000" dirty="0">
                <a:solidFill>
                  <a:srgbClr val="FF0000"/>
                </a:solidFill>
                <a:latin typeface="Calibri"/>
                <a:cs typeface="Calibri"/>
              </a:rPr>
              <a:t>calculated</a:t>
            </a:r>
            <a:r>
              <a:rPr sz="2000" spc="18" dirty="0">
                <a:solidFill>
                  <a:srgbClr val="FF0000"/>
                </a:solidFill>
                <a:latin typeface="Calibri"/>
                <a:cs typeface="Calibri"/>
              </a:rPr>
              <a:t> </a:t>
            </a:r>
            <a:r>
              <a:rPr sz="2000" dirty="0">
                <a:solidFill>
                  <a:srgbClr val="FF0000"/>
                </a:solidFill>
                <a:latin typeface="Calibri"/>
                <a:cs typeface="Calibri"/>
              </a:rPr>
              <a:t>branch</a:t>
            </a:r>
            <a:r>
              <a:rPr sz="2000" spc="18" dirty="0">
                <a:solidFill>
                  <a:srgbClr val="FF0000"/>
                </a:solidFill>
                <a:latin typeface="Calibri"/>
                <a:cs typeface="Calibri"/>
              </a:rPr>
              <a:t> </a:t>
            </a:r>
            <a:r>
              <a:rPr sz="2000" dirty="0">
                <a:solidFill>
                  <a:srgbClr val="FF0000"/>
                </a:solidFill>
                <a:latin typeface="Calibri"/>
                <a:cs typeface="Calibri"/>
              </a:rPr>
              <a:t>target</a:t>
            </a:r>
            <a:r>
              <a:rPr sz="2000" spc="9" dirty="0">
                <a:solidFill>
                  <a:srgbClr val="FF0000"/>
                </a:solidFill>
                <a:latin typeface="Calibri"/>
                <a:cs typeface="Calibri"/>
              </a:rPr>
              <a:t> </a:t>
            </a:r>
            <a:r>
              <a:rPr sz="2000" dirty="0">
                <a:solidFill>
                  <a:srgbClr val="FF0000"/>
                </a:solidFill>
                <a:latin typeface="Calibri"/>
                <a:cs typeface="Calibri"/>
              </a:rPr>
              <a:t>address</a:t>
            </a:r>
            <a:r>
              <a:rPr sz="2000" spc="4" dirty="0">
                <a:solidFill>
                  <a:srgbClr val="FF0000"/>
                </a:solidFill>
                <a:latin typeface="Calibri"/>
                <a:cs typeface="Calibri"/>
              </a:rPr>
              <a:t> </a:t>
            </a:r>
            <a:r>
              <a:rPr sz="2000" dirty="0">
                <a:solidFill>
                  <a:srgbClr val="FF0000"/>
                </a:solidFill>
                <a:latin typeface="Calibri"/>
                <a:cs typeface="Calibri"/>
              </a:rPr>
              <a:t>in</a:t>
            </a:r>
            <a:r>
              <a:rPr sz="2000" spc="18" dirty="0">
                <a:solidFill>
                  <a:srgbClr val="FF0000"/>
                </a:solidFill>
                <a:latin typeface="Calibri"/>
                <a:cs typeface="Calibri"/>
              </a:rPr>
              <a:t> </a:t>
            </a:r>
            <a:r>
              <a:rPr sz="2000" spc="-18" dirty="0">
                <a:solidFill>
                  <a:srgbClr val="FF0000"/>
                </a:solidFill>
                <a:latin typeface="Calibri"/>
                <a:cs typeface="Calibri"/>
              </a:rPr>
              <a:t>MIPS</a:t>
            </a:r>
            <a:endParaRPr sz="2000" dirty="0">
              <a:latin typeface="Calibri"/>
              <a:cs typeface="Calibri"/>
            </a:endParaRPr>
          </a:p>
          <a:p>
            <a:pPr marL="871304">
              <a:spcBef>
                <a:spcPts val="379"/>
              </a:spcBef>
            </a:pPr>
            <a:r>
              <a:rPr sz="2000" dirty="0">
                <a:latin typeface="Calibri"/>
                <a:cs typeface="Calibri"/>
              </a:rPr>
              <a:t>»</a:t>
            </a:r>
            <a:r>
              <a:rPr sz="2000" spc="35" dirty="0">
                <a:latin typeface="Calibri"/>
                <a:cs typeface="Calibri"/>
              </a:rPr>
              <a:t>  </a:t>
            </a:r>
            <a:r>
              <a:rPr sz="2000" dirty="0">
                <a:latin typeface="Calibri"/>
                <a:cs typeface="Calibri"/>
              </a:rPr>
              <a:t>MIPS</a:t>
            </a:r>
            <a:r>
              <a:rPr sz="2000" spc="13" dirty="0">
                <a:latin typeface="Calibri"/>
                <a:cs typeface="Calibri"/>
              </a:rPr>
              <a:t> </a:t>
            </a:r>
            <a:r>
              <a:rPr sz="2000" dirty="0">
                <a:latin typeface="Calibri"/>
                <a:cs typeface="Calibri"/>
              </a:rPr>
              <a:t>still</a:t>
            </a:r>
            <a:r>
              <a:rPr sz="2000" spc="9" dirty="0">
                <a:latin typeface="Calibri"/>
                <a:cs typeface="Calibri"/>
              </a:rPr>
              <a:t> </a:t>
            </a:r>
            <a:r>
              <a:rPr sz="2000" dirty="0">
                <a:latin typeface="Calibri"/>
                <a:cs typeface="Calibri"/>
              </a:rPr>
              <a:t>incurs</a:t>
            </a:r>
            <a:r>
              <a:rPr sz="2000" spc="9" dirty="0">
                <a:latin typeface="Calibri"/>
                <a:cs typeface="Calibri"/>
              </a:rPr>
              <a:t> </a:t>
            </a:r>
            <a:r>
              <a:rPr sz="2000" dirty="0">
                <a:latin typeface="Calibri"/>
                <a:cs typeface="Calibri"/>
              </a:rPr>
              <a:t>1</a:t>
            </a:r>
            <a:r>
              <a:rPr sz="2000" spc="13" dirty="0">
                <a:latin typeface="Calibri"/>
                <a:cs typeface="Calibri"/>
              </a:rPr>
              <a:t> </a:t>
            </a:r>
            <a:r>
              <a:rPr sz="2000" dirty="0">
                <a:latin typeface="Calibri"/>
                <a:cs typeface="Calibri"/>
              </a:rPr>
              <a:t>cycle</a:t>
            </a:r>
            <a:r>
              <a:rPr sz="2000" spc="18" dirty="0">
                <a:latin typeface="Calibri"/>
                <a:cs typeface="Calibri"/>
              </a:rPr>
              <a:t> </a:t>
            </a:r>
            <a:r>
              <a:rPr sz="2000" dirty="0">
                <a:latin typeface="Calibri"/>
                <a:cs typeface="Calibri"/>
              </a:rPr>
              <a:t>branch</a:t>
            </a:r>
            <a:r>
              <a:rPr sz="2000" spc="18" dirty="0">
                <a:latin typeface="Calibri"/>
                <a:cs typeface="Calibri"/>
              </a:rPr>
              <a:t> </a:t>
            </a:r>
            <a:r>
              <a:rPr sz="2000" spc="-9" dirty="0">
                <a:latin typeface="Calibri"/>
                <a:cs typeface="Calibri"/>
              </a:rPr>
              <a:t>penalty</a:t>
            </a:r>
            <a:endParaRPr sz="2000" dirty="0">
              <a:latin typeface="Calibri"/>
              <a:cs typeface="Calibri"/>
            </a:endParaRPr>
          </a:p>
          <a:p>
            <a:pPr marL="871304">
              <a:spcBef>
                <a:spcPts val="446"/>
              </a:spcBef>
            </a:pPr>
            <a:r>
              <a:rPr sz="2000" dirty="0">
                <a:latin typeface="Calibri"/>
                <a:cs typeface="Calibri"/>
              </a:rPr>
              <a:t>»</a:t>
            </a:r>
            <a:r>
              <a:rPr sz="2000" spc="31" dirty="0">
                <a:latin typeface="Calibri"/>
                <a:cs typeface="Calibri"/>
              </a:rPr>
              <a:t>  </a:t>
            </a:r>
            <a:r>
              <a:rPr sz="2000" dirty="0">
                <a:latin typeface="Calibri"/>
                <a:cs typeface="Calibri"/>
              </a:rPr>
              <a:t>Some</a:t>
            </a:r>
            <a:r>
              <a:rPr sz="2000" spc="18" dirty="0">
                <a:latin typeface="Calibri"/>
                <a:cs typeface="Calibri"/>
              </a:rPr>
              <a:t> </a:t>
            </a:r>
            <a:r>
              <a:rPr sz="2000" dirty="0">
                <a:latin typeface="Calibri"/>
                <a:cs typeface="Calibri"/>
              </a:rPr>
              <a:t>other</a:t>
            </a:r>
            <a:r>
              <a:rPr sz="2000" spc="4" dirty="0">
                <a:latin typeface="Calibri"/>
                <a:cs typeface="Calibri"/>
              </a:rPr>
              <a:t> </a:t>
            </a:r>
            <a:r>
              <a:rPr sz="2000" dirty="0">
                <a:latin typeface="Calibri"/>
                <a:cs typeface="Calibri"/>
              </a:rPr>
              <a:t>CPUs:</a:t>
            </a:r>
            <a:r>
              <a:rPr sz="2000" spc="13" dirty="0">
                <a:latin typeface="Calibri"/>
                <a:cs typeface="Calibri"/>
              </a:rPr>
              <a:t> </a:t>
            </a:r>
            <a:r>
              <a:rPr sz="2000" dirty="0">
                <a:latin typeface="Calibri"/>
                <a:cs typeface="Calibri"/>
              </a:rPr>
              <a:t>branch</a:t>
            </a:r>
            <a:r>
              <a:rPr sz="2000" spc="18" dirty="0">
                <a:latin typeface="Calibri"/>
                <a:cs typeface="Calibri"/>
              </a:rPr>
              <a:t> </a:t>
            </a:r>
            <a:r>
              <a:rPr sz="2000" dirty="0">
                <a:latin typeface="Calibri"/>
                <a:cs typeface="Calibri"/>
              </a:rPr>
              <a:t>target</a:t>
            </a:r>
            <a:r>
              <a:rPr sz="2000" spc="4" dirty="0">
                <a:latin typeface="Calibri"/>
                <a:cs typeface="Calibri"/>
              </a:rPr>
              <a:t> </a:t>
            </a:r>
            <a:r>
              <a:rPr sz="2000" dirty="0">
                <a:latin typeface="Calibri"/>
                <a:cs typeface="Calibri"/>
              </a:rPr>
              <a:t>known</a:t>
            </a:r>
            <a:r>
              <a:rPr sz="2000" spc="13" dirty="0">
                <a:latin typeface="Calibri"/>
                <a:cs typeface="Calibri"/>
              </a:rPr>
              <a:t> </a:t>
            </a:r>
            <a:r>
              <a:rPr sz="2000" dirty="0">
                <a:latin typeface="Calibri"/>
                <a:cs typeface="Calibri"/>
              </a:rPr>
              <a:t>before</a:t>
            </a:r>
            <a:r>
              <a:rPr sz="2000" spc="13" dirty="0">
                <a:latin typeface="Calibri"/>
                <a:cs typeface="Calibri"/>
              </a:rPr>
              <a:t> </a:t>
            </a:r>
            <a:r>
              <a:rPr sz="2000" spc="-9" dirty="0">
                <a:latin typeface="Calibri"/>
                <a:cs typeface="Calibri"/>
              </a:rPr>
              <a:t>outcome</a:t>
            </a:r>
            <a:endParaRPr sz="20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500"/>
                                        <p:tgtEl>
                                          <p:spTgt spid="3">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fade">
                                      <p:cBhvr>
                                        <p:cTn id="39"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0228" y="612100"/>
            <a:ext cx="6837787" cy="589755"/>
          </a:xfrm>
          <a:prstGeom prst="rect">
            <a:avLst/>
          </a:prstGeom>
        </p:spPr>
        <p:txBody>
          <a:bodyPr vert="horz" wrap="square" lIns="0" tIns="126851" rIns="0" bIns="0" rtlCol="0" anchor="ctr">
            <a:spAutoFit/>
          </a:bodyPr>
          <a:lstStyle/>
          <a:p>
            <a:pPr marL="11206">
              <a:lnSpc>
                <a:spcPct val="100000"/>
              </a:lnSpc>
              <a:spcBef>
                <a:spcPts val="88"/>
              </a:spcBef>
            </a:pPr>
            <a:r>
              <a:rPr dirty="0"/>
              <a:t>Last of Four Branch</a:t>
            </a:r>
            <a:r>
              <a:rPr spc="9" dirty="0"/>
              <a:t> </a:t>
            </a:r>
            <a:r>
              <a:rPr dirty="0"/>
              <a:t>Hazard</a:t>
            </a:r>
            <a:r>
              <a:rPr spc="9" dirty="0"/>
              <a:t> </a:t>
            </a:r>
            <a:r>
              <a:rPr spc="-9" dirty="0"/>
              <a:t>Alternatives</a:t>
            </a:r>
          </a:p>
        </p:txBody>
      </p:sp>
      <p:sp>
        <p:nvSpPr>
          <p:cNvPr id="11" name="Slide Number Placeholder 10">
            <a:extLst>
              <a:ext uri="{FF2B5EF4-FFF2-40B4-BE49-F238E27FC236}">
                <a16:creationId xmlns:a16="http://schemas.microsoft.com/office/drawing/2014/main" id="{E176FB73-8D6A-3201-A6FA-E128BE9A0325}"/>
              </a:ext>
            </a:extLst>
          </p:cNvPr>
          <p:cNvSpPr>
            <a:spLocks noGrp="1"/>
          </p:cNvSpPr>
          <p:nvPr>
            <p:ph type="sldNum" sz="quarter" idx="7"/>
          </p:nvPr>
        </p:nvSpPr>
        <p:spPr/>
        <p:txBody>
          <a:bodyPr/>
          <a:lstStyle/>
          <a:p>
            <a:fld id="{4FE321F0-2018-4E50-8BB3-A5631EBD98DD}" type="slidenum">
              <a:rPr lang="en-US" smtClean="0"/>
              <a:t>64</a:t>
            </a:fld>
            <a:endParaRPr lang="en-US"/>
          </a:p>
        </p:txBody>
      </p:sp>
      <p:sp>
        <p:nvSpPr>
          <p:cNvPr id="3" name="object 3"/>
          <p:cNvSpPr txBox="1"/>
          <p:nvPr/>
        </p:nvSpPr>
        <p:spPr>
          <a:xfrm>
            <a:off x="810228" y="1226113"/>
            <a:ext cx="7257326" cy="1186298"/>
          </a:xfrm>
          <a:prstGeom prst="rect">
            <a:avLst/>
          </a:prstGeom>
        </p:spPr>
        <p:txBody>
          <a:bodyPr vert="horz" wrap="square" lIns="0" tIns="85165" rIns="0" bIns="0" rtlCol="0">
            <a:spAutoFit/>
          </a:bodyPr>
          <a:lstStyle/>
          <a:p>
            <a:pPr marL="279602" indent="-268395">
              <a:spcBef>
                <a:spcPts val="671"/>
              </a:spcBef>
              <a:buFont typeface="Calibri"/>
              <a:buChar char="•"/>
              <a:tabLst>
                <a:tab pos="279602" algn="l"/>
              </a:tabLst>
            </a:pPr>
            <a:r>
              <a:rPr sz="2400" b="1" dirty="0">
                <a:latin typeface="Calibri"/>
                <a:cs typeface="Calibri"/>
              </a:rPr>
              <a:t>#4:</a:t>
            </a:r>
            <a:r>
              <a:rPr sz="2400" b="1" spc="-62" dirty="0">
                <a:latin typeface="Calibri"/>
                <a:cs typeface="Calibri"/>
              </a:rPr>
              <a:t> </a:t>
            </a:r>
            <a:r>
              <a:rPr sz="2400" b="1" spc="-18" dirty="0">
                <a:latin typeface="Calibri"/>
                <a:cs typeface="Calibri"/>
              </a:rPr>
              <a:t>Delayed</a:t>
            </a:r>
            <a:r>
              <a:rPr sz="2400" b="1" spc="-75" dirty="0">
                <a:latin typeface="Calibri"/>
                <a:cs typeface="Calibri"/>
              </a:rPr>
              <a:t> </a:t>
            </a:r>
            <a:r>
              <a:rPr sz="2400" b="1" spc="-9" dirty="0">
                <a:latin typeface="Calibri"/>
                <a:cs typeface="Calibri"/>
              </a:rPr>
              <a:t>Branch</a:t>
            </a:r>
            <a:endParaRPr sz="2400" dirty="0">
              <a:latin typeface="Calibri"/>
              <a:cs typeface="Calibri"/>
            </a:endParaRPr>
          </a:p>
          <a:p>
            <a:pPr marL="654458" lvl="1" indent="-213483">
              <a:spcBef>
                <a:spcPts val="427"/>
              </a:spcBef>
              <a:buChar char="–"/>
              <a:tabLst>
                <a:tab pos="654458" algn="l"/>
              </a:tabLst>
            </a:pPr>
            <a:r>
              <a:rPr sz="2000" dirty="0">
                <a:latin typeface="Calibri"/>
                <a:cs typeface="Calibri"/>
              </a:rPr>
              <a:t>For</a:t>
            </a:r>
            <a:r>
              <a:rPr sz="2000" spc="-4" dirty="0">
                <a:latin typeface="Calibri"/>
                <a:cs typeface="Calibri"/>
              </a:rPr>
              <a:t> </a:t>
            </a:r>
            <a:r>
              <a:rPr sz="2000" dirty="0">
                <a:latin typeface="Calibri"/>
                <a:cs typeface="Calibri"/>
              </a:rPr>
              <a:t>early RISC</a:t>
            </a:r>
            <a:r>
              <a:rPr sz="2000" spc="9" dirty="0">
                <a:latin typeface="Calibri"/>
                <a:cs typeface="Calibri"/>
              </a:rPr>
              <a:t> </a:t>
            </a:r>
            <a:r>
              <a:rPr sz="2000" spc="-9" dirty="0">
                <a:latin typeface="Calibri"/>
                <a:cs typeface="Calibri"/>
              </a:rPr>
              <a:t>processors</a:t>
            </a:r>
            <a:endParaRPr sz="2000" dirty="0">
              <a:latin typeface="Calibri"/>
              <a:cs typeface="Calibri"/>
            </a:endParaRPr>
          </a:p>
          <a:p>
            <a:pPr marL="654458" lvl="1" indent="-213483">
              <a:spcBef>
                <a:spcPts val="468"/>
              </a:spcBef>
              <a:buChar char="–"/>
              <a:tabLst>
                <a:tab pos="654458" algn="l"/>
              </a:tabLst>
            </a:pPr>
            <a:r>
              <a:rPr sz="2000" dirty="0">
                <a:latin typeface="Calibri"/>
                <a:cs typeface="Calibri"/>
              </a:rPr>
              <a:t>Define</a:t>
            </a:r>
            <a:r>
              <a:rPr sz="2000" spc="18" dirty="0">
                <a:latin typeface="Calibri"/>
                <a:cs typeface="Calibri"/>
              </a:rPr>
              <a:t> </a:t>
            </a:r>
            <a:r>
              <a:rPr sz="2000" dirty="0">
                <a:latin typeface="Calibri"/>
                <a:cs typeface="Calibri"/>
              </a:rPr>
              <a:t>branch</a:t>
            </a:r>
            <a:r>
              <a:rPr sz="2000" spc="18" dirty="0">
                <a:latin typeface="Calibri"/>
                <a:cs typeface="Calibri"/>
              </a:rPr>
              <a:t> </a:t>
            </a:r>
            <a:r>
              <a:rPr sz="2000" dirty="0">
                <a:latin typeface="Calibri"/>
                <a:cs typeface="Calibri"/>
              </a:rPr>
              <a:t>to</a:t>
            </a:r>
            <a:r>
              <a:rPr sz="2000" spc="13" dirty="0">
                <a:latin typeface="Calibri"/>
                <a:cs typeface="Calibri"/>
              </a:rPr>
              <a:t> </a:t>
            </a:r>
            <a:r>
              <a:rPr sz="2000" dirty="0">
                <a:latin typeface="Calibri"/>
                <a:cs typeface="Calibri"/>
              </a:rPr>
              <a:t>take</a:t>
            </a:r>
            <a:r>
              <a:rPr sz="2000" spc="18" dirty="0">
                <a:latin typeface="Calibri"/>
                <a:cs typeface="Calibri"/>
              </a:rPr>
              <a:t> </a:t>
            </a:r>
            <a:r>
              <a:rPr sz="2000" dirty="0">
                <a:latin typeface="Calibri"/>
                <a:cs typeface="Calibri"/>
              </a:rPr>
              <a:t>place</a:t>
            </a:r>
            <a:r>
              <a:rPr sz="2000" spc="18" dirty="0">
                <a:latin typeface="Calibri"/>
                <a:cs typeface="Calibri"/>
              </a:rPr>
              <a:t> </a:t>
            </a:r>
            <a:r>
              <a:rPr sz="2000" dirty="0">
                <a:latin typeface="Calibri"/>
                <a:cs typeface="Calibri"/>
              </a:rPr>
              <a:t>AFTER</a:t>
            </a:r>
            <a:r>
              <a:rPr sz="2000" spc="9" dirty="0">
                <a:latin typeface="Calibri"/>
                <a:cs typeface="Calibri"/>
              </a:rPr>
              <a:t> </a:t>
            </a:r>
            <a:r>
              <a:rPr sz="2000" dirty="0">
                <a:latin typeface="Calibri"/>
                <a:cs typeface="Calibri"/>
              </a:rPr>
              <a:t>a</a:t>
            </a:r>
            <a:r>
              <a:rPr sz="2000" spc="13" dirty="0">
                <a:latin typeface="Calibri"/>
                <a:cs typeface="Calibri"/>
              </a:rPr>
              <a:t> </a:t>
            </a:r>
            <a:r>
              <a:rPr sz="2000" dirty="0">
                <a:latin typeface="Calibri"/>
                <a:cs typeface="Calibri"/>
              </a:rPr>
              <a:t>following</a:t>
            </a:r>
            <a:r>
              <a:rPr sz="2000" spc="13" dirty="0">
                <a:latin typeface="Calibri"/>
                <a:cs typeface="Calibri"/>
              </a:rPr>
              <a:t> </a:t>
            </a:r>
            <a:r>
              <a:rPr sz="2000" spc="-9" dirty="0">
                <a:latin typeface="Calibri"/>
                <a:cs typeface="Calibri"/>
              </a:rPr>
              <a:t>instruction</a:t>
            </a:r>
            <a:endParaRPr sz="2000" dirty="0">
              <a:latin typeface="Calibri"/>
              <a:cs typeface="Calibri"/>
            </a:endParaRPr>
          </a:p>
        </p:txBody>
      </p:sp>
      <p:sp>
        <p:nvSpPr>
          <p:cNvPr id="4" name="object 4"/>
          <p:cNvSpPr txBox="1"/>
          <p:nvPr/>
        </p:nvSpPr>
        <p:spPr>
          <a:xfrm>
            <a:off x="1840005" y="2567491"/>
            <a:ext cx="2809315" cy="1526154"/>
          </a:xfrm>
          <a:prstGeom prst="rect">
            <a:avLst/>
          </a:prstGeom>
        </p:spPr>
        <p:txBody>
          <a:bodyPr vert="horz" wrap="square" lIns="0" tIns="11206" rIns="0" bIns="0" rtlCol="0">
            <a:spAutoFit/>
          </a:bodyPr>
          <a:lstStyle/>
          <a:p>
            <a:pPr marL="33619">
              <a:lnSpc>
                <a:spcPts val="1884"/>
              </a:lnSpc>
              <a:spcBef>
                <a:spcPts val="88"/>
              </a:spcBef>
            </a:pPr>
            <a:r>
              <a:rPr sz="1677" dirty="0">
                <a:latin typeface="Calibri"/>
                <a:cs typeface="Calibri"/>
              </a:rPr>
              <a:t>branch</a:t>
            </a:r>
            <a:r>
              <a:rPr sz="1677" spc="35" dirty="0">
                <a:latin typeface="Calibri"/>
                <a:cs typeface="Calibri"/>
              </a:rPr>
              <a:t> </a:t>
            </a:r>
            <a:r>
              <a:rPr sz="1677" spc="-9" dirty="0">
                <a:latin typeface="Calibri"/>
                <a:cs typeface="Calibri"/>
              </a:rPr>
              <a:t>instruction</a:t>
            </a:r>
            <a:endParaRPr sz="1677" dirty="0">
              <a:latin typeface="Calibri"/>
              <a:cs typeface="Calibri"/>
            </a:endParaRPr>
          </a:p>
          <a:p>
            <a:pPr marL="894277" marR="29137">
              <a:lnSpc>
                <a:spcPts val="1862"/>
              </a:lnSpc>
              <a:spcBef>
                <a:spcPts val="57"/>
              </a:spcBef>
            </a:pPr>
            <a:r>
              <a:rPr sz="1677" dirty="0">
                <a:latin typeface="Calibri"/>
                <a:cs typeface="Calibri"/>
              </a:rPr>
              <a:t>sequential</a:t>
            </a:r>
            <a:r>
              <a:rPr sz="1677" spc="4" dirty="0">
                <a:latin typeface="Calibri"/>
                <a:cs typeface="Calibri"/>
              </a:rPr>
              <a:t> </a:t>
            </a:r>
            <a:r>
              <a:rPr sz="1677" spc="-9" dirty="0">
                <a:latin typeface="Calibri"/>
                <a:cs typeface="Calibri"/>
              </a:rPr>
              <a:t>successor</a:t>
            </a:r>
            <a:r>
              <a:rPr sz="1721" spc="-13" baseline="-17094" dirty="0">
                <a:latin typeface="Calibri"/>
                <a:cs typeface="Calibri"/>
              </a:rPr>
              <a:t>1 </a:t>
            </a:r>
            <a:r>
              <a:rPr sz="1677" dirty="0">
                <a:latin typeface="Calibri"/>
                <a:cs typeface="Calibri"/>
              </a:rPr>
              <a:t>sequential</a:t>
            </a:r>
            <a:r>
              <a:rPr sz="1677" spc="4" dirty="0">
                <a:latin typeface="Calibri"/>
                <a:cs typeface="Calibri"/>
              </a:rPr>
              <a:t> </a:t>
            </a:r>
            <a:r>
              <a:rPr sz="1677" spc="-9" dirty="0">
                <a:latin typeface="Calibri"/>
                <a:cs typeface="Calibri"/>
              </a:rPr>
              <a:t>successor</a:t>
            </a:r>
            <a:r>
              <a:rPr sz="1721" spc="-13" baseline="-17094" dirty="0">
                <a:latin typeface="Calibri"/>
                <a:cs typeface="Calibri"/>
              </a:rPr>
              <a:t>2</a:t>
            </a:r>
            <a:endParaRPr sz="1721" baseline="-17094" dirty="0">
              <a:latin typeface="Calibri"/>
              <a:cs typeface="Calibri"/>
            </a:endParaRPr>
          </a:p>
          <a:p>
            <a:pPr marL="894277">
              <a:lnSpc>
                <a:spcPts val="1733"/>
              </a:lnSpc>
            </a:pPr>
            <a:r>
              <a:rPr sz="1677" spc="-9" dirty="0">
                <a:latin typeface="Calibri"/>
                <a:cs typeface="Calibri"/>
              </a:rPr>
              <a:t>........</a:t>
            </a:r>
            <a:endParaRPr sz="1677" dirty="0">
              <a:latin typeface="Calibri"/>
              <a:cs typeface="Calibri"/>
            </a:endParaRPr>
          </a:p>
          <a:p>
            <a:pPr marL="894277">
              <a:lnSpc>
                <a:spcPts val="1937"/>
              </a:lnSpc>
            </a:pPr>
            <a:r>
              <a:rPr sz="1677" dirty="0">
                <a:latin typeface="Calibri"/>
                <a:cs typeface="Calibri"/>
              </a:rPr>
              <a:t>sequential</a:t>
            </a:r>
            <a:r>
              <a:rPr sz="1677" spc="4" dirty="0">
                <a:latin typeface="Calibri"/>
                <a:cs typeface="Calibri"/>
              </a:rPr>
              <a:t> </a:t>
            </a:r>
            <a:r>
              <a:rPr sz="1677" spc="-9" dirty="0">
                <a:latin typeface="Calibri"/>
                <a:cs typeface="Calibri"/>
              </a:rPr>
              <a:t>successor</a:t>
            </a:r>
            <a:r>
              <a:rPr sz="1721" spc="-13" baseline="-17094" dirty="0">
                <a:latin typeface="Calibri"/>
                <a:cs typeface="Calibri"/>
              </a:rPr>
              <a:t>n</a:t>
            </a:r>
            <a:endParaRPr sz="1721" baseline="-17094" dirty="0">
              <a:latin typeface="Calibri"/>
              <a:cs typeface="Calibri"/>
            </a:endParaRPr>
          </a:p>
          <a:p>
            <a:pPr marL="33619">
              <a:spcBef>
                <a:spcPts val="361"/>
              </a:spcBef>
            </a:pPr>
            <a:r>
              <a:rPr sz="1677" dirty="0">
                <a:latin typeface="Calibri"/>
                <a:cs typeface="Calibri"/>
              </a:rPr>
              <a:t>branch</a:t>
            </a:r>
            <a:r>
              <a:rPr sz="1677" spc="22" dirty="0">
                <a:latin typeface="Calibri"/>
                <a:cs typeface="Calibri"/>
              </a:rPr>
              <a:t> </a:t>
            </a:r>
            <a:r>
              <a:rPr sz="1677" dirty="0">
                <a:latin typeface="Calibri"/>
                <a:cs typeface="Calibri"/>
              </a:rPr>
              <a:t>target</a:t>
            </a:r>
            <a:r>
              <a:rPr sz="1677" spc="9" dirty="0">
                <a:latin typeface="Calibri"/>
                <a:cs typeface="Calibri"/>
              </a:rPr>
              <a:t> </a:t>
            </a:r>
            <a:r>
              <a:rPr sz="1677" dirty="0">
                <a:latin typeface="Calibri"/>
                <a:cs typeface="Calibri"/>
              </a:rPr>
              <a:t>if</a:t>
            </a:r>
            <a:r>
              <a:rPr sz="1677" spc="13" dirty="0">
                <a:latin typeface="Calibri"/>
                <a:cs typeface="Calibri"/>
              </a:rPr>
              <a:t> </a:t>
            </a:r>
            <a:r>
              <a:rPr sz="1677" spc="-9" dirty="0">
                <a:latin typeface="Calibri"/>
                <a:cs typeface="Calibri"/>
              </a:rPr>
              <a:t>taken</a:t>
            </a:r>
            <a:endParaRPr sz="1677" dirty="0">
              <a:latin typeface="Calibri"/>
              <a:cs typeface="Calibri"/>
            </a:endParaRPr>
          </a:p>
        </p:txBody>
      </p:sp>
      <p:sp>
        <p:nvSpPr>
          <p:cNvPr id="5" name="object 5"/>
          <p:cNvSpPr txBox="1"/>
          <p:nvPr/>
        </p:nvSpPr>
        <p:spPr>
          <a:xfrm>
            <a:off x="1261641" y="4347883"/>
            <a:ext cx="6657556" cy="996879"/>
          </a:xfrm>
          <a:prstGeom prst="rect">
            <a:avLst/>
          </a:prstGeom>
        </p:spPr>
        <p:txBody>
          <a:bodyPr vert="horz" wrap="square" lIns="0" tIns="34738" rIns="0" bIns="0" rtlCol="0">
            <a:spAutoFit/>
          </a:bodyPr>
          <a:lstStyle/>
          <a:p>
            <a:pPr marL="224690" marR="4483" indent="-213483">
              <a:spcBef>
                <a:spcPts val="274"/>
              </a:spcBef>
              <a:buChar char="–"/>
              <a:tabLst>
                <a:tab pos="226371" algn="l"/>
              </a:tabLst>
            </a:pPr>
            <a:r>
              <a:rPr sz="2000" dirty="0">
                <a:latin typeface="Calibri"/>
                <a:cs typeface="Calibri"/>
              </a:rPr>
              <a:t>1</a:t>
            </a:r>
            <a:r>
              <a:rPr sz="2000" spc="13" dirty="0">
                <a:latin typeface="Calibri"/>
                <a:cs typeface="Calibri"/>
              </a:rPr>
              <a:t> </a:t>
            </a:r>
            <a:r>
              <a:rPr sz="2000" b="1" dirty="0">
                <a:latin typeface="Calibri"/>
                <a:cs typeface="Calibri"/>
              </a:rPr>
              <a:t>delay</a:t>
            </a:r>
            <a:r>
              <a:rPr sz="2000" b="1" spc="13" dirty="0">
                <a:latin typeface="Calibri"/>
                <a:cs typeface="Calibri"/>
              </a:rPr>
              <a:t> </a:t>
            </a:r>
            <a:r>
              <a:rPr sz="2000" b="1" dirty="0">
                <a:latin typeface="Calibri"/>
                <a:cs typeface="Calibri"/>
              </a:rPr>
              <a:t>slot</a:t>
            </a:r>
            <a:r>
              <a:rPr sz="2000" b="1" spc="9" dirty="0">
                <a:latin typeface="Calibri"/>
                <a:cs typeface="Calibri"/>
              </a:rPr>
              <a:t> </a:t>
            </a:r>
            <a:r>
              <a:rPr sz="2000" dirty="0">
                <a:latin typeface="Calibri"/>
                <a:cs typeface="Calibri"/>
              </a:rPr>
              <a:t>allows</a:t>
            </a:r>
            <a:r>
              <a:rPr sz="2000" spc="9" dirty="0">
                <a:latin typeface="Calibri"/>
                <a:cs typeface="Calibri"/>
              </a:rPr>
              <a:t> </a:t>
            </a:r>
            <a:r>
              <a:rPr sz="2000" dirty="0">
                <a:latin typeface="Calibri"/>
                <a:cs typeface="Calibri"/>
              </a:rPr>
              <a:t>proper</a:t>
            </a:r>
            <a:r>
              <a:rPr sz="2000" spc="13" dirty="0">
                <a:latin typeface="Calibri"/>
                <a:cs typeface="Calibri"/>
              </a:rPr>
              <a:t> </a:t>
            </a:r>
            <a:r>
              <a:rPr sz="2000" dirty="0">
                <a:latin typeface="Calibri"/>
                <a:cs typeface="Calibri"/>
              </a:rPr>
              <a:t>decision</a:t>
            </a:r>
            <a:r>
              <a:rPr sz="2000" spc="18" dirty="0">
                <a:latin typeface="Calibri"/>
                <a:cs typeface="Calibri"/>
              </a:rPr>
              <a:t> </a:t>
            </a:r>
            <a:r>
              <a:rPr sz="2000" dirty="0">
                <a:latin typeface="Calibri"/>
                <a:cs typeface="Calibri"/>
              </a:rPr>
              <a:t>and</a:t>
            </a:r>
            <a:r>
              <a:rPr sz="2000" spc="22" dirty="0">
                <a:latin typeface="Calibri"/>
                <a:cs typeface="Calibri"/>
              </a:rPr>
              <a:t> </a:t>
            </a:r>
            <a:r>
              <a:rPr sz="2000" dirty="0">
                <a:latin typeface="Calibri"/>
                <a:cs typeface="Calibri"/>
              </a:rPr>
              <a:t>branch</a:t>
            </a:r>
            <a:r>
              <a:rPr sz="2000" spc="22" dirty="0">
                <a:latin typeface="Calibri"/>
                <a:cs typeface="Calibri"/>
              </a:rPr>
              <a:t> </a:t>
            </a:r>
            <a:r>
              <a:rPr sz="2000" dirty="0">
                <a:latin typeface="Calibri"/>
                <a:cs typeface="Calibri"/>
              </a:rPr>
              <a:t>target</a:t>
            </a:r>
            <a:r>
              <a:rPr sz="2000" spc="9" dirty="0">
                <a:latin typeface="Calibri"/>
                <a:cs typeface="Calibri"/>
              </a:rPr>
              <a:t> </a:t>
            </a:r>
            <a:r>
              <a:rPr sz="2000" dirty="0">
                <a:latin typeface="Calibri"/>
                <a:cs typeface="Calibri"/>
              </a:rPr>
              <a:t>address</a:t>
            </a:r>
            <a:r>
              <a:rPr sz="2000" spc="9" dirty="0">
                <a:latin typeface="Calibri"/>
                <a:cs typeface="Calibri"/>
              </a:rPr>
              <a:t> </a:t>
            </a:r>
            <a:r>
              <a:rPr sz="2000" dirty="0">
                <a:latin typeface="Calibri"/>
                <a:cs typeface="Calibri"/>
              </a:rPr>
              <a:t>in</a:t>
            </a:r>
            <a:r>
              <a:rPr sz="2000" spc="18" dirty="0">
                <a:latin typeface="Calibri"/>
                <a:cs typeface="Calibri"/>
              </a:rPr>
              <a:t> </a:t>
            </a:r>
            <a:r>
              <a:rPr sz="2000" dirty="0">
                <a:latin typeface="Calibri"/>
                <a:cs typeface="Calibri"/>
              </a:rPr>
              <a:t>5</a:t>
            </a:r>
            <a:r>
              <a:rPr sz="2000" spc="18" dirty="0">
                <a:latin typeface="Calibri"/>
                <a:cs typeface="Calibri"/>
              </a:rPr>
              <a:t> </a:t>
            </a:r>
            <a:r>
              <a:rPr sz="2000" spc="-9" dirty="0">
                <a:latin typeface="Calibri"/>
                <a:cs typeface="Calibri"/>
              </a:rPr>
              <a:t>stage pipeline</a:t>
            </a:r>
            <a:endParaRPr sz="2000" dirty="0">
              <a:latin typeface="Calibri"/>
              <a:cs typeface="Calibri"/>
            </a:endParaRPr>
          </a:p>
          <a:p>
            <a:pPr marL="224690" indent="-213483">
              <a:spcBef>
                <a:spcPts val="326"/>
              </a:spcBef>
              <a:buChar char="–"/>
              <a:tabLst>
                <a:tab pos="224690" algn="l"/>
              </a:tabLst>
            </a:pPr>
            <a:r>
              <a:rPr sz="2000" dirty="0">
                <a:latin typeface="Calibri"/>
                <a:cs typeface="Calibri"/>
              </a:rPr>
              <a:t>Later</a:t>
            </a:r>
            <a:r>
              <a:rPr sz="2000" spc="9" dirty="0">
                <a:latin typeface="Calibri"/>
                <a:cs typeface="Calibri"/>
              </a:rPr>
              <a:t> </a:t>
            </a:r>
            <a:r>
              <a:rPr sz="2000" dirty="0">
                <a:latin typeface="Calibri"/>
                <a:cs typeface="Calibri"/>
              </a:rPr>
              <a:t>versions</a:t>
            </a:r>
            <a:r>
              <a:rPr sz="2000" spc="9" dirty="0">
                <a:latin typeface="Calibri"/>
                <a:cs typeface="Calibri"/>
              </a:rPr>
              <a:t> </a:t>
            </a:r>
            <a:r>
              <a:rPr sz="2000" dirty="0">
                <a:latin typeface="Calibri"/>
                <a:cs typeface="Calibri"/>
              </a:rPr>
              <a:t>of</a:t>
            </a:r>
            <a:r>
              <a:rPr sz="2000" spc="13" dirty="0">
                <a:latin typeface="Calibri"/>
                <a:cs typeface="Calibri"/>
              </a:rPr>
              <a:t> </a:t>
            </a:r>
            <a:r>
              <a:rPr sz="2000" dirty="0">
                <a:latin typeface="Calibri"/>
                <a:cs typeface="Calibri"/>
              </a:rPr>
              <a:t>MIPS</a:t>
            </a:r>
            <a:r>
              <a:rPr sz="2000" spc="13" dirty="0">
                <a:latin typeface="Calibri"/>
                <a:cs typeface="Calibri"/>
              </a:rPr>
              <a:t> </a:t>
            </a:r>
            <a:r>
              <a:rPr sz="2000" dirty="0">
                <a:latin typeface="Calibri"/>
                <a:cs typeface="Calibri"/>
              </a:rPr>
              <a:t>did</a:t>
            </a:r>
            <a:r>
              <a:rPr sz="2000" spc="18" dirty="0">
                <a:latin typeface="Calibri"/>
                <a:cs typeface="Calibri"/>
              </a:rPr>
              <a:t> </a:t>
            </a:r>
            <a:r>
              <a:rPr sz="2000" dirty="0">
                <a:latin typeface="Calibri"/>
                <a:cs typeface="Calibri"/>
              </a:rPr>
              <a:t>not</a:t>
            </a:r>
            <a:r>
              <a:rPr sz="2000" spc="9" dirty="0">
                <a:latin typeface="Calibri"/>
                <a:cs typeface="Calibri"/>
              </a:rPr>
              <a:t> </a:t>
            </a:r>
            <a:r>
              <a:rPr sz="2000" dirty="0">
                <a:latin typeface="Calibri"/>
                <a:cs typeface="Calibri"/>
              </a:rPr>
              <a:t>use</a:t>
            </a:r>
            <a:r>
              <a:rPr sz="2000" spc="18" dirty="0">
                <a:latin typeface="Calibri"/>
                <a:cs typeface="Calibri"/>
              </a:rPr>
              <a:t> </a:t>
            </a:r>
            <a:r>
              <a:rPr sz="2000" dirty="0">
                <a:latin typeface="Calibri"/>
                <a:cs typeface="Calibri"/>
              </a:rPr>
              <a:t>this;</a:t>
            </a:r>
            <a:r>
              <a:rPr sz="2000" spc="18" dirty="0">
                <a:latin typeface="Calibri"/>
                <a:cs typeface="Calibri"/>
              </a:rPr>
              <a:t> </a:t>
            </a:r>
            <a:r>
              <a:rPr sz="2000" dirty="0">
                <a:latin typeface="Calibri"/>
                <a:cs typeface="Calibri"/>
              </a:rPr>
              <a:t>deeper</a:t>
            </a:r>
            <a:r>
              <a:rPr sz="2000" spc="9" dirty="0">
                <a:latin typeface="Calibri"/>
                <a:cs typeface="Calibri"/>
              </a:rPr>
              <a:t> </a:t>
            </a:r>
            <a:r>
              <a:rPr sz="2000" spc="-9" dirty="0">
                <a:latin typeface="Calibri"/>
                <a:cs typeface="Calibri"/>
              </a:rPr>
              <a:t>pipeline</a:t>
            </a:r>
            <a:endParaRPr sz="2000" dirty="0">
              <a:latin typeface="Calibri"/>
              <a:cs typeface="Calibri"/>
            </a:endParaRPr>
          </a:p>
        </p:txBody>
      </p:sp>
      <p:sp>
        <p:nvSpPr>
          <p:cNvPr id="6" name="object 6"/>
          <p:cNvSpPr txBox="1"/>
          <p:nvPr/>
        </p:nvSpPr>
        <p:spPr>
          <a:xfrm>
            <a:off x="5546911" y="3279607"/>
            <a:ext cx="2280397" cy="269399"/>
          </a:xfrm>
          <a:prstGeom prst="rect">
            <a:avLst/>
          </a:prstGeom>
        </p:spPr>
        <p:txBody>
          <a:bodyPr vert="horz" wrap="square" lIns="0" tIns="11206" rIns="0" bIns="0" rtlCol="0">
            <a:spAutoFit/>
          </a:bodyPr>
          <a:lstStyle/>
          <a:p>
            <a:pPr marL="11206">
              <a:spcBef>
                <a:spcPts val="88"/>
              </a:spcBef>
            </a:pPr>
            <a:r>
              <a:rPr sz="1677" b="1" dirty="0">
                <a:latin typeface="Times New Roman"/>
                <a:cs typeface="Times New Roman"/>
              </a:rPr>
              <a:t>Branch</a:t>
            </a:r>
            <a:r>
              <a:rPr sz="1677" b="1" spc="22" dirty="0">
                <a:latin typeface="Times New Roman"/>
                <a:cs typeface="Times New Roman"/>
              </a:rPr>
              <a:t> </a:t>
            </a:r>
            <a:r>
              <a:rPr sz="1677" b="1" dirty="0">
                <a:latin typeface="Times New Roman"/>
                <a:cs typeface="Times New Roman"/>
              </a:rPr>
              <a:t>delay</a:t>
            </a:r>
            <a:r>
              <a:rPr sz="1677" b="1" spc="22" dirty="0">
                <a:latin typeface="Times New Roman"/>
                <a:cs typeface="Times New Roman"/>
              </a:rPr>
              <a:t> </a:t>
            </a:r>
            <a:r>
              <a:rPr sz="1677" b="1" dirty="0">
                <a:latin typeface="Times New Roman"/>
                <a:cs typeface="Times New Roman"/>
              </a:rPr>
              <a:t>of</a:t>
            </a:r>
            <a:r>
              <a:rPr sz="1677" b="1" spc="22" dirty="0">
                <a:latin typeface="Times New Roman"/>
                <a:cs typeface="Times New Roman"/>
              </a:rPr>
              <a:t> </a:t>
            </a:r>
            <a:r>
              <a:rPr sz="1677" b="1" dirty="0">
                <a:latin typeface="Times New Roman"/>
                <a:cs typeface="Times New Roman"/>
              </a:rPr>
              <a:t>length</a:t>
            </a:r>
            <a:r>
              <a:rPr sz="1677" b="1" spc="18" dirty="0">
                <a:latin typeface="Times New Roman"/>
                <a:cs typeface="Times New Roman"/>
              </a:rPr>
              <a:t> </a:t>
            </a:r>
            <a:r>
              <a:rPr sz="1677" b="1" i="1" spc="-44" dirty="0">
                <a:latin typeface="Times New Roman"/>
                <a:cs typeface="Times New Roman"/>
              </a:rPr>
              <a:t>n</a:t>
            </a:r>
            <a:endParaRPr sz="1677" dirty="0">
              <a:latin typeface="Times New Roman"/>
              <a:cs typeface="Times New Roman"/>
            </a:endParaRPr>
          </a:p>
        </p:txBody>
      </p:sp>
      <p:grpSp>
        <p:nvGrpSpPr>
          <p:cNvPr id="7" name="object 7"/>
          <p:cNvGrpSpPr/>
          <p:nvPr/>
        </p:nvGrpSpPr>
        <p:grpSpPr>
          <a:xfrm>
            <a:off x="4654175" y="2965842"/>
            <a:ext cx="890868" cy="753035"/>
            <a:chOff x="5076612" y="3764279"/>
            <a:chExt cx="1009650" cy="853440"/>
          </a:xfrm>
        </p:grpSpPr>
        <p:sp>
          <p:nvSpPr>
            <p:cNvPr id="8" name="object 8"/>
            <p:cNvSpPr/>
            <p:nvPr/>
          </p:nvSpPr>
          <p:spPr>
            <a:xfrm>
              <a:off x="5096932" y="3771052"/>
              <a:ext cx="982344" cy="454025"/>
            </a:xfrm>
            <a:custGeom>
              <a:avLst/>
              <a:gdLst/>
              <a:ahLst/>
              <a:cxnLst/>
              <a:rect l="l" t="t" r="r" b="b"/>
              <a:pathLst>
                <a:path w="982345" h="454025">
                  <a:moveTo>
                    <a:pt x="0" y="0"/>
                  </a:moveTo>
                  <a:lnTo>
                    <a:pt x="982133" y="453813"/>
                  </a:lnTo>
                </a:path>
              </a:pathLst>
            </a:custGeom>
            <a:ln w="13546">
              <a:solidFill>
                <a:srgbClr val="000000"/>
              </a:solidFill>
            </a:ln>
          </p:spPr>
          <p:txBody>
            <a:bodyPr wrap="square" lIns="0" tIns="0" rIns="0" bIns="0" rtlCol="0"/>
            <a:lstStyle/>
            <a:p>
              <a:endParaRPr sz="1588"/>
            </a:p>
          </p:txBody>
        </p:sp>
        <p:sp>
          <p:nvSpPr>
            <p:cNvPr id="9" name="object 9"/>
            <p:cNvSpPr/>
            <p:nvPr/>
          </p:nvSpPr>
          <p:spPr>
            <a:xfrm>
              <a:off x="5083386" y="4258732"/>
              <a:ext cx="969010" cy="352425"/>
            </a:xfrm>
            <a:custGeom>
              <a:avLst/>
              <a:gdLst/>
              <a:ahLst/>
              <a:cxnLst/>
              <a:rect l="l" t="t" r="r" b="b"/>
              <a:pathLst>
                <a:path w="969010" h="352425">
                  <a:moveTo>
                    <a:pt x="968586" y="0"/>
                  </a:moveTo>
                  <a:lnTo>
                    <a:pt x="0" y="352213"/>
                  </a:lnTo>
                </a:path>
              </a:pathLst>
            </a:custGeom>
            <a:ln w="13546">
              <a:solidFill>
                <a:srgbClr val="000000"/>
              </a:solidFill>
            </a:ln>
          </p:spPr>
          <p:txBody>
            <a:bodyPr wrap="square" lIns="0" tIns="0" rIns="0" bIns="0" rtlCol="0"/>
            <a:lstStyle/>
            <a:p>
              <a:endParaRPr sz="1588"/>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33348" y="612100"/>
            <a:ext cx="6803092" cy="589755"/>
          </a:xfrm>
          <a:prstGeom prst="rect">
            <a:avLst/>
          </a:prstGeom>
        </p:spPr>
        <p:txBody>
          <a:bodyPr vert="horz" wrap="square" lIns="0" tIns="126851" rIns="0" bIns="0" rtlCol="0" anchor="ctr">
            <a:spAutoFit/>
          </a:bodyPr>
          <a:lstStyle/>
          <a:p>
            <a:pPr marL="11206">
              <a:lnSpc>
                <a:spcPct val="100000"/>
              </a:lnSpc>
              <a:spcBef>
                <a:spcPts val="88"/>
              </a:spcBef>
            </a:pPr>
            <a:r>
              <a:rPr dirty="0"/>
              <a:t>Scheduling</a:t>
            </a:r>
            <a:r>
              <a:rPr spc="9" dirty="0"/>
              <a:t> </a:t>
            </a:r>
            <a:r>
              <a:rPr dirty="0"/>
              <a:t>Branch</a:t>
            </a:r>
            <a:r>
              <a:rPr spc="9" dirty="0"/>
              <a:t> </a:t>
            </a:r>
            <a:r>
              <a:rPr dirty="0"/>
              <a:t>Delay</a:t>
            </a:r>
            <a:r>
              <a:rPr spc="9" dirty="0"/>
              <a:t> </a:t>
            </a:r>
            <a:r>
              <a:rPr dirty="0"/>
              <a:t>Slots (Fig</a:t>
            </a:r>
            <a:r>
              <a:rPr spc="13" dirty="0"/>
              <a:t> </a:t>
            </a:r>
            <a:r>
              <a:rPr spc="-9" dirty="0"/>
              <a:t>C.14)</a:t>
            </a:r>
          </a:p>
        </p:txBody>
      </p:sp>
      <p:sp>
        <p:nvSpPr>
          <p:cNvPr id="53" name="Slide Number Placeholder 52">
            <a:extLst>
              <a:ext uri="{FF2B5EF4-FFF2-40B4-BE49-F238E27FC236}">
                <a16:creationId xmlns:a16="http://schemas.microsoft.com/office/drawing/2014/main" id="{9D10A4E5-D5E5-F132-40D1-DA6F8BF63C8F}"/>
              </a:ext>
            </a:extLst>
          </p:cNvPr>
          <p:cNvSpPr>
            <a:spLocks noGrp="1"/>
          </p:cNvSpPr>
          <p:nvPr>
            <p:ph type="sldNum" sz="quarter" idx="7"/>
          </p:nvPr>
        </p:nvSpPr>
        <p:spPr/>
        <p:txBody>
          <a:bodyPr/>
          <a:lstStyle/>
          <a:p>
            <a:fld id="{4FE321F0-2018-4E50-8BB3-A5631EBD98DD}" type="slidenum">
              <a:rPr lang="en-US" smtClean="0"/>
              <a:t>65</a:t>
            </a:fld>
            <a:endParaRPr lang="en-US"/>
          </a:p>
        </p:txBody>
      </p:sp>
      <p:sp>
        <p:nvSpPr>
          <p:cNvPr id="4" name="object 4"/>
          <p:cNvSpPr txBox="1"/>
          <p:nvPr/>
        </p:nvSpPr>
        <p:spPr>
          <a:xfrm>
            <a:off x="1001806" y="5516881"/>
            <a:ext cx="7299511" cy="1047222"/>
          </a:xfrm>
          <a:prstGeom prst="rect">
            <a:avLst/>
          </a:prstGeom>
        </p:spPr>
        <p:txBody>
          <a:bodyPr vert="horz" wrap="square" lIns="0" tIns="75640" rIns="0" bIns="0" rtlCol="0">
            <a:spAutoFit/>
          </a:bodyPr>
          <a:lstStyle/>
          <a:p>
            <a:pPr marL="279602" indent="-268395">
              <a:spcBef>
                <a:spcPts val="596"/>
              </a:spcBef>
              <a:buChar char="•"/>
              <a:tabLst>
                <a:tab pos="279602" algn="l"/>
              </a:tabLst>
            </a:pPr>
            <a:r>
              <a:rPr sz="1853" dirty="0">
                <a:latin typeface="Calibri"/>
                <a:cs typeface="Calibri"/>
              </a:rPr>
              <a:t>A</a:t>
            </a:r>
            <a:r>
              <a:rPr sz="1853" spc="49" dirty="0">
                <a:latin typeface="Calibri"/>
                <a:cs typeface="Calibri"/>
              </a:rPr>
              <a:t> </a:t>
            </a:r>
            <a:r>
              <a:rPr sz="1853" dirty="0">
                <a:latin typeface="Calibri"/>
                <a:cs typeface="Calibri"/>
              </a:rPr>
              <a:t>is</a:t>
            </a:r>
            <a:r>
              <a:rPr sz="1853" spc="40" dirty="0">
                <a:latin typeface="Calibri"/>
                <a:cs typeface="Calibri"/>
              </a:rPr>
              <a:t> </a:t>
            </a:r>
            <a:r>
              <a:rPr sz="1853" dirty="0">
                <a:latin typeface="Calibri"/>
                <a:cs typeface="Calibri"/>
              </a:rPr>
              <a:t>the</a:t>
            </a:r>
            <a:r>
              <a:rPr sz="1853" spc="44" dirty="0">
                <a:latin typeface="Calibri"/>
                <a:cs typeface="Calibri"/>
              </a:rPr>
              <a:t> </a:t>
            </a:r>
            <a:r>
              <a:rPr sz="1853" dirty="0">
                <a:latin typeface="Calibri"/>
                <a:cs typeface="Calibri"/>
              </a:rPr>
              <a:t>best</a:t>
            </a:r>
            <a:r>
              <a:rPr sz="1853" spc="40" dirty="0">
                <a:latin typeface="Calibri"/>
                <a:cs typeface="Calibri"/>
              </a:rPr>
              <a:t> </a:t>
            </a:r>
            <a:r>
              <a:rPr sz="1853" dirty="0">
                <a:latin typeface="Calibri"/>
                <a:cs typeface="Calibri"/>
              </a:rPr>
              <a:t>choice,</a:t>
            </a:r>
            <a:r>
              <a:rPr sz="1853" spc="31" dirty="0">
                <a:latin typeface="Calibri"/>
                <a:cs typeface="Calibri"/>
              </a:rPr>
              <a:t> </a:t>
            </a:r>
            <a:r>
              <a:rPr sz="1853" dirty="0">
                <a:latin typeface="Calibri"/>
                <a:cs typeface="Calibri"/>
              </a:rPr>
              <a:t>fills</a:t>
            </a:r>
            <a:r>
              <a:rPr sz="1853" spc="44" dirty="0">
                <a:latin typeface="Calibri"/>
                <a:cs typeface="Calibri"/>
              </a:rPr>
              <a:t> </a:t>
            </a:r>
            <a:r>
              <a:rPr sz="1853" dirty="0">
                <a:latin typeface="Calibri"/>
                <a:cs typeface="Calibri"/>
              </a:rPr>
              <a:t>delay</a:t>
            </a:r>
            <a:r>
              <a:rPr sz="1853" spc="35" dirty="0">
                <a:latin typeface="Calibri"/>
                <a:cs typeface="Calibri"/>
              </a:rPr>
              <a:t> </a:t>
            </a:r>
            <a:r>
              <a:rPr sz="1853" dirty="0">
                <a:latin typeface="Calibri"/>
                <a:cs typeface="Calibri"/>
              </a:rPr>
              <a:t>slot</a:t>
            </a:r>
            <a:r>
              <a:rPr sz="1853" spc="40" dirty="0">
                <a:latin typeface="Calibri"/>
                <a:cs typeface="Calibri"/>
              </a:rPr>
              <a:t> </a:t>
            </a:r>
            <a:r>
              <a:rPr sz="1853" dirty="0">
                <a:latin typeface="Calibri"/>
                <a:cs typeface="Calibri"/>
              </a:rPr>
              <a:t>&amp;</a:t>
            </a:r>
            <a:r>
              <a:rPr sz="1853" spc="44" dirty="0">
                <a:latin typeface="Calibri"/>
                <a:cs typeface="Calibri"/>
              </a:rPr>
              <a:t> </a:t>
            </a:r>
            <a:r>
              <a:rPr sz="1853" dirty="0">
                <a:latin typeface="Calibri"/>
                <a:cs typeface="Calibri"/>
              </a:rPr>
              <a:t>reduces</a:t>
            </a:r>
            <a:r>
              <a:rPr sz="1853" spc="40" dirty="0">
                <a:latin typeface="Calibri"/>
                <a:cs typeface="Calibri"/>
              </a:rPr>
              <a:t> </a:t>
            </a:r>
            <a:r>
              <a:rPr sz="1853" dirty="0">
                <a:latin typeface="Calibri"/>
                <a:cs typeface="Calibri"/>
              </a:rPr>
              <a:t>instruction</a:t>
            </a:r>
            <a:r>
              <a:rPr sz="1853" spc="44" dirty="0">
                <a:latin typeface="Calibri"/>
                <a:cs typeface="Calibri"/>
              </a:rPr>
              <a:t> </a:t>
            </a:r>
            <a:r>
              <a:rPr sz="1853" dirty="0">
                <a:latin typeface="Calibri"/>
                <a:cs typeface="Calibri"/>
              </a:rPr>
              <a:t>count</a:t>
            </a:r>
            <a:r>
              <a:rPr sz="1853" spc="40" dirty="0">
                <a:latin typeface="Calibri"/>
                <a:cs typeface="Calibri"/>
              </a:rPr>
              <a:t> </a:t>
            </a:r>
            <a:r>
              <a:rPr sz="1853" spc="-18" dirty="0">
                <a:latin typeface="Calibri"/>
                <a:cs typeface="Calibri"/>
              </a:rPr>
              <a:t>(IC)</a:t>
            </a:r>
            <a:endParaRPr sz="1853" dirty="0">
              <a:latin typeface="Calibri"/>
              <a:cs typeface="Calibri"/>
            </a:endParaRPr>
          </a:p>
          <a:p>
            <a:pPr marL="279602" indent="-268395">
              <a:spcBef>
                <a:spcPts val="507"/>
              </a:spcBef>
              <a:buChar char="•"/>
              <a:tabLst>
                <a:tab pos="279602" algn="l"/>
              </a:tabLst>
            </a:pPr>
            <a:r>
              <a:rPr sz="1853" dirty="0">
                <a:latin typeface="Calibri"/>
                <a:cs typeface="Calibri"/>
              </a:rPr>
              <a:t>In</a:t>
            </a:r>
            <a:r>
              <a:rPr sz="1853" spc="44" dirty="0">
                <a:latin typeface="Calibri"/>
                <a:cs typeface="Calibri"/>
              </a:rPr>
              <a:t> </a:t>
            </a:r>
            <a:r>
              <a:rPr sz="1853" dirty="0">
                <a:latin typeface="Calibri"/>
                <a:cs typeface="Calibri"/>
              </a:rPr>
              <a:t>B,</a:t>
            </a:r>
            <a:r>
              <a:rPr sz="1853" spc="44" dirty="0">
                <a:latin typeface="Calibri"/>
                <a:cs typeface="Calibri"/>
              </a:rPr>
              <a:t> </a:t>
            </a:r>
            <a:r>
              <a:rPr sz="1853" dirty="0">
                <a:latin typeface="Calibri"/>
                <a:cs typeface="Calibri"/>
              </a:rPr>
              <a:t>the</a:t>
            </a:r>
            <a:r>
              <a:rPr sz="1853" spc="49" dirty="0">
                <a:latin typeface="Calibri"/>
                <a:cs typeface="Calibri"/>
              </a:rPr>
              <a:t> </a:t>
            </a:r>
            <a:r>
              <a:rPr sz="1853" dirty="0">
                <a:latin typeface="Calibri"/>
                <a:cs typeface="Calibri"/>
              </a:rPr>
              <a:t>sub</a:t>
            </a:r>
            <a:r>
              <a:rPr sz="1853" spc="49" dirty="0">
                <a:latin typeface="Calibri"/>
                <a:cs typeface="Calibri"/>
              </a:rPr>
              <a:t> </a:t>
            </a:r>
            <a:r>
              <a:rPr sz="1853" dirty="0">
                <a:latin typeface="Calibri"/>
                <a:cs typeface="Calibri"/>
              </a:rPr>
              <a:t>instruction</a:t>
            </a:r>
            <a:r>
              <a:rPr sz="1853" spc="49" dirty="0">
                <a:latin typeface="Calibri"/>
                <a:cs typeface="Calibri"/>
              </a:rPr>
              <a:t> </a:t>
            </a:r>
            <a:r>
              <a:rPr sz="1853" dirty="0">
                <a:latin typeface="Calibri"/>
                <a:cs typeface="Calibri"/>
              </a:rPr>
              <a:t>may</a:t>
            </a:r>
            <a:r>
              <a:rPr sz="1853" spc="40" dirty="0">
                <a:latin typeface="Calibri"/>
                <a:cs typeface="Calibri"/>
              </a:rPr>
              <a:t> </a:t>
            </a:r>
            <a:r>
              <a:rPr sz="1853" dirty="0">
                <a:latin typeface="Calibri"/>
                <a:cs typeface="Calibri"/>
              </a:rPr>
              <a:t>need</a:t>
            </a:r>
            <a:r>
              <a:rPr sz="1853" spc="49" dirty="0">
                <a:latin typeface="Calibri"/>
                <a:cs typeface="Calibri"/>
              </a:rPr>
              <a:t> </a:t>
            </a:r>
            <a:r>
              <a:rPr sz="1853" dirty="0">
                <a:latin typeface="Calibri"/>
                <a:cs typeface="Calibri"/>
              </a:rPr>
              <a:t>to</a:t>
            </a:r>
            <a:r>
              <a:rPr sz="1853" spc="44" dirty="0">
                <a:latin typeface="Calibri"/>
                <a:cs typeface="Calibri"/>
              </a:rPr>
              <a:t> </a:t>
            </a:r>
            <a:r>
              <a:rPr sz="1853" dirty="0">
                <a:latin typeface="Calibri"/>
                <a:cs typeface="Calibri"/>
              </a:rPr>
              <a:t>be</a:t>
            </a:r>
            <a:r>
              <a:rPr sz="1853" spc="49" dirty="0">
                <a:latin typeface="Calibri"/>
                <a:cs typeface="Calibri"/>
              </a:rPr>
              <a:t> </a:t>
            </a:r>
            <a:r>
              <a:rPr sz="1853" dirty="0">
                <a:latin typeface="Calibri"/>
                <a:cs typeface="Calibri"/>
              </a:rPr>
              <a:t>copied,</a:t>
            </a:r>
            <a:r>
              <a:rPr sz="1853" spc="44" dirty="0">
                <a:latin typeface="Calibri"/>
                <a:cs typeface="Calibri"/>
              </a:rPr>
              <a:t> </a:t>
            </a:r>
            <a:r>
              <a:rPr sz="1853" dirty="0">
                <a:latin typeface="Calibri"/>
                <a:cs typeface="Calibri"/>
              </a:rPr>
              <a:t>increasing</a:t>
            </a:r>
            <a:r>
              <a:rPr sz="1853" spc="40" dirty="0">
                <a:latin typeface="Calibri"/>
                <a:cs typeface="Calibri"/>
              </a:rPr>
              <a:t> </a:t>
            </a:r>
            <a:r>
              <a:rPr sz="1853" spc="-22" dirty="0">
                <a:latin typeface="Calibri"/>
                <a:cs typeface="Calibri"/>
              </a:rPr>
              <a:t>IC</a:t>
            </a:r>
            <a:endParaRPr sz="1853" dirty="0">
              <a:latin typeface="Calibri"/>
              <a:cs typeface="Calibri"/>
            </a:endParaRPr>
          </a:p>
          <a:p>
            <a:pPr marL="279602" indent="-268395">
              <a:spcBef>
                <a:spcPts val="424"/>
              </a:spcBef>
              <a:buChar char="•"/>
              <a:tabLst>
                <a:tab pos="279602" algn="l"/>
              </a:tabLst>
            </a:pPr>
            <a:r>
              <a:rPr sz="1853" dirty="0">
                <a:solidFill>
                  <a:srgbClr val="FF0000"/>
                </a:solidFill>
                <a:latin typeface="Calibri"/>
                <a:cs typeface="Calibri"/>
              </a:rPr>
              <a:t>In</a:t>
            </a:r>
            <a:r>
              <a:rPr sz="1853" spc="35" dirty="0">
                <a:solidFill>
                  <a:srgbClr val="FF0000"/>
                </a:solidFill>
                <a:latin typeface="Calibri"/>
                <a:cs typeface="Calibri"/>
              </a:rPr>
              <a:t> </a:t>
            </a:r>
            <a:r>
              <a:rPr sz="1853" dirty="0">
                <a:solidFill>
                  <a:srgbClr val="FF0000"/>
                </a:solidFill>
                <a:latin typeface="Calibri"/>
                <a:cs typeface="Calibri"/>
              </a:rPr>
              <a:t>B</a:t>
            </a:r>
            <a:r>
              <a:rPr sz="1853" spc="40" dirty="0">
                <a:solidFill>
                  <a:srgbClr val="FF0000"/>
                </a:solidFill>
                <a:latin typeface="Calibri"/>
                <a:cs typeface="Calibri"/>
              </a:rPr>
              <a:t> </a:t>
            </a:r>
            <a:r>
              <a:rPr sz="1853" dirty="0">
                <a:solidFill>
                  <a:srgbClr val="FF0000"/>
                </a:solidFill>
                <a:latin typeface="Calibri"/>
                <a:cs typeface="Calibri"/>
              </a:rPr>
              <a:t>and</a:t>
            </a:r>
            <a:r>
              <a:rPr sz="1853" spc="35" dirty="0">
                <a:solidFill>
                  <a:srgbClr val="FF0000"/>
                </a:solidFill>
                <a:latin typeface="Calibri"/>
                <a:cs typeface="Calibri"/>
              </a:rPr>
              <a:t> </a:t>
            </a:r>
            <a:r>
              <a:rPr sz="1853" dirty="0">
                <a:solidFill>
                  <a:srgbClr val="FF0000"/>
                </a:solidFill>
                <a:latin typeface="Calibri"/>
                <a:cs typeface="Calibri"/>
              </a:rPr>
              <a:t>C,</a:t>
            </a:r>
            <a:r>
              <a:rPr sz="1853" spc="31" dirty="0">
                <a:solidFill>
                  <a:srgbClr val="FF0000"/>
                </a:solidFill>
                <a:latin typeface="Calibri"/>
                <a:cs typeface="Calibri"/>
              </a:rPr>
              <a:t> </a:t>
            </a:r>
            <a:r>
              <a:rPr sz="1853" b="1" dirty="0">
                <a:solidFill>
                  <a:srgbClr val="FF0000"/>
                </a:solidFill>
                <a:latin typeface="Calibri"/>
                <a:cs typeface="Calibri"/>
              </a:rPr>
              <a:t>must</a:t>
            </a:r>
            <a:r>
              <a:rPr sz="1853" b="1" spc="26" dirty="0">
                <a:solidFill>
                  <a:srgbClr val="FF0000"/>
                </a:solidFill>
                <a:latin typeface="Calibri"/>
                <a:cs typeface="Calibri"/>
              </a:rPr>
              <a:t> </a:t>
            </a:r>
            <a:r>
              <a:rPr sz="1853" b="1" dirty="0">
                <a:solidFill>
                  <a:srgbClr val="FF0000"/>
                </a:solidFill>
                <a:latin typeface="Calibri"/>
                <a:cs typeface="Calibri"/>
              </a:rPr>
              <a:t>be</a:t>
            </a:r>
            <a:r>
              <a:rPr sz="1853" b="1" spc="44" dirty="0">
                <a:solidFill>
                  <a:srgbClr val="FF0000"/>
                </a:solidFill>
                <a:latin typeface="Calibri"/>
                <a:cs typeface="Calibri"/>
              </a:rPr>
              <a:t> </a:t>
            </a:r>
            <a:r>
              <a:rPr sz="1853" b="1" dirty="0">
                <a:solidFill>
                  <a:srgbClr val="FF0000"/>
                </a:solidFill>
                <a:latin typeface="Calibri"/>
                <a:cs typeface="Calibri"/>
              </a:rPr>
              <a:t>okay</a:t>
            </a:r>
            <a:r>
              <a:rPr sz="1853" b="1" spc="40" dirty="0">
                <a:solidFill>
                  <a:srgbClr val="FF0000"/>
                </a:solidFill>
                <a:latin typeface="Calibri"/>
                <a:cs typeface="Calibri"/>
              </a:rPr>
              <a:t> </a:t>
            </a:r>
            <a:r>
              <a:rPr sz="1853" b="1" dirty="0">
                <a:solidFill>
                  <a:srgbClr val="FF0000"/>
                </a:solidFill>
                <a:latin typeface="Calibri"/>
                <a:cs typeface="Calibri"/>
              </a:rPr>
              <a:t>to</a:t>
            </a:r>
            <a:r>
              <a:rPr sz="1853" b="1" spc="35" dirty="0">
                <a:solidFill>
                  <a:srgbClr val="FF0000"/>
                </a:solidFill>
                <a:latin typeface="Calibri"/>
                <a:cs typeface="Calibri"/>
              </a:rPr>
              <a:t> </a:t>
            </a:r>
            <a:r>
              <a:rPr sz="1853" b="1" dirty="0">
                <a:solidFill>
                  <a:srgbClr val="FF0000"/>
                </a:solidFill>
                <a:latin typeface="Calibri"/>
                <a:cs typeface="Calibri"/>
              </a:rPr>
              <a:t>execute</a:t>
            </a:r>
            <a:r>
              <a:rPr sz="1853" b="1" spc="44" dirty="0">
                <a:solidFill>
                  <a:srgbClr val="FF0000"/>
                </a:solidFill>
                <a:latin typeface="Calibri"/>
                <a:cs typeface="Calibri"/>
              </a:rPr>
              <a:t> </a:t>
            </a:r>
            <a:r>
              <a:rPr sz="1853" b="1" dirty="0">
                <a:solidFill>
                  <a:srgbClr val="FF0000"/>
                </a:solidFill>
                <a:latin typeface="Calibri"/>
                <a:cs typeface="Calibri"/>
              </a:rPr>
              <a:t>an</a:t>
            </a:r>
            <a:r>
              <a:rPr sz="1853" b="1" spc="44" dirty="0">
                <a:solidFill>
                  <a:srgbClr val="FF0000"/>
                </a:solidFill>
                <a:latin typeface="Calibri"/>
                <a:cs typeface="Calibri"/>
              </a:rPr>
              <a:t> </a:t>
            </a:r>
            <a:r>
              <a:rPr sz="1853" b="1" dirty="0">
                <a:solidFill>
                  <a:srgbClr val="FF0000"/>
                </a:solidFill>
                <a:latin typeface="Calibri"/>
                <a:cs typeface="Calibri"/>
              </a:rPr>
              <a:t>extra</a:t>
            </a:r>
            <a:r>
              <a:rPr sz="1853" b="1" spc="35" dirty="0">
                <a:solidFill>
                  <a:srgbClr val="FF0000"/>
                </a:solidFill>
                <a:latin typeface="Calibri"/>
                <a:cs typeface="Calibri"/>
              </a:rPr>
              <a:t> </a:t>
            </a:r>
            <a:r>
              <a:rPr sz="1853" b="1" dirty="0">
                <a:solidFill>
                  <a:srgbClr val="FF0000"/>
                </a:solidFill>
                <a:latin typeface="Calibri"/>
                <a:cs typeface="Calibri"/>
              </a:rPr>
              <a:t>sub</a:t>
            </a:r>
            <a:r>
              <a:rPr sz="1853" b="1" spc="44" dirty="0">
                <a:solidFill>
                  <a:srgbClr val="FF0000"/>
                </a:solidFill>
                <a:latin typeface="Calibri"/>
                <a:cs typeface="Calibri"/>
              </a:rPr>
              <a:t> </a:t>
            </a:r>
            <a:r>
              <a:rPr sz="1853" b="1" dirty="0">
                <a:solidFill>
                  <a:srgbClr val="FF0000"/>
                </a:solidFill>
                <a:latin typeface="Calibri"/>
                <a:cs typeface="Calibri"/>
              </a:rPr>
              <a:t>when</a:t>
            </a:r>
            <a:r>
              <a:rPr sz="1853" b="1" spc="44" dirty="0">
                <a:solidFill>
                  <a:srgbClr val="FF0000"/>
                </a:solidFill>
                <a:latin typeface="Calibri"/>
                <a:cs typeface="Calibri"/>
              </a:rPr>
              <a:t> </a:t>
            </a:r>
            <a:r>
              <a:rPr sz="1853" b="1" dirty="0">
                <a:solidFill>
                  <a:srgbClr val="FF0000"/>
                </a:solidFill>
                <a:latin typeface="Calibri"/>
                <a:cs typeface="Calibri"/>
              </a:rPr>
              <a:t>branch</a:t>
            </a:r>
            <a:r>
              <a:rPr sz="1853" b="1" spc="40" dirty="0">
                <a:solidFill>
                  <a:srgbClr val="FF0000"/>
                </a:solidFill>
                <a:latin typeface="Calibri"/>
                <a:cs typeface="Calibri"/>
              </a:rPr>
              <a:t> </a:t>
            </a:r>
            <a:r>
              <a:rPr sz="1853" b="1" spc="-9" dirty="0">
                <a:solidFill>
                  <a:srgbClr val="FF0000"/>
                </a:solidFill>
                <a:latin typeface="Calibri"/>
                <a:cs typeface="Calibri"/>
              </a:rPr>
              <a:t>fails</a:t>
            </a:r>
            <a:endParaRPr sz="1853" dirty="0">
              <a:latin typeface="Calibri"/>
              <a:cs typeface="Calibri"/>
            </a:endParaRPr>
          </a:p>
        </p:txBody>
      </p:sp>
      <p:sp>
        <p:nvSpPr>
          <p:cNvPr id="8" name="object 8"/>
          <p:cNvSpPr txBox="1"/>
          <p:nvPr/>
        </p:nvSpPr>
        <p:spPr>
          <a:xfrm>
            <a:off x="844923" y="1324983"/>
            <a:ext cx="7373471" cy="269399"/>
          </a:xfrm>
          <a:prstGeom prst="rect">
            <a:avLst/>
          </a:prstGeom>
        </p:spPr>
        <p:txBody>
          <a:bodyPr vert="horz" wrap="square" lIns="0" tIns="11206" rIns="0" bIns="0" rtlCol="0">
            <a:spAutoFit/>
          </a:bodyPr>
          <a:lstStyle/>
          <a:p>
            <a:pPr marL="11206">
              <a:spcBef>
                <a:spcPts val="88"/>
              </a:spcBef>
              <a:tabLst>
                <a:tab pos="2736062" algn="l"/>
                <a:tab pos="5461478" algn="l"/>
              </a:tabLst>
            </a:pPr>
            <a:r>
              <a:rPr sz="1677" dirty="0">
                <a:latin typeface="Arial MT"/>
                <a:cs typeface="Arial MT"/>
              </a:rPr>
              <a:t>A. From</a:t>
            </a:r>
            <a:r>
              <a:rPr sz="1677" spc="13" dirty="0">
                <a:latin typeface="Arial MT"/>
                <a:cs typeface="Arial MT"/>
              </a:rPr>
              <a:t> </a:t>
            </a:r>
            <a:r>
              <a:rPr sz="1677" dirty="0">
                <a:latin typeface="Arial MT"/>
                <a:cs typeface="Arial MT"/>
              </a:rPr>
              <a:t>before</a:t>
            </a:r>
            <a:r>
              <a:rPr sz="1677" spc="9" dirty="0">
                <a:latin typeface="Arial MT"/>
                <a:cs typeface="Arial MT"/>
              </a:rPr>
              <a:t> </a:t>
            </a:r>
            <a:r>
              <a:rPr sz="1677" spc="-9" dirty="0">
                <a:latin typeface="Arial MT"/>
                <a:cs typeface="Arial MT"/>
              </a:rPr>
              <a:t>branch</a:t>
            </a:r>
            <a:r>
              <a:rPr sz="1677" dirty="0">
                <a:latin typeface="Arial MT"/>
                <a:cs typeface="Arial MT"/>
              </a:rPr>
              <a:t>	B.</a:t>
            </a:r>
            <a:r>
              <a:rPr sz="1677" spc="4" dirty="0">
                <a:latin typeface="Arial MT"/>
                <a:cs typeface="Arial MT"/>
              </a:rPr>
              <a:t> </a:t>
            </a:r>
            <a:r>
              <a:rPr sz="1677" dirty="0">
                <a:latin typeface="Arial MT"/>
                <a:cs typeface="Arial MT"/>
              </a:rPr>
              <a:t>From</a:t>
            </a:r>
            <a:r>
              <a:rPr sz="1677" spc="13" dirty="0">
                <a:latin typeface="Arial MT"/>
                <a:cs typeface="Arial MT"/>
              </a:rPr>
              <a:t> </a:t>
            </a:r>
            <a:r>
              <a:rPr sz="1677" dirty="0">
                <a:latin typeface="Arial MT"/>
                <a:cs typeface="Arial MT"/>
              </a:rPr>
              <a:t>branch</a:t>
            </a:r>
            <a:r>
              <a:rPr sz="1677" spc="9" dirty="0">
                <a:latin typeface="Arial MT"/>
                <a:cs typeface="Arial MT"/>
              </a:rPr>
              <a:t> </a:t>
            </a:r>
            <a:r>
              <a:rPr sz="1677" spc="-9" dirty="0">
                <a:latin typeface="Arial MT"/>
                <a:cs typeface="Arial MT"/>
              </a:rPr>
              <a:t>target</a:t>
            </a:r>
            <a:r>
              <a:rPr sz="1677" dirty="0">
                <a:latin typeface="Arial MT"/>
                <a:cs typeface="Arial MT"/>
              </a:rPr>
              <a:t>	C.</a:t>
            </a:r>
            <a:r>
              <a:rPr sz="1677" spc="4" dirty="0">
                <a:latin typeface="Arial MT"/>
                <a:cs typeface="Arial MT"/>
              </a:rPr>
              <a:t> </a:t>
            </a:r>
            <a:r>
              <a:rPr sz="1677" dirty="0">
                <a:latin typeface="Arial MT"/>
                <a:cs typeface="Arial MT"/>
              </a:rPr>
              <a:t>From</a:t>
            </a:r>
            <a:r>
              <a:rPr sz="1677" spc="18" dirty="0">
                <a:latin typeface="Arial MT"/>
                <a:cs typeface="Arial MT"/>
              </a:rPr>
              <a:t> </a:t>
            </a:r>
            <a:r>
              <a:rPr sz="1677" dirty="0">
                <a:latin typeface="Arial MT"/>
                <a:cs typeface="Arial MT"/>
              </a:rPr>
              <a:t>fall</a:t>
            </a:r>
            <a:r>
              <a:rPr sz="1677" spc="9" dirty="0">
                <a:latin typeface="Arial MT"/>
                <a:cs typeface="Arial MT"/>
              </a:rPr>
              <a:t> </a:t>
            </a:r>
            <a:r>
              <a:rPr sz="1677" spc="-9" dirty="0">
                <a:latin typeface="Arial MT"/>
                <a:cs typeface="Arial MT"/>
              </a:rPr>
              <a:t>through</a:t>
            </a:r>
            <a:endParaRPr sz="1677" dirty="0">
              <a:latin typeface="Arial MT"/>
              <a:cs typeface="Arial MT"/>
            </a:endParaRPr>
          </a:p>
        </p:txBody>
      </p:sp>
      <p:grpSp>
        <p:nvGrpSpPr>
          <p:cNvPr id="64" name="Group 63">
            <a:extLst>
              <a:ext uri="{FF2B5EF4-FFF2-40B4-BE49-F238E27FC236}">
                <a16:creationId xmlns:a16="http://schemas.microsoft.com/office/drawing/2014/main" id="{041C48A0-E8E9-7D39-92BC-A77B774B0437}"/>
              </a:ext>
            </a:extLst>
          </p:cNvPr>
          <p:cNvGrpSpPr/>
          <p:nvPr/>
        </p:nvGrpSpPr>
        <p:grpSpPr>
          <a:xfrm>
            <a:off x="986118" y="1658471"/>
            <a:ext cx="2151529" cy="2057411"/>
            <a:chOff x="986118" y="1658471"/>
            <a:chExt cx="2151529" cy="2057411"/>
          </a:xfrm>
        </p:grpSpPr>
        <p:sp>
          <p:nvSpPr>
            <p:cNvPr id="10" name="object 10"/>
            <p:cNvSpPr/>
            <p:nvPr/>
          </p:nvSpPr>
          <p:spPr>
            <a:xfrm>
              <a:off x="2779059" y="2093258"/>
              <a:ext cx="215153" cy="0"/>
            </a:xfrm>
            <a:custGeom>
              <a:avLst/>
              <a:gdLst/>
              <a:ahLst/>
              <a:cxnLst/>
              <a:rect l="l" t="t" r="r" b="b"/>
              <a:pathLst>
                <a:path w="243839">
                  <a:moveTo>
                    <a:pt x="0" y="0"/>
                  </a:moveTo>
                  <a:lnTo>
                    <a:pt x="243839" y="1"/>
                  </a:lnTo>
                </a:path>
              </a:pathLst>
            </a:custGeom>
            <a:ln w="13546">
              <a:solidFill>
                <a:srgbClr val="000000"/>
              </a:solidFill>
            </a:ln>
          </p:spPr>
          <p:txBody>
            <a:bodyPr wrap="square" lIns="0" tIns="0" rIns="0" bIns="0" rtlCol="0"/>
            <a:lstStyle/>
            <a:p>
              <a:endParaRPr sz="1588"/>
            </a:p>
          </p:txBody>
        </p:sp>
        <p:sp>
          <p:nvSpPr>
            <p:cNvPr id="11" name="object 11"/>
            <p:cNvSpPr/>
            <p:nvPr/>
          </p:nvSpPr>
          <p:spPr>
            <a:xfrm>
              <a:off x="2994212" y="2093258"/>
              <a:ext cx="0" cy="1004047"/>
            </a:xfrm>
            <a:custGeom>
              <a:avLst/>
              <a:gdLst/>
              <a:ahLst/>
              <a:cxnLst/>
              <a:rect l="l" t="t" r="r" b="b"/>
              <a:pathLst>
                <a:path h="1137920">
                  <a:moveTo>
                    <a:pt x="0" y="0"/>
                  </a:moveTo>
                  <a:lnTo>
                    <a:pt x="1" y="1137919"/>
                  </a:lnTo>
                </a:path>
              </a:pathLst>
            </a:custGeom>
            <a:ln w="13546">
              <a:solidFill>
                <a:srgbClr val="000000"/>
              </a:solidFill>
            </a:ln>
          </p:spPr>
          <p:txBody>
            <a:bodyPr wrap="square" lIns="0" tIns="0" rIns="0" bIns="0" rtlCol="0"/>
            <a:lstStyle/>
            <a:p>
              <a:endParaRPr sz="1588"/>
            </a:p>
          </p:txBody>
        </p:sp>
        <p:grpSp>
          <p:nvGrpSpPr>
            <p:cNvPr id="61" name="Group 60">
              <a:extLst>
                <a:ext uri="{FF2B5EF4-FFF2-40B4-BE49-F238E27FC236}">
                  <a16:creationId xmlns:a16="http://schemas.microsoft.com/office/drawing/2014/main" id="{8F8FCB7F-FF9A-89B5-AD0C-CC526B75F044}"/>
                </a:ext>
              </a:extLst>
            </p:cNvPr>
            <p:cNvGrpSpPr/>
            <p:nvPr/>
          </p:nvGrpSpPr>
          <p:grpSpPr>
            <a:xfrm>
              <a:off x="986118" y="1658471"/>
              <a:ext cx="2151529" cy="2057411"/>
              <a:chOff x="986118" y="1658471"/>
              <a:chExt cx="2151529" cy="2057411"/>
            </a:xfrm>
          </p:grpSpPr>
          <p:grpSp>
            <p:nvGrpSpPr>
              <p:cNvPr id="2" name="Group 1">
                <a:extLst>
                  <a:ext uri="{FF2B5EF4-FFF2-40B4-BE49-F238E27FC236}">
                    <a16:creationId xmlns:a16="http://schemas.microsoft.com/office/drawing/2014/main" id="{2112B0AB-C438-95E8-5D57-FADD4BBDD655}"/>
                  </a:ext>
                </a:extLst>
              </p:cNvPr>
              <p:cNvGrpSpPr/>
              <p:nvPr/>
            </p:nvGrpSpPr>
            <p:grpSpPr>
              <a:xfrm>
                <a:off x="986118" y="1658471"/>
                <a:ext cx="2151529" cy="1725705"/>
                <a:chOff x="986118" y="1658471"/>
                <a:chExt cx="2151529" cy="1725705"/>
              </a:xfrm>
            </p:grpSpPr>
            <p:sp>
              <p:nvSpPr>
                <p:cNvPr id="5" name="object 5"/>
                <p:cNvSpPr/>
                <p:nvPr/>
              </p:nvSpPr>
              <p:spPr>
                <a:xfrm>
                  <a:off x="986118" y="1662952"/>
                  <a:ext cx="2151529" cy="1721224"/>
                </a:xfrm>
                <a:custGeom>
                  <a:avLst/>
                  <a:gdLst/>
                  <a:ahLst/>
                  <a:cxnLst/>
                  <a:rect l="l" t="t" r="r" b="b"/>
                  <a:pathLst>
                    <a:path w="2438400" h="1950720">
                      <a:moveTo>
                        <a:pt x="0" y="0"/>
                      </a:moveTo>
                      <a:lnTo>
                        <a:pt x="2438399" y="0"/>
                      </a:lnTo>
                      <a:lnTo>
                        <a:pt x="2438399" y="1950719"/>
                      </a:lnTo>
                      <a:lnTo>
                        <a:pt x="0" y="1950719"/>
                      </a:lnTo>
                      <a:lnTo>
                        <a:pt x="0" y="0"/>
                      </a:lnTo>
                      <a:close/>
                    </a:path>
                  </a:pathLst>
                </a:custGeom>
                <a:ln w="13546">
                  <a:solidFill>
                    <a:srgbClr val="000000"/>
                  </a:solidFill>
                </a:ln>
              </p:spPr>
              <p:txBody>
                <a:bodyPr wrap="square" lIns="0" tIns="0" rIns="0" bIns="0" rtlCol="0"/>
                <a:lstStyle/>
                <a:p>
                  <a:endParaRPr sz="1588"/>
                </a:p>
              </p:txBody>
            </p:sp>
            <p:sp>
              <p:nvSpPr>
                <p:cNvPr id="6" name="object 6"/>
                <p:cNvSpPr txBox="1"/>
                <p:nvPr/>
              </p:nvSpPr>
              <p:spPr>
                <a:xfrm>
                  <a:off x="1143000" y="1658471"/>
                  <a:ext cx="1682003" cy="527482"/>
                </a:xfrm>
                <a:prstGeom prst="rect">
                  <a:avLst/>
                </a:prstGeom>
              </p:spPr>
              <p:txBody>
                <a:bodyPr vert="horz" wrap="square" lIns="0" tIns="11206" rIns="0" bIns="0" rtlCol="0">
                  <a:spAutoFit/>
                </a:bodyPr>
                <a:lstStyle/>
                <a:p>
                  <a:pPr marR="4483">
                    <a:spcBef>
                      <a:spcPts val="88"/>
                    </a:spcBef>
                    <a:tabLst>
                      <a:tab pos="642131" algn="l"/>
                    </a:tabLst>
                  </a:pPr>
                  <a:r>
                    <a:rPr sz="1677" spc="-22" dirty="0">
                      <a:latin typeface="Courier New"/>
                      <a:cs typeface="Courier New"/>
                    </a:rPr>
                    <a:t>add</a:t>
                  </a:r>
                  <a:r>
                    <a:rPr sz="1677" dirty="0">
                      <a:latin typeface="Courier New"/>
                      <a:cs typeface="Courier New"/>
                    </a:rPr>
                    <a:t>	</a:t>
                  </a:r>
                  <a:r>
                    <a:rPr sz="1677" spc="-9" dirty="0">
                      <a:latin typeface="Courier New"/>
                      <a:cs typeface="Courier New"/>
                    </a:rPr>
                    <a:t>$1,$2,$3 </a:t>
                  </a:r>
                  <a:r>
                    <a:rPr sz="1677" dirty="0">
                      <a:latin typeface="Courier New"/>
                      <a:cs typeface="Courier New"/>
                    </a:rPr>
                    <a:t>if</a:t>
                  </a:r>
                  <a:r>
                    <a:rPr sz="1677" spc="18" dirty="0">
                      <a:latin typeface="Courier New"/>
                      <a:cs typeface="Courier New"/>
                    </a:rPr>
                    <a:t> </a:t>
                  </a:r>
                  <a:r>
                    <a:rPr sz="1677" dirty="0">
                      <a:latin typeface="Courier New"/>
                      <a:cs typeface="Courier New"/>
                    </a:rPr>
                    <a:t>$2=0</a:t>
                  </a:r>
                  <a:r>
                    <a:rPr sz="1677" spc="18" dirty="0">
                      <a:latin typeface="Courier New"/>
                      <a:cs typeface="Courier New"/>
                    </a:rPr>
                    <a:t> </a:t>
                  </a:r>
                  <a:r>
                    <a:rPr sz="1677" spc="-18" dirty="0">
                      <a:latin typeface="Courier New"/>
                      <a:cs typeface="Courier New"/>
                    </a:rPr>
                    <a:t>then</a:t>
                  </a:r>
                  <a:endParaRPr sz="1677" dirty="0">
                    <a:latin typeface="Courier New"/>
                    <a:cs typeface="Courier New"/>
                  </a:endParaRPr>
                </a:p>
              </p:txBody>
            </p:sp>
            <p:sp>
              <p:nvSpPr>
                <p:cNvPr id="7" name="object 7"/>
                <p:cNvSpPr txBox="1"/>
                <p:nvPr/>
              </p:nvSpPr>
              <p:spPr>
                <a:xfrm>
                  <a:off x="1129553" y="2236694"/>
                  <a:ext cx="1506071" cy="301648"/>
                </a:xfrm>
                <a:prstGeom prst="rect">
                  <a:avLst/>
                </a:prstGeom>
                <a:solidFill>
                  <a:srgbClr val="BEBEBE"/>
                </a:solidFill>
              </p:spPr>
              <p:txBody>
                <a:bodyPr vert="horz" wrap="square" lIns="0" tIns="43143" rIns="0" bIns="0" rtlCol="0">
                  <a:spAutoFit/>
                </a:bodyPr>
                <a:lstStyle/>
                <a:p>
                  <a:pPr marL="85730">
                    <a:spcBef>
                      <a:spcPts val="340"/>
                    </a:spcBef>
                  </a:pPr>
                  <a:r>
                    <a:rPr sz="1677" dirty="0">
                      <a:solidFill>
                        <a:srgbClr val="3366FF"/>
                      </a:solidFill>
                      <a:latin typeface="Arial MT"/>
                      <a:cs typeface="Arial MT"/>
                    </a:rPr>
                    <a:t>delay</a:t>
                  </a:r>
                  <a:r>
                    <a:rPr sz="1677" spc="-13" dirty="0">
                      <a:solidFill>
                        <a:srgbClr val="3366FF"/>
                      </a:solidFill>
                      <a:latin typeface="Arial MT"/>
                      <a:cs typeface="Arial MT"/>
                    </a:rPr>
                    <a:t> </a:t>
                  </a:r>
                  <a:r>
                    <a:rPr sz="1677" spc="-18" dirty="0">
                      <a:solidFill>
                        <a:srgbClr val="3366FF"/>
                      </a:solidFill>
                      <a:latin typeface="Arial MT"/>
                      <a:cs typeface="Arial MT"/>
                    </a:rPr>
                    <a:t>slot</a:t>
                  </a:r>
                  <a:endParaRPr sz="1677">
                    <a:latin typeface="Arial MT"/>
                    <a:cs typeface="Arial MT"/>
                  </a:endParaRPr>
                </a:p>
              </p:txBody>
            </p:sp>
          </p:grpSp>
          <p:sp>
            <p:nvSpPr>
              <p:cNvPr id="12" name="object 12"/>
              <p:cNvSpPr/>
              <p:nvPr/>
            </p:nvSpPr>
            <p:spPr>
              <a:xfrm>
                <a:off x="1949824" y="3061458"/>
                <a:ext cx="1044388" cy="654424"/>
              </a:xfrm>
              <a:custGeom>
                <a:avLst/>
                <a:gdLst/>
                <a:ahLst/>
                <a:cxnLst/>
                <a:rect l="l" t="t" r="r" b="b"/>
                <a:pathLst>
                  <a:path w="1183639" h="741679">
                    <a:moveTo>
                      <a:pt x="91440" y="650227"/>
                    </a:moveTo>
                    <a:lnTo>
                      <a:pt x="60960" y="650227"/>
                    </a:lnTo>
                    <a:lnTo>
                      <a:pt x="60960" y="335267"/>
                    </a:lnTo>
                    <a:lnTo>
                      <a:pt x="30480" y="335267"/>
                    </a:lnTo>
                    <a:lnTo>
                      <a:pt x="30480" y="650227"/>
                    </a:lnTo>
                    <a:lnTo>
                      <a:pt x="0" y="650227"/>
                    </a:lnTo>
                    <a:lnTo>
                      <a:pt x="45720" y="741667"/>
                    </a:lnTo>
                    <a:lnTo>
                      <a:pt x="83820" y="665467"/>
                    </a:lnTo>
                    <a:lnTo>
                      <a:pt x="91440" y="650227"/>
                    </a:lnTo>
                    <a:close/>
                  </a:path>
                  <a:path w="1183639" h="741679">
                    <a:moveTo>
                      <a:pt x="1183640" y="33858"/>
                    </a:moveTo>
                    <a:lnTo>
                      <a:pt x="777240" y="33858"/>
                    </a:lnTo>
                    <a:lnTo>
                      <a:pt x="777240" y="0"/>
                    </a:lnTo>
                    <a:lnTo>
                      <a:pt x="695960" y="40640"/>
                    </a:lnTo>
                    <a:lnTo>
                      <a:pt x="777240" y="81280"/>
                    </a:lnTo>
                    <a:lnTo>
                      <a:pt x="777240" y="47409"/>
                    </a:lnTo>
                    <a:lnTo>
                      <a:pt x="1183640" y="47409"/>
                    </a:lnTo>
                    <a:lnTo>
                      <a:pt x="1183640" y="33858"/>
                    </a:lnTo>
                    <a:close/>
                  </a:path>
                </a:pathLst>
              </a:custGeom>
              <a:solidFill>
                <a:srgbClr val="000000"/>
              </a:solidFill>
            </p:spPr>
            <p:txBody>
              <a:bodyPr wrap="square" lIns="0" tIns="0" rIns="0" bIns="0" rtlCol="0"/>
              <a:lstStyle/>
              <a:p>
                <a:endParaRPr sz="1588"/>
              </a:p>
            </p:txBody>
          </p:sp>
        </p:grpSp>
      </p:grpSp>
      <p:grpSp>
        <p:nvGrpSpPr>
          <p:cNvPr id="62" name="Group 61">
            <a:extLst>
              <a:ext uri="{FF2B5EF4-FFF2-40B4-BE49-F238E27FC236}">
                <a16:creationId xmlns:a16="http://schemas.microsoft.com/office/drawing/2014/main" id="{576E9FD1-9690-06DA-C4EA-3942F3896D00}"/>
              </a:ext>
            </a:extLst>
          </p:cNvPr>
          <p:cNvGrpSpPr/>
          <p:nvPr/>
        </p:nvGrpSpPr>
        <p:grpSpPr>
          <a:xfrm>
            <a:off x="3567952" y="1649505"/>
            <a:ext cx="2151529" cy="2066367"/>
            <a:chOff x="3567952" y="1649505"/>
            <a:chExt cx="2151529" cy="2066367"/>
          </a:xfrm>
        </p:grpSpPr>
        <p:grpSp>
          <p:nvGrpSpPr>
            <p:cNvPr id="16" name="object 16"/>
            <p:cNvGrpSpPr/>
            <p:nvPr/>
          </p:nvGrpSpPr>
          <p:grpSpPr>
            <a:xfrm>
              <a:off x="4675096" y="1828801"/>
              <a:ext cx="907116" cy="1887071"/>
              <a:chOff x="5146041" y="2072641"/>
              <a:chExt cx="1028065" cy="2138680"/>
            </a:xfrm>
          </p:grpSpPr>
          <p:sp>
            <p:nvSpPr>
              <p:cNvPr id="17" name="object 17"/>
              <p:cNvSpPr/>
              <p:nvPr/>
            </p:nvSpPr>
            <p:spPr>
              <a:xfrm>
                <a:off x="5923280" y="3251200"/>
                <a:ext cx="243840" cy="0"/>
              </a:xfrm>
              <a:custGeom>
                <a:avLst/>
                <a:gdLst/>
                <a:ahLst/>
                <a:cxnLst/>
                <a:rect l="l" t="t" r="r" b="b"/>
                <a:pathLst>
                  <a:path w="243839">
                    <a:moveTo>
                      <a:pt x="0" y="0"/>
                    </a:moveTo>
                    <a:lnTo>
                      <a:pt x="243839" y="1"/>
                    </a:lnTo>
                  </a:path>
                </a:pathLst>
              </a:custGeom>
              <a:ln w="13546">
                <a:solidFill>
                  <a:srgbClr val="000000"/>
                </a:solidFill>
              </a:ln>
            </p:spPr>
            <p:txBody>
              <a:bodyPr wrap="square" lIns="0" tIns="0" rIns="0" bIns="0" rtlCol="0"/>
              <a:lstStyle/>
              <a:p>
                <a:endParaRPr sz="1588"/>
              </a:p>
            </p:txBody>
          </p:sp>
          <p:sp>
            <p:nvSpPr>
              <p:cNvPr id="18" name="object 18"/>
              <p:cNvSpPr/>
              <p:nvPr/>
            </p:nvSpPr>
            <p:spPr>
              <a:xfrm>
                <a:off x="6167120" y="2113280"/>
                <a:ext cx="0" cy="1137920"/>
              </a:xfrm>
              <a:custGeom>
                <a:avLst/>
                <a:gdLst/>
                <a:ahLst/>
                <a:cxnLst/>
                <a:rect l="l" t="t" r="r" b="b"/>
                <a:pathLst>
                  <a:path h="1137920">
                    <a:moveTo>
                      <a:pt x="0" y="0"/>
                    </a:moveTo>
                    <a:lnTo>
                      <a:pt x="1" y="1137919"/>
                    </a:lnTo>
                  </a:path>
                </a:pathLst>
              </a:custGeom>
              <a:ln w="13546">
                <a:solidFill>
                  <a:srgbClr val="000000"/>
                </a:solidFill>
              </a:ln>
            </p:spPr>
            <p:txBody>
              <a:bodyPr wrap="square" lIns="0" tIns="0" rIns="0" bIns="0" rtlCol="0"/>
              <a:lstStyle/>
              <a:p>
                <a:endParaRPr sz="1588"/>
              </a:p>
            </p:txBody>
          </p:sp>
          <p:pic>
            <p:nvPicPr>
              <p:cNvPr id="19" name="object 19"/>
              <p:cNvPicPr/>
              <p:nvPr/>
            </p:nvPicPr>
            <p:blipFill>
              <a:blip r:embed="rId2" cstate="print"/>
              <a:stretch>
                <a:fillRect/>
              </a:stretch>
            </p:blipFill>
            <p:spPr>
              <a:xfrm>
                <a:off x="5923280" y="2072641"/>
                <a:ext cx="243840" cy="81279"/>
              </a:xfrm>
              <a:prstGeom prst="rect">
                <a:avLst/>
              </a:prstGeom>
            </p:spPr>
          </p:pic>
          <p:sp>
            <p:nvSpPr>
              <p:cNvPr id="20" name="object 20"/>
              <p:cNvSpPr/>
              <p:nvPr/>
            </p:nvSpPr>
            <p:spPr>
              <a:xfrm>
                <a:off x="5146041" y="3804920"/>
                <a:ext cx="91440" cy="406400"/>
              </a:xfrm>
              <a:custGeom>
                <a:avLst/>
                <a:gdLst/>
                <a:ahLst/>
                <a:cxnLst/>
                <a:rect l="l" t="t" r="r" b="b"/>
                <a:pathLst>
                  <a:path w="91439" h="406400">
                    <a:moveTo>
                      <a:pt x="30479" y="314959"/>
                    </a:moveTo>
                    <a:lnTo>
                      <a:pt x="0" y="314959"/>
                    </a:lnTo>
                    <a:lnTo>
                      <a:pt x="45719" y="406400"/>
                    </a:lnTo>
                    <a:lnTo>
                      <a:pt x="83819" y="330200"/>
                    </a:lnTo>
                    <a:lnTo>
                      <a:pt x="30479" y="330200"/>
                    </a:lnTo>
                    <a:lnTo>
                      <a:pt x="30479" y="314959"/>
                    </a:lnTo>
                    <a:close/>
                  </a:path>
                  <a:path w="91439" h="406400">
                    <a:moveTo>
                      <a:pt x="60958" y="0"/>
                    </a:moveTo>
                    <a:lnTo>
                      <a:pt x="30478" y="0"/>
                    </a:lnTo>
                    <a:lnTo>
                      <a:pt x="30479" y="330200"/>
                    </a:lnTo>
                    <a:lnTo>
                      <a:pt x="60959" y="330200"/>
                    </a:lnTo>
                    <a:lnTo>
                      <a:pt x="60958" y="0"/>
                    </a:lnTo>
                    <a:close/>
                  </a:path>
                  <a:path w="91439" h="406400">
                    <a:moveTo>
                      <a:pt x="91439" y="314959"/>
                    </a:moveTo>
                    <a:lnTo>
                      <a:pt x="60959" y="314959"/>
                    </a:lnTo>
                    <a:lnTo>
                      <a:pt x="60959" y="330200"/>
                    </a:lnTo>
                    <a:lnTo>
                      <a:pt x="83819" y="330200"/>
                    </a:lnTo>
                    <a:lnTo>
                      <a:pt x="91439" y="314959"/>
                    </a:lnTo>
                    <a:close/>
                  </a:path>
                </a:pathLst>
              </a:custGeom>
              <a:solidFill>
                <a:srgbClr val="000000"/>
              </a:solidFill>
            </p:spPr>
            <p:txBody>
              <a:bodyPr wrap="square" lIns="0" tIns="0" rIns="0" bIns="0" rtlCol="0"/>
              <a:lstStyle/>
              <a:p>
                <a:endParaRPr sz="1588"/>
              </a:p>
            </p:txBody>
          </p:sp>
        </p:grpSp>
        <p:grpSp>
          <p:nvGrpSpPr>
            <p:cNvPr id="55" name="Group 54">
              <a:extLst>
                <a:ext uri="{FF2B5EF4-FFF2-40B4-BE49-F238E27FC236}">
                  <a16:creationId xmlns:a16="http://schemas.microsoft.com/office/drawing/2014/main" id="{44BFC2C7-C6A0-8192-4F4F-21CF49761AE3}"/>
                </a:ext>
              </a:extLst>
            </p:cNvPr>
            <p:cNvGrpSpPr/>
            <p:nvPr/>
          </p:nvGrpSpPr>
          <p:grpSpPr>
            <a:xfrm>
              <a:off x="3567952" y="1649505"/>
              <a:ext cx="2151529" cy="1721224"/>
              <a:chOff x="3567952" y="1649505"/>
              <a:chExt cx="2151529" cy="1721224"/>
            </a:xfrm>
          </p:grpSpPr>
          <p:sp>
            <p:nvSpPr>
              <p:cNvPr id="13" name="object 13"/>
              <p:cNvSpPr/>
              <p:nvPr/>
            </p:nvSpPr>
            <p:spPr>
              <a:xfrm>
                <a:off x="3567952" y="1649505"/>
                <a:ext cx="2151529" cy="1721224"/>
              </a:xfrm>
              <a:custGeom>
                <a:avLst/>
                <a:gdLst/>
                <a:ahLst/>
                <a:cxnLst/>
                <a:rect l="l" t="t" r="r" b="b"/>
                <a:pathLst>
                  <a:path w="2438400" h="1950720">
                    <a:moveTo>
                      <a:pt x="0" y="0"/>
                    </a:moveTo>
                    <a:lnTo>
                      <a:pt x="2438399" y="0"/>
                    </a:lnTo>
                    <a:lnTo>
                      <a:pt x="2438399" y="1950719"/>
                    </a:lnTo>
                    <a:lnTo>
                      <a:pt x="0" y="1950719"/>
                    </a:lnTo>
                    <a:lnTo>
                      <a:pt x="0" y="0"/>
                    </a:lnTo>
                    <a:close/>
                  </a:path>
                </a:pathLst>
              </a:custGeom>
              <a:ln w="13546">
                <a:solidFill>
                  <a:srgbClr val="000000"/>
                </a:solidFill>
              </a:ln>
            </p:spPr>
            <p:txBody>
              <a:bodyPr wrap="square" lIns="0" tIns="0" rIns="0" bIns="0" rtlCol="0"/>
              <a:lstStyle/>
              <a:p>
                <a:endParaRPr sz="1588"/>
              </a:p>
            </p:txBody>
          </p:sp>
          <p:sp>
            <p:nvSpPr>
              <p:cNvPr id="14" name="object 14"/>
              <p:cNvSpPr txBox="1"/>
              <p:nvPr/>
            </p:nvSpPr>
            <p:spPr>
              <a:xfrm>
                <a:off x="3724834" y="2419575"/>
                <a:ext cx="1682003" cy="529783"/>
              </a:xfrm>
              <a:prstGeom prst="rect">
                <a:avLst/>
              </a:prstGeom>
            </p:spPr>
            <p:txBody>
              <a:bodyPr vert="horz" wrap="square" lIns="0" tIns="8404" rIns="0" bIns="0" rtlCol="0">
                <a:spAutoFit/>
              </a:bodyPr>
              <a:lstStyle/>
              <a:p>
                <a:pPr marR="4483">
                  <a:lnSpc>
                    <a:spcPct val="101099"/>
                  </a:lnSpc>
                  <a:spcBef>
                    <a:spcPts val="66"/>
                  </a:spcBef>
                  <a:tabLst>
                    <a:tab pos="642131" algn="l"/>
                  </a:tabLst>
                </a:pPr>
                <a:r>
                  <a:rPr sz="1677" spc="-22" dirty="0">
                    <a:latin typeface="Courier New"/>
                    <a:cs typeface="Courier New"/>
                  </a:rPr>
                  <a:t>add</a:t>
                </a:r>
                <a:r>
                  <a:rPr sz="1677" dirty="0">
                    <a:latin typeface="Courier New"/>
                    <a:cs typeface="Courier New"/>
                  </a:rPr>
                  <a:t>	</a:t>
                </a:r>
                <a:r>
                  <a:rPr sz="1677" spc="-9" dirty="0">
                    <a:latin typeface="Courier New"/>
                    <a:cs typeface="Courier New"/>
                  </a:rPr>
                  <a:t>$1,$2,$3 </a:t>
                </a:r>
                <a:r>
                  <a:rPr sz="1677" dirty="0">
                    <a:latin typeface="Courier New"/>
                    <a:cs typeface="Courier New"/>
                  </a:rPr>
                  <a:t>if</a:t>
                </a:r>
                <a:r>
                  <a:rPr sz="1677" spc="18" dirty="0">
                    <a:latin typeface="Courier New"/>
                    <a:cs typeface="Courier New"/>
                  </a:rPr>
                  <a:t> </a:t>
                </a:r>
                <a:r>
                  <a:rPr sz="1677" dirty="0">
                    <a:latin typeface="Courier New"/>
                    <a:cs typeface="Courier New"/>
                  </a:rPr>
                  <a:t>$1=0</a:t>
                </a:r>
                <a:r>
                  <a:rPr sz="1677" spc="18" dirty="0">
                    <a:latin typeface="Courier New"/>
                    <a:cs typeface="Courier New"/>
                  </a:rPr>
                  <a:t> </a:t>
                </a:r>
                <a:r>
                  <a:rPr sz="1677" spc="-18" dirty="0">
                    <a:latin typeface="Courier New"/>
                    <a:cs typeface="Courier New"/>
                  </a:rPr>
                  <a:t>then</a:t>
                </a:r>
                <a:endParaRPr sz="1677">
                  <a:latin typeface="Courier New"/>
                  <a:cs typeface="Courier New"/>
                </a:endParaRPr>
              </a:p>
            </p:txBody>
          </p:sp>
          <p:sp>
            <p:nvSpPr>
              <p:cNvPr id="15" name="object 15"/>
              <p:cNvSpPr txBox="1"/>
              <p:nvPr/>
            </p:nvSpPr>
            <p:spPr>
              <a:xfrm>
                <a:off x="3711388" y="2953871"/>
                <a:ext cx="1506071" cy="299951"/>
              </a:xfrm>
              <a:prstGeom prst="rect">
                <a:avLst/>
              </a:prstGeom>
              <a:solidFill>
                <a:srgbClr val="BEBEBE"/>
              </a:solidFill>
            </p:spPr>
            <p:txBody>
              <a:bodyPr vert="horz" wrap="square" lIns="0" tIns="41462" rIns="0" bIns="0" rtlCol="0">
                <a:spAutoFit/>
              </a:bodyPr>
              <a:lstStyle/>
              <a:p>
                <a:pPr marL="85730">
                  <a:spcBef>
                    <a:spcPts val="326"/>
                  </a:spcBef>
                </a:pPr>
                <a:r>
                  <a:rPr sz="1677" dirty="0">
                    <a:solidFill>
                      <a:srgbClr val="3366FF"/>
                    </a:solidFill>
                    <a:latin typeface="Arial MT"/>
                    <a:cs typeface="Arial MT"/>
                  </a:rPr>
                  <a:t>delay</a:t>
                </a:r>
                <a:r>
                  <a:rPr sz="1677" spc="-13" dirty="0">
                    <a:solidFill>
                      <a:srgbClr val="3366FF"/>
                    </a:solidFill>
                    <a:latin typeface="Arial MT"/>
                    <a:cs typeface="Arial MT"/>
                  </a:rPr>
                  <a:t> </a:t>
                </a:r>
                <a:r>
                  <a:rPr sz="1677" spc="-18" dirty="0">
                    <a:solidFill>
                      <a:srgbClr val="3366FF"/>
                    </a:solidFill>
                    <a:latin typeface="Arial MT"/>
                    <a:cs typeface="Arial MT"/>
                  </a:rPr>
                  <a:t>slot</a:t>
                </a:r>
                <a:endParaRPr sz="1677">
                  <a:latin typeface="Arial MT"/>
                  <a:cs typeface="Arial MT"/>
                </a:endParaRPr>
              </a:p>
            </p:txBody>
          </p:sp>
          <p:sp>
            <p:nvSpPr>
              <p:cNvPr id="29" name="object 29"/>
              <p:cNvSpPr txBox="1"/>
              <p:nvPr/>
            </p:nvSpPr>
            <p:spPr>
              <a:xfrm>
                <a:off x="3724835" y="1728395"/>
                <a:ext cx="1553135" cy="269399"/>
              </a:xfrm>
              <a:prstGeom prst="rect">
                <a:avLst/>
              </a:prstGeom>
            </p:spPr>
            <p:txBody>
              <a:bodyPr vert="horz" wrap="square" lIns="0" tIns="11206" rIns="0" bIns="0" rtlCol="0">
                <a:spAutoFit/>
              </a:bodyPr>
              <a:lstStyle/>
              <a:p>
                <a:pPr>
                  <a:spcBef>
                    <a:spcPts val="88"/>
                  </a:spcBef>
                </a:pPr>
                <a:r>
                  <a:rPr sz="1677" dirty="0">
                    <a:latin typeface="Courier New"/>
                    <a:cs typeface="Courier New"/>
                  </a:rPr>
                  <a:t>sub</a:t>
                </a:r>
                <a:r>
                  <a:rPr sz="1677" spc="18" dirty="0">
                    <a:latin typeface="Courier New"/>
                    <a:cs typeface="Courier New"/>
                  </a:rPr>
                  <a:t> </a:t>
                </a:r>
                <a:r>
                  <a:rPr sz="1677" spc="-9" dirty="0">
                    <a:latin typeface="Courier New"/>
                    <a:cs typeface="Courier New"/>
                  </a:rPr>
                  <a:t>$4,$5,$6</a:t>
                </a:r>
                <a:endParaRPr sz="1677">
                  <a:latin typeface="Courier New"/>
                  <a:cs typeface="Courier New"/>
                </a:endParaRPr>
              </a:p>
            </p:txBody>
          </p:sp>
        </p:grpSp>
      </p:grpSp>
      <p:grpSp>
        <p:nvGrpSpPr>
          <p:cNvPr id="63" name="Group 62">
            <a:extLst>
              <a:ext uri="{FF2B5EF4-FFF2-40B4-BE49-F238E27FC236}">
                <a16:creationId xmlns:a16="http://schemas.microsoft.com/office/drawing/2014/main" id="{B966B956-D999-8758-F6CF-BBE53D130333}"/>
              </a:ext>
            </a:extLst>
          </p:cNvPr>
          <p:cNvGrpSpPr/>
          <p:nvPr/>
        </p:nvGrpSpPr>
        <p:grpSpPr>
          <a:xfrm>
            <a:off x="6149788" y="1645023"/>
            <a:ext cx="2151529" cy="2070858"/>
            <a:chOff x="6149788" y="1645023"/>
            <a:chExt cx="2151529" cy="2070858"/>
          </a:xfrm>
        </p:grpSpPr>
        <p:sp>
          <p:nvSpPr>
            <p:cNvPr id="27" name="object 27"/>
            <p:cNvSpPr/>
            <p:nvPr/>
          </p:nvSpPr>
          <p:spPr>
            <a:xfrm>
              <a:off x="7256929" y="3048010"/>
              <a:ext cx="900953" cy="667871"/>
            </a:xfrm>
            <a:custGeom>
              <a:avLst/>
              <a:gdLst/>
              <a:ahLst/>
              <a:cxnLst/>
              <a:rect l="l" t="t" r="r" b="b"/>
              <a:pathLst>
                <a:path w="1021079" h="756920">
                  <a:moveTo>
                    <a:pt x="91440" y="665467"/>
                  </a:moveTo>
                  <a:lnTo>
                    <a:pt x="60960" y="665467"/>
                  </a:lnTo>
                  <a:lnTo>
                    <a:pt x="60960" y="350507"/>
                  </a:lnTo>
                  <a:lnTo>
                    <a:pt x="30480" y="350507"/>
                  </a:lnTo>
                  <a:lnTo>
                    <a:pt x="30480" y="665467"/>
                  </a:lnTo>
                  <a:lnTo>
                    <a:pt x="0" y="665467"/>
                  </a:lnTo>
                  <a:lnTo>
                    <a:pt x="45720" y="756907"/>
                  </a:lnTo>
                  <a:lnTo>
                    <a:pt x="83820" y="680707"/>
                  </a:lnTo>
                  <a:lnTo>
                    <a:pt x="91440" y="665467"/>
                  </a:lnTo>
                  <a:close/>
                </a:path>
                <a:path w="1021079" h="756920">
                  <a:moveTo>
                    <a:pt x="1021080" y="33858"/>
                  </a:moveTo>
                  <a:lnTo>
                    <a:pt x="777240" y="33858"/>
                  </a:lnTo>
                  <a:lnTo>
                    <a:pt x="777240" y="0"/>
                  </a:lnTo>
                  <a:lnTo>
                    <a:pt x="695960" y="40640"/>
                  </a:lnTo>
                  <a:lnTo>
                    <a:pt x="777240" y="81280"/>
                  </a:lnTo>
                  <a:lnTo>
                    <a:pt x="777240" y="47409"/>
                  </a:lnTo>
                  <a:lnTo>
                    <a:pt x="1021080" y="47409"/>
                  </a:lnTo>
                  <a:lnTo>
                    <a:pt x="1021080" y="33858"/>
                  </a:lnTo>
                  <a:close/>
                </a:path>
              </a:pathLst>
            </a:custGeom>
            <a:solidFill>
              <a:srgbClr val="000000"/>
            </a:solidFill>
          </p:spPr>
          <p:txBody>
            <a:bodyPr wrap="square" lIns="0" tIns="0" rIns="0" bIns="0" rtlCol="0"/>
            <a:lstStyle/>
            <a:p>
              <a:endParaRPr sz="1588"/>
            </a:p>
          </p:txBody>
        </p:sp>
        <p:grpSp>
          <p:nvGrpSpPr>
            <p:cNvPr id="59" name="Group 58">
              <a:extLst>
                <a:ext uri="{FF2B5EF4-FFF2-40B4-BE49-F238E27FC236}">
                  <a16:creationId xmlns:a16="http://schemas.microsoft.com/office/drawing/2014/main" id="{316E4F01-5163-7CB6-7F33-459248D71AFF}"/>
                </a:ext>
              </a:extLst>
            </p:cNvPr>
            <p:cNvGrpSpPr/>
            <p:nvPr/>
          </p:nvGrpSpPr>
          <p:grpSpPr>
            <a:xfrm>
              <a:off x="6149788" y="1645023"/>
              <a:ext cx="2151529" cy="1725706"/>
              <a:chOff x="6149788" y="1645023"/>
              <a:chExt cx="2151529" cy="1725706"/>
            </a:xfrm>
          </p:grpSpPr>
          <p:sp>
            <p:nvSpPr>
              <p:cNvPr id="25" name="object 25"/>
              <p:cNvSpPr/>
              <p:nvPr/>
            </p:nvSpPr>
            <p:spPr>
              <a:xfrm>
                <a:off x="7942730" y="2079811"/>
                <a:ext cx="215153" cy="0"/>
              </a:xfrm>
              <a:custGeom>
                <a:avLst/>
                <a:gdLst/>
                <a:ahLst/>
                <a:cxnLst/>
                <a:rect l="l" t="t" r="r" b="b"/>
                <a:pathLst>
                  <a:path w="243840">
                    <a:moveTo>
                      <a:pt x="0" y="0"/>
                    </a:moveTo>
                    <a:lnTo>
                      <a:pt x="243839" y="1"/>
                    </a:lnTo>
                  </a:path>
                </a:pathLst>
              </a:custGeom>
              <a:ln w="13546">
                <a:solidFill>
                  <a:srgbClr val="000000"/>
                </a:solidFill>
              </a:ln>
            </p:spPr>
            <p:txBody>
              <a:bodyPr wrap="square" lIns="0" tIns="0" rIns="0" bIns="0" rtlCol="0"/>
              <a:lstStyle/>
              <a:p>
                <a:endParaRPr sz="1588"/>
              </a:p>
            </p:txBody>
          </p:sp>
          <p:sp>
            <p:nvSpPr>
              <p:cNvPr id="26" name="object 26"/>
              <p:cNvSpPr/>
              <p:nvPr/>
            </p:nvSpPr>
            <p:spPr>
              <a:xfrm>
                <a:off x="8157882" y="2079811"/>
                <a:ext cx="0" cy="1004047"/>
              </a:xfrm>
              <a:custGeom>
                <a:avLst/>
                <a:gdLst/>
                <a:ahLst/>
                <a:cxnLst/>
                <a:rect l="l" t="t" r="r" b="b"/>
                <a:pathLst>
                  <a:path h="1137920">
                    <a:moveTo>
                      <a:pt x="0" y="0"/>
                    </a:moveTo>
                    <a:lnTo>
                      <a:pt x="1" y="1137919"/>
                    </a:lnTo>
                  </a:path>
                </a:pathLst>
              </a:custGeom>
              <a:ln w="13546">
                <a:solidFill>
                  <a:srgbClr val="000000"/>
                </a:solidFill>
              </a:ln>
            </p:spPr>
            <p:txBody>
              <a:bodyPr wrap="square" lIns="0" tIns="0" rIns="0" bIns="0" rtlCol="0"/>
              <a:lstStyle/>
              <a:p>
                <a:endParaRPr sz="1588"/>
              </a:p>
            </p:txBody>
          </p:sp>
          <p:grpSp>
            <p:nvGrpSpPr>
              <p:cNvPr id="57" name="Group 56">
                <a:extLst>
                  <a:ext uri="{FF2B5EF4-FFF2-40B4-BE49-F238E27FC236}">
                    <a16:creationId xmlns:a16="http://schemas.microsoft.com/office/drawing/2014/main" id="{1972EC57-0723-E897-FC0A-7C8C07D04D52}"/>
                  </a:ext>
                </a:extLst>
              </p:cNvPr>
              <p:cNvGrpSpPr/>
              <p:nvPr/>
            </p:nvGrpSpPr>
            <p:grpSpPr>
              <a:xfrm>
                <a:off x="6149788" y="1645023"/>
                <a:ext cx="2151529" cy="1725706"/>
                <a:chOff x="6149788" y="1645023"/>
                <a:chExt cx="2151529" cy="1725706"/>
              </a:xfrm>
            </p:grpSpPr>
            <p:sp>
              <p:nvSpPr>
                <p:cNvPr id="21" name="object 21"/>
                <p:cNvSpPr/>
                <p:nvPr/>
              </p:nvSpPr>
              <p:spPr>
                <a:xfrm>
                  <a:off x="6149788" y="1649505"/>
                  <a:ext cx="2151529" cy="1721224"/>
                </a:xfrm>
                <a:custGeom>
                  <a:avLst/>
                  <a:gdLst/>
                  <a:ahLst/>
                  <a:cxnLst/>
                  <a:rect l="l" t="t" r="r" b="b"/>
                  <a:pathLst>
                    <a:path w="2438400" h="1950720">
                      <a:moveTo>
                        <a:pt x="0" y="0"/>
                      </a:moveTo>
                      <a:lnTo>
                        <a:pt x="2438399" y="0"/>
                      </a:lnTo>
                      <a:lnTo>
                        <a:pt x="2438399" y="1950719"/>
                      </a:lnTo>
                      <a:lnTo>
                        <a:pt x="0" y="1950719"/>
                      </a:lnTo>
                      <a:lnTo>
                        <a:pt x="0" y="0"/>
                      </a:lnTo>
                      <a:close/>
                    </a:path>
                  </a:pathLst>
                </a:custGeom>
                <a:ln w="13546">
                  <a:solidFill>
                    <a:srgbClr val="000000"/>
                  </a:solidFill>
                </a:ln>
              </p:spPr>
              <p:txBody>
                <a:bodyPr wrap="square" lIns="0" tIns="0" rIns="0" bIns="0" rtlCol="0"/>
                <a:lstStyle/>
                <a:p>
                  <a:endParaRPr sz="1588"/>
                </a:p>
              </p:txBody>
            </p:sp>
            <p:sp>
              <p:nvSpPr>
                <p:cNvPr id="22" name="object 22"/>
                <p:cNvSpPr txBox="1"/>
                <p:nvPr/>
              </p:nvSpPr>
              <p:spPr>
                <a:xfrm>
                  <a:off x="6306670" y="1645023"/>
                  <a:ext cx="1682003" cy="527482"/>
                </a:xfrm>
                <a:prstGeom prst="rect">
                  <a:avLst/>
                </a:prstGeom>
              </p:spPr>
              <p:txBody>
                <a:bodyPr vert="horz" wrap="square" lIns="0" tIns="11206" rIns="0" bIns="0" rtlCol="0">
                  <a:spAutoFit/>
                </a:bodyPr>
                <a:lstStyle/>
                <a:p>
                  <a:pPr marR="4483">
                    <a:spcBef>
                      <a:spcPts val="88"/>
                    </a:spcBef>
                    <a:tabLst>
                      <a:tab pos="642131" algn="l"/>
                    </a:tabLst>
                  </a:pPr>
                  <a:r>
                    <a:rPr sz="1677" spc="-22" dirty="0">
                      <a:latin typeface="Courier New"/>
                      <a:cs typeface="Courier New"/>
                    </a:rPr>
                    <a:t>add</a:t>
                  </a:r>
                  <a:r>
                    <a:rPr sz="1677" dirty="0">
                      <a:latin typeface="Courier New"/>
                      <a:cs typeface="Courier New"/>
                    </a:rPr>
                    <a:t>	</a:t>
                  </a:r>
                  <a:r>
                    <a:rPr sz="1677" spc="-9" dirty="0">
                      <a:latin typeface="Courier New"/>
                      <a:cs typeface="Courier New"/>
                    </a:rPr>
                    <a:t>$1,$2,$3 </a:t>
                  </a:r>
                  <a:r>
                    <a:rPr sz="1677" dirty="0">
                      <a:latin typeface="Courier New"/>
                      <a:cs typeface="Courier New"/>
                    </a:rPr>
                    <a:t>if</a:t>
                  </a:r>
                  <a:r>
                    <a:rPr sz="1677" spc="18" dirty="0">
                      <a:latin typeface="Courier New"/>
                      <a:cs typeface="Courier New"/>
                    </a:rPr>
                    <a:t> </a:t>
                  </a:r>
                  <a:r>
                    <a:rPr sz="1677" dirty="0">
                      <a:latin typeface="Courier New"/>
                      <a:cs typeface="Courier New"/>
                    </a:rPr>
                    <a:t>$1=0</a:t>
                  </a:r>
                  <a:r>
                    <a:rPr sz="1677" spc="18" dirty="0">
                      <a:latin typeface="Courier New"/>
                      <a:cs typeface="Courier New"/>
                    </a:rPr>
                    <a:t> </a:t>
                  </a:r>
                  <a:r>
                    <a:rPr sz="1677" spc="-18" dirty="0">
                      <a:latin typeface="Courier New"/>
                      <a:cs typeface="Courier New"/>
                    </a:rPr>
                    <a:t>then</a:t>
                  </a:r>
                  <a:endParaRPr sz="1677">
                    <a:latin typeface="Courier New"/>
                    <a:cs typeface="Courier New"/>
                  </a:endParaRPr>
                </a:p>
              </p:txBody>
            </p:sp>
            <p:sp>
              <p:nvSpPr>
                <p:cNvPr id="23" name="object 23"/>
                <p:cNvSpPr txBox="1"/>
                <p:nvPr/>
              </p:nvSpPr>
              <p:spPr>
                <a:xfrm>
                  <a:off x="6293222" y="2223246"/>
                  <a:ext cx="1506071" cy="301648"/>
                </a:xfrm>
                <a:prstGeom prst="rect">
                  <a:avLst/>
                </a:prstGeom>
                <a:solidFill>
                  <a:srgbClr val="BEBEBE"/>
                </a:solidFill>
              </p:spPr>
              <p:txBody>
                <a:bodyPr vert="horz" wrap="square" lIns="0" tIns="43143" rIns="0" bIns="0" rtlCol="0">
                  <a:spAutoFit/>
                </a:bodyPr>
                <a:lstStyle/>
                <a:p>
                  <a:pPr marL="85730">
                    <a:spcBef>
                      <a:spcPts val="340"/>
                    </a:spcBef>
                  </a:pPr>
                  <a:r>
                    <a:rPr sz="1677" dirty="0">
                      <a:solidFill>
                        <a:srgbClr val="3366FF"/>
                      </a:solidFill>
                      <a:latin typeface="Arial MT"/>
                      <a:cs typeface="Arial MT"/>
                    </a:rPr>
                    <a:t>delay</a:t>
                  </a:r>
                  <a:r>
                    <a:rPr sz="1677" spc="-13" dirty="0">
                      <a:solidFill>
                        <a:srgbClr val="3366FF"/>
                      </a:solidFill>
                      <a:latin typeface="Arial MT"/>
                      <a:cs typeface="Arial MT"/>
                    </a:rPr>
                    <a:t> </a:t>
                  </a:r>
                  <a:r>
                    <a:rPr sz="1677" spc="-18" dirty="0">
                      <a:solidFill>
                        <a:srgbClr val="3366FF"/>
                      </a:solidFill>
                      <a:latin typeface="Arial MT"/>
                      <a:cs typeface="Arial MT"/>
                    </a:rPr>
                    <a:t>slot</a:t>
                  </a:r>
                  <a:endParaRPr sz="1677">
                    <a:latin typeface="Arial MT"/>
                    <a:cs typeface="Arial MT"/>
                  </a:endParaRPr>
                </a:p>
              </p:txBody>
            </p:sp>
            <p:sp>
              <p:nvSpPr>
                <p:cNvPr id="30" name="object 30"/>
                <p:cNvSpPr txBox="1"/>
                <p:nvPr/>
              </p:nvSpPr>
              <p:spPr>
                <a:xfrm>
                  <a:off x="6306670" y="2532530"/>
                  <a:ext cx="1553135" cy="269399"/>
                </a:xfrm>
                <a:prstGeom prst="rect">
                  <a:avLst/>
                </a:prstGeom>
              </p:spPr>
              <p:txBody>
                <a:bodyPr vert="horz" wrap="square" lIns="0" tIns="11206" rIns="0" bIns="0" rtlCol="0">
                  <a:spAutoFit/>
                </a:bodyPr>
                <a:lstStyle/>
                <a:p>
                  <a:pPr>
                    <a:spcBef>
                      <a:spcPts val="88"/>
                    </a:spcBef>
                  </a:pPr>
                  <a:r>
                    <a:rPr sz="1677" dirty="0">
                      <a:latin typeface="Courier New"/>
                      <a:cs typeface="Courier New"/>
                    </a:rPr>
                    <a:t>sub</a:t>
                  </a:r>
                  <a:r>
                    <a:rPr sz="1677" spc="18" dirty="0">
                      <a:latin typeface="Courier New"/>
                      <a:cs typeface="Courier New"/>
                    </a:rPr>
                    <a:t> </a:t>
                  </a:r>
                  <a:r>
                    <a:rPr sz="1677" spc="-9" dirty="0">
                      <a:latin typeface="Courier New"/>
                      <a:cs typeface="Courier New"/>
                    </a:rPr>
                    <a:t>$4,$5,$6</a:t>
                  </a:r>
                  <a:endParaRPr sz="1677">
                    <a:latin typeface="Courier New"/>
                    <a:cs typeface="Courier New"/>
                  </a:endParaRPr>
                </a:p>
              </p:txBody>
            </p:sp>
          </p:grpSp>
        </p:grpSp>
      </p:grpSp>
      <p:grpSp>
        <p:nvGrpSpPr>
          <p:cNvPr id="54" name="Group 53">
            <a:extLst>
              <a:ext uri="{FF2B5EF4-FFF2-40B4-BE49-F238E27FC236}">
                <a16:creationId xmlns:a16="http://schemas.microsoft.com/office/drawing/2014/main" id="{8105098B-0701-A514-EC34-222BA15C33C1}"/>
              </a:ext>
            </a:extLst>
          </p:cNvPr>
          <p:cNvGrpSpPr/>
          <p:nvPr/>
        </p:nvGrpSpPr>
        <p:grpSpPr>
          <a:xfrm>
            <a:off x="986118" y="3460376"/>
            <a:ext cx="2151529" cy="1725893"/>
            <a:chOff x="986118" y="3460376"/>
            <a:chExt cx="2151529" cy="1725893"/>
          </a:xfrm>
        </p:grpSpPr>
        <p:sp>
          <p:nvSpPr>
            <p:cNvPr id="31" name="object 31"/>
            <p:cNvSpPr txBox="1"/>
            <p:nvPr/>
          </p:nvSpPr>
          <p:spPr>
            <a:xfrm>
              <a:off x="988359" y="3460376"/>
              <a:ext cx="895350" cy="269399"/>
            </a:xfrm>
            <a:prstGeom prst="rect">
              <a:avLst/>
            </a:prstGeom>
          </p:spPr>
          <p:txBody>
            <a:bodyPr vert="horz" wrap="square" lIns="0" tIns="11206" rIns="0" bIns="0" rtlCol="0">
              <a:spAutoFit/>
            </a:bodyPr>
            <a:lstStyle/>
            <a:p>
              <a:pPr marL="11206">
                <a:spcBef>
                  <a:spcPts val="88"/>
                </a:spcBef>
              </a:pPr>
              <a:r>
                <a:rPr sz="1677" spc="-9" dirty="0">
                  <a:latin typeface="Arial MT"/>
                  <a:cs typeface="Arial MT"/>
                </a:rPr>
                <a:t>becomes</a:t>
              </a:r>
              <a:endParaRPr sz="1677">
                <a:latin typeface="Arial MT"/>
                <a:cs typeface="Arial MT"/>
              </a:endParaRPr>
            </a:p>
          </p:txBody>
        </p:sp>
        <p:sp>
          <p:nvSpPr>
            <p:cNvPr id="34" name="object 34"/>
            <p:cNvSpPr txBox="1"/>
            <p:nvPr/>
          </p:nvSpPr>
          <p:spPr>
            <a:xfrm>
              <a:off x="986118" y="3715870"/>
              <a:ext cx="2151529" cy="535403"/>
            </a:xfrm>
            <a:prstGeom prst="rect">
              <a:avLst/>
            </a:prstGeom>
            <a:ln w="13546">
              <a:solidFill>
                <a:srgbClr val="000000"/>
              </a:solidFill>
            </a:ln>
          </p:spPr>
          <p:txBody>
            <a:bodyPr vert="horz" wrap="square" lIns="0" tIns="19050" rIns="0" bIns="0" rtlCol="0">
              <a:spAutoFit/>
            </a:bodyPr>
            <a:lstStyle/>
            <a:p>
              <a:pPr>
                <a:spcBef>
                  <a:spcPts val="150"/>
                </a:spcBef>
              </a:pPr>
              <a:endParaRPr sz="1677" dirty="0">
                <a:latin typeface="Times New Roman"/>
                <a:cs typeface="Times New Roman"/>
              </a:endParaRPr>
            </a:p>
            <a:p>
              <a:pPr marL="156891"/>
              <a:r>
                <a:rPr sz="1677" dirty="0">
                  <a:latin typeface="Courier New"/>
                  <a:cs typeface="Courier New"/>
                </a:rPr>
                <a:t>if</a:t>
              </a:r>
              <a:r>
                <a:rPr sz="1677" spc="18" dirty="0">
                  <a:latin typeface="Courier New"/>
                  <a:cs typeface="Courier New"/>
                </a:rPr>
                <a:t> </a:t>
              </a:r>
              <a:r>
                <a:rPr sz="1677" dirty="0">
                  <a:latin typeface="Courier New"/>
                  <a:cs typeface="Courier New"/>
                </a:rPr>
                <a:t>$2=0</a:t>
              </a:r>
              <a:r>
                <a:rPr sz="1677" spc="18" dirty="0">
                  <a:latin typeface="Courier New"/>
                  <a:cs typeface="Courier New"/>
                </a:rPr>
                <a:t> </a:t>
              </a:r>
              <a:r>
                <a:rPr sz="1677" spc="-18" dirty="0">
                  <a:latin typeface="Courier New"/>
                  <a:cs typeface="Courier New"/>
                </a:rPr>
                <a:t>then</a:t>
              </a:r>
              <a:endParaRPr sz="1677" dirty="0">
                <a:latin typeface="Courier New"/>
                <a:cs typeface="Courier New"/>
              </a:endParaRPr>
            </a:p>
          </p:txBody>
        </p:sp>
        <p:sp>
          <p:nvSpPr>
            <p:cNvPr id="35" name="object 35"/>
            <p:cNvSpPr txBox="1"/>
            <p:nvPr/>
          </p:nvSpPr>
          <p:spPr>
            <a:xfrm>
              <a:off x="1129553" y="4289611"/>
              <a:ext cx="1506071" cy="301082"/>
            </a:xfrm>
            <a:prstGeom prst="rect">
              <a:avLst/>
            </a:prstGeom>
            <a:solidFill>
              <a:srgbClr val="BEBEBE"/>
            </a:solidFill>
          </p:spPr>
          <p:txBody>
            <a:bodyPr vert="horz" wrap="square" lIns="0" tIns="42582" rIns="0" bIns="0" rtlCol="0">
              <a:spAutoFit/>
            </a:bodyPr>
            <a:lstStyle/>
            <a:p>
              <a:pPr marL="85730">
                <a:spcBef>
                  <a:spcPts val="335"/>
                </a:spcBef>
                <a:tabLst>
                  <a:tab pos="563686" algn="l"/>
                </a:tabLst>
              </a:pPr>
              <a:r>
                <a:rPr sz="1677" spc="-22" dirty="0">
                  <a:latin typeface="Arial MT"/>
                  <a:cs typeface="Arial MT"/>
                </a:rPr>
                <a:t>add</a:t>
              </a:r>
              <a:r>
                <a:rPr sz="1677" dirty="0">
                  <a:latin typeface="Arial MT"/>
                  <a:cs typeface="Arial MT"/>
                </a:rPr>
                <a:t>	</a:t>
              </a:r>
              <a:r>
                <a:rPr sz="1677" spc="-9" dirty="0">
                  <a:latin typeface="Arial MT"/>
                  <a:cs typeface="Arial MT"/>
                </a:rPr>
                <a:t>$1,$2,$3</a:t>
              </a:r>
              <a:endParaRPr sz="1677" dirty="0">
                <a:latin typeface="Arial MT"/>
                <a:cs typeface="Arial MT"/>
              </a:endParaRPr>
            </a:p>
          </p:txBody>
        </p:sp>
        <p:grpSp>
          <p:nvGrpSpPr>
            <p:cNvPr id="36" name="object 36"/>
            <p:cNvGrpSpPr/>
            <p:nvPr/>
          </p:nvGrpSpPr>
          <p:grpSpPr>
            <a:xfrm>
              <a:off x="2563906" y="4140200"/>
              <a:ext cx="436469" cy="1046069"/>
              <a:chOff x="2753360" y="4692226"/>
              <a:chExt cx="494665" cy="1185545"/>
            </a:xfrm>
          </p:grpSpPr>
          <p:sp>
            <p:nvSpPr>
              <p:cNvPr id="37" name="object 37"/>
              <p:cNvSpPr/>
              <p:nvPr/>
            </p:nvSpPr>
            <p:spPr>
              <a:xfrm>
                <a:off x="2997200" y="4699000"/>
                <a:ext cx="243840" cy="0"/>
              </a:xfrm>
              <a:custGeom>
                <a:avLst/>
                <a:gdLst/>
                <a:ahLst/>
                <a:cxnLst/>
                <a:rect l="l" t="t" r="r" b="b"/>
                <a:pathLst>
                  <a:path w="243839">
                    <a:moveTo>
                      <a:pt x="0" y="0"/>
                    </a:moveTo>
                    <a:lnTo>
                      <a:pt x="243839" y="1"/>
                    </a:lnTo>
                  </a:path>
                </a:pathLst>
              </a:custGeom>
              <a:ln w="13546">
                <a:solidFill>
                  <a:srgbClr val="000000"/>
                </a:solidFill>
              </a:ln>
            </p:spPr>
            <p:txBody>
              <a:bodyPr wrap="square" lIns="0" tIns="0" rIns="0" bIns="0" rtlCol="0"/>
              <a:lstStyle/>
              <a:p>
                <a:endParaRPr sz="1588"/>
              </a:p>
            </p:txBody>
          </p:sp>
          <p:sp>
            <p:nvSpPr>
              <p:cNvPr id="38" name="object 38"/>
              <p:cNvSpPr/>
              <p:nvPr/>
            </p:nvSpPr>
            <p:spPr>
              <a:xfrm>
                <a:off x="3241040" y="4699000"/>
                <a:ext cx="0" cy="1137920"/>
              </a:xfrm>
              <a:custGeom>
                <a:avLst/>
                <a:gdLst/>
                <a:ahLst/>
                <a:cxnLst/>
                <a:rect l="l" t="t" r="r" b="b"/>
                <a:pathLst>
                  <a:path h="1137920">
                    <a:moveTo>
                      <a:pt x="0" y="0"/>
                    </a:moveTo>
                    <a:lnTo>
                      <a:pt x="1" y="1137919"/>
                    </a:lnTo>
                  </a:path>
                </a:pathLst>
              </a:custGeom>
              <a:ln w="13546">
                <a:solidFill>
                  <a:srgbClr val="000000"/>
                </a:solidFill>
              </a:ln>
            </p:spPr>
            <p:txBody>
              <a:bodyPr wrap="square" lIns="0" tIns="0" rIns="0" bIns="0" rtlCol="0"/>
              <a:lstStyle/>
              <a:p>
                <a:endParaRPr sz="1588"/>
              </a:p>
            </p:txBody>
          </p:sp>
          <p:sp>
            <p:nvSpPr>
              <p:cNvPr id="39" name="object 39"/>
              <p:cNvSpPr/>
              <p:nvPr/>
            </p:nvSpPr>
            <p:spPr>
              <a:xfrm>
                <a:off x="2753360" y="5796281"/>
                <a:ext cx="487680" cy="81280"/>
              </a:xfrm>
              <a:custGeom>
                <a:avLst/>
                <a:gdLst/>
                <a:ahLst/>
                <a:cxnLst/>
                <a:rect l="l" t="t" r="r" b="b"/>
                <a:pathLst>
                  <a:path w="487680" h="81279">
                    <a:moveTo>
                      <a:pt x="81279" y="0"/>
                    </a:moveTo>
                    <a:lnTo>
                      <a:pt x="0" y="40639"/>
                    </a:lnTo>
                    <a:lnTo>
                      <a:pt x="81279" y="81279"/>
                    </a:lnTo>
                    <a:lnTo>
                      <a:pt x="81279" y="47412"/>
                    </a:lnTo>
                    <a:lnTo>
                      <a:pt x="67732" y="47412"/>
                    </a:lnTo>
                    <a:lnTo>
                      <a:pt x="67732" y="33865"/>
                    </a:lnTo>
                    <a:lnTo>
                      <a:pt x="81279" y="33865"/>
                    </a:lnTo>
                    <a:lnTo>
                      <a:pt x="81279" y="0"/>
                    </a:lnTo>
                    <a:close/>
                  </a:path>
                  <a:path w="487680" h="81279">
                    <a:moveTo>
                      <a:pt x="81279" y="33865"/>
                    </a:moveTo>
                    <a:lnTo>
                      <a:pt x="67732" y="33865"/>
                    </a:lnTo>
                    <a:lnTo>
                      <a:pt x="67732" y="47412"/>
                    </a:lnTo>
                    <a:lnTo>
                      <a:pt x="81279" y="47412"/>
                    </a:lnTo>
                    <a:lnTo>
                      <a:pt x="81279" y="33865"/>
                    </a:lnTo>
                    <a:close/>
                  </a:path>
                  <a:path w="487680" h="81279">
                    <a:moveTo>
                      <a:pt x="487679" y="33865"/>
                    </a:moveTo>
                    <a:lnTo>
                      <a:pt x="81279" y="33865"/>
                    </a:lnTo>
                    <a:lnTo>
                      <a:pt x="81279" y="47412"/>
                    </a:lnTo>
                    <a:lnTo>
                      <a:pt x="487679" y="47412"/>
                    </a:lnTo>
                    <a:lnTo>
                      <a:pt x="487679" y="33865"/>
                    </a:lnTo>
                    <a:close/>
                  </a:path>
                </a:pathLst>
              </a:custGeom>
              <a:solidFill>
                <a:srgbClr val="000000"/>
              </a:solidFill>
            </p:spPr>
            <p:txBody>
              <a:bodyPr wrap="square" lIns="0" tIns="0" rIns="0" bIns="0" rtlCol="0"/>
              <a:lstStyle/>
              <a:p>
                <a:endParaRPr sz="1588"/>
              </a:p>
            </p:txBody>
          </p:sp>
        </p:grpSp>
      </p:grpSp>
      <p:grpSp>
        <p:nvGrpSpPr>
          <p:cNvPr id="60" name="Group 59">
            <a:extLst>
              <a:ext uri="{FF2B5EF4-FFF2-40B4-BE49-F238E27FC236}">
                <a16:creationId xmlns:a16="http://schemas.microsoft.com/office/drawing/2014/main" id="{30E19B07-5D5A-7916-2C05-C8FCB9AA19A1}"/>
              </a:ext>
            </a:extLst>
          </p:cNvPr>
          <p:cNvGrpSpPr/>
          <p:nvPr/>
        </p:nvGrpSpPr>
        <p:grpSpPr>
          <a:xfrm>
            <a:off x="6149788" y="3460375"/>
            <a:ext cx="2151530" cy="1976719"/>
            <a:chOff x="6149788" y="3460375"/>
            <a:chExt cx="2151530" cy="1976719"/>
          </a:xfrm>
        </p:grpSpPr>
        <p:sp>
          <p:nvSpPr>
            <p:cNvPr id="28" name="object 28"/>
            <p:cNvSpPr/>
            <p:nvPr/>
          </p:nvSpPr>
          <p:spPr>
            <a:xfrm>
              <a:off x="6149788" y="3715870"/>
              <a:ext cx="2151530" cy="1721224"/>
            </a:xfrm>
            <a:custGeom>
              <a:avLst/>
              <a:gdLst/>
              <a:ahLst/>
              <a:cxnLst/>
              <a:rect l="l" t="t" r="r" b="b"/>
              <a:pathLst>
                <a:path w="2438400" h="1950720">
                  <a:moveTo>
                    <a:pt x="0" y="0"/>
                  </a:moveTo>
                  <a:lnTo>
                    <a:pt x="2438399" y="0"/>
                  </a:lnTo>
                  <a:lnTo>
                    <a:pt x="2438399" y="1950719"/>
                  </a:lnTo>
                  <a:lnTo>
                    <a:pt x="0" y="1950719"/>
                  </a:lnTo>
                  <a:lnTo>
                    <a:pt x="0" y="0"/>
                  </a:lnTo>
                  <a:close/>
                </a:path>
              </a:pathLst>
            </a:custGeom>
            <a:ln w="13546">
              <a:solidFill>
                <a:srgbClr val="000000"/>
              </a:solidFill>
            </a:ln>
          </p:spPr>
          <p:txBody>
            <a:bodyPr wrap="square" lIns="0" tIns="0" rIns="0" bIns="0" rtlCol="0"/>
            <a:lstStyle/>
            <a:p>
              <a:endParaRPr sz="1588"/>
            </a:p>
          </p:txBody>
        </p:sp>
        <p:grpSp>
          <p:nvGrpSpPr>
            <p:cNvPr id="58" name="Group 57">
              <a:extLst>
                <a:ext uri="{FF2B5EF4-FFF2-40B4-BE49-F238E27FC236}">
                  <a16:creationId xmlns:a16="http://schemas.microsoft.com/office/drawing/2014/main" id="{48B836B3-4046-F7AE-4088-A8F658F6C999}"/>
                </a:ext>
              </a:extLst>
            </p:cNvPr>
            <p:cNvGrpSpPr/>
            <p:nvPr/>
          </p:nvGrpSpPr>
          <p:grpSpPr>
            <a:xfrm>
              <a:off x="6293222" y="3460375"/>
              <a:ext cx="1870824" cy="1725894"/>
              <a:chOff x="6293222" y="3460375"/>
              <a:chExt cx="1870824" cy="1725894"/>
            </a:xfrm>
          </p:grpSpPr>
          <p:sp>
            <p:nvSpPr>
              <p:cNvPr id="33" name="object 33"/>
              <p:cNvSpPr txBox="1"/>
              <p:nvPr/>
            </p:nvSpPr>
            <p:spPr>
              <a:xfrm>
                <a:off x="6295464" y="3460375"/>
                <a:ext cx="1693209" cy="781142"/>
              </a:xfrm>
              <a:prstGeom prst="rect">
                <a:avLst/>
              </a:prstGeom>
            </p:spPr>
            <p:txBody>
              <a:bodyPr vert="horz" wrap="square" lIns="0" tIns="11206" rIns="0" bIns="0" rtlCol="0">
                <a:spAutoFit/>
              </a:bodyPr>
              <a:lstStyle/>
              <a:p>
                <a:pPr marL="11206">
                  <a:lnSpc>
                    <a:spcPts val="1990"/>
                  </a:lnSpc>
                  <a:spcBef>
                    <a:spcPts val="88"/>
                  </a:spcBef>
                </a:pPr>
                <a:r>
                  <a:rPr sz="1677" spc="-9" dirty="0">
                    <a:latin typeface="Arial MT"/>
                    <a:cs typeface="Arial MT"/>
                  </a:rPr>
                  <a:t>becomes</a:t>
                </a:r>
                <a:endParaRPr sz="1677">
                  <a:latin typeface="Arial MT"/>
                  <a:cs typeface="Arial MT"/>
                </a:endParaRPr>
              </a:p>
              <a:p>
                <a:pPr marL="11206" marR="4483">
                  <a:lnSpc>
                    <a:spcPts val="2030"/>
                  </a:lnSpc>
                  <a:spcBef>
                    <a:spcPts val="31"/>
                  </a:spcBef>
                  <a:tabLst>
                    <a:tab pos="653338" algn="l"/>
                  </a:tabLst>
                </a:pPr>
                <a:r>
                  <a:rPr sz="1677" spc="-22" dirty="0">
                    <a:latin typeface="Courier New"/>
                    <a:cs typeface="Courier New"/>
                  </a:rPr>
                  <a:t>add</a:t>
                </a:r>
                <a:r>
                  <a:rPr sz="1677" dirty="0">
                    <a:latin typeface="Courier New"/>
                    <a:cs typeface="Courier New"/>
                  </a:rPr>
                  <a:t>	</a:t>
                </a:r>
                <a:r>
                  <a:rPr sz="1677" spc="-9" dirty="0">
                    <a:latin typeface="Courier New"/>
                    <a:cs typeface="Courier New"/>
                  </a:rPr>
                  <a:t>$1,$2,$3 </a:t>
                </a:r>
                <a:r>
                  <a:rPr sz="1677" dirty="0">
                    <a:latin typeface="Courier New"/>
                    <a:cs typeface="Courier New"/>
                  </a:rPr>
                  <a:t>if</a:t>
                </a:r>
                <a:r>
                  <a:rPr sz="1677" spc="18" dirty="0">
                    <a:latin typeface="Courier New"/>
                    <a:cs typeface="Courier New"/>
                  </a:rPr>
                  <a:t> </a:t>
                </a:r>
                <a:r>
                  <a:rPr sz="1677" dirty="0">
                    <a:latin typeface="Courier New"/>
                    <a:cs typeface="Courier New"/>
                  </a:rPr>
                  <a:t>$1=0</a:t>
                </a:r>
                <a:r>
                  <a:rPr sz="1677" spc="18" dirty="0">
                    <a:latin typeface="Courier New"/>
                    <a:cs typeface="Courier New"/>
                  </a:rPr>
                  <a:t> </a:t>
                </a:r>
                <a:r>
                  <a:rPr sz="1677" spc="-18" dirty="0">
                    <a:latin typeface="Courier New"/>
                    <a:cs typeface="Courier New"/>
                  </a:rPr>
                  <a:t>then</a:t>
                </a:r>
                <a:endParaRPr sz="1677">
                  <a:latin typeface="Courier New"/>
                  <a:cs typeface="Courier New"/>
                </a:endParaRPr>
              </a:p>
            </p:txBody>
          </p:sp>
          <p:sp>
            <p:nvSpPr>
              <p:cNvPr id="47" name="object 47"/>
              <p:cNvSpPr txBox="1"/>
              <p:nvPr/>
            </p:nvSpPr>
            <p:spPr>
              <a:xfrm>
                <a:off x="6293222" y="4289611"/>
                <a:ext cx="1506071" cy="301082"/>
              </a:xfrm>
              <a:prstGeom prst="rect">
                <a:avLst/>
              </a:prstGeom>
              <a:solidFill>
                <a:srgbClr val="BEBEBE"/>
              </a:solidFill>
            </p:spPr>
            <p:txBody>
              <a:bodyPr vert="horz" wrap="square" lIns="0" tIns="42582" rIns="0" bIns="0" rtlCol="0">
                <a:spAutoFit/>
              </a:bodyPr>
              <a:lstStyle/>
              <a:p>
                <a:pPr marL="85730">
                  <a:spcBef>
                    <a:spcPts val="335"/>
                  </a:spcBef>
                </a:pPr>
                <a:r>
                  <a:rPr sz="1677" dirty="0">
                    <a:latin typeface="Arial MT"/>
                    <a:cs typeface="Arial MT"/>
                  </a:rPr>
                  <a:t>sub</a:t>
                </a:r>
                <a:r>
                  <a:rPr sz="1677" spc="-13" dirty="0">
                    <a:latin typeface="Arial MT"/>
                    <a:cs typeface="Arial MT"/>
                  </a:rPr>
                  <a:t> </a:t>
                </a:r>
                <a:r>
                  <a:rPr sz="1677" spc="-9" dirty="0">
                    <a:latin typeface="Arial MT"/>
                    <a:cs typeface="Arial MT"/>
                  </a:rPr>
                  <a:t>$4,$5,$6</a:t>
                </a:r>
                <a:endParaRPr sz="1677">
                  <a:latin typeface="Arial MT"/>
                  <a:cs typeface="Arial MT"/>
                </a:endParaRPr>
              </a:p>
            </p:txBody>
          </p:sp>
          <p:grpSp>
            <p:nvGrpSpPr>
              <p:cNvPr id="48" name="object 48"/>
              <p:cNvGrpSpPr/>
              <p:nvPr/>
            </p:nvGrpSpPr>
            <p:grpSpPr>
              <a:xfrm>
                <a:off x="7082118" y="4140200"/>
                <a:ext cx="1081928" cy="1046069"/>
                <a:chOff x="7874000" y="4692226"/>
                <a:chExt cx="1226185" cy="1185545"/>
              </a:xfrm>
            </p:grpSpPr>
            <p:sp>
              <p:nvSpPr>
                <p:cNvPr id="49" name="object 49"/>
                <p:cNvSpPr/>
                <p:nvPr/>
              </p:nvSpPr>
              <p:spPr>
                <a:xfrm>
                  <a:off x="8849360" y="4699000"/>
                  <a:ext cx="243840" cy="0"/>
                </a:xfrm>
                <a:custGeom>
                  <a:avLst/>
                  <a:gdLst/>
                  <a:ahLst/>
                  <a:cxnLst/>
                  <a:rect l="l" t="t" r="r" b="b"/>
                  <a:pathLst>
                    <a:path w="243840">
                      <a:moveTo>
                        <a:pt x="0" y="0"/>
                      </a:moveTo>
                      <a:lnTo>
                        <a:pt x="243839" y="1"/>
                      </a:lnTo>
                    </a:path>
                  </a:pathLst>
                </a:custGeom>
                <a:ln w="13546">
                  <a:solidFill>
                    <a:srgbClr val="000000"/>
                  </a:solidFill>
                </a:ln>
              </p:spPr>
              <p:txBody>
                <a:bodyPr wrap="square" lIns="0" tIns="0" rIns="0" bIns="0" rtlCol="0"/>
                <a:lstStyle/>
                <a:p>
                  <a:endParaRPr sz="1588"/>
                </a:p>
              </p:txBody>
            </p:sp>
            <p:sp>
              <p:nvSpPr>
                <p:cNvPr id="50" name="object 50"/>
                <p:cNvSpPr/>
                <p:nvPr/>
              </p:nvSpPr>
              <p:spPr>
                <a:xfrm>
                  <a:off x="9093200" y="4699000"/>
                  <a:ext cx="0" cy="1137920"/>
                </a:xfrm>
                <a:custGeom>
                  <a:avLst/>
                  <a:gdLst/>
                  <a:ahLst/>
                  <a:cxnLst/>
                  <a:rect l="l" t="t" r="r" b="b"/>
                  <a:pathLst>
                    <a:path h="1137920">
                      <a:moveTo>
                        <a:pt x="0" y="0"/>
                      </a:moveTo>
                      <a:lnTo>
                        <a:pt x="1" y="1137919"/>
                      </a:lnTo>
                    </a:path>
                  </a:pathLst>
                </a:custGeom>
                <a:ln w="13546">
                  <a:solidFill>
                    <a:srgbClr val="000000"/>
                  </a:solidFill>
                </a:ln>
              </p:spPr>
              <p:txBody>
                <a:bodyPr wrap="square" lIns="0" tIns="0" rIns="0" bIns="0" rtlCol="0"/>
                <a:lstStyle/>
                <a:p>
                  <a:endParaRPr sz="1588"/>
                </a:p>
              </p:txBody>
            </p:sp>
            <p:sp>
              <p:nvSpPr>
                <p:cNvPr id="51" name="object 51"/>
                <p:cNvSpPr/>
                <p:nvPr/>
              </p:nvSpPr>
              <p:spPr>
                <a:xfrm>
                  <a:off x="7874000" y="5796278"/>
                  <a:ext cx="1219200" cy="81280"/>
                </a:xfrm>
                <a:custGeom>
                  <a:avLst/>
                  <a:gdLst/>
                  <a:ahLst/>
                  <a:cxnLst/>
                  <a:rect l="l" t="t" r="r" b="b"/>
                  <a:pathLst>
                    <a:path w="1219200" h="81279">
                      <a:moveTo>
                        <a:pt x="81279" y="0"/>
                      </a:moveTo>
                      <a:lnTo>
                        <a:pt x="0" y="40639"/>
                      </a:lnTo>
                      <a:lnTo>
                        <a:pt x="81279" y="81280"/>
                      </a:lnTo>
                      <a:lnTo>
                        <a:pt x="81279" y="47414"/>
                      </a:lnTo>
                      <a:lnTo>
                        <a:pt x="67732" y="47414"/>
                      </a:lnTo>
                      <a:lnTo>
                        <a:pt x="67732" y="33868"/>
                      </a:lnTo>
                      <a:lnTo>
                        <a:pt x="81279" y="33868"/>
                      </a:lnTo>
                      <a:lnTo>
                        <a:pt x="81279" y="0"/>
                      </a:lnTo>
                      <a:close/>
                    </a:path>
                    <a:path w="1219200" h="81279">
                      <a:moveTo>
                        <a:pt x="81279" y="33868"/>
                      </a:moveTo>
                      <a:lnTo>
                        <a:pt x="67732" y="33868"/>
                      </a:lnTo>
                      <a:lnTo>
                        <a:pt x="67732" y="47414"/>
                      </a:lnTo>
                      <a:lnTo>
                        <a:pt x="81279" y="47414"/>
                      </a:lnTo>
                      <a:lnTo>
                        <a:pt x="81279" y="33868"/>
                      </a:lnTo>
                      <a:close/>
                    </a:path>
                    <a:path w="1219200" h="81279">
                      <a:moveTo>
                        <a:pt x="1219200" y="33868"/>
                      </a:moveTo>
                      <a:lnTo>
                        <a:pt x="81279" y="33868"/>
                      </a:lnTo>
                      <a:lnTo>
                        <a:pt x="81279" y="47414"/>
                      </a:lnTo>
                      <a:lnTo>
                        <a:pt x="1219200" y="47414"/>
                      </a:lnTo>
                      <a:lnTo>
                        <a:pt x="1219200" y="33868"/>
                      </a:lnTo>
                      <a:close/>
                    </a:path>
                  </a:pathLst>
                </a:custGeom>
                <a:solidFill>
                  <a:srgbClr val="000000"/>
                </a:solidFill>
              </p:spPr>
              <p:txBody>
                <a:bodyPr wrap="square" lIns="0" tIns="0" rIns="0" bIns="0" rtlCol="0"/>
                <a:lstStyle/>
                <a:p>
                  <a:endParaRPr sz="1588"/>
                </a:p>
              </p:txBody>
            </p:sp>
          </p:grpSp>
        </p:grpSp>
      </p:grpSp>
      <p:grpSp>
        <p:nvGrpSpPr>
          <p:cNvPr id="56" name="Group 55">
            <a:extLst>
              <a:ext uri="{FF2B5EF4-FFF2-40B4-BE49-F238E27FC236}">
                <a16:creationId xmlns:a16="http://schemas.microsoft.com/office/drawing/2014/main" id="{C4C2E885-7FCB-E4C2-23A7-4D8F80607EA8}"/>
              </a:ext>
            </a:extLst>
          </p:cNvPr>
          <p:cNvGrpSpPr/>
          <p:nvPr/>
        </p:nvGrpSpPr>
        <p:grpSpPr>
          <a:xfrm>
            <a:off x="3567952" y="3449618"/>
            <a:ext cx="2151529" cy="1974028"/>
            <a:chOff x="3567952" y="3449618"/>
            <a:chExt cx="2151529" cy="1974028"/>
          </a:xfrm>
        </p:grpSpPr>
        <p:sp>
          <p:nvSpPr>
            <p:cNvPr id="32" name="object 32"/>
            <p:cNvSpPr txBox="1"/>
            <p:nvPr/>
          </p:nvSpPr>
          <p:spPr>
            <a:xfrm>
              <a:off x="3713629" y="3449618"/>
              <a:ext cx="895350" cy="269399"/>
            </a:xfrm>
            <a:prstGeom prst="rect">
              <a:avLst/>
            </a:prstGeom>
          </p:spPr>
          <p:txBody>
            <a:bodyPr vert="horz" wrap="square" lIns="0" tIns="11206" rIns="0" bIns="0" rtlCol="0">
              <a:spAutoFit/>
            </a:bodyPr>
            <a:lstStyle/>
            <a:p>
              <a:pPr marL="11206">
                <a:spcBef>
                  <a:spcPts val="88"/>
                </a:spcBef>
              </a:pPr>
              <a:r>
                <a:rPr sz="1677" spc="-9" dirty="0">
                  <a:latin typeface="Arial MT"/>
                  <a:cs typeface="Arial MT"/>
                </a:rPr>
                <a:t>becomes</a:t>
              </a:r>
              <a:endParaRPr sz="1677">
                <a:latin typeface="Arial MT"/>
                <a:cs typeface="Arial MT"/>
              </a:endParaRPr>
            </a:p>
          </p:txBody>
        </p:sp>
        <p:sp>
          <p:nvSpPr>
            <p:cNvPr id="40" name="object 40"/>
            <p:cNvSpPr/>
            <p:nvPr/>
          </p:nvSpPr>
          <p:spPr>
            <a:xfrm>
              <a:off x="3567952" y="3702422"/>
              <a:ext cx="2151529" cy="1721224"/>
            </a:xfrm>
            <a:custGeom>
              <a:avLst/>
              <a:gdLst/>
              <a:ahLst/>
              <a:cxnLst/>
              <a:rect l="l" t="t" r="r" b="b"/>
              <a:pathLst>
                <a:path w="2438400" h="1950720">
                  <a:moveTo>
                    <a:pt x="0" y="0"/>
                  </a:moveTo>
                  <a:lnTo>
                    <a:pt x="2438399" y="0"/>
                  </a:lnTo>
                  <a:lnTo>
                    <a:pt x="2438399" y="1950719"/>
                  </a:lnTo>
                  <a:lnTo>
                    <a:pt x="0" y="1950719"/>
                  </a:lnTo>
                  <a:lnTo>
                    <a:pt x="0" y="0"/>
                  </a:lnTo>
                  <a:close/>
                </a:path>
              </a:pathLst>
            </a:custGeom>
            <a:ln w="13546">
              <a:solidFill>
                <a:srgbClr val="000000"/>
              </a:solidFill>
            </a:ln>
          </p:spPr>
          <p:txBody>
            <a:bodyPr wrap="square" lIns="0" tIns="0" rIns="0" bIns="0" rtlCol="0"/>
            <a:lstStyle/>
            <a:p>
              <a:endParaRPr sz="1588"/>
            </a:p>
          </p:txBody>
        </p:sp>
        <p:sp>
          <p:nvSpPr>
            <p:cNvPr id="41" name="object 41"/>
            <p:cNvSpPr txBox="1"/>
            <p:nvPr/>
          </p:nvSpPr>
          <p:spPr>
            <a:xfrm>
              <a:off x="3724834" y="4471596"/>
              <a:ext cx="1682003" cy="529783"/>
            </a:xfrm>
            <a:prstGeom prst="rect">
              <a:avLst/>
            </a:prstGeom>
          </p:spPr>
          <p:txBody>
            <a:bodyPr vert="horz" wrap="square" lIns="0" tIns="8404" rIns="0" bIns="0" rtlCol="0">
              <a:spAutoFit/>
            </a:bodyPr>
            <a:lstStyle/>
            <a:p>
              <a:pPr marR="4483">
                <a:lnSpc>
                  <a:spcPct val="101099"/>
                </a:lnSpc>
                <a:spcBef>
                  <a:spcPts val="66"/>
                </a:spcBef>
                <a:tabLst>
                  <a:tab pos="642131" algn="l"/>
                </a:tabLst>
              </a:pPr>
              <a:r>
                <a:rPr sz="1677" spc="-22" dirty="0">
                  <a:latin typeface="Courier New"/>
                  <a:cs typeface="Courier New"/>
                </a:rPr>
                <a:t>add</a:t>
              </a:r>
              <a:r>
                <a:rPr sz="1677" dirty="0">
                  <a:latin typeface="Courier New"/>
                  <a:cs typeface="Courier New"/>
                </a:rPr>
                <a:t>	</a:t>
              </a:r>
              <a:r>
                <a:rPr sz="1677" spc="-9" dirty="0">
                  <a:solidFill>
                    <a:srgbClr val="FF0000"/>
                  </a:solidFill>
                  <a:latin typeface="Courier New"/>
                  <a:cs typeface="Courier New"/>
                </a:rPr>
                <a:t>$1</a:t>
              </a:r>
              <a:r>
                <a:rPr sz="1677" spc="-9" dirty="0">
                  <a:latin typeface="Courier New"/>
                  <a:cs typeface="Courier New"/>
                </a:rPr>
                <a:t>,$2,$3 </a:t>
              </a:r>
              <a:r>
                <a:rPr sz="1677" dirty="0">
                  <a:latin typeface="Courier New"/>
                  <a:cs typeface="Courier New"/>
                </a:rPr>
                <a:t>if</a:t>
              </a:r>
              <a:r>
                <a:rPr sz="1677" spc="18" dirty="0">
                  <a:latin typeface="Courier New"/>
                  <a:cs typeface="Courier New"/>
                </a:rPr>
                <a:t> </a:t>
              </a:r>
              <a:r>
                <a:rPr sz="1677" dirty="0">
                  <a:solidFill>
                    <a:srgbClr val="FF0000"/>
                  </a:solidFill>
                  <a:latin typeface="Courier New"/>
                  <a:cs typeface="Courier New"/>
                </a:rPr>
                <a:t>$1</a:t>
              </a:r>
              <a:r>
                <a:rPr sz="1677" dirty="0">
                  <a:latin typeface="Courier New"/>
                  <a:cs typeface="Courier New"/>
                </a:rPr>
                <a:t>=0</a:t>
              </a:r>
              <a:r>
                <a:rPr sz="1677" spc="18" dirty="0">
                  <a:latin typeface="Courier New"/>
                  <a:cs typeface="Courier New"/>
                </a:rPr>
                <a:t> </a:t>
              </a:r>
              <a:r>
                <a:rPr sz="1677" spc="-18" dirty="0">
                  <a:latin typeface="Courier New"/>
                  <a:cs typeface="Courier New"/>
                </a:rPr>
                <a:t>then</a:t>
              </a:r>
              <a:endParaRPr sz="1677">
                <a:latin typeface="Courier New"/>
                <a:cs typeface="Courier New"/>
              </a:endParaRPr>
            </a:p>
          </p:txBody>
        </p:sp>
        <p:sp>
          <p:nvSpPr>
            <p:cNvPr id="42" name="object 42"/>
            <p:cNvSpPr txBox="1"/>
            <p:nvPr/>
          </p:nvSpPr>
          <p:spPr>
            <a:xfrm>
              <a:off x="3711388" y="5006789"/>
              <a:ext cx="1506071" cy="301648"/>
            </a:xfrm>
            <a:prstGeom prst="rect">
              <a:avLst/>
            </a:prstGeom>
            <a:solidFill>
              <a:srgbClr val="BEBEBE"/>
            </a:solidFill>
          </p:spPr>
          <p:txBody>
            <a:bodyPr vert="horz" wrap="square" lIns="0" tIns="43143" rIns="0" bIns="0" rtlCol="0">
              <a:spAutoFit/>
            </a:bodyPr>
            <a:lstStyle/>
            <a:p>
              <a:pPr marL="85730">
                <a:spcBef>
                  <a:spcPts val="340"/>
                </a:spcBef>
              </a:pPr>
              <a:r>
                <a:rPr sz="1677" dirty="0">
                  <a:latin typeface="Arial MT"/>
                  <a:cs typeface="Arial MT"/>
                </a:rPr>
                <a:t>sub</a:t>
              </a:r>
              <a:r>
                <a:rPr sz="1677" spc="-13" dirty="0">
                  <a:latin typeface="Arial MT"/>
                  <a:cs typeface="Arial MT"/>
                </a:rPr>
                <a:t> </a:t>
              </a:r>
              <a:r>
                <a:rPr sz="1677" spc="-9" dirty="0">
                  <a:latin typeface="Arial MT"/>
                  <a:cs typeface="Arial MT"/>
                </a:rPr>
                <a:t>$4,$5,$6</a:t>
              </a:r>
              <a:endParaRPr sz="1677">
                <a:latin typeface="Arial MT"/>
                <a:cs typeface="Arial MT"/>
              </a:endParaRPr>
            </a:p>
          </p:txBody>
        </p:sp>
        <p:grpSp>
          <p:nvGrpSpPr>
            <p:cNvPr id="43" name="object 43"/>
            <p:cNvGrpSpPr/>
            <p:nvPr/>
          </p:nvGrpSpPr>
          <p:grpSpPr>
            <a:xfrm>
              <a:off x="4787154" y="4110319"/>
              <a:ext cx="795057" cy="817469"/>
              <a:chOff x="5273040" y="4658361"/>
              <a:chExt cx="901065" cy="926465"/>
            </a:xfrm>
          </p:grpSpPr>
          <p:sp>
            <p:nvSpPr>
              <p:cNvPr id="44" name="object 44"/>
              <p:cNvSpPr/>
              <p:nvPr/>
            </p:nvSpPr>
            <p:spPr>
              <a:xfrm>
                <a:off x="5923280" y="5577840"/>
                <a:ext cx="243840" cy="0"/>
              </a:xfrm>
              <a:custGeom>
                <a:avLst/>
                <a:gdLst/>
                <a:ahLst/>
                <a:cxnLst/>
                <a:rect l="l" t="t" r="r" b="b"/>
                <a:pathLst>
                  <a:path w="243839">
                    <a:moveTo>
                      <a:pt x="0" y="0"/>
                    </a:moveTo>
                    <a:lnTo>
                      <a:pt x="243839" y="1"/>
                    </a:lnTo>
                  </a:path>
                </a:pathLst>
              </a:custGeom>
              <a:ln w="13546">
                <a:solidFill>
                  <a:srgbClr val="000000"/>
                </a:solidFill>
              </a:ln>
            </p:spPr>
            <p:txBody>
              <a:bodyPr wrap="square" lIns="0" tIns="0" rIns="0" bIns="0" rtlCol="0"/>
              <a:lstStyle/>
              <a:p>
                <a:endParaRPr sz="1588"/>
              </a:p>
            </p:txBody>
          </p:sp>
          <p:sp>
            <p:nvSpPr>
              <p:cNvPr id="45" name="object 45"/>
              <p:cNvSpPr/>
              <p:nvPr/>
            </p:nvSpPr>
            <p:spPr>
              <a:xfrm>
                <a:off x="6167120" y="4699001"/>
                <a:ext cx="0" cy="878840"/>
              </a:xfrm>
              <a:custGeom>
                <a:avLst/>
                <a:gdLst/>
                <a:ahLst/>
                <a:cxnLst/>
                <a:rect l="l" t="t" r="r" b="b"/>
                <a:pathLst>
                  <a:path h="878839">
                    <a:moveTo>
                      <a:pt x="0" y="0"/>
                    </a:moveTo>
                    <a:lnTo>
                      <a:pt x="1" y="878840"/>
                    </a:lnTo>
                  </a:path>
                </a:pathLst>
              </a:custGeom>
              <a:ln w="13546">
                <a:solidFill>
                  <a:srgbClr val="000000"/>
                </a:solidFill>
              </a:ln>
            </p:spPr>
            <p:txBody>
              <a:bodyPr wrap="square" lIns="0" tIns="0" rIns="0" bIns="0" rtlCol="0"/>
              <a:lstStyle/>
              <a:p>
                <a:endParaRPr sz="1588"/>
              </a:p>
            </p:txBody>
          </p:sp>
          <p:sp>
            <p:nvSpPr>
              <p:cNvPr id="46" name="object 46"/>
              <p:cNvSpPr/>
              <p:nvPr/>
            </p:nvSpPr>
            <p:spPr>
              <a:xfrm>
                <a:off x="5273040" y="4658361"/>
                <a:ext cx="894080" cy="81280"/>
              </a:xfrm>
              <a:custGeom>
                <a:avLst/>
                <a:gdLst/>
                <a:ahLst/>
                <a:cxnLst/>
                <a:rect l="l" t="t" r="r" b="b"/>
                <a:pathLst>
                  <a:path w="894079" h="81279">
                    <a:moveTo>
                      <a:pt x="81280" y="0"/>
                    </a:moveTo>
                    <a:lnTo>
                      <a:pt x="0" y="40641"/>
                    </a:lnTo>
                    <a:lnTo>
                      <a:pt x="81280" y="81280"/>
                    </a:lnTo>
                    <a:lnTo>
                      <a:pt x="81280" y="47414"/>
                    </a:lnTo>
                    <a:lnTo>
                      <a:pt x="67732" y="47414"/>
                    </a:lnTo>
                    <a:lnTo>
                      <a:pt x="67732" y="33867"/>
                    </a:lnTo>
                    <a:lnTo>
                      <a:pt x="81280" y="33867"/>
                    </a:lnTo>
                    <a:lnTo>
                      <a:pt x="81280" y="0"/>
                    </a:lnTo>
                    <a:close/>
                  </a:path>
                  <a:path w="894079" h="81279">
                    <a:moveTo>
                      <a:pt x="81280" y="33867"/>
                    </a:moveTo>
                    <a:lnTo>
                      <a:pt x="67732" y="33867"/>
                    </a:lnTo>
                    <a:lnTo>
                      <a:pt x="67732" y="47414"/>
                    </a:lnTo>
                    <a:lnTo>
                      <a:pt x="81280" y="47414"/>
                    </a:lnTo>
                    <a:lnTo>
                      <a:pt x="81280" y="33867"/>
                    </a:lnTo>
                    <a:close/>
                  </a:path>
                  <a:path w="894079" h="81279">
                    <a:moveTo>
                      <a:pt x="894080" y="33867"/>
                    </a:moveTo>
                    <a:lnTo>
                      <a:pt x="81280" y="33867"/>
                    </a:lnTo>
                    <a:lnTo>
                      <a:pt x="81280" y="47414"/>
                    </a:lnTo>
                    <a:lnTo>
                      <a:pt x="894080" y="47414"/>
                    </a:lnTo>
                    <a:lnTo>
                      <a:pt x="894080" y="33867"/>
                    </a:lnTo>
                    <a:close/>
                  </a:path>
                </a:pathLst>
              </a:custGeom>
              <a:solidFill>
                <a:srgbClr val="000000"/>
              </a:solidFill>
            </p:spPr>
            <p:txBody>
              <a:bodyPr wrap="square" lIns="0" tIns="0" rIns="0" bIns="0" rtlCol="0"/>
              <a:lstStyle/>
              <a:p>
                <a:endParaRPr sz="1588"/>
              </a:p>
            </p:txBody>
          </p:sp>
        </p:grpSp>
        <p:sp>
          <p:nvSpPr>
            <p:cNvPr id="52" name="object 52"/>
            <p:cNvSpPr txBox="1"/>
            <p:nvPr/>
          </p:nvSpPr>
          <p:spPr>
            <a:xfrm>
              <a:off x="3723343" y="3683598"/>
              <a:ext cx="1553135" cy="269399"/>
            </a:xfrm>
            <a:prstGeom prst="rect">
              <a:avLst/>
            </a:prstGeom>
          </p:spPr>
          <p:txBody>
            <a:bodyPr vert="horz" wrap="square" lIns="0" tIns="11206" rIns="0" bIns="0" rtlCol="0">
              <a:spAutoFit/>
            </a:bodyPr>
            <a:lstStyle/>
            <a:p>
              <a:pPr>
                <a:spcBef>
                  <a:spcPts val="88"/>
                </a:spcBef>
              </a:pPr>
              <a:r>
                <a:rPr sz="1677" dirty="0">
                  <a:solidFill>
                    <a:srgbClr val="FF8000"/>
                  </a:solidFill>
                  <a:latin typeface="Courier New"/>
                  <a:cs typeface="Courier New"/>
                </a:rPr>
                <a:t>sub</a:t>
              </a:r>
              <a:r>
                <a:rPr sz="1677" spc="18" dirty="0">
                  <a:solidFill>
                    <a:srgbClr val="FF8000"/>
                  </a:solidFill>
                  <a:latin typeface="Courier New"/>
                  <a:cs typeface="Courier New"/>
                </a:rPr>
                <a:t> </a:t>
              </a:r>
              <a:r>
                <a:rPr sz="1677" spc="-9" dirty="0">
                  <a:solidFill>
                    <a:srgbClr val="FF8000"/>
                  </a:solidFill>
                  <a:latin typeface="Courier New"/>
                  <a:cs typeface="Courier New"/>
                </a:rPr>
                <a:t>$4,$5,$6</a:t>
              </a:r>
              <a:endParaRPr sz="1677" dirty="0">
                <a:latin typeface="Courier New"/>
                <a:cs typeface="Courier New"/>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5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500"/>
                                        <p:tgtEl>
                                          <p:spTgt spid="5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500"/>
                                        <p:tgtEl>
                                          <p:spTgt spid="6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500"/>
                                        <p:tgtEl>
                                          <p:spTgt spid="6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fade">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fade">
                                      <p:cBhvr>
                                        <p:cTn id="4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10228" y="612099"/>
            <a:ext cx="6837787" cy="589755"/>
          </a:xfrm>
          <a:prstGeom prst="rect">
            <a:avLst/>
          </a:prstGeom>
        </p:spPr>
        <p:txBody>
          <a:bodyPr vert="horz" wrap="square" lIns="0" tIns="126851" rIns="0" bIns="0" rtlCol="0" anchor="ctr">
            <a:spAutoFit/>
          </a:bodyPr>
          <a:lstStyle/>
          <a:p>
            <a:pPr marL="11206">
              <a:lnSpc>
                <a:spcPct val="100000"/>
              </a:lnSpc>
              <a:spcBef>
                <a:spcPts val="88"/>
              </a:spcBef>
            </a:pPr>
            <a:r>
              <a:rPr dirty="0"/>
              <a:t>Scheduling branch</a:t>
            </a:r>
            <a:r>
              <a:rPr spc="4" dirty="0"/>
              <a:t> </a:t>
            </a:r>
            <a:r>
              <a:rPr dirty="0"/>
              <a:t>delay</a:t>
            </a:r>
            <a:r>
              <a:rPr spc="-4" dirty="0"/>
              <a:t> </a:t>
            </a:r>
            <a:r>
              <a:rPr spc="-18" dirty="0"/>
              <a:t>slot</a:t>
            </a:r>
          </a:p>
        </p:txBody>
      </p:sp>
      <p:sp>
        <p:nvSpPr>
          <p:cNvPr id="5" name="Slide Number Placeholder 4">
            <a:extLst>
              <a:ext uri="{FF2B5EF4-FFF2-40B4-BE49-F238E27FC236}">
                <a16:creationId xmlns:a16="http://schemas.microsoft.com/office/drawing/2014/main" id="{AA979EF3-2DAF-BEE8-8994-18F85913AB5F}"/>
              </a:ext>
            </a:extLst>
          </p:cNvPr>
          <p:cNvSpPr>
            <a:spLocks noGrp="1"/>
          </p:cNvSpPr>
          <p:nvPr>
            <p:ph type="sldNum" sz="quarter" idx="7"/>
          </p:nvPr>
        </p:nvSpPr>
        <p:spPr/>
        <p:txBody>
          <a:bodyPr/>
          <a:lstStyle/>
          <a:p>
            <a:fld id="{4FE321F0-2018-4E50-8BB3-A5631EBD98DD}" type="slidenum">
              <a:rPr lang="en-US" smtClean="0"/>
              <a:t>66</a:t>
            </a:fld>
            <a:endParaRPr lang="en-US"/>
          </a:p>
        </p:txBody>
      </p:sp>
      <p:sp>
        <p:nvSpPr>
          <p:cNvPr id="4" name="object 4"/>
          <p:cNvSpPr txBox="1"/>
          <p:nvPr/>
        </p:nvSpPr>
        <p:spPr>
          <a:xfrm>
            <a:off x="810228" y="1226113"/>
            <a:ext cx="7523544" cy="4669944"/>
          </a:xfrm>
          <a:prstGeom prst="rect">
            <a:avLst/>
          </a:prstGeom>
        </p:spPr>
        <p:txBody>
          <a:bodyPr vert="horz" wrap="square" lIns="0" tIns="85165" rIns="0" bIns="0" rtlCol="0">
            <a:spAutoFit/>
          </a:bodyPr>
          <a:lstStyle/>
          <a:p>
            <a:pPr marL="279602" indent="-268395">
              <a:spcBef>
                <a:spcPts val="671"/>
              </a:spcBef>
              <a:buChar char="•"/>
              <a:tabLst>
                <a:tab pos="279602" algn="l"/>
              </a:tabLst>
            </a:pPr>
            <a:r>
              <a:rPr sz="2400" dirty="0">
                <a:latin typeface="Calibri"/>
                <a:cs typeface="Calibri"/>
              </a:rPr>
              <a:t>If</a:t>
            </a:r>
            <a:r>
              <a:rPr sz="2400" spc="-84" dirty="0">
                <a:latin typeface="Calibri"/>
                <a:cs typeface="Calibri"/>
              </a:rPr>
              <a:t> </a:t>
            </a:r>
            <a:r>
              <a:rPr sz="2400" spc="-9" dirty="0">
                <a:latin typeface="Calibri"/>
                <a:cs typeface="Calibri"/>
              </a:rPr>
              <a:t>taken</a:t>
            </a:r>
            <a:r>
              <a:rPr sz="2400" spc="-93" dirty="0">
                <a:latin typeface="Calibri"/>
                <a:cs typeface="Calibri"/>
              </a:rPr>
              <a:t> </a:t>
            </a:r>
            <a:r>
              <a:rPr sz="2400" dirty="0">
                <a:latin typeface="Calibri"/>
                <a:cs typeface="Calibri"/>
              </a:rPr>
              <a:t>from</a:t>
            </a:r>
            <a:r>
              <a:rPr sz="2400" spc="-106" dirty="0">
                <a:latin typeface="Calibri"/>
                <a:cs typeface="Calibri"/>
              </a:rPr>
              <a:t> </a:t>
            </a:r>
            <a:r>
              <a:rPr sz="2400" dirty="0">
                <a:latin typeface="Calibri"/>
                <a:cs typeface="Calibri"/>
              </a:rPr>
              <a:t>before</a:t>
            </a:r>
            <a:r>
              <a:rPr sz="2400" spc="-84" dirty="0">
                <a:latin typeface="Calibri"/>
                <a:cs typeface="Calibri"/>
              </a:rPr>
              <a:t> </a:t>
            </a:r>
            <a:r>
              <a:rPr sz="2400" spc="-9" dirty="0">
                <a:latin typeface="Calibri"/>
                <a:cs typeface="Calibri"/>
              </a:rPr>
              <a:t>branch,</a:t>
            </a:r>
            <a:endParaRPr sz="2400" dirty="0">
              <a:latin typeface="Calibri"/>
              <a:cs typeface="Calibri"/>
            </a:endParaRPr>
          </a:p>
          <a:p>
            <a:pPr marL="654458" lvl="1" indent="-213483">
              <a:spcBef>
                <a:spcPts val="427"/>
              </a:spcBef>
              <a:buChar char="–"/>
              <a:tabLst>
                <a:tab pos="654458" algn="l"/>
              </a:tabLst>
            </a:pPr>
            <a:r>
              <a:rPr sz="2200" dirty="0">
                <a:latin typeface="Calibri"/>
                <a:cs typeface="Calibri"/>
              </a:rPr>
              <a:t>branch</a:t>
            </a:r>
            <a:r>
              <a:rPr sz="2200" spc="31" dirty="0">
                <a:latin typeface="Calibri"/>
                <a:cs typeface="Calibri"/>
              </a:rPr>
              <a:t> </a:t>
            </a:r>
            <a:r>
              <a:rPr sz="2200" dirty="0">
                <a:latin typeface="Calibri"/>
                <a:cs typeface="Calibri"/>
              </a:rPr>
              <a:t>must</a:t>
            </a:r>
            <a:r>
              <a:rPr sz="2200" spc="18" dirty="0">
                <a:latin typeface="Calibri"/>
                <a:cs typeface="Calibri"/>
              </a:rPr>
              <a:t> </a:t>
            </a:r>
            <a:r>
              <a:rPr sz="2200" dirty="0">
                <a:latin typeface="Calibri"/>
                <a:cs typeface="Calibri"/>
              </a:rPr>
              <a:t>not</a:t>
            </a:r>
            <a:r>
              <a:rPr sz="2200" spc="18" dirty="0">
                <a:latin typeface="Calibri"/>
                <a:cs typeface="Calibri"/>
              </a:rPr>
              <a:t> </a:t>
            </a:r>
            <a:r>
              <a:rPr sz="2200" dirty="0">
                <a:latin typeface="Calibri"/>
                <a:cs typeface="Calibri"/>
              </a:rPr>
              <a:t>depend</a:t>
            </a:r>
            <a:r>
              <a:rPr sz="2200" spc="35" dirty="0">
                <a:latin typeface="Calibri"/>
                <a:cs typeface="Calibri"/>
              </a:rPr>
              <a:t> </a:t>
            </a:r>
            <a:r>
              <a:rPr sz="2200" dirty="0">
                <a:latin typeface="Calibri"/>
                <a:cs typeface="Calibri"/>
              </a:rPr>
              <a:t>on</a:t>
            </a:r>
            <a:r>
              <a:rPr sz="2200" spc="31" dirty="0">
                <a:latin typeface="Calibri"/>
                <a:cs typeface="Calibri"/>
              </a:rPr>
              <a:t> </a:t>
            </a:r>
            <a:r>
              <a:rPr sz="2200" dirty="0">
                <a:latin typeface="Calibri"/>
                <a:cs typeface="Calibri"/>
              </a:rPr>
              <a:t>rescheduled</a:t>
            </a:r>
            <a:r>
              <a:rPr sz="2200" spc="31" dirty="0">
                <a:latin typeface="Calibri"/>
                <a:cs typeface="Calibri"/>
              </a:rPr>
              <a:t> </a:t>
            </a:r>
            <a:r>
              <a:rPr sz="2200" spc="-9" dirty="0">
                <a:latin typeface="Calibri"/>
                <a:cs typeface="Calibri"/>
              </a:rPr>
              <a:t>instruction</a:t>
            </a:r>
            <a:endParaRPr sz="2200" dirty="0">
              <a:latin typeface="Calibri"/>
              <a:cs typeface="Calibri"/>
            </a:endParaRPr>
          </a:p>
          <a:p>
            <a:pPr marL="654458" lvl="1" indent="-213483">
              <a:spcBef>
                <a:spcPts val="468"/>
              </a:spcBef>
              <a:buFont typeface="Calibri"/>
              <a:buChar char="–"/>
              <a:tabLst>
                <a:tab pos="654458" algn="l"/>
              </a:tabLst>
            </a:pPr>
            <a:r>
              <a:rPr sz="2200" b="1" dirty="0">
                <a:latin typeface="Calibri"/>
                <a:cs typeface="Calibri"/>
              </a:rPr>
              <a:t>always</a:t>
            </a:r>
            <a:r>
              <a:rPr sz="2200" b="1" spc="-4" dirty="0">
                <a:latin typeface="Calibri"/>
                <a:cs typeface="Calibri"/>
              </a:rPr>
              <a:t> </a:t>
            </a:r>
            <a:r>
              <a:rPr sz="2200" b="1" dirty="0">
                <a:latin typeface="Calibri"/>
                <a:cs typeface="Calibri"/>
              </a:rPr>
              <a:t>improves</a:t>
            </a:r>
            <a:r>
              <a:rPr sz="2200" b="1" spc="-4" dirty="0">
                <a:latin typeface="Calibri"/>
                <a:cs typeface="Calibri"/>
              </a:rPr>
              <a:t> </a:t>
            </a:r>
            <a:r>
              <a:rPr sz="2200" b="1" spc="-9" dirty="0">
                <a:latin typeface="Calibri"/>
                <a:cs typeface="Calibri"/>
              </a:rPr>
              <a:t>performance</a:t>
            </a:r>
            <a:endParaRPr sz="2200" dirty="0">
              <a:latin typeface="Calibri"/>
              <a:cs typeface="Calibri"/>
            </a:endParaRPr>
          </a:p>
          <a:p>
            <a:pPr lvl="1">
              <a:spcBef>
                <a:spcPts val="869"/>
              </a:spcBef>
              <a:buFont typeface="Calibri"/>
              <a:buChar char="–"/>
            </a:pPr>
            <a:endParaRPr sz="1677" dirty="0">
              <a:latin typeface="Calibri"/>
              <a:cs typeface="Calibri"/>
            </a:endParaRPr>
          </a:p>
          <a:p>
            <a:pPr marL="279602" indent="-268395">
              <a:buChar char="•"/>
              <a:tabLst>
                <a:tab pos="279602" algn="l"/>
              </a:tabLst>
            </a:pPr>
            <a:r>
              <a:rPr sz="2400" dirty="0">
                <a:latin typeface="Calibri"/>
                <a:cs typeface="Calibri"/>
              </a:rPr>
              <a:t>If</a:t>
            </a:r>
            <a:r>
              <a:rPr sz="2400" spc="-79" dirty="0">
                <a:latin typeface="Calibri"/>
                <a:cs typeface="Calibri"/>
              </a:rPr>
              <a:t> </a:t>
            </a:r>
            <a:r>
              <a:rPr sz="2400" spc="-9" dirty="0">
                <a:latin typeface="Calibri"/>
                <a:cs typeface="Calibri"/>
              </a:rPr>
              <a:t>taken</a:t>
            </a:r>
            <a:r>
              <a:rPr sz="2400" spc="-84" dirty="0">
                <a:latin typeface="Calibri"/>
                <a:cs typeface="Calibri"/>
              </a:rPr>
              <a:t> </a:t>
            </a:r>
            <a:r>
              <a:rPr sz="2400" dirty="0">
                <a:latin typeface="Calibri"/>
                <a:cs typeface="Calibri"/>
              </a:rPr>
              <a:t>from</a:t>
            </a:r>
            <a:r>
              <a:rPr sz="2400" spc="-97" dirty="0">
                <a:latin typeface="Calibri"/>
                <a:cs typeface="Calibri"/>
              </a:rPr>
              <a:t> </a:t>
            </a:r>
            <a:r>
              <a:rPr sz="2400" spc="-9" dirty="0">
                <a:latin typeface="Calibri"/>
                <a:cs typeface="Calibri"/>
              </a:rPr>
              <a:t>branch</a:t>
            </a:r>
            <a:r>
              <a:rPr sz="2400" spc="-84" dirty="0">
                <a:latin typeface="Calibri"/>
                <a:cs typeface="Calibri"/>
              </a:rPr>
              <a:t> </a:t>
            </a:r>
            <a:r>
              <a:rPr sz="2400" spc="-9" dirty="0">
                <a:latin typeface="Calibri"/>
                <a:cs typeface="Calibri"/>
              </a:rPr>
              <a:t>target,</a:t>
            </a:r>
            <a:endParaRPr sz="2400" dirty="0">
              <a:latin typeface="Calibri"/>
              <a:cs typeface="Calibri"/>
            </a:endParaRPr>
          </a:p>
          <a:p>
            <a:pPr marL="654458" marR="4483" lvl="1" indent="-213483">
              <a:spcBef>
                <a:spcPts val="613"/>
              </a:spcBef>
              <a:buChar char="–"/>
              <a:tabLst>
                <a:tab pos="656139" algn="l"/>
              </a:tabLst>
            </a:pPr>
            <a:r>
              <a:rPr sz="2200" dirty="0">
                <a:latin typeface="Calibri"/>
                <a:cs typeface="Calibri"/>
              </a:rPr>
              <a:t>must</a:t>
            </a:r>
            <a:r>
              <a:rPr sz="2200" spc="13" dirty="0">
                <a:latin typeface="Calibri"/>
                <a:cs typeface="Calibri"/>
              </a:rPr>
              <a:t> </a:t>
            </a:r>
            <a:r>
              <a:rPr sz="2200" dirty="0">
                <a:latin typeface="Calibri"/>
                <a:cs typeface="Calibri"/>
              </a:rPr>
              <a:t>be</a:t>
            </a:r>
            <a:r>
              <a:rPr sz="2200" spc="22" dirty="0">
                <a:latin typeface="Calibri"/>
                <a:cs typeface="Calibri"/>
              </a:rPr>
              <a:t> </a:t>
            </a:r>
            <a:r>
              <a:rPr sz="2200" dirty="0">
                <a:latin typeface="Calibri"/>
                <a:cs typeface="Calibri"/>
              </a:rPr>
              <a:t>OK</a:t>
            </a:r>
            <a:r>
              <a:rPr sz="2200" spc="18" dirty="0">
                <a:latin typeface="Calibri"/>
                <a:cs typeface="Calibri"/>
              </a:rPr>
              <a:t> </a:t>
            </a:r>
            <a:r>
              <a:rPr sz="2200" dirty="0">
                <a:latin typeface="Calibri"/>
                <a:cs typeface="Calibri"/>
              </a:rPr>
              <a:t>to</a:t>
            </a:r>
            <a:r>
              <a:rPr sz="2200" spc="18" dirty="0">
                <a:latin typeface="Calibri"/>
                <a:cs typeface="Calibri"/>
              </a:rPr>
              <a:t> </a:t>
            </a:r>
            <a:r>
              <a:rPr sz="2200" dirty="0">
                <a:latin typeface="Calibri"/>
                <a:cs typeface="Calibri"/>
              </a:rPr>
              <a:t>execute</a:t>
            </a:r>
            <a:r>
              <a:rPr sz="2200" spc="22" dirty="0">
                <a:latin typeface="Calibri"/>
                <a:cs typeface="Calibri"/>
              </a:rPr>
              <a:t> </a:t>
            </a:r>
            <a:r>
              <a:rPr sz="2200" dirty="0">
                <a:latin typeface="Calibri"/>
                <a:cs typeface="Calibri"/>
              </a:rPr>
              <a:t>rescheduled</a:t>
            </a:r>
            <a:r>
              <a:rPr sz="2200" spc="22" dirty="0">
                <a:latin typeface="Calibri"/>
                <a:cs typeface="Calibri"/>
              </a:rPr>
              <a:t> </a:t>
            </a:r>
            <a:r>
              <a:rPr sz="2200" dirty="0">
                <a:latin typeface="Calibri"/>
                <a:cs typeface="Calibri"/>
              </a:rPr>
              <a:t>instructions</a:t>
            </a:r>
            <a:r>
              <a:rPr sz="2200" spc="13" dirty="0">
                <a:latin typeface="Calibri"/>
                <a:cs typeface="Calibri"/>
              </a:rPr>
              <a:t> </a:t>
            </a:r>
            <a:r>
              <a:rPr sz="2200" dirty="0">
                <a:latin typeface="Calibri"/>
                <a:cs typeface="Calibri"/>
              </a:rPr>
              <a:t>if</a:t>
            </a:r>
            <a:r>
              <a:rPr sz="2200" spc="13" dirty="0">
                <a:latin typeface="Calibri"/>
                <a:cs typeface="Calibri"/>
              </a:rPr>
              <a:t> </a:t>
            </a:r>
            <a:r>
              <a:rPr sz="2200" dirty="0">
                <a:latin typeface="Calibri"/>
                <a:cs typeface="Calibri"/>
              </a:rPr>
              <a:t>branch</a:t>
            </a:r>
            <a:r>
              <a:rPr sz="2200" spc="22" dirty="0">
                <a:latin typeface="Calibri"/>
                <a:cs typeface="Calibri"/>
              </a:rPr>
              <a:t> </a:t>
            </a:r>
            <a:r>
              <a:rPr sz="2200" dirty="0">
                <a:latin typeface="Calibri"/>
                <a:cs typeface="Calibri"/>
              </a:rPr>
              <a:t>not</a:t>
            </a:r>
            <a:r>
              <a:rPr sz="2200" spc="13" dirty="0">
                <a:latin typeface="Calibri"/>
                <a:cs typeface="Calibri"/>
              </a:rPr>
              <a:t> </a:t>
            </a:r>
            <a:r>
              <a:rPr sz="2200" dirty="0">
                <a:latin typeface="Calibri"/>
                <a:cs typeface="Calibri"/>
              </a:rPr>
              <a:t>taken,</a:t>
            </a:r>
            <a:r>
              <a:rPr sz="2200" spc="13" dirty="0">
                <a:latin typeface="Calibri"/>
                <a:cs typeface="Calibri"/>
              </a:rPr>
              <a:t> </a:t>
            </a:r>
            <a:r>
              <a:rPr sz="2200" spc="-22" dirty="0">
                <a:latin typeface="Calibri"/>
                <a:cs typeface="Calibri"/>
              </a:rPr>
              <a:t>and </a:t>
            </a:r>
            <a:r>
              <a:rPr sz="2200" dirty="0">
                <a:latin typeface="Calibri"/>
                <a:cs typeface="Calibri"/>
              </a:rPr>
              <a:t>may</a:t>
            </a:r>
            <a:r>
              <a:rPr sz="2200" spc="4" dirty="0">
                <a:latin typeface="Calibri"/>
                <a:cs typeface="Calibri"/>
              </a:rPr>
              <a:t> </a:t>
            </a:r>
            <a:r>
              <a:rPr sz="2200" dirty="0">
                <a:latin typeface="Calibri"/>
                <a:cs typeface="Calibri"/>
              </a:rPr>
              <a:t>need</a:t>
            </a:r>
            <a:r>
              <a:rPr sz="2200" spc="18" dirty="0">
                <a:latin typeface="Calibri"/>
                <a:cs typeface="Calibri"/>
              </a:rPr>
              <a:t> </a:t>
            </a:r>
            <a:r>
              <a:rPr sz="2200" dirty="0">
                <a:latin typeface="Calibri"/>
                <a:cs typeface="Calibri"/>
              </a:rPr>
              <a:t>to</a:t>
            </a:r>
            <a:r>
              <a:rPr sz="2200" spc="13" dirty="0">
                <a:latin typeface="Calibri"/>
                <a:cs typeface="Calibri"/>
              </a:rPr>
              <a:t> </a:t>
            </a:r>
            <a:r>
              <a:rPr sz="2200" dirty="0">
                <a:latin typeface="Calibri"/>
                <a:cs typeface="Calibri"/>
              </a:rPr>
              <a:t>duplicate</a:t>
            </a:r>
            <a:r>
              <a:rPr sz="2200" spc="18" dirty="0">
                <a:latin typeface="Calibri"/>
                <a:cs typeface="Calibri"/>
              </a:rPr>
              <a:t> </a:t>
            </a:r>
            <a:r>
              <a:rPr sz="2200" spc="-9" dirty="0">
                <a:latin typeface="Calibri"/>
                <a:cs typeface="Calibri"/>
              </a:rPr>
              <a:t>instructions</a:t>
            </a:r>
            <a:endParaRPr sz="2200" dirty="0">
              <a:latin typeface="Calibri"/>
              <a:cs typeface="Calibri"/>
            </a:endParaRPr>
          </a:p>
          <a:p>
            <a:pPr marL="654458" lvl="1" indent="-213483">
              <a:spcBef>
                <a:spcPts val="410"/>
              </a:spcBef>
              <a:buChar char="–"/>
              <a:tabLst>
                <a:tab pos="654458" algn="l"/>
              </a:tabLst>
            </a:pPr>
            <a:r>
              <a:rPr sz="2200" dirty="0">
                <a:latin typeface="Calibri"/>
                <a:cs typeface="Calibri"/>
              </a:rPr>
              <a:t>improve</a:t>
            </a:r>
            <a:r>
              <a:rPr sz="2200" spc="18" dirty="0">
                <a:latin typeface="Calibri"/>
                <a:cs typeface="Calibri"/>
              </a:rPr>
              <a:t> </a:t>
            </a:r>
            <a:r>
              <a:rPr sz="2200" dirty="0">
                <a:latin typeface="Calibri"/>
                <a:cs typeface="Calibri"/>
              </a:rPr>
              <a:t>performance</a:t>
            </a:r>
            <a:r>
              <a:rPr sz="2200" spc="31" dirty="0">
                <a:latin typeface="Calibri"/>
                <a:cs typeface="Calibri"/>
              </a:rPr>
              <a:t> </a:t>
            </a:r>
            <a:r>
              <a:rPr sz="2200" dirty="0">
                <a:latin typeface="Calibri"/>
                <a:cs typeface="Calibri"/>
              </a:rPr>
              <a:t>when</a:t>
            </a:r>
            <a:r>
              <a:rPr sz="2200" spc="26" dirty="0">
                <a:latin typeface="Calibri"/>
                <a:cs typeface="Calibri"/>
              </a:rPr>
              <a:t> </a:t>
            </a:r>
            <a:r>
              <a:rPr sz="2200" dirty="0">
                <a:latin typeface="Calibri"/>
                <a:cs typeface="Calibri"/>
              </a:rPr>
              <a:t>branch</a:t>
            </a:r>
            <a:r>
              <a:rPr sz="2200" spc="31" dirty="0">
                <a:latin typeface="Calibri"/>
                <a:cs typeface="Calibri"/>
              </a:rPr>
              <a:t> </a:t>
            </a:r>
            <a:r>
              <a:rPr sz="2200" spc="-9" dirty="0">
                <a:latin typeface="Calibri"/>
                <a:cs typeface="Calibri"/>
              </a:rPr>
              <a:t>taken</a:t>
            </a:r>
            <a:endParaRPr sz="2200" dirty="0">
              <a:latin typeface="Calibri"/>
              <a:cs typeface="Calibri"/>
            </a:endParaRPr>
          </a:p>
          <a:p>
            <a:pPr lvl="1">
              <a:spcBef>
                <a:spcPts val="896"/>
              </a:spcBef>
              <a:buFont typeface="Calibri"/>
              <a:buChar char="–"/>
            </a:pPr>
            <a:endParaRPr sz="1677" dirty="0">
              <a:latin typeface="Calibri"/>
              <a:cs typeface="Calibri"/>
            </a:endParaRPr>
          </a:p>
          <a:p>
            <a:pPr marL="279602" indent="-268395">
              <a:buChar char="•"/>
              <a:tabLst>
                <a:tab pos="279602" algn="l"/>
              </a:tabLst>
            </a:pPr>
            <a:r>
              <a:rPr sz="2400" dirty="0">
                <a:latin typeface="Calibri"/>
                <a:cs typeface="Calibri"/>
              </a:rPr>
              <a:t>If</a:t>
            </a:r>
            <a:r>
              <a:rPr sz="2400" spc="-79" dirty="0">
                <a:latin typeface="Calibri"/>
                <a:cs typeface="Calibri"/>
              </a:rPr>
              <a:t> </a:t>
            </a:r>
            <a:r>
              <a:rPr sz="2400" spc="-9" dirty="0">
                <a:latin typeface="Calibri"/>
                <a:cs typeface="Calibri"/>
              </a:rPr>
              <a:t>taken</a:t>
            </a:r>
            <a:r>
              <a:rPr sz="2400" spc="-79" dirty="0">
                <a:latin typeface="Calibri"/>
                <a:cs typeface="Calibri"/>
              </a:rPr>
              <a:t> </a:t>
            </a:r>
            <a:r>
              <a:rPr sz="2400" dirty="0">
                <a:latin typeface="Calibri"/>
                <a:cs typeface="Calibri"/>
              </a:rPr>
              <a:t>from</a:t>
            </a:r>
            <a:r>
              <a:rPr sz="2400" spc="-101" dirty="0">
                <a:latin typeface="Calibri"/>
                <a:cs typeface="Calibri"/>
              </a:rPr>
              <a:t> </a:t>
            </a:r>
            <a:r>
              <a:rPr sz="2400" dirty="0">
                <a:latin typeface="Calibri"/>
                <a:cs typeface="Calibri"/>
              </a:rPr>
              <a:t>fall</a:t>
            </a:r>
            <a:r>
              <a:rPr sz="2400" spc="-79" dirty="0">
                <a:latin typeface="Calibri"/>
                <a:cs typeface="Calibri"/>
              </a:rPr>
              <a:t> </a:t>
            </a:r>
            <a:r>
              <a:rPr sz="2400" spc="-9" dirty="0">
                <a:latin typeface="Calibri"/>
                <a:cs typeface="Calibri"/>
              </a:rPr>
              <a:t>through,</a:t>
            </a:r>
            <a:endParaRPr sz="2400" dirty="0">
              <a:latin typeface="Calibri"/>
              <a:cs typeface="Calibri"/>
            </a:endParaRPr>
          </a:p>
          <a:p>
            <a:pPr marL="654458" lvl="1" indent="-213483">
              <a:spcBef>
                <a:spcPts val="405"/>
              </a:spcBef>
              <a:buChar char="–"/>
              <a:tabLst>
                <a:tab pos="654458" algn="l"/>
              </a:tabLst>
            </a:pPr>
            <a:r>
              <a:rPr sz="2200" dirty="0">
                <a:latin typeface="Calibri"/>
                <a:cs typeface="Calibri"/>
              </a:rPr>
              <a:t>must</a:t>
            </a:r>
            <a:r>
              <a:rPr sz="2200" spc="13" dirty="0">
                <a:latin typeface="Calibri"/>
                <a:cs typeface="Calibri"/>
              </a:rPr>
              <a:t> </a:t>
            </a:r>
            <a:r>
              <a:rPr sz="2200" dirty="0">
                <a:latin typeface="Calibri"/>
                <a:cs typeface="Calibri"/>
              </a:rPr>
              <a:t>be</a:t>
            </a:r>
            <a:r>
              <a:rPr sz="2200" spc="22" dirty="0">
                <a:latin typeface="Calibri"/>
                <a:cs typeface="Calibri"/>
              </a:rPr>
              <a:t> </a:t>
            </a:r>
            <a:r>
              <a:rPr sz="2200" dirty="0">
                <a:latin typeface="Calibri"/>
                <a:cs typeface="Calibri"/>
              </a:rPr>
              <a:t>OK</a:t>
            </a:r>
            <a:r>
              <a:rPr sz="2200" spc="22" dirty="0">
                <a:latin typeface="Calibri"/>
                <a:cs typeface="Calibri"/>
              </a:rPr>
              <a:t> </a:t>
            </a:r>
            <a:r>
              <a:rPr sz="2200" dirty="0">
                <a:latin typeface="Calibri"/>
                <a:cs typeface="Calibri"/>
              </a:rPr>
              <a:t>to</a:t>
            </a:r>
            <a:r>
              <a:rPr sz="2200" spc="18" dirty="0">
                <a:latin typeface="Calibri"/>
                <a:cs typeface="Calibri"/>
              </a:rPr>
              <a:t> </a:t>
            </a:r>
            <a:r>
              <a:rPr sz="2200" dirty="0">
                <a:latin typeface="Calibri"/>
                <a:cs typeface="Calibri"/>
              </a:rPr>
              <a:t>execute</a:t>
            </a:r>
            <a:r>
              <a:rPr sz="2200" spc="22" dirty="0">
                <a:latin typeface="Calibri"/>
                <a:cs typeface="Calibri"/>
              </a:rPr>
              <a:t> </a:t>
            </a:r>
            <a:r>
              <a:rPr sz="2200" dirty="0">
                <a:latin typeface="Calibri"/>
                <a:cs typeface="Calibri"/>
              </a:rPr>
              <a:t>instructions</a:t>
            </a:r>
            <a:r>
              <a:rPr sz="2200" spc="13" dirty="0">
                <a:latin typeface="Calibri"/>
                <a:cs typeface="Calibri"/>
              </a:rPr>
              <a:t> </a:t>
            </a:r>
            <a:r>
              <a:rPr sz="2200" dirty="0">
                <a:latin typeface="Calibri"/>
                <a:cs typeface="Calibri"/>
              </a:rPr>
              <a:t>if</a:t>
            </a:r>
            <a:r>
              <a:rPr sz="2200" spc="13" dirty="0">
                <a:latin typeface="Calibri"/>
                <a:cs typeface="Calibri"/>
              </a:rPr>
              <a:t> </a:t>
            </a:r>
            <a:r>
              <a:rPr sz="2200" dirty="0">
                <a:latin typeface="Calibri"/>
                <a:cs typeface="Calibri"/>
              </a:rPr>
              <a:t>branch</a:t>
            </a:r>
            <a:r>
              <a:rPr sz="2200" spc="22" dirty="0">
                <a:latin typeface="Calibri"/>
                <a:cs typeface="Calibri"/>
              </a:rPr>
              <a:t> </a:t>
            </a:r>
            <a:r>
              <a:rPr sz="2200" spc="-9" dirty="0">
                <a:latin typeface="Calibri"/>
                <a:cs typeface="Calibri"/>
              </a:rPr>
              <a:t>taken</a:t>
            </a:r>
            <a:endParaRPr sz="2200" dirty="0">
              <a:latin typeface="Calibri"/>
              <a:cs typeface="Calibri"/>
            </a:endParaRPr>
          </a:p>
          <a:p>
            <a:pPr marL="654458" lvl="1" indent="-213483">
              <a:spcBef>
                <a:spcPts val="463"/>
              </a:spcBef>
              <a:buChar char="–"/>
              <a:tabLst>
                <a:tab pos="654458" algn="l"/>
              </a:tabLst>
            </a:pPr>
            <a:r>
              <a:rPr sz="2200" dirty="0">
                <a:latin typeface="Calibri"/>
                <a:cs typeface="Calibri"/>
              </a:rPr>
              <a:t>improve</a:t>
            </a:r>
            <a:r>
              <a:rPr sz="2200" spc="26" dirty="0">
                <a:latin typeface="Calibri"/>
                <a:cs typeface="Calibri"/>
              </a:rPr>
              <a:t> </a:t>
            </a:r>
            <a:r>
              <a:rPr sz="2200" dirty="0">
                <a:latin typeface="Calibri"/>
                <a:cs typeface="Calibri"/>
              </a:rPr>
              <a:t>performance</a:t>
            </a:r>
            <a:r>
              <a:rPr sz="2200" spc="31" dirty="0">
                <a:latin typeface="Calibri"/>
                <a:cs typeface="Calibri"/>
              </a:rPr>
              <a:t> </a:t>
            </a:r>
            <a:r>
              <a:rPr sz="2200" dirty="0">
                <a:latin typeface="Calibri"/>
                <a:cs typeface="Calibri"/>
              </a:rPr>
              <a:t>when</a:t>
            </a:r>
            <a:r>
              <a:rPr sz="2200" spc="26" dirty="0">
                <a:latin typeface="Calibri"/>
                <a:cs typeface="Calibri"/>
              </a:rPr>
              <a:t> </a:t>
            </a:r>
            <a:r>
              <a:rPr sz="2200" dirty="0">
                <a:latin typeface="Calibri"/>
                <a:cs typeface="Calibri"/>
              </a:rPr>
              <a:t>branch</a:t>
            </a:r>
            <a:r>
              <a:rPr sz="2200" spc="31" dirty="0">
                <a:latin typeface="Calibri"/>
                <a:cs typeface="Calibri"/>
              </a:rPr>
              <a:t> </a:t>
            </a:r>
            <a:r>
              <a:rPr sz="2200" dirty="0">
                <a:latin typeface="Calibri"/>
                <a:cs typeface="Calibri"/>
              </a:rPr>
              <a:t>not</a:t>
            </a:r>
            <a:r>
              <a:rPr sz="2200" spc="13" dirty="0">
                <a:latin typeface="Calibri"/>
                <a:cs typeface="Calibri"/>
              </a:rPr>
              <a:t> </a:t>
            </a:r>
            <a:r>
              <a:rPr sz="2200" spc="-9" dirty="0">
                <a:latin typeface="Calibri"/>
                <a:cs typeface="Calibri"/>
              </a:rPr>
              <a:t>taken</a:t>
            </a:r>
            <a:endParaRPr sz="2200" dirty="0">
              <a:latin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5" end="5"/>
                                            </p:txEl>
                                          </p:spTgt>
                                        </p:tgtEl>
                                        <p:attrNameLst>
                                          <p:attrName>style.visibility</p:attrName>
                                        </p:attrNameLst>
                                      </p:cBhvr>
                                      <p:to>
                                        <p:strVal val="visible"/>
                                      </p:to>
                                    </p:set>
                                    <p:animEffect transition="in" filter="fade">
                                      <p:cBhvr>
                                        <p:cTn id="10" dur="500"/>
                                        <p:tgtEl>
                                          <p:spTgt spid="4">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animEffect transition="in" filter="fade">
                                      <p:cBhvr>
                                        <p:cTn id="13" dur="500"/>
                                        <p:tgtEl>
                                          <p:spTgt spid="4">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8" end="8"/>
                                            </p:txEl>
                                          </p:spTgt>
                                        </p:tgtEl>
                                        <p:attrNameLst>
                                          <p:attrName>style.visibility</p:attrName>
                                        </p:attrNameLst>
                                      </p:cBhvr>
                                      <p:to>
                                        <p:strVal val="visible"/>
                                      </p:to>
                                    </p:set>
                                    <p:animEffect transition="in" filter="fade">
                                      <p:cBhvr>
                                        <p:cTn id="18" dur="500"/>
                                        <p:tgtEl>
                                          <p:spTgt spid="4">
                                            <p:txEl>
                                              <p:pRg st="8" end="8"/>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animEffect transition="in" filter="fade">
                                      <p:cBhvr>
                                        <p:cTn id="21" dur="500"/>
                                        <p:tgtEl>
                                          <p:spTgt spid="4">
                                            <p:txEl>
                                              <p:pRg st="9" end="9"/>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10" end="10"/>
                                            </p:txEl>
                                          </p:spTgt>
                                        </p:tgtEl>
                                        <p:attrNameLst>
                                          <p:attrName>style.visibility</p:attrName>
                                        </p:attrNameLst>
                                      </p:cBhvr>
                                      <p:to>
                                        <p:strVal val="visible"/>
                                      </p:to>
                                    </p:set>
                                    <p:animEffect transition="in" filter="fade">
                                      <p:cBhvr>
                                        <p:cTn id="24"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30667" y="4928158"/>
            <a:ext cx="2864784" cy="1394715"/>
          </a:xfrm>
          <a:prstGeom prst="rect">
            <a:avLst/>
          </a:prstGeom>
        </p:spPr>
        <p:txBody>
          <a:bodyPr vert="horz" wrap="square" lIns="0" tIns="99732" rIns="0" bIns="0" rtlCol="0">
            <a:spAutoFit/>
          </a:bodyPr>
          <a:lstStyle/>
          <a:p>
            <a:pPr marL="333393" indent="-322186">
              <a:spcBef>
                <a:spcPts val="785"/>
              </a:spcBef>
              <a:buClr>
                <a:srgbClr val="000000"/>
              </a:buClr>
              <a:buSzPct val="69230"/>
              <a:buFont typeface="Wingdings"/>
              <a:buChar char=""/>
              <a:tabLst>
                <a:tab pos="333393" algn="l"/>
              </a:tabLst>
            </a:pPr>
            <a:r>
              <a:rPr sz="2294" b="1" spc="-18" dirty="0">
                <a:solidFill>
                  <a:srgbClr val="000066"/>
                </a:solidFill>
                <a:latin typeface="Times New Roman"/>
                <a:cs typeface="Times New Roman"/>
              </a:rPr>
              <a:t>Sample</a:t>
            </a:r>
            <a:r>
              <a:rPr sz="2294" b="1" spc="-88" dirty="0">
                <a:solidFill>
                  <a:srgbClr val="000066"/>
                </a:solidFill>
                <a:latin typeface="Times New Roman"/>
                <a:cs typeface="Times New Roman"/>
              </a:rPr>
              <a:t> </a:t>
            </a:r>
            <a:r>
              <a:rPr sz="2294" b="1" spc="-9" dirty="0">
                <a:solidFill>
                  <a:srgbClr val="000066"/>
                </a:solidFill>
                <a:latin typeface="Times New Roman"/>
                <a:cs typeface="Times New Roman"/>
              </a:rPr>
              <a:t>calculation</a:t>
            </a:r>
            <a:endParaRPr sz="2294" dirty="0">
              <a:latin typeface="Times New Roman"/>
              <a:cs typeface="Times New Roman"/>
            </a:endParaRPr>
          </a:p>
          <a:p>
            <a:pPr marL="662303" lvl="1" indent="-327229">
              <a:spcBef>
                <a:spcPts val="512"/>
              </a:spcBef>
              <a:buClr>
                <a:srgbClr val="00AE00"/>
              </a:buClr>
              <a:buSzPct val="68421"/>
              <a:buFont typeface="Wingdings"/>
              <a:buChar char=""/>
              <a:tabLst>
                <a:tab pos="662303" algn="l"/>
              </a:tabLst>
            </a:pPr>
            <a:r>
              <a:rPr sz="1677" b="1" dirty="0">
                <a:solidFill>
                  <a:srgbClr val="000066"/>
                </a:solidFill>
                <a:latin typeface="Times New Roman"/>
                <a:cs typeface="Times New Roman"/>
              </a:rPr>
              <a:t>1.</a:t>
            </a:r>
            <a:r>
              <a:rPr sz="1677" b="1" dirty="0">
                <a:solidFill>
                  <a:srgbClr val="FF0000"/>
                </a:solidFill>
                <a:latin typeface="Times New Roman"/>
                <a:cs typeface="Times New Roman"/>
              </a:rPr>
              <a:t>60</a:t>
            </a:r>
            <a:r>
              <a:rPr sz="1677" b="1" spc="4" dirty="0">
                <a:solidFill>
                  <a:srgbClr val="FF0000"/>
                </a:solidFill>
                <a:latin typeface="Times New Roman"/>
                <a:cs typeface="Times New Roman"/>
              </a:rPr>
              <a:t> </a:t>
            </a:r>
            <a:r>
              <a:rPr sz="1677" b="1" dirty="0">
                <a:solidFill>
                  <a:srgbClr val="000066"/>
                </a:solidFill>
                <a:latin typeface="Times New Roman"/>
                <a:cs typeface="Times New Roman"/>
              </a:rPr>
              <a:t>=</a:t>
            </a:r>
            <a:r>
              <a:rPr sz="1677" b="1" spc="13" dirty="0">
                <a:solidFill>
                  <a:srgbClr val="000066"/>
                </a:solidFill>
                <a:latin typeface="Times New Roman"/>
                <a:cs typeface="Times New Roman"/>
              </a:rPr>
              <a:t> </a:t>
            </a:r>
            <a:r>
              <a:rPr sz="1677" b="1" dirty="0">
                <a:solidFill>
                  <a:srgbClr val="000066"/>
                </a:solidFill>
                <a:latin typeface="Times New Roman"/>
                <a:cs typeface="Times New Roman"/>
              </a:rPr>
              <a:t>1</a:t>
            </a:r>
            <a:r>
              <a:rPr sz="1677" b="1" spc="9" dirty="0">
                <a:solidFill>
                  <a:srgbClr val="000066"/>
                </a:solidFill>
                <a:latin typeface="Times New Roman"/>
                <a:cs typeface="Times New Roman"/>
              </a:rPr>
              <a:t> </a:t>
            </a:r>
            <a:r>
              <a:rPr sz="1677" b="1" dirty="0">
                <a:solidFill>
                  <a:srgbClr val="000066"/>
                </a:solidFill>
                <a:latin typeface="Times New Roman"/>
                <a:cs typeface="Times New Roman"/>
              </a:rPr>
              <a:t>+</a:t>
            </a:r>
            <a:r>
              <a:rPr sz="1677" b="1" spc="13" dirty="0">
                <a:solidFill>
                  <a:srgbClr val="000066"/>
                </a:solidFill>
                <a:latin typeface="Times New Roman"/>
                <a:cs typeface="Times New Roman"/>
              </a:rPr>
              <a:t> </a:t>
            </a:r>
            <a:r>
              <a:rPr sz="1677" b="1" spc="-9" dirty="0">
                <a:solidFill>
                  <a:srgbClr val="FF0000"/>
                </a:solidFill>
                <a:latin typeface="Times New Roman"/>
                <a:cs typeface="Times New Roman"/>
              </a:rPr>
              <a:t>3*(4+10+6)%</a:t>
            </a:r>
            <a:endParaRPr sz="1677" dirty="0">
              <a:latin typeface="Times New Roman"/>
              <a:cs typeface="Times New Roman"/>
            </a:endParaRPr>
          </a:p>
          <a:p>
            <a:pPr marL="662303" lvl="1" indent="-327229">
              <a:spcBef>
                <a:spcPts val="383"/>
              </a:spcBef>
              <a:buClr>
                <a:srgbClr val="00AE00"/>
              </a:buClr>
              <a:buSzPct val="68421"/>
              <a:buFont typeface="Wingdings"/>
              <a:buChar char=""/>
              <a:tabLst>
                <a:tab pos="662303" algn="l"/>
              </a:tabLst>
            </a:pPr>
            <a:r>
              <a:rPr sz="1677" b="1" dirty="0">
                <a:solidFill>
                  <a:srgbClr val="000066"/>
                </a:solidFill>
                <a:latin typeface="Times New Roman"/>
                <a:cs typeface="Times New Roman"/>
              </a:rPr>
              <a:t>1.</a:t>
            </a:r>
            <a:r>
              <a:rPr sz="1677" b="1" dirty="0">
                <a:solidFill>
                  <a:srgbClr val="0099FF"/>
                </a:solidFill>
                <a:latin typeface="Times New Roman"/>
                <a:cs typeface="Times New Roman"/>
              </a:rPr>
              <a:t>20</a:t>
            </a:r>
            <a:r>
              <a:rPr sz="1677" b="1" spc="4" dirty="0">
                <a:solidFill>
                  <a:srgbClr val="0099FF"/>
                </a:solidFill>
                <a:latin typeface="Times New Roman"/>
                <a:cs typeface="Times New Roman"/>
              </a:rPr>
              <a:t> </a:t>
            </a:r>
            <a:r>
              <a:rPr sz="1677" b="1" dirty="0">
                <a:solidFill>
                  <a:srgbClr val="000066"/>
                </a:solidFill>
                <a:latin typeface="Times New Roman"/>
                <a:cs typeface="Times New Roman"/>
              </a:rPr>
              <a:t>=</a:t>
            </a:r>
            <a:r>
              <a:rPr sz="1677" b="1" spc="13" dirty="0">
                <a:solidFill>
                  <a:srgbClr val="000066"/>
                </a:solidFill>
                <a:latin typeface="Times New Roman"/>
                <a:cs typeface="Times New Roman"/>
              </a:rPr>
              <a:t> </a:t>
            </a:r>
            <a:r>
              <a:rPr sz="1677" b="1" dirty="0">
                <a:solidFill>
                  <a:srgbClr val="000066"/>
                </a:solidFill>
                <a:latin typeface="Times New Roman"/>
                <a:cs typeface="Times New Roman"/>
              </a:rPr>
              <a:t>1</a:t>
            </a:r>
            <a:r>
              <a:rPr sz="1677" b="1" spc="9" dirty="0">
                <a:solidFill>
                  <a:srgbClr val="000066"/>
                </a:solidFill>
                <a:latin typeface="Times New Roman"/>
                <a:cs typeface="Times New Roman"/>
              </a:rPr>
              <a:t> </a:t>
            </a:r>
            <a:r>
              <a:rPr sz="1677" b="1" dirty="0">
                <a:solidFill>
                  <a:srgbClr val="000066"/>
                </a:solidFill>
                <a:latin typeface="Times New Roman"/>
                <a:cs typeface="Times New Roman"/>
              </a:rPr>
              <a:t>+</a:t>
            </a:r>
            <a:r>
              <a:rPr sz="1677" b="1" spc="13" dirty="0">
                <a:solidFill>
                  <a:srgbClr val="000066"/>
                </a:solidFill>
                <a:latin typeface="Times New Roman"/>
                <a:cs typeface="Times New Roman"/>
              </a:rPr>
              <a:t> </a:t>
            </a:r>
            <a:r>
              <a:rPr sz="1677" b="1" spc="-9" dirty="0">
                <a:solidFill>
                  <a:srgbClr val="0099FF"/>
                </a:solidFill>
                <a:latin typeface="Times New Roman"/>
                <a:cs typeface="Times New Roman"/>
              </a:rPr>
              <a:t>1*(4+10+6)%</a:t>
            </a:r>
            <a:endParaRPr sz="1677" dirty="0">
              <a:latin typeface="Times New Roman"/>
              <a:cs typeface="Times New Roman"/>
            </a:endParaRPr>
          </a:p>
          <a:p>
            <a:pPr marL="662303" lvl="1" indent="-327229">
              <a:spcBef>
                <a:spcPts val="441"/>
              </a:spcBef>
              <a:buClr>
                <a:srgbClr val="00AE00"/>
              </a:buClr>
              <a:buSzPct val="68421"/>
              <a:buFont typeface="Wingdings"/>
              <a:buChar char=""/>
              <a:tabLst>
                <a:tab pos="662303" algn="l"/>
              </a:tabLst>
            </a:pPr>
            <a:r>
              <a:rPr sz="1677" b="1" dirty="0">
                <a:solidFill>
                  <a:srgbClr val="000066"/>
                </a:solidFill>
                <a:latin typeface="Times New Roman"/>
                <a:cs typeface="Times New Roman"/>
              </a:rPr>
              <a:t>1.14</a:t>
            </a:r>
            <a:r>
              <a:rPr sz="1677" b="1" spc="4" dirty="0">
                <a:solidFill>
                  <a:srgbClr val="000066"/>
                </a:solidFill>
                <a:latin typeface="Times New Roman"/>
                <a:cs typeface="Times New Roman"/>
              </a:rPr>
              <a:t> </a:t>
            </a:r>
            <a:r>
              <a:rPr sz="1677" b="1" dirty="0">
                <a:solidFill>
                  <a:srgbClr val="000066"/>
                </a:solidFill>
                <a:latin typeface="Times New Roman"/>
                <a:cs typeface="Times New Roman"/>
              </a:rPr>
              <a:t>=</a:t>
            </a:r>
            <a:r>
              <a:rPr sz="1677" b="1" spc="9" dirty="0">
                <a:solidFill>
                  <a:srgbClr val="000066"/>
                </a:solidFill>
                <a:latin typeface="Times New Roman"/>
                <a:cs typeface="Times New Roman"/>
              </a:rPr>
              <a:t> </a:t>
            </a:r>
            <a:r>
              <a:rPr sz="1677" b="1" dirty="0">
                <a:solidFill>
                  <a:srgbClr val="000066"/>
                </a:solidFill>
                <a:latin typeface="Times New Roman"/>
                <a:cs typeface="Times New Roman"/>
              </a:rPr>
              <a:t>1</a:t>
            </a:r>
            <a:r>
              <a:rPr sz="1677" b="1" spc="9" dirty="0">
                <a:solidFill>
                  <a:srgbClr val="000066"/>
                </a:solidFill>
                <a:latin typeface="Times New Roman"/>
                <a:cs typeface="Times New Roman"/>
              </a:rPr>
              <a:t> </a:t>
            </a:r>
            <a:r>
              <a:rPr sz="1677" b="1" dirty="0">
                <a:solidFill>
                  <a:srgbClr val="000066"/>
                </a:solidFill>
                <a:latin typeface="Times New Roman"/>
                <a:cs typeface="Times New Roman"/>
              </a:rPr>
              <a:t>+</a:t>
            </a:r>
            <a:r>
              <a:rPr sz="1677" b="1" spc="9" dirty="0">
                <a:solidFill>
                  <a:srgbClr val="000066"/>
                </a:solidFill>
                <a:latin typeface="Times New Roman"/>
                <a:cs typeface="Times New Roman"/>
              </a:rPr>
              <a:t> </a:t>
            </a:r>
            <a:r>
              <a:rPr sz="1677" b="1" spc="-9" dirty="0">
                <a:solidFill>
                  <a:srgbClr val="000066"/>
                </a:solidFill>
                <a:latin typeface="Times New Roman"/>
                <a:cs typeface="Times New Roman"/>
              </a:rPr>
              <a:t>1*(4+10)%</a:t>
            </a:r>
            <a:endParaRPr sz="1677" dirty="0">
              <a:latin typeface="Times New Roman"/>
              <a:cs typeface="Times New Roman"/>
            </a:endParaRPr>
          </a:p>
        </p:txBody>
      </p:sp>
      <p:sp>
        <p:nvSpPr>
          <p:cNvPr id="4" name="object 4"/>
          <p:cNvSpPr txBox="1"/>
          <p:nvPr/>
        </p:nvSpPr>
        <p:spPr>
          <a:xfrm>
            <a:off x="3636830" y="5383305"/>
            <a:ext cx="5359251" cy="627434"/>
          </a:xfrm>
          <a:prstGeom prst="rect">
            <a:avLst/>
          </a:prstGeom>
        </p:spPr>
        <p:txBody>
          <a:bodyPr vert="horz" wrap="square" lIns="0" tIns="59391" rIns="0" bIns="0" rtlCol="0">
            <a:spAutoFit/>
          </a:bodyPr>
          <a:lstStyle/>
          <a:p>
            <a:pPr marL="11206">
              <a:spcBef>
                <a:spcPts val="468"/>
              </a:spcBef>
              <a:tabLst>
                <a:tab pos="1251764" algn="l"/>
              </a:tabLst>
            </a:pPr>
            <a:r>
              <a:rPr sz="1677" b="1" spc="-9" dirty="0">
                <a:solidFill>
                  <a:srgbClr val="000066"/>
                </a:solidFill>
                <a:latin typeface="Times New Roman"/>
                <a:cs typeface="Times New Roman"/>
              </a:rPr>
              <a:t>(4.5=5/1.10)</a:t>
            </a:r>
            <a:r>
              <a:rPr sz="1677" b="1" dirty="0">
                <a:solidFill>
                  <a:srgbClr val="000066"/>
                </a:solidFill>
                <a:latin typeface="Times New Roman"/>
                <a:cs typeface="Times New Roman"/>
              </a:rPr>
              <a:t>	</a:t>
            </a:r>
            <a:r>
              <a:rPr sz="1677" b="1" spc="-9" dirty="0">
                <a:solidFill>
                  <a:srgbClr val="000066"/>
                </a:solidFill>
                <a:latin typeface="Times New Roman"/>
                <a:cs typeface="Times New Roman"/>
              </a:rPr>
              <a:t>(1.45=1.6/1.1)</a:t>
            </a:r>
            <a:endParaRPr sz="1677" dirty="0">
              <a:latin typeface="Times New Roman"/>
              <a:cs typeface="Times New Roman"/>
            </a:endParaRPr>
          </a:p>
          <a:p>
            <a:pPr marL="11206">
              <a:spcBef>
                <a:spcPts val="379"/>
              </a:spcBef>
            </a:pPr>
            <a:r>
              <a:rPr sz="1677" b="1" spc="-18" dirty="0">
                <a:solidFill>
                  <a:srgbClr val="000066"/>
                </a:solidFill>
                <a:latin typeface="Times New Roman"/>
                <a:cs typeface="Times New Roman"/>
              </a:rPr>
              <a:t>(even</a:t>
            </a:r>
            <a:r>
              <a:rPr sz="1677" b="1" spc="-84" dirty="0">
                <a:solidFill>
                  <a:srgbClr val="000066"/>
                </a:solidFill>
                <a:latin typeface="Times New Roman"/>
                <a:cs typeface="Times New Roman"/>
              </a:rPr>
              <a:t> </a:t>
            </a:r>
            <a:r>
              <a:rPr sz="1677" b="1" spc="-18" dirty="0">
                <a:solidFill>
                  <a:srgbClr val="000066"/>
                </a:solidFill>
                <a:latin typeface="Times New Roman"/>
                <a:cs typeface="Times New Roman"/>
              </a:rPr>
              <a:t>for</a:t>
            </a:r>
            <a:r>
              <a:rPr sz="1677" b="1" spc="-88" dirty="0">
                <a:solidFill>
                  <a:srgbClr val="000066"/>
                </a:solidFill>
                <a:latin typeface="Times New Roman"/>
                <a:cs typeface="Times New Roman"/>
              </a:rPr>
              <a:t> </a:t>
            </a:r>
            <a:r>
              <a:rPr sz="1677" b="1" spc="-18" dirty="0">
                <a:solidFill>
                  <a:srgbClr val="000066"/>
                </a:solidFill>
                <a:latin typeface="Times New Roman"/>
                <a:cs typeface="Times New Roman"/>
              </a:rPr>
              <a:t>taken</a:t>
            </a:r>
            <a:r>
              <a:rPr sz="1677" b="1" spc="-71" dirty="0">
                <a:solidFill>
                  <a:srgbClr val="000066"/>
                </a:solidFill>
                <a:latin typeface="Times New Roman"/>
                <a:cs typeface="Times New Roman"/>
              </a:rPr>
              <a:t> </a:t>
            </a:r>
            <a:r>
              <a:rPr sz="1677" b="1" spc="-9" dirty="0">
                <a:solidFill>
                  <a:srgbClr val="000066"/>
                </a:solidFill>
                <a:latin typeface="Times New Roman"/>
                <a:cs typeface="Times New Roman"/>
              </a:rPr>
              <a:t>case,</a:t>
            </a:r>
            <a:r>
              <a:rPr sz="1677" b="1" spc="-71" dirty="0">
                <a:solidFill>
                  <a:srgbClr val="000066"/>
                </a:solidFill>
                <a:latin typeface="Times New Roman"/>
                <a:cs typeface="Times New Roman"/>
              </a:rPr>
              <a:t> </a:t>
            </a:r>
            <a:r>
              <a:rPr sz="1677" b="1" dirty="0">
                <a:solidFill>
                  <a:srgbClr val="000066"/>
                </a:solidFill>
                <a:latin typeface="Times New Roman"/>
                <a:cs typeface="Times New Roman"/>
              </a:rPr>
              <a:t>we</a:t>
            </a:r>
            <a:r>
              <a:rPr sz="1677" b="1" spc="-71" dirty="0">
                <a:solidFill>
                  <a:srgbClr val="000066"/>
                </a:solidFill>
                <a:latin typeface="Times New Roman"/>
                <a:cs typeface="Times New Roman"/>
              </a:rPr>
              <a:t> </a:t>
            </a:r>
            <a:r>
              <a:rPr sz="1677" b="1" spc="-9" dirty="0">
                <a:solidFill>
                  <a:srgbClr val="000066"/>
                </a:solidFill>
                <a:latin typeface="Times New Roman"/>
                <a:cs typeface="Times New Roman"/>
              </a:rPr>
              <a:t>need</a:t>
            </a:r>
            <a:r>
              <a:rPr sz="1677" b="1" spc="-71" dirty="0">
                <a:solidFill>
                  <a:srgbClr val="000066"/>
                </a:solidFill>
                <a:latin typeface="Times New Roman"/>
                <a:cs typeface="Times New Roman"/>
              </a:rPr>
              <a:t> </a:t>
            </a:r>
            <a:r>
              <a:rPr sz="1677" b="1" spc="-18" dirty="0">
                <a:solidFill>
                  <a:srgbClr val="000066"/>
                </a:solidFill>
                <a:latin typeface="Times New Roman"/>
                <a:cs typeface="Times New Roman"/>
              </a:rPr>
              <a:t>time</a:t>
            </a:r>
            <a:r>
              <a:rPr sz="1677" b="1" spc="-71" dirty="0">
                <a:solidFill>
                  <a:srgbClr val="000066"/>
                </a:solidFill>
                <a:latin typeface="Times New Roman"/>
                <a:cs typeface="Times New Roman"/>
              </a:rPr>
              <a:t> </a:t>
            </a:r>
            <a:r>
              <a:rPr sz="1677" b="1" dirty="0">
                <a:solidFill>
                  <a:srgbClr val="000066"/>
                </a:solidFill>
                <a:latin typeface="Times New Roman"/>
                <a:cs typeface="Times New Roman"/>
              </a:rPr>
              <a:t>to</a:t>
            </a:r>
            <a:r>
              <a:rPr sz="1677" b="1" spc="-71" dirty="0">
                <a:solidFill>
                  <a:srgbClr val="000066"/>
                </a:solidFill>
                <a:latin typeface="Times New Roman"/>
                <a:cs typeface="Times New Roman"/>
              </a:rPr>
              <a:t> </a:t>
            </a:r>
            <a:r>
              <a:rPr sz="1677" b="1" spc="-22" dirty="0">
                <a:solidFill>
                  <a:srgbClr val="000066"/>
                </a:solidFill>
                <a:latin typeface="Times New Roman"/>
                <a:cs typeface="Times New Roman"/>
              </a:rPr>
              <a:t>calculate</a:t>
            </a:r>
            <a:r>
              <a:rPr sz="1677" b="1" spc="-71" dirty="0">
                <a:solidFill>
                  <a:srgbClr val="000066"/>
                </a:solidFill>
                <a:latin typeface="Times New Roman"/>
                <a:cs typeface="Times New Roman"/>
              </a:rPr>
              <a:t> </a:t>
            </a:r>
            <a:r>
              <a:rPr sz="1677" b="1" spc="-18" dirty="0">
                <a:solidFill>
                  <a:srgbClr val="000066"/>
                </a:solidFill>
                <a:latin typeface="Times New Roman"/>
                <a:cs typeface="Times New Roman"/>
              </a:rPr>
              <a:t>taken</a:t>
            </a:r>
            <a:r>
              <a:rPr sz="1677" b="1" spc="-66" dirty="0">
                <a:solidFill>
                  <a:srgbClr val="000066"/>
                </a:solidFill>
                <a:latin typeface="Times New Roman"/>
                <a:cs typeface="Times New Roman"/>
              </a:rPr>
              <a:t> </a:t>
            </a:r>
            <a:r>
              <a:rPr sz="1677" b="1" spc="-22" dirty="0">
                <a:solidFill>
                  <a:srgbClr val="000066"/>
                </a:solidFill>
                <a:latin typeface="Times New Roman"/>
                <a:cs typeface="Times New Roman"/>
              </a:rPr>
              <a:t>tar</a:t>
            </a:r>
            <a:r>
              <a:rPr lang="en-US" sz="1677" b="1" spc="-18" dirty="0">
                <a:solidFill>
                  <a:srgbClr val="000066"/>
                </a:solidFill>
                <a:latin typeface="Times New Roman"/>
                <a:cs typeface="Times New Roman"/>
              </a:rPr>
              <a:t>get)</a:t>
            </a:r>
            <a:endParaRPr lang="en-US" sz="1677" dirty="0">
              <a:latin typeface="Times New Roman"/>
              <a:cs typeface="Times New Roman"/>
            </a:endParaRPr>
          </a:p>
        </p:txBody>
      </p:sp>
      <p:sp>
        <p:nvSpPr>
          <p:cNvPr id="5" name="object 5"/>
          <p:cNvSpPr txBox="1"/>
          <p:nvPr/>
        </p:nvSpPr>
        <p:spPr>
          <a:xfrm>
            <a:off x="3636830" y="6076832"/>
            <a:ext cx="3028950" cy="269399"/>
          </a:xfrm>
          <a:prstGeom prst="rect">
            <a:avLst/>
          </a:prstGeom>
        </p:spPr>
        <p:txBody>
          <a:bodyPr vert="horz" wrap="square" lIns="0" tIns="11206" rIns="0" bIns="0" rtlCol="0">
            <a:spAutoFit/>
          </a:bodyPr>
          <a:lstStyle/>
          <a:p>
            <a:pPr marL="11206">
              <a:spcBef>
                <a:spcPts val="88"/>
              </a:spcBef>
            </a:pPr>
            <a:r>
              <a:rPr sz="1677" b="1" dirty="0">
                <a:solidFill>
                  <a:srgbClr val="000066"/>
                </a:solidFill>
                <a:latin typeface="Times New Roman"/>
                <a:cs typeface="Times New Roman"/>
              </a:rPr>
              <a:t>(refetch</a:t>
            </a:r>
            <a:r>
              <a:rPr sz="1677" b="1" spc="22" dirty="0">
                <a:solidFill>
                  <a:srgbClr val="000066"/>
                </a:solidFill>
                <a:latin typeface="Times New Roman"/>
                <a:cs typeface="Times New Roman"/>
              </a:rPr>
              <a:t> </a:t>
            </a:r>
            <a:r>
              <a:rPr sz="1677" b="1" dirty="0">
                <a:solidFill>
                  <a:srgbClr val="000066"/>
                </a:solidFill>
                <a:latin typeface="Times New Roman"/>
                <a:cs typeface="Times New Roman"/>
              </a:rPr>
              <a:t>for</a:t>
            </a:r>
            <a:r>
              <a:rPr sz="1677" b="1" spc="-9" dirty="0">
                <a:solidFill>
                  <a:srgbClr val="000066"/>
                </a:solidFill>
                <a:latin typeface="Times New Roman"/>
                <a:cs typeface="Times New Roman"/>
              </a:rPr>
              <a:t> </a:t>
            </a:r>
            <a:r>
              <a:rPr sz="1677" b="1" dirty="0">
                <a:solidFill>
                  <a:srgbClr val="000066"/>
                </a:solidFill>
                <a:latin typeface="Times New Roman"/>
                <a:cs typeface="Times New Roman"/>
              </a:rPr>
              <a:t>jump,</a:t>
            </a:r>
            <a:r>
              <a:rPr sz="1677" b="1" spc="22" dirty="0">
                <a:solidFill>
                  <a:srgbClr val="000066"/>
                </a:solidFill>
                <a:latin typeface="Times New Roman"/>
                <a:cs typeface="Times New Roman"/>
              </a:rPr>
              <a:t> </a:t>
            </a:r>
            <a:r>
              <a:rPr sz="1677" b="1" spc="-9" dirty="0">
                <a:solidFill>
                  <a:srgbClr val="000066"/>
                </a:solidFill>
                <a:latin typeface="Times New Roman"/>
                <a:cs typeface="Times New Roman"/>
              </a:rPr>
              <a:t>taken-branch)</a:t>
            </a:r>
            <a:endParaRPr sz="1677" dirty="0">
              <a:latin typeface="Times New Roman"/>
              <a:cs typeface="Times New Roman"/>
            </a:endParaRPr>
          </a:p>
        </p:txBody>
      </p:sp>
      <p:sp>
        <p:nvSpPr>
          <p:cNvPr id="6" name="object 6"/>
          <p:cNvSpPr txBox="1">
            <a:spLocks noGrp="1"/>
          </p:cNvSpPr>
          <p:nvPr>
            <p:ph type="title"/>
          </p:nvPr>
        </p:nvSpPr>
        <p:spPr>
          <a:xfrm>
            <a:off x="689162" y="504378"/>
            <a:ext cx="6958853" cy="805198"/>
          </a:xfrm>
          <a:prstGeom prst="rect">
            <a:avLst/>
          </a:prstGeom>
        </p:spPr>
        <p:txBody>
          <a:bodyPr vert="horz" wrap="square" lIns="0" tIns="126851" rIns="0" bIns="0" rtlCol="0" anchor="ctr">
            <a:spAutoFit/>
          </a:bodyPr>
          <a:lstStyle/>
          <a:p>
            <a:pPr marL="11206">
              <a:lnSpc>
                <a:spcPct val="100000"/>
              </a:lnSpc>
              <a:spcBef>
                <a:spcPts val="88"/>
              </a:spcBef>
            </a:pPr>
            <a:r>
              <a:rPr dirty="0"/>
              <a:t>Evaluating</a:t>
            </a:r>
            <a:r>
              <a:rPr spc="-4" dirty="0"/>
              <a:t> </a:t>
            </a:r>
            <a:r>
              <a:rPr dirty="0"/>
              <a:t>Branch </a:t>
            </a:r>
            <a:r>
              <a:rPr spc="-9" dirty="0"/>
              <a:t>Alternatives</a:t>
            </a:r>
          </a:p>
        </p:txBody>
      </p:sp>
      <p:sp>
        <p:nvSpPr>
          <p:cNvPr id="14" name="Slide Number Placeholder 13">
            <a:extLst>
              <a:ext uri="{FF2B5EF4-FFF2-40B4-BE49-F238E27FC236}">
                <a16:creationId xmlns:a16="http://schemas.microsoft.com/office/drawing/2014/main" id="{C5458CF6-0476-8F6A-00D0-C435D97B530F}"/>
              </a:ext>
            </a:extLst>
          </p:cNvPr>
          <p:cNvSpPr>
            <a:spLocks noGrp="1"/>
          </p:cNvSpPr>
          <p:nvPr>
            <p:ph type="sldNum" sz="quarter" idx="7"/>
          </p:nvPr>
        </p:nvSpPr>
        <p:spPr/>
        <p:txBody>
          <a:bodyPr/>
          <a:lstStyle/>
          <a:p>
            <a:fld id="{4FE321F0-2018-4E50-8BB3-A5631EBD98DD}" type="slidenum">
              <a:rPr lang="en-US" smtClean="0"/>
              <a:t>67</a:t>
            </a:fld>
            <a:endParaRPr lang="en-US"/>
          </a:p>
        </p:txBody>
      </p:sp>
      <p:sp>
        <p:nvSpPr>
          <p:cNvPr id="7" name="object 7"/>
          <p:cNvSpPr txBox="1"/>
          <p:nvPr/>
        </p:nvSpPr>
        <p:spPr>
          <a:xfrm>
            <a:off x="988359" y="1366221"/>
            <a:ext cx="2482103" cy="743556"/>
          </a:xfrm>
          <a:prstGeom prst="rect">
            <a:avLst/>
          </a:prstGeom>
        </p:spPr>
        <p:txBody>
          <a:bodyPr vert="horz" wrap="square" lIns="0" tIns="11766" rIns="0" bIns="0" rtlCol="0">
            <a:spAutoFit/>
          </a:bodyPr>
          <a:lstStyle/>
          <a:p>
            <a:pPr marL="260551">
              <a:spcBef>
                <a:spcPts val="93"/>
              </a:spcBef>
              <a:tabLst>
                <a:tab pos="2309095" algn="l"/>
              </a:tabLst>
            </a:pPr>
            <a:r>
              <a:rPr sz="2338" spc="-40" dirty="0">
                <a:latin typeface="Times New Roman"/>
                <a:cs typeface="Times New Roman"/>
              </a:rPr>
              <a:t>Pipeline</a:t>
            </a:r>
            <a:r>
              <a:rPr sz="2338" spc="-93" dirty="0">
                <a:latin typeface="Times New Roman"/>
                <a:cs typeface="Times New Roman"/>
              </a:rPr>
              <a:t> </a:t>
            </a:r>
            <a:r>
              <a:rPr sz="2338" spc="-9" dirty="0">
                <a:latin typeface="Times New Roman"/>
                <a:cs typeface="Times New Roman"/>
              </a:rPr>
              <a:t>speedup</a:t>
            </a:r>
            <a:r>
              <a:rPr sz="2338" dirty="0">
                <a:latin typeface="Times New Roman"/>
                <a:cs typeface="Times New Roman"/>
              </a:rPr>
              <a:t>	</a:t>
            </a:r>
            <a:r>
              <a:rPr sz="2338" spc="-44" dirty="0">
                <a:latin typeface="Times New Roman"/>
                <a:cs typeface="Times New Roman"/>
              </a:rPr>
              <a:t>=</a:t>
            </a:r>
            <a:endParaRPr sz="2338" dirty="0">
              <a:latin typeface="Times New Roman"/>
              <a:cs typeface="Times New Roman"/>
            </a:endParaRPr>
          </a:p>
          <a:p>
            <a:pPr marL="11206">
              <a:spcBef>
                <a:spcPts val="1147"/>
              </a:spcBef>
            </a:pPr>
            <a:r>
              <a:rPr sz="1500" spc="-9" dirty="0">
                <a:solidFill>
                  <a:srgbClr val="000066"/>
                </a:solidFill>
                <a:latin typeface="Consolas"/>
                <a:cs typeface="Consolas"/>
              </a:rPr>
              <a:t>Assume:</a:t>
            </a:r>
            <a:endParaRPr sz="1500" dirty="0">
              <a:latin typeface="Consolas"/>
              <a:cs typeface="Consolas"/>
            </a:endParaRPr>
          </a:p>
        </p:txBody>
      </p:sp>
      <p:sp>
        <p:nvSpPr>
          <p:cNvPr id="8" name="object 8"/>
          <p:cNvSpPr txBox="1"/>
          <p:nvPr/>
        </p:nvSpPr>
        <p:spPr>
          <a:xfrm>
            <a:off x="4918195" y="1161527"/>
            <a:ext cx="1654549" cy="371659"/>
          </a:xfrm>
          <a:prstGeom prst="rect">
            <a:avLst/>
          </a:prstGeom>
        </p:spPr>
        <p:txBody>
          <a:bodyPr vert="horz" wrap="square" lIns="0" tIns="11766" rIns="0" bIns="0" rtlCol="0">
            <a:spAutoFit/>
          </a:bodyPr>
          <a:lstStyle/>
          <a:p>
            <a:pPr marL="11206">
              <a:spcBef>
                <a:spcPts val="93"/>
              </a:spcBef>
            </a:pPr>
            <a:r>
              <a:rPr sz="2338" spc="-40" dirty="0">
                <a:latin typeface="Times New Roman"/>
                <a:cs typeface="Times New Roman"/>
              </a:rPr>
              <a:t>Pipeline</a:t>
            </a:r>
            <a:r>
              <a:rPr sz="2338" spc="-88" dirty="0">
                <a:latin typeface="Times New Roman"/>
                <a:cs typeface="Times New Roman"/>
              </a:rPr>
              <a:t> </a:t>
            </a:r>
            <a:r>
              <a:rPr sz="2338" spc="-35" dirty="0">
                <a:latin typeface="Times New Roman"/>
                <a:cs typeface="Times New Roman"/>
              </a:rPr>
              <a:t>depth</a:t>
            </a:r>
            <a:endParaRPr sz="2338" dirty="0">
              <a:latin typeface="Times New Roman"/>
              <a:cs typeface="Times New Roman"/>
            </a:endParaRPr>
          </a:p>
        </p:txBody>
      </p:sp>
      <p:sp>
        <p:nvSpPr>
          <p:cNvPr id="9" name="object 9"/>
          <p:cNvSpPr txBox="1"/>
          <p:nvPr/>
        </p:nvSpPr>
        <p:spPr>
          <a:xfrm>
            <a:off x="3548482" y="1552239"/>
            <a:ext cx="4748353" cy="371659"/>
          </a:xfrm>
          <a:prstGeom prst="rect">
            <a:avLst/>
          </a:prstGeom>
        </p:spPr>
        <p:txBody>
          <a:bodyPr vert="horz" wrap="square" lIns="0" tIns="11766" rIns="0" bIns="0" rtlCol="0">
            <a:spAutoFit/>
          </a:bodyPr>
          <a:lstStyle/>
          <a:p>
            <a:pPr marL="11206">
              <a:spcBef>
                <a:spcPts val="93"/>
              </a:spcBef>
            </a:pPr>
            <a:r>
              <a:rPr sz="2338" dirty="0">
                <a:latin typeface="Times New Roman"/>
                <a:cs typeface="Times New Roman"/>
              </a:rPr>
              <a:t>1</a:t>
            </a:r>
            <a:r>
              <a:rPr sz="2338" spc="-75" dirty="0">
                <a:latin typeface="Times New Roman"/>
                <a:cs typeface="Times New Roman"/>
              </a:rPr>
              <a:t> </a:t>
            </a:r>
            <a:r>
              <a:rPr sz="2338" spc="-22" dirty="0">
                <a:latin typeface="Times New Roman"/>
                <a:cs typeface="Times New Roman"/>
              </a:rPr>
              <a:t>+</a:t>
            </a:r>
            <a:r>
              <a:rPr lang="en-US" sz="2338" spc="-22" dirty="0">
                <a:latin typeface="Times New Roman"/>
                <a:cs typeface="Times New Roman"/>
              </a:rPr>
              <a:t> </a:t>
            </a:r>
            <a:r>
              <a:rPr sz="2338" spc="-22" dirty="0">
                <a:latin typeface="Times New Roman"/>
                <a:cs typeface="Times New Roman"/>
              </a:rPr>
              <a:t>Branch</a:t>
            </a:r>
            <a:r>
              <a:rPr sz="2338" spc="-79" dirty="0">
                <a:latin typeface="Times New Roman"/>
                <a:cs typeface="Times New Roman"/>
              </a:rPr>
              <a:t> </a:t>
            </a:r>
            <a:r>
              <a:rPr sz="2338" spc="-26" dirty="0">
                <a:latin typeface="Times New Roman"/>
                <a:cs typeface="Times New Roman"/>
              </a:rPr>
              <a:t>frequency</a:t>
            </a:r>
            <a:r>
              <a:rPr lang="en-US" sz="2338" spc="-26" dirty="0">
                <a:latin typeface="Times New Roman"/>
                <a:cs typeface="Times New Roman"/>
              </a:rPr>
              <a:t> </a:t>
            </a:r>
            <a:r>
              <a:rPr sz="2338" spc="-26" dirty="0">
                <a:latin typeface="Symbol"/>
                <a:cs typeface="Symbol"/>
              </a:rPr>
              <a:t></a:t>
            </a:r>
            <a:r>
              <a:rPr lang="en-US" sz="2338" spc="-26" dirty="0">
                <a:latin typeface="Symbol"/>
                <a:cs typeface="Symbol"/>
              </a:rPr>
              <a:t> </a:t>
            </a:r>
            <a:r>
              <a:rPr sz="2338" spc="-26" dirty="0">
                <a:latin typeface="Times New Roman"/>
                <a:cs typeface="Times New Roman"/>
              </a:rPr>
              <a:t>Branch</a:t>
            </a:r>
            <a:r>
              <a:rPr sz="2338" spc="-31" dirty="0">
                <a:latin typeface="Times New Roman"/>
                <a:cs typeface="Times New Roman"/>
              </a:rPr>
              <a:t> </a:t>
            </a:r>
            <a:r>
              <a:rPr sz="2338" spc="-9" dirty="0">
                <a:latin typeface="Times New Roman"/>
                <a:cs typeface="Times New Roman"/>
              </a:rPr>
              <a:t>penalty</a:t>
            </a:r>
            <a:endParaRPr sz="2338" dirty="0">
              <a:latin typeface="Times New Roman"/>
              <a:cs typeface="Times New Roman"/>
            </a:endParaRPr>
          </a:p>
        </p:txBody>
      </p:sp>
      <p:sp>
        <p:nvSpPr>
          <p:cNvPr id="10" name="object 10"/>
          <p:cNvSpPr/>
          <p:nvPr/>
        </p:nvSpPr>
        <p:spPr>
          <a:xfrm>
            <a:off x="3571597" y="1544767"/>
            <a:ext cx="4584043" cy="45719"/>
          </a:xfrm>
          <a:custGeom>
            <a:avLst/>
            <a:gdLst/>
            <a:ahLst/>
            <a:cxnLst/>
            <a:rect l="l" t="t" r="r" b="b"/>
            <a:pathLst>
              <a:path w="4913630" h="3810">
                <a:moveTo>
                  <a:pt x="0" y="3513"/>
                </a:moveTo>
                <a:lnTo>
                  <a:pt x="0" y="0"/>
                </a:lnTo>
                <a:lnTo>
                  <a:pt x="4913500" y="0"/>
                </a:lnTo>
                <a:lnTo>
                  <a:pt x="4913500" y="3513"/>
                </a:lnTo>
                <a:lnTo>
                  <a:pt x="0" y="3513"/>
                </a:lnTo>
                <a:close/>
              </a:path>
            </a:pathLst>
          </a:custGeom>
          <a:solidFill>
            <a:srgbClr val="000000"/>
          </a:solidFill>
        </p:spPr>
        <p:txBody>
          <a:bodyPr wrap="square" lIns="0" tIns="0" rIns="0" bIns="0" rtlCol="0"/>
          <a:lstStyle/>
          <a:p>
            <a:endParaRPr sz="1588"/>
          </a:p>
        </p:txBody>
      </p:sp>
      <p:graphicFrame>
        <p:nvGraphicFramePr>
          <p:cNvPr id="11" name="object 11"/>
          <p:cNvGraphicFramePr>
            <a:graphicFrameLocks noGrp="1"/>
          </p:cNvGraphicFramePr>
          <p:nvPr/>
        </p:nvGraphicFramePr>
        <p:xfrm>
          <a:off x="1294280" y="2166035"/>
          <a:ext cx="3297891" cy="665070"/>
        </p:xfrm>
        <a:graphic>
          <a:graphicData uri="http://schemas.openxmlformats.org/drawingml/2006/table">
            <a:tbl>
              <a:tblPr firstRow="1" bandRow="1">
                <a:tableStyleId>{2D5ABB26-0587-4C30-8999-92F81FD0307C}</a:tableStyleId>
              </a:tblPr>
              <a:tblGrid>
                <a:gridCol w="393887">
                  <a:extLst>
                    <a:ext uri="{9D8B030D-6E8A-4147-A177-3AD203B41FA5}">
                      <a16:colId xmlns:a16="http://schemas.microsoft.com/office/drawing/2014/main" val="20000"/>
                    </a:ext>
                  </a:extLst>
                </a:gridCol>
                <a:gridCol w="2904004">
                  <a:extLst>
                    <a:ext uri="{9D8B030D-6E8A-4147-A177-3AD203B41FA5}">
                      <a16:colId xmlns:a16="http://schemas.microsoft.com/office/drawing/2014/main" val="20001"/>
                    </a:ext>
                  </a:extLst>
                </a:gridCol>
              </a:tblGrid>
              <a:tr h="206749">
                <a:tc>
                  <a:txBody>
                    <a:bodyPr/>
                    <a:lstStyle/>
                    <a:p>
                      <a:pPr marR="51435" algn="r">
                        <a:lnSpc>
                          <a:spcPts val="1605"/>
                        </a:lnSpc>
                      </a:pPr>
                      <a:r>
                        <a:rPr sz="1500" spc="-25" dirty="0">
                          <a:solidFill>
                            <a:srgbClr val="000066"/>
                          </a:solidFill>
                          <a:latin typeface="Consolas"/>
                          <a:cs typeface="Consolas"/>
                        </a:rPr>
                        <a:t>4%</a:t>
                      </a:r>
                      <a:endParaRPr sz="1500">
                        <a:latin typeface="Consolas"/>
                        <a:cs typeface="Consolas"/>
                      </a:endParaRPr>
                    </a:p>
                  </a:txBody>
                  <a:tcPr marL="0" marR="0" marT="0" marB="0"/>
                </a:tc>
                <a:tc>
                  <a:txBody>
                    <a:bodyPr/>
                    <a:lstStyle/>
                    <a:p>
                      <a:pPr marL="59055">
                        <a:lnSpc>
                          <a:spcPts val="1605"/>
                        </a:lnSpc>
                      </a:pPr>
                      <a:r>
                        <a:rPr sz="1500" dirty="0">
                          <a:solidFill>
                            <a:srgbClr val="000066"/>
                          </a:solidFill>
                          <a:latin typeface="Consolas"/>
                          <a:cs typeface="Consolas"/>
                        </a:rPr>
                        <a:t>unconditional</a:t>
                      </a:r>
                      <a:r>
                        <a:rPr sz="1500" spc="-190" dirty="0">
                          <a:solidFill>
                            <a:srgbClr val="000066"/>
                          </a:solidFill>
                          <a:latin typeface="Consolas"/>
                          <a:cs typeface="Consolas"/>
                        </a:rPr>
                        <a:t> </a:t>
                      </a:r>
                      <a:r>
                        <a:rPr sz="1500" spc="-10" dirty="0">
                          <a:solidFill>
                            <a:srgbClr val="000066"/>
                          </a:solidFill>
                          <a:latin typeface="Consolas"/>
                          <a:cs typeface="Consolas"/>
                        </a:rPr>
                        <a:t>branch,</a:t>
                      </a:r>
                      <a:endParaRPr sz="1500">
                        <a:latin typeface="Consolas"/>
                        <a:cs typeface="Consolas"/>
                      </a:endParaRPr>
                    </a:p>
                  </a:txBody>
                  <a:tcPr marL="0" marR="0" marT="0" marB="0"/>
                </a:tc>
                <a:extLst>
                  <a:ext uri="{0D108BD9-81ED-4DB2-BD59-A6C34878D82A}">
                    <a16:rowId xmlns:a16="http://schemas.microsoft.com/office/drawing/2014/main" val="10000"/>
                  </a:ext>
                </a:extLst>
              </a:tr>
              <a:tr h="229721">
                <a:tc>
                  <a:txBody>
                    <a:bodyPr/>
                    <a:lstStyle/>
                    <a:p>
                      <a:pPr marR="51435" algn="r">
                        <a:lnSpc>
                          <a:spcPts val="1750"/>
                        </a:lnSpc>
                      </a:pPr>
                      <a:r>
                        <a:rPr sz="1500" spc="-25" dirty="0">
                          <a:solidFill>
                            <a:srgbClr val="000066"/>
                          </a:solidFill>
                          <a:latin typeface="Consolas"/>
                          <a:cs typeface="Consolas"/>
                        </a:rPr>
                        <a:t>6%</a:t>
                      </a:r>
                      <a:endParaRPr sz="1500">
                        <a:latin typeface="Consolas"/>
                        <a:cs typeface="Consolas"/>
                      </a:endParaRPr>
                    </a:p>
                  </a:txBody>
                  <a:tcPr marL="0" marR="0" marT="0" marB="0"/>
                </a:tc>
                <a:tc>
                  <a:txBody>
                    <a:bodyPr/>
                    <a:lstStyle/>
                    <a:p>
                      <a:pPr marL="59055">
                        <a:lnSpc>
                          <a:spcPts val="1750"/>
                        </a:lnSpc>
                      </a:pPr>
                      <a:r>
                        <a:rPr sz="1500" dirty="0">
                          <a:solidFill>
                            <a:srgbClr val="000066"/>
                          </a:solidFill>
                          <a:latin typeface="Consolas"/>
                          <a:cs typeface="Consolas"/>
                        </a:rPr>
                        <a:t>conditional</a:t>
                      </a:r>
                      <a:r>
                        <a:rPr sz="1500" spc="-120" dirty="0">
                          <a:solidFill>
                            <a:srgbClr val="000066"/>
                          </a:solidFill>
                          <a:latin typeface="Consolas"/>
                          <a:cs typeface="Consolas"/>
                        </a:rPr>
                        <a:t> </a:t>
                      </a:r>
                      <a:r>
                        <a:rPr sz="1500" spc="-20" dirty="0">
                          <a:solidFill>
                            <a:srgbClr val="000066"/>
                          </a:solidFill>
                          <a:latin typeface="Consolas"/>
                          <a:cs typeface="Consolas"/>
                        </a:rPr>
                        <a:t>branch-</a:t>
                      </a:r>
                      <a:r>
                        <a:rPr sz="1500" spc="-10" dirty="0">
                          <a:solidFill>
                            <a:srgbClr val="000066"/>
                          </a:solidFill>
                          <a:latin typeface="Consolas"/>
                          <a:cs typeface="Consolas"/>
                        </a:rPr>
                        <a:t>untaken,</a:t>
                      </a:r>
                      <a:endParaRPr sz="1500">
                        <a:latin typeface="Consolas"/>
                        <a:cs typeface="Consolas"/>
                      </a:endParaRPr>
                    </a:p>
                  </a:txBody>
                  <a:tcPr marL="0" marR="0" marT="0" marB="0"/>
                </a:tc>
                <a:extLst>
                  <a:ext uri="{0D108BD9-81ED-4DB2-BD59-A6C34878D82A}">
                    <a16:rowId xmlns:a16="http://schemas.microsoft.com/office/drawing/2014/main" val="10001"/>
                  </a:ext>
                </a:extLst>
              </a:tr>
              <a:tr h="213472">
                <a:tc>
                  <a:txBody>
                    <a:bodyPr/>
                    <a:lstStyle/>
                    <a:p>
                      <a:pPr marR="51435" algn="r">
                        <a:lnSpc>
                          <a:spcPts val="1805"/>
                        </a:lnSpc>
                      </a:pPr>
                      <a:r>
                        <a:rPr sz="1500" spc="-25" dirty="0">
                          <a:solidFill>
                            <a:srgbClr val="000066"/>
                          </a:solidFill>
                          <a:latin typeface="Consolas"/>
                          <a:cs typeface="Consolas"/>
                        </a:rPr>
                        <a:t>10%</a:t>
                      </a:r>
                      <a:endParaRPr sz="1500">
                        <a:latin typeface="Consolas"/>
                        <a:cs typeface="Consolas"/>
                      </a:endParaRPr>
                    </a:p>
                  </a:txBody>
                  <a:tcPr marL="0" marR="0" marT="0" marB="0"/>
                </a:tc>
                <a:tc>
                  <a:txBody>
                    <a:bodyPr/>
                    <a:lstStyle/>
                    <a:p>
                      <a:pPr marL="59055">
                        <a:lnSpc>
                          <a:spcPts val="1805"/>
                        </a:lnSpc>
                      </a:pPr>
                      <a:r>
                        <a:rPr sz="1500" dirty="0">
                          <a:solidFill>
                            <a:srgbClr val="000066"/>
                          </a:solidFill>
                          <a:latin typeface="Consolas"/>
                          <a:cs typeface="Consolas"/>
                        </a:rPr>
                        <a:t>conditional</a:t>
                      </a:r>
                      <a:r>
                        <a:rPr sz="1500" spc="-120" dirty="0">
                          <a:solidFill>
                            <a:srgbClr val="000066"/>
                          </a:solidFill>
                          <a:latin typeface="Consolas"/>
                          <a:cs typeface="Consolas"/>
                        </a:rPr>
                        <a:t> </a:t>
                      </a:r>
                      <a:r>
                        <a:rPr sz="1500" spc="-20" dirty="0">
                          <a:solidFill>
                            <a:srgbClr val="000066"/>
                          </a:solidFill>
                          <a:latin typeface="Consolas"/>
                          <a:cs typeface="Consolas"/>
                        </a:rPr>
                        <a:t>branch-</a:t>
                      </a:r>
                      <a:r>
                        <a:rPr sz="1500" spc="-10" dirty="0">
                          <a:solidFill>
                            <a:srgbClr val="000066"/>
                          </a:solidFill>
                          <a:latin typeface="Consolas"/>
                          <a:cs typeface="Consolas"/>
                        </a:rPr>
                        <a:t>taken</a:t>
                      </a:r>
                      <a:endParaRPr sz="1500" dirty="0">
                        <a:latin typeface="Consolas"/>
                        <a:cs typeface="Consolas"/>
                      </a:endParaRPr>
                    </a:p>
                  </a:txBody>
                  <a:tcPr marL="0" marR="0" marT="0" marB="0"/>
                </a:tc>
                <a:extLst>
                  <a:ext uri="{0D108BD9-81ED-4DB2-BD59-A6C34878D82A}">
                    <a16:rowId xmlns:a16="http://schemas.microsoft.com/office/drawing/2014/main" val="10002"/>
                  </a:ext>
                </a:extLst>
              </a:tr>
            </a:tbl>
          </a:graphicData>
        </a:graphic>
      </p:graphicFrame>
      <p:sp>
        <p:nvSpPr>
          <p:cNvPr id="12" name="object 12"/>
          <p:cNvSpPr txBox="1"/>
          <p:nvPr/>
        </p:nvSpPr>
        <p:spPr>
          <a:xfrm>
            <a:off x="988359" y="3025588"/>
            <a:ext cx="3997138" cy="242148"/>
          </a:xfrm>
          <a:prstGeom prst="rect">
            <a:avLst/>
          </a:prstGeom>
        </p:spPr>
        <p:txBody>
          <a:bodyPr vert="horz" wrap="square" lIns="0" tIns="11206" rIns="0" bIns="0" rtlCol="0">
            <a:spAutoFit/>
          </a:bodyPr>
          <a:lstStyle/>
          <a:p>
            <a:pPr marL="11206">
              <a:spcBef>
                <a:spcPts val="88"/>
              </a:spcBef>
            </a:pPr>
            <a:r>
              <a:rPr sz="1500" dirty="0">
                <a:solidFill>
                  <a:srgbClr val="000066"/>
                </a:solidFill>
                <a:latin typeface="Consolas"/>
                <a:cs typeface="Consolas"/>
              </a:rPr>
              <a:t>*</a:t>
            </a:r>
            <a:r>
              <a:rPr sz="1500" spc="-49" dirty="0">
                <a:solidFill>
                  <a:srgbClr val="000066"/>
                </a:solidFill>
                <a:latin typeface="Consolas"/>
                <a:cs typeface="Consolas"/>
              </a:rPr>
              <a:t> </a:t>
            </a:r>
            <a:r>
              <a:rPr sz="1500" dirty="0">
                <a:solidFill>
                  <a:srgbClr val="000066"/>
                </a:solidFill>
                <a:latin typeface="Consolas"/>
                <a:cs typeface="Consolas"/>
              </a:rPr>
              <a:t>Also</a:t>
            </a:r>
            <a:r>
              <a:rPr sz="1500" spc="-49" dirty="0">
                <a:solidFill>
                  <a:srgbClr val="000066"/>
                </a:solidFill>
                <a:latin typeface="Consolas"/>
                <a:cs typeface="Consolas"/>
              </a:rPr>
              <a:t> </a:t>
            </a:r>
            <a:r>
              <a:rPr sz="1500" dirty="0">
                <a:solidFill>
                  <a:srgbClr val="000066"/>
                </a:solidFill>
                <a:latin typeface="Consolas"/>
                <a:cs typeface="Consolas"/>
              </a:rPr>
              <a:t>see</a:t>
            </a:r>
            <a:r>
              <a:rPr sz="1500" spc="-49" dirty="0">
                <a:solidFill>
                  <a:srgbClr val="000066"/>
                </a:solidFill>
                <a:latin typeface="Consolas"/>
                <a:cs typeface="Consolas"/>
              </a:rPr>
              <a:t> </a:t>
            </a:r>
            <a:r>
              <a:rPr sz="1500" dirty="0">
                <a:solidFill>
                  <a:srgbClr val="000066"/>
                </a:solidFill>
                <a:latin typeface="Consolas"/>
                <a:cs typeface="Consolas"/>
              </a:rPr>
              <a:t>another</a:t>
            </a:r>
            <a:r>
              <a:rPr sz="1500" spc="-44" dirty="0">
                <a:solidFill>
                  <a:srgbClr val="000066"/>
                </a:solidFill>
                <a:latin typeface="Consolas"/>
                <a:cs typeface="Consolas"/>
              </a:rPr>
              <a:t> </a:t>
            </a:r>
            <a:r>
              <a:rPr sz="1500" dirty="0">
                <a:solidFill>
                  <a:srgbClr val="000066"/>
                </a:solidFill>
                <a:latin typeface="Consolas"/>
                <a:cs typeface="Consolas"/>
              </a:rPr>
              <a:t>example</a:t>
            </a:r>
            <a:r>
              <a:rPr sz="1500" spc="-49" dirty="0">
                <a:solidFill>
                  <a:srgbClr val="000066"/>
                </a:solidFill>
                <a:latin typeface="Consolas"/>
                <a:cs typeface="Consolas"/>
              </a:rPr>
              <a:t> </a:t>
            </a:r>
            <a:r>
              <a:rPr sz="1500" dirty="0">
                <a:solidFill>
                  <a:srgbClr val="000066"/>
                </a:solidFill>
                <a:latin typeface="Consolas"/>
                <a:cs typeface="Consolas"/>
              </a:rPr>
              <a:t>in</a:t>
            </a:r>
            <a:r>
              <a:rPr sz="1500" spc="-49" dirty="0">
                <a:solidFill>
                  <a:srgbClr val="000066"/>
                </a:solidFill>
                <a:latin typeface="Consolas"/>
                <a:cs typeface="Consolas"/>
              </a:rPr>
              <a:t> </a:t>
            </a:r>
            <a:r>
              <a:rPr sz="1500" spc="-18" dirty="0">
                <a:solidFill>
                  <a:srgbClr val="000066"/>
                </a:solidFill>
                <a:latin typeface="Consolas"/>
                <a:cs typeface="Consolas"/>
              </a:rPr>
              <a:t>Fig-C.15</a:t>
            </a:r>
            <a:endParaRPr sz="1500" dirty="0">
              <a:latin typeface="Consolas"/>
              <a:cs typeface="Consolas"/>
            </a:endParaRPr>
          </a:p>
        </p:txBody>
      </p:sp>
      <p:graphicFrame>
        <p:nvGraphicFramePr>
          <p:cNvPr id="13" name="object 13"/>
          <p:cNvGraphicFramePr>
            <a:graphicFrameLocks noGrp="1"/>
          </p:cNvGraphicFramePr>
          <p:nvPr>
            <p:extLst>
              <p:ext uri="{D42A27DB-BD31-4B8C-83A1-F6EECF244321}">
                <p14:modId xmlns:p14="http://schemas.microsoft.com/office/powerpoint/2010/main" val="352020520"/>
              </p:ext>
            </p:extLst>
          </p:nvPr>
        </p:nvGraphicFramePr>
        <p:xfrm>
          <a:off x="983036" y="3462219"/>
          <a:ext cx="6371104" cy="1366088"/>
        </p:xfrm>
        <a:graphic>
          <a:graphicData uri="http://schemas.openxmlformats.org/drawingml/2006/table">
            <a:tbl>
              <a:tblPr firstRow="1" bandRow="1">
                <a:tableStyleId>{2D5ABB26-0587-4C30-8999-92F81FD0307C}</a:tableStyleId>
              </a:tblPr>
              <a:tblGrid>
                <a:gridCol w="1858496">
                  <a:extLst>
                    <a:ext uri="{9D8B030D-6E8A-4147-A177-3AD203B41FA5}">
                      <a16:colId xmlns:a16="http://schemas.microsoft.com/office/drawing/2014/main" val="20000"/>
                    </a:ext>
                  </a:extLst>
                </a:gridCol>
                <a:gridCol w="941294">
                  <a:extLst>
                    <a:ext uri="{9D8B030D-6E8A-4147-A177-3AD203B41FA5}">
                      <a16:colId xmlns:a16="http://schemas.microsoft.com/office/drawing/2014/main" val="20001"/>
                    </a:ext>
                  </a:extLst>
                </a:gridCol>
                <a:gridCol w="784412">
                  <a:extLst>
                    <a:ext uri="{9D8B030D-6E8A-4147-A177-3AD203B41FA5}">
                      <a16:colId xmlns:a16="http://schemas.microsoft.com/office/drawing/2014/main" val="20002"/>
                    </a:ext>
                  </a:extLst>
                </a:gridCol>
                <a:gridCol w="1483658">
                  <a:extLst>
                    <a:ext uri="{9D8B030D-6E8A-4147-A177-3AD203B41FA5}">
                      <a16:colId xmlns:a16="http://schemas.microsoft.com/office/drawing/2014/main" val="20003"/>
                    </a:ext>
                  </a:extLst>
                </a:gridCol>
                <a:gridCol w="418540">
                  <a:extLst>
                    <a:ext uri="{9D8B030D-6E8A-4147-A177-3AD203B41FA5}">
                      <a16:colId xmlns:a16="http://schemas.microsoft.com/office/drawing/2014/main" val="20004"/>
                    </a:ext>
                  </a:extLst>
                </a:gridCol>
                <a:gridCol w="884704">
                  <a:extLst>
                    <a:ext uri="{9D8B030D-6E8A-4147-A177-3AD203B41FA5}">
                      <a16:colId xmlns:a16="http://schemas.microsoft.com/office/drawing/2014/main" val="20005"/>
                    </a:ext>
                  </a:extLst>
                </a:gridCol>
              </a:tblGrid>
              <a:tr h="437589">
                <a:tc>
                  <a:txBody>
                    <a:bodyPr/>
                    <a:lstStyle/>
                    <a:p>
                      <a:pPr marL="31750">
                        <a:lnSpc>
                          <a:spcPts val="1590"/>
                        </a:lnSpc>
                      </a:pPr>
                      <a:r>
                        <a:rPr sz="1500" i="1" spc="-10" dirty="0">
                          <a:solidFill>
                            <a:srgbClr val="000066"/>
                          </a:solidFill>
                          <a:latin typeface="Consolas"/>
                          <a:cs typeface="Consolas"/>
                        </a:rPr>
                        <a:t>Scheduling</a:t>
                      </a:r>
                      <a:endParaRPr sz="1500" dirty="0">
                        <a:latin typeface="Consolas"/>
                        <a:cs typeface="Consolas"/>
                      </a:endParaRPr>
                    </a:p>
                    <a:p>
                      <a:pPr marL="31750">
                        <a:lnSpc>
                          <a:spcPts val="2030"/>
                        </a:lnSpc>
                      </a:pPr>
                      <a:r>
                        <a:rPr sz="1500" i="1" spc="-10" dirty="0">
                          <a:solidFill>
                            <a:srgbClr val="000066"/>
                          </a:solidFill>
                          <a:latin typeface="Consolas"/>
                          <a:cs typeface="Consolas"/>
                        </a:rPr>
                        <a:t>scheme</a:t>
                      </a:r>
                      <a:endParaRPr sz="1500" dirty="0">
                        <a:latin typeface="Consolas"/>
                        <a:cs typeface="Consolas"/>
                      </a:endParaRPr>
                    </a:p>
                  </a:txBody>
                  <a:tcPr marL="0" marR="0" marT="0" marB="0"/>
                </a:tc>
                <a:tc>
                  <a:txBody>
                    <a:bodyPr/>
                    <a:lstStyle/>
                    <a:p>
                      <a:pPr marL="59055">
                        <a:lnSpc>
                          <a:spcPts val="1590"/>
                        </a:lnSpc>
                      </a:pPr>
                      <a:r>
                        <a:rPr sz="1500" i="1" spc="-10" dirty="0">
                          <a:solidFill>
                            <a:srgbClr val="000066"/>
                          </a:solidFill>
                          <a:latin typeface="Consolas"/>
                          <a:cs typeface="Consolas"/>
                        </a:rPr>
                        <a:t>Branch</a:t>
                      </a:r>
                      <a:endParaRPr sz="1500">
                        <a:latin typeface="Consolas"/>
                        <a:cs typeface="Consolas"/>
                      </a:endParaRPr>
                    </a:p>
                    <a:p>
                      <a:pPr marL="59055">
                        <a:lnSpc>
                          <a:spcPts val="2030"/>
                        </a:lnSpc>
                      </a:pPr>
                      <a:r>
                        <a:rPr sz="1500" i="1" spc="-10" dirty="0">
                          <a:solidFill>
                            <a:srgbClr val="000066"/>
                          </a:solidFill>
                          <a:latin typeface="Consolas"/>
                          <a:cs typeface="Consolas"/>
                        </a:rPr>
                        <a:t>penalty</a:t>
                      </a:r>
                      <a:endParaRPr sz="1500">
                        <a:latin typeface="Consolas"/>
                        <a:cs typeface="Consolas"/>
                      </a:endParaRPr>
                    </a:p>
                  </a:txBody>
                  <a:tcPr marL="0" marR="0" marT="0" marB="0"/>
                </a:tc>
                <a:tc>
                  <a:txBody>
                    <a:bodyPr/>
                    <a:lstStyle/>
                    <a:p>
                      <a:pPr marR="81915" algn="ctr">
                        <a:lnSpc>
                          <a:spcPts val="1605"/>
                        </a:lnSpc>
                      </a:pPr>
                      <a:r>
                        <a:rPr sz="1500" i="1" spc="-25" dirty="0">
                          <a:solidFill>
                            <a:srgbClr val="000066"/>
                          </a:solidFill>
                          <a:latin typeface="Consolas"/>
                          <a:cs typeface="Consolas"/>
                        </a:rPr>
                        <a:t>CPI</a:t>
                      </a:r>
                      <a:endParaRPr sz="1500">
                        <a:latin typeface="Consolas"/>
                        <a:cs typeface="Consolas"/>
                      </a:endParaRPr>
                    </a:p>
                  </a:txBody>
                  <a:tcPr marL="0" marR="0" marT="0" marB="0"/>
                </a:tc>
                <a:tc>
                  <a:txBody>
                    <a:bodyPr/>
                    <a:lstStyle/>
                    <a:p>
                      <a:pPr marL="280670">
                        <a:lnSpc>
                          <a:spcPts val="1590"/>
                        </a:lnSpc>
                      </a:pPr>
                      <a:r>
                        <a:rPr sz="1500" i="1" spc="-10" dirty="0">
                          <a:solidFill>
                            <a:srgbClr val="000066"/>
                          </a:solidFill>
                          <a:latin typeface="Consolas"/>
                          <a:cs typeface="Consolas"/>
                        </a:rPr>
                        <a:t>speedup</a:t>
                      </a:r>
                      <a:endParaRPr sz="1500">
                        <a:latin typeface="Consolas"/>
                        <a:cs typeface="Consolas"/>
                      </a:endParaRPr>
                    </a:p>
                    <a:p>
                      <a:pPr marL="236854">
                        <a:lnSpc>
                          <a:spcPts val="2030"/>
                        </a:lnSpc>
                      </a:pPr>
                      <a:r>
                        <a:rPr sz="1500" i="1" spc="-10" dirty="0">
                          <a:solidFill>
                            <a:srgbClr val="000066"/>
                          </a:solidFill>
                          <a:latin typeface="Consolas"/>
                          <a:cs typeface="Consolas"/>
                        </a:rPr>
                        <a:t>unpipelined</a:t>
                      </a:r>
                      <a:endParaRPr sz="1500">
                        <a:latin typeface="Consolas"/>
                        <a:cs typeface="Consolas"/>
                      </a:endParaRPr>
                    </a:p>
                  </a:txBody>
                  <a:tcPr marL="0" marR="0" marT="0" marB="0"/>
                </a:tc>
                <a:tc>
                  <a:txBody>
                    <a:bodyPr/>
                    <a:lstStyle/>
                    <a:p>
                      <a:pPr marL="140335">
                        <a:lnSpc>
                          <a:spcPts val="1605"/>
                        </a:lnSpc>
                      </a:pPr>
                      <a:r>
                        <a:rPr sz="1500" i="1" spc="-25" dirty="0">
                          <a:solidFill>
                            <a:srgbClr val="000066"/>
                          </a:solidFill>
                          <a:latin typeface="Consolas"/>
                          <a:cs typeface="Consolas"/>
                        </a:rPr>
                        <a:t>v.</a:t>
                      </a:r>
                      <a:endParaRPr sz="1500">
                        <a:latin typeface="Consolas"/>
                        <a:cs typeface="Consolas"/>
                      </a:endParaRPr>
                    </a:p>
                  </a:txBody>
                  <a:tcPr marL="0" marR="0" marT="0" marB="0"/>
                </a:tc>
                <a:tc>
                  <a:txBody>
                    <a:bodyPr/>
                    <a:lstStyle/>
                    <a:p>
                      <a:pPr marL="140335">
                        <a:lnSpc>
                          <a:spcPts val="1590"/>
                        </a:lnSpc>
                      </a:pPr>
                      <a:r>
                        <a:rPr sz="1500" i="1" spc="-10" dirty="0">
                          <a:solidFill>
                            <a:srgbClr val="000066"/>
                          </a:solidFill>
                          <a:latin typeface="Consolas"/>
                          <a:cs typeface="Consolas"/>
                        </a:rPr>
                        <a:t>Speedup</a:t>
                      </a:r>
                      <a:endParaRPr sz="1500">
                        <a:latin typeface="Consolas"/>
                        <a:cs typeface="Consolas"/>
                      </a:endParaRPr>
                    </a:p>
                    <a:p>
                      <a:pPr marL="96520">
                        <a:lnSpc>
                          <a:spcPts val="2030"/>
                        </a:lnSpc>
                      </a:pPr>
                      <a:r>
                        <a:rPr sz="1500" i="1" spc="-10" dirty="0">
                          <a:solidFill>
                            <a:srgbClr val="000066"/>
                          </a:solidFill>
                          <a:latin typeface="Consolas"/>
                          <a:cs typeface="Consolas"/>
                        </a:rPr>
                        <a:t>stall</a:t>
                      </a:r>
                      <a:endParaRPr sz="1500">
                        <a:latin typeface="Consolas"/>
                        <a:cs typeface="Consolas"/>
                      </a:endParaRPr>
                    </a:p>
                  </a:txBody>
                  <a:tcPr marL="0" marR="0" marT="0" marB="0"/>
                </a:tc>
                <a:extLst>
                  <a:ext uri="{0D108BD9-81ED-4DB2-BD59-A6C34878D82A}">
                    <a16:rowId xmlns:a16="http://schemas.microsoft.com/office/drawing/2014/main" val="10000"/>
                  </a:ext>
                </a:extLst>
              </a:tr>
              <a:tr h="229721">
                <a:tc>
                  <a:txBody>
                    <a:bodyPr/>
                    <a:lstStyle/>
                    <a:p>
                      <a:pPr marL="31750">
                        <a:lnSpc>
                          <a:spcPts val="1795"/>
                        </a:lnSpc>
                      </a:pPr>
                      <a:r>
                        <a:rPr sz="1500" dirty="0">
                          <a:solidFill>
                            <a:srgbClr val="000066"/>
                          </a:solidFill>
                          <a:latin typeface="Consolas"/>
                          <a:cs typeface="Consolas"/>
                        </a:rPr>
                        <a:t>Stall</a:t>
                      </a:r>
                      <a:r>
                        <a:rPr sz="1500" spc="-75" dirty="0">
                          <a:solidFill>
                            <a:srgbClr val="000066"/>
                          </a:solidFill>
                          <a:latin typeface="Consolas"/>
                          <a:cs typeface="Consolas"/>
                        </a:rPr>
                        <a:t> </a:t>
                      </a:r>
                      <a:r>
                        <a:rPr sz="1500" spc="-10" dirty="0">
                          <a:solidFill>
                            <a:srgbClr val="000066"/>
                          </a:solidFill>
                          <a:latin typeface="Consolas"/>
                          <a:cs typeface="Consolas"/>
                        </a:rPr>
                        <a:t>pipeline</a:t>
                      </a:r>
                      <a:endParaRPr sz="1500">
                        <a:latin typeface="Consolas"/>
                        <a:cs typeface="Consolas"/>
                      </a:endParaRPr>
                    </a:p>
                  </a:txBody>
                  <a:tcPr marL="0" marR="0" marT="0" marB="0"/>
                </a:tc>
                <a:tc>
                  <a:txBody>
                    <a:bodyPr/>
                    <a:lstStyle/>
                    <a:p>
                      <a:pPr marR="525145" algn="r">
                        <a:lnSpc>
                          <a:spcPts val="1795"/>
                        </a:lnSpc>
                      </a:pPr>
                      <a:r>
                        <a:rPr sz="1500" spc="-50" dirty="0">
                          <a:solidFill>
                            <a:srgbClr val="000066"/>
                          </a:solidFill>
                          <a:latin typeface="Consolas"/>
                          <a:cs typeface="Consolas"/>
                        </a:rPr>
                        <a:t>3</a:t>
                      </a:r>
                      <a:endParaRPr sz="1500">
                        <a:latin typeface="Consolas"/>
                        <a:cs typeface="Consolas"/>
                      </a:endParaRPr>
                    </a:p>
                  </a:txBody>
                  <a:tcPr marL="0" marR="0" marT="0" marB="0"/>
                </a:tc>
                <a:tc>
                  <a:txBody>
                    <a:bodyPr/>
                    <a:lstStyle/>
                    <a:p>
                      <a:pPr marR="51435" algn="ctr">
                        <a:lnSpc>
                          <a:spcPts val="1795"/>
                        </a:lnSpc>
                      </a:pPr>
                      <a:r>
                        <a:rPr sz="1500" spc="-20" dirty="0">
                          <a:solidFill>
                            <a:srgbClr val="000066"/>
                          </a:solidFill>
                          <a:latin typeface="Consolas"/>
                          <a:cs typeface="Consolas"/>
                        </a:rPr>
                        <a:t>1.</a:t>
                      </a:r>
                      <a:r>
                        <a:rPr sz="1500" spc="-20" dirty="0">
                          <a:solidFill>
                            <a:srgbClr val="FF0000"/>
                          </a:solidFill>
                          <a:latin typeface="Consolas"/>
                          <a:cs typeface="Consolas"/>
                        </a:rPr>
                        <a:t>60</a:t>
                      </a:r>
                      <a:endParaRPr sz="1500">
                        <a:latin typeface="Consolas"/>
                        <a:cs typeface="Consolas"/>
                      </a:endParaRPr>
                    </a:p>
                  </a:txBody>
                  <a:tcPr marL="0" marR="0" marT="0" marB="0"/>
                </a:tc>
                <a:tc>
                  <a:txBody>
                    <a:bodyPr/>
                    <a:lstStyle/>
                    <a:p>
                      <a:pPr marL="592455">
                        <a:lnSpc>
                          <a:spcPts val="1795"/>
                        </a:lnSpc>
                      </a:pPr>
                      <a:r>
                        <a:rPr sz="1500" spc="-25" dirty="0">
                          <a:solidFill>
                            <a:srgbClr val="000066"/>
                          </a:solidFill>
                          <a:latin typeface="Consolas"/>
                          <a:cs typeface="Consolas"/>
                        </a:rPr>
                        <a:t>3.1</a:t>
                      </a:r>
                      <a:endParaRPr sz="1500">
                        <a:latin typeface="Consolas"/>
                        <a:cs typeface="Consolas"/>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marL="96520">
                        <a:lnSpc>
                          <a:spcPts val="1795"/>
                        </a:lnSpc>
                      </a:pPr>
                      <a:r>
                        <a:rPr sz="1500" spc="-25" dirty="0">
                          <a:solidFill>
                            <a:srgbClr val="000066"/>
                          </a:solidFill>
                          <a:latin typeface="Consolas"/>
                          <a:cs typeface="Consolas"/>
                        </a:rPr>
                        <a:t>1.0</a:t>
                      </a:r>
                      <a:endParaRPr sz="1500">
                        <a:latin typeface="Consolas"/>
                        <a:cs typeface="Consolas"/>
                      </a:endParaRPr>
                    </a:p>
                  </a:txBody>
                  <a:tcPr marL="0" marR="0" marT="0" marB="0"/>
                </a:tc>
                <a:extLst>
                  <a:ext uri="{0D108BD9-81ED-4DB2-BD59-A6C34878D82A}">
                    <a16:rowId xmlns:a16="http://schemas.microsoft.com/office/drawing/2014/main" val="10001"/>
                  </a:ext>
                </a:extLst>
              </a:tr>
              <a:tr h="229721">
                <a:tc>
                  <a:txBody>
                    <a:bodyPr/>
                    <a:lstStyle/>
                    <a:p>
                      <a:pPr marL="31750">
                        <a:lnSpc>
                          <a:spcPts val="1760"/>
                        </a:lnSpc>
                      </a:pPr>
                      <a:r>
                        <a:rPr sz="1500" dirty="0">
                          <a:solidFill>
                            <a:srgbClr val="000066"/>
                          </a:solidFill>
                          <a:latin typeface="Consolas"/>
                          <a:cs typeface="Consolas"/>
                        </a:rPr>
                        <a:t>Predict</a:t>
                      </a:r>
                      <a:r>
                        <a:rPr sz="1500" spc="-105" dirty="0">
                          <a:solidFill>
                            <a:srgbClr val="000066"/>
                          </a:solidFill>
                          <a:latin typeface="Consolas"/>
                          <a:cs typeface="Consolas"/>
                        </a:rPr>
                        <a:t> </a:t>
                      </a:r>
                      <a:r>
                        <a:rPr sz="1500" spc="-10" dirty="0">
                          <a:solidFill>
                            <a:srgbClr val="000066"/>
                          </a:solidFill>
                          <a:latin typeface="Consolas"/>
                          <a:cs typeface="Consolas"/>
                        </a:rPr>
                        <a:t>taken</a:t>
                      </a:r>
                      <a:endParaRPr sz="1500">
                        <a:latin typeface="Consolas"/>
                        <a:cs typeface="Consolas"/>
                      </a:endParaRPr>
                    </a:p>
                  </a:txBody>
                  <a:tcPr marL="0" marR="0" marT="0" marB="0"/>
                </a:tc>
                <a:tc>
                  <a:txBody>
                    <a:bodyPr/>
                    <a:lstStyle/>
                    <a:p>
                      <a:pPr marR="525145" algn="r">
                        <a:lnSpc>
                          <a:spcPts val="1760"/>
                        </a:lnSpc>
                      </a:pPr>
                      <a:r>
                        <a:rPr sz="1500" spc="-50" dirty="0">
                          <a:solidFill>
                            <a:srgbClr val="000066"/>
                          </a:solidFill>
                          <a:latin typeface="Consolas"/>
                          <a:cs typeface="Consolas"/>
                        </a:rPr>
                        <a:t>1</a:t>
                      </a:r>
                      <a:endParaRPr sz="1500">
                        <a:latin typeface="Consolas"/>
                        <a:cs typeface="Consolas"/>
                      </a:endParaRPr>
                    </a:p>
                  </a:txBody>
                  <a:tcPr marL="0" marR="0" marT="0" marB="0"/>
                </a:tc>
                <a:tc>
                  <a:txBody>
                    <a:bodyPr/>
                    <a:lstStyle/>
                    <a:p>
                      <a:pPr marR="51435" algn="ctr">
                        <a:lnSpc>
                          <a:spcPts val="1760"/>
                        </a:lnSpc>
                      </a:pPr>
                      <a:r>
                        <a:rPr sz="1500" spc="-20" dirty="0">
                          <a:solidFill>
                            <a:srgbClr val="000066"/>
                          </a:solidFill>
                          <a:latin typeface="Consolas"/>
                          <a:cs typeface="Consolas"/>
                        </a:rPr>
                        <a:t>1.</a:t>
                      </a:r>
                      <a:r>
                        <a:rPr sz="1500" spc="-20" dirty="0">
                          <a:solidFill>
                            <a:srgbClr val="0099FF"/>
                          </a:solidFill>
                          <a:latin typeface="Consolas"/>
                          <a:cs typeface="Consolas"/>
                        </a:rPr>
                        <a:t>20</a:t>
                      </a:r>
                      <a:endParaRPr sz="1500">
                        <a:latin typeface="Consolas"/>
                        <a:cs typeface="Consolas"/>
                      </a:endParaRPr>
                    </a:p>
                  </a:txBody>
                  <a:tcPr marL="0" marR="0" marT="0" marB="0"/>
                </a:tc>
                <a:tc>
                  <a:txBody>
                    <a:bodyPr/>
                    <a:lstStyle/>
                    <a:p>
                      <a:pPr marL="592455">
                        <a:lnSpc>
                          <a:spcPts val="1760"/>
                        </a:lnSpc>
                      </a:pPr>
                      <a:r>
                        <a:rPr sz="1500" spc="-25" dirty="0">
                          <a:solidFill>
                            <a:srgbClr val="000066"/>
                          </a:solidFill>
                          <a:latin typeface="Consolas"/>
                          <a:cs typeface="Consolas"/>
                        </a:rPr>
                        <a:t>4.2</a:t>
                      </a:r>
                      <a:endParaRPr sz="1500">
                        <a:latin typeface="Consolas"/>
                        <a:cs typeface="Consolas"/>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marL="96520">
                        <a:lnSpc>
                          <a:spcPts val="1760"/>
                        </a:lnSpc>
                      </a:pPr>
                      <a:r>
                        <a:rPr sz="1500" spc="-20" dirty="0">
                          <a:solidFill>
                            <a:srgbClr val="000066"/>
                          </a:solidFill>
                          <a:latin typeface="Consolas"/>
                          <a:cs typeface="Consolas"/>
                        </a:rPr>
                        <a:t>1.33</a:t>
                      </a:r>
                      <a:endParaRPr sz="1500">
                        <a:latin typeface="Consolas"/>
                        <a:cs typeface="Consolas"/>
                      </a:endParaRPr>
                    </a:p>
                  </a:txBody>
                  <a:tcPr marL="0" marR="0" marT="0" marB="0"/>
                </a:tc>
                <a:extLst>
                  <a:ext uri="{0D108BD9-81ED-4DB2-BD59-A6C34878D82A}">
                    <a16:rowId xmlns:a16="http://schemas.microsoft.com/office/drawing/2014/main" val="10002"/>
                  </a:ext>
                </a:extLst>
              </a:tr>
              <a:tr h="235324">
                <a:tc>
                  <a:txBody>
                    <a:bodyPr/>
                    <a:lstStyle/>
                    <a:p>
                      <a:pPr marL="31750">
                        <a:lnSpc>
                          <a:spcPts val="1795"/>
                        </a:lnSpc>
                      </a:pPr>
                      <a:r>
                        <a:rPr sz="1500" dirty="0">
                          <a:solidFill>
                            <a:srgbClr val="000066"/>
                          </a:solidFill>
                          <a:latin typeface="Consolas"/>
                          <a:cs typeface="Consolas"/>
                        </a:rPr>
                        <a:t>Predict</a:t>
                      </a:r>
                      <a:r>
                        <a:rPr sz="1500" spc="-80" dirty="0">
                          <a:solidFill>
                            <a:srgbClr val="000066"/>
                          </a:solidFill>
                          <a:latin typeface="Consolas"/>
                          <a:cs typeface="Consolas"/>
                        </a:rPr>
                        <a:t> </a:t>
                      </a:r>
                      <a:r>
                        <a:rPr sz="1500" spc="-20" dirty="0">
                          <a:solidFill>
                            <a:srgbClr val="000066"/>
                          </a:solidFill>
                          <a:latin typeface="Consolas"/>
                          <a:cs typeface="Consolas"/>
                        </a:rPr>
                        <a:t>not-taken</a:t>
                      </a:r>
                      <a:endParaRPr sz="1500">
                        <a:latin typeface="Consolas"/>
                        <a:cs typeface="Consolas"/>
                      </a:endParaRPr>
                    </a:p>
                  </a:txBody>
                  <a:tcPr marL="0" marR="0" marT="0" marB="0"/>
                </a:tc>
                <a:tc>
                  <a:txBody>
                    <a:bodyPr/>
                    <a:lstStyle/>
                    <a:p>
                      <a:pPr marR="525145" algn="r">
                        <a:lnSpc>
                          <a:spcPts val="1795"/>
                        </a:lnSpc>
                      </a:pPr>
                      <a:r>
                        <a:rPr sz="1500" spc="-50" dirty="0">
                          <a:solidFill>
                            <a:srgbClr val="000066"/>
                          </a:solidFill>
                          <a:latin typeface="Consolas"/>
                          <a:cs typeface="Consolas"/>
                        </a:rPr>
                        <a:t>1</a:t>
                      </a:r>
                      <a:endParaRPr sz="1500">
                        <a:latin typeface="Consolas"/>
                        <a:cs typeface="Consolas"/>
                      </a:endParaRPr>
                    </a:p>
                  </a:txBody>
                  <a:tcPr marL="0" marR="0" marT="0" marB="0"/>
                </a:tc>
                <a:tc>
                  <a:txBody>
                    <a:bodyPr/>
                    <a:lstStyle/>
                    <a:p>
                      <a:pPr marR="51435" algn="ctr">
                        <a:lnSpc>
                          <a:spcPts val="1795"/>
                        </a:lnSpc>
                      </a:pPr>
                      <a:r>
                        <a:rPr sz="1500" spc="-20" dirty="0">
                          <a:solidFill>
                            <a:srgbClr val="000066"/>
                          </a:solidFill>
                          <a:latin typeface="Consolas"/>
                          <a:cs typeface="Consolas"/>
                        </a:rPr>
                        <a:t>1.14</a:t>
                      </a:r>
                      <a:endParaRPr sz="1500">
                        <a:latin typeface="Consolas"/>
                        <a:cs typeface="Consolas"/>
                      </a:endParaRPr>
                    </a:p>
                  </a:txBody>
                  <a:tcPr marL="0" marR="0" marT="0" marB="0"/>
                </a:tc>
                <a:tc>
                  <a:txBody>
                    <a:bodyPr/>
                    <a:lstStyle/>
                    <a:p>
                      <a:pPr marL="592455">
                        <a:lnSpc>
                          <a:spcPts val="1795"/>
                        </a:lnSpc>
                      </a:pPr>
                      <a:r>
                        <a:rPr sz="1500" spc="-25" dirty="0">
                          <a:solidFill>
                            <a:srgbClr val="000066"/>
                          </a:solidFill>
                          <a:latin typeface="Consolas"/>
                          <a:cs typeface="Consolas"/>
                        </a:rPr>
                        <a:t>4.4</a:t>
                      </a:r>
                      <a:endParaRPr sz="1500">
                        <a:latin typeface="Consolas"/>
                        <a:cs typeface="Consolas"/>
                      </a:endParaRPr>
                    </a:p>
                  </a:txBody>
                  <a:tcPr marL="0" marR="0" marT="0" marB="0"/>
                </a:tc>
                <a:tc>
                  <a:txBody>
                    <a:bodyPr/>
                    <a:lstStyle/>
                    <a:p>
                      <a:pPr>
                        <a:lnSpc>
                          <a:spcPct val="100000"/>
                        </a:lnSpc>
                      </a:pPr>
                      <a:endParaRPr sz="1400">
                        <a:latin typeface="Times New Roman"/>
                        <a:cs typeface="Times New Roman"/>
                      </a:endParaRPr>
                    </a:p>
                  </a:txBody>
                  <a:tcPr marL="0" marR="0" marT="0" marB="0"/>
                </a:tc>
                <a:tc>
                  <a:txBody>
                    <a:bodyPr/>
                    <a:lstStyle/>
                    <a:p>
                      <a:pPr marL="95885">
                        <a:lnSpc>
                          <a:spcPts val="1795"/>
                        </a:lnSpc>
                      </a:pPr>
                      <a:r>
                        <a:rPr sz="1500" spc="-20" dirty="0">
                          <a:solidFill>
                            <a:srgbClr val="000066"/>
                          </a:solidFill>
                          <a:latin typeface="Consolas"/>
                          <a:cs typeface="Consolas"/>
                        </a:rPr>
                        <a:t>1.40</a:t>
                      </a:r>
                      <a:endParaRPr sz="1500">
                        <a:latin typeface="Consolas"/>
                        <a:cs typeface="Consolas"/>
                      </a:endParaRPr>
                    </a:p>
                  </a:txBody>
                  <a:tcPr marL="0" marR="0" marT="0" marB="0"/>
                </a:tc>
                <a:extLst>
                  <a:ext uri="{0D108BD9-81ED-4DB2-BD59-A6C34878D82A}">
                    <a16:rowId xmlns:a16="http://schemas.microsoft.com/office/drawing/2014/main" val="10003"/>
                  </a:ext>
                </a:extLst>
              </a:tr>
              <a:tr h="213472">
                <a:tc>
                  <a:txBody>
                    <a:bodyPr/>
                    <a:lstStyle/>
                    <a:p>
                      <a:pPr marL="31750">
                        <a:lnSpc>
                          <a:spcPts val="1805"/>
                        </a:lnSpc>
                      </a:pPr>
                      <a:r>
                        <a:rPr sz="1500" dirty="0">
                          <a:solidFill>
                            <a:srgbClr val="000066"/>
                          </a:solidFill>
                          <a:latin typeface="Consolas"/>
                          <a:cs typeface="Consolas"/>
                        </a:rPr>
                        <a:t>Delayed</a:t>
                      </a:r>
                      <a:r>
                        <a:rPr sz="1500" spc="-105" dirty="0">
                          <a:solidFill>
                            <a:srgbClr val="000066"/>
                          </a:solidFill>
                          <a:latin typeface="Consolas"/>
                          <a:cs typeface="Consolas"/>
                        </a:rPr>
                        <a:t> </a:t>
                      </a:r>
                      <a:r>
                        <a:rPr sz="1500" spc="-10" dirty="0">
                          <a:solidFill>
                            <a:srgbClr val="000066"/>
                          </a:solidFill>
                          <a:latin typeface="Consolas"/>
                          <a:cs typeface="Consolas"/>
                        </a:rPr>
                        <a:t>branch</a:t>
                      </a:r>
                      <a:endParaRPr sz="1500" dirty="0">
                        <a:latin typeface="Consolas"/>
                        <a:cs typeface="Consolas"/>
                      </a:endParaRPr>
                    </a:p>
                  </a:txBody>
                  <a:tcPr marL="0" marR="0" marT="0" marB="0"/>
                </a:tc>
                <a:tc>
                  <a:txBody>
                    <a:bodyPr/>
                    <a:lstStyle/>
                    <a:p>
                      <a:pPr marR="525145" algn="r">
                        <a:lnSpc>
                          <a:spcPts val="1805"/>
                        </a:lnSpc>
                      </a:pPr>
                      <a:r>
                        <a:rPr sz="1500" spc="-25" dirty="0">
                          <a:solidFill>
                            <a:srgbClr val="000066"/>
                          </a:solidFill>
                          <a:latin typeface="Consolas"/>
                          <a:cs typeface="Consolas"/>
                        </a:rPr>
                        <a:t>0.5</a:t>
                      </a:r>
                      <a:endParaRPr sz="1500">
                        <a:latin typeface="Consolas"/>
                        <a:cs typeface="Consolas"/>
                      </a:endParaRPr>
                    </a:p>
                  </a:txBody>
                  <a:tcPr marL="0" marR="0" marT="0" marB="0"/>
                </a:tc>
                <a:tc>
                  <a:txBody>
                    <a:bodyPr/>
                    <a:lstStyle/>
                    <a:p>
                      <a:pPr marR="51435" algn="ctr">
                        <a:lnSpc>
                          <a:spcPts val="1805"/>
                        </a:lnSpc>
                      </a:pPr>
                      <a:r>
                        <a:rPr sz="1500" spc="-20" dirty="0">
                          <a:solidFill>
                            <a:srgbClr val="000066"/>
                          </a:solidFill>
                          <a:latin typeface="Consolas"/>
                          <a:cs typeface="Consolas"/>
                        </a:rPr>
                        <a:t>1.10</a:t>
                      </a:r>
                      <a:endParaRPr sz="1500">
                        <a:latin typeface="Consolas"/>
                        <a:cs typeface="Consolas"/>
                      </a:endParaRPr>
                    </a:p>
                  </a:txBody>
                  <a:tcPr marL="0" marR="0" marT="0" marB="0"/>
                </a:tc>
                <a:tc>
                  <a:txBody>
                    <a:bodyPr/>
                    <a:lstStyle/>
                    <a:p>
                      <a:pPr marL="592455">
                        <a:lnSpc>
                          <a:spcPts val="1805"/>
                        </a:lnSpc>
                      </a:pPr>
                      <a:r>
                        <a:rPr sz="1500" spc="-25" dirty="0">
                          <a:solidFill>
                            <a:srgbClr val="000066"/>
                          </a:solidFill>
                          <a:latin typeface="Consolas"/>
                          <a:cs typeface="Consolas"/>
                        </a:rPr>
                        <a:t>4.5</a:t>
                      </a:r>
                      <a:endParaRPr sz="1500">
                        <a:latin typeface="Consolas"/>
                        <a:cs typeface="Consolas"/>
                      </a:endParaRPr>
                    </a:p>
                  </a:txBody>
                  <a:tcPr marL="0" marR="0" marT="0" marB="0"/>
                </a:tc>
                <a:tc>
                  <a:txBody>
                    <a:bodyPr/>
                    <a:lstStyle/>
                    <a:p>
                      <a:pPr>
                        <a:lnSpc>
                          <a:spcPct val="100000"/>
                        </a:lnSpc>
                      </a:pPr>
                      <a:endParaRPr sz="1200">
                        <a:latin typeface="Times New Roman"/>
                        <a:cs typeface="Times New Roman"/>
                      </a:endParaRPr>
                    </a:p>
                  </a:txBody>
                  <a:tcPr marL="0" marR="0" marT="0" marB="0"/>
                </a:tc>
                <a:tc>
                  <a:txBody>
                    <a:bodyPr/>
                    <a:lstStyle/>
                    <a:p>
                      <a:pPr marL="96520">
                        <a:lnSpc>
                          <a:spcPts val="1805"/>
                        </a:lnSpc>
                      </a:pPr>
                      <a:r>
                        <a:rPr sz="1500" spc="-20" dirty="0">
                          <a:solidFill>
                            <a:srgbClr val="FF0000"/>
                          </a:solidFill>
                          <a:latin typeface="Consolas"/>
                          <a:cs typeface="Consolas"/>
                        </a:rPr>
                        <a:t>1.45</a:t>
                      </a:r>
                      <a:endParaRPr sz="1500" dirty="0">
                        <a:latin typeface="Consolas"/>
                        <a:cs typeface="Consolas"/>
                      </a:endParaRPr>
                    </a:p>
                  </a:txBody>
                  <a:tcPr marL="0" marR="0"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3375" y="612100"/>
            <a:ext cx="7734811" cy="589755"/>
          </a:xfrm>
          <a:prstGeom prst="rect">
            <a:avLst/>
          </a:prstGeom>
        </p:spPr>
        <p:txBody>
          <a:bodyPr vert="horz" wrap="square" lIns="0" tIns="126851" rIns="0" bIns="0" rtlCol="0" anchor="ctr">
            <a:spAutoFit/>
          </a:bodyPr>
          <a:lstStyle/>
          <a:p>
            <a:pPr marL="11206">
              <a:lnSpc>
                <a:spcPct val="100000"/>
              </a:lnSpc>
              <a:spcBef>
                <a:spcPts val="88"/>
              </a:spcBef>
            </a:pPr>
            <a:r>
              <a:rPr dirty="0"/>
              <a:t>But….</a:t>
            </a:r>
            <a:r>
              <a:rPr spc="-9" dirty="0"/>
              <a:t> </a:t>
            </a:r>
            <a:r>
              <a:rPr dirty="0"/>
              <a:t>Delayed</a:t>
            </a:r>
            <a:r>
              <a:rPr spc="-4" dirty="0"/>
              <a:t> </a:t>
            </a:r>
            <a:r>
              <a:rPr dirty="0"/>
              <a:t>Branch</a:t>
            </a:r>
            <a:r>
              <a:rPr spc="-4" dirty="0"/>
              <a:t> </a:t>
            </a:r>
            <a:r>
              <a:rPr dirty="0"/>
              <a:t>Not</a:t>
            </a:r>
            <a:r>
              <a:rPr spc="-9" dirty="0"/>
              <a:t> </a:t>
            </a:r>
            <a:r>
              <a:rPr dirty="0"/>
              <a:t>Used</a:t>
            </a:r>
            <a:r>
              <a:rPr spc="-4" dirty="0"/>
              <a:t> </a:t>
            </a:r>
            <a:r>
              <a:rPr dirty="0"/>
              <a:t>in</a:t>
            </a:r>
            <a:r>
              <a:rPr spc="-4" dirty="0"/>
              <a:t> </a:t>
            </a:r>
            <a:r>
              <a:rPr dirty="0"/>
              <a:t>Modern</a:t>
            </a:r>
            <a:r>
              <a:rPr spc="-4" dirty="0"/>
              <a:t> </a:t>
            </a:r>
            <a:r>
              <a:rPr spc="-18" dirty="0"/>
              <a:t>CPUs</a:t>
            </a:r>
          </a:p>
        </p:txBody>
      </p:sp>
      <p:sp>
        <p:nvSpPr>
          <p:cNvPr id="5" name="Slide Number Placeholder 4">
            <a:extLst>
              <a:ext uri="{FF2B5EF4-FFF2-40B4-BE49-F238E27FC236}">
                <a16:creationId xmlns:a16="http://schemas.microsoft.com/office/drawing/2014/main" id="{68775B8B-6758-7744-D85B-00CF55288908}"/>
              </a:ext>
            </a:extLst>
          </p:cNvPr>
          <p:cNvSpPr>
            <a:spLocks noGrp="1"/>
          </p:cNvSpPr>
          <p:nvPr>
            <p:ph type="sldNum" sz="quarter" idx="7"/>
          </p:nvPr>
        </p:nvSpPr>
        <p:spPr/>
        <p:txBody>
          <a:bodyPr/>
          <a:lstStyle/>
          <a:p>
            <a:fld id="{4FE321F0-2018-4E50-8BB3-A5631EBD98DD}" type="slidenum">
              <a:rPr lang="en-US" smtClean="0"/>
              <a:t>68</a:t>
            </a:fld>
            <a:endParaRPr lang="en-US"/>
          </a:p>
        </p:txBody>
      </p:sp>
      <p:sp>
        <p:nvSpPr>
          <p:cNvPr id="3" name="object 3"/>
          <p:cNvSpPr txBox="1"/>
          <p:nvPr/>
        </p:nvSpPr>
        <p:spPr>
          <a:xfrm>
            <a:off x="833375" y="1226113"/>
            <a:ext cx="7859212" cy="5236125"/>
          </a:xfrm>
          <a:prstGeom prst="rect">
            <a:avLst/>
          </a:prstGeom>
        </p:spPr>
        <p:txBody>
          <a:bodyPr vert="horz" wrap="square" lIns="0" tIns="85165" rIns="0" bIns="0" rtlCol="0">
            <a:spAutoFit/>
          </a:bodyPr>
          <a:lstStyle/>
          <a:p>
            <a:pPr marL="279602" indent="-268395">
              <a:spcBef>
                <a:spcPts val="671"/>
              </a:spcBef>
              <a:buChar char="•"/>
              <a:tabLst>
                <a:tab pos="279602" algn="l"/>
              </a:tabLst>
            </a:pPr>
            <a:r>
              <a:rPr sz="2400" spc="-18" dirty="0">
                <a:latin typeface="Calibri"/>
                <a:cs typeface="Calibri"/>
              </a:rPr>
              <a:t>Compiler</a:t>
            </a:r>
            <a:r>
              <a:rPr sz="2400" spc="-97" dirty="0">
                <a:latin typeface="Calibri"/>
                <a:cs typeface="Calibri"/>
              </a:rPr>
              <a:t> </a:t>
            </a:r>
            <a:r>
              <a:rPr sz="2400" spc="-9" dirty="0">
                <a:latin typeface="Calibri"/>
                <a:cs typeface="Calibri"/>
              </a:rPr>
              <a:t>effectiveness</a:t>
            </a:r>
            <a:r>
              <a:rPr sz="2400" spc="-97" dirty="0">
                <a:latin typeface="Calibri"/>
                <a:cs typeface="Calibri"/>
              </a:rPr>
              <a:t> </a:t>
            </a:r>
            <a:r>
              <a:rPr sz="2400" dirty="0">
                <a:latin typeface="Calibri"/>
                <a:cs typeface="Calibri"/>
              </a:rPr>
              <a:t>for</a:t>
            </a:r>
            <a:r>
              <a:rPr sz="2400" spc="-97" dirty="0">
                <a:latin typeface="Calibri"/>
                <a:cs typeface="Calibri"/>
              </a:rPr>
              <a:t> </a:t>
            </a:r>
            <a:r>
              <a:rPr sz="2400" dirty="0">
                <a:latin typeface="Calibri"/>
                <a:cs typeface="Calibri"/>
              </a:rPr>
              <a:t>single</a:t>
            </a:r>
            <a:r>
              <a:rPr sz="2400" spc="-97" dirty="0">
                <a:latin typeface="Calibri"/>
                <a:cs typeface="Calibri"/>
              </a:rPr>
              <a:t> </a:t>
            </a:r>
            <a:r>
              <a:rPr sz="2400" spc="-9" dirty="0">
                <a:latin typeface="Calibri"/>
                <a:cs typeface="Calibri"/>
              </a:rPr>
              <a:t>branch</a:t>
            </a:r>
            <a:r>
              <a:rPr sz="2400" spc="-97" dirty="0">
                <a:latin typeface="Calibri"/>
                <a:cs typeface="Calibri"/>
              </a:rPr>
              <a:t> </a:t>
            </a:r>
            <a:r>
              <a:rPr sz="2400" dirty="0">
                <a:latin typeface="Calibri"/>
                <a:cs typeface="Calibri"/>
              </a:rPr>
              <a:t>delay</a:t>
            </a:r>
            <a:r>
              <a:rPr sz="2400" spc="-97" dirty="0">
                <a:latin typeface="Calibri"/>
                <a:cs typeface="Calibri"/>
              </a:rPr>
              <a:t> </a:t>
            </a:r>
            <a:r>
              <a:rPr sz="2400" spc="-9" dirty="0">
                <a:latin typeface="Calibri"/>
                <a:cs typeface="Calibri"/>
              </a:rPr>
              <a:t>slot:</a:t>
            </a:r>
            <a:endParaRPr sz="2400" dirty="0">
              <a:latin typeface="Calibri"/>
              <a:cs typeface="Calibri"/>
            </a:endParaRPr>
          </a:p>
          <a:p>
            <a:pPr marL="654458" lvl="1" indent="-213483">
              <a:spcBef>
                <a:spcPts val="427"/>
              </a:spcBef>
              <a:buChar char="–"/>
              <a:tabLst>
                <a:tab pos="654458" algn="l"/>
              </a:tabLst>
            </a:pPr>
            <a:r>
              <a:rPr sz="2000" dirty="0">
                <a:latin typeface="Calibri"/>
                <a:cs typeface="Calibri"/>
              </a:rPr>
              <a:t>Fills</a:t>
            </a:r>
            <a:r>
              <a:rPr sz="2000" spc="4" dirty="0">
                <a:latin typeface="Calibri"/>
                <a:cs typeface="Calibri"/>
              </a:rPr>
              <a:t> </a:t>
            </a:r>
            <a:r>
              <a:rPr sz="2000" dirty="0">
                <a:latin typeface="Calibri"/>
                <a:cs typeface="Calibri"/>
              </a:rPr>
              <a:t>about</a:t>
            </a:r>
            <a:r>
              <a:rPr sz="2000" spc="4" dirty="0">
                <a:latin typeface="Calibri"/>
                <a:cs typeface="Calibri"/>
              </a:rPr>
              <a:t> </a:t>
            </a:r>
            <a:r>
              <a:rPr sz="2000" dirty="0">
                <a:latin typeface="Calibri"/>
                <a:cs typeface="Calibri"/>
              </a:rPr>
              <a:t>60%</a:t>
            </a:r>
            <a:r>
              <a:rPr sz="2000" spc="18" dirty="0">
                <a:latin typeface="Calibri"/>
                <a:cs typeface="Calibri"/>
              </a:rPr>
              <a:t> </a:t>
            </a:r>
            <a:r>
              <a:rPr sz="2000" dirty="0">
                <a:latin typeface="Calibri"/>
                <a:cs typeface="Calibri"/>
              </a:rPr>
              <a:t>of</a:t>
            </a:r>
            <a:r>
              <a:rPr sz="2000" spc="9" dirty="0">
                <a:latin typeface="Calibri"/>
                <a:cs typeface="Calibri"/>
              </a:rPr>
              <a:t> </a:t>
            </a:r>
            <a:r>
              <a:rPr sz="2000" dirty="0">
                <a:latin typeface="Calibri"/>
                <a:cs typeface="Calibri"/>
              </a:rPr>
              <a:t>branch</a:t>
            </a:r>
            <a:r>
              <a:rPr sz="2000" spc="13" dirty="0">
                <a:latin typeface="Calibri"/>
                <a:cs typeface="Calibri"/>
              </a:rPr>
              <a:t> </a:t>
            </a:r>
            <a:r>
              <a:rPr sz="2000" dirty="0">
                <a:latin typeface="Calibri"/>
                <a:cs typeface="Calibri"/>
              </a:rPr>
              <a:t>delay</a:t>
            </a:r>
            <a:r>
              <a:rPr sz="2000" spc="9" dirty="0">
                <a:latin typeface="Calibri"/>
                <a:cs typeface="Calibri"/>
              </a:rPr>
              <a:t> </a:t>
            </a:r>
            <a:r>
              <a:rPr sz="2000" spc="-9" dirty="0">
                <a:latin typeface="Calibri"/>
                <a:cs typeface="Calibri"/>
              </a:rPr>
              <a:t>slots</a:t>
            </a:r>
            <a:endParaRPr sz="2000" dirty="0">
              <a:latin typeface="Calibri"/>
              <a:cs typeface="Calibri"/>
            </a:endParaRPr>
          </a:p>
          <a:p>
            <a:pPr marL="654458" marR="624201" lvl="1" indent="-213483">
              <a:spcBef>
                <a:spcPts val="666"/>
              </a:spcBef>
              <a:buChar char="–"/>
              <a:tabLst>
                <a:tab pos="656139" algn="l"/>
              </a:tabLst>
            </a:pPr>
            <a:r>
              <a:rPr sz="2000" dirty="0">
                <a:latin typeface="Calibri"/>
                <a:cs typeface="Calibri"/>
              </a:rPr>
              <a:t>About</a:t>
            </a:r>
            <a:r>
              <a:rPr sz="2000" spc="13" dirty="0">
                <a:latin typeface="Calibri"/>
                <a:cs typeface="Calibri"/>
              </a:rPr>
              <a:t> </a:t>
            </a:r>
            <a:r>
              <a:rPr sz="2000" dirty="0">
                <a:latin typeface="Calibri"/>
                <a:cs typeface="Calibri"/>
              </a:rPr>
              <a:t>80%</a:t>
            </a:r>
            <a:r>
              <a:rPr sz="2000" spc="22" dirty="0">
                <a:latin typeface="Calibri"/>
                <a:cs typeface="Calibri"/>
              </a:rPr>
              <a:t> </a:t>
            </a:r>
            <a:r>
              <a:rPr sz="2000" dirty="0">
                <a:latin typeface="Calibri"/>
                <a:cs typeface="Calibri"/>
              </a:rPr>
              <a:t>of</a:t>
            </a:r>
            <a:r>
              <a:rPr sz="2000" spc="18" dirty="0">
                <a:latin typeface="Calibri"/>
                <a:cs typeface="Calibri"/>
              </a:rPr>
              <a:t> </a:t>
            </a:r>
            <a:r>
              <a:rPr sz="2000" dirty="0">
                <a:latin typeface="Calibri"/>
                <a:cs typeface="Calibri"/>
              </a:rPr>
              <a:t>instructions</a:t>
            </a:r>
            <a:r>
              <a:rPr sz="2000" spc="13" dirty="0">
                <a:latin typeface="Calibri"/>
                <a:cs typeface="Calibri"/>
              </a:rPr>
              <a:t> </a:t>
            </a:r>
            <a:r>
              <a:rPr sz="2000" dirty="0">
                <a:latin typeface="Calibri"/>
                <a:cs typeface="Calibri"/>
              </a:rPr>
              <a:t>executed</a:t>
            </a:r>
            <a:r>
              <a:rPr sz="2000" spc="26" dirty="0">
                <a:latin typeface="Calibri"/>
                <a:cs typeface="Calibri"/>
              </a:rPr>
              <a:t> </a:t>
            </a:r>
            <a:r>
              <a:rPr sz="2000" dirty="0">
                <a:latin typeface="Calibri"/>
                <a:cs typeface="Calibri"/>
              </a:rPr>
              <a:t>in</a:t>
            </a:r>
            <a:r>
              <a:rPr sz="2000" spc="26" dirty="0">
                <a:latin typeface="Calibri"/>
                <a:cs typeface="Calibri"/>
              </a:rPr>
              <a:t> </a:t>
            </a:r>
            <a:r>
              <a:rPr sz="2000" dirty="0">
                <a:latin typeface="Calibri"/>
                <a:cs typeface="Calibri"/>
              </a:rPr>
              <a:t>branch</a:t>
            </a:r>
            <a:r>
              <a:rPr sz="2000" spc="26" dirty="0">
                <a:latin typeface="Calibri"/>
                <a:cs typeface="Calibri"/>
              </a:rPr>
              <a:t> </a:t>
            </a:r>
            <a:r>
              <a:rPr sz="2000" dirty="0">
                <a:latin typeface="Calibri"/>
                <a:cs typeface="Calibri"/>
              </a:rPr>
              <a:t>delay</a:t>
            </a:r>
            <a:r>
              <a:rPr sz="2000" spc="18" dirty="0">
                <a:latin typeface="Calibri"/>
                <a:cs typeface="Calibri"/>
              </a:rPr>
              <a:t> </a:t>
            </a:r>
            <a:r>
              <a:rPr sz="2000" dirty="0">
                <a:latin typeface="Calibri"/>
                <a:cs typeface="Calibri"/>
              </a:rPr>
              <a:t>slots</a:t>
            </a:r>
            <a:r>
              <a:rPr sz="2000" spc="13" dirty="0">
                <a:latin typeface="Calibri"/>
                <a:cs typeface="Calibri"/>
              </a:rPr>
              <a:t> </a:t>
            </a:r>
            <a:br>
              <a:rPr lang="en-US" sz="2000" spc="13" dirty="0">
                <a:latin typeface="Calibri"/>
                <a:cs typeface="Calibri"/>
              </a:rPr>
            </a:br>
            <a:r>
              <a:rPr lang="en-US" sz="2000" spc="13" dirty="0">
                <a:latin typeface="Calibri"/>
                <a:cs typeface="Calibri"/>
              </a:rPr>
              <a:t>are </a:t>
            </a:r>
            <a:r>
              <a:rPr sz="2000" dirty="0">
                <a:latin typeface="Calibri"/>
                <a:cs typeface="Calibri"/>
              </a:rPr>
              <a:t>useful</a:t>
            </a:r>
            <a:r>
              <a:rPr sz="2000" spc="13" dirty="0">
                <a:latin typeface="Calibri"/>
                <a:cs typeface="Calibri"/>
              </a:rPr>
              <a:t> </a:t>
            </a:r>
            <a:r>
              <a:rPr sz="2000" spc="-22" dirty="0">
                <a:latin typeface="Calibri"/>
                <a:cs typeface="Calibri"/>
              </a:rPr>
              <a:t>in </a:t>
            </a:r>
            <a:r>
              <a:rPr sz="2000" spc="-9" dirty="0">
                <a:latin typeface="Calibri"/>
                <a:cs typeface="Calibri"/>
              </a:rPr>
              <a:t>computation</a:t>
            </a:r>
            <a:endParaRPr sz="2000" dirty="0">
              <a:latin typeface="Calibri"/>
              <a:cs typeface="Calibri"/>
            </a:endParaRPr>
          </a:p>
          <a:p>
            <a:pPr marL="654458" lvl="1" indent="-213483">
              <a:spcBef>
                <a:spcPts val="432"/>
              </a:spcBef>
              <a:spcAft>
                <a:spcPts val="2400"/>
              </a:spcAft>
              <a:buChar char="–"/>
              <a:tabLst>
                <a:tab pos="654458" algn="l"/>
              </a:tabLst>
            </a:pPr>
            <a:r>
              <a:rPr sz="2000" dirty="0">
                <a:latin typeface="Calibri"/>
                <a:cs typeface="Calibri"/>
              </a:rPr>
              <a:t>About</a:t>
            </a:r>
            <a:r>
              <a:rPr sz="2000" spc="13" dirty="0">
                <a:latin typeface="Calibri"/>
                <a:cs typeface="Calibri"/>
              </a:rPr>
              <a:t> </a:t>
            </a:r>
            <a:r>
              <a:rPr sz="2000" dirty="0">
                <a:latin typeface="Calibri"/>
                <a:cs typeface="Calibri"/>
              </a:rPr>
              <a:t>50%</a:t>
            </a:r>
            <a:r>
              <a:rPr sz="2000" spc="22" dirty="0">
                <a:latin typeface="Calibri"/>
                <a:cs typeface="Calibri"/>
              </a:rPr>
              <a:t> </a:t>
            </a:r>
            <a:r>
              <a:rPr sz="2000" dirty="0">
                <a:latin typeface="Calibri"/>
                <a:cs typeface="Calibri"/>
              </a:rPr>
              <a:t>(=</a:t>
            </a:r>
            <a:r>
              <a:rPr sz="2000" spc="22" dirty="0">
                <a:latin typeface="Calibri"/>
                <a:cs typeface="Calibri"/>
              </a:rPr>
              <a:t> </a:t>
            </a:r>
            <a:r>
              <a:rPr sz="2000" dirty="0">
                <a:latin typeface="Calibri"/>
                <a:cs typeface="Calibri"/>
              </a:rPr>
              <a:t>60%</a:t>
            </a:r>
            <a:r>
              <a:rPr sz="2000" spc="22" dirty="0">
                <a:latin typeface="Calibri"/>
                <a:cs typeface="Calibri"/>
              </a:rPr>
              <a:t> </a:t>
            </a:r>
            <a:r>
              <a:rPr sz="2000" dirty="0">
                <a:latin typeface="Calibri"/>
                <a:cs typeface="Calibri"/>
              </a:rPr>
              <a:t>x</a:t>
            </a:r>
            <a:r>
              <a:rPr sz="2000" spc="13" dirty="0">
                <a:latin typeface="Calibri"/>
                <a:cs typeface="Calibri"/>
              </a:rPr>
              <a:t> </a:t>
            </a:r>
            <a:r>
              <a:rPr sz="2000" dirty="0">
                <a:latin typeface="Calibri"/>
                <a:cs typeface="Calibri"/>
              </a:rPr>
              <a:t>80%)</a:t>
            </a:r>
            <a:r>
              <a:rPr sz="2000" spc="22" dirty="0">
                <a:latin typeface="Calibri"/>
                <a:cs typeface="Calibri"/>
              </a:rPr>
              <a:t> </a:t>
            </a:r>
            <a:r>
              <a:rPr sz="2000" dirty="0">
                <a:latin typeface="Calibri"/>
                <a:cs typeface="Calibri"/>
              </a:rPr>
              <a:t>of</a:t>
            </a:r>
            <a:r>
              <a:rPr sz="2000" spc="18" dirty="0">
                <a:latin typeface="Calibri"/>
                <a:cs typeface="Calibri"/>
              </a:rPr>
              <a:t> </a:t>
            </a:r>
            <a:r>
              <a:rPr sz="2000" dirty="0">
                <a:latin typeface="Calibri"/>
                <a:cs typeface="Calibri"/>
              </a:rPr>
              <a:t>slots</a:t>
            </a:r>
            <a:r>
              <a:rPr sz="2000" spc="13" dirty="0">
                <a:latin typeface="Calibri"/>
                <a:cs typeface="Calibri"/>
              </a:rPr>
              <a:t> </a:t>
            </a:r>
            <a:r>
              <a:rPr sz="2000" dirty="0">
                <a:latin typeface="Calibri"/>
                <a:cs typeface="Calibri"/>
              </a:rPr>
              <a:t>usefully</a:t>
            </a:r>
            <a:r>
              <a:rPr sz="2000" spc="18" dirty="0">
                <a:latin typeface="Calibri"/>
                <a:cs typeface="Calibri"/>
              </a:rPr>
              <a:t> </a:t>
            </a:r>
            <a:r>
              <a:rPr sz="2000" dirty="0">
                <a:latin typeface="Calibri"/>
                <a:cs typeface="Calibri"/>
              </a:rPr>
              <a:t>filled;</a:t>
            </a:r>
            <a:r>
              <a:rPr sz="2000" spc="26" dirty="0">
                <a:latin typeface="Calibri"/>
                <a:cs typeface="Calibri"/>
              </a:rPr>
              <a:t> </a:t>
            </a:r>
            <a:br>
              <a:rPr lang="en-US" sz="2000" spc="26" dirty="0">
                <a:latin typeface="Calibri"/>
                <a:cs typeface="Calibri"/>
              </a:rPr>
            </a:br>
            <a:r>
              <a:rPr sz="2000" dirty="0">
                <a:latin typeface="Calibri"/>
                <a:cs typeface="Calibri"/>
              </a:rPr>
              <a:t>cannot</a:t>
            </a:r>
            <a:r>
              <a:rPr sz="2000" spc="13" dirty="0">
                <a:latin typeface="Calibri"/>
                <a:cs typeface="Calibri"/>
              </a:rPr>
              <a:t> </a:t>
            </a:r>
            <a:r>
              <a:rPr sz="2000" dirty="0">
                <a:latin typeface="Calibri"/>
                <a:cs typeface="Calibri"/>
              </a:rPr>
              <a:t>fill</a:t>
            </a:r>
            <a:r>
              <a:rPr sz="2000" spc="13" dirty="0">
                <a:latin typeface="Calibri"/>
                <a:cs typeface="Calibri"/>
              </a:rPr>
              <a:t> </a:t>
            </a:r>
            <a:r>
              <a:rPr sz="2000" dirty="0">
                <a:latin typeface="Calibri"/>
                <a:cs typeface="Calibri"/>
              </a:rPr>
              <a:t>2</a:t>
            </a:r>
            <a:r>
              <a:rPr sz="2000" spc="22" dirty="0">
                <a:latin typeface="Calibri"/>
                <a:cs typeface="Calibri"/>
              </a:rPr>
              <a:t> </a:t>
            </a:r>
            <a:r>
              <a:rPr sz="2000" dirty="0">
                <a:latin typeface="Calibri"/>
                <a:cs typeface="Calibri"/>
              </a:rPr>
              <a:t>or</a:t>
            </a:r>
            <a:r>
              <a:rPr sz="2000" spc="13" dirty="0">
                <a:latin typeface="Calibri"/>
                <a:cs typeface="Calibri"/>
              </a:rPr>
              <a:t> </a:t>
            </a:r>
            <a:r>
              <a:rPr sz="2000" spc="-18" dirty="0">
                <a:latin typeface="Calibri"/>
                <a:cs typeface="Calibri"/>
              </a:rPr>
              <a:t>more</a:t>
            </a:r>
            <a:r>
              <a:rPr lang="en-US" sz="2000" spc="-18" dirty="0">
                <a:latin typeface="Calibri"/>
                <a:cs typeface="Calibri"/>
              </a:rPr>
              <a:t> slots</a:t>
            </a:r>
            <a:endParaRPr sz="1677" dirty="0">
              <a:latin typeface="Calibri"/>
              <a:cs typeface="Calibri"/>
            </a:endParaRPr>
          </a:p>
          <a:p>
            <a:pPr marL="279602" indent="-268395">
              <a:buChar char="•"/>
              <a:tabLst>
                <a:tab pos="279602" algn="l"/>
              </a:tabLst>
            </a:pPr>
            <a:r>
              <a:rPr sz="2400" spc="-9" dirty="0">
                <a:latin typeface="Calibri"/>
                <a:cs typeface="Calibri"/>
              </a:rPr>
              <a:t>Delayed</a:t>
            </a:r>
            <a:r>
              <a:rPr sz="2400" spc="-93" dirty="0">
                <a:latin typeface="Calibri"/>
                <a:cs typeface="Calibri"/>
              </a:rPr>
              <a:t> </a:t>
            </a:r>
            <a:r>
              <a:rPr sz="2400" spc="-9" dirty="0">
                <a:latin typeface="Calibri"/>
                <a:cs typeface="Calibri"/>
              </a:rPr>
              <a:t>Branch</a:t>
            </a:r>
            <a:r>
              <a:rPr sz="2400" spc="-93" dirty="0">
                <a:latin typeface="Calibri"/>
                <a:cs typeface="Calibri"/>
              </a:rPr>
              <a:t> </a:t>
            </a:r>
            <a:r>
              <a:rPr sz="2400" spc="-9" dirty="0">
                <a:latin typeface="Calibri"/>
                <a:cs typeface="Calibri"/>
              </a:rPr>
              <a:t>downside?</a:t>
            </a:r>
            <a:endParaRPr sz="2400" dirty="0">
              <a:latin typeface="Calibri"/>
              <a:cs typeface="Calibri"/>
            </a:endParaRPr>
          </a:p>
          <a:p>
            <a:pPr marL="654458" marR="4483" lvl="1" indent="-213483">
              <a:spcBef>
                <a:spcPts val="627"/>
              </a:spcBef>
              <a:buChar char="–"/>
              <a:tabLst>
                <a:tab pos="656139" algn="l"/>
              </a:tabLst>
            </a:pPr>
            <a:r>
              <a:rPr sz="2000" dirty="0">
                <a:latin typeface="Calibri"/>
                <a:cs typeface="Calibri"/>
              </a:rPr>
              <a:t>As</a:t>
            </a:r>
            <a:r>
              <a:rPr sz="2000" spc="4" dirty="0">
                <a:latin typeface="Calibri"/>
                <a:cs typeface="Calibri"/>
              </a:rPr>
              <a:t> </a:t>
            </a:r>
            <a:r>
              <a:rPr sz="2000" dirty="0">
                <a:latin typeface="Calibri"/>
                <a:cs typeface="Calibri"/>
              </a:rPr>
              <a:t>processor</a:t>
            </a:r>
            <a:r>
              <a:rPr sz="2000" spc="13" dirty="0">
                <a:latin typeface="Calibri"/>
                <a:cs typeface="Calibri"/>
              </a:rPr>
              <a:t> </a:t>
            </a:r>
            <a:r>
              <a:rPr sz="2000" dirty="0">
                <a:latin typeface="Calibri"/>
                <a:cs typeface="Calibri"/>
              </a:rPr>
              <a:t>designs</a:t>
            </a:r>
            <a:r>
              <a:rPr sz="2000" spc="13" dirty="0">
                <a:latin typeface="Calibri"/>
                <a:cs typeface="Calibri"/>
              </a:rPr>
              <a:t> </a:t>
            </a:r>
            <a:r>
              <a:rPr sz="2000" dirty="0">
                <a:latin typeface="Calibri"/>
                <a:cs typeface="Calibri"/>
              </a:rPr>
              <a:t>use</a:t>
            </a:r>
            <a:r>
              <a:rPr sz="2000" spc="26" dirty="0">
                <a:latin typeface="Calibri"/>
                <a:cs typeface="Calibri"/>
              </a:rPr>
              <a:t> </a:t>
            </a:r>
            <a:r>
              <a:rPr sz="2000" dirty="0">
                <a:latin typeface="Calibri"/>
                <a:cs typeface="Calibri"/>
              </a:rPr>
              <a:t>deeper</a:t>
            </a:r>
            <a:r>
              <a:rPr sz="2000" spc="13" dirty="0">
                <a:latin typeface="Calibri"/>
                <a:cs typeface="Calibri"/>
              </a:rPr>
              <a:t> </a:t>
            </a:r>
            <a:r>
              <a:rPr sz="2000" dirty="0">
                <a:latin typeface="Calibri"/>
                <a:cs typeface="Calibri"/>
              </a:rPr>
              <a:t>pipelines</a:t>
            </a:r>
            <a:r>
              <a:rPr sz="2000" spc="13" dirty="0">
                <a:latin typeface="Calibri"/>
                <a:cs typeface="Calibri"/>
              </a:rPr>
              <a:t> </a:t>
            </a:r>
            <a:r>
              <a:rPr sz="2000" dirty="0">
                <a:latin typeface="Calibri"/>
                <a:cs typeface="Calibri"/>
              </a:rPr>
              <a:t>and</a:t>
            </a:r>
            <a:r>
              <a:rPr sz="2000" spc="26" dirty="0">
                <a:latin typeface="Calibri"/>
                <a:cs typeface="Calibri"/>
              </a:rPr>
              <a:t> </a:t>
            </a:r>
            <a:r>
              <a:rPr sz="2000" dirty="0">
                <a:latin typeface="Calibri"/>
                <a:cs typeface="Calibri"/>
              </a:rPr>
              <a:t>multiple</a:t>
            </a:r>
            <a:r>
              <a:rPr sz="2000" spc="26" dirty="0">
                <a:latin typeface="Calibri"/>
                <a:cs typeface="Calibri"/>
              </a:rPr>
              <a:t> </a:t>
            </a:r>
            <a:r>
              <a:rPr sz="2000" dirty="0">
                <a:latin typeface="Calibri"/>
                <a:cs typeface="Calibri"/>
              </a:rPr>
              <a:t>issue,</a:t>
            </a:r>
            <a:r>
              <a:rPr sz="2000" spc="18" dirty="0">
                <a:latin typeface="Calibri"/>
                <a:cs typeface="Calibri"/>
              </a:rPr>
              <a:t> </a:t>
            </a:r>
            <a:br>
              <a:rPr lang="en-US" sz="2000" spc="18" dirty="0">
                <a:latin typeface="Calibri"/>
                <a:cs typeface="Calibri"/>
              </a:rPr>
            </a:br>
            <a:r>
              <a:rPr sz="2000" dirty="0">
                <a:latin typeface="Calibri"/>
                <a:cs typeface="Calibri"/>
              </a:rPr>
              <a:t>the</a:t>
            </a:r>
            <a:r>
              <a:rPr sz="2000" spc="31" dirty="0">
                <a:latin typeface="Calibri"/>
                <a:cs typeface="Calibri"/>
              </a:rPr>
              <a:t> </a:t>
            </a:r>
            <a:r>
              <a:rPr sz="2000" spc="-9" dirty="0">
                <a:latin typeface="Calibri"/>
                <a:cs typeface="Calibri"/>
              </a:rPr>
              <a:t>branch </a:t>
            </a:r>
            <a:r>
              <a:rPr sz="2000" dirty="0">
                <a:latin typeface="Calibri"/>
                <a:cs typeface="Calibri"/>
              </a:rPr>
              <a:t>delay</a:t>
            </a:r>
            <a:r>
              <a:rPr sz="2000" spc="18" dirty="0">
                <a:latin typeface="Calibri"/>
                <a:cs typeface="Calibri"/>
              </a:rPr>
              <a:t> </a:t>
            </a:r>
            <a:r>
              <a:rPr sz="2000" dirty="0">
                <a:latin typeface="Calibri"/>
                <a:cs typeface="Calibri"/>
              </a:rPr>
              <a:t>grows</a:t>
            </a:r>
            <a:r>
              <a:rPr sz="2000" spc="13" dirty="0">
                <a:latin typeface="Calibri"/>
                <a:cs typeface="Calibri"/>
              </a:rPr>
              <a:t> </a:t>
            </a:r>
            <a:r>
              <a:rPr sz="2000" dirty="0">
                <a:latin typeface="Calibri"/>
                <a:cs typeface="Calibri"/>
              </a:rPr>
              <a:t>and</a:t>
            </a:r>
            <a:r>
              <a:rPr sz="2000" spc="26" dirty="0">
                <a:latin typeface="Calibri"/>
                <a:cs typeface="Calibri"/>
              </a:rPr>
              <a:t> </a:t>
            </a:r>
            <a:r>
              <a:rPr sz="2000" dirty="0">
                <a:latin typeface="Calibri"/>
                <a:cs typeface="Calibri"/>
              </a:rPr>
              <a:t>needs</a:t>
            </a:r>
            <a:r>
              <a:rPr sz="2000" spc="18" dirty="0">
                <a:latin typeface="Calibri"/>
                <a:cs typeface="Calibri"/>
              </a:rPr>
              <a:t> </a:t>
            </a:r>
            <a:r>
              <a:rPr sz="2000" dirty="0">
                <a:latin typeface="Calibri"/>
                <a:cs typeface="Calibri"/>
              </a:rPr>
              <a:t>many</a:t>
            </a:r>
            <a:r>
              <a:rPr sz="2000" spc="18" dirty="0">
                <a:latin typeface="Calibri"/>
                <a:cs typeface="Calibri"/>
              </a:rPr>
              <a:t> </a:t>
            </a:r>
            <a:r>
              <a:rPr sz="2000" dirty="0">
                <a:latin typeface="Calibri"/>
                <a:cs typeface="Calibri"/>
              </a:rPr>
              <a:t>more</a:t>
            </a:r>
            <a:r>
              <a:rPr sz="2000" spc="22" dirty="0">
                <a:latin typeface="Calibri"/>
                <a:cs typeface="Calibri"/>
              </a:rPr>
              <a:t> </a:t>
            </a:r>
            <a:r>
              <a:rPr sz="2000" dirty="0">
                <a:latin typeface="Calibri"/>
                <a:cs typeface="Calibri"/>
              </a:rPr>
              <a:t>delay</a:t>
            </a:r>
            <a:r>
              <a:rPr sz="2000" spc="18" dirty="0">
                <a:latin typeface="Calibri"/>
                <a:cs typeface="Calibri"/>
              </a:rPr>
              <a:t> </a:t>
            </a:r>
            <a:r>
              <a:rPr sz="2000" spc="-9" dirty="0">
                <a:latin typeface="Calibri"/>
                <a:cs typeface="Calibri"/>
              </a:rPr>
              <a:t>slots</a:t>
            </a:r>
            <a:endParaRPr sz="2000" dirty="0">
              <a:latin typeface="Calibri"/>
              <a:cs typeface="Calibri"/>
            </a:endParaRPr>
          </a:p>
          <a:p>
            <a:pPr marL="654458" marR="201717" lvl="1" indent="-213483">
              <a:spcBef>
                <a:spcPts val="631"/>
              </a:spcBef>
              <a:buChar char="–"/>
              <a:tabLst>
                <a:tab pos="656139" algn="l"/>
              </a:tabLst>
            </a:pPr>
            <a:r>
              <a:rPr sz="2000" dirty="0">
                <a:latin typeface="Calibri"/>
                <a:cs typeface="Calibri"/>
              </a:rPr>
              <a:t>Delayed</a:t>
            </a:r>
            <a:r>
              <a:rPr sz="2000" spc="26" dirty="0">
                <a:latin typeface="Calibri"/>
                <a:cs typeface="Calibri"/>
              </a:rPr>
              <a:t> </a:t>
            </a:r>
            <a:r>
              <a:rPr sz="2000" dirty="0">
                <a:latin typeface="Calibri"/>
                <a:cs typeface="Calibri"/>
              </a:rPr>
              <a:t>branching</a:t>
            </a:r>
            <a:r>
              <a:rPr sz="2000" spc="22" dirty="0">
                <a:latin typeface="Calibri"/>
                <a:cs typeface="Calibri"/>
              </a:rPr>
              <a:t> </a:t>
            </a:r>
            <a:r>
              <a:rPr sz="2000" dirty="0">
                <a:latin typeface="Calibri"/>
                <a:cs typeface="Calibri"/>
              </a:rPr>
              <a:t>soon</a:t>
            </a:r>
            <a:r>
              <a:rPr sz="2000" spc="26" dirty="0">
                <a:latin typeface="Calibri"/>
                <a:cs typeface="Calibri"/>
              </a:rPr>
              <a:t> </a:t>
            </a:r>
            <a:r>
              <a:rPr sz="2000" dirty="0">
                <a:latin typeface="Calibri"/>
                <a:cs typeface="Calibri"/>
              </a:rPr>
              <a:t>lost</a:t>
            </a:r>
            <a:r>
              <a:rPr sz="2000" spc="18" dirty="0">
                <a:latin typeface="Calibri"/>
                <a:cs typeface="Calibri"/>
              </a:rPr>
              <a:t> </a:t>
            </a:r>
            <a:r>
              <a:rPr sz="2000" dirty="0">
                <a:latin typeface="Calibri"/>
                <a:cs typeface="Calibri"/>
              </a:rPr>
              <a:t>effectiveness</a:t>
            </a:r>
            <a:r>
              <a:rPr sz="2000" spc="13" dirty="0">
                <a:latin typeface="Calibri"/>
                <a:cs typeface="Calibri"/>
              </a:rPr>
              <a:t> </a:t>
            </a:r>
            <a:r>
              <a:rPr sz="2000" dirty="0">
                <a:latin typeface="Calibri"/>
                <a:cs typeface="Calibri"/>
              </a:rPr>
              <a:t>and</a:t>
            </a:r>
            <a:r>
              <a:rPr sz="2000" spc="26" dirty="0">
                <a:latin typeface="Calibri"/>
                <a:cs typeface="Calibri"/>
              </a:rPr>
              <a:t> </a:t>
            </a:r>
            <a:r>
              <a:rPr sz="2000" dirty="0">
                <a:latin typeface="Calibri"/>
                <a:cs typeface="Calibri"/>
              </a:rPr>
              <a:t>popularity</a:t>
            </a:r>
            <a:r>
              <a:rPr sz="2000" spc="18" dirty="0">
                <a:latin typeface="Calibri"/>
                <a:cs typeface="Calibri"/>
              </a:rPr>
              <a:t> </a:t>
            </a:r>
            <a:r>
              <a:rPr sz="2000" dirty="0">
                <a:latin typeface="Calibri"/>
                <a:cs typeface="Calibri"/>
              </a:rPr>
              <a:t>compared</a:t>
            </a:r>
            <a:r>
              <a:rPr sz="2000" spc="31" dirty="0">
                <a:latin typeface="Calibri"/>
                <a:cs typeface="Calibri"/>
              </a:rPr>
              <a:t> </a:t>
            </a:r>
            <a:r>
              <a:rPr sz="2000" spc="-22" dirty="0">
                <a:latin typeface="Calibri"/>
                <a:cs typeface="Calibri"/>
              </a:rPr>
              <a:t>to </a:t>
            </a:r>
            <a:r>
              <a:rPr sz="2000" dirty="0">
                <a:latin typeface="Calibri"/>
                <a:cs typeface="Calibri"/>
              </a:rPr>
              <a:t>more</a:t>
            </a:r>
            <a:r>
              <a:rPr sz="2000" spc="18" dirty="0">
                <a:latin typeface="Calibri"/>
                <a:cs typeface="Calibri"/>
              </a:rPr>
              <a:t> </a:t>
            </a:r>
            <a:r>
              <a:rPr sz="2000" dirty="0">
                <a:latin typeface="Calibri"/>
                <a:cs typeface="Calibri"/>
              </a:rPr>
              <a:t>expensive</a:t>
            </a:r>
            <a:r>
              <a:rPr sz="2000" spc="22" dirty="0">
                <a:latin typeface="Calibri"/>
                <a:cs typeface="Calibri"/>
              </a:rPr>
              <a:t> </a:t>
            </a:r>
            <a:r>
              <a:rPr sz="2000" dirty="0">
                <a:latin typeface="Calibri"/>
                <a:cs typeface="Calibri"/>
              </a:rPr>
              <a:t>but</a:t>
            </a:r>
            <a:r>
              <a:rPr sz="2000" spc="13" dirty="0">
                <a:latin typeface="Calibri"/>
                <a:cs typeface="Calibri"/>
              </a:rPr>
              <a:t> </a:t>
            </a:r>
            <a:r>
              <a:rPr sz="2000" dirty="0">
                <a:latin typeface="Calibri"/>
                <a:cs typeface="Calibri"/>
              </a:rPr>
              <a:t>more</a:t>
            </a:r>
            <a:r>
              <a:rPr sz="2000" spc="22" dirty="0">
                <a:latin typeface="Calibri"/>
                <a:cs typeface="Calibri"/>
              </a:rPr>
              <a:t> </a:t>
            </a:r>
            <a:r>
              <a:rPr sz="2000" dirty="0">
                <a:latin typeface="Calibri"/>
                <a:cs typeface="Calibri"/>
              </a:rPr>
              <a:t>flexible</a:t>
            </a:r>
            <a:r>
              <a:rPr sz="2000" spc="18" dirty="0">
                <a:latin typeface="Calibri"/>
                <a:cs typeface="Calibri"/>
              </a:rPr>
              <a:t> </a:t>
            </a:r>
            <a:r>
              <a:rPr sz="2000" dirty="0">
                <a:latin typeface="Calibri"/>
                <a:cs typeface="Calibri"/>
              </a:rPr>
              <a:t>dynamic</a:t>
            </a:r>
            <a:r>
              <a:rPr sz="2000" spc="18" dirty="0">
                <a:latin typeface="Calibri"/>
                <a:cs typeface="Calibri"/>
              </a:rPr>
              <a:t> </a:t>
            </a:r>
            <a:r>
              <a:rPr sz="2000" spc="-9" dirty="0">
                <a:latin typeface="Calibri"/>
                <a:cs typeface="Calibri"/>
              </a:rPr>
              <a:t>approaches</a:t>
            </a:r>
            <a:endParaRPr sz="2000" dirty="0">
              <a:latin typeface="Calibri"/>
              <a:cs typeface="Calibri"/>
            </a:endParaRPr>
          </a:p>
          <a:p>
            <a:pPr marL="654458" marR="37542" lvl="1" indent="-213483">
              <a:spcBef>
                <a:spcPts val="507"/>
              </a:spcBef>
              <a:buChar char="–"/>
              <a:tabLst>
                <a:tab pos="656139" algn="l"/>
              </a:tabLst>
            </a:pPr>
            <a:r>
              <a:rPr sz="2000" dirty="0">
                <a:latin typeface="Calibri"/>
                <a:cs typeface="Calibri"/>
              </a:rPr>
              <a:t>Growth</a:t>
            </a:r>
            <a:r>
              <a:rPr sz="2000" spc="18" dirty="0">
                <a:latin typeface="Calibri"/>
                <a:cs typeface="Calibri"/>
              </a:rPr>
              <a:t> </a:t>
            </a:r>
            <a:r>
              <a:rPr sz="2000" dirty="0">
                <a:latin typeface="Calibri"/>
                <a:cs typeface="Calibri"/>
              </a:rPr>
              <a:t>in</a:t>
            </a:r>
            <a:r>
              <a:rPr sz="2000" spc="22" dirty="0">
                <a:latin typeface="Calibri"/>
                <a:cs typeface="Calibri"/>
              </a:rPr>
              <a:t> </a:t>
            </a:r>
            <a:r>
              <a:rPr sz="2000" dirty="0">
                <a:latin typeface="Calibri"/>
                <a:cs typeface="Calibri"/>
              </a:rPr>
              <a:t>available</a:t>
            </a:r>
            <a:r>
              <a:rPr sz="2000" spc="22" dirty="0">
                <a:latin typeface="Calibri"/>
                <a:cs typeface="Calibri"/>
              </a:rPr>
              <a:t> </a:t>
            </a:r>
            <a:r>
              <a:rPr sz="2000" dirty="0">
                <a:latin typeface="Calibri"/>
                <a:cs typeface="Calibri"/>
              </a:rPr>
              <a:t>transistors</a:t>
            </a:r>
            <a:r>
              <a:rPr sz="2000" spc="9" dirty="0">
                <a:latin typeface="Calibri"/>
                <a:cs typeface="Calibri"/>
              </a:rPr>
              <a:t> </a:t>
            </a:r>
            <a:r>
              <a:rPr sz="2000" dirty="0">
                <a:latin typeface="Calibri"/>
                <a:cs typeface="Calibri"/>
              </a:rPr>
              <a:t>soon</a:t>
            </a:r>
            <a:r>
              <a:rPr sz="2000" spc="22" dirty="0">
                <a:latin typeface="Calibri"/>
                <a:cs typeface="Calibri"/>
              </a:rPr>
              <a:t> </a:t>
            </a:r>
            <a:r>
              <a:rPr sz="2000" dirty="0">
                <a:latin typeface="Calibri"/>
                <a:cs typeface="Calibri"/>
              </a:rPr>
              <a:t>permitted</a:t>
            </a:r>
            <a:r>
              <a:rPr sz="2000" spc="18" dirty="0">
                <a:latin typeface="Calibri"/>
                <a:cs typeface="Calibri"/>
              </a:rPr>
              <a:t> </a:t>
            </a:r>
            <a:r>
              <a:rPr sz="2000" dirty="0">
                <a:latin typeface="Calibri"/>
                <a:cs typeface="Calibri"/>
              </a:rPr>
              <a:t>dynamic</a:t>
            </a:r>
            <a:r>
              <a:rPr sz="2000" spc="13" dirty="0">
                <a:latin typeface="Calibri"/>
                <a:cs typeface="Calibri"/>
              </a:rPr>
              <a:t> </a:t>
            </a:r>
            <a:r>
              <a:rPr sz="2000" dirty="0">
                <a:latin typeface="Calibri"/>
                <a:cs typeface="Calibri"/>
              </a:rPr>
              <a:t>approaches</a:t>
            </a:r>
            <a:r>
              <a:rPr sz="2000" spc="9" dirty="0">
                <a:latin typeface="Calibri"/>
                <a:cs typeface="Calibri"/>
              </a:rPr>
              <a:t> </a:t>
            </a:r>
            <a:r>
              <a:rPr sz="2000" spc="-18" dirty="0">
                <a:latin typeface="Calibri"/>
                <a:cs typeface="Calibri"/>
              </a:rPr>
              <a:t>that </a:t>
            </a:r>
            <a:r>
              <a:rPr sz="2000" dirty="0">
                <a:latin typeface="Calibri"/>
                <a:cs typeface="Calibri"/>
              </a:rPr>
              <a:t>keep</a:t>
            </a:r>
            <a:r>
              <a:rPr sz="2000" spc="31" dirty="0">
                <a:latin typeface="Calibri"/>
                <a:cs typeface="Calibri"/>
              </a:rPr>
              <a:t> </a:t>
            </a:r>
            <a:r>
              <a:rPr sz="2000" dirty="0">
                <a:latin typeface="Calibri"/>
                <a:cs typeface="Calibri"/>
              </a:rPr>
              <a:t>records</a:t>
            </a:r>
            <a:r>
              <a:rPr sz="2000" spc="22" dirty="0">
                <a:latin typeface="Calibri"/>
                <a:cs typeface="Calibri"/>
              </a:rPr>
              <a:t> </a:t>
            </a:r>
            <a:r>
              <a:rPr sz="2000" dirty="0">
                <a:latin typeface="Calibri"/>
                <a:cs typeface="Calibri"/>
              </a:rPr>
              <a:t>of</a:t>
            </a:r>
            <a:r>
              <a:rPr sz="2000" spc="22" dirty="0">
                <a:latin typeface="Calibri"/>
                <a:cs typeface="Calibri"/>
              </a:rPr>
              <a:t> </a:t>
            </a:r>
            <a:r>
              <a:rPr sz="2000" dirty="0">
                <a:latin typeface="Calibri"/>
                <a:cs typeface="Calibri"/>
              </a:rPr>
              <a:t>branch</a:t>
            </a:r>
            <a:r>
              <a:rPr sz="2000" spc="31" dirty="0">
                <a:latin typeface="Calibri"/>
                <a:cs typeface="Calibri"/>
              </a:rPr>
              <a:t> </a:t>
            </a:r>
            <a:r>
              <a:rPr sz="2000" dirty="0">
                <a:latin typeface="Calibri"/>
                <a:cs typeface="Calibri"/>
              </a:rPr>
              <a:t>locations,</a:t>
            </a:r>
            <a:r>
              <a:rPr sz="2000" spc="26" dirty="0">
                <a:latin typeface="Calibri"/>
                <a:cs typeface="Calibri"/>
              </a:rPr>
              <a:t> </a:t>
            </a:r>
            <a:r>
              <a:rPr sz="2000" spc="-9" dirty="0">
                <a:latin typeface="Calibri"/>
                <a:cs typeface="Calibri"/>
              </a:rPr>
              <a:t>taken</a:t>
            </a:r>
            <a:r>
              <a:rPr lang="en-US" sz="2000" spc="-9" dirty="0">
                <a:latin typeface="Calibri"/>
                <a:cs typeface="Calibri"/>
              </a:rPr>
              <a:t> </a:t>
            </a:r>
            <a:r>
              <a:rPr sz="2000" spc="-9" dirty="0">
                <a:latin typeface="Calibri"/>
                <a:cs typeface="Calibri"/>
              </a:rPr>
              <a:t>/</a:t>
            </a:r>
            <a:r>
              <a:rPr lang="en-US" sz="2000" spc="-9" dirty="0">
                <a:latin typeface="Calibri"/>
                <a:cs typeface="Calibri"/>
              </a:rPr>
              <a:t> </a:t>
            </a:r>
            <a:r>
              <a:rPr sz="2000" spc="-9" dirty="0">
                <a:latin typeface="Calibri"/>
                <a:cs typeface="Calibri"/>
              </a:rPr>
              <a:t>not-</a:t>
            </a:r>
            <a:r>
              <a:rPr sz="2000" dirty="0">
                <a:latin typeface="Calibri"/>
                <a:cs typeface="Calibri"/>
              </a:rPr>
              <a:t>taken</a:t>
            </a:r>
            <a:r>
              <a:rPr sz="2000" spc="31" dirty="0">
                <a:latin typeface="Calibri"/>
                <a:cs typeface="Calibri"/>
              </a:rPr>
              <a:t> </a:t>
            </a:r>
            <a:r>
              <a:rPr sz="2000" dirty="0">
                <a:latin typeface="Calibri"/>
                <a:cs typeface="Calibri"/>
              </a:rPr>
              <a:t>decisions,</a:t>
            </a:r>
            <a:r>
              <a:rPr sz="2000" spc="22" dirty="0">
                <a:latin typeface="Calibri"/>
                <a:cs typeface="Calibri"/>
              </a:rPr>
              <a:t> </a:t>
            </a:r>
            <a:r>
              <a:rPr sz="2000" dirty="0">
                <a:latin typeface="Calibri"/>
                <a:cs typeface="Calibri"/>
              </a:rPr>
              <a:t>and</a:t>
            </a:r>
            <a:r>
              <a:rPr sz="2000" spc="31" dirty="0">
                <a:latin typeface="Calibri"/>
                <a:cs typeface="Calibri"/>
              </a:rPr>
              <a:t> </a:t>
            </a:r>
            <a:r>
              <a:rPr sz="2000" spc="-9" dirty="0">
                <a:latin typeface="Calibri"/>
                <a:cs typeface="Calibri"/>
              </a:rPr>
              <a:t>target addresses</a:t>
            </a:r>
            <a:endParaRPr sz="2000" dirty="0">
              <a:latin typeface="Calibri"/>
              <a:cs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2122" y="612099"/>
            <a:ext cx="6805893" cy="589755"/>
          </a:xfrm>
          <a:prstGeom prst="rect">
            <a:avLst/>
          </a:prstGeom>
        </p:spPr>
        <p:txBody>
          <a:bodyPr vert="horz" wrap="square" lIns="0" tIns="126851" rIns="0" bIns="0" rtlCol="0" anchor="ctr">
            <a:spAutoFit/>
          </a:bodyPr>
          <a:lstStyle/>
          <a:p>
            <a:pPr marL="11206">
              <a:lnSpc>
                <a:spcPct val="100000"/>
              </a:lnSpc>
              <a:spcBef>
                <a:spcPts val="88"/>
              </a:spcBef>
            </a:pPr>
            <a:r>
              <a:rPr dirty="0"/>
              <a:t>Pipelining</a:t>
            </a:r>
            <a:r>
              <a:rPr spc="-13" dirty="0"/>
              <a:t> </a:t>
            </a:r>
            <a:r>
              <a:rPr spc="-9" dirty="0"/>
              <a:t>Summary</a:t>
            </a:r>
          </a:p>
        </p:txBody>
      </p:sp>
      <p:sp>
        <p:nvSpPr>
          <p:cNvPr id="12" name="Slide Number Placeholder 11">
            <a:extLst>
              <a:ext uri="{FF2B5EF4-FFF2-40B4-BE49-F238E27FC236}">
                <a16:creationId xmlns:a16="http://schemas.microsoft.com/office/drawing/2014/main" id="{16C3820F-397C-7F68-BEC7-4CE60C586371}"/>
              </a:ext>
            </a:extLst>
          </p:cNvPr>
          <p:cNvSpPr>
            <a:spLocks noGrp="1"/>
          </p:cNvSpPr>
          <p:nvPr>
            <p:ph type="sldNum" sz="quarter" idx="7"/>
          </p:nvPr>
        </p:nvSpPr>
        <p:spPr/>
        <p:txBody>
          <a:bodyPr/>
          <a:lstStyle/>
          <a:p>
            <a:fld id="{4FE321F0-2018-4E50-8BB3-A5631EBD98DD}" type="slidenum">
              <a:rPr lang="en-US" smtClean="0"/>
              <a:t>69</a:t>
            </a:fld>
            <a:endParaRPr lang="en-US"/>
          </a:p>
        </p:txBody>
      </p:sp>
      <p:sp>
        <p:nvSpPr>
          <p:cNvPr id="3" name="object 3"/>
          <p:cNvSpPr txBox="1"/>
          <p:nvPr/>
        </p:nvSpPr>
        <p:spPr>
          <a:xfrm>
            <a:off x="1001806" y="1448248"/>
            <a:ext cx="7725335" cy="1247551"/>
          </a:xfrm>
          <a:prstGeom prst="rect">
            <a:avLst/>
          </a:prstGeom>
        </p:spPr>
        <p:txBody>
          <a:bodyPr vert="horz" wrap="square" lIns="0" tIns="11206" rIns="0" bIns="0" rtlCol="0">
            <a:spAutoFit/>
          </a:bodyPr>
          <a:lstStyle/>
          <a:p>
            <a:pPr marL="279602" indent="-268395">
              <a:spcBef>
                <a:spcPts val="88"/>
              </a:spcBef>
              <a:buChar char="•"/>
              <a:tabLst>
                <a:tab pos="279602" algn="l"/>
              </a:tabLst>
            </a:pPr>
            <a:r>
              <a:rPr sz="2400" spc="-9" dirty="0">
                <a:latin typeface="Calibri"/>
                <a:cs typeface="Calibri"/>
              </a:rPr>
              <a:t>Pipelining</a:t>
            </a:r>
            <a:r>
              <a:rPr sz="2400" spc="-84" dirty="0">
                <a:latin typeface="Calibri"/>
                <a:cs typeface="Calibri"/>
              </a:rPr>
              <a:t> </a:t>
            </a:r>
            <a:r>
              <a:rPr sz="2400" dirty="0">
                <a:latin typeface="Calibri"/>
                <a:cs typeface="Calibri"/>
              </a:rPr>
              <a:t>can</a:t>
            </a:r>
            <a:r>
              <a:rPr sz="2400" spc="-79" dirty="0">
                <a:latin typeface="Calibri"/>
                <a:cs typeface="Calibri"/>
              </a:rPr>
              <a:t> </a:t>
            </a:r>
            <a:r>
              <a:rPr sz="2400" dirty="0">
                <a:latin typeface="Calibri"/>
                <a:cs typeface="Calibri"/>
              </a:rPr>
              <a:t>speed</a:t>
            </a:r>
            <a:r>
              <a:rPr sz="2400" spc="-79" dirty="0">
                <a:latin typeface="Calibri"/>
                <a:cs typeface="Calibri"/>
              </a:rPr>
              <a:t> </a:t>
            </a:r>
            <a:r>
              <a:rPr sz="2400" spc="-18" dirty="0">
                <a:latin typeface="Calibri"/>
                <a:cs typeface="Calibri"/>
              </a:rPr>
              <a:t>instruction</a:t>
            </a:r>
            <a:r>
              <a:rPr sz="2400" spc="-79" dirty="0">
                <a:latin typeface="Calibri"/>
                <a:cs typeface="Calibri"/>
              </a:rPr>
              <a:t> </a:t>
            </a:r>
            <a:r>
              <a:rPr sz="2400" spc="-18" dirty="0">
                <a:latin typeface="Calibri"/>
                <a:cs typeface="Calibri"/>
              </a:rPr>
              <a:t>execution</a:t>
            </a:r>
            <a:r>
              <a:rPr sz="2400" spc="-79" dirty="0">
                <a:latin typeface="Calibri"/>
                <a:cs typeface="Calibri"/>
              </a:rPr>
              <a:t> </a:t>
            </a:r>
            <a:r>
              <a:rPr sz="2400" spc="-9" dirty="0">
                <a:latin typeface="Calibri"/>
                <a:cs typeface="Calibri"/>
              </a:rPr>
              <a:t>(</a:t>
            </a:r>
            <a:r>
              <a:rPr sz="2400" b="1" spc="-9" dirty="0">
                <a:latin typeface="Calibri"/>
                <a:cs typeface="Calibri"/>
              </a:rPr>
              <a:t>throughput</a:t>
            </a:r>
            <a:r>
              <a:rPr sz="2400" spc="-9" dirty="0">
                <a:latin typeface="Calibri"/>
                <a:cs typeface="Calibri"/>
              </a:rPr>
              <a:t>)</a:t>
            </a:r>
            <a:endParaRPr sz="2400" dirty="0">
              <a:latin typeface="Calibri"/>
              <a:cs typeface="Calibri"/>
            </a:endParaRPr>
          </a:p>
          <a:p>
            <a:pPr>
              <a:spcBef>
                <a:spcPts val="966"/>
              </a:spcBef>
              <a:buFont typeface="Calibri"/>
              <a:buChar char="•"/>
            </a:pPr>
            <a:endParaRPr sz="2400" dirty="0">
              <a:latin typeface="Calibri"/>
              <a:cs typeface="Calibri"/>
            </a:endParaRPr>
          </a:p>
          <a:p>
            <a:pPr marL="279602" indent="-268395">
              <a:buChar char="•"/>
              <a:tabLst>
                <a:tab pos="279602" algn="l"/>
              </a:tabLst>
            </a:pPr>
            <a:r>
              <a:rPr sz="2400" dirty="0">
                <a:latin typeface="Calibri"/>
                <a:cs typeface="Calibri"/>
              </a:rPr>
              <a:t>Speed</a:t>
            </a:r>
            <a:r>
              <a:rPr sz="2400" spc="-75" dirty="0">
                <a:latin typeface="Calibri"/>
                <a:cs typeface="Calibri"/>
              </a:rPr>
              <a:t> </a:t>
            </a:r>
            <a:r>
              <a:rPr sz="2400" dirty="0">
                <a:latin typeface="Calibri"/>
                <a:cs typeface="Calibri"/>
              </a:rPr>
              <a:t>Up</a:t>
            </a:r>
            <a:r>
              <a:rPr sz="2400" spc="-75" dirty="0">
                <a:latin typeface="Calibri"/>
                <a:cs typeface="Calibri"/>
              </a:rPr>
              <a:t> </a:t>
            </a:r>
            <a:r>
              <a:rPr sz="2400" dirty="0">
                <a:latin typeface="Cambria Math"/>
                <a:cs typeface="Cambria Math"/>
              </a:rPr>
              <a:t>≃</a:t>
            </a:r>
            <a:r>
              <a:rPr sz="2400" spc="-71" dirty="0">
                <a:latin typeface="Cambria Math"/>
                <a:cs typeface="Cambria Math"/>
              </a:rPr>
              <a:t> </a:t>
            </a:r>
            <a:r>
              <a:rPr sz="2400" spc="-9" dirty="0">
                <a:latin typeface="Calibri"/>
                <a:cs typeface="Calibri"/>
              </a:rPr>
              <a:t>Pipeline</a:t>
            </a:r>
            <a:r>
              <a:rPr sz="2400" spc="-71" dirty="0">
                <a:latin typeface="Calibri"/>
                <a:cs typeface="Calibri"/>
              </a:rPr>
              <a:t> </a:t>
            </a:r>
            <a:r>
              <a:rPr sz="2400" spc="-9" dirty="0">
                <a:latin typeface="Calibri"/>
                <a:cs typeface="Calibri"/>
              </a:rPr>
              <a:t>Depth;</a:t>
            </a:r>
            <a:r>
              <a:rPr sz="2400" spc="-66" dirty="0">
                <a:latin typeface="Calibri"/>
                <a:cs typeface="Calibri"/>
              </a:rPr>
              <a:t> </a:t>
            </a:r>
            <a:r>
              <a:rPr sz="2400" dirty="0">
                <a:latin typeface="Calibri"/>
                <a:cs typeface="Calibri"/>
              </a:rPr>
              <a:t>if</a:t>
            </a:r>
            <a:r>
              <a:rPr sz="2400" spc="-66" dirty="0">
                <a:latin typeface="Calibri"/>
                <a:cs typeface="Calibri"/>
              </a:rPr>
              <a:t> </a:t>
            </a:r>
            <a:r>
              <a:rPr sz="2400" dirty="0">
                <a:latin typeface="Calibri"/>
                <a:cs typeface="Calibri"/>
              </a:rPr>
              <a:t>ideal</a:t>
            </a:r>
            <a:r>
              <a:rPr sz="2400" spc="-62" dirty="0">
                <a:latin typeface="Calibri"/>
                <a:cs typeface="Calibri"/>
              </a:rPr>
              <a:t> </a:t>
            </a:r>
            <a:r>
              <a:rPr sz="2400" dirty="0">
                <a:latin typeface="Calibri"/>
                <a:cs typeface="Calibri"/>
              </a:rPr>
              <a:t>CPI</a:t>
            </a:r>
            <a:r>
              <a:rPr sz="2400" spc="-71" dirty="0">
                <a:latin typeface="Calibri"/>
                <a:cs typeface="Calibri"/>
              </a:rPr>
              <a:t> </a:t>
            </a:r>
            <a:r>
              <a:rPr sz="2400" dirty="0">
                <a:latin typeface="Calibri"/>
                <a:cs typeface="Calibri"/>
              </a:rPr>
              <a:t>is</a:t>
            </a:r>
            <a:r>
              <a:rPr sz="2400" spc="-71" dirty="0">
                <a:latin typeface="Calibri"/>
                <a:cs typeface="Calibri"/>
              </a:rPr>
              <a:t> </a:t>
            </a:r>
            <a:r>
              <a:rPr sz="2400" dirty="0">
                <a:latin typeface="Calibri"/>
                <a:cs typeface="Calibri"/>
              </a:rPr>
              <a:t>1,</a:t>
            </a:r>
            <a:r>
              <a:rPr sz="2400" spc="-62" dirty="0">
                <a:latin typeface="Calibri"/>
                <a:cs typeface="Calibri"/>
              </a:rPr>
              <a:t> </a:t>
            </a:r>
            <a:r>
              <a:rPr sz="2400" spc="-9" dirty="0">
                <a:latin typeface="Calibri"/>
                <a:cs typeface="Calibri"/>
              </a:rPr>
              <a:t>then:</a:t>
            </a:r>
            <a:endParaRPr sz="2400" dirty="0">
              <a:latin typeface="Calibri"/>
              <a:cs typeface="Calibri"/>
            </a:endParaRPr>
          </a:p>
        </p:txBody>
      </p:sp>
      <p:sp>
        <p:nvSpPr>
          <p:cNvPr id="4" name="object 4"/>
          <p:cNvSpPr txBox="1"/>
          <p:nvPr/>
        </p:nvSpPr>
        <p:spPr>
          <a:xfrm>
            <a:off x="1001806" y="4056789"/>
            <a:ext cx="7725335" cy="1560080"/>
          </a:xfrm>
          <a:prstGeom prst="rect">
            <a:avLst/>
          </a:prstGeom>
        </p:spPr>
        <p:txBody>
          <a:bodyPr vert="horz" wrap="square" lIns="0" tIns="99732" rIns="0" bIns="0" rtlCol="0">
            <a:spAutoFit/>
          </a:bodyPr>
          <a:lstStyle/>
          <a:p>
            <a:pPr marL="279602" indent="-268395">
              <a:spcBef>
                <a:spcPts val="785"/>
              </a:spcBef>
              <a:buChar char="•"/>
              <a:tabLst>
                <a:tab pos="279602" algn="l"/>
              </a:tabLst>
            </a:pPr>
            <a:r>
              <a:rPr sz="2400" spc="-9" dirty="0">
                <a:latin typeface="Calibri"/>
                <a:cs typeface="Calibri"/>
              </a:rPr>
              <a:t>Hazards</a:t>
            </a:r>
            <a:r>
              <a:rPr sz="2400" spc="-88" dirty="0">
                <a:latin typeface="Calibri"/>
                <a:cs typeface="Calibri"/>
              </a:rPr>
              <a:t> </a:t>
            </a:r>
            <a:r>
              <a:rPr sz="2400" dirty="0">
                <a:latin typeface="Calibri"/>
                <a:cs typeface="Calibri"/>
              </a:rPr>
              <a:t>limit</a:t>
            </a:r>
            <a:r>
              <a:rPr sz="2400" spc="-84" dirty="0">
                <a:latin typeface="Calibri"/>
                <a:cs typeface="Calibri"/>
              </a:rPr>
              <a:t> </a:t>
            </a:r>
            <a:r>
              <a:rPr sz="2400" spc="-18" dirty="0">
                <a:latin typeface="Calibri"/>
                <a:cs typeface="Calibri"/>
              </a:rPr>
              <a:t>performance</a:t>
            </a:r>
            <a:r>
              <a:rPr sz="2400" spc="-84" dirty="0">
                <a:latin typeface="Calibri"/>
                <a:cs typeface="Calibri"/>
              </a:rPr>
              <a:t> </a:t>
            </a:r>
            <a:r>
              <a:rPr sz="2400" dirty="0">
                <a:latin typeface="Calibri"/>
                <a:cs typeface="Calibri"/>
              </a:rPr>
              <a:t>on</a:t>
            </a:r>
            <a:r>
              <a:rPr sz="2400" spc="-84" dirty="0">
                <a:latin typeface="Calibri"/>
                <a:cs typeface="Calibri"/>
              </a:rPr>
              <a:t> </a:t>
            </a:r>
            <a:r>
              <a:rPr sz="2400" spc="-18" dirty="0">
                <a:latin typeface="Calibri"/>
                <a:cs typeface="Calibri"/>
              </a:rPr>
              <a:t>computers</a:t>
            </a:r>
            <a:r>
              <a:rPr sz="2400" spc="-84" dirty="0">
                <a:latin typeface="Calibri"/>
                <a:cs typeface="Calibri"/>
              </a:rPr>
              <a:t> </a:t>
            </a:r>
            <a:r>
              <a:rPr sz="2400" dirty="0">
                <a:latin typeface="Calibri"/>
                <a:cs typeface="Calibri"/>
              </a:rPr>
              <a:t>by</a:t>
            </a:r>
            <a:r>
              <a:rPr sz="2400" spc="-88" dirty="0">
                <a:latin typeface="Calibri"/>
                <a:cs typeface="Calibri"/>
              </a:rPr>
              <a:t> </a:t>
            </a:r>
            <a:r>
              <a:rPr sz="2400" spc="-9" dirty="0">
                <a:latin typeface="Calibri"/>
                <a:cs typeface="Calibri"/>
              </a:rPr>
              <a:t>stalling:</a:t>
            </a:r>
            <a:endParaRPr sz="2400" dirty="0">
              <a:latin typeface="Calibri"/>
              <a:cs typeface="Calibri"/>
            </a:endParaRPr>
          </a:p>
          <a:p>
            <a:pPr marL="654458" lvl="1" indent="-213483">
              <a:spcBef>
                <a:spcPts val="512"/>
              </a:spcBef>
              <a:buChar char="–"/>
              <a:tabLst>
                <a:tab pos="654458" algn="l"/>
              </a:tabLst>
            </a:pPr>
            <a:r>
              <a:rPr sz="2000" dirty="0">
                <a:latin typeface="Calibri"/>
                <a:cs typeface="Calibri"/>
              </a:rPr>
              <a:t>Structural:</a:t>
            </a:r>
            <a:r>
              <a:rPr sz="2000" spc="9" dirty="0">
                <a:latin typeface="Calibri"/>
                <a:cs typeface="Calibri"/>
              </a:rPr>
              <a:t> </a:t>
            </a:r>
            <a:r>
              <a:rPr sz="2000" dirty="0">
                <a:latin typeface="Calibri"/>
                <a:cs typeface="Calibri"/>
              </a:rPr>
              <a:t>need</a:t>
            </a:r>
            <a:r>
              <a:rPr sz="2000" spc="9" dirty="0">
                <a:latin typeface="Calibri"/>
                <a:cs typeface="Calibri"/>
              </a:rPr>
              <a:t> </a:t>
            </a:r>
            <a:r>
              <a:rPr sz="2000" dirty="0">
                <a:latin typeface="Calibri"/>
                <a:cs typeface="Calibri"/>
              </a:rPr>
              <a:t>more</a:t>
            </a:r>
            <a:r>
              <a:rPr sz="2000" spc="13" dirty="0">
                <a:latin typeface="Calibri"/>
                <a:cs typeface="Calibri"/>
              </a:rPr>
              <a:t> </a:t>
            </a:r>
            <a:r>
              <a:rPr sz="2000" dirty="0">
                <a:latin typeface="Calibri"/>
                <a:cs typeface="Calibri"/>
              </a:rPr>
              <a:t>HW</a:t>
            </a:r>
            <a:r>
              <a:rPr sz="2000" spc="13" dirty="0">
                <a:latin typeface="Calibri"/>
                <a:cs typeface="Calibri"/>
              </a:rPr>
              <a:t> </a:t>
            </a:r>
            <a:r>
              <a:rPr sz="2000" spc="-9" dirty="0">
                <a:latin typeface="Calibri"/>
                <a:cs typeface="Calibri"/>
              </a:rPr>
              <a:t>resources</a:t>
            </a:r>
            <a:endParaRPr sz="2000" dirty="0">
              <a:latin typeface="Calibri"/>
              <a:cs typeface="Calibri"/>
            </a:endParaRPr>
          </a:p>
          <a:p>
            <a:pPr marL="654458" lvl="1" indent="-213483">
              <a:spcBef>
                <a:spcPts val="446"/>
              </a:spcBef>
              <a:buChar char="–"/>
              <a:tabLst>
                <a:tab pos="654458" algn="l"/>
              </a:tabLst>
            </a:pPr>
            <a:r>
              <a:rPr sz="2000" dirty="0">
                <a:latin typeface="Calibri"/>
                <a:cs typeface="Calibri"/>
              </a:rPr>
              <a:t>Data</a:t>
            </a:r>
            <a:r>
              <a:rPr sz="2000" spc="26" dirty="0">
                <a:latin typeface="Calibri"/>
                <a:cs typeface="Calibri"/>
              </a:rPr>
              <a:t> </a:t>
            </a:r>
            <a:r>
              <a:rPr sz="2000" dirty="0">
                <a:latin typeface="Calibri"/>
                <a:cs typeface="Calibri"/>
              </a:rPr>
              <a:t>(RAW,</a:t>
            </a:r>
            <a:r>
              <a:rPr lang="en-US" sz="2000" dirty="0">
                <a:latin typeface="Calibri"/>
                <a:cs typeface="Calibri"/>
              </a:rPr>
              <a:t> </a:t>
            </a:r>
            <a:r>
              <a:rPr sz="2000" dirty="0">
                <a:latin typeface="Calibri"/>
                <a:cs typeface="Calibri"/>
              </a:rPr>
              <a:t>WAR,</a:t>
            </a:r>
            <a:r>
              <a:rPr lang="en-US" sz="2000" dirty="0">
                <a:latin typeface="Calibri"/>
                <a:cs typeface="Calibri"/>
              </a:rPr>
              <a:t> </a:t>
            </a:r>
            <a:r>
              <a:rPr sz="2000" dirty="0">
                <a:latin typeface="Calibri"/>
                <a:cs typeface="Calibri"/>
              </a:rPr>
              <a:t>WAW):</a:t>
            </a:r>
            <a:r>
              <a:rPr sz="2000" spc="31" dirty="0">
                <a:latin typeface="Calibri"/>
                <a:cs typeface="Calibri"/>
              </a:rPr>
              <a:t> </a:t>
            </a:r>
            <a:r>
              <a:rPr sz="2000" dirty="0">
                <a:latin typeface="Calibri"/>
                <a:cs typeface="Calibri"/>
              </a:rPr>
              <a:t>need</a:t>
            </a:r>
            <a:r>
              <a:rPr sz="2000" spc="31" dirty="0">
                <a:latin typeface="Calibri"/>
                <a:cs typeface="Calibri"/>
              </a:rPr>
              <a:t> </a:t>
            </a:r>
            <a:r>
              <a:rPr sz="2000" dirty="0">
                <a:latin typeface="Calibri"/>
                <a:cs typeface="Calibri"/>
              </a:rPr>
              <a:t>forwarding,</a:t>
            </a:r>
            <a:r>
              <a:rPr sz="2000" spc="26" dirty="0">
                <a:latin typeface="Calibri"/>
                <a:cs typeface="Calibri"/>
              </a:rPr>
              <a:t> </a:t>
            </a:r>
            <a:r>
              <a:rPr sz="2000" dirty="0">
                <a:latin typeface="Calibri"/>
                <a:cs typeface="Calibri"/>
              </a:rPr>
              <a:t>compiler</a:t>
            </a:r>
            <a:r>
              <a:rPr sz="2000" spc="18" dirty="0">
                <a:latin typeface="Calibri"/>
                <a:cs typeface="Calibri"/>
              </a:rPr>
              <a:t> </a:t>
            </a:r>
            <a:r>
              <a:rPr sz="2000" spc="-9" dirty="0">
                <a:latin typeface="Calibri"/>
                <a:cs typeface="Calibri"/>
              </a:rPr>
              <a:t>scheduling</a:t>
            </a:r>
            <a:endParaRPr sz="2000" dirty="0">
              <a:latin typeface="Calibri"/>
              <a:cs typeface="Calibri"/>
            </a:endParaRPr>
          </a:p>
          <a:p>
            <a:pPr marL="654458" lvl="1" indent="-213483">
              <a:spcBef>
                <a:spcPts val="383"/>
              </a:spcBef>
              <a:buChar char="–"/>
              <a:tabLst>
                <a:tab pos="654458" algn="l"/>
              </a:tabLst>
            </a:pPr>
            <a:r>
              <a:rPr sz="2000" dirty="0">
                <a:latin typeface="Calibri"/>
                <a:cs typeface="Calibri"/>
              </a:rPr>
              <a:t>Control:</a:t>
            </a:r>
            <a:r>
              <a:rPr sz="2000" spc="22" dirty="0">
                <a:latin typeface="Calibri"/>
                <a:cs typeface="Calibri"/>
              </a:rPr>
              <a:t> </a:t>
            </a:r>
            <a:r>
              <a:rPr sz="2000" dirty="0">
                <a:latin typeface="Calibri"/>
                <a:cs typeface="Calibri"/>
              </a:rPr>
              <a:t>delayed</a:t>
            </a:r>
            <a:r>
              <a:rPr sz="2000" spc="26" dirty="0">
                <a:latin typeface="Calibri"/>
                <a:cs typeface="Calibri"/>
              </a:rPr>
              <a:t> </a:t>
            </a:r>
            <a:r>
              <a:rPr sz="2000" dirty="0">
                <a:latin typeface="Calibri"/>
                <a:cs typeface="Calibri"/>
              </a:rPr>
              <a:t>branch</a:t>
            </a:r>
            <a:r>
              <a:rPr sz="2000" spc="26" dirty="0">
                <a:latin typeface="Calibri"/>
                <a:cs typeface="Calibri"/>
              </a:rPr>
              <a:t> </a:t>
            </a:r>
            <a:r>
              <a:rPr sz="2000" dirty="0">
                <a:latin typeface="Calibri"/>
                <a:cs typeface="Calibri"/>
              </a:rPr>
              <a:t>or</a:t>
            </a:r>
            <a:r>
              <a:rPr sz="2000" spc="18" dirty="0">
                <a:latin typeface="Calibri"/>
                <a:cs typeface="Calibri"/>
              </a:rPr>
              <a:t> </a:t>
            </a:r>
            <a:r>
              <a:rPr sz="2000" dirty="0">
                <a:latin typeface="Calibri"/>
                <a:cs typeface="Calibri"/>
              </a:rPr>
              <a:t>branch</a:t>
            </a:r>
            <a:r>
              <a:rPr sz="2000" spc="26" dirty="0">
                <a:latin typeface="Calibri"/>
                <a:cs typeface="Calibri"/>
              </a:rPr>
              <a:t> </a:t>
            </a:r>
            <a:r>
              <a:rPr sz="2000" dirty="0">
                <a:latin typeface="Calibri"/>
                <a:cs typeface="Calibri"/>
              </a:rPr>
              <a:t>(taken</a:t>
            </a:r>
            <a:r>
              <a:rPr lang="en-US" sz="2000" dirty="0">
                <a:latin typeface="Calibri"/>
                <a:cs typeface="Calibri"/>
              </a:rPr>
              <a:t> </a:t>
            </a:r>
            <a:r>
              <a:rPr sz="2000" dirty="0">
                <a:latin typeface="Calibri"/>
                <a:cs typeface="Calibri"/>
              </a:rPr>
              <a:t>/</a:t>
            </a:r>
            <a:r>
              <a:rPr lang="en-US" sz="2000" dirty="0">
                <a:latin typeface="Calibri"/>
                <a:cs typeface="Calibri"/>
              </a:rPr>
              <a:t> </a:t>
            </a:r>
            <a:r>
              <a:rPr sz="2000" dirty="0">
                <a:latin typeface="Calibri"/>
                <a:cs typeface="Calibri"/>
              </a:rPr>
              <a:t>not-taken)</a:t>
            </a:r>
            <a:r>
              <a:rPr sz="2000" spc="22" dirty="0">
                <a:latin typeface="Calibri"/>
                <a:cs typeface="Calibri"/>
              </a:rPr>
              <a:t> </a:t>
            </a:r>
            <a:r>
              <a:rPr sz="2000" spc="-9" dirty="0">
                <a:latin typeface="Calibri"/>
                <a:cs typeface="Calibri"/>
              </a:rPr>
              <a:t>prediction</a:t>
            </a:r>
            <a:endParaRPr sz="2000" dirty="0">
              <a:latin typeface="Calibri"/>
              <a:cs typeface="Calibri"/>
            </a:endParaRPr>
          </a:p>
        </p:txBody>
      </p:sp>
      <p:grpSp>
        <p:nvGrpSpPr>
          <p:cNvPr id="11" name="Group 10">
            <a:extLst>
              <a:ext uri="{FF2B5EF4-FFF2-40B4-BE49-F238E27FC236}">
                <a16:creationId xmlns:a16="http://schemas.microsoft.com/office/drawing/2014/main" id="{EADFD768-68FA-4D89-97C3-F66EF2144043}"/>
              </a:ext>
            </a:extLst>
          </p:cNvPr>
          <p:cNvGrpSpPr/>
          <p:nvPr/>
        </p:nvGrpSpPr>
        <p:grpSpPr>
          <a:xfrm>
            <a:off x="1570848" y="2838376"/>
            <a:ext cx="5912406" cy="722713"/>
            <a:chOff x="1570848" y="2690459"/>
            <a:chExt cx="5912406" cy="722713"/>
          </a:xfrm>
        </p:grpSpPr>
        <p:sp>
          <p:nvSpPr>
            <p:cNvPr id="5" name="object 5"/>
            <p:cNvSpPr txBox="1"/>
            <p:nvPr/>
          </p:nvSpPr>
          <p:spPr>
            <a:xfrm>
              <a:off x="1570848" y="2893254"/>
              <a:ext cx="1152525" cy="317915"/>
            </a:xfrm>
            <a:prstGeom prst="rect">
              <a:avLst/>
            </a:prstGeom>
          </p:spPr>
          <p:txBody>
            <a:bodyPr vert="horz" wrap="square" lIns="0" tIns="12326" rIns="0" bIns="0" rtlCol="0">
              <a:spAutoFit/>
            </a:bodyPr>
            <a:lstStyle/>
            <a:p>
              <a:pPr marL="11206">
                <a:spcBef>
                  <a:spcPts val="97"/>
                </a:spcBef>
                <a:tabLst>
                  <a:tab pos="1001859" algn="l"/>
                </a:tabLst>
              </a:pPr>
              <a:r>
                <a:rPr sz="1985" spc="-9" dirty="0">
                  <a:latin typeface="Times New Roman"/>
                  <a:cs typeface="Times New Roman"/>
                </a:rPr>
                <a:t>Speedup</a:t>
              </a:r>
              <a:r>
                <a:rPr sz="1985" dirty="0">
                  <a:latin typeface="Times New Roman"/>
                  <a:cs typeface="Times New Roman"/>
                </a:rPr>
                <a:t>	</a:t>
              </a:r>
              <a:r>
                <a:rPr sz="1985" spc="-44" dirty="0">
                  <a:latin typeface="Symbol"/>
                  <a:cs typeface="Symbol"/>
                </a:rPr>
                <a:t></a:t>
              </a:r>
              <a:endParaRPr sz="1985" dirty="0">
                <a:latin typeface="Symbol"/>
                <a:cs typeface="Symbol"/>
              </a:endParaRPr>
            </a:p>
          </p:txBody>
        </p:sp>
        <p:sp>
          <p:nvSpPr>
            <p:cNvPr id="6" name="object 6"/>
            <p:cNvSpPr txBox="1"/>
            <p:nvPr/>
          </p:nvSpPr>
          <p:spPr>
            <a:xfrm>
              <a:off x="2851429" y="2690459"/>
              <a:ext cx="2280957" cy="694976"/>
            </a:xfrm>
            <a:prstGeom prst="rect">
              <a:avLst/>
            </a:prstGeom>
          </p:spPr>
          <p:txBody>
            <a:bodyPr vert="horz" wrap="square" lIns="0" tIns="10646" rIns="0" bIns="0" rtlCol="0">
              <a:spAutoFit/>
            </a:bodyPr>
            <a:lstStyle/>
            <a:p>
              <a:pPr marL="11206" marR="4483" indent="9526">
                <a:lnSpc>
                  <a:spcPct val="117200"/>
                </a:lnSpc>
                <a:spcBef>
                  <a:spcPts val="84"/>
                </a:spcBef>
                <a:tabLst>
                  <a:tab pos="419683" algn="l"/>
                  <a:tab pos="2268752" algn="l"/>
                </a:tabLst>
              </a:pPr>
              <a:r>
                <a:rPr sz="1985" u="sng" dirty="0">
                  <a:uFill>
                    <a:solidFill>
                      <a:srgbClr val="000000"/>
                    </a:solidFill>
                  </a:uFill>
                  <a:latin typeface="Times New Roman"/>
                  <a:cs typeface="Times New Roman"/>
                </a:rPr>
                <a:t>	Pipeline</a:t>
              </a:r>
              <a:r>
                <a:rPr sz="1985" u="sng" spc="-44" dirty="0">
                  <a:uFill>
                    <a:solidFill>
                      <a:srgbClr val="000000"/>
                    </a:solidFill>
                  </a:uFill>
                  <a:latin typeface="Times New Roman"/>
                  <a:cs typeface="Times New Roman"/>
                </a:rPr>
                <a:t> </a:t>
              </a:r>
              <a:r>
                <a:rPr sz="1985" u="sng" spc="-18" dirty="0">
                  <a:uFill>
                    <a:solidFill>
                      <a:srgbClr val="000000"/>
                    </a:solidFill>
                  </a:uFill>
                  <a:latin typeface="Times New Roman"/>
                  <a:cs typeface="Times New Roman"/>
                </a:rPr>
                <a:t>depth</a:t>
              </a:r>
              <a:r>
                <a:rPr sz="1985" u="sng" dirty="0">
                  <a:uFill>
                    <a:solidFill>
                      <a:srgbClr val="000000"/>
                    </a:solidFill>
                  </a:uFill>
                  <a:latin typeface="Times New Roman"/>
                  <a:cs typeface="Times New Roman"/>
                </a:rPr>
                <a:t>	</a:t>
              </a:r>
              <a:r>
                <a:rPr sz="1985" dirty="0">
                  <a:latin typeface="Times New Roman"/>
                  <a:cs typeface="Times New Roman"/>
                </a:rPr>
                <a:t> 1</a:t>
              </a:r>
              <a:r>
                <a:rPr sz="1985" spc="313" dirty="0">
                  <a:latin typeface="Times New Roman"/>
                  <a:cs typeface="Times New Roman"/>
                </a:rPr>
                <a:t> </a:t>
              </a:r>
              <a:r>
                <a:rPr sz="1985" dirty="0">
                  <a:latin typeface="Symbol"/>
                  <a:cs typeface="Symbol"/>
                </a:rPr>
                <a:t></a:t>
              </a:r>
              <a:r>
                <a:rPr sz="1985" spc="331" dirty="0">
                  <a:latin typeface="Times New Roman"/>
                  <a:cs typeface="Times New Roman"/>
                </a:rPr>
                <a:t> </a:t>
              </a:r>
              <a:r>
                <a:rPr sz="1985" dirty="0">
                  <a:latin typeface="Times New Roman"/>
                  <a:cs typeface="Times New Roman"/>
                </a:rPr>
                <a:t>Pipeline</a:t>
              </a:r>
              <a:r>
                <a:rPr sz="1985" spc="-26" dirty="0">
                  <a:latin typeface="Times New Roman"/>
                  <a:cs typeface="Times New Roman"/>
                </a:rPr>
                <a:t> </a:t>
              </a:r>
              <a:r>
                <a:rPr sz="1985" dirty="0">
                  <a:latin typeface="Times New Roman"/>
                  <a:cs typeface="Times New Roman"/>
                </a:rPr>
                <a:t>stall</a:t>
              </a:r>
              <a:r>
                <a:rPr sz="1985" spc="-13" dirty="0">
                  <a:latin typeface="Times New Roman"/>
                  <a:cs typeface="Times New Roman"/>
                </a:rPr>
                <a:t> </a:t>
              </a:r>
              <a:r>
                <a:rPr sz="1985" spc="-22" dirty="0">
                  <a:latin typeface="Times New Roman"/>
                  <a:cs typeface="Times New Roman"/>
                </a:rPr>
                <a:t>CPI</a:t>
              </a:r>
              <a:endParaRPr sz="1985">
                <a:latin typeface="Times New Roman"/>
                <a:cs typeface="Times New Roman"/>
              </a:endParaRPr>
            </a:p>
          </p:txBody>
        </p:sp>
        <p:sp>
          <p:nvSpPr>
            <p:cNvPr id="7" name="object 7"/>
            <p:cNvSpPr txBox="1"/>
            <p:nvPr/>
          </p:nvSpPr>
          <p:spPr>
            <a:xfrm>
              <a:off x="5254747" y="2893254"/>
              <a:ext cx="161925" cy="317915"/>
            </a:xfrm>
            <a:prstGeom prst="rect">
              <a:avLst/>
            </a:prstGeom>
          </p:spPr>
          <p:txBody>
            <a:bodyPr vert="horz" wrap="square" lIns="0" tIns="12326" rIns="0" bIns="0" rtlCol="0">
              <a:spAutoFit/>
            </a:bodyPr>
            <a:lstStyle/>
            <a:p>
              <a:pPr marL="11206">
                <a:spcBef>
                  <a:spcPts val="97"/>
                </a:spcBef>
              </a:pPr>
              <a:r>
                <a:rPr sz="1985" spc="-44" dirty="0">
                  <a:latin typeface="Symbol"/>
                  <a:cs typeface="Symbol"/>
                </a:rPr>
                <a:t></a:t>
              </a:r>
              <a:endParaRPr sz="1985">
                <a:latin typeface="Symbol"/>
                <a:cs typeface="Symbol"/>
              </a:endParaRPr>
            </a:p>
          </p:txBody>
        </p:sp>
        <p:sp>
          <p:nvSpPr>
            <p:cNvPr id="8" name="object 8"/>
            <p:cNvSpPr txBox="1"/>
            <p:nvPr/>
          </p:nvSpPr>
          <p:spPr>
            <a:xfrm>
              <a:off x="5529531" y="2778391"/>
              <a:ext cx="1950384" cy="317979"/>
            </a:xfrm>
            <a:prstGeom prst="rect">
              <a:avLst/>
            </a:prstGeom>
          </p:spPr>
          <p:txBody>
            <a:bodyPr vert="horz" wrap="square" lIns="0" tIns="12326" rIns="0" bIns="0" rtlCol="0">
              <a:spAutoFit/>
            </a:bodyPr>
            <a:lstStyle/>
            <a:p>
              <a:pPr marL="33619">
                <a:spcBef>
                  <a:spcPts val="97"/>
                </a:spcBef>
              </a:pPr>
              <a:r>
                <a:rPr sz="2978" baseline="13580" dirty="0">
                  <a:latin typeface="Times New Roman"/>
                  <a:cs typeface="Times New Roman"/>
                </a:rPr>
                <a:t>Cycle</a:t>
              </a:r>
              <a:r>
                <a:rPr sz="2978" spc="-53" baseline="13580" dirty="0">
                  <a:latin typeface="Times New Roman"/>
                  <a:cs typeface="Times New Roman"/>
                </a:rPr>
                <a:t> </a:t>
              </a:r>
              <a:r>
                <a:rPr sz="2978" spc="-13" baseline="13580" dirty="0">
                  <a:latin typeface="Times New Roman"/>
                  <a:cs typeface="Times New Roman"/>
                </a:rPr>
                <a:t>Time</a:t>
              </a:r>
              <a:r>
                <a:rPr sz="1147" spc="-9" dirty="0">
                  <a:latin typeface="Times New Roman"/>
                  <a:cs typeface="Times New Roman"/>
                </a:rPr>
                <a:t>unpipelined</a:t>
              </a:r>
              <a:endParaRPr sz="1147">
                <a:latin typeface="Times New Roman"/>
                <a:cs typeface="Times New Roman"/>
              </a:endParaRPr>
            </a:p>
          </p:txBody>
        </p:sp>
        <p:sp>
          <p:nvSpPr>
            <p:cNvPr id="9" name="object 9"/>
            <p:cNvSpPr txBox="1"/>
            <p:nvPr/>
          </p:nvSpPr>
          <p:spPr>
            <a:xfrm>
              <a:off x="5602839" y="3095257"/>
              <a:ext cx="1804707" cy="317915"/>
            </a:xfrm>
            <a:prstGeom prst="rect">
              <a:avLst/>
            </a:prstGeom>
          </p:spPr>
          <p:txBody>
            <a:bodyPr vert="horz" wrap="square" lIns="0" tIns="12326" rIns="0" bIns="0" rtlCol="0">
              <a:spAutoFit/>
            </a:bodyPr>
            <a:lstStyle/>
            <a:p>
              <a:pPr marL="33619">
                <a:spcBef>
                  <a:spcPts val="97"/>
                </a:spcBef>
              </a:pPr>
              <a:r>
                <a:rPr sz="1985" dirty="0">
                  <a:latin typeface="Times New Roman"/>
                  <a:cs typeface="Times New Roman"/>
                </a:rPr>
                <a:t>Cycle</a:t>
              </a:r>
              <a:r>
                <a:rPr sz="1985" spc="-35" dirty="0">
                  <a:latin typeface="Times New Roman"/>
                  <a:cs typeface="Times New Roman"/>
                </a:rPr>
                <a:t> </a:t>
              </a:r>
              <a:r>
                <a:rPr sz="1985" spc="-9" dirty="0">
                  <a:latin typeface="Times New Roman"/>
                  <a:cs typeface="Times New Roman"/>
                </a:rPr>
                <a:t>Time</a:t>
              </a:r>
              <a:r>
                <a:rPr sz="1721" spc="-13" baseline="-23504" dirty="0">
                  <a:latin typeface="Times New Roman"/>
                  <a:cs typeface="Times New Roman"/>
                </a:rPr>
                <a:t>pipelined</a:t>
              </a:r>
              <a:endParaRPr sz="1721" baseline="-23504">
                <a:latin typeface="Times New Roman"/>
                <a:cs typeface="Times New Roman"/>
              </a:endParaRPr>
            </a:p>
          </p:txBody>
        </p:sp>
        <p:sp>
          <p:nvSpPr>
            <p:cNvPr id="10" name="object 10"/>
            <p:cNvSpPr/>
            <p:nvPr/>
          </p:nvSpPr>
          <p:spPr>
            <a:xfrm>
              <a:off x="5551920" y="3103493"/>
              <a:ext cx="1931334" cy="0"/>
            </a:xfrm>
            <a:custGeom>
              <a:avLst/>
              <a:gdLst/>
              <a:ahLst/>
              <a:cxnLst/>
              <a:rect l="l" t="t" r="r" b="b"/>
              <a:pathLst>
                <a:path w="2188845">
                  <a:moveTo>
                    <a:pt x="0" y="0"/>
                  </a:moveTo>
                  <a:lnTo>
                    <a:pt x="2188589" y="0"/>
                  </a:lnTo>
                </a:path>
              </a:pathLst>
            </a:custGeom>
            <a:ln w="14215">
              <a:solidFill>
                <a:srgbClr val="000000"/>
              </a:solidFill>
            </a:ln>
          </p:spPr>
          <p:txBody>
            <a:bodyPr wrap="square" lIns="0" tIns="0" rIns="0" bIns="0" rtlCol="0"/>
            <a:lstStyle/>
            <a:p>
              <a:endParaRPr sz="1588"/>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500"/>
                                        <p:tgtEl>
                                          <p:spTgt spid="4">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500"/>
                                        <p:tgtEl>
                                          <p:spTgt spid="4">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500"/>
                                        <p:tgtEl>
                                          <p:spTgt spid="4">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2761ec8-7198-4440-bea0-e9dd2af28b51}" enabled="1" method="Standard" siteId="{73e15cf5-5dbb-46af-a862-753916269d73}" contentBits="0" removed="0"/>
</clbl:labelList>
</file>

<file path=docProps/app.xml><?xml version="1.0" encoding="utf-8"?>
<Properties xmlns="http://schemas.openxmlformats.org/officeDocument/2006/extended-properties" xmlns:vt="http://schemas.openxmlformats.org/officeDocument/2006/docPropsVTypes">
  <Template/>
  <TotalTime>652</TotalTime>
  <Words>7944</Words>
  <Application>Microsoft Office PowerPoint</Application>
  <PresentationFormat>On-screen Show (4:3)</PresentationFormat>
  <Paragraphs>1711</Paragraphs>
  <Slides>69</Slides>
  <Notes>37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69</vt:i4>
      </vt:variant>
    </vt:vector>
  </HeadingPairs>
  <TitlesOfParts>
    <vt:vector size="82" baseType="lpstr">
      <vt:lpstr>MS PGothic</vt:lpstr>
      <vt:lpstr>Aptos</vt:lpstr>
      <vt:lpstr>Arial</vt:lpstr>
      <vt:lpstr>Arial MT</vt:lpstr>
      <vt:lpstr>Calibri</vt:lpstr>
      <vt:lpstr>Cambria Math</vt:lpstr>
      <vt:lpstr>Comic Sans MS</vt:lpstr>
      <vt:lpstr>Consolas</vt:lpstr>
      <vt:lpstr>Courier New</vt:lpstr>
      <vt:lpstr>Symbol</vt:lpstr>
      <vt:lpstr>Times New Roman</vt:lpstr>
      <vt:lpstr>Wingdings</vt:lpstr>
      <vt:lpstr>1_Office Theme</vt:lpstr>
      <vt:lpstr>PowerPoint Presentation</vt:lpstr>
      <vt:lpstr>MIPS ISA &amp; PIPELINING - CHAPTER 1, APPENDIX A / C</vt:lpstr>
      <vt:lpstr>Outline</vt:lpstr>
      <vt:lpstr>A "Typical" RISC ISA (32-bit version)</vt:lpstr>
      <vt:lpstr>Example: MIPS</vt:lpstr>
      <vt:lpstr>Example: BEQ</vt:lpstr>
      <vt:lpstr>Example: BGEZ</vt:lpstr>
      <vt:lpstr>Pseudo-instructions</vt:lpstr>
      <vt:lpstr>MIP Registers</vt:lpstr>
      <vt:lpstr>Pseudo-instruction Examples</vt:lpstr>
      <vt:lpstr>Example 1: Conditional if</vt:lpstr>
      <vt:lpstr>Example 2: Conditional if-else</vt:lpstr>
      <vt:lpstr>Example 2: Conditional if-else (Solution)</vt:lpstr>
      <vt:lpstr>Example 3: Conditional compound condition</vt:lpstr>
      <vt:lpstr>Example 4: Conditional compound condition</vt:lpstr>
      <vt:lpstr>Example 5: Conditional switch</vt:lpstr>
      <vt:lpstr>Example 5: Conditional switch (Solution)</vt:lpstr>
      <vt:lpstr>Example 6: While loop</vt:lpstr>
      <vt:lpstr>Example 7: For loop</vt:lpstr>
      <vt:lpstr>Practice: Load and Store</vt:lpstr>
      <vt:lpstr>SPIM MIPS Simulator</vt:lpstr>
      <vt:lpstr>Data Path &amp;  Control Flow - APPENDIX A / C</vt:lpstr>
      <vt:lpstr>Data path vs. Controller</vt:lpstr>
      <vt:lpstr>Un-pipelined Implementation</vt:lpstr>
      <vt:lpstr>5 Steps of a (un-pipelined) MIPS Data Path</vt:lpstr>
      <vt:lpstr>Instruction Set Processor Controller</vt:lpstr>
      <vt:lpstr>5 Steps of a MIPS Data Path</vt:lpstr>
      <vt:lpstr>Visualizing Pipelining</vt:lpstr>
      <vt:lpstr>Review Question</vt:lpstr>
      <vt:lpstr>Review Question</vt:lpstr>
      <vt:lpstr>Review Question</vt:lpstr>
      <vt:lpstr>HAZARDS IN PIPELINING - APPENDIX C</vt:lpstr>
      <vt:lpstr>Pipelining is not quite that easy!</vt:lpstr>
      <vt:lpstr>One Memory-Port / Structural Hazards</vt:lpstr>
      <vt:lpstr>One Memory-Port / Structural Hazards</vt:lpstr>
      <vt:lpstr>One Memory-Port / Structural Hazards</vt:lpstr>
      <vt:lpstr>One Memory-Port / Structural Hazards</vt:lpstr>
      <vt:lpstr>Code Speed Up Equation for Pipelining</vt:lpstr>
      <vt:lpstr>Example: Dual-port vs. Single-port</vt:lpstr>
      <vt:lpstr>Data Hazard on Register R1 (If No Forwarding) Figure C.6</vt:lpstr>
      <vt:lpstr>Three Generic Data Hazards (1/3)</vt:lpstr>
      <vt:lpstr>Three Generic Data Hazards (2/3)</vt:lpstr>
      <vt:lpstr>Three Generic Data Hazards (3/3)</vt:lpstr>
      <vt:lpstr>Forwarding to Avoid Data Hazard</vt:lpstr>
      <vt:lpstr>HW Datapath Changes (in red) for Forwarding Figure C.27</vt:lpstr>
      <vt:lpstr>Forwarding Avoids ALU-ALU &amp; LW-SW Data Hazards Figure C.8</vt:lpstr>
      <vt:lpstr>LW-ALU Data Hazard Even with Forwarding Figure C.9</vt:lpstr>
      <vt:lpstr>Data Hazard Even with Forwarding (Similar to Figure C.10)</vt:lpstr>
      <vt:lpstr>Review Question</vt:lpstr>
      <vt:lpstr>Software Scheduling to Avoid Load Hazards</vt:lpstr>
      <vt:lpstr>Software Scheduling to Avoid Load Hazards</vt:lpstr>
      <vt:lpstr>Software Scheduling to Avoid Load Hazards</vt:lpstr>
      <vt:lpstr>Software Scheduling to Avoid Load Hazards</vt:lpstr>
      <vt:lpstr>BRANCHING SCHEMES - APPENDIX C</vt:lpstr>
      <vt:lpstr>5 Steps of a MIPS Data Path (with pipeline latches)</vt:lpstr>
      <vt:lpstr>Control Hazard on Branch - Three Cycle Stall</vt:lpstr>
      <vt:lpstr>5 Steps of a MIPS Data Path (with pipeline latches)</vt:lpstr>
      <vt:lpstr>Branch Stall Impact if Commit in Stage 4</vt:lpstr>
      <vt:lpstr>Control hazards (also see Fig. C.24, 25, 28, 29)</vt:lpstr>
      <vt:lpstr>New Pipelined MIPS Data Path: Faster Branch</vt:lpstr>
      <vt:lpstr>Stages:</vt:lpstr>
      <vt:lpstr>Review Question</vt:lpstr>
      <vt:lpstr>Four Branch Hazard Alternatives</vt:lpstr>
      <vt:lpstr>Last of Four Branch Hazard Alternatives</vt:lpstr>
      <vt:lpstr>Scheduling Branch Delay Slots (Fig C.14)</vt:lpstr>
      <vt:lpstr>Scheduling branch delay slot</vt:lpstr>
      <vt:lpstr>Evaluating Branch Alternatives</vt:lpstr>
      <vt:lpstr>But…. Delayed Branch Not Used in Modern CPUs</vt:lpstr>
      <vt:lpstr>Pipelining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 Johnson</dc:creator>
  <cp:lastModifiedBy>Richard Johnson</cp:lastModifiedBy>
  <cp:revision>289</cp:revision>
  <dcterms:created xsi:type="dcterms:W3CDTF">2025-09-07T23:26:05Z</dcterms:created>
  <dcterms:modified xsi:type="dcterms:W3CDTF">2025-09-17T17:46:25Z</dcterms:modified>
</cp:coreProperties>
</file>