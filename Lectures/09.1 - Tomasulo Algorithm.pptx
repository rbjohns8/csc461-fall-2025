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60"/>
  </p:notesMasterIdLst>
  <p:sldIdLst>
    <p:sldId id="34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50" r:id="rId12"/>
    <p:sldId id="351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B714"/>
    <a:srgbClr val="F20884"/>
    <a:srgbClr val="00A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742" autoAdjust="0"/>
  </p:normalViewPr>
  <p:slideViewPr>
    <p:cSldViewPr>
      <p:cViewPr varScale="1">
        <p:scale>
          <a:sx n="50" d="100"/>
          <a:sy n="50" d="100"/>
        </p:scale>
        <p:origin x="2170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3BC94-17DD-41ED-92C4-7553BB904AD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1BA09-83B9-4FF6-A0A3-6B7E5D13E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08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CBAE93-06AC-4832-A6F6-170F7BEDB2E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 November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CEACC0-B677-4A29-B1E6-BCE98563D55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&gt;&gt;</a:t>
            </a:r>
          </a:p>
          <a:p>
            <a:r>
              <a:rPr lang="en-AU" u="sng" dirty="0"/>
              <a:t>Instruction reordering vs. Dynamic scheduling:</a:t>
            </a:r>
          </a:p>
          <a:p>
            <a:endParaRPr lang="en-A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Instruction reordering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 merge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 interchange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 fusion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 unrolling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all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techniques used in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compiler optimization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improve program performance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altering the structure or execution order of code, particularly within loops.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(limited to a static view of the program and cannot adapt to runtime conditions)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scheduling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 the other hand, is a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hardware-based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technique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allows the processor to reorder instruction execution at runtime based on data availability and resource status.</a:t>
            </a:r>
          </a:p>
          <a:p>
            <a:endParaRPr lang="en-AU" b="0" dirty="0"/>
          </a:p>
          <a:p>
            <a:r>
              <a:rPr lang="en-AU" b="0" i="1" dirty="0"/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 the processor to respond to unpredictable events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 cache misses or branch mispredictions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executing other ready instructions</a:t>
            </a:r>
            <a:r>
              <a:rPr lang="en-AU" b="0" i="1" dirty="0"/>
              <a:t>)</a:t>
            </a:r>
          </a:p>
          <a:p>
            <a:endParaRPr lang="en-AU" b="0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Advantages</a:t>
            </a:r>
            <a:r>
              <a:rPr lang="en-US" b="1" spc="141" dirty="0"/>
              <a:t> </a:t>
            </a:r>
            <a:r>
              <a:rPr lang="en-US" b="1" dirty="0"/>
              <a:t>of</a:t>
            </a:r>
            <a:r>
              <a:rPr lang="en-US" b="1" spc="141" dirty="0"/>
              <a:t> </a:t>
            </a:r>
            <a:r>
              <a:rPr lang="en-US" b="1" dirty="0"/>
              <a:t>Dynamic</a:t>
            </a:r>
            <a:r>
              <a:rPr lang="en-US" b="1" spc="141" dirty="0"/>
              <a:t> </a:t>
            </a:r>
            <a:r>
              <a:rPr lang="en-US" b="1" spc="-10" dirty="0"/>
              <a:t>Scheduling:</a:t>
            </a:r>
            <a:endParaRPr lang="en-US" spc="-10" dirty="0"/>
          </a:p>
          <a:p>
            <a:r>
              <a:rPr lang="en-US" spc="-10" dirty="0"/>
              <a:t>1. </a:t>
            </a:r>
            <a:r>
              <a:rPr lang="en-US" dirty="0"/>
              <a:t>Hardware </a:t>
            </a:r>
            <a:r>
              <a:rPr lang="en-US" u="sng" dirty="0"/>
              <a:t>dynamically rearranges</a:t>
            </a:r>
            <a:r>
              <a:rPr lang="en-US" dirty="0"/>
              <a:t> instruction execution (out-of-order execution) to </a:t>
            </a:r>
            <a:r>
              <a:rPr lang="en-US" u="sng" dirty="0"/>
              <a:t>reduce stalls</a:t>
            </a:r>
            <a:r>
              <a:rPr lang="en-US" dirty="0"/>
              <a:t>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spc="-10" dirty="0"/>
              <a:t>(arrow down)</a:t>
            </a:r>
          </a:p>
          <a:p>
            <a:r>
              <a:rPr lang="en-US" dirty="0"/>
              <a:t>2. Handles </a:t>
            </a:r>
            <a:r>
              <a:rPr lang="en-US" u="sng" dirty="0"/>
              <a:t>unknown</a:t>
            </a:r>
            <a:r>
              <a:rPr lang="en-US" dirty="0"/>
              <a:t> compile-time </a:t>
            </a:r>
            <a:r>
              <a:rPr lang="en-US" u="sng" dirty="0"/>
              <a:t>dependences</a:t>
            </a:r>
            <a:r>
              <a:rPr lang="en-US" dirty="0"/>
              <a:t> and tolerates </a:t>
            </a:r>
            <a:r>
              <a:rPr lang="en-US" u="sng" dirty="0"/>
              <a:t>unpredictable delays</a:t>
            </a:r>
            <a:r>
              <a:rPr lang="en-US" dirty="0"/>
              <a:t> (e.g., cache misses).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spc="-10" dirty="0"/>
              <a:t>(arrow down)</a:t>
            </a:r>
          </a:p>
          <a:p>
            <a:r>
              <a:rPr lang="en-US" dirty="0"/>
              <a:t>3. Simplifies the </a:t>
            </a:r>
            <a:r>
              <a:rPr lang="en-US" u="sng" dirty="0"/>
              <a:t>compiler</a:t>
            </a:r>
            <a:r>
              <a:rPr lang="en-US" b="0" u="none" dirty="0"/>
              <a:t>, allows </a:t>
            </a:r>
            <a:r>
              <a:rPr lang="en-US" u="sng" dirty="0"/>
              <a:t>portable </a:t>
            </a:r>
            <a:r>
              <a:rPr lang="en-US" b="0" u="none" dirty="0"/>
              <a:t>compilations</a:t>
            </a:r>
            <a:r>
              <a:rPr lang="en-US" u="none" dirty="0"/>
              <a:t>,</a:t>
            </a:r>
            <a:r>
              <a:rPr lang="en-US" dirty="0"/>
              <a:t> and enables </a:t>
            </a:r>
            <a:r>
              <a:rPr lang="en-US" u="sng" dirty="0"/>
              <a:t>hardware speculation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87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Key idea: </a:t>
            </a:r>
          </a:p>
          <a:p>
            <a:r>
              <a:rPr lang="en-US" dirty="0"/>
              <a:t>Allow instructions behind a stall to proceed,</a:t>
            </a:r>
            <a:endParaRPr lang="en-US" i="1" dirty="0"/>
          </a:p>
          <a:p>
            <a:r>
              <a:rPr lang="en-US" dirty="0"/>
              <a:t>which enables </a:t>
            </a:r>
            <a:r>
              <a:rPr lang="en-US" u="sng" dirty="0"/>
              <a:t>out-of-order execution</a:t>
            </a:r>
            <a:r>
              <a:rPr lang="en-US" dirty="0"/>
              <a:t> </a:t>
            </a:r>
          </a:p>
          <a:p>
            <a:r>
              <a:rPr lang="en-US" dirty="0"/>
              <a:t>and allows </a:t>
            </a:r>
            <a:r>
              <a:rPr lang="en-US" u="sng" dirty="0"/>
              <a:t>out of-order completion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dirty="0"/>
              <a:t>Instructions are still </a:t>
            </a:r>
            <a:r>
              <a:rPr lang="en-US" u="sng" dirty="0"/>
              <a:t>issued in-order.</a:t>
            </a:r>
          </a:p>
          <a:p>
            <a:endParaRPr lang="en-US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  <a:endParaRPr lang="en-US" dirty="0"/>
          </a:p>
          <a:p>
            <a:r>
              <a:rPr lang="en-US" u="sng" dirty="0"/>
              <a:t>Instruction pipelining</a:t>
            </a:r>
            <a:r>
              <a:rPr lang="en-US" dirty="0"/>
              <a:t> is still tracked during a long running execution.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  <a:endParaRPr lang="en-US" b="1" dirty="0"/>
          </a:p>
          <a:p>
            <a:r>
              <a:rPr lang="en-US" b="1" dirty="0"/>
              <a:t>Note:</a:t>
            </a:r>
            <a:r>
              <a:rPr lang="en-US" dirty="0"/>
              <a:t> </a:t>
            </a:r>
          </a:p>
          <a:p>
            <a:r>
              <a:rPr lang="en-US" dirty="0"/>
              <a:t>However, dynamic scheduling creates </a:t>
            </a:r>
          </a:p>
          <a:p>
            <a:r>
              <a:rPr lang="en-US" dirty="0"/>
              <a:t>WAR (Write-After-Read) and </a:t>
            </a:r>
          </a:p>
          <a:p>
            <a:r>
              <a:rPr lang="en-US" dirty="0"/>
              <a:t>WAW (Write-After-Write) hazards, </a:t>
            </a:r>
          </a:p>
          <a:p>
            <a:r>
              <a:rPr lang="en-US" dirty="0"/>
              <a:t>complicating exception handling.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46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Here is an example to illustrate the </a:t>
            </a:r>
          </a:p>
          <a:p>
            <a:r>
              <a:rPr lang="en-US" dirty="0"/>
              <a:t>existence of </a:t>
            </a:r>
            <a:r>
              <a:rPr lang="en-US" b="1" dirty="0"/>
              <a:t>anti-</a:t>
            </a:r>
            <a:r>
              <a:rPr lang="en-US" dirty="0"/>
              <a:t>, </a:t>
            </a:r>
            <a:r>
              <a:rPr lang="en-US" b="1" dirty="0"/>
              <a:t>output</a:t>
            </a:r>
            <a:r>
              <a:rPr lang="en-US" dirty="0"/>
              <a:t>, and </a:t>
            </a:r>
            <a:r>
              <a:rPr lang="en-US" b="1" dirty="0"/>
              <a:t>true</a:t>
            </a:r>
            <a:r>
              <a:rPr lang="en-US" dirty="0"/>
              <a:t> dependences.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87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Anti-dependence (WAR):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Between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ADD.D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SUB.D</a:t>
            </a:r>
            <a:r>
              <a:rPr lang="en-US" dirty="0"/>
              <a:t> (on F8).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Output dependence (WAW):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Between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ADD.D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MUL.D</a:t>
            </a:r>
            <a:r>
              <a:rPr lang="en-US" dirty="0"/>
              <a:t> (on F6).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True dependence (RAW):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Between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DIV.D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ADD.D</a:t>
            </a:r>
            <a:r>
              <a:rPr lang="en-US" dirty="0"/>
              <a:t> (on F0).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05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Recall the basic 5-stage pipeline checked for both </a:t>
            </a:r>
            <a:r>
              <a:rPr lang="en-US" u="sng" dirty="0"/>
              <a:t>structural</a:t>
            </a:r>
            <a:r>
              <a:rPr lang="en-US" dirty="0"/>
              <a:t> and </a:t>
            </a:r>
            <a:r>
              <a:rPr lang="en-US" u="sng" dirty="0"/>
              <a:t>data hazards</a:t>
            </a:r>
            <a:r>
              <a:rPr lang="en-US" dirty="0"/>
              <a:t> in the instruction </a:t>
            </a:r>
            <a:r>
              <a:rPr lang="en-US" u="sng" dirty="0"/>
              <a:t>decode</a:t>
            </a:r>
            <a:r>
              <a:rPr lang="en-US" dirty="0"/>
              <a:t> stage.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sz="12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Dynamic</a:t>
            </a:r>
            <a:r>
              <a:rPr lang="en-US" sz="120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12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scheduling</a:t>
            </a:r>
            <a:r>
              <a:rPr lang="en-US" sz="120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12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hardware</a:t>
            </a:r>
            <a:r>
              <a:rPr lang="en-US" sz="120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s</a:t>
            </a:r>
            <a:r>
              <a:rPr lang="en-US" dirty="0"/>
              <a:t>plits the </a:t>
            </a:r>
          </a:p>
          <a:p>
            <a:r>
              <a:rPr lang="en-US" dirty="0"/>
              <a:t>Instruction Decode (ID) pipeline stage into two: </a:t>
            </a:r>
          </a:p>
          <a:p>
            <a:r>
              <a:rPr lang="en-US" b="1" dirty="0"/>
              <a:t>Issue</a:t>
            </a:r>
            <a:r>
              <a:rPr lang="en-US" dirty="0"/>
              <a:t> (decode, check structural hazards) and </a:t>
            </a:r>
          </a:p>
          <a:p>
            <a:r>
              <a:rPr lang="en-US" b="1" dirty="0"/>
              <a:t>Read Operands</a:t>
            </a:r>
            <a:r>
              <a:rPr lang="en-US" dirty="0"/>
              <a:t> (wait for no data hazards, then read).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69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Tomasulo’s algorithm</a:t>
            </a:r>
            <a:r>
              <a:rPr lang="en-US" dirty="0"/>
              <a:t> was invented for the IBM 360/91 (in 1966) due to long latencies and floating-point delays.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(arrow down)</a:t>
            </a:r>
            <a:endParaRPr lang="en-US" sz="1200" i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r>
              <a:rPr lang="en-US" u="sng" dirty="0"/>
              <a:t>Main innovation: </a:t>
            </a:r>
          </a:p>
          <a:p>
            <a:r>
              <a:rPr lang="en-US" b="0" dirty="0"/>
              <a:t>Uses </a:t>
            </a:r>
            <a:r>
              <a:rPr lang="en-US" b="1" dirty="0"/>
              <a:t>register renaming in hardware</a:t>
            </a:r>
            <a:r>
              <a:rPr lang="en-US" dirty="0"/>
              <a:t> to overcome the small number of physical registers.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(arrow down)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Q.</a:t>
            </a:r>
            <a:r>
              <a:rPr lang="en-US" dirty="0"/>
              <a:t> So </a:t>
            </a:r>
            <a:r>
              <a:rPr lang="en-US" sz="12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why</a:t>
            </a:r>
            <a:r>
              <a:rPr lang="en-US" sz="120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do we s</a:t>
            </a:r>
            <a:r>
              <a:rPr lang="en-US" sz="12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tudy</a:t>
            </a:r>
            <a:r>
              <a:rPr lang="en-US" sz="1200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12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</a:t>
            </a:r>
            <a:r>
              <a:rPr lang="en-US" sz="1200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120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computer from </a:t>
            </a:r>
            <a:r>
              <a:rPr lang="en-US" sz="12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1966</a:t>
            </a:r>
            <a:r>
              <a:rPr lang="en-US" sz="120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spc="-1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(arrow down)</a:t>
            </a:r>
            <a:endParaRPr lang="en-US" sz="1200" i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r>
              <a:rPr lang="en-US" b="1" dirty="0"/>
              <a:t>A. </a:t>
            </a:r>
            <a:r>
              <a:rPr lang="en-US" dirty="0"/>
              <a:t>Descendants are used in modern CPUs (e.g., Pentium 4, Alpha 21264).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43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The control and buffers are distributed with Functional Units (FU).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  <a:endParaRPr lang="en-US" dirty="0"/>
          </a:p>
          <a:p>
            <a:r>
              <a:rPr lang="en-US" dirty="0"/>
              <a:t>Buffers are called </a:t>
            </a:r>
            <a:r>
              <a:rPr lang="en-US" b="1" dirty="0"/>
              <a:t>Reservation Stations (RSs)</a:t>
            </a:r>
            <a:r>
              <a:rPr lang="en-US" dirty="0"/>
              <a:t>. </a:t>
            </a:r>
          </a:p>
          <a:p>
            <a:r>
              <a:rPr lang="en-US" u="sng" dirty="0"/>
              <a:t>Register renaming</a:t>
            </a:r>
            <a:r>
              <a:rPr lang="en-US" dirty="0"/>
              <a:t> avoids WAR and WAW hazards. 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dirty="0"/>
              <a:t>Results are broadcast on the </a:t>
            </a:r>
            <a:r>
              <a:rPr lang="en-US" b="1" dirty="0"/>
              <a:t>Common Data Bus (CDB)</a:t>
            </a:r>
            <a:r>
              <a:rPr lang="en-US" dirty="0"/>
              <a:t>, </a:t>
            </a:r>
          </a:p>
          <a:p>
            <a:r>
              <a:rPr lang="en-US" dirty="0"/>
              <a:t>which avoids RAW hazards by executing instructions only when operands are available.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r>
              <a:rPr lang="en-US" b="0" dirty="0"/>
              <a:t>Loads/Stores are scheduled as </a:t>
            </a:r>
            <a:r>
              <a:rPr lang="en-US" b="0" u="sng" dirty="0"/>
              <a:t>functional units</a:t>
            </a:r>
            <a:r>
              <a:rPr lang="en-US" b="0" dirty="0"/>
              <a:t> using </a:t>
            </a:r>
            <a:r>
              <a:rPr lang="en-US" b="0" u="sng" dirty="0"/>
              <a:t>reservation stations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Execution aggressively proceeds past branches using prediction,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allowing both integer and Floating-Point (FP) instructions to be issued speculatively.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5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This figure shows the block diagram including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FP Adders,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FP Multipliers,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Load/Store Buffers,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Reservation Stations,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FP Registers,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the Common Data Bus (CDB)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09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u="sng" dirty="0"/>
              <a:t>Three Stages of Tomasulo Algorithm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1" dirty="0"/>
              <a:t>Issue:</a:t>
            </a:r>
            <a:r>
              <a:rPr lang="en-US" dirty="0"/>
              <a:t> Decode and issue instruction if a Reservation Station (RS) is free (structural hazard check) and perform register renaming.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(arrow down)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b="1" dirty="0"/>
              <a:t>Execute (EX):</a:t>
            </a:r>
            <a:r>
              <a:rPr lang="en-US" dirty="0"/>
              <a:t> Start when both operands are ready. Otherwise, monitor the CDB.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(arrow down)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b="1" dirty="0"/>
              <a:t>Write Result (WB):</a:t>
            </a:r>
            <a:r>
              <a:rPr lang="en-US" dirty="0"/>
              <a:t> Broadcast result on CDB and mark the RS as available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(arrow down)</a:t>
            </a:r>
          </a:p>
          <a:p>
            <a:pPr marL="0" indent="0">
              <a:buNone/>
            </a:pPr>
            <a:r>
              <a:rPr lang="en-US" dirty="0"/>
              <a:t>The architecture differentiates between a standard Normal Data Bus (where data specifies the </a:t>
            </a:r>
            <a:r>
              <a:rPr lang="en-US" i="1" dirty="0"/>
              <a:t>destination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and the specialized Common Data Bus (CDB), where data specifies the </a:t>
            </a:r>
            <a:r>
              <a:rPr lang="en-US" i="1" dirty="0"/>
              <a:t>source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CDB is a 68-bit broadcast channel (64 bits of data + 4 bits for the Functional Unit source address). </a:t>
            </a:r>
          </a:p>
          <a:p>
            <a:pPr marL="0" indent="0">
              <a:buNone/>
            </a:pPr>
            <a:r>
              <a:rPr lang="en-US" dirty="0"/>
              <a:t>Units watching the CDB only write the result if the source address matches the one they are waiting for.</a:t>
            </a:r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u="none" kern="12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Here are the execution </a:t>
            </a:r>
            <a:r>
              <a:rPr lang="en-US" sz="1200" u="sng" kern="12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completion</a:t>
            </a:r>
            <a:r>
              <a:rPr lang="en-US" sz="1200" u="sng" kern="1200" spc="-68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lang="en-US" sz="1200" u="sng" kern="12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latencies</a:t>
            </a:r>
            <a:r>
              <a:rPr lang="en-US" sz="120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12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 following </a:t>
            </a:r>
            <a:r>
              <a:rPr lang="en-US" sz="120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example</a:t>
            </a:r>
            <a:r>
              <a:rPr lang="en-US" sz="12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:</a:t>
            </a:r>
            <a:r>
              <a:rPr lang="en-US" sz="120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1cc</a:t>
            </a:r>
            <a:r>
              <a:rPr lang="en-US" sz="110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lang="en-US" sz="110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LD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2cc</a:t>
            </a:r>
            <a:r>
              <a:rPr lang="en-US" sz="110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lang="en-US" sz="110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FP </a:t>
            </a: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ADD</a:t>
            </a:r>
            <a:r>
              <a:rPr lang="en-US" sz="110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(</a:t>
            </a:r>
            <a:r>
              <a:rPr lang="en-US" sz="1100" kern="1200" spc="-29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+,-)</a:t>
            </a:r>
            <a:endParaRPr lang="en-US" sz="1100" kern="1200" spc="393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10cc</a:t>
            </a:r>
            <a:r>
              <a:rPr lang="en-US" sz="110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lang="en-US" sz="110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FP </a:t>
            </a: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MUL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40cc</a:t>
            </a:r>
            <a:r>
              <a:rPr lang="en-US" sz="110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110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lang="en-US" sz="110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FP </a:t>
            </a:r>
            <a:r>
              <a:rPr lang="en-US" sz="110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DIV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284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u="sng" dirty="0"/>
              <a:t>Components of a Reservation Station are</a:t>
            </a:r>
            <a:r>
              <a:rPr lang="en-US" u="none" dirty="0"/>
              <a:t>:</a:t>
            </a:r>
            <a:endParaRPr lang="en-US" b="0" u="none" dirty="0"/>
          </a:p>
          <a:p>
            <a:endParaRPr lang="en-US" b="0" dirty="0"/>
          </a:p>
          <a:p>
            <a:r>
              <a:rPr lang="en-US" b="1" dirty="0"/>
              <a:t>Op:</a:t>
            </a:r>
            <a:r>
              <a:rPr lang="en-US" dirty="0"/>
              <a:t> The operation to be perform.</a:t>
            </a:r>
          </a:p>
          <a:p>
            <a:endParaRPr lang="en-US" dirty="0"/>
          </a:p>
          <a:p>
            <a:r>
              <a:rPr lang="en-US" b="1" dirty="0" err="1"/>
              <a:t>Vj</a:t>
            </a:r>
            <a:r>
              <a:rPr lang="en-US" b="1" dirty="0"/>
              <a:t>, </a:t>
            </a:r>
            <a:r>
              <a:rPr lang="en-US" b="1" dirty="0" err="1"/>
              <a:t>Vk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u="sng" dirty="0"/>
              <a:t>Values</a:t>
            </a:r>
            <a:r>
              <a:rPr lang="en-US" dirty="0"/>
              <a:t> of source operands. </a:t>
            </a:r>
          </a:p>
          <a:p>
            <a:r>
              <a:rPr lang="en-US" b="1" dirty="0" err="1"/>
              <a:t>Qj</a:t>
            </a:r>
            <a:r>
              <a:rPr lang="en-US" b="1" dirty="0"/>
              <a:t>, </a:t>
            </a:r>
            <a:r>
              <a:rPr lang="en-US" b="1" dirty="0" err="1"/>
              <a:t>Qk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Reservation stations that will produce the source operands (0 if ready). </a:t>
            </a:r>
          </a:p>
          <a:p>
            <a:endParaRPr lang="en-US" dirty="0">
              <a:latin typeface="+mn-lt"/>
            </a:endParaRPr>
          </a:p>
          <a:p>
            <a:pPr marL="12326" indent="0" algn="l" defTabSz="502920" rtl="0">
              <a:spcBef>
                <a:spcPts val="543"/>
              </a:spcBef>
              <a:spcAft>
                <a:spcPts val="600"/>
              </a:spcAft>
              <a:buFontTx/>
              <a:buNone/>
              <a:tabLst>
                <a:tab pos="310643" algn="l"/>
              </a:tabLst>
            </a:pPr>
            <a:r>
              <a:rPr lang="en-US" sz="1200" b="1" kern="1200" dirty="0">
                <a:solidFill>
                  <a:srgbClr val="3366FF"/>
                </a:solidFill>
                <a:latin typeface="+mn-lt"/>
                <a:ea typeface="+mn-ea"/>
                <a:cs typeface="Calibri"/>
              </a:rPr>
              <a:t>Busy</a:t>
            </a:r>
            <a:r>
              <a:rPr lang="en-US" sz="1200" b="1" kern="1200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:</a:t>
            </a:r>
            <a:r>
              <a:rPr lang="en-US" sz="1200" kern="1200" spc="-78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 </a:t>
            </a:r>
            <a:r>
              <a:rPr lang="en-US" sz="1200" kern="1200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Indicates</a:t>
            </a:r>
            <a:r>
              <a:rPr lang="en-US" sz="1200" kern="1200" spc="-68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 </a:t>
            </a:r>
            <a:r>
              <a:rPr lang="en-US" sz="1200" kern="1200" spc="-10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reservation</a:t>
            </a:r>
            <a:r>
              <a:rPr lang="en-US" sz="1200" kern="1200" spc="-73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 </a:t>
            </a:r>
            <a:r>
              <a:rPr lang="en-US" sz="1200" kern="1200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station</a:t>
            </a:r>
            <a:r>
              <a:rPr lang="en-US" sz="1200" kern="1200" spc="-68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 </a:t>
            </a:r>
            <a:r>
              <a:rPr lang="en-US" sz="1200" kern="1200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or</a:t>
            </a:r>
            <a:r>
              <a:rPr lang="en-US" sz="1200" kern="1200" spc="-73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 </a:t>
            </a:r>
            <a:r>
              <a:rPr lang="en-US" sz="1200" kern="1200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FU</a:t>
            </a:r>
            <a:r>
              <a:rPr lang="en-US" sz="1200" kern="1200" spc="-73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 </a:t>
            </a:r>
            <a:r>
              <a:rPr lang="en-US" sz="1200" kern="1200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is</a:t>
            </a:r>
            <a:r>
              <a:rPr lang="en-US" sz="1200" kern="1200" spc="-73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 </a:t>
            </a:r>
            <a:r>
              <a:rPr lang="en-US" sz="1200" kern="1200" spc="-20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busy.</a:t>
            </a:r>
            <a:endParaRPr lang="en-US" sz="1200" kern="1200" dirty="0">
              <a:solidFill>
                <a:prstClr val="black"/>
              </a:solidFill>
              <a:latin typeface="+mn-lt"/>
              <a:ea typeface="+mn-ea"/>
              <a:cs typeface="Calibri"/>
            </a:endParaRPr>
          </a:p>
          <a:p>
            <a:pPr marL="12326" indent="0" algn="l" defTabSz="502920" rtl="0">
              <a:spcBef>
                <a:spcPts val="674"/>
              </a:spcBef>
              <a:buFontTx/>
              <a:buNone/>
              <a:tabLst>
                <a:tab pos="310643" algn="l"/>
              </a:tabLst>
            </a:pPr>
            <a:r>
              <a:rPr lang="en-US" sz="1200" b="1" kern="1200" dirty="0">
                <a:solidFill>
                  <a:srgbClr val="3366FF"/>
                </a:solidFill>
                <a:latin typeface="+mn-lt"/>
                <a:ea typeface="+mn-ea"/>
                <a:cs typeface="Calibri"/>
              </a:rPr>
              <a:t>Time</a:t>
            </a:r>
            <a:r>
              <a:rPr lang="en-US" sz="1200" b="1" kern="1200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:</a:t>
            </a:r>
            <a:r>
              <a:rPr lang="en-US" sz="1200" kern="1200" spc="-63" dirty="0">
                <a:solidFill>
                  <a:prstClr val="black"/>
                </a:solidFill>
                <a:latin typeface="+mn-lt"/>
                <a:ea typeface="+mn-ea"/>
                <a:cs typeface="Calibri"/>
              </a:rPr>
              <a:t> A countdown until the execution is complete.</a:t>
            </a:r>
          </a:p>
          <a:p>
            <a:pPr marL="12326" indent="0" algn="l" defTabSz="502920" rtl="0">
              <a:spcBef>
                <a:spcPts val="674"/>
              </a:spcBef>
              <a:buFontTx/>
              <a:buNone/>
              <a:tabLst>
                <a:tab pos="310643" algn="l"/>
              </a:tabLst>
            </a:pPr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Register Result Status</a:t>
            </a:r>
            <a:r>
              <a:rPr lang="en-US" dirty="0">
                <a:latin typeface="+mn-lt"/>
              </a:rPr>
              <a:t> table tracks which FU is writing to each register.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33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Here is a step-by-step example execution demonstrating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in-order issue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out-of-order execution start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</a:t>
            </a:r>
            <a:r>
              <a:rPr lang="en-US" b="1" dirty="0"/>
              <a:t>out-of-order completion</a:t>
            </a:r>
            <a:r>
              <a:rPr lang="en-US" dirty="0"/>
              <a:t> </a:t>
            </a:r>
          </a:p>
          <a:p>
            <a:r>
              <a:rPr lang="en-US" dirty="0"/>
              <a:t>using the three stages.</a:t>
            </a:r>
          </a:p>
          <a:p>
            <a:endParaRPr lang="en-US" dirty="0"/>
          </a:p>
          <a:p>
            <a:r>
              <a:rPr lang="en-US" i="1" dirty="0"/>
              <a:t>(Explain the example diagram.)</a:t>
            </a:r>
          </a:p>
          <a:p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70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</a:t>
            </a:r>
          </a:p>
          <a:p>
            <a:r>
              <a:rPr lang="en-US" dirty="0"/>
              <a:t>The load buffers can support multiple outstanding load instructions.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86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 indent="0">
              <a:lnSpc>
                <a:spcPts val="2400"/>
              </a:lnSpc>
              <a:spcBef>
                <a:spcPts val="380"/>
              </a:spcBef>
              <a:buFont typeface="Arial MT"/>
              <a:buNone/>
              <a:tabLst>
                <a:tab pos="320675" algn="l"/>
              </a:tabLst>
            </a:pPr>
            <a:r>
              <a:rPr lang="en-US" sz="1200" b="0" u="sng" spc="-20" dirty="0">
                <a:solidFill>
                  <a:srgbClr val="0332B7"/>
                </a:solidFill>
                <a:latin typeface="+mn-lt"/>
                <a:cs typeface="Arial"/>
              </a:rPr>
              <a:t>Note: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</a:p>
          <a:p>
            <a:pPr marL="184150" marR="5080" indent="-171450">
              <a:lnSpc>
                <a:spcPts val="2400"/>
              </a:lnSpc>
              <a:spcBef>
                <a:spcPts val="380"/>
              </a:spcBef>
              <a:buFont typeface="Arial" panose="020B0604020202020204" pitchFamily="34" charset="0"/>
              <a:buChar char="•"/>
              <a:tabLst>
                <a:tab pos="320675" algn="l"/>
              </a:tabLst>
            </a:pPr>
            <a:r>
              <a:rPr lang="en-US" sz="1200" b="0" spc="-20" dirty="0">
                <a:solidFill>
                  <a:srgbClr val="0332B7"/>
                </a:solidFill>
                <a:latin typeface="+mn-lt"/>
                <a:cs typeface="Arial"/>
              </a:rPr>
              <a:t>Register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0" dirty="0">
                <a:solidFill>
                  <a:srgbClr val="0332B7"/>
                </a:solidFill>
                <a:latin typeface="+mn-lt"/>
                <a:cs typeface="Arial"/>
              </a:rPr>
              <a:t>names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are</a:t>
            </a:r>
            <a:r>
              <a:rPr lang="en-US" sz="1200" b="0" spc="-11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0332B7"/>
                </a:solidFill>
                <a:latin typeface="+mn-lt"/>
                <a:cs typeface="Arial"/>
              </a:rPr>
              <a:t>removed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30" dirty="0">
                <a:solidFill>
                  <a:srgbClr val="0332B7"/>
                </a:solidFill>
                <a:latin typeface="+mn-lt"/>
                <a:cs typeface="Arial"/>
              </a:rPr>
              <a:t>(“renamed”)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in</a:t>
            </a:r>
            <a:r>
              <a:rPr lang="en-US" sz="1200" b="0" spc="-11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RSs</a:t>
            </a:r>
            <a:endParaRPr lang="en-US" sz="1200" b="0" spc="-100" dirty="0">
              <a:solidFill>
                <a:srgbClr val="0332B7"/>
              </a:solidFill>
              <a:latin typeface="+mn-lt"/>
              <a:cs typeface="Arial"/>
            </a:endParaRPr>
          </a:p>
          <a:p>
            <a:pPr marL="184150" marR="5080" indent="-171450">
              <a:lnSpc>
                <a:spcPts val="2400"/>
              </a:lnSpc>
              <a:spcBef>
                <a:spcPts val="380"/>
              </a:spcBef>
              <a:buFont typeface="Arial" panose="020B0604020202020204" pitchFamily="34" charset="0"/>
              <a:buChar char="•"/>
              <a:tabLst>
                <a:tab pos="320675" algn="l"/>
              </a:tabLst>
            </a:pP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MULTD issued</a:t>
            </a:r>
            <a:endParaRPr lang="en-US" sz="1200" b="0" dirty="0">
              <a:latin typeface="+mn-lt"/>
              <a:cs typeface="Arial"/>
            </a:endParaRPr>
          </a:p>
          <a:p>
            <a:pPr marL="12700" indent="0">
              <a:lnSpc>
                <a:spcPct val="100000"/>
              </a:lnSpc>
              <a:spcBef>
                <a:spcPts val="415"/>
              </a:spcBef>
              <a:buFont typeface="Arial MT"/>
              <a:buNone/>
              <a:tabLst>
                <a:tab pos="320040" algn="l"/>
              </a:tabLst>
            </a:pPr>
            <a:endParaRPr lang="en-US" sz="1200" b="0" spc="-20" dirty="0">
              <a:solidFill>
                <a:srgbClr val="0332B7"/>
              </a:solidFill>
              <a:latin typeface="+mn-lt"/>
              <a:cs typeface="Arial"/>
            </a:endParaRPr>
          </a:p>
          <a:p>
            <a:pPr marL="12700" indent="0">
              <a:lnSpc>
                <a:spcPct val="100000"/>
              </a:lnSpc>
              <a:spcBef>
                <a:spcPts val="415"/>
              </a:spcBef>
              <a:buFont typeface="Arial MT"/>
              <a:buNone/>
              <a:tabLst>
                <a:tab pos="320040" algn="l"/>
              </a:tabLst>
            </a:pPr>
            <a:r>
              <a:rPr lang="en-US" sz="1200" b="1" spc="-20" dirty="0">
                <a:solidFill>
                  <a:srgbClr val="0332B7"/>
                </a:solidFill>
                <a:latin typeface="+mn-lt"/>
                <a:cs typeface="Arial"/>
              </a:rPr>
              <a:t>Load1</a:t>
            </a:r>
            <a:r>
              <a:rPr lang="en-US" sz="1200" b="0" spc="-10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30" dirty="0">
                <a:solidFill>
                  <a:srgbClr val="0332B7"/>
                </a:solidFill>
                <a:latin typeface="+mn-lt"/>
                <a:cs typeface="Arial"/>
              </a:rPr>
              <a:t>completing execution</a:t>
            </a:r>
          </a:p>
          <a:p>
            <a:pPr marL="12700" indent="0">
              <a:lnSpc>
                <a:spcPct val="100000"/>
              </a:lnSpc>
              <a:spcBef>
                <a:spcPts val="415"/>
              </a:spcBef>
              <a:buFont typeface="Arial MT"/>
              <a:buNone/>
              <a:tabLst>
                <a:tab pos="320040" algn="l"/>
              </a:tabLst>
            </a:pPr>
            <a:r>
              <a:rPr lang="en-US" sz="1200" b="1" spc="-30" dirty="0">
                <a:solidFill>
                  <a:srgbClr val="0332B7"/>
                </a:solidFill>
                <a:latin typeface="+mn-lt"/>
                <a:cs typeface="Arial"/>
              </a:rPr>
              <a:t>Q. </a:t>
            </a:r>
            <a:r>
              <a:rPr lang="en-US" sz="1200" b="0" spc="-30" dirty="0">
                <a:solidFill>
                  <a:srgbClr val="0332B7"/>
                </a:solidFill>
                <a:latin typeface="+mn-lt"/>
                <a:cs typeface="Arial"/>
              </a:rPr>
              <a:t>W</a:t>
            </a:r>
            <a:r>
              <a:rPr lang="en-US" sz="1200" b="0" spc="-20" dirty="0">
                <a:solidFill>
                  <a:srgbClr val="0332B7"/>
                </a:solidFill>
                <a:latin typeface="+mn-lt"/>
                <a:cs typeface="Arial"/>
              </a:rPr>
              <a:t>hat</a:t>
            </a:r>
            <a:r>
              <a:rPr lang="en-US" sz="1200" b="0" spc="-9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is</a:t>
            </a:r>
            <a:r>
              <a:rPr lang="en-US" sz="1200" b="0" spc="-10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0332B7"/>
                </a:solidFill>
                <a:latin typeface="+mn-lt"/>
                <a:cs typeface="Arial"/>
              </a:rPr>
              <a:t>waiting</a:t>
            </a:r>
            <a:r>
              <a:rPr lang="en-US" sz="1200" b="0" spc="-10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for</a:t>
            </a:r>
            <a:r>
              <a:rPr lang="en-US" sz="1200" b="0" spc="-9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Load1?</a:t>
            </a:r>
          </a:p>
          <a:p>
            <a:pPr marL="12700" indent="0">
              <a:lnSpc>
                <a:spcPct val="100000"/>
              </a:lnSpc>
              <a:spcBef>
                <a:spcPts val="415"/>
              </a:spcBef>
              <a:buFont typeface="Arial MT"/>
              <a:buNone/>
              <a:tabLst>
                <a:tab pos="320040" algn="l"/>
              </a:tabLst>
            </a:pPr>
            <a:r>
              <a:rPr lang="en-US" b="1" dirty="0"/>
              <a:t>A.</a:t>
            </a:r>
            <a:r>
              <a:rPr lang="en-US" dirty="0"/>
              <a:t> No FUs. (instruction stream has not issued SUBD yet)</a:t>
            </a:r>
          </a:p>
          <a:p>
            <a:pPr marL="12700" indent="0">
              <a:lnSpc>
                <a:spcPct val="100000"/>
              </a:lnSpc>
              <a:spcBef>
                <a:spcPts val="415"/>
              </a:spcBef>
              <a:buFont typeface="Arial MT"/>
              <a:buNone/>
              <a:tabLst>
                <a:tab pos="320040" algn="l"/>
              </a:tabLst>
            </a:pPr>
            <a:endParaRPr lang="en-US" dirty="0"/>
          </a:p>
          <a:p>
            <a:pPr marL="12700" indent="0">
              <a:lnSpc>
                <a:spcPct val="100000"/>
              </a:lnSpc>
              <a:spcBef>
                <a:spcPts val="415"/>
              </a:spcBef>
              <a:buFont typeface="Arial MT"/>
              <a:buNone/>
              <a:tabLst>
                <a:tab pos="320040" algn="l"/>
              </a:tabLst>
            </a:pPr>
            <a:r>
              <a:rPr lang="en-US" dirty="0"/>
              <a:t>However, RAW: </a:t>
            </a:r>
            <a:r>
              <a:rPr lang="en-US" u="none" dirty="0"/>
              <a:t>SUBD</a:t>
            </a:r>
            <a:r>
              <a:rPr lang="en-US" dirty="0"/>
              <a:t> and DIVD.</a:t>
            </a:r>
          </a:p>
          <a:p>
            <a:pPr marL="12700" indent="0">
              <a:lnSpc>
                <a:spcPct val="100000"/>
              </a:lnSpc>
              <a:spcBef>
                <a:spcPts val="415"/>
              </a:spcBef>
              <a:buFont typeface="Arial MT"/>
              <a:buNone/>
              <a:tabLst>
                <a:tab pos="320040" algn="l"/>
              </a:tabLs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30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332B7"/>
                </a:solidFill>
                <a:latin typeface="+mn-lt"/>
                <a:cs typeface="Arial"/>
              </a:rPr>
              <a:t>Load2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completing execution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332B7"/>
                </a:solidFill>
                <a:latin typeface="+mn-lt"/>
                <a:cs typeface="Arial"/>
              </a:rPr>
              <a:t>Q.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What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is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waiting</a:t>
            </a:r>
            <a:r>
              <a:rPr lang="en-US" sz="1200" b="0" spc="-114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for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Load2?</a:t>
            </a:r>
            <a:endParaRPr lang="en-US" sz="1200" b="0" dirty="0">
              <a:latin typeface="+mn-lt"/>
              <a:cs typeface="Arial"/>
            </a:endParaRPr>
          </a:p>
          <a:p>
            <a:r>
              <a:rPr lang="en-US" b="1" dirty="0"/>
              <a:t>A.</a:t>
            </a:r>
            <a:r>
              <a:rPr lang="en-US" dirty="0"/>
              <a:t> Add1 (</a:t>
            </a:r>
            <a:r>
              <a:rPr lang="en-US" u="none" dirty="0"/>
              <a:t>SUBD)</a:t>
            </a:r>
          </a:p>
          <a:p>
            <a:endParaRPr lang="en-US" dirty="0"/>
          </a:p>
          <a:p>
            <a:r>
              <a:rPr lang="en-US" dirty="0"/>
              <a:t>RAW: ADD.D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M(A1): </a:t>
            </a:r>
            <a:r>
              <a:rPr lang="en-US" dirty="0"/>
              <a:t>books notation</a:t>
            </a:r>
            <a:r>
              <a:rPr lang="en-US" b="0" dirty="0"/>
              <a:t> (nonstandard)</a:t>
            </a:r>
            <a:endParaRPr lang="en-US" dirty="0"/>
          </a:p>
          <a:p>
            <a:r>
              <a:rPr lang="en-US" dirty="0"/>
              <a:t>Indicates that the source operand will come from a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en-US" dirty="0"/>
              <a:t> instruction that is currently waiting in Load Buffer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en-US" dirty="0"/>
              <a:t> (or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Load1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45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Timer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starts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counting down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for</a:t>
            </a:r>
            <a:r>
              <a:rPr lang="en-US" sz="1200" b="0" spc="-18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1" dirty="0">
                <a:solidFill>
                  <a:srgbClr val="0332B7"/>
                </a:solidFill>
                <a:latin typeface="+mn-lt"/>
                <a:cs typeface="Arial"/>
              </a:rPr>
              <a:t>Add1,</a:t>
            </a:r>
            <a:r>
              <a:rPr lang="en-US" sz="1200" b="1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1" spc="-10" dirty="0">
                <a:solidFill>
                  <a:srgbClr val="0332B7"/>
                </a:solidFill>
                <a:latin typeface="+mn-lt"/>
                <a:cs typeface="Arial"/>
              </a:rPr>
              <a:t>Mult1</a:t>
            </a:r>
            <a:endParaRPr lang="en-US" sz="1200" b="1" dirty="0">
              <a:latin typeface="+mn-lt"/>
              <a:cs typeface="Arial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M(A2): </a:t>
            </a:r>
            <a:r>
              <a:rPr lang="en-US" dirty="0"/>
              <a:t>books notation</a:t>
            </a:r>
            <a:r>
              <a:rPr lang="en-US" b="0" dirty="0"/>
              <a:t> (nonstandard)</a:t>
            </a:r>
            <a:endParaRPr lang="en-US" dirty="0"/>
          </a:p>
          <a:p>
            <a:r>
              <a:rPr lang="en-US" dirty="0"/>
              <a:t>Indicates that the source operand will come from a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en-US" dirty="0"/>
              <a:t> instruction that is currently waiting in Load Buffer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</a:t>
            </a:r>
            <a:r>
              <a:rPr lang="en-US" dirty="0"/>
              <a:t> (or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Load2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075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-10" dirty="0">
                <a:solidFill>
                  <a:srgbClr val="0332B7"/>
                </a:solidFill>
                <a:latin typeface="+mn-lt"/>
                <a:cs typeface="Arial"/>
              </a:rPr>
              <a:t>Q.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 Issue</a:t>
            </a:r>
            <a:r>
              <a:rPr lang="en-US" sz="1200" b="0" spc="-16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ADD.D</a:t>
            </a:r>
            <a:r>
              <a:rPr lang="en-US" sz="1200" b="0" spc="-7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despite</a:t>
            </a:r>
            <a:r>
              <a:rPr lang="en-US" sz="1200" b="0" spc="-7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name</a:t>
            </a:r>
            <a:r>
              <a:rPr lang="en-US" sz="1200" b="0" spc="-7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0" dirty="0">
                <a:solidFill>
                  <a:srgbClr val="0332B7"/>
                </a:solidFill>
                <a:latin typeface="+mn-lt"/>
                <a:cs typeface="Arial"/>
              </a:rPr>
              <a:t>output-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dependency</a:t>
            </a:r>
            <a:r>
              <a:rPr lang="en-US" sz="1200" b="0" spc="-7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on</a:t>
            </a:r>
            <a:r>
              <a:rPr lang="en-US" sz="1200" b="0" spc="-8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0332B7"/>
                </a:solidFill>
                <a:latin typeface="+mn-lt"/>
                <a:cs typeface="Arial"/>
              </a:rPr>
              <a:t>F6?</a:t>
            </a:r>
            <a:endParaRPr lang="en-US" sz="1200" b="0" dirty="0">
              <a:latin typeface="+mn-lt"/>
              <a:cs typeface="Arial"/>
            </a:endParaRPr>
          </a:p>
          <a:p>
            <a:r>
              <a:rPr lang="en-US" b="1" dirty="0"/>
              <a:t>A.</a:t>
            </a:r>
            <a:r>
              <a:rPr lang="en-US" dirty="0"/>
              <a:t> Register renaming addresses WAW.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19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332B7"/>
                </a:solidFill>
                <a:latin typeface="Arial"/>
                <a:cs typeface="Arial"/>
              </a:rPr>
              <a:t>Add1</a:t>
            </a:r>
            <a:r>
              <a:rPr lang="en-US" sz="1200" b="0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Arial"/>
                <a:cs typeface="Arial"/>
              </a:rPr>
              <a:t>(SUB.D)</a:t>
            </a:r>
            <a:r>
              <a:rPr lang="en-US" sz="1200" b="0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lang="en-US" sz="1200" b="0" spc="-10" dirty="0">
                <a:solidFill>
                  <a:srgbClr val="0332B7"/>
                </a:solidFill>
                <a:latin typeface="Arial"/>
                <a:cs typeface="Arial"/>
              </a:rPr>
              <a:t>completing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 execution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(EX 6-7 due to Load2 WR CDB in 5 for RAW on F2)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spc="-10" dirty="0">
              <a:solidFill>
                <a:srgbClr val="0332B7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-10" dirty="0">
                <a:solidFill>
                  <a:srgbClr val="0332B7"/>
                </a:solidFill>
                <a:latin typeface="Arial"/>
                <a:cs typeface="Arial"/>
              </a:rPr>
              <a:t>Q. </a:t>
            </a:r>
            <a:r>
              <a:rPr lang="en-US" sz="1200" b="0" spc="-10" dirty="0">
                <a:solidFill>
                  <a:srgbClr val="0332B7"/>
                </a:solidFill>
                <a:latin typeface="Arial"/>
                <a:cs typeface="Arial"/>
              </a:rPr>
              <a:t>W</a:t>
            </a:r>
            <a:r>
              <a:rPr lang="en-US" sz="1200" b="0" dirty="0">
                <a:solidFill>
                  <a:srgbClr val="0332B7"/>
                </a:solidFill>
                <a:latin typeface="Arial"/>
                <a:cs typeface="Arial"/>
              </a:rPr>
              <a:t>hat</a:t>
            </a:r>
            <a:r>
              <a:rPr lang="en-US" sz="1200" b="0" spc="-7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Arial"/>
                <a:cs typeface="Arial"/>
              </a:rPr>
              <a:t>is</a:t>
            </a:r>
            <a:r>
              <a:rPr lang="en-US" sz="1200" b="0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Arial"/>
                <a:cs typeface="Arial"/>
              </a:rPr>
              <a:t>waiting</a:t>
            </a:r>
            <a:r>
              <a:rPr lang="en-US" sz="1200" b="0" spc="-8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Arial"/>
                <a:cs typeface="Arial"/>
              </a:rPr>
              <a:t>for</a:t>
            </a:r>
            <a:r>
              <a:rPr lang="en-US" sz="1200" b="0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lang="en-US" sz="1200" b="0" spc="-25" dirty="0">
                <a:solidFill>
                  <a:srgbClr val="0332B7"/>
                </a:solidFill>
                <a:latin typeface="Arial"/>
                <a:cs typeface="Arial"/>
              </a:rPr>
              <a:t>it?</a:t>
            </a:r>
            <a:endParaRPr lang="en-US" sz="1200" b="0" dirty="0">
              <a:latin typeface="Arial"/>
              <a:cs typeface="Arial"/>
            </a:endParaRPr>
          </a:p>
          <a:p>
            <a:r>
              <a:rPr lang="en-US" b="1" dirty="0"/>
              <a:t>A.</a:t>
            </a:r>
            <a:r>
              <a:rPr lang="en-US" dirty="0"/>
              <a:t> Add2 (ADD.D)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71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(M-M): books notation</a:t>
            </a:r>
            <a:r>
              <a:rPr lang="en-US" b="0" dirty="0"/>
              <a:t> (nonstandard)</a:t>
            </a:r>
            <a:endParaRPr lang="en-US" dirty="0"/>
          </a:p>
          <a:p>
            <a:r>
              <a:rPr lang="en-US" dirty="0"/>
              <a:t>M-M: memory FP, memory FP </a:t>
            </a:r>
            <a:r>
              <a:rPr lang="en-US" i="1" dirty="0"/>
              <a:t>subtraction</a:t>
            </a:r>
          </a:p>
          <a:p>
            <a:r>
              <a:rPr lang="en-US" b="1" dirty="0"/>
              <a:t>computed value</a:t>
            </a:r>
            <a:r>
              <a:rPr lang="en-US" dirty="0"/>
              <a:t> that arrived via the CDB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43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332B7"/>
                </a:solidFill>
                <a:latin typeface="+mn-lt"/>
                <a:cs typeface="Arial"/>
              </a:rPr>
              <a:t>Add2</a:t>
            </a:r>
            <a:r>
              <a:rPr lang="en-US" sz="1200" b="0" spc="4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(ADD.D)</a:t>
            </a:r>
            <a:r>
              <a:rPr lang="en-US" sz="1200" b="0" spc="5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completing execution.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(EX 9-10 due to Add1 (SUB.D) WR CDB in 8 for RAW on F8)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rgbClr val="0332B7"/>
              </a:solidFill>
              <a:latin typeface="+mn-lt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332B7"/>
                </a:solidFill>
                <a:latin typeface="+mn-lt"/>
                <a:cs typeface="Arial"/>
              </a:rPr>
              <a:t>Q.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 What</a:t>
            </a:r>
            <a:r>
              <a:rPr lang="en-US" sz="1200" b="0" spc="5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is</a:t>
            </a:r>
            <a:r>
              <a:rPr lang="en-US" sz="1200" b="0" spc="4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waiting</a:t>
            </a:r>
            <a:r>
              <a:rPr lang="en-US" sz="1200" b="0" spc="4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for</a:t>
            </a:r>
            <a:r>
              <a:rPr lang="en-US" sz="1200" b="0" spc="4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0332B7"/>
                </a:solidFill>
                <a:latin typeface="+mn-lt"/>
                <a:cs typeface="Arial"/>
              </a:rPr>
              <a:t>it?</a:t>
            </a:r>
            <a:endParaRPr lang="en-US" sz="1200" b="0" dirty="0">
              <a:latin typeface="+mn-lt"/>
              <a:cs typeface="Arial"/>
            </a:endParaRPr>
          </a:p>
          <a:p>
            <a:pPr marL="0" indent="0">
              <a:buNone/>
            </a:pPr>
            <a:r>
              <a:rPr lang="en-US" b="1" dirty="0"/>
              <a:t>A.</a:t>
            </a:r>
            <a:r>
              <a:rPr lang="en-US" dirty="0"/>
              <a:t> Nothing.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However, WAR exists between DIV.D and ADD.D on F6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92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Arial MT"/>
              <a:buNone/>
              <a:tabLst>
                <a:tab pos="320040" algn="l"/>
              </a:tabLst>
              <a:defRPr/>
            </a:pPr>
            <a:r>
              <a:rPr lang="en-US" dirty="0"/>
              <a:t>However, WAR exists between DIV.D and ADD.D on F6</a:t>
            </a:r>
          </a:p>
          <a:p>
            <a:pPr marL="12700" indent="0">
              <a:lnSpc>
                <a:spcPct val="100000"/>
              </a:lnSpc>
              <a:spcBef>
                <a:spcPts val="675"/>
              </a:spcBef>
              <a:buFont typeface="Arial MT"/>
              <a:buNone/>
              <a:tabLst>
                <a:tab pos="320040" algn="l"/>
              </a:tabLst>
            </a:pPr>
            <a:endParaRPr lang="en-US" sz="1200" b="1" spc="-20" dirty="0">
              <a:solidFill>
                <a:srgbClr val="0332B7"/>
              </a:solidFill>
              <a:latin typeface="+mn-lt"/>
              <a:cs typeface="Arial"/>
            </a:endParaRPr>
          </a:p>
          <a:p>
            <a:pPr marL="12700" indent="0">
              <a:lnSpc>
                <a:spcPct val="100000"/>
              </a:lnSpc>
              <a:spcBef>
                <a:spcPts val="675"/>
              </a:spcBef>
              <a:buFont typeface="Arial MT"/>
              <a:buNone/>
              <a:tabLst>
                <a:tab pos="320040" algn="l"/>
              </a:tabLst>
            </a:pPr>
            <a:r>
              <a:rPr lang="en-US" sz="1200" b="1" spc="-20" dirty="0">
                <a:solidFill>
                  <a:srgbClr val="0332B7"/>
                </a:solidFill>
                <a:latin typeface="+mn-lt"/>
                <a:cs typeface="Arial"/>
              </a:rPr>
              <a:t>Q.</a:t>
            </a:r>
            <a:r>
              <a:rPr lang="en-US" sz="1200" b="0" spc="-20" dirty="0">
                <a:solidFill>
                  <a:srgbClr val="0332B7"/>
                </a:solidFill>
                <a:latin typeface="+mn-lt"/>
                <a:cs typeface="Arial"/>
              </a:rPr>
              <a:t> Write</a:t>
            </a:r>
            <a:r>
              <a:rPr lang="en-US" sz="1200" b="0" spc="-13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0" dirty="0">
                <a:solidFill>
                  <a:srgbClr val="0332B7"/>
                </a:solidFill>
                <a:latin typeface="+mn-lt"/>
                <a:cs typeface="Arial"/>
              </a:rPr>
              <a:t>result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0" dirty="0">
                <a:solidFill>
                  <a:srgbClr val="0332B7"/>
                </a:solidFill>
                <a:latin typeface="+mn-lt"/>
                <a:cs typeface="Arial"/>
              </a:rPr>
              <a:t>of</a:t>
            </a:r>
            <a:r>
              <a:rPr lang="en-US" sz="1200" b="0" spc="-13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ADD.D</a:t>
            </a:r>
            <a:r>
              <a:rPr lang="en-US" sz="1200" b="0" spc="-10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here?</a:t>
            </a:r>
          </a:p>
          <a:p>
            <a:pPr marL="12700" indent="0">
              <a:lnSpc>
                <a:spcPct val="100000"/>
              </a:lnSpc>
              <a:spcBef>
                <a:spcPts val="675"/>
              </a:spcBef>
              <a:buFont typeface="Arial MT"/>
              <a:buNone/>
              <a:tabLst>
                <a:tab pos="320040" algn="l"/>
              </a:tabLst>
            </a:pPr>
            <a:r>
              <a:rPr lang="en-US" sz="1200" b="1" spc="-10" dirty="0">
                <a:solidFill>
                  <a:srgbClr val="0332B7"/>
                </a:solidFill>
                <a:latin typeface="+mn-lt"/>
                <a:cs typeface="Arial"/>
              </a:rPr>
              <a:t>A.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 Use register renaming to allow ADD.D to WR.</a:t>
            </a:r>
          </a:p>
          <a:p>
            <a:pPr marL="12700" indent="0">
              <a:lnSpc>
                <a:spcPct val="100000"/>
              </a:lnSpc>
              <a:spcBef>
                <a:spcPts val="675"/>
              </a:spcBef>
              <a:buFont typeface="Arial MT"/>
              <a:buNone/>
              <a:tabLst>
                <a:tab pos="320040" algn="l"/>
              </a:tabLst>
            </a:pPr>
            <a:endParaRPr lang="en-US" sz="1200" b="0" dirty="0">
              <a:latin typeface="+mn-lt"/>
              <a:cs typeface="Arial"/>
            </a:endParaRPr>
          </a:p>
          <a:p>
            <a:pPr marL="12700" indent="0">
              <a:lnSpc>
                <a:spcPct val="100000"/>
              </a:lnSpc>
              <a:spcBef>
                <a:spcPts val="575"/>
              </a:spcBef>
              <a:buFont typeface="Arial MT"/>
              <a:buNone/>
              <a:tabLst>
                <a:tab pos="320040" algn="l"/>
              </a:tabLst>
            </a:pP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All</a:t>
            </a:r>
            <a:r>
              <a:rPr lang="en-US" sz="1200" b="0" spc="-9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0" dirty="0">
                <a:solidFill>
                  <a:srgbClr val="0332B7"/>
                </a:solidFill>
                <a:latin typeface="+mn-lt"/>
                <a:cs typeface="Arial"/>
              </a:rPr>
              <a:t>quick</a:t>
            </a:r>
            <a:r>
              <a:rPr lang="en-US" sz="1200" b="0" spc="-10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30" dirty="0">
                <a:solidFill>
                  <a:srgbClr val="0332B7"/>
                </a:solidFill>
                <a:latin typeface="+mn-lt"/>
                <a:cs typeface="Arial"/>
              </a:rPr>
              <a:t>instructions</a:t>
            </a:r>
            <a:r>
              <a:rPr lang="en-US" sz="1200" b="0" spc="-10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0332B7"/>
                </a:solidFill>
                <a:latin typeface="+mn-lt"/>
                <a:cs typeface="Arial"/>
              </a:rPr>
              <a:t>complete</a:t>
            </a:r>
            <a:r>
              <a:rPr lang="en-US" sz="1200" b="0" spc="-10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in</a:t>
            </a:r>
            <a:r>
              <a:rPr lang="en-US" sz="1200" b="0" spc="-10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this</a:t>
            </a:r>
            <a:r>
              <a:rPr lang="en-US" sz="1200" b="0" spc="-10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cycle! (i.e., LD, SUBD, ADD.D)</a:t>
            </a:r>
            <a:endParaRPr lang="en-US" sz="1200" b="0" dirty="0">
              <a:latin typeface="+mn-lt"/>
              <a:cs typeface="Arial"/>
            </a:endParaRPr>
          </a:p>
          <a:p>
            <a:endParaRPr lang="en-US" dirty="0"/>
          </a:p>
          <a:p>
            <a:r>
              <a:rPr lang="en-US" b="1" dirty="0"/>
              <a:t>(M-M+M): </a:t>
            </a:r>
            <a:r>
              <a:rPr lang="en-US" b="0" dirty="0"/>
              <a:t>book notation (nonstandard)</a:t>
            </a:r>
          </a:p>
          <a:p>
            <a:r>
              <a:rPr lang="en-US" b="1" dirty="0"/>
              <a:t>M:</a:t>
            </a:r>
            <a:r>
              <a:rPr lang="en-US" dirty="0"/>
              <a:t> Stands for a </a:t>
            </a:r>
            <a:r>
              <a:rPr lang="en-US" b="1" dirty="0"/>
              <a:t>Memory</a:t>
            </a:r>
            <a:r>
              <a:rPr lang="en-US" dirty="0"/>
              <a:t> access or </a:t>
            </a:r>
            <a:r>
              <a:rPr lang="en-US" b="1" dirty="0"/>
              <a:t>Floating-Point Value</a:t>
            </a:r>
            <a:r>
              <a:rPr lang="en-US" dirty="0"/>
              <a:t>.</a:t>
            </a:r>
          </a:p>
          <a:p>
            <a:r>
              <a:rPr lang="en-US" b="1" dirty="0"/>
              <a:t>M-M:</a:t>
            </a:r>
            <a:r>
              <a:rPr lang="en-US" dirty="0"/>
              <a:t> Represents the result of a floating-point </a:t>
            </a:r>
            <a:r>
              <a:rPr lang="en-US" b="1" dirty="0"/>
              <a:t>subtraction</a:t>
            </a:r>
            <a:r>
              <a:rPr lang="en-US" dirty="0"/>
              <a:t>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SUB.D</a:t>
            </a:r>
            <a:r>
              <a:rPr lang="en-US" dirty="0"/>
              <a:t>).</a:t>
            </a:r>
          </a:p>
          <a:p>
            <a:r>
              <a:rPr lang="en-US" b="1" dirty="0"/>
              <a:t>M-M+M:</a:t>
            </a:r>
            <a:r>
              <a:rPr lang="en-US" dirty="0"/>
              <a:t> Represents the result of a floating-point </a:t>
            </a:r>
            <a:r>
              <a:rPr lang="en-US" b="1" dirty="0"/>
              <a:t>addition</a:t>
            </a:r>
            <a:r>
              <a:rPr lang="en-US" dirty="0"/>
              <a:t> (or subtraction) performed on the result of a previous operation.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7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332B7"/>
                </a:solidFill>
                <a:latin typeface="+mn-lt"/>
                <a:cs typeface="Arial"/>
              </a:rPr>
              <a:t>Mult1</a:t>
            </a:r>
            <a:r>
              <a:rPr lang="en-US" sz="1200" b="0" spc="-9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0" dirty="0">
                <a:solidFill>
                  <a:srgbClr val="0332B7"/>
                </a:solidFill>
                <a:latin typeface="+mn-lt"/>
                <a:cs typeface="Arial"/>
              </a:rPr>
              <a:t>(MULTD)</a:t>
            </a:r>
            <a:r>
              <a:rPr lang="en-US" sz="1200" b="0" spc="-8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completing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 execution</a:t>
            </a:r>
            <a:endParaRPr lang="en-US" sz="1200" b="0" spc="-10" dirty="0">
              <a:solidFill>
                <a:srgbClr val="0332B7"/>
              </a:solidFill>
              <a:latin typeface="+mn-lt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-10" dirty="0">
                <a:solidFill>
                  <a:srgbClr val="0332B7"/>
                </a:solidFill>
                <a:latin typeface="+mn-lt"/>
                <a:cs typeface="Arial"/>
              </a:rPr>
              <a:t>Q. 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W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hat</a:t>
            </a:r>
            <a:r>
              <a:rPr lang="en-US" sz="1200" b="0" spc="-8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is</a:t>
            </a:r>
            <a:r>
              <a:rPr lang="en-US" sz="1200" b="0" spc="-9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waiting</a:t>
            </a:r>
            <a:r>
              <a:rPr lang="en-US" sz="1200" b="0" spc="-9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for</a:t>
            </a:r>
            <a:r>
              <a:rPr lang="en-US" sz="1200" b="0" spc="-8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0332B7"/>
                </a:solidFill>
                <a:latin typeface="+mn-lt"/>
                <a:cs typeface="Arial"/>
              </a:rPr>
              <a:t>it?</a:t>
            </a:r>
            <a:endParaRPr lang="en-US" sz="1200" b="0" dirty="0">
              <a:latin typeface="+mn-lt"/>
              <a:cs typeface="Arial"/>
            </a:endParaRPr>
          </a:p>
          <a:p>
            <a:r>
              <a:rPr lang="en-US" b="1" dirty="0"/>
              <a:t>A.</a:t>
            </a:r>
            <a:r>
              <a:rPr lang="en-US" dirty="0"/>
              <a:t> Mult2 (DIVD)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758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Now we must</a:t>
            </a:r>
            <a:r>
              <a:rPr lang="en-US" sz="1200" b="0" spc="-5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wait</a:t>
            </a:r>
            <a:r>
              <a:rPr lang="en-US" sz="1200" b="0" spc="-3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for</a:t>
            </a:r>
            <a:r>
              <a:rPr lang="en-US" sz="1200" b="0" spc="-3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1" dirty="0">
                <a:solidFill>
                  <a:srgbClr val="0332B7"/>
                </a:solidFill>
                <a:latin typeface="+mn-lt"/>
                <a:cs typeface="Arial"/>
              </a:rPr>
              <a:t>Mult2</a:t>
            </a:r>
            <a:r>
              <a:rPr lang="en-US" sz="1200" b="0" spc="-4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(DIVD)</a:t>
            </a:r>
            <a:r>
              <a:rPr lang="en-US" sz="1200" b="0" spc="-4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to</a:t>
            </a:r>
            <a:r>
              <a:rPr lang="en-US" sz="1200" b="0" spc="-4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0332B7"/>
                </a:solidFill>
                <a:latin typeface="+mn-lt"/>
                <a:cs typeface="Arial"/>
              </a:rPr>
              <a:t>complete.</a:t>
            </a:r>
          </a:p>
          <a:p>
            <a:endParaRPr lang="en-US" sz="1200" b="0" i="1" spc="-25" dirty="0">
              <a:solidFill>
                <a:srgbClr val="0332B7"/>
              </a:solidFill>
              <a:latin typeface="+mn-lt"/>
              <a:cs typeface="Arial"/>
            </a:endParaRPr>
          </a:p>
          <a:p>
            <a:r>
              <a:rPr lang="en-US" sz="1200" b="0" i="1" spc="-25" dirty="0">
                <a:solidFill>
                  <a:srgbClr val="0332B7"/>
                </a:solidFill>
                <a:latin typeface="+mn-lt"/>
                <a:cs typeface="Arial"/>
              </a:rPr>
              <a:t>(Skip 39 cycles)</a:t>
            </a:r>
          </a:p>
          <a:p>
            <a:endParaRPr lang="en-US" sz="1200" b="0" i="0" spc="-25" dirty="0">
              <a:solidFill>
                <a:srgbClr val="0332B7"/>
              </a:solidFill>
              <a:latin typeface="+mn-lt"/>
              <a:cs typeface="Arial"/>
            </a:endParaRPr>
          </a:p>
          <a:p>
            <a:r>
              <a:rPr lang="en-US" sz="1200" b="1" i="0" spc="-25" dirty="0">
                <a:solidFill>
                  <a:srgbClr val="0332B7"/>
                </a:solidFill>
                <a:latin typeface="+mn-lt"/>
                <a:cs typeface="Arial"/>
              </a:rPr>
              <a:t>M*F4:</a:t>
            </a:r>
            <a:r>
              <a:rPr lang="en-US" sz="1200" b="0" i="0" spc="-25" dirty="0">
                <a:solidFill>
                  <a:srgbClr val="0332B7"/>
                </a:solidFill>
                <a:latin typeface="+mn-lt"/>
                <a:cs typeface="Arial"/>
              </a:rPr>
              <a:t> books notation (nonstandard)</a:t>
            </a:r>
          </a:p>
          <a:p>
            <a:r>
              <a:rPr lang="en-US" sz="1200" b="1" i="0" spc="-25" dirty="0">
                <a:solidFill>
                  <a:srgbClr val="0332B7"/>
                </a:solidFill>
                <a:latin typeface="+mn-lt"/>
                <a:cs typeface="Arial"/>
              </a:rPr>
              <a:t>M: </a:t>
            </a:r>
            <a:r>
              <a:rPr lang="en-US" sz="1200" b="0" i="0" spc="-25" dirty="0">
                <a:solidFill>
                  <a:srgbClr val="0332B7"/>
                </a:solidFill>
                <a:latin typeface="+mn-lt"/>
                <a:cs typeface="Arial"/>
              </a:rPr>
              <a:t>from M(A2)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spc="-25" dirty="0">
                <a:solidFill>
                  <a:srgbClr val="0332B7"/>
                </a:solidFill>
                <a:latin typeface="+mn-lt"/>
                <a:cs typeface="Arial"/>
              </a:rPr>
              <a:t>M*F4: </a:t>
            </a:r>
            <a:r>
              <a:rPr lang="en-US" sz="1200" b="0" i="0" spc="-25" dirty="0">
                <a:solidFill>
                  <a:srgbClr val="0332B7"/>
                </a:solidFill>
                <a:latin typeface="+mn-lt"/>
                <a:cs typeface="Arial"/>
              </a:rPr>
              <a:t>M(A2) multiplied with the value from R(F4)</a:t>
            </a:r>
          </a:p>
          <a:p>
            <a:endParaRPr lang="en-US" sz="1200" b="1" i="0" spc="-25" dirty="0">
              <a:solidFill>
                <a:srgbClr val="0332B7"/>
              </a:solidFill>
              <a:latin typeface="+mn-lt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849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332B7"/>
                </a:solidFill>
                <a:latin typeface="+mn-lt"/>
                <a:cs typeface="Arial"/>
              </a:rPr>
              <a:t>Mult2</a:t>
            </a:r>
            <a:r>
              <a:rPr lang="en-US" sz="1200" b="0" spc="-8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(DIVD)</a:t>
            </a:r>
            <a:r>
              <a:rPr lang="en-US" sz="1200" b="0" spc="-7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is</a:t>
            </a:r>
            <a:r>
              <a:rPr lang="en-US" sz="1200" b="0" spc="-8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completing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 execution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-10" dirty="0">
                <a:solidFill>
                  <a:srgbClr val="0332B7"/>
                </a:solidFill>
                <a:latin typeface="+mn-lt"/>
                <a:cs typeface="Arial"/>
              </a:rPr>
              <a:t>Q. </a:t>
            </a:r>
            <a:r>
              <a:rPr lang="en-US" sz="1200" b="0" spc="-10" dirty="0">
                <a:solidFill>
                  <a:srgbClr val="0332B7"/>
                </a:solidFill>
                <a:latin typeface="+mn-lt"/>
                <a:cs typeface="Arial"/>
              </a:rPr>
              <a:t>W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hat</a:t>
            </a:r>
            <a:r>
              <a:rPr lang="en-US" sz="1200" b="0" spc="-7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is</a:t>
            </a:r>
            <a:r>
              <a:rPr lang="en-US" sz="1200" b="0" spc="-8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waiting</a:t>
            </a:r>
            <a:r>
              <a:rPr lang="en-US" sz="1200" b="0" spc="-85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for</a:t>
            </a:r>
            <a:r>
              <a:rPr lang="en-US" sz="1200" b="0" spc="-70" dirty="0">
                <a:solidFill>
                  <a:srgbClr val="0332B7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0332B7"/>
                </a:solidFill>
                <a:latin typeface="+mn-lt"/>
                <a:cs typeface="Arial"/>
              </a:rPr>
              <a:t>it?</a:t>
            </a:r>
            <a:endParaRPr lang="en-US" sz="1200" b="0" dirty="0">
              <a:latin typeface="+mn-lt"/>
              <a:cs typeface="Arial"/>
            </a:endParaRPr>
          </a:p>
          <a:p>
            <a:r>
              <a:rPr lang="en-US" b="1" dirty="0"/>
              <a:t>A.</a:t>
            </a:r>
            <a:r>
              <a:rPr lang="en-US" dirty="0"/>
              <a:t> Nothing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564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u="sng" dirty="0"/>
              <a:t>Reiteration of the key performance sequence: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In-order issue,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out-of-order start of execution,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out-of-order completion.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882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&gt;&gt;</a:t>
            </a:r>
            <a:endParaRPr lang="en-US" spc="-10" dirty="0">
              <a:latin typeface="+mn-lt"/>
            </a:endParaRPr>
          </a:p>
          <a:p>
            <a:r>
              <a:rPr lang="en-US" u="sng" spc="-10" dirty="0">
                <a:latin typeface="+mn-lt"/>
              </a:rPr>
              <a:t>Two major advantages to Tomasulo:</a:t>
            </a:r>
            <a:endParaRPr lang="en-US" u="sng" dirty="0"/>
          </a:p>
          <a:p>
            <a:pPr marL="228600" indent="-228600">
              <a:buAutoNum type="arabicPeriod"/>
            </a:pPr>
            <a:r>
              <a:rPr lang="en-US" dirty="0"/>
              <a:t>Distribution of hazard detection logic: </a:t>
            </a:r>
            <a:br>
              <a:rPr lang="en-US" dirty="0"/>
            </a:br>
            <a:r>
              <a:rPr lang="en-US" dirty="0"/>
              <a:t>CDB broadcasts results simultaneously, </a:t>
            </a:r>
            <a:br>
              <a:rPr lang="en-US" dirty="0"/>
            </a:br>
            <a:r>
              <a:rPr lang="en-US" dirty="0"/>
              <a:t>thereby releasing multiple waiting instructions. 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(arrow down)</a:t>
            </a:r>
          </a:p>
          <a:p>
            <a:pPr marL="228600" indent="-228600">
              <a:buAutoNum type="arabicPeriod"/>
            </a:pPr>
            <a:r>
              <a:rPr lang="en-US" dirty="0"/>
              <a:t>It will eliminate all WAW and WAR stalls.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745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u="sng" dirty="0"/>
              <a:t>Disadvantages to Tomasulo: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High complexity. 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(arrow down)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Performance is limited by the single CDB; </a:t>
            </a:r>
            <a:br>
              <a:rPr lang="en-US" dirty="0"/>
            </a:br>
            <a:r>
              <a:rPr lang="en-US" dirty="0"/>
              <a:t>requires multiple CDBs to support more parallel completion. 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(arrow down)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Non-precise exception handling is a major issue.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319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Q.</a:t>
            </a:r>
            <a:r>
              <a:rPr lang="en-US" dirty="0"/>
              <a:t> Why</a:t>
            </a:r>
            <a:r>
              <a:rPr lang="en-US" spc="-25" dirty="0"/>
              <a:t> can Tomasulo</a:t>
            </a:r>
            <a:r>
              <a:rPr lang="en-US" spc="-125" dirty="0"/>
              <a:t> </a:t>
            </a:r>
            <a:r>
              <a:rPr lang="en-US" spc="-25" dirty="0"/>
              <a:t>overlap</a:t>
            </a:r>
            <a:r>
              <a:rPr lang="en-US" spc="-125" dirty="0"/>
              <a:t> </a:t>
            </a:r>
            <a:r>
              <a:rPr lang="en-US" spc="-35" dirty="0"/>
              <a:t>iterations</a:t>
            </a:r>
            <a:r>
              <a:rPr lang="en-US" spc="-10" dirty="0"/>
              <a:t> of a loop?</a:t>
            </a:r>
          </a:p>
          <a:p>
            <a:endParaRPr lang="en-US" spc="-10" dirty="0"/>
          </a:p>
          <a:p>
            <a:r>
              <a:rPr lang="en-US" b="1" dirty="0"/>
              <a:t>A.</a:t>
            </a:r>
          </a:p>
          <a:p>
            <a:r>
              <a:rPr lang="en-US" b="1" dirty="0"/>
              <a:t>Register Renaming</a:t>
            </a:r>
            <a:r>
              <a:rPr lang="en-US" dirty="0"/>
              <a:t> allows multiple iterations to use different physical registers, enabling </a:t>
            </a:r>
            <a:r>
              <a:rPr lang="en-US" b="1" dirty="0"/>
              <a:t>dynamic loop unrolling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dirty="0"/>
              <a:t>Reservation Stations buffer old register values, totally avoiding the WAR stall.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854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Here is a step-by-step example showing how </a:t>
            </a:r>
          </a:p>
          <a:p>
            <a:r>
              <a:rPr lang="en-US" dirty="0"/>
              <a:t>Tomasulo's hardware dynamically overlaps iterations of a loop for increased performance.</a:t>
            </a:r>
          </a:p>
          <a:p>
            <a:endParaRPr lang="en-US" dirty="0"/>
          </a:p>
          <a:p>
            <a:r>
              <a:rPr lang="en-US" i="1" dirty="0"/>
              <a:t>(Go over the example code and assumptions.)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06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Note:</a:t>
            </a:r>
            <a:r>
              <a:rPr lang="en-US" sz="1200" b="0" spc="1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MULT1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has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no</a:t>
            </a:r>
            <a:r>
              <a:rPr lang="en-US" sz="1200" b="0" spc="1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register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names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in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800000"/>
                </a:solidFill>
                <a:latin typeface="+mn-lt"/>
                <a:cs typeface="Arial"/>
              </a:rPr>
              <a:t>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spc="-25" dirty="0">
                <a:solidFill>
                  <a:srgbClr val="800000"/>
                </a:solidFill>
                <a:latin typeface="+mn-lt"/>
                <a:cs typeface="Arial"/>
              </a:rPr>
              <a:t>R(F2) refers to the value of FP register F2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latin typeface="+mn-lt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010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Note:</a:t>
            </a:r>
            <a:r>
              <a:rPr lang="en-US" sz="1200" b="0" u="sng" spc="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 </a:t>
            </a:r>
          </a:p>
          <a:p>
            <a:r>
              <a:rPr lang="en-US" sz="1200" b="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F0</a:t>
            </a:r>
            <a:r>
              <a:rPr lang="en-US" sz="1200" b="0" u="sng" spc="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 </a:t>
            </a:r>
            <a:r>
              <a:rPr lang="en-US" sz="1200" b="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never</a:t>
            </a:r>
            <a:r>
              <a:rPr lang="en-US" sz="1200" b="0" u="sng" spc="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 </a:t>
            </a:r>
            <a:r>
              <a:rPr lang="en-US" sz="1200" b="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sees</a:t>
            </a:r>
            <a:r>
              <a:rPr lang="en-US" sz="1200" b="0" u="sng" spc="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 </a:t>
            </a:r>
            <a:r>
              <a:rPr lang="en-US" sz="1200" b="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Load1</a:t>
            </a:r>
            <a:r>
              <a:rPr lang="en-US" sz="1200" b="0" u="sng" spc="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 </a:t>
            </a:r>
            <a:r>
              <a:rPr lang="en-US" sz="1200" b="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lt"/>
                <a:cs typeface="Arial"/>
              </a:rPr>
              <a:t>result</a:t>
            </a:r>
          </a:p>
          <a:p>
            <a:endParaRPr lang="en-US" b="1" u="none" dirty="0"/>
          </a:p>
          <a:p>
            <a:r>
              <a:rPr lang="en-US" b="0" u="none" dirty="0"/>
              <a:t>This is because the instruction for Load2 will also be writing to the CDB for F0.</a:t>
            </a:r>
          </a:p>
          <a:p>
            <a:endParaRPr lang="en-US" b="1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543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Note:</a:t>
            </a:r>
            <a:r>
              <a:rPr lang="en-US" sz="1200" b="0" spc="1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MULT2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has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no</a:t>
            </a:r>
            <a:r>
              <a:rPr lang="en-US" sz="1200" b="0" spc="1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registers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names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in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800000"/>
                </a:solidFill>
                <a:latin typeface="+mn-lt"/>
                <a:cs typeface="Arial"/>
              </a:rPr>
              <a:t>RS</a:t>
            </a:r>
            <a:endParaRPr lang="en-US" sz="1200" b="0" dirty="0">
              <a:latin typeface="+mn-lt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47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800000"/>
                </a:solidFill>
                <a:latin typeface="+mn-lt"/>
                <a:cs typeface="Arial"/>
              </a:rPr>
              <a:t>Load1</a:t>
            </a:r>
            <a:r>
              <a:rPr lang="en-US" sz="1200" b="0" spc="3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completing</a:t>
            </a:r>
            <a:r>
              <a:rPr lang="en-US" sz="1200" b="0" dirty="0">
                <a:solidFill>
                  <a:srgbClr val="0332B7"/>
                </a:solidFill>
                <a:latin typeface="+mn-lt"/>
                <a:cs typeface="Arial"/>
              </a:rPr>
              <a:t> execution</a:t>
            </a:r>
            <a:r>
              <a:rPr lang="en-US" sz="1200" b="0" spc="4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spc="40" dirty="0">
                <a:solidFill>
                  <a:srgbClr val="800000"/>
                </a:solidFill>
                <a:latin typeface="+mn-lt"/>
                <a:cs typeface="Arial"/>
              </a:rPr>
              <a:t>(EX 2-9 for 1st load: 8 cycles)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spc="40" dirty="0">
              <a:solidFill>
                <a:srgbClr val="800000"/>
              </a:solidFill>
              <a:latin typeface="+mn-lt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800000"/>
                </a:solidFill>
                <a:latin typeface="+mn-lt"/>
                <a:cs typeface="Arial"/>
              </a:rPr>
              <a:t>Q.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 What</a:t>
            </a:r>
            <a:r>
              <a:rPr lang="en-US" sz="1200" b="0" spc="4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is</a:t>
            </a:r>
            <a:r>
              <a:rPr lang="en-US" sz="1200" b="0" spc="3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waiting</a:t>
            </a:r>
            <a:r>
              <a:rPr lang="en-US" sz="1200" b="0" spc="3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for</a:t>
            </a:r>
            <a:r>
              <a:rPr lang="en-US" sz="1200" b="0" spc="3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800000"/>
                </a:solidFill>
                <a:latin typeface="+mn-lt"/>
                <a:cs typeface="Arial"/>
              </a:rPr>
              <a:t>it?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Arial"/>
                <a:cs typeface="Arial"/>
              </a:rPr>
              <a:t>A.</a:t>
            </a:r>
            <a:r>
              <a:rPr lang="en-US" sz="1200" b="0" dirty="0">
                <a:latin typeface="Arial"/>
                <a:cs typeface="Arial"/>
              </a:rPr>
              <a:t> Mult1 (MUL.D)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472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L.D in 3rd iteration </a:t>
            </a:r>
            <a:r>
              <a:rPr lang="en-US"/>
              <a:t>is now issued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uses Load3 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643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800000"/>
                </a:solidFill>
                <a:latin typeface="Arial"/>
                <a:cs typeface="Arial"/>
              </a:rPr>
              <a:t>MULTD</a:t>
            </a:r>
            <a:r>
              <a:rPr lang="en-US" sz="1200" b="0" spc="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Arial"/>
                <a:cs typeface="Arial"/>
              </a:rPr>
              <a:t>in</a:t>
            </a:r>
            <a:r>
              <a:rPr lang="en-US" sz="1200" b="0" spc="20" dirty="0">
                <a:solidFill>
                  <a:srgbClr val="800000"/>
                </a:solidFill>
                <a:latin typeface="Arial"/>
                <a:cs typeface="Arial"/>
              </a:rPr>
              <a:t> 3rd</a:t>
            </a:r>
            <a:r>
              <a:rPr lang="en-US" sz="1200" b="0" spc="292" baseline="25252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Arial"/>
                <a:cs typeface="Arial"/>
              </a:rPr>
              <a:t>iteration</a:t>
            </a:r>
            <a:r>
              <a:rPr lang="en-US" sz="1200" b="0" spc="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Arial"/>
                <a:cs typeface="Arial"/>
              </a:rPr>
              <a:t>cannot</a:t>
            </a:r>
            <a:r>
              <a:rPr lang="en-US" sz="1200" b="0" spc="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Arial"/>
                <a:cs typeface="Arial"/>
              </a:rPr>
              <a:t>be</a:t>
            </a:r>
            <a:r>
              <a:rPr lang="en-US" sz="1200" b="0" spc="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en-US" sz="1200" b="0" spc="-10" dirty="0">
                <a:solidFill>
                  <a:srgbClr val="800000"/>
                </a:solidFill>
                <a:latin typeface="Arial"/>
                <a:cs typeface="Arial"/>
              </a:rPr>
              <a:t>issued </a:t>
            </a:r>
            <a:br>
              <a:rPr lang="en-US" sz="1200" b="0" spc="-10" dirty="0">
                <a:solidFill>
                  <a:srgbClr val="800000"/>
                </a:solidFill>
                <a:latin typeface="Arial"/>
                <a:cs typeface="Arial"/>
              </a:rPr>
            </a:br>
            <a:r>
              <a:rPr lang="en-US" sz="1200" b="0" spc="-10" dirty="0">
                <a:solidFill>
                  <a:srgbClr val="800000"/>
                </a:solidFill>
                <a:latin typeface="Arial"/>
                <a:cs typeface="Arial"/>
              </a:rPr>
              <a:t>(structural: not enough FP multiply FUs)</a:t>
            </a:r>
            <a:endParaRPr lang="en-US" sz="1200" b="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355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solidFill>
                  <a:srgbClr val="800000"/>
                </a:solidFill>
                <a:latin typeface="+mn-lt"/>
                <a:cs typeface="Arial"/>
              </a:rPr>
              <a:t>Mult1</a:t>
            </a:r>
            <a:r>
              <a:rPr lang="en-US" sz="1200" b="0" spc="4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completing execution.</a:t>
            </a:r>
          </a:p>
          <a:p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(EX 11-14 due to Load1 WR CDB in 10 for RAW on F0, Also multiply EX is 4 cycles)</a:t>
            </a:r>
          </a:p>
          <a:p>
            <a:endParaRPr lang="en-US" sz="1200" b="0" dirty="0">
              <a:solidFill>
                <a:srgbClr val="800000"/>
              </a:solidFill>
              <a:latin typeface="+mn-lt"/>
              <a:cs typeface="Arial"/>
            </a:endParaRPr>
          </a:p>
          <a:p>
            <a:r>
              <a:rPr lang="en-US" sz="1200" b="1" dirty="0">
                <a:solidFill>
                  <a:srgbClr val="800000"/>
                </a:solidFill>
                <a:latin typeface="+mn-lt"/>
                <a:cs typeface="Arial"/>
              </a:rPr>
              <a:t>Q.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 What</a:t>
            </a:r>
            <a:r>
              <a:rPr lang="en-US" sz="1200" b="0" spc="4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is</a:t>
            </a:r>
            <a:r>
              <a:rPr lang="en-US" sz="1200" b="0" spc="4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waiting</a:t>
            </a:r>
            <a:r>
              <a:rPr lang="en-US" sz="1200" b="0" spc="4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for</a:t>
            </a:r>
            <a:r>
              <a:rPr lang="en-US" sz="1200" b="0" spc="4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800000"/>
                </a:solidFill>
                <a:latin typeface="+mn-lt"/>
                <a:cs typeface="Arial"/>
              </a:rPr>
              <a:t>it?</a:t>
            </a:r>
          </a:p>
          <a:p>
            <a:r>
              <a:rPr lang="en-US" b="1" dirty="0">
                <a:latin typeface="+mn-lt"/>
              </a:rPr>
              <a:t>A.</a:t>
            </a:r>
            <a:r>
              <a:rPr lang="en-US" b="0" dirty="0">
                <a:latin typeface="+mn-lt"/>
              </a:rPr>
              <a:t> Store1 (SD)</a:t>
            </a:r>
          </a:p>
          <a:p>
            <a:endParaRPr lang="en-US" b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5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solidFill>
                  <a:srgbClr val="800000"/>
                </a:solidFill>
                <a:latin typeface="+mn-lt"/>
                <a:cs typeface="Arial"/>
              </a:rPr>
              <a:t>Mult2</a:t>
            </a:r>
            <a:r>
              <a:rPr lang="en-US" sz="1200" b="0" spc="4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completing execution.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(EX 12-15 due to Load2 WR CDB in 11 for RAW on F0, Also multiply EX is 4 cycles)</a:t>
            </a:r>
          </a:p>
          <a:p>
            <a:endParaRPr lang="en-US" sz="1200" b="0" dirty="0">
              <a:solidFill>
                <a:srgbClr val="800000"/>
              </a:solidFill>
              <a:latin typeface="+mn-lt"/>
              <a:cs typeface="Arial"/>
            </a:endParaRPr>
          </a:p>
          <a:p>
            <a:r>
              <a:rPr lang="en-US" sz="1200" b="1" dirty="0">
                <a:solidFill>
                  <a:srgbClr val="800000"/>
                </a:solidFill>
                <a:latin typeface="+mn-lt"/>
                <a:cs typeface="Arial"/>
              </a:rPr>
              <a:t>Q.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 What</a:t>
            </a:r>
            <a:r>
              <a:rPr lang="en-US" sz="1200" b="0" spc="4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is</a:t>
            </a:r>
            <a:r>
              <a:rPr lang="en-US" sz="1200" b="0" spc="4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waiting</a:t>
            </a:r>
            <a:r>
              <a:rPr lang="en-US" sz="1200" b="0" spc="4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for</a:t>
            </a:r>
            <a:r>
              <a:rPr lang="en-US" sz="1200" b="0" spc="4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spc="-25" dirty="0">
                <a:solidFill>
                  <a:srgbClr val="800000"/>
                </a:solidFill>
                <a:latin typeface="+mn-lt"/>
                <a:cs typeface="Arial"/>
              </a:rPr>
              <a:t>it?</a:t>
            </a:r>
          </a:p>
          <a:p>
            <a:r>
              <a:rPr lang="en-US" b="1" dirty="0"/>
              <a:t>A.</a:t>
            </a:r>
            <a:r>
              <a:rPr lang="en-US" dirty="0"/>
              <a:t> Store2 (SD)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342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>
                <a:solidFill>
                  <a:srgbClr val="800000"/>
                </a:solidFill>
                <a:latin typeface="+mn-lt"/>
                <a:cs typeface="Arial"/>
              </a:rPr>
              <a:t>MULTD</a:t>
            </a:r>
            <a:r>
              <a:rPr lang="en-US" sz="1200" b="0" spc="1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in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3rd</a:t>
            </a:r>
            <a:r>
              <a:rPr lang="en-US" sz="1200" b="0" spc="292" baseline="25252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iteration</a:t>
            </a:r>
            <a:r>
              <a:rPr lang="en-US" sz="1200" b="0" spc="15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is</a:t>
            </a:r>
            <a:r>
              <a:rPr lang="en-US" sz="1200" b="0" spc="1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+mn-lt"/>
                <a:cs typeface="Arial"/>
              </a:rPr>
              <a:t>now</a:t>
            </a:r>
            <a:r>
              <a:rPr lang="en-US" sz="1200" b="0" spc="30" dirty="0">
                <a:solidFill>
                  <a:srgbClr val="800000"/>
                </a:solidFill>
                <a:latin typeface="+mn-lt"/>
                <a:cs typeface="Arial"/>
              </a:rPr>
              <a:t> </a:t>
            </a:r>
            <a:r>
              <a:rPr lang="en-US" sz="1200" b="0" spc="-10" dirty="0">
                <a:solidFill>
                  <a:srgbClr val="800000"/>
                </a:solidFill>
                <a:latin typeface="+mn-lt"/>
                <a:cs typeface="Arial"/>
              </a:rPr>
              <a:t>issued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430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solidFill>
                  <a:srgbClr val="800000"/>
                </a:solidFill>
                <a:latin typeface="Arial"/>
                <a:cs typeface="Arial"/>
              </a:rPr>
              <a:t>SD</a:t>
            </a:r>
            <a:r>
              <a:rPr lang="en-US" sz="1200" b="0" spc="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Arial"/>
                <a:cs typeface="Arial"/>
              </a:rPr>
              <a:t>in</a:t>
            </a:r>
            <a:r>
              <a:rPr lang="en-US" sz="1200" b="0" spc="25" dirty="0">
                <a:solidFill>
                  <a:srgbClr val="800000"/>
                </a:solidFill>
                <a:latin typeface="Arial"/>
                <a:cs typeface="Arial"/>
              </a:rPr>
              <a:t> 3rd</a:t>
            </a:r>
            <a:r>
              <a:rPr lang="en-US" sz="1200" b="0" spc="300" baseline="25252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Arial"/>
                <a:cs typeface="Arial"/>
              </a:rPr>
              <a:t>iteration</a:t>
            </a:r>
            <a:r>
              <a:rPr lang="en-US" sz="1200" b="0" spc="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Arial"/>
                <a:cs typeface="Arial"/>
              </a:rPr>
              <a:t>is</a:t>
            </a:r>
            <a:r>
              <a:rPr lang="en-US" sz="1200" b="0" spc="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en-US" sz="1200" b="0" dirty="0">
                <a:solidFill>
                  <a:srgbClr val="800000"/>
                </a:solidFill>
                <a:latin typeface="Arial"/>
                <a:cs typeface="Arial"/>
              </a:rPr>
              <a:t>now</a:t>
            </a:r>
            <a:r>
              <a:rPr lang="en-US" sz="1200" b="0" spc="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en-US" sz="1200" b="0" spc="-10" dirty="0">
                <a:solidFill>
                  <a:srgbClr val="800000"/>
                </a:solidFill>
                <a:latin typeface="Arial"/>
                <a:cs typeface="Arial"/>
              </a:rPr>
              <a:t>issued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705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u="sng" dirty="0"/>
              <a:t>Reiteration of the key performance sequence: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In-order issue,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out-of-order start of execution,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out-of-order completion.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085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Instruction-Level Parallelism (ILP)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enhances processor performance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 enabling the execution of multiple instructions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simultaneously within a single instruction stream.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Calibri"/>
                <a:cs typeface="Calibri"/>
              </a:rPr>
              <a:t>Loop</a:t>
            </a:r>
            <a:r>
              <a:rPr lang="en-US" sz="1200" b="1" spc="-75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unrolling </a:t>
            </a:r>
            <a:r>
              <a:rPr lang="en-US" sz="1200" b="0" dirty="0">
                <a:latin typeface="Calibri"/>
                <a:cs typeface="Calibri"/>
              </a:rPr>
              <a:t>and</a:t>
            </a:r>
            <a:r>
              <a:rPr lang="en-US" sz="1200" b="1" dirty="0">
                <a:latin typeface="Calibri"/>
                <a:cs typeface="Calibri"/>
              </a:rPr>
              <a:t> branch prediction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latin typeface="Calibri"/>
                <a:cs typeface="Calibri"/>
              </a:rPr>
              <a:t>i</a:t>
            </a:r>
            <a:r>
              <a:rPr lang="en-US" sz="1200" dirty="0">
                <a:latin typeface="Calibri"/>
                <a:cs typeface="Calibri"/>
              </a:rPr>
              <a:t>ncrease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simultaneous execution of instructions.</a:t>
            </a:r>
            <a:endParaRPr lang="en-US" sz="1200" dirty="0">
              <a:latin typeface="Calibri"/>
              <a:cs typeface="Calibri"/>
            </a:endParaRP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hardware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exploits Instruction Level Parallelism 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 data dependences that are only known dynamically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(during runtime)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(such as when they involve memory references)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 the processor to hide stalls caused by L1 cache misses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continuing to execute other available instructions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waiting for the required data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 hardware manages scheduling and dependences at runtime,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compiled for one pipelined processor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run efficiently on different pipeline implementations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requiring recompilation, enhancing code portability.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624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Reservation stations enable renaming to a larger set of "registers" and buffer source operands, </a:t>
            </a:r>
          </a:p>
          <a:p>
            <a:r>
              <a:rPr lang="en-US" dirty="0"/>
              <a:t>preventing registers from being a bottleneck.</a:t>
            </a:r>
          </a:p>
          <a:p>
            <a:endParaRPr lang="en-US" dirty="0"/>
          </a:p>
          <a:p>
            <a:r>
              <a:rPr lang="en-US" u="sng" dirty="0"/>
              <a:t>Difference between Tomasulo and Scoreboard: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Tomasulo's algorithm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eliminates data hazards,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 Write-After-Write (WAW)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Write-After-Read (WAR) hazards,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primarily through the use of register renaming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implemented via reservation stations.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scoreboard method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not inherently eliminate WAW and WAR hazards.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relies on stalling the pipeline when such hazards are detected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(particularly at the issue stage) to maintain program order.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scoreboard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handle Read-After-Write (RAW) hazards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 result forwarding and operand availability checks,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lacks a mechanism like register renaming to resolve name dependencies.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dirty="0"/>
              <a:t>Supports speculative execution for dynamic branch predictions.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Tomasulo's algorithm enhances tolerance for </a:t>
            </a:r>
            <a:r>
              <a:rPr lang="en-US" b="1" dirty="0"/>
              <a:t>cache misses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by enabling the processor to continue executing other instructions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while waiting for data from memory.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(thus, maintaining concurrency during unpredictable load times)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r>
              <a:rPr lang="en-US" dirty="0"/>
              <a:t>Descendants still exist in modern CPUs.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1BA09-83B9-4FF6-A0A3-6B7E5D13E7B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4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9385">
              <a:lnSpc>
                <a:spcPts val="19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9385">
              <a:lnSpc>
                <a:spcPts val="19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9385">
              <a:lnSpc>
                <a:spcPts val="19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9385">
              <a:lnSpc>
                <a:spcPts val="19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9385">
              <a:lnSpc>
                <a:spcPts val="19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5"/>
            <a:ext cx="8549640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5"/>
            <a:ext cx="70408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EF516-07C5-44C2-B684-B686D6272CD5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3473">
              <a:lnSpc>
                <a:spcPts val="1922"/>
              </a:lnSpc>
            </a:pPr>
            <a:fld id="{81D60167-4931-47E6-BA6A-407CBD079E47}" type="slidenum">
              <a:rPr lang="en-US" spc="-48" smtClean="0"/>
              <a:pPr marL="153473">
                <a:lnSpc>
                  <a:spcPts val="1922"/>
                </a:lnSpc>
              </a:pPr>
              <a:t>‹#›</a:t>
            </a:fld>
            <a:endParaRPr lang="en-US" spc="-48" dirty="0"/>
          </a:p>
        </p:txBody>
      </p:sp>
    </p:spTree>
    <p:extLst>
      <p:ext uri="{BB962C8B-B14F-4D97-AF65-F5344CB8AC3E}">
        <p14:creationId xmlns:p14="http://schemas.microsoft.com/office/powerpoint/2010/main" val="170278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9434" y="518667"/>
            <a:ext cx="6462396" cy="523220"/>
          </a:xfrm>
        </p:spPr>
        <p:txBody>
          <a:bodyPr lIns="0" tIns="0" rIns="0" bIns="0"/>
          <a:lstStyle>
            <a:lvl1pPr>
              <a:defRPr sz="33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F5A5F-4D81-4062-9F50-DCD803809D85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3473">
              <a:lnSpc>
                <a:spcPts val="1922"/>
              </a:lnSpc>
            </a:pPr>
            <a:fld id="{81D60167-4931-47E6-BA6A-407CBD079E47}" type="slidenum">
              <a:rPr lang="en-US" spc="-48" smtClean="0"/>
              <a:pPr marL="153473">
                <a:lnSpc>
                  <a:spcPts val="1922"/>
                </a:lnSpc>
              </a:pPr>
              <a:t>‹#›</a:t>
            </a:fld>
            <a:endParaRPr lang="en-US" spc="-48" dirty="0"/>
          </a:p>
        </p:txBody>
      </p:sp>
    </p:spTree>
    <p:extLst>
      <p:ext uri="{BB962C8B-B14F-4D97-AF65-F5344CB8AC3E}">
        <p14:creationId xmlns:p14="http://schemas.microsoft.com/office/powerpoint/2010/main" val="266268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9434" y="518667"/>
            <a:ext cx="6462396" cy="523220"/>
          </a:xfrm>
        </p:spPr>
        <p:txBody>
          <a:bodyPr lIns="0" tIns="0" rIns="0" bIns="0"/>
          <a:lstStyle>
            <a:lvl1pPr>
              <a:defRPr sz="33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3"/>
            <a:ext cx="43754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3"/>
            <a:ext cx="43754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ECCAE-1332-4E33-8441-6216EBFD33DD}" type="datetime1">
              <a:rPr lang="en-US" smtClean="0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3473">
              <a:lnSpc>
                <a:spcPts val="1922"/>
              </a:lnSpc>
            </a:pPr>
            <a:fld id="{81D60167-4931-47E6-BA6A-407CBD079E47}" type="slidenum">
              <a:rPr lang="en-US" spc="-48" smtClean="0"/>
              <a:pPr marL="153473">
                <a:lnSpc>
                  <a:spcPts val="1922"/>
                </a:lnSpc>
              </a:pPr>
              <a:t>‹#›</a:t>
            </a:fld>
            <a:endParaRPr lang="en-US" spc="-48" dirty="0"/>
          </a:p>
        </p:txBody>
      </p:sp>
    </p:spTree>
    <p:extLst>
      <p:ext uri="{BB962C8B-B14F-4D97-AF65-F5344CB8AC3E}">
        <p14:creationId xmlns:p14="http://schemas.microsoft.com/office/powerpoint/2010/main" val="315872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9434" y="518667"/>
            <a:ext cx="6462396" cy="523220"/>
          </a:xfrm>
        </p:spPr>
        <p:txBody>
          <a:bodyPr lIns="0" tIns="0" rIns="0" bIns="0"/>
          <a:lstStyle>
            <a:lvl1pPr>
              <a:defRPr sz="33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9052F-3AA5-4739-B420-600756BBFADF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3473">
              <a:lnSpc>
                <a:spcPts val="1922"/>
              </a:lnSpc>
            </a:pPr>
            <a:fld id="{81D60167-4931-47E6-BA6A-407CBD079E47}" type="slidenum">
              <a:rPr lang="en-US" spc="-48" smtClean="0"/>
              <a:pPr marL="153473">
                <a:lnSpc>
                  <a:spcPts val="1922"/>
                </a:lnSpc>
              </a:pPr>
              <a:t>‹#›</a:t>
            </a:fld>
            <a:endParaRPr lang="en-US" spc="-48" dirty="0"/>
          </a:p>
        </p:txBody>
      </p:sp>
    </p:spTree>
    <p:extLst>
      <p:ext uri="{BB962C8B-B14F-4D97-AF65-F5344CB8AC3E}">
        <p14:creationId xmlns:p14="http://schemas.microsoft.com/office/powerpoint/2010/main" val="3267307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2379" y="1314030"/>
            <a:ext cx="8297545" cy="50801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747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3398" y="1894240"/>
            <a:ext cx="5681067" cy="49653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8F89-E567-4EED-8CB0-CD3B1F0F9ADB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3473">
              <a:lnSpc>
                <a:spcPts val="1922"/>
              </a:lnSpc>
            </a:pPr>
            <a:fld id="{81D60167-4931-47E6-BA6A-407CBD079E47}" type="slidenum">
              <a:rPr lang="en-US" spc="-48" smtClean="0"/>
              <a:pPr marL="153473">
                <a:lnSpc>
                  <a:spcPts val="1922"/>
                </a:lnSpc>
              </a:pPr>
              <a:t>‹#›</a:t>
            </a:fld>
            <a:endParaRPr lang="en-US" spc="-48" dirty="0"/>
          </a:p>
        </p:txBody>
      </p:sp>
    </p:spTree>
    <p:extLst>
      <p:ext uri="{BB962C8B-B14F-4D97-AF65-F5344CB8AC3E}">
        <p14:creationId xmlns:p14="http://schemas.microsoft.com/office/powerpoint/2010/main" val="100058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97463" y="1601146"/>
            <a:ext cx="2059429" cy="26169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1"/>
            <a:ext cx="10058400" cy="867198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64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867199"/>
            <a:ext cx="10058400" cy="19791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" y="57574"/>
            <a:ext cx="1351598" cy="80962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416810" y="867199"/>
            <a:ext cx="50642" cy="6496791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814955" y="1354773"/>
            <a:ext cx="50642" cy="4325197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575719" y="2171595"/>
            <a:ext cx="7285355" cy="52175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7149889"/>
            <a:ext cx="10058400" cy="622512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7149889"/>
            <a:ext cx="10058400" cy="19791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327" y="7232651"/>
            <a:ext cx="871378" cy="521758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9227186" y="7363990"/>
            <a:ext cx="633889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32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32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647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9287" y="1287233"/>
            <a:ext cx="8383905" cy="51435"/>
          </a:xfrm>
          <a:custGeom>
            <a:avLst/>
            <a:gdLst/>
            <a:ahLst/>
            <a:cxnLst/>
            <a:rect l="l" t="t" r="r" b="b"/>
            <a:pathLst>
              <a:path w="8383905" h="51434">
                <a:moveTo>
                  <a:pt x="8383765" y="20535"/>
                </a:moveTo>
                <a:lnTo>
                  <a:pt x="0" y="20535"/>
                </a:lnTo>
                <a:lnTo>
                  <a:pt x="0" y="51333"/>
                </a:lnTo>
                <a:lnTo>
                  <a:pt x="8383765" y="51333"/>
                </a:lnTo>
                <a:lnTo>
                  <a:pt x="8383765" y="20535"/>
                </a:lnTo>
                <a:close/>
              </a:path>
              <a:path w="8383905" h="51434">
                <a:moveTo>
                  <a:pt x="8383765" y="0"/>
                </a:moveTo>
                <a:lnTo>
                  <a:pt x="0" y="0"/>
                </a:lnTo>
                <a:lnTo>
                  <a:pt x="0" y="10274"/>
                </a:lnTo>
                <a:lnTo>
                  <a:pt x="8383765" y="10274"/>
                </a:lnTo>
                <a:lnTo>
                  <a:pt x="8383765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5564" y="614679"/>
            <a:ext cx="8346881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2456" y="1822767"/>
            <a:ext cx="8812530" cy="4752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9385">
              <a:lnSpc>
                <a:spcPts val="19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2379" y="1314030"/>
            <a:ext cx="8297545" cy="50801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747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9434" y="518666"/>
            <a:ext cx="6462396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9539" y="3465808"/>
            <a:ext cx="709675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3"/>
            <a:ext cx="32186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3"/>
            <a:ext cx="23134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57E36-A4D3-4216-9467-98056BDF6F20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425006" y="7192395"/>
            <a:ext cx="329776" cy="4873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53473">
              <a:lnSpc>
                <a:spcPts val="1922"/>
              </a:lnSpc>
            </a:pPr>
            <a:fld id="{81D60167-4931-47E6-BA6A-407CBD079E47}" type="slidenum">
              <a:rPr lang="en-US" spc="-48" smtClean="0"/>
              <a:pPr marL="153473">
                <a:lnSpc>
                  <a:spcPts val="1922"/>
                </a:lnSpc>
              </a:pPr>
              <a:t>‹#›</a:t>
            </a:fld>
            <a:endParaRPr lang="en-US" spc="-48" dirty="0"/>
          </a:p>
        </p:txBody>
      </p:sp>
    </p:spTree>
    <p:extLst>
      <p:ext uri="{BB962C8B-B14F-4D97-AF65-F5344CB8AC3E}">
        <p14:creationId xmlns:p14="http://schemas.microsoft.com/office/powerpoint/2010/main" val="40210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43776">
        <a:defRPr>
          <a:latin typeface="+mn-lt"/>
          <a:ea typeface="+mn-ea"/>
          <a:cs typeface="+mn-cs"/>
        </a:defRPr>
      </a:lvl2pPr>
      <a:lvl3pPr marL="887554">
        <a:defRPr>
          <a:latin typeface="+mn-lt"/>
          <a:ea typeface="+mn-ea"/>
          <a:cs typeface="+mn-cs"/>
        </a:defRPr>
      </a:lvl3pPr>
      <a:lvl4pPr marL="1331330">
        <a:defRPr>
          <a:latin typeface="+mn-lt"/>
          <a:ea typeface="+mn-ea"/>
          <a:cs typeface="+mn-cs"/>
        </a:defRPr>
      </a:lvl4pPr>
      <a:lvl5pPr marL="1775106">
        <a:defRPr>
          <a:latin typeface="+mn-lt"/>
          <a:ea typeface="+mn-ea"/>
          <a:cs typeface="+mn-cs"/>
        </a:defRPr>
      </a:lvl5pPr>
      <a:lvl6pPr marL="2218883">
        <a:defRPr>
          <a:latin typeface="+mn-lt"/>
          <a:ea typeface="+mn-ea"/>
          <a:cs typeface="+mn-cs"/>
        </a:defRPr>
      </a:lvl6pPr>
      <a:lvl7pPr marL="2662660">
        <a:defRPr>
          <a:latin typeface="+mn-lt"/>
          <a:ea typeface="+mn-ea"/>
          <a:cs typeface="+mn-cs"/>
        </a:defRPr>
      </a:lvl7pPr>
      <a:lvl8pPr marL="3106436">
        <a:defRPr>
          <a:latin typeface="+mn-lt"/>
          <a:ea typeface="+mn-ea"/>
          <a:cs typeface="+mn-cs"/>
        </a:defRPr>
      </a:lvl8pPr>
      <a:lvl9pPr marL="355021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43776">
        <a:defRPr>
          <a:latin typeface="+mn-lt"/>
          <a:ea typeface="+mn-ea"/>
          <a:cs typeface="+mn-cs"/>
        </a:defRPr>
      </a:lvl2pPr>
      <a:lvl3pPr marL="887554">
        <a:defRPr>
          <a:latin typeface="+mn-lt"/>
          <a:ea typeface="+mn-ea"/>
          <a:cs typeface="+mn-cs"/>
        </a:defRPr>
      </a:lvl3pPr>
      <a:lvl4pPr marL="1331330">
        <a:defRPr>
          <a:latin typeface="+mn-lt"/>
          <a:ea typeface="+mn-ea"/>
          <a:cs typeface="+mn-cs"/>
        </a:defRPr>
      </a:lvl4pPr>
      <a:lvl5pPr marL="1775106">
        <a:defRPr>
          <a:latin typeface="+mn-lt"/>
          <a:ea typeface="+mn-ea"/>
          <a:cs typeface="+mn-cs"/>
        </a:defRPr>
      </a:lvl5pPr>
      <a:lvl6pPr marL="2218883">
        <a:defRPr>
          <a:latin typeface="+mn-lt"/>
          <a:ea typeface="+mn-ea"/>
          <a:cs typeface="+mn-cs"/>
        </a:defRPr>
      </a:lvl6pPr>
      <a:lvl7pPr marL="2662660">
        <a:defRPr>
          <a:latin typeface="+mn-lt"/>
          <a:ea typeface="+mn-ea"/>
          <a:cs typeface="+mn-cs"/>
        </a:defRPr>
      </a:lvl7pPr>
      <a:lvl8pPr marL="3106436">
        <a:defRPr>
          <a:latin typeface="+mn-lt"/>
          <a:ea typeface="+mn-ea"/>
          <a:cs typeface="+mn-cs"/>
        </a:defRPr>
      </a:lvl8pPr>
      <a:lvl9pPr marL="355021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3127535" y="1493837"/>
            <a:ext cx="4151073" cy="4985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defTabSz="502920" rtl="0"/>
            <a:r>
              <a:rPr lang="en-AU" sz="2640" kern="1200" dirty="0">
                <a:solidFill>
                  <a:srgbClr val="000099"/>
                </a:solidFill>
                <a:latin typeface="Arial" charset="0"/>
                <a:ea typeface="+mn-ea"/>
                <a:cs typeface="+mn-cs"/>
              </a:rPr>
              <a:t>Chapter 3 and Appendix C</a:t>
            </a:r>
            <a:endParaRPr lang="en-GB" sz="2640" kern="1200" dirty="0">
              <a:solidFill>
                <a:srgbClr val="000099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3127535" y="2380933"/>
            <a:ext cx="6415723" cy="5663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502920" rtl="0">
              <a:spcBef>
                <a:spcPts val="110"/>
              </a:spcBef>
            </a:pPr>
            <a:r>
              <a:rPr lang="en-US" sz="3080" kern="1200" dirty="0">
                <a:solidFill>
                  <a:srgbClr val="0332B7"/>
                </a:solidFill>
                <a:latin typeface="Arial MT"/>
                <a:ea typeface="+mn-ea"/>
                <a:cs typeface="Arial MT"/>
              </a:rPr>
              <a:t>Tomasulo’s Algorithm</a:t>
            </a:r>
            <a:endParaRPr lang="en-US" sz="3080" kern="1200" dirty="0">
              <a:solidFill>
                <a:prstClr val="black"/>
              </a:solidFill>
              <a:latin typeface="Arial MT"/>
              <a:ea typeface="+mn-ea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640302" y="4286"/>
            <a:ext cx="3808094" cy="904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defTabSz="502920" rtl="0"/>
            <a:r>
              <a:rPr lang="en-US" sz="3080" kern="1200" dirty="0">
                <a:solidFill>
                  <a:prstClr val="white"/>
                </a:solidFill>
                <a:latin typeface="Times New Roman" pitchFamily="18" charset="0"/>
                <a:ea typeface="+mn-ea"/>
                <a:cs typeface="+mn-cs"/>
              </a:rPr>
              <a:t>Computer Architecture</a:t>
            </a:r>
          </a:p>
          <a:p>
            <a:pPr algn="ctr" defTabSz="502920" rtl="0"/>
            <a:r>
              <a:rPr lang="en-US" sz="2200" kern="1200" dirty="0">
                <a:solidFill>
                  <a:prstClr val="white"/>
                </a:solidFill>
                <a:latin typeface="Arial" charset="0"/>
                <a:ea typeface="+mn-ea"/>
                <a:cs typeface="+mn-cs"/>
              </a:rPr>
              <a:t>A Quantitative Approach</a:t>
            </a:r>
            <a:endParaRPr lang="en-GB" sz="2200" kern="1200" dirty="0">
              <a:solidFill>
                <a:prstClr val="white"/>
              </a:solidFill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book cover of a computer architecture&#10;&#10;AI-generated content may be incorrect.">
            <a:extLst>
              <a:ext uri="{FF2B5EF4-FFF2-40B4-BE49-F238E27FC236}">
                <a16:creationId xmlns:a16="http://schemas.microsoft.com/office/drawing/2014/main" id="{C8AD8ECF-BB96-6B99-D501-645D3AF2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4" y="4301464"/>
            <a:ext cx="2083964" cy="25470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558488"/>
            <a:ext cx="5702114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2327">
              <a:spcBef>
                <a:spcPts val="97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1206" y="1433725"/>
            <a:ext cx="7003284" cy="3782013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310643" indent="-298317" algn="l" defTabSz="502920" rtl="0">
              <a:spcBef>
                <a:spcPts val="772"/>
              </a:spcBef>
              <a:buFontTx/>
              <a:buChar char="•"/>
              <a:tabLst>
                <a:tab pos="310643" algn="l"/>
              </a:tabLst>
            </a:pPr>
            <a:r>
              <a:rPr sz="2523" kern="1200" spc="-24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ILP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674"/>
              </a:spcBef>
              <a:buFontTx/>
              <a:buChar char="•"/>
              <a:tabLst>
                <a:tab pos="310643" algn="l"/>
              </a:tabLst>
            </a:pP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Compiler</a:t>
            </a:r>
            <a:r>
              <a:rPr sz="2523" kern="1200" spc="-92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techniques</a:t>
            </a:r>
            <a:r>
              <a:rPr sz="2523" kern="1200" spc="-97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523" kern="1200" spc="-97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increase</a:t>
            </a:r>
            <a:r>
              <a:rPr sz="2523" kern="1200" spc="-87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24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ILP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558"/>
              </a:spcBef>
              <a:buFontTx/>
              <a:buChar char="•"/>
              <a:tabLst>
                <a:tab pos="310643" algn="l"/>
              </a:tabLst>
            </a:pP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Loop</a:t>
            </a:r>
            <a:r>
              <a:rPr sz="2523" kern="1200" spc="-54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Unrolling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656"/>
              </a:spcBef>
              <a:buFontTx/>
              <a:buChar char="•"/>
              <a:tabLst>
                <a:tab pos="310643" algn="l"/>
              </a:tabLst>
            </a:pP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Static</a:t>
            </a:r>
            <a:r>
              <a:rPr sz="2523" kern="1200" spc="-107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Branch</a:t>
            </a:r>
            <a:r>
              <a:rPr sz="2523" kern="1200" spc="-102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Prediction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558"/>
              </a:spcBef>
              <a:buFontTx/>
              <a:buChar char="•"/>
              <a:tabLst>
                <a:tab pos="310643" algn="l"/>
              </a:tabLst>
            </a:pP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Dynamic</a:t>
            </a:r>
            <a:r>
              <a:rPr sz="2523" kern="1200" spc="-107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Branch</a:t>
            </a:r>
            <a:r>
              <a:rPr sz="2523" kern="1200" spc="-97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Prediction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558"/>
              </a:spcBef>
              <a:buFontTx/>
              <a:buChar char="•"/>
              <a:tabLst>
                <a:tab pos="310643" algn="l"/>
              </a:tabLst>
            </a:pPr>
            <a:r>
              <a:rPr sz="2523" kern="1200" spc="-1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Overcoming</a:t>
            </a:r>
            <a:r>
              <a:rPr sz="2523" kern="1200" spc="-97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Data</a:t>
            </a:r>
            <a:r>
              <a:rPr sz="2523" kern="1200" spc="-87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Hazards</a:t>
            </a:r>
            <a:r>
              <a:rPr sz="2523" kern="1200" spc="-92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with</a:t>
            </a:r>
            <a:r>
              <a:rPr sz="2523" kern="1200" spc="-87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Dynamic</a:t>
            </a:r>
            <a:r>
              <a:rPr sz="2523" kern="1200" spc="-87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srgbClr val="919191"/>
                </a:solidFill>
                <a:latin typeface="Calibri"/>
                <a:ea typeface="+mn-ea"/>
                <a:cs typeface="Calibri"/>
              </a:rPr>
              <a:t>Scheduling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674"/>
              </a:spcBef>
              <a:buFont typeface="Calibri"/>
              <a:buChar char="•"/>
              <a:tabLst>
                <a:tab pos="310643" algn="l"/>
              </a:tabLst>
            </a:pPr>
            <a:r>
              <a:rPr sz="2523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(Start)</a:t>
            </a:r>
            <a:r>
              <a:rPr sz="2523" b="1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Tomasulo</a:t>
            </a:r>
            <a:r>
              <a:rPr sz="2523" b="1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Algorithm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563"/>
              </a:spcBef>
              <a:buFontTx/>
              <a:buChar char="•"/>
              <a:tabLst>
                <a:tab pos="310643" algn="l"/>
              </a:tabLst>
            </a:pPr>
            <a:r>
              <a:rPr sz="2523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Conclusion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5" name="object 41">
            <a:extLst>
              <a:ext uri="{FF2B5EF4-FFF2-40B4-BE49-F238E27FC236}">
                <a16:creationId xmlns:a16="http://schemas.microsoft.com/office/drawing/2014/main" id="{96B7693E-8730-BCDD-5059-0340EB63BE3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299" y="762000"/>
            <a:ext cx="7232926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2327">
              <a:spcBef>
                <a:spcPts val="97"/>
              </a:spcBef>
            </a:pPr>
            <a:r>
              <a:rPr dirty="0"/>
              <a:t>Advantages</a:t>
            </a:r>
            <a:r>
              <a:rPr spc="141" dirty="0"/>
              <a:t> </a:t>
            </a:r>
            <a:r>
              <a:rPr dirty="0"/>
              <a:t>of</a:t>
            </a:r>
            <a:r>
              <a:rPr spc="141" dirty="0"/>
              <a:t> </a:t>
            </a:r>
            <a:r>
              <a:rPr dirty="0"/>
              <a:t>Dynamic</a:t>
            </a:r>
            <a:r>
              <a:rPr spc="141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4643" y="1398148"/>
            <a:ext cx="8527774" cy="6107924"/>
          </a:xfrm>
          <a:prstGeom prst="rect">
            <a:avLst/>
          </a:prstGeom>
        </p:spPr>
        <p:txBody>
          <a:bodyPr vert="horz" wrap="square" lIns="0" tIns="55469" rIns="0" bIns="0" rtlCol="0">
            <a:spAutoFit/>
          </a:bodyPr>
          <a:lstStyle/>
          <a:p>
            <a:pPr marL="309411" marR="4931" indent="-297700" algn="just" defTabSz="502920" rtl="0">
              <a:spcBef>
                <a:spcPts val="437"/>
              </a:spcBef>
              <a:spcAft>
                <a:spcPts val="600"/>
              </a:spcAft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Dynamic</a:t>
            </a:r>
            <a:r>
              <a:rPr sz="264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scheduling</a:t>
            </a:r>
            <a:r>
              <a:rPr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-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hardware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rearranges</a:t>
            </a:r>
            <a:r>
              <a:rPr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instruction 	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execution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reduce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stalls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while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maintaining</a:t>
            </a:r>
            <a:r>
              <a:rPr sz="264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data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flow</a:t>
            </a:r>
            <a:r>
              <a:rPr sz="264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 	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exception</a:t>
            </a:r>
            <a:r>
              <a:rPr sz="2640" kern="1200" spc="-10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behavior</a:t>
            </a:r>
            <a:r>
              <a:rPr sz="2640" kern="1200" spc="-10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</a:t>
            </a:r>
            <a:r>
              <a:rPr sz="2640" b="1" kern="1200" spc="-2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out-</a:t>
            </a:r>
            <a:r>
              <a:rPr sz="2640" b="1" kern="1200" spc="-24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of-</a:t>
            </a:r>
            <a:r>
              <a:rPr sz="2640" b="1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order</a:t>
            </a:r>
            <a:r>
              <a:rPr sz="2640" b="1" kern="1200" spc="-107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b="1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execution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)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09411" marR="207712" indent="-297700" algn="just" defTabSz="502920" rtl="0">
              <a:spcBef>
                <a:spcPts val="952"/>
              </a:spcBef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It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handles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cases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which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dependences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were</a:t>
            </a:r>
            <a:r>
              <a:rPr sz="264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unknown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at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compile</a:t>
            </a:r>
            <a:r>
              <a:rPr sz="2640" kern="1200" spc="-121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time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marR="89372" indent="-239146" algn="l" defTabSz="502920" rtl="0">
              <a:spcBef>
                <a:spcPts val="694"/>
              </a:spcBef>
              <a:spcAft>
                <a:spcPts val="600"/>
              </a:spcAft>
            </a:pP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–</a:t>
            </a:r>
            <a:r>
              <a:rPr sz="2420" kern="1200" spc="27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llows</a:t>
            </a:r>
            <a:r>
              <a:rPr sz="242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</a:t>
            </a:r>
            <a:r>
              <a:rPr sz="242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processor</a:t>
            </a:r>
            <a:r>
              <a:rPr sz="242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420" kern="1200" spc="-73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tolerate</a:t>
            </a:r>
            <a:r>
              <a:rPr sz="2420" kern="1200" spc="-63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unpredictable</a:t>
            </a:r>
            <a:r>
              <a:rPr sz="2420" kern="1200" spc="-68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delays</a:t>
            </a:r>
            <a:r>
              <a:rPr sz="2420" kern="1200" spc="-58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(e.g.,</a:t>
            </a:r>
            <a:r>
              <a:rPr sz="2420" kern="1200" spc="-58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cache </a:t>
            </a:r>
            <a:r>
              <a:rPr sz="2420" kern="1200" spc="-20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misses)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,</a:t>
            </a:r>
            <a:r>
              <a:rPr sz="242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by</a:t>
            </a:r>
            <a:r>
              <a:rPr sz="242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executing</a:t>
            </a:r>
            <a:r>
              <a:rPr sz="242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other</a:t>
            </a:r>
            <a:r>
              <a:rPr sz="242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code</a:t>
            </a:r>
            <a:r>
              <a:rPr sz="242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while</a:t>
            </a:r>
            <a:r>
              <a:rPr sz="242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waiting</a:t>
            </a:r>
            <a:r>
              <a:rPr sz="242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sz="242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</a:t>
            </a:r>
            <a:r>
              <a:rPr sz="242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miss</a:t>
            </a:r>
            <a:r>
              <a:rPr sz="242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resolve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154089" indent="-298933" algn="l" defTabSz="502920" rtl="0">
              <a:spcBef>
                <a:spcPts val="883"/>
              </a:spcBef>
              <a:spcAft>
                <a:spcPts val="600"/>
              </a:spcAft>
              <a:buFontTx/>
              <a:buChar char="•"/>
              <a:tabLst>
                <a:tab pos="310643" algn="l"/>
              </a:tabLst>
            </a:pPr>
            <a:r>
              <a:rPr lang="en-US" sz="2640" kern="1200" dirty="0">
                <a:solidFill>
                  <a:prstClr val="black"/>
                </a:solidFill>
                <a:latin typeface="Calibri"/>
                <a:cs typeface="Calibri"/>
              </a:rPr>
              <a:t>It</a:t>
            </a:r>
            <a:r>
              <a:rPr lang="en-US" sz="2640" kern="1200" spc="-6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640" kern="1200" dirty="0">
                <a:solidFill>
                  <a:prstClr val="black"/>
                </a:solidFill>
                <a:latin typeface="Calibri"/>
                <a:cs typeface="Calibri"/>
              </a:rPr>
              <a:t>simplifies</a:t>
            </a:r>
            <a:r>
              <a:rPr lang="en-US" sz="2640" kern="1200" spc="-5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640" kern="1200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lang="en-US" sz="2640" kern="1200" spc="-5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640" kern="1200" spc="-10" dirty="0">
                <a:solidFill>
                  <a:prstClr val="black"/>
                </a:solidFill>
                <a:latin typeface="Calibri"/>
                <a:cs typeface="Calibri"/>
              </a:rPr>
              <a:t>compiler </a:t>
            </a:r>
          </a:p>
          <a:p>
            <a:pPr marL="310643" marR="154089" indent="-298933" algn="l" defTabSz="502920" rtl="0">
              <a:spcBef>
                <a:spcPts val="883"/>
              </a:spcBef>
              <a:spcAft>
                <a:spcPts val="600"/>
              </a:spcAft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It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allows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code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compiled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one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pipeline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run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efficiently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</a:t>
            </a:r>
            <a:r>
              <a:rPr sz="264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</a:t>
            </a:r>
            <a:r>
              <a:rPr sz="264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different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pipeline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342078" indent="-298933" algn="l" defTabSz="502920" rtl="0">
              <a:spcBef>
                <a:spcPts val="898"/>
              </a:spcBef>
              <a:buFontTx/>
              <a:buChar char="•"/>
              <a:tabLst>
                <a:tab pos="310643" algn="l"/>
              </a:tabLst>
            </a:pP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Hardware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speculation,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i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</a:t>
            </a:r>
            <a:r>
              <a:rPr sz="2640" i="1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i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technique</a:t>
            </a:r>
            <a:r>
              <a:rPr sz="2640" i="1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i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with</a:t>
            </a:r>
            <a:r>
              <a:rPr sz="2640" i="1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i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significant </a:t>
            </a:r>
            <a:r>
              <a:rPr sz="2640" i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performance</a:t>
            </a:r>
            <a:r>
              <a:rPr sz="2640" i="1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i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advantages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,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builds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dynamic</a:t>
            </a:r>
            <a:r>
              <a:rPr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scheduling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" name="object 41">
            <a:extLst>
              <a:ext uri="{FF2B5EF4-FFF2-40B4-BE49-F238E27FC236}">
                <a16:creationId xmlns:a16="http://schemas.microsoft.com/office/drawing/2014/main" id="{2DED6741-2B46-D1A3-9F86-63605E63B9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762000"/>
            <a:ext cx="7145461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2327">
              <a:spcBef>
                <a:spcPts val="97"/>
              </a:spcBef>
            </a:pPr>
            <a:r>
              <a:rPr dirty="0"/>
              <a:t>HW</a:t>
            </a:r>
            <a:r>
              <a:rPr spc="141" dirty="0"/>
              <a:t> </a:t>
            </a:r>
            <a:r>
              <a:rPr dirty="0"/>
              <a:t>Schemes:</a:t>
            </a:r>
            <a:r>
              <a:rPr spc="117" dirty="0"/>
              <a:t> </a:t>
            </a:r>
            <a:r>
              <a:rPr dirty="0"/>
              <a:t>Instruction</a:t>
            </a:r>
            <a:r>
              <a:rPr spc="131" dirty="0"/>
              <a:t> </a:t>
            </a:r>
            <a:r>
              <a:rPr spc="-10" dirty="0"/>
              <a:t>Parallelism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5813" y="1447800"/>
            <a:ext cx="7891679" cy="418712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310643" indent="-298317" algn="l" defTabSz="502920" rtl="0">
              <a:spcBef>
                <a:spcPts val="97"/>
              </a:spcBef>
              <a:buFontTx/>
              <a:buChar char="•"/>
              <a:tabLst>
                <a:tab pos="310643" algn="l"/>
              </a:tabLst>
            </a:pPr>
            <a:r>
              <a:rPr sz="2640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Key</a:t>
            </a:r>
            <a:r>
              <a:rPr sz="2640" b="1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idea: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Allow</a:t>
            </a:r>
            <a:r>
              <a:rPr sz="2640" kern="1200" spc="-6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instructions</a:t>
            </a:r>
            <a:r>
              <a:rPr sz="2640" kern="1200" spc="-6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behind</a:t>
            </a:r>
            <a:r>
              <a:rPr sz="2640" kern="1200" spc="-6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stall</a:t>
            </a:r>
            <a:r>
              <a:rPr sz="2640" kern="1200" spc="-5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640" kern="1200" spc="-6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proceed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2317" y="2041042"/>
            <a:ext cx="979955" cy="1110946"/>
          </a:xfrm>
          <a:prstGeom prst="rect">
            <a:avLst/>
          </a:prstGeom>
        </p:spPr>
        <p:txBody>
          <a:bodyPr vert="horz" wrap="square" lIns="0" tIns="52388" rIns="0" bIns="0" rtlCol="0">
            <a:spAutoFit/>
          </a:bodyPr>
          <a:lstStyle/>
          <a:p>
            <a:pPr marL="12327" marR="4931" algn="just" defTabSz="502920" rtl="0">
              <a:lnSpc>
                <a:spcPct val="89600"/>
              </a:lnSpc>
              <a:spcBef>
                <a:spcPts val="413"/>
              </a:spcBef>
            </a:pPr>
            <a:r>
              <a:rPr sz="2523" kern="1200" spc="-29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DIV.D ADD.D </a:t>
            </a:r>
            <a:r>
              <a:rPr sz="2523" b="1" kern="1200" spc="-29" dirty="0">
                <a:solidFill>
                  <a:srgbClr val="008000"/>
                </a:solidFill>
                <a:latin typeface="Courier New"/>
                <a:ea typeface="+mn-ea"/>
                <a:cs typeface="Courier New"/>
              </a:rPr>
              <a:t>SUB.D</a:t>
            </a:r>
            <a:endParaRPr sz="2523" kern="1200" dirty="0">
              <a:solidFill>
                <a:prstClr val="black"/>
              </a:solidFill>
              <a:latin typeface="Courier New"/>
              <a:ea typeface="+mn-ea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69170" y="2041042"/>
            <a:ext cx="1934638" cy="1110946"/>
          </a:xfrm>
          <a:prstGeom prst="rect">
            <a:avLst/>
          </a:prstGeom>
        </p:spPr>
        <p:txBody>
          <a:bodyPr vert="horz" wrap="square" lIns="0" tIns="52388" rIns="0" bIns="0" rtlCol="0">
            <a:spAutoFit/>
          </a:bodyPr>
          <a:lstStyle/>
          <a:p>
            <a:pPr marL="12327" marR="4931" indent="1233" algn="l" defTabSz="502920" rtl="0">
              <a:lnSpc>
                <a:spcPct val="89600"/>
              </a:lnSpc>
              <a:spcBef>
                <a:spcPts val="413"/>
              </a:spcBef>
            </a:pPr>
            <a:r>
              <a:rPr sz="2523" kern="1200" spc="-10" dirty="0">
                <a:solidFill>
                  <a:srgbClr val="FF0000"/>
                </a:solidFill>
                <a:latin typeface="Courier New"/>
                <a:ea typeface="+mn-ea"/>
                <a:cs typeface="Courier New"/>
              </a:rPr>
              <a:t>F0</a:t>
            </a:r>
            <a:r>
              <a:rPr sz="2523" kern="1200" spc="-10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,F2,F4 F10,</a:t>
            </a:r>
            <a:r>
              <a:rPr sz="2523" kern="1200" spc="-10" dirty="0">
                <a:solidFill>
                  <a:srgbClr val="FF0000"/>
                </a:solidFill>
                <a:latin typeface="Courier New"/>
                <a:ea typeface="+mn-ea"/>
                <a:cs typeface="Courier New"/>
              </a:rPr>
              <a:t>F0</a:t>
            </a:r>
            <a:r>
              <a:rPr sz="2523" kern="1200" spc="-10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,F8 </a:t>
            </a:r>
            <a:r>
              <a:rPr sz="2523" b="1" kern="1200" spc="-24" dirty="0">
                <a:solidFill>
                  <a:srgbClr val="008000"/>
                </a:solidFill>
                <a:latin typeface="Courier New"/>
                <a:ea typeface="+mn-ea"/>
                <a:cs typeface="Courier New"/>
              </a:rPr>
              <a:t>F12,F8,F14</a:t>
            </a:r>
            <a:endParaRPr sz="2523" kern="1200" dirty="0">
              <a:solidFill>
                <a:prstClr val="black"/>
              </a:solidFill>
              <a:latin typeface="Courier New"/>
              <a:ea typeface="+mn-ea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0067" y="3335602"/>
            <a:ext cx="8513197" cy="4131998"/>
          </a:xfrm>
          <a:prstGeom prst="rect">
            <a:avLst/>
          </a:prstGeom>
        </p:spPr>
        <p:txBody>
          <a:bodyPr vert="horz" wrap="square" lIns="0" tIns="55469" rIns="0" bIns="0" rtlCol="0">
            <a:spAutoFit/>
          </a:bodyPr>
          <a:lstStyle/>
          <a:p>
            <a:pPr marL="309411" marR="4931" indent="-297700" algn="just" defTabSz="502920" rtl="0">
              <a:spcBef>
                <a:spcPts val="437"/>
              </a:spcBef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Enables</a:t>
            </a:r>
            <a:r>
              <a:rPr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9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out-</a:t>
            </a:r>
            <a:r>
              <a:rPr sz="2640" kern="1200" spc="-1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of-</a:t>
            </a:r>
            <a:r>
              <a:rPr sz="2640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order</a:t>
            </a:r>
            <a:r>
              <a:rPr sz="2640" kern="1200" spc="-78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execution</a:t>
            </a:r>
            <a:r>
              <a:rPr sz="2640" kern="1200" spc="-78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allows</a:t>
            </a:r>
            <a:r>
              <a:rPr lang="en-US"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9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out-</a:t>
            </a:r>
            <a:r>
              <a:rPr sz="2640" kern="1200" spc="-1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of-order completion</a:t>
            </a:r>
            <a:r>
              <a:rPr sz="2640" kern="1200" spc="-87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(e.g.,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b="1" kern="1200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SUBD</a:t>
            </a:r>
            <a:r>
              <a:rPr sz="2640" kern="1200" spc="-87" dirty="0">
                <a:solidFill>
                  <a:srgbClr val="008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before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slow</a:t>
            </a:r>
            <a:r>
              <a:rPr sz="264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b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DIVD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)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marR="252090" indent="-239146" algn="just" defTabSz="502920" rtl="0">
              <a:spcBef>
                <a:spcPts val="859"/>
              </a:spcBef>
              <a:spcAft>
                <a:spcPts val="600"/>
              </a:spcAft>
            </a:pP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–</a:t>
            </a:r>
            <a:r>
              <a:rPr sz="2135" kern="1200" spc="3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</a:t>
            </a:r>
            <a:r>
              <a:rPr sz="242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</a:t>
            </a:r>
            <a:r>
              <a:rPr sz="2420" kern="1200" spc="-3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dynamically</a:t>
            </a:r>
            <a:r>
              <a:rPr sz="242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scheduled</a:t>
            </a:r>
            <a:r>
              <a:rPr sz="2420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pipeline,</a:t>
            </a:r>
            <a:r>
              <a:rPr sz="2420" kern="1200" spc="-3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all</a:t>
            </a:r>
            <a:r>
              <a:rPr sz="2420" kern="1200" spc="-34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instructions</a:t>
            </a:r>
            <a:r>
              <a:rPr sz="2420" kern="1200" spc="-34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still</a:t>
            </a:r>
            <a:r>
              <a:rPr sz="2420" kern="1200" spc="-34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pass through</a:t>
            </a:r>
            <a:r>
              <a:rPr sz="2420" kern="1200" spc="-8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issue</a:t>
            </a:r>
            <a:r>
              <a:rPr sz="2420" kern="1200" spc="-7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stage</a:t>
            </a:r>
            <a:r>
              <a:rPr sz="2420" kern="1200" spc="-6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in</a:t>
            </a:r>
            <a:r>
              <a:rPr sz="2420" kern="1200" spc="-8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order</a:t>
            </a:r>
            <a:r>
              <a:rPr sz="2420" kern="1200" spc="-6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4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(in-</a:t>
            </a:r>
            <a:r>
              <a:rPr sz="2420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order</a:t>
            </a:r>
            <a:r>
              <a:rPr sz="2420" kern="1200" spc="-6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issue)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09411" marR="300166" indent="-297700" algn="just" defTabSz="502920" rtl="0">
              <a:spcBef>
                <a:spcPts val="796"/>
              </a:spcBef>
              <a:spcAft>
                <a:spcPts val="600"/>
              </a:spcAft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Will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distinguish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when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instruction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begins</a:t>
            </a:r>
            <a:r>
              <a:rPr sz="2640" kern="1200" spc="-83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execution 	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from</a:t>
            </a:r>
            <a:r>
              <a:rPr sz="264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when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it</a:t>
            </a:r>
            <a:r>
              <a:rPr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completes</a:t>
            </a:r>
            <a:r>
              <a:rPr sz="2640" kern="1200" spc="-78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execution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;</a:t>
            </a:r>
            <a:r>
              <a:rPr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between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two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times,</a:t>
            </a:r>
            <a:r>
              <a:rPr sz="264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</a:t>
            </a:r>
            <a:r>
              <a:rPr sz="2640" kern="1200" spc="-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instruction</a:t>
            </a:r>
            <a:r>
              <a:rPr sz="2640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is</a:t>
            </a:r>
            <a:r>
              <a:rPr sz="2640" kern="1200" spc="-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in</a:t>
            </a:r>
            <a:r>
              <a:rPr sz="2640" kern="1200" spc="-48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execution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09411" marR="695250" indent="-297700" algn="just" defTabSz="502920" rtl="0">
              <a:spcBef>
                <a:spcPts val="898"/>
              </a:spcBef>
              <a:buFontTx/>
              <a:buChar char="•"/>
              <a:tabLst>
                <a:tab pos="310643" algn="l"/>
              </a:tabLst>
            </a:pPr>
            <a:r>
              <a:rPr sz="2640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Note: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Dynamic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scheduling</a:t>
            </a:r>
            <a:r>
              <a:rPr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creates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WAR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WAW</a:t>
            </a:r>
            <a:r>
              <a:rPr lang="en-US" sz="264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hazards,</a:t>
            </a:r>
            <a:r>
              <a:rPr sz="264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</a:t>
            </a:r>
            <a:r>
              <a:rPr sz="264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makes</a:t>
            </a:r>
            <a:r>
              <a:rPr sz="264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exception</a:t>
            </a:r>
            <a:r>
              <a:rPr sz="264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handling</a:t>
            </a:r>
            <a:r>
              <a:rPr sz="2640" kern="1200" spc="-10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harder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7" name="object 41">
            <a:extLst>
              <a:ext uri="{FF2B5EF4-FFF2-40B4-BE49-F238E27FC236}">
                <a16:creationId xmlns:a16="http://schemas.microsoft.com/office/drawing/2014/main" id="{CB71417D-20D3-58B6-9A36-0509143004D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634129" y="2004259"/>
            <a:ext cx="979955" cy="1654077"/>
          </a:xfrm>
          <a:prstGeom prst="rect">
            <a:avLst/>
          </a:prstGeom>
        </p:spPr>
        <p:txBody>
          <a:bodyPr vert="horz" wrap="square" lIns="0" tIns="55469" rIns="0" bIns="0" rtlCol="0">
            <a:spAutoFit/>
          </a:bodyPr>
          <a:lstStyle/>
          <a:p>
            <a:pPr marL="12327" marR="4931" algn="l" defTabSz="502920" rtl="0">
              <a:spcBef>
                <a:spcPts val="437"/>
              </a:spcBef>
            </a:pPr>
            <a:r>
              <a:rPr sz="2523" kern="1200" spc="-29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DIV.D ADD.D</a:t>
            </a:r>
            <a:endParaRPr sz="2523" kern="1200" dirty="0">
              <a:solidFill>
                <a:prstClr val="black"/>
              </a:solidFill>
              <a:latin typeface="Courier New"/>
              <a:ea typeface="+mn-ea"/>
              <a:cs typeface="Courier New"/>
            </a:endParaRPr>
          </a:p>
          <a:p>
            <a:pPr marL="12327" marR="4931" algn="l" defTabSz="502920" rtl="0">
              <a:spcBef>
                <a:spcPts val="29"/>
              </a:spcBef>
            </a:pPr>
            <a:r>
              <a:rPr sz="2523" kern="1200" spc="-29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SUB.D MUL.D</a:t>
            </a:r>
            <a:endParaRPr sz="2523" kern="1200" dirty="0">
              <a:solidFill>
                <a:prstClr val="black"/>
              </a:solidFill>
              <a:latin typeface="Courier New"/>
              <a:ea typeface="+mn-ea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4275" y="2004259"/>
            <a:ext cx="1934638" cy="1654077"/>
          </a:xfrm>
          <a:prstGeom prst="rect">
            <a:avLst/>
          </a:prstGeom>
        </p:spPr>
        <p:txBody>
          <a:bodyPr vert="horz" wrap="square" lIns="0" tIns="55469" rIns="0" bIns="0" rtlCol="0">
            <a:spAutoFit/>
          </a:bodyPr>
          <a:lstStyle/>
          <a:p>
            <a:pPr marL="12327" marR="386455" algn="l" defTabSz="502920" rtl="0">
              <a:spcBef>
                <a:spcPts val="437"/>
              </a:spcBef>
            </a:pPr>
            <a:r>
              <a:rPr sz="2523" kern="1200" spc="-24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F0,F2,F4 F6,F0,F8</a:t>
            </a:r>
            <a:endParaRPr sz="2523" kern="1200">
              <a:solidFill>
                <a:prstClr val="black"/>
              </a:solidFill>
              <a:latin typeface="Courier New"/>
              <a:ea typeface="+mn-ea"/>
              <a:cs typeface="Courier New"/>
            </a:endParaRPr>
          </a:p>
          <a:p>
            <a:pPr marL="12327" marR="4931" algn="l" defTabSz="502920" rtl="0">
              <a:spcBef>
                <a:spcPts val="29"/>
              </a:spcBef>
            </a:pPr>
            <a:r>
              <a:rPr sz="2523" kern="1200" spc="-24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F8,F10,F14 </a:t>
            </a:r>
            <a:r>
              <a:rPr sz="2523" kern="1200" spc="-10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F6,F10,F8</a:t>
            </a:r>
            <a:endParaRPr sz="2523" kern="1200">
              <a:solidFill>
                <a:prstClr val="black"/>
              </a:solidFill>
              <a:latin typeface="Courier New"/>
              <a:ea typeface="+mn-ea"/>
              <a:cs typeface="Courier New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CCDA1E05-D8FC-CA34-7690-56B420FB48BB}"/>
              </a:ext>
            </a:extLst>
          </p:cNvPr>
          <p:cNvSpPr txBox="1"/>
          <p:nvPr/>
        </p:nvSpPr>
        <p:spPr>
          <a:xfrm>
            <a:off x="930011" y="1490363"/>
            <a:ext cx="8137128" cy="418712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310643" indent="-298317" algn="l" defTabSz="502920" rtl="0">
              <a:spcBef>
                <a:spcPts val="97"/>
              </a:spcBef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Existence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anti-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&amp;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output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dependence.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example: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6F329132-676A-485C-0C5D-1879B54CF05C}"/>
              </a:ext>
            </a:extLst>
          </p:cNvPr>
          <p:cNvSpPr txBox="1"/>
          <p:nvPr/>
        </p:nvSpPr>
        <p:spPr>
          <a:xfrm>
            <a:off x="1355696" y="3901530"/>
            <a:ext cx="8615239" cy="3505911"/>
          </a:xfrm>
          <a:prstGeom prst="rect">
            <a:avLst/>
          </a:prstGeom>
        </p:spPr>
        <p:txBody>
          <a:bodyPr vert="horz" wrap="square" lIns="0" tIns="77041" rIns="0" bIns="0" rtlCol="0">
            <a:spAutoFit/>
          </a:bodyPr>
          <a:lstStyle/>
          <a:p>
            <a:pPr marL="249624" indent="-237298" algn="l" defTabSz="502920" rtl="0">
              <a:spcBef>
                <a:spcPts val="607"/>
              </a:spcBef>
              <a:buFontTx/>
              <a:buChar char="–"/>
              <a:tabLst>
                <a:tab pos="249624" algn="l"/>
              </a:tabLst>
            </a:pPr>
            <a:r>
              <a:rPr sz="2420" b="1" kern="1200" dirty="0">
                <a:solidFill>
                  <a:srgbClr val="00B050"/>
                </a:solidFill>
                <a:latin typeface="Calibri"/>
                <a:ea typeface="+mn-ea"/>
                <a:cs typeface="Calibri"/>
              </a:rPr>
              <a:t>Anti-</a:t>
            </a:r>
            <a:r>
              <a:rPr sz="2420" b="1" kern="1200" spc="-10" dirty="0">
                <a:solidFill>
                  <a:srgbClr val="00B050"/>
                </a:solidFill>
                <a:latin typeface="Calibri"/>
                <a:ea typeface="+mn-ea"/>
                <a:cs typeface="Calibri"/>
              </a:rPr>
              <a:t>dependence?</a:t>
            </a:r>
            <a:endParaRPr sz="2420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619" algn="l" defTabSz="502920" rtl="0">
              <a:spcBef>
                <a:spcPts val="515"/>
              </a:spcBef>
            </a:pPr>
            <a:endParaRPr lang="en-US"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619" algn="l" defTabSz="502920" rtl="0">
              <a:spcBef>
                <a:spcPts val="491"/>
              </a:spcBef>
            </a:pPr>
            <a:r>
              <a:rPr lang="en-US" sz="2420" kern="1200" spc="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 </a:t>
            </a:r>
            <a:endParaRPr lang="en-US"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249624" indent="-237298" algn="l" defTabSz="502920" rtl="0">
              <a:spcBef>
                <a:spcPts val="509"/>
              </a:spcBef>
              <a:buFontTx/>
              <a:buChar char="–"/>
              <a:tabLst>
                <a:tab pos="249624" algn="l"/>
              </a:tabLst>
            </a:pPr>
            <a:r>
              <a:rPr lang="en-US" sz="2420" b="1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Output</a:t>
            </a:r>
            <a:r>
              <a:rPr lang="en-US" sz="2420" b="1" kern="1200" spc="6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420" b="1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dependence?</a:t>
            </a:r>
            <a:endParaRPr lang="en-US" sz="2420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619" algn="l" defTabSz="502920" rtl="0">
              <a:spcBef>
                <a:spcPts val="515"/>
              </a:spcBef>
            </a:pP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619" algn="l" defTabSz="502920" rtl="0">
              <a:spcBef>
                <a:spcPts val="491"/>
              </a:spcBef>
            </a:pP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249624" indent="-237298" algn="l" defTabSz="502920" rtl="0">
              <a:spcBef>
                <a:spcPts val="509"/>
              </a:spcBef>
              <a:buFontTx/>
              <a:buChar char="–"/>
              <a:tabLst>
                <a:tab pos="249624" algn="l"/>
              </a:tabLst>
            </a:pPr>
            <a:r>
              <a:rPr sz="2420" b="1" kern="1200" dirty="0">
                <a:solidFill>
                  <a:srgbClr val="114FFB"/>
                </a:solidFill>
                <a:latin typeface="Calibri"/>
                <a:ea typeface="+mn-ea"/>
                <a:cs typeface="Calibri"/>
              </a:rPr>
              <a:t>True</a:t>
            </a:r>
            <a:r>
              <a:rPr sz="2420" b="1" kern="1200" spc="63" dirty="0">
                <a:solidFill>
                  <a:srgbClr val="114FFB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b="1" kern="1200" spc="-10" dirty="0">
                <a:solidFill>
                  <a:srgbClr val="114FFB"/>
                </a:solidFill>
                <a:latin typeface="Calibri"/>
                <a:ea typeface="+mn-ea"/>
                <a:cs typeface="Calibri"/>
              </a:rPr>
              <a:t>dependence?</a:t>
            </a:r>
            <a:endParaRPr sz="2420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619" algn="l" defTabSz="502920" rtl="0">
              <a:spcBef>
                <a:spcPts val="515"/>
              </a:spcBef>
            </a:pP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532A3EFF-F58C-2C5F-C084-AF838CC3F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3300" y="762000"/>
            <a:ext cx="6504057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2327">
              <a:spcBef>
                <a:spcPts val="97"/>
              </a:spcBef>
            </a:pPr>
            <a:r>
              <a:rPr dirty="0"/>
              <a:t>HW</a:t>
            </a:r>
            <a:r>
              <a:rPr spc="141" dirty="0"/>
              <a:t> </a:t>
            </a:r>
            <a:r>
              <a:rPr dirty="0"/>
              <a:t>Schemes:</a:t>
            </a:r>
            <a:r>
              <a:rPr spc="117" dirty="0"/>
              <a:t> </a:t>
            </a:r>
            <a:r>
              <a:rPr dirty="0"/>
              <a:t>Instruction</a:t>
            </a:r>
            <a:r>
              <a:rPr spc="131" dirty="0"/>
              <a:t> </a:t>
            </a:r>
            <a:r>
              <a:rPr spc="-10" dirty="0"/>
              <a:t>Parallelism</a:t>
            </a:r>
          </a:p>
        </p:txBody>
      </p:sp>
      <p:sp>
        <p:nvSpPr>
          <p:cNvPr id="2" name="object 41">
            <a:extLst>
              <a:ext uri="{FF2B5EF4-FFF2-40B4-BE49-F238E27FC236}">
                <a16:creationId xmlns:a16="http://schemas.microsoft.com/office/drawing/2014/main" id="{0200CFAB-9C97-C3DC-6A26-6510FE842D7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762000"/>
            <a:ext cx="6504057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2327">
              <a:spcBef>
                <a:spcPts val="97"/>
              </a:spcBef>
            </a:pPr>
            <a:r>
              <a:rPr dirty="0"/>
              <a:t>HW</a:t>
            </a:r>
            <a:r>
              <a:rPr spc="141" dirty="0"/>
              <a:t> </a:t>
            </a:r>
            <a:r>
              <a:rPr dirty="0"/>
              <a:t>Schemes:</a:t>
            </a:r>
            <a:r>
              <a:rPr spc="117" dirty="0"/>
              <a:t> </a:t>
            </a:r>
            <a:r>
              <a:rPr dirty="0"/>
              <a:t>Instruction</a:t>
            </a:r>
            <a:r>
              <a:rPr spc="131" dirty="0"/>
              <a:t> </a:t>
            </a:r>
            <a:r>
              <a:rPr spc="-10" dirty="0"/>
              <a:t>Parallelism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0011" y="1490363"/>
            <a:ext cx="8137128" cy="418712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310643" indent="-298317" algn="l" defTabSz="502920" rtl="0">
              <a:spcBef>
                <a:spcPts val="97"/>
              </a:spcBef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Existence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anti-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&amp;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output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dependence.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example: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4129" y="2004259"/>
            <a:ext cx="979955" cy="1654077"/>
          </a:xfrm>
          <a:prstGeom prst="rect">
            <a:avLst/>
          </a:prstGeom>
        </p:spPr>
        <p:txBody>
          <a:bodyPr vert="horz" wrap="square" lIns="0" tIns="55469" rIns="0" bIns="0" rtlCol="0">
            <a:spAutoFit/>
          </a:bodyPr>
          <a:lstStyle/>
          <a:p>
            <a:pPr marL="12327" marR="4931" algn="l" defTabSz="502920" rtl="0">
              <a:spcBef>
                <a:spcPts val="437"/>
              </a:spcBef>
            </a:pPr>
            <a:r>
              <a:rPr sz="2523" kern="1200" spc="-29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DIV.D ADD.D</a:t>
            </a:r>
            <a:endParaRPr sz="2523" kern="1200" dirty="0">
              <a:solidFill>
                <a:prstClr val="black"/>
              </a:solidFill>
              <a:latin typeface="Courier New"/>
              <a:ea typeface="+mn-ea"/>
              <a:cs typeface="Courier New"/>
            </a:endParaRPr>
          </a:p>
          <a:p>
            <a:pPr marL="12327" marR="4931" algn="l" defTabSz="502920" rtl="0">
              <a:spcBef>
                <a:spcPts val="29"/>
              </a:spcBef>
            </a:pPr>
            <a:r>
              <a:rPr sz="2523" kern="1200" spc="-29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SUB.D MUL.D</a:t>
            </a:r>
            <a:endParaRPr sz="2523" kern="1200" dirty="0">
              <a:solidFill>
                <a:prstClr val="black"/>
              </a:solidFill>
              <a:latin typeface="Courier New"/>
              <a:ea typeface="+mn-ea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4275" y="2004259"/>
            <a:ext cx="1934638" cy="1654077"/>
          </a:xfrm>
          <a:prstGeom prst="rect">
            <a:avLst/>
          </a:prstGeom>
        </p:spPr>
        <p:txBody>
          <a:bodyPr vert="horz" wrap="square" lIns="0" tIns="55469" rIns="0" bIns="0" rtlCol="0">
            <a:spAutoFit/>
          </a:bodyPr>
          <a:lstStyle/>
          <a:p>
            <a:pPr marL="12327" marR="386455" algn="l" defTabSz="502920" rtl="0">
              <a:spcBef>
                <a:spcPts val="437"/>
              </a:spcBef>
            </a:pPr>
            <a:r>
              <a:rPr sz="2523" b="1" kern="1200" spc="-24" dirty="0">
                <a:solidFill>
                  <a:srgbClr val="114FFB"/>
                </a:solidFill>
                <a:latin typeface="Courier New"/>
                <a:ea typeface="+mn-ea"/>
                <a:cs typeface="Courier New"/>
              </a:rPr>
              <a:t>F0</a:t>
            </a:r>
            <a:r>
              <a:rPr sz="2523" kern="1200" spc="-24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,F2,F4 </a:t>
            </a:r>
            <a:r>
              <a:rPr sz="2523" b="1" kern="1200" spc="-24" dirty="0">
                <a:solidFill>
                  <a:srgbClr val="FF0000"/>
                </a:solidFill>
                <a:latin typeface="Courier New"/>
                <a:ea typeface="+mn-ea"/>
                <a:cs typeface="Courier New"/>
              </a:rPr>
              <a:t>F6</a:t>
            </a:r>
            <a:r>
              <a:rPr sz="2523" kern="1200" spc="-24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,</a:t>
            </a:r>
            <a:r>
              <a:rPr sz="2523" b="1" kern="1200" spc="-24" dirty="0">
                <a:solidFill>
                  <a:srgbClr val="114FFB"/>
                </a:solidFill>
                <a:latin typeface="Courier New"/>
                <a:ea typeface="+mn-ea"/>
                <a:cs typeface="Courier New"/>
              </a:rPr>
              <a:t>F0</a:t>
            </a:r>
            <a:r>
              <a:rPr sz="2523" kern="1200" spc="-24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,</a:t>
            </a:r>
            <a:r>
              <a:rPr sz="2523" b="1" kern="1200" spc="-24" dirty="0">
                <a:solidFill>
                  <a:srgbClr val="00B050"/>
                </a:solidFill>
                <a:latin typeface="Courier New"/>
                <a:ea typeface="+mn-ea"/>
                <a:cs typeface="Courier New"/>
              </a:rPr>
              <a:t>F8</a:t>
            </a:r>
            <a:endParaRPr sz="2523" kern="1200" dirty="0">
              <a:solidFill>
                <a:prstClr val="black"/>
              </a:solidFill>
              <a:latin typeface="Courier New"/>
              <a:ea typeface="+mn-ea"/>
              <a:cs typeface="Courier New"/>
            </a:endParaRPr>
          </a:p>
          <a:p>
            <a:pPr marL="12327" marR="4931" algn="l" defTabSz="502920" rtl="0">
              <a:spcBef>
                <a:spcPts val="29"/>
              </a:spcBef>
            </a:pPr>
            <a:r>
              <a:rPr sz="2523" b="1" kern="1200" spc="-24" dirty="0">
                <a:solidFill>
                  <a:srgbClr val="00B050"/>
                </a:solidFill>
                <a:latin typeface="Courier New"/>
                <a:ea typeface="+mn-ea"/>
                <a:cs typeface="Courier New"/>
              </a:rPr>
              <a:t>F8</a:t>
            </a:r>
            <a:r>
              <a:rPr sz="2523" kern="1200" spc="-24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,F10,F14 </a:t>
            </a:r>
            <a:r>
              <a:rPr sz="2523" b="1" kern="1200" spc="-10" dirty="0">
                <a:solidFill>
                  <a:srgbClr val="FF0000"/>
                </a:solidFill>
                <a:latin typeface="Courier New"/>
                <a:ea typeface="+mn-ea"/>
                <a:cs typeface="Courier New"/>
              </a:rPr>
              <a:t>F6</a:t>
            </a:r>
            <a:r>
              <a:rPr sz="2523" kern="1200" spc="-10" dirty="0">
                <a:solidFill>
                  <a:prstClr val="black"/>
                </a:solidFill>
                <a:latin typeface="Courier New"/>
                <a:ea typeface="+mn-ea"/>
                <a:cs typeface="Courier New"/>
              </a:rPr>
              <a:t>,F10,F8</a:t>
            </a:r>
            <a:endParaRPr sz="2523" kern="1200" dirty="0">
              <a:solidFill>
                <a:prstClr val="black"/>
              </a:solidFill>
              <a:latin typeface="Courier New"/>
              <a:ea typeface="+mn-ea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5696" y="3901530"/>
            <a:ext cx="8615239" cy="3505911"/>
          </a:xfrm>
          <a:prstGeom prst="rect">
            <a:avLst/>
          </a:prstGeom>
        </p:spPr>
        <p:txBody>
          <a:bodyPr vert="horz" wrap="square" lIns="0" tIns="77041" rIns="0" bIns="0" rtlCol="0">
            <a:spAutoFit/>
          </a:bodyPr>
          <a:lstStyle/>
          <a:p>
            <a:pPr marL="249624" indent="-237298" algn="l" defTabSz="502920" rtl="0">
              <a:spcBef>
                <a:spcPts val="607"/>
              </a:spcBef>
              <a:buFontTx/>
              <a:buChar char="–"/>
              <a:tabLst>
                <a:tab pos="249624" algn="l"/>
              </a:tabLst>
            </a:pPr>
            <a:r>
              <a:rPr sz="2420" b="1" kern="1200" dirty="0">
                <a:solidFill>
                  <a:srgbClr val="00B050"/>
                </a:solidFill>
                <a:latin typeface="Calibri"/>
                <a:ea typeface="+mn-ea"/>
                <a:cs typeface="Calibri"/>
              </a:rPr>
              <a:t>Anti-</a:t>
            </a:r>
            <a:r>
              <a:rPr sz="2420" b="1" kern="1200" spc="-10" dirty="0">
                <a:solidFill>
                  <a:srgbClr val="00B050"/>
                </a:solidFill>
                <a:latin typeface="Calibri"/>
                <a:ea typeface="+mn-ea"/>
                <a:cs typeface="Calibri"/>
              </a:rPr>
              <a:t>dependence?</a:t>
            </a:r>
            <a:endParaRPr sz="2420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619" algn="l" defTabSz="502920" rtl="0">
              <a:spcBef>
                <a:spcPts val="515"/>
              </a:spcBef>
            </a:pP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»</a:t>
            </a:r>
            <a:r>
              <a:rPr sz="2420" kern="1200" spc="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Between</a:t>
            </a:r>
            <a:r>
              <a:rPr sz="2420" kern="1200" spc="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ADD.D</a:t>
            </a:r>
            <a:r>
              <a:rPr sz="2420" kern="1200" spc="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</a:t>
            </a:r>
            <a:r>
              <a:rPr sz="2420" kern="1200" spc="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SUB.D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619" algn="l" defTabSz="502920" rtl="0">
              <a:spcBef>
                <a:spcPts val="491"/>
              </a:spcBef>
            </a:pP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»</a:t>
            </a:r>
            <a:r>
              <a:rPr sz="2420" kern="1200" spc="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SUB.D</a:t>
            </a:r>
            <a:r>
              <a:rPr sz="2420" kern="1200" spc="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may</a:t>
            </a:r>
            <a:r>
              <a:rPr sz="2420" kern="1200" spc="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complete</a:t>
            </a:r>
            <a:r>
              <a:rPr sz="2420" kern="1200" spc="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while</a:t>
            </a:r>
            <a:r>
              <a:rPr sz="2420" kern="1200" spc="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ADD.D</a:t>
            </a:r>
            <a:r>
              <a:rPr sz="2420" kern="1200" spc="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is</a:t>
            </a:r>
            <a:r>
              <a:rPr sz="2420" kern="1200" spc="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waiting</a:t>
            </a:r>
            <a:r>
              <a:rPr sz="2420" kern="1200" spc="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-</a:t>
            </a:r>
            <a:r>
              <a:rPr sz="2420" kern="1200" spc="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WAR</a:t>
            </a:r>
            <a:r>
              <a:rPr sz="2420" kern="1200" spc="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hazard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249624" indent="-237298" algn="l" defTabSz="502920" rtl="0">
              <a:spcBef>
                <a:spcPts val="509"/>
              </a:spcBef>
              <a:buFontTx/>
              <a:buChar char="–"/>
              <a:tabLst>
                <a:tab pos="249624" algn="l"/>
              </a:tabLst>
            </a:pPr>
            <a:r>
              <a:rPr sz="2420" b="1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Output</a:t>
            </a:r>
            <a:r>
              <a:rPr sz="2420" b="1" kern="1200" spc="6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b="1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dependence?</a:t>
            </a:r>
            <a:endParaRPr sz="2420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619" algn="l" defTabSz="502920" rtl="0">
              <a:spcBef>
                <a:spcPts val="515"/>
              </a:spcBef>
            </a:pP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»</a:t>
            </a:r>
            <a:r>
              <a:rPr sz="2420" kern="1200" spc="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Between</a:t>
            </a:r>
            <a:r>
              <a:rPr sz="2420" kern="1200" spc="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ADD.D</a:t>
            </a:r>
            <a:r>
              <a:rPr sz="2420" kern="1200" spc="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</a:t>
            </a:r>
            <a:r>
              <a:rPr sz="2420" kern="1200" spc="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MUL.D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619" algn="l" defTabSz="502920" rtl="0">
              <a:spcBef>
                <a:spcPts val="491"/>
              </a:spcBef>
            </a:pP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»</a:t>
            </a:r>
            <a:r>
              <a:rPr sz="2420" kern="1200" spc="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MUL.D</a:t>
            </a:r>
            <a:r>
              <a:rPr sz="2420" kern="1200" spc="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may</a:t>
            </a:r>
            <a:r>
              <a:rPr sz="2420" kern="1200" spc="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complete</a:t>
            </a:r>
            <a:r>
              <a:rPr sz="2420" kern="1200" spc="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while</a:t>
            </a:r>
            <a:r>
              <a:rPr sz="2420" kern="1200" spc="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ADD.D</a:t>
            </a:r>
            <a:r>
              <a:rPr sz="2420" kern="1200" spc="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is</a:t>
            </a:r>
            <a:r>
              <a:rPr sz="2420" kern="1200" spc="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waiting</a:t>
            </a:r>
            <a:r>
              <a:rPr sz="2420" kern="1200" spc="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-</a:t>
            </a:r>
            <a:r>
              <a:rPr sz="2420" kern="1200" spc="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WAW</a:t>
            </a:r>
            <a:r>
              <a:rPr sz="2420" kern="1200" spc="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hazard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249624" indent="-237298" algn="l" defTabSz="502920" rtl="0">
              <a:spcBef>
                <a:spcPts val="509"/>
              </a:spcBef>
              <a:buFontTx/>
              <a:buChar char="–"/>
              <a:tabLst>
                <a:tab pos="249624" algn="l"/>
              </a:tabLst>
            </a:pPr>
            <a:r>
              <a:rPr sz="2420" b="1" kern="1200" dirty="0">
                <a:solidFill>
                  <a:srgbClr val="114FFB"/>
                </a:solidFill>
                <a:latin typeface="Calibri"/>
                <a:ea typeface="+mn-ea"/>
                <a:cs typeface="Calibri"/>
              </a:rPr>
              <a:t>True</a:t>
            </a:r>
            <a:r>
              <a:rPr sz="2420" b="1" kern="1200" spc="63" dirty="0">
                <a:solidFill>
                  <a:srgbClr val="114FFB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b="1" kern="1200" spc="-10" dirty="0">
                <a:solidFill>
                  <a:srgbClr val="114FFB"/>
                </a:solidFill>
                <a:latin typeface="Calibri"/>
                <a:ea typeface="+mn-ea"/>
                <a:cs typeface="Calibri"/>
              </a:rPr>
              <a:t>dependence?</a:t>
            </a:r>
            <a:endParaRPr sz="2420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619" algn="l" defTabSz="502920" rtl="0">
              <a:spcBef>
                <a:spcPts val="515"/>
              </a:spcBef>
            </a:pP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»</a:t>
            </a:r>
            <a:r>
              <a:rPr sz="2420" kern="1200" spc="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Between</a:t>
            </a:r>
            <a:r>
              <a:rPr sz="2420" kern="1200" spc="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DIV.D</a:t>
            </a:r>
            <a:r>
              <a:rPr sz="2420" kern="1200" spc="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</a:t>
            </a:r>
            <a:r>
              <a:rPr sz="2420" kern="1200" spc="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ADD.D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7" name="object 41">
            <a:extLst>
              <a:ext uri="{FF2B5EF4-FFF2-40B4-BE49-F238E27FC236}">
                <a16:creationId xmlns:a16="http://schemas.microsoft.com/office/drawing/2014/main" id="{577CDA9C-5E70-34D4-8E7E-758F34FEDF8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762000"/>
            <a:ext cx="5702114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2327">
              <a:spcBef>
                <a:spcPts val="97"/>
              </a:spcBef>
            </a:pPr>
            <a:r>
              <a:rPr dirty="0"/>
              <a:t>Dynamic</a:t>
            </a:r>
            <a:r>
              <a:rPr spc="102" dirty="0"/>
              <a:t> </a:t>
            </a:r>
            <a:r>
              <a:rPr dirty="0"/>
              <a:t>Scheduling</a:t>
            </a:r>
            <a:r>
              <a:rPr spc="111" dirty="0"/>
              <a:t> </a:t>
            </a:r>
            <a:r>
              <a:rPr dirty="0"/>
              <a:t>-</a:t>
            </a:r>
            <a:r>
              <a:rPr spc="92" dirty="0"/>
              <a:t> </a:t>
            </a:r>
            <a:r>
              <a:rPr dirty="0"/>
              <a:t>Step</a:t>
            </a:r>
            <a:r>
              <a:rPr spc="117" dirty="0"/>
              <a:t> </a:t>
            </a:r>
            <a:r>
              <a:rPr spc="-48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9221" y="1519518"/>
            <a:ext cx="8914073" cy="4444904"/>
          </a:xfrm>
          <a:prstGeom prst="rect">
            <a:avLst/>
          </a:prstGeom>
        </p:spPr>
        <p:txBody>
          <a:bodyPr vert="horz" wrap="square" lIns="0" tIns="55469" rIns="0" bIns="0" rtlCol="0">
            <a:spAutoFit/>
          </a:bodyPr>
          <a:lstStyle/>
          <a:p>
            <a:pPr marL="310643" marR="4931" indent="-298933" algn="l" defTabSz="502920" rtl="0">
              <a:spcBef>
                <a:spcPts val="437"/>
              </a:spcBef>
              <a:spcAft>
                <a:spcPts val="600"/>
              </a:spcAft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Simple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pipeline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had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only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one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stage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check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both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structural</a:t>
            </a:r>
            <a:r>
              <a:rPr sz="264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br>
              <a:rPr lang="en-US" sz="264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</a:b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</a:t>
            </a:r>
            <a:r>
              <a:rPr sz="264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data</a:t>
            </a:r>
            <a:r>
              <a:rPr sz="2640" kern="1200" spc="-10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hazards:</a:t>
            </a:r>
            <a:r>
              <a:rPr sz="2640" kern="1200" spc="-10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Instruction</a:t>
            </a:r>
            <a:r>
              <a:rPr sz="264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Decode</a:t>
            </a:r>
            <a:r>
              <a:rPr sz="2640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(ID),</a:t>
            </a:r>
            <a:r>
              <a:rPr sz="264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also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called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b="1" kern="1200" spc="-1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Instruction</a:t>
            </a:r>
            <a:r>
              <a:rPr sz="2640" b="1" kern="1200" spc="-68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b="1" kern="1200" spc="-2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Issue</a:t>
            </a:r>
            <a:endParaRPr sz="2640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142995" indent="-298933" algn="l" defTabSz="502920" rtl="0">
              <a:spcBef>
                <a:spcPts val="922"/>
              </a:spcBef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Dynamic</a:t>
            </a:r>
            <a:r>
              <a:rPr sz="264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scheduling</a:t>
            </a:r>
            <a:r>
              <a:rPr sz="264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hardware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splits</a:t>
            </a:r>
            <a:r>
              <a:rPr sz="264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ID</a:t>
            </a:r>
            <a:r>
              <a:rPr sz="264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pipe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stage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of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simple</a:t>
            </a:r>
            <a:r>
              <a:rPr sz="264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5-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stage</a:t>
            </a:r>
            <a:r>
              <a:rPr sz="2640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pipeline</a:t>
            </a:r>
            <a:r>
              <a:rPr sz="264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into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2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stages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make</a:t>
            </a:r>
            <a:r>
              <a:rPr sz="264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6-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stage pipeline: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7917" lvl="1" indent="-237298" algn="l" defTabSz="502920" rtl="0">
              <a:spcBef>
                <a:spcPts val="563"/>
              </a:spcBef>
              <a:buFontTx/>
              <a:buChar char="–"/>
              <a:tabLst>
                <a:tab pos="727917" algn="l"/>
              </a:tabLst>
            </a:pPr>
            <a:r>
              <a:rPr sz="2420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Issue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—Decode</a:t>
            </a:r>
            <a:r>
              <a:rPr sz="2420" kern="1200" spc="10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instructions,</a:t>
            </a:r>
            <a:r>
              <a:rPr sz="2420" kern="1200" spc="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check</a:t>
            </a:r>
            <a:r>
              <a:rPr sz="2420" kern="1200" spc="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sz="2420" kern="1200" spc="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structural</a:t>
            </a:r>
            <a:r>
              <a:rPr sz="2420" kern="1200" spc="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hazards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7917" lvl="1" indent="-237298" algn="l" defTabSz="502920" rtl="0">
              <a:spcBef>
                <a:spcPts val="515"/>
              </a:spcBef>
              <a:buFontTx/>
              <a:buChar char="–"/>
              <a:tabLst>
                <a:tab pos="727917" algn="l"/>
              </a:tabLst>
            </a:pPr>
            <a:r>
              <a:rPr sz="2420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Read</a:t>
            </a:r>
            <a:r>
              <a:rPr sz="2420" b="1" kern="1200" spc="78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operands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—Wait</a:t>
            </a:r>
            <a:r>
              <a:rPr sz="2420" kern="1200" spc="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until</a:t>
            </a:r>
            <a:r>
              <a:rPr sz="2420" kern="1200" spc="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no</a:t>
            </a:r>
            <a:r>
              <a:rPr sz="2420" kern="1200" spc="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data</a:t>
            </a:r>
            <a:r>
              <a:rPr sz="2420" kern="1200" spc="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hazards,</a:t>
            </a:r>
            <a:r>
              <a:rPr sz="2420" kern="1200" spc="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then</a:t>
            </a:r>
            <a:r>
              <a:rPr sz="2420" kern="1200" spc="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read</a:t>
            </a:r>
            <a:r>
              <a:rPr sz="2420" kern="1200" spc="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operands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502920" lvl="1" algn="l" defTabSz="502920" rtl="0">
              <a:spcBef>
                <a:spcPts val="961"/>
              </a:spcBef>
              <a:buFont typeface="Calibri"/>
              <a:buChar char="–"/>
            </a:pP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7917" lvl="1" indent="-237298" algn="l" defTabSz="502920" rtl="0">
              <a:buFontTx/>
              <a:buChar char="–"/>
              <a:tabLst>
                <a:tab pos="727917" algn="l"/>
              </a:tabLst>
            </a:pP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Recall</a:t>
            </a:r>
            <a:r>
              <a:rPr sz="2420" kern="1200" spc="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Scoreboard</a:t>
            </a:r>
            <a:r>
              <a:rPr sz="2420" kern="1200" spc="10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method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" name="object 41">
            <a:extLst>
              <a:ext uri="{FF2B5EF4-FFF2-40B4-BE49-F238E27FC236}">
                <a16:creationId xmlns:a16="http://schemas.microsoft.com/office/drawing/2014/main" id="{9F81D3A3-3F0E-DA55-5B0E-357E8F4ED09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762000"/>
            <a:ext cx="6372860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2327">
              <a:spcBef>
                <a:spcPts val="97"/>
              </a:spcBef>
            </a:pPr>
            <a:r>
              <a:rPr dirty="0"/>
              <a:t>A</a:t>
            </a:r>
            <a:r>
              <a:rPr spc="126" dirty="0"/>
              <a:t> </a:t>
            </a:r>
            <a:r>
              <a:rPr dirty="0"/>
              <a:t>Dynamic</a:t>
            </a:r>
            <a:r>
              <a:rPr spc="121" dirty="0"/>
              <a:t> </a:t>
            </a:r>
            <a:r>
              <a:rPr dirty="0"/>
              <a:t>Algorithm:</a:t>
            </a:r>
            <a:r>
              <a:rPr spc="136" dirty="0"/>
              <a:t> </a:t>
            </a:r>
            <a:r>
              <a:rPr spc="-10" dirty="0"/>
              <a:t>Tomasulo’s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9223" y="1433278"/>
            <a:ext cx="8600660" cy="5634424"/>
          </a:xfrm>
          <a:prstGeom prst="rect">
            <a:avLst/>
          </a:prstGeom>
        </p:spPr>
        <p:txBody>
          <a:bodyPr vert="horz" wrap="square" lIns="0" tIns="98612" rIns="0" bIns="0" rtlCol="0">
            <a:spAutoFit/>
          </a:bodyPr>
          <a:lstStyle/>
          <a:p>
            <a:pPr marL="310643" marR="183675" indent="-298933" algn="l" defTabSz="502920" rtl="0">
              <a:spcBef>
                <a:spcPts val="4"/>
              </a:spcBef>
              <a:spcAft>
                <a:spcPts val="660"/>
              </a:spcAft>
              <a:buFontTx/>
              <a:buChar char="•"/>
              <a:tabLst>
                <a:tab pos="310643" algn="l"/>
              </a:tabLst>
            </a:pPr>
            <a:r>
              <a:rPr lang="en-US"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lang="en-US"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IBM</a:t>
            </a:r>
            <a:r>
              <a:rPr lang="en-US"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360/91</a:t>
            </a:r>
            <a:r>
              <a:rPr lang="en-US"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</a:t>
            </a:r>
            <a:r>
              <a:rPr lang="en-US" sz="2640" u="sng" kern="12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before</a:t>
            </a:r>
            <a:r>
              <a:rPr lang="en-US" sz="2640" u="sng" kern="1200" spc="-68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lang="en-US" sz="2640" u="sng" kern="12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caches</a:t>
            </a:r>
            <a:r>
              <a:rPr lang="en-US"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!)</a:t>
            </a:r>
          </a:p>
          <a:p>
            <a:pPr marL="321310" marR="183675" algn="l" defTabSz="502920" rtl="0">
              <a:spcBef>
                <a:spcPts val="4"/>
              </a:spcBef>
              <a:tabLst>
                <a:tab pos="310643" algn="l"/>
              </a:tabLst>
            </a:pPr>
            <a:r>
              <a:rPr lang="en-US" sz="2420" kern="1200" spc="-20" dirty="0">
                <a:solidFill>
                  <a:prstClr val="black"/>
                </a:solidFill>
                <a:latin typeface="Symbol"/>
                <a:ea typeface="+mn-ea"/>
                <a:cs typeface="Symbol"/>
              </a:rPr>
              <a:t> </a:t>
            </a:r>
            <a:r>
              <a:rPr lang="en-US"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long</a:t>
            </a:r>
            <a:r>
              <a:rPr lang="en-US" sz="242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42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memory</a:t>
            </a:r>
            <a:r>
              <a:rPr lang="en-US" sz="242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latency</a:t>
            </a:r>
            <a:r>
              <a:rPr lang="en-US" sz="242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</a:t>
            </a:r>
            <a:r>
              <a:rPr lang="en-US" sz="242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FP</a:t>
            </a:r>
            <a:r>
              <a:rPr lang="en-US" sz="242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lang="en-US"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delays</a:t>
            </a:r>
            <a:endParaRPr lang="en-US"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183675" indent="-298933" algn="l" defTabSz="502920" rtl="0">
              <a:spcBef>
                <a:spcPts val="4"/>
              </a:spcBef>
              <a:buFontTx/>
              <a:buChar char="•"/>
              <a:tabLst>
                <a:tab pos="310643" algn="l"/>
              </a:tabLst>
            </a:pPr>
            <a:endParaRPr lang="en-US"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183675" indent="-298933" algn="l" defTabSz="502920" rtl="0">
              <a:spcBef>
                <a:spcPts val="4"/>
              </a:spcBef>
              <a:spcAft>
                <a:spcPts val="660"/>
              </a:spcAft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Goal: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Achieve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high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floating-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point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performance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sz="264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entire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360</a:t>
            </a:r>
            <a:r>
              <a:rPr sz="264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family,</a:t>
            </a:r>
            <a:r>
              <a:rPr sz="2640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without</a:t>
            </a:r>
            <a:r>
              <a:rPr sz="2640" kern="1200" spc="-92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special</a:t>
            </a:r>
            <a:r>
              <a:rPr sz="2640" kern="1200" spc="-92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compilers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189221" indent="-298933" algn="l" defTabSz="502920" rtl="0">
              <a:spcBef>
                <a:spcPts val="952"/>
              </a:spcBef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Small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number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floating</a:t>
            </a:r>
            <a:r>
              <a:rPr lang="en-US" sz="264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-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point</a:t>
            </a:r>
            <a:r>
              <a:rPr sz="264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registers</a:t>
            </a:r>
            <a:r>
              <a:rPr sz="264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</a:t>
            </a:r>
            <a:r>
              <a:rPr sz="2640" u="sng" kern="12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4</a:t>
            </a:r>
            <a:r>
              <a:rPr sz="2640" u="sng" kern="1200" spc="-78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640" u="sng" kern="12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in</a:t>
            </a:r>
            <a:r>
              <a:rPr sz="2640" u="sng" kern="1200" spc="-73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640" u="sng" kern="12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IBM</a:t>
            </a:r>
            <a:r>
              <a:rPr sz="2640" u="sng" kern="1200" spc="-83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640" u="sng" kern="1200" spc="-2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360</a:t>
            </a:r>
            <a:r>
              <a:rPr sz="2640" kern="1200" spc="-2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)</a:t>
            </a:r>
            <a:r>
              <a:rPr sz="264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prevented</a:t>
            </a:r>
            <a:r>
              <a:rPr sz="2640" kern="1200" spc="-10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interesting</a:t>
            </a:r>
            <a:r>
              <a:rPr sz="2640" kern="1200" spc="-10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compiler</a:t>
            </a:r>
            <a:r>
              <a:rPr sz="2640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scheduling</a:t>
            </a:r>
            <a:r>
              <a:rPr sz="2640" kern="1200" spc="-10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640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operations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marR="4931" lvl="1" indent="-239146" algn="l" defTabSz="502920" rtl="0">
              <a:spcBef>
                <a:spcPts val="684"/>
              </a:spcBef>
              <a:spcAft>
                <a:spcPts val="660"/>
              </a:spcAft>
              <a:buFontTx/>
              <a:buChar char="–"/>
              <a:tabLst>
                <a:tab pos="729766" algn="l"/>
              </a:tabLst>
            </a:pP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This</a:t>
            </a:r>
            <a:r>
              <a:rPr sz="242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led</a:t>
            </a:r>
            <a:r>
              <a:rPr sz="242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Tomasulo</a:t>
            </a:r>
            <a:r>
              <a:rPr sz="242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42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try</a:t>
            </a:r>
            <a:r>
              <a:rPr sz="242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42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figure</a:t>
            </a:r>
            <a:r>
              <a:rPr sz="242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out</a:t>
            </a:r>
            <a:r>
              <a:rPr sz="242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how</a:t>
            </a:r>
            <a:r>
              <a:rPr sz="2420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effectively</a:t>
            </a:r>
            <a:r>
              <a:rPr sz="242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42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get</a:t>
            </a:r>
            <a:r>
              <a:rPr sz="242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more registers</a:t>
            </a:r>
            <a:r>
              <a:rPr sz="2420" kern="1200" spc="-3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—</a:t>
            </a:r>
            <a:r>
              <a:rPr sz="242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4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renaming</a:t>
            </a:r>
            <a:r>
              <a:rPr sz="2420" kern="1200" spc="-4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in</a:t>
            </a:r>
            <a:r>
              <a:rPr sz="2420" kern="1200" spc="-44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hardware!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505"/>
              </a:spcBef>
              <a:spcAft>
                <a:spcPts val="660"/>
              </a:spcAft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Why</a:t>
            </a:r>
            <a:r>
              <a:rPr sz="264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Study</a:t>
            </a:r>
            <a:r>
              <a:rPr sz="2640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</a:t>
            </a:r>
            <a:r>
              <a:rPr sz="2640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1966</a:t>
            </a:r>
            <a:r>
              <a:rPr sz="264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Computer?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558"/>
              </a:spcBef>
              <a:buFontTx/>
              <a:buChar char="•"/>
              <a:tabLst>
                <a:tab pos="310643" algn="l"/>
              </a:tabLst>
            </a:pP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descendants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64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this</a:t>
            </a:r>
            <a:r>
              <a:rPr sz="264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have</a:t>
            </a:r>
            <a:r>
              <a:rPr sz="264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64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flourished!</a:t>
            </a:r>
            <a:endParaRPr sz="264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578"/>
              </a:spcBef>
              <a:buFontTx/>
              <a:buChar char="–"/>
              <a:tabLst>
                <a:tab pos="729766" algn="l"/>
              </a:tabLst>
            </a:pP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Alpha</a:t>
            </a:r>
            <a:r>
              <a:rPr sz="242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21264,</a:t>
            </a:r>
            <a:r>
              <a:rPr sz="242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Pentium</a:t>
            </a:r>
            <a:r>
              <a:rPr sz="2420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4,</a:t>
            </a:r>
            <a:r>
              <a:rPr sz="242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AMD</a:t>
            </a:r>
            <a:r>
              <a:rPr sz="2420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Opteron,</a:t>
            </a:r>
            <a:r>
              <a:rPr sz="242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Power</a:t>
            </a:r>
            <a:r>
              <a:rPr sz="242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5,</a:t>
            </a:r>
            <a:r>
              <a:rPr sz="242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420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…</a:t>
            </a:r>
            <a:endParaRPr sz="242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4" name="object 41">
            <a:extLst>
              <a:ext uri="{FF2B5EF4-FFF2-40B4-BE49-F238E27FC236}">
                <a16:creationId xmlns:a16="http://schemas.microsoft.com/office/drawing/2014/main" id="{1C09DCEB-7677-AE83-F1C3-0C33364A1B0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3300" y="762000"/>
            <a:ext cx="5702114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2327">
              <a:spcBef>
                <a:spcPts val="97"/>
              </a:spcBef>
            </a:pPr>
            <a:r>
              <a:rPr dirty="0"/>
              <a:t>Tomasulo</a:t>
            </a:r>
            <a:r>
              <a:rPr spc="18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9222" y="1295400"/>
            <a:ext cx="8629816" cy="6394119"/>
          </a:xfrm>
          <a:prstGeom prst="rect">
            <a:avLst/>
          </a:prstGeom>
        </p:spPr>
        <p:txBody>
          <a:bodyPr vert="horz" wrap="square" lIns="0" tIns="98612" rIns="0" bIns="0" rtlCol="0">
            <a:spAutoFit/>
          </a:bodyPr>
          <a:lstStyle/>
          <a:p>
            <a:pPr marL="310643" indent="-298317" algn="l" defTabSz="502920" rtl="0">
              <a:spcBef>
                <a:spcPts val="777"/>
              </a:spcBef>
              <a:buFontTx/>
              <a:buChar char="•"/>
              <a:tabLst>
                <a:tab pos="310643" algn="l"/>
              </a:tabLst>
            </a:pP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Control</a:t>
            </a:r>
            <a:r>
              <a:rPr sz="253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&amp;</a:t>
            </a:r>
            <a:r>
              <a:rPr sz="253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buffers</a:t>
            </a:r>
            <a:r>
              <a:rPr sz="253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distributed</a:t>
            </a:r>
            <a:r>
              <a:rPr sz="2530" kern="1200" spc="-78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w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ith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Function</a:t>
            </a:r>
            <a:r>
              <a:rPr sz="2530" kern="1200" spc="-7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Units</a:t>
            </a:r>
            <a:r>
              <a:rPr sz="2530" kern="1200" spc="-7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2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(FU)</a:t>
            </a:r>
            <a:endParaRPr sz="253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573"/>
              </a:spcBef>
              <a:spcAft>
                <a:spcPts val="600"/>
              </a:spcAft>
              <a:buFontTx/>
              <a:buChar char="–"/>
              <a:tabLst>
                <a:tab pos="729766" algn="l"/>
              </a:tabLst>
            </a:pPr>
            <a:r>
              <a:rPr sz="2310" u="sng" kern="12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FU</a:t>
            </a:r>
            <a:r>
              <a:rPr sz="2310" u="sng" kern="1200" spc="-78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310" u="sng" kern="12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buffers</a:t>
            </a:r>
            <a:r>
              <a:rPr sz="231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called</a:t>
            </a:r>
            <a:r>
              <a:rPr sz="231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“</a:t>
            </a:r>
            <a:r>
              <a:rPr sz="2310" kern="1200" spc="-24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reservation</a:t>
            </a:r>
            <a:r>
              <a:rPr sz="2310" kern="1200" spc="-7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2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stations</a:t>
            </a:r>
            <a:r>
              <a:rPr sz="231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”;</a:t>
            </a:r>
            <a:r>
              <a:rPr sz="231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have</a:t>
            </a:r>
            <a:r>
              <a:rPr sz="231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pending</a:t>
            </a:r>
            <a:r>
              <a:rPr sz="231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operands</a:t>
            </a:r>
            <a:endParaRPr sz="231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4931" indent="-298933" algn="l" defTabSz="502920" rtl="0">
              <a:spcBef>
                <a:spcPts val="883"/>
              </a:spcBef>
              <a:buFontTx/>
              <a:buChar char="•"/>
              <a:tabLst>
                <a:tab pos="310643" algn="l"/>
                <a:tab pos="4650410" algn="l"/>
              </a:tabLst>
            </a:pP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Registers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instructions</a:t>
            </a:r>
            <a:r>
              <a:rPr sz="253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replaced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by</a:t>
            </a:r>
            <a:r>
              <a:rPr sz="253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values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or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pointers</a:t>
            </a:r>
            <a:r>
              <a:rPr sz="253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 </a:t>
            </a:r>
            <a:r>
              <a:rPr sz="2530" u="sng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reservation</a:t>
            </a:r>
            <a:r>
              <a:rPr sz="2530" u="sng" kern="1200" spc="-121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stations</a:t>
            </a:r>
            <a:r>
              <a:rPr sz="2530" u="sng" kern="1200" spc="-121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(RSs)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;</a:t>
            </a:r>
            <a:r>
              <a:rPr sz="2530" kern="1200" spc="-121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called</a:t>
            </a:r>
            <a:r>
              <a:rPr lang="en-US" sz="253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b="1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register</a:t>
            </a:r>
            <a:r>
              <a:rPr sz="2530" b="1" kern="1200" spc="-97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b="1" kern="1200" spc="-1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renaming</a:t>
            </a:r>
            <a:endParaRPr sz="253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417"/>
              </a:spcBef>
              <a:buFont typeface="Calibri"/>
              <a:buChar char="–"/>
              <a:tabLst>
                <a:tab pos="729766" algn="l"/>
              </a:tabLst>
            </a:pPr>
            <a:r>
              <a:rPr sz="2310" b="1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Renaming</a:t>
            </a:r>
            <a:r>
              <a:rPr sz="2310" b="1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b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avoids</a:t>
            </a:r>
            <a:r>
              <a:rPr sz="2310" b="1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b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WAR,</a:t>
            </a:r>
            <a:r>
              <a:rPr sz="2310" b="1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b="1" kern="1200" spc="-3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WAW</a:t>
            </a:r>
            <a:r>
              <a:rPr sz="2310" b="1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b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hazards</a:t>
            </a:r>
            <a:endParaRPr lang="en-US" sz="2310" b="1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417"/>
              </a:spcBef>
              <a:spcAft>
                <a:spcPts val="600"/>
              </a:spcAft>
              <a:buFont typeface="Calibri"/>
              <a:buChar char="–"/>
              <a:tabLst>
                <a:tab pos="729766" algn="l"/>
              </a:tabLst>
            </a:pPr>
            <a:r>
              <a:rPr sz="231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More</a:t>
            </a:r>
            <a:r>
              <a:rPr sz="231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RSs</a:t>
            </a:r>
            <a:r>
              <a:rPr sz="231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than</a:t>
            </a:r>
            <a:r>
              <a:rPr sz="231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registers,</a:t>
            </a:r>
            <a:r>
              <a:rPr sz="231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so</a:t>
            </a:r>
            <a:r>
              <a:rPr sz="231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can</a:t>
            </a:r>
            <a:r>
              <a:rPr sz="231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do</a:t>
            </a:r>
            <a:r>
              <a:rPr sz="231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optimizations</a:t>
            </a:r>
            <a:r>
              <a:rPr sz="231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compilers cannot</a:t>
            </a:r>
            <a:endParaRPr sz="231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260103" indent="-298933" algn="l" defTabSz="502920" rtl="0">
              <a:spcBef>
                <a:spcPts val="820"/>
              </a:spcBef>
              <a:buFontTx/>
              <a:buChar char="•"/>
              <a:tabLst>
                <a:tab pos="310643" algn="l"/>
              </a:tabLst>
            </a:pP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Results</a:t>
            </a:r>
            <a:r>
              <a:rPr sz="253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53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FU</a:t>
            </a:r>
            <a:r>
              <a:rPr sz="253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from</a:t>
            </a:r>
            <a:r>
              <a:rPr sz="253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RS,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not</a:t>
            </a:r>
            <a:r>
              <a:rPr sz="2530" u="sng" kern="1200" spc="-78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through</a:t>
            </a:r>
            <a:r>
              <a:rPr sz="2530" u="sng" kern="1200" spc="-78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registers,</a:t>
            </a:r>
            <a:r>
              <a:rPr sz="2530" u="sng" kern="1200" spc="-78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but</a:t>
            </a:r>
            <a:r>
              <a:rPr sz="2530" u="sng" kern="1200" spc="-78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over</a:t>
            </a:r>
            <a:r>
              <a:rPr sz="2530" u="sng" kern="1200" spc="-73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u="sng" kern="1200" spc="-48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a</a:t>
            </a:r>
            <a:r>
              <a:rPr sz="2530" u="sng" kern="1200" spc="-48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Common</a:t>
            </a:r>
            <a:r>
              <a:rPr sz="2530" u="sng" kern="1200" spc="-87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Data</a:t>
            </a:r>
            <a:r>
              <a:rPr sz="2530" u="sng" kern="1200" spc="-92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Bus</a:t>
            </a:r>
            <a:r>
              <a:rPr sz="2530" u="sng" kern="1200" spc="-87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u="sng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(CDB)</a:t>
            </a:r>
            <a:r>
              <a:rPr sz="2530" kern="1200" spc="-83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that</a:t>
            </a:r>
            <a:r>
              <a:rPr sz="2530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b="1" kern="1200" spc="-10" dirty="0">
                <a:solidFill>
                  <a:srgbClr val="114FFB"/>
                </a:solidFill>
                <a:latin typeface="Calibri"/>
                <a:ea typeface="+mn-ea"/>
                <a:cs typeface="Calibri"/>
              </a:rPr>
              <a:t>broadcasts</a:t>
            </a:r>
            <a:r>
              <a:rPr sz="2530" b="1" kern="1200" spc="-83" dirty="0">
                <a:solidFill>
                  <a:srgbClr val="114FFB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b="1" kern="1200" dirty="0">
                <a:solidFill>
                  <a:srgbClr val="114FFB"/>
                </a:solidFill>
                <a:latin typeface="Calibri"/>
                <a:ea typeface="+mn-ea"/>
                <a:cs typeface="Calibri"/>
              </a:rPr>
              <a:t>results</a:t>
            </a:r>
            <a:r>
              <a:rPr sz="2530" b="1" kern="1200" spc="-83" dirty="0">
                <a:solidFill>
                  <a:srgbClr val="114FFB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register</a:t>
            </a:r>
            <a:r>
              <a:rPr sz="253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file,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awaiting</a:t>
            </a:r>
            <a:r>
              <a:rPr sz="2530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RSs,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</a:t>
            </a:r>
            <a:r>
              <a:rPr sz="253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store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buffers</a:t>
            </a:r>
            <a:endParaRPr sz="253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marR="302631" lvl="1" indent="-239146" algn="l" defTabSz="502920" rtl="0">
              <a:spcBef>
                <a:spcPts val="927"/>
              </a:spcBef>
              <a:spcAft>
                <a:spcPts val="600"/>
              </a:spcAft>
              <a:buFontTx/>
              <a:buChar char="–"/>
              <a:tabLst>
                <a:tab pos="729766" algn="l"/>
              </a:tabLst>
            </a:pPr>
            <a:r>
              <a:rPr sz="231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Avoids</a:t>
            </a:r>
            <a:r>
              <a:rPr sz="231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RAW</a:t>
            </a:r>
            <a:r>
              <a:rPr sz="2310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hazards</a:t>
            </a:r>
            <a:r>
              <a:rPr sz="231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by</a:t>
            </a:r>
            <a:r>
              <a:rPr sz="231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executing</a:t>
            </a:r>
            <a:r>
              <a:rPr sz="231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</a:t>
            </a:r>
            <a:r>
              <a:rPr sz="231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instruction</a:t>
            </a:r>
            <a:r>
              <a:rPr sz="231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only</a:t>
            </a:r>
            <a:r>
              <a:rPr sz="231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when</a:t>
            </a:r>
            <a:r>
              <a:rPr sz="2310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its </a:t>
            </a:r>
            <a:r>
              <a:rPr sz="231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operands</a:t>
            </a:r>
            <a:r>
              <a:rPr sz="231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are</a:t>
            </a:r>
            <a:r>
              <a:rPr sz="231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31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available</a:t>
            </a:r>
            <a:endParaRPr sz="231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524"/>
              </a:spcBef>
              <a:spcAft>
                <a:spcPts val="600"/>
              </a:spcAft>
              <a:buFontTx/>
              <a:buChar char="•"/>
              <a:tabLst>
                <a:tab pos="310643" algn="l"/>
              </a:tabLst>
            </a:pP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Load</a:t>
            </a:r>
            <a:r>
              <a:rPr sz="253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and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Stores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are</a:t>
            </a:r>
            <a:r>
              <a:rPr sz="2530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treated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as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FUs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with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RSs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as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well</a:t>
            </a:r>
            <a:endParaRPr sz="253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20956" indent="-298933" algn="l" defTabSz="502920" rtl="0">
              <a:spcBef>
                <a:spcPts val="994"/>
              </a:spcBef>
              <a:buFontTx/>
              <a:buChar char="•"/>
              <a:tabLst>
                <a:tab pos="310643" algn="l"/>
              </a:tabLst>
            </a:pP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Integer</a:t>
            </a:r>
            <a:r>
              <a:rPr sz="253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instructions</a:t>
            </a:r>
            <a:r>
              <a:rPr sz="253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can</a:t>
            </a:r>
            <a:r>
              <a:rPr sz="253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go</a:t>
            </a:r>
            <a:r>
              <a:rPr sz="253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past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branches</a:t>
            </a:r>
            <a:r>
              <a:rPr sz="253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(predict</a:t>
            </a:r>
            <a:r>
              <a:rPr sz="2530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taken), </a:t>
            </a:r>
            <a:br>
              <a:rPr lang="en-US" sz="253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</a:b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also</a:t>
            </a:r>
            <a:r>
              <a:rPr sz="253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allow</a:t>
            </a:r>
            <a:r>
              <a:rPr sz="253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FP</a:t>
            </a:r>
            <a:r>
              <a:rPr sz="253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ops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beyond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basic</a:t>
            </a:r>
            <a:r>
              <a:rPr sz="253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block</a:t>
            </a:r>
            <a:r>
              <a:rPr sz="2530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</a:t>
            </a:r>
            <a:r>
              <a:rPr sz="2530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FP</a:t>
            </a:r>
            <a:r>
              <a:rPr sz="2530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30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queue</a:t>
            </a:r>
            <a:endParaRPr sz="2530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2" name="object 41">
            <a:extLst>
              <a:ext uri="{FF2B5EF4-FFF2-40B4-BE49-F238E27FC236}">
                <a16:creationId xmlns:a16="http://schemas.microsoft.com/office/drawing/2014/main" id="{328F3D3B-CF5D-D4B7-A252-12E0902EA5C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762000"/>
            <a:ext cx="5702114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3560">
              <a:spcBef>
                <a:spcPts val="97"/>
              </a:spcBef>
            </a:pPr>
            <a:r>
              <a:rPr dirty="0"/>
              <a:t>Tomasulo</a:t>
            </a:r>
            <a:r>
              <a:rPr spc="185" dirty="0"/>
              <a:t> </a:t>
            </a:r>
            <a:r>
              <a:rPr spc="-10" dirty="0"/>
              <a:t>Organization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31336BB-1220-CC90-187F-931FFBC5882A}"/>
              </a:ext>
            </a:extLst>
          </p:cNvPr>
          <p:cNvGrpSpPr/>
          <p:nvPr/>
        </p:nvGrpSpPr>
        <p:grpSpPr>
          <a:xfrm>
            <a:off x="397948" y="1693122"/>
            <a:ext cx="9262505" cy="5520823"/>
            <a:chOff x="391054" y="1175721"/>
            <a:chExt cx="8420459" cy="5018930"/>
          </a:xfrm>
        </p:grpSpPr>
        <p:grpSp>
          <p:nvGrpSpPr>
            <p:cNvPr id="3" name="object 3"/>
            <p:cNvGrpSpPr/>
            <p:nvPr/>
          </p:nvGrpSpPr>
          <p:grpSpPr>
            <a:xfrm>
              <a:off x="900315" y="1339462"/>
              <a:ext cx="7553885" cy="4183716"/>
              <a:chOff x="867957" y="1518056"/>
              <a:chExt cx="8561070" cy="4741545"/>
            </a:xfrm>
          </p:grpSpPr>
          <p:pic>
            <p:nvPicPr>
              <p:cNvPr id="4" name="object 4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78840" y="2586227"/>
                <a:ext cx="1158240" cy="390144"/>
              </a:xfrm>
              <a:prstGeom prst="rect">
                <a:avLst/>
              </a:prstGeom>
            </p:spPr>
          </p:pic>
          <p:sp>
            <p:nvSpPr>
              <p:cNvPr id="5" name="object 5"/>
              <p:cNvSpPr/>
              <p:nvPr/>
            </p:nvSpPr>
            <p:spPr>
              <a:xfrm>
                <a:off x="883514" y="2589283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985520" y="219003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883514" y="2589283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7" name="object 7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78840" y="2805683"/>
                <a:ext cx="1158240" cy="390144"/>
              </a:xfrm>
              <a:prstGeom prst="rect">
                <a:avLst/>
              </a:prstGeom>
            </p:spPr>
          </p:pic>
          <p:sp>
            <p:nvSpPr>
              <p:cNvPr id="8" name="object 8"/>
              <p:cNvSpPr/>
              <p:nvPr/>
            </p:nvSpPr>
            <p:spPr>
              <a:xfrm>
                <a:off x="883514" y="2808287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985520" y="219003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883514" y="2808287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10" name="object 10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78840" y="3025139"/>
                <a:ext cx="1158240" cy="390143"/>
              </a:xfrm>
              <a:prstGeom prst="rect">
                <a:avLst/>
              </a:prstGeom>
            </p:spPr>
          </p:pic>
          <p:sp>
            <p:nvSpPr>
              <p:cNvPr id="11" name="object 11"/>
              <p:cNvSpPr/>
              <p:nvPr/>
            </p:nvSpPr>
            <p:spPr>
              <a:xfrm>
                <a:off x="883514" y="3027291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985520" y="219005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883514" y="3027291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13" name="object 13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78840" y="3241547"/>
                <a:ext cx="1158240" cy="390143"/>
              </a:xfrm>
              <a:prstGeom prst="rect">
                <a:avLst/>
              </a:prstGeom>
            </p:spPr>
          </p:pic>
          <p:sp>
            <p:nvSpPr>
              <p:cNvPr id="14" name="object 14"/>
              <p:cNvSpPr/>
              <p:nvPr/>
            </p:nvSpPr>
            <p:spPr>
              <a:xfrm>
                <a:off x="883514" y="3246296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985520" y="219003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883514" y="3246296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16" name="object 16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78840" y="3461004"/>
                <a:ext cx="1158240" cy="390144"/>
              </a:xfrm>
              <a:prstGeom prst="rect">
                <a:avLst/>
              </a:prstGeom>
            </p:spPr>
          </p:pic>
          <p:sp>
            <p:nvSpPr>
              <p:cNvPr id="17" name="object 17"/>
              <p:cNvSpPr/>
              <p:nvPr/>
            </p:nvSpPr>
            <p:spPr>
              <a:xfrm>
                <a:off x="883514" y="3465300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985520" y="219005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883514" y="3465300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19" name="object 19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78840" y="3680460"/>
                <a:ext cx="1158240" cy="390144"/>
              </a:xfrm>
              <a:prstGeom prst="rect">
                <a:avLst/>
              </a:prstGeom>
            </p:spPr>
          </p:pic>
          <p:sp>
            <p:nvSpPr>
              <p:cNvPr id="20" name="object 20"/>
              <p:cNvSpPr/>
              <p:nvPr/>
            </p:nvSpPr>
            <p:spPr>
              <a:xfrm>
                <a:off x="883514" y="3684305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985520" y="219003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883514" y="3684305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19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1201756" y="1932269"/>
                <a:ext cx="184785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184784" h="657225">
                    <a:moveTo>
                      <a:pt x="61594" y="472229"/>
                    </a:moveTo>
                    <a:lnTo>
                      <a:pt x="0" y="472229"/>
                    </a:lnTo>
                    <a:lnTo>
                      <a:pt x="92392" y="657014"/>
                    </a:lnTo>
                    <a:lnTo>
                      <a:pt x="169385" y="503026"/>
                    </a:lnTo>
                    <a:lnTo>
                      <a:pt x="61594" y="503026"/>
                    </a:lnTo>
                    <a:lnTo>
                      <a:pt x="61594" y="472229"/>
                    </a:lnTo>
                    <a:close/>
                  </a:path>
                  <a:path w="184784" h="657225">
                    <a:moveTo>
                      <a:pt x="123188" y="0"/>
                    </a:moveTo>
                    <a:lnTo>
                      <a:pt x="61594" y="0"/>
                    </a:lnTo>
                    <a:lnTo>
                      <a:pt x="61594" y="503026"/>
                    </a:lnTo>
                    <a:lnTo>
                      <a:pt x="123190" y="503026"/>
                    </a:lnTo>
                    <a:lnTo>
                      <a:pt x="123188" y="0"/>
                    </a:lnTo>
                    <a:close/>
                  </a:path>
                  <a:path w="184784" h="657225">
                    <a:moveTo>
                      <a:pt x="184784" y="472229"/>
                    </a:moveTo>
                    <a:lnTo>
                      <a:pt x="123190" y="472229"/>
                    </a:lnTo>
                    <a:lnTo>
                      <a:pt x="123190" y="503026"/>
                    </a:lnTo>
                    <a:lnTo>
                      <a:pt x="169385" y="503026"/>
                    </a:lnTo>
                    <a:lnTo>
                      <a:pt x="184784" y="47222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23" name="object 23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3698240" y="1531619"/>
                <a:ext cx="1155191" cy="387096"/>
              </a:xfrm>
              <a:prstGeom prst="rect">
                <a:avLst/>
              </a:prstGeom>
            </p:spPr>
          </p:pic>
          <p:sp>
            <p:nvSpPr>
              <p:cNvPr id="24" name="object 24"/>
              <p:cNvSpPr/>
              <p:nvPr/>
            </p:nvSpPr>
            <p:spPr>
              <a:xfrm>
                <a:off x="3701486" y="1533613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985520" y="219003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3701486" y="1533613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26" name="object 2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3698240" y="1748027"/>
                <a:ext cx="1155191" cy="390144"/>
              </a:xfrm>
              <a:prstGeom prst="rect">
                <a:avLst/>
              </a:prstGeom>
            </p:spPr>
          </p:pic>
          <p:sp>
            <p:nvSpPr>
              <p:cNvPr id="27" name="object 27"/>
              <p:cNvSpPr/>
              <p:nvPr/>
            </p:nvSpPr>
            <p:spPr>
              <a:xfrm>
                <a:off x="3701486" y="1752617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985520" y="219005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3701486" y="1752617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29" name="object 29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3698240" y="1967483"/>
                <a:ext cx="1155191" cy="390144"/>
              </a:xfrm>
              <a:prstGeom prst="rect">
                <a:avLst/>
              </a:prstGeom>
            </p:spPr>
          </p:pic>
          <p:sp>
            <p:nvSpPr>
              <p:cNvPr id="30" name="object 30"/>
              <p:cNvSpPr/>
              <p:nvPr/>
            </p:nvSpPr>
            <p:spPr>
              <a:xfrm>
                <a:off x="3701486" y="1971622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985520" y="219003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3701486" y="1971622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32" name="object 32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698240" y="2186939"/>
                <a:ext cx="1155191" cy="390143"/>
              </a:xfrm>
              <a:prstGeom prst="rect">
                <a:avLst/>
              </a:prstGeom>
            </p:spPr>
          </p:pic>
          <p:sp>
            <p:nvSpPr>
              <p:cNvPr id="33" name="object 33"/>
              <p:cNvSpPr/>
              <p:nvPr/>
            </p:nvSpPr>
            <p:spPr>
              <a:xfrm>
                <a:off x="3701486" y="2190626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985520" y="219005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3701486" y="2190626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35" name="object 35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3698240" y="2406395"/>
                <a:ext cx="1155191" cy="390143"/>
              </a:xfrm>
              <a:prstGeom prst="rect">
                <a:avLst/>
              </a:prstGeom>
            </p:spPr>
          </p:pic>
          <p:sp>
            <p:nvSpPr>
              <p:cNvPr id="36" name="object 36"/>
              <p:cNvSpPr/>
              <p:nvPr/>
            </p:nvSpPr>
            <p:spPr>
              <a:xfrm>
                <a:off x="3701486" y="2409631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985520" y="219003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3701486" y="2409631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38" name="object 38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3698240" y="2625851"/>
                <a:ext cx="1155191" cy="390144"/>
              </a:xfrm>
              <a:prstGeom prst="rect">
                <a:avLst/>
              </a:prstGeom>
            </p:spPr>
          </p:pic>
          <p:sp>
            <p:nvSpPr>
              <p:cNvPr id="39" name="object 39"/>
              <p:cNvSpPr/>
              <p:nvPr/>
            </p:nvSpPr>
            <p:spPr>
              <a:xfrm>
                <a:off x="3701486" y="2628635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985520" y="219005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3701486" y="2628635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41" name="object 41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5670296" y="1775459"/>
                <a:ext cx="2551176" cy="390144"/>
              </a:xfrm>
              <a:prstGeom prst="rect">
                <a:avLst/>
              </a:prstGeom>
            </p:spPr>
          </p:pic>
          <p:sp>
            <p:nvSpPr>
              <p:cNvPr id="42" name="object 42"/>
              <p:cNvSpPr/>
              <p:nvPr/>
            </p:nvSpPr>
            <p:spPr>
              <a:xfrm>
                <a:off x="5672524" y="1779993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19075">
                    <a:moveTo>
                      <a:pt x="2381674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2381674" y="219003"/>
                    </a:lnTo>
                    <a:lnTo>
                      <a:pt x="238167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5672524" y="1779993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19075">
                    <a:moveTo>
                      <a:pt x="0" y="0"/>
                    </a:moveTo>
                    <a:lnTo>
                      <a:pt x="2381673" y="0"/>
                    </a:lnTo>
                    <a:lnTo>
                      <a:pt x="2381673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44" name="object 44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5670296" y="1994915"/>
                <a:ext cx="2551176" cy="390143"/>
              </a:xfrm>
              <a:prstGeom prst="rect">
                <a:avLst/>
              </a:prstGeom>
            </p:spPr>
          </p:pic>
          <p:sp>
            <p:nvSpPr>
              <p:cNvPr id="45" name="object 45"/>
              <p:cNvSpPr/>
              <p:nvPr/>
            </p:nvSpPr>
            <p:spPr>
              <a:xfrm>
                <a:off x="5672524" y="1998997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19075">
                    <a:moveTo>
                      <a:pt x="2381674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2381674" y="219005"/>
                    </a:lnTo>
                    <a:lnTo>
                      <a:pt x="238167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5672524" y="1998997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19075">
                    <a:moveTo>
                      <a:pt x="0" y="0"/>
                    </a:moveTo>
                    <a:lnTo>
                      <a:pt x="2381673" y="0"/>
                    </a:lnTo>
                    <a:lnTo>
                      <a:pt x="2381673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47" name="object 47"/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5670296" y="2214371"/>
                <a:ext cx="2551176" cy="390143"/>
              </a:xfrm>
              <a:prstGeom prst="rect">
                <a:avLst/>
              </a:prstGeom>
            </p:spPr>
          </p:pic>
          <p:sp>
            <p:nvSpPr>
              <p:cNvPr id="48" name="object 48"/>
              <p:cNvSpPr/>
              <p:nvPr/>
            </p:nvSpPr>
            <p:spPr>
              <a:xfrm>
                <a:off x="5672524" y="2218002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19075">
                    <a:moveTo>
                      <a:pt x="2381674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2381674" y="219003"/>
                    </a:lnTo>
                    <a:lnTo>
                      <a:pt x="238167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5672524" y="2218002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19075">
                    <a:moveTo>
                      <a:pt x="0" y="0"/>
                    </a:moveTo>
                    <a:lnTo>
                      <a:pt x="2381673" y="0"/>
                    </a:lnTo>
                    <a:lnTo>
                      <a:pt x="2381673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50" name="object 50"/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5670296" y="2433827"/>
                <a:ext cx="2551176" cy="390144"/>
              </a:xfrm>
              <a:prstGeom prst="rect">
                <a:avLst/>
              </a:prstGeom>
            </p:spPr>
          </p:pic>
          <p:sp>
            <p:nvSpPr>
              <p:cNvPr id="51" name="object 51"/>
              <p:cNvSpPr/>
              <p:nvPr/>
            </p:nvSpPr>
            <p:spPr>
              <a:xfrm>
                <a:off x="5672524" y="2437006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19075">
                    <a:moveTo>
                      <a:pt x="2381674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2381674" y="219005"/>
                    </a:lnTo>
                    <a:lnTo>
                      <a:pt x="238167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5672524" y="2437006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19075">
                    <a:moveTo>
                      <a:pt x="0" y="0"/>
                    </a:moveTo>
                    <a:lnTo>
                      <a:pt x="2381673" y="0"/>
                    </a:lnTo>
                    <a:lnTo>
                      <a:pt x="2381673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53" name="object 53"/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8270239" y="3817619"/>
                <a:ext cx="1158240" cy="390143"/>
              </a:xfrm>
              <a:prstGeom prst="rect">
                <a:avLst/>
              </a:prstGeom>
            </p:spPr>
          </p:pic>
          <p:sp>
            <p:nvSpPr>
              <p:cNvPr id="54" name="object 54"/>
              <p:cNvSpPr/>
              <p:nvPr/>
            </p:nvSpPr>
            <p:spPr>
              <a:xfrm>
                <a:off x="8274914" y="3821182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985520" y="219005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8274914" y="3821182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56" name="object 56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270239" y="4037076"/>
                <a:ext cx="1158240" cy="390144"/>
              </a:xfrm>
              <a:prstGeom prst="rect">
                <a:avLst/>
              </a:prstGeom>
            </p:spPr>
          </p:pic>
          <p:sp>
            <p:nvSpPr>
              <p:cNvPr id="57" name="object 57"/>
              <p:cNvSpPr/>
              <p:nvPr/>
            </p:nvSpPr>
            <p:spPr>
              <a:xfrm>
                <a:off x="8274914" y="4040187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985520" y="219005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8274914" y="4040187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59" name="object 59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70239" y="4256532"/>
                <a:ext cx="1158240" cy="390144"/>
              </a:xfrm>
              <a:prstGeom prst="rect">
                <a:avLst/>
              </a:prstGeom>
            </p:spPr>
          </p:pic>
          <p:sp>
            <p:nvSpPr>
              <p:cNvPr id="60" name="object 60"/>
              <p:cNvSpPr/>
              <p:nvPr/>
            </p:nvSpPr>
            <p:spPr>
              <a:xfrm>
                <a:off x="8274914" y="4259191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985520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985520" y="219005"/>
                    </a:lnTo>
                    <a:lnTo>
                      <a:pt x="9855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8274914" y="4259191"/>
                <a:ext cx="98551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985520" h="219075">
                    <a:moveTo>
                      <a:pt x="0" y="0"/>
                    </a:moveTo>
                    <a:lnTo>
                      <a:pt x="985519" y="0"/>
                    </a:lnTo>
                    <a:lnTo>
                      <a:pt x="985519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2" name="object 62"/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1906016" y="4405883"/>
                <a:ext cx="2554224" cy="390144"/>
              </a:xfrm>
              <a:prstGeom prst="rect">
                <a:avLst/>
              </a:prstGeom>
            </p:spPr>
          </p:pic>
          <p:sp>
            <p:nvSpPr>
              <p:cNvPr id="63" name="object 63"/>
              <p:cNvSpPr/>
              <p:nvPr/>
            </p:nvSpPr>
            <p:spPr>
              <a:xfrm>
                <a:off x="1910097" y="4408046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5" h="219075">
                    <a:moveTo>
                      <a:pt x="2381674" y="0"/>
                    </a:moveTo>
                    <a:lnTo>
                      <a:pt x="0" y="0"/>
                    </a:lnTo>
                    <a:lnTo>
                      <a:pt x="0" y="219005"/>
                    </a:lnTo>
                    <a:lnTo>
                      <a:pt x="2381674" y="219005"/>
                    </a:lnTo>
                    <a:lnTo>
                      <a:pt x="2381674" y="0"/>
                    </a:lnTo>
                    <a:close/>
                  </a:path>
                </a:pathLst>
              </a:custGeom>
              <a:solidFill>
                <a:srgbClr val="618FFD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1910097" y="4408046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5" h="219075">
                    <a:moveTo>
                      <a:pt x="0" y="0"/>
                    </a:moveTo>
                    <a:lnTo>
                      <a:pt x="2381673" y="0"/>
                    </a:lnTo>
                    <a:lnTo>
                      <a:pt x="2381673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5" name="object 65"/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1906016" y="4625339"/>
                <a:ext cx="2554224" cy="387095"/>
              </a:xfrm>
              <a:prstGeom prst="rect">
                <a:avLst/>
              </a:prstGeom>
            </p:spPr>
          </p:pic>
          <p:sp>
            <p:nvSpPr>
              <p:cNvPr id="66" name="object 66"/>
              <p:cNvSpPr/>
              <p:nvPr/>
            </p:nvSpPr>
            <p:spPr>
              <a:xfrm>
                <a:off x="1910097" y="4627051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5" h="219075">
                    <a:moveTo>
                      <a:pt x="2381674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2381674" y="219003"/>
                    </a:lnTo>
                    <a:lnTo>
                      <a:pt x="2381674" y="0"/>
                    </a:lnTo>
                    <a:close/>
                  </a:path>
                </a:pathLst>
              </a:custGeom>
              <a:solidFill>
                <a:srgbClr val="618FFD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1910097" y="4627051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5" h="219075">
                    <a:moveTo>
                      <a:pt x="0" y="0"/>
                    </a:moveTo>
                    <a:lnTo>
                      <a:pt x="2381673" y="0"/>
                    </a:lnTo>
                    <a:lnTo>
                      <a:pt x="2381673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8" name="object 68"/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906016" y="4841748"/>
                <a:ext cx="2554224" cy="390144"/>
              </a:xfrm>
              <a:prstGeom prst="rect">
                <a:avLst/>
              </a:prstGeom>
            </p:spPr>
          </p:pic>
          <p:sp>
            <p:nvSpPr>
              <p:cNvPr id="69" name="object 69"/>
              <p:cNvSpPr/>
              <p:nvPr/>
            </p:nvSpPr>
            <p:spPr>
              <a:xfrm>
                <a:off x="1910097" y="4846055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5" h="219075">
                    <a:moveTo>
                      <a:pt x="2381674" y="0"/>
                    </a:moveTo>
                    <a:lnTo>
                      <a:pt x="0" y="0"/>
                    </a:lnTo>
                    <a:lnTo>
                      <a:pt x="0" y="219003"/>
                    </a:lnTo>
                    <a:lnTo>
                      <a:pt x="2381674" y="219003"/>
                    </a:lnTo>
                    <a:lnTo>
                      <a:pt x="2381674" y="0"/>
                    </a:lnTo>
                    <a:close/>
                  </a:path>
                </a:pathLst>
              </a:custGeom>
              <a:solidFill>
                <a:srgbClr val="618FFD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object 70"/>
              <p:cNvSpPr/>
              <p:nvPr/>
            </p:nvSpPr>
            <p:spPr>
              <a:xfrm>
                <a:off x="1910097" y="4846055"/>
                <a:ext cx="238188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381885" h="219075">
                    <a:moveTo>
                      <a:pt x="0" y="0"/>
                    </a:moveTo>
                    <a:lnTo>
                      <a:pt x="2381673" y="0"/>
                    </a:lnTo>
                    <a:lnTo>
                      <a:pt x="2381673" y="219004"/>
                    </a:lnTo>
                    <a:lnTo>
                      <a:pt x="0" y="219004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1" name="object 71"/>
              <p:cNvSpPr/>
              <p:nvPr/>
            </p:nvSpPr>
            <p:spPr>
              <a:xfrm>
                <a:off x="2238604" y="4408046"/>
                <a:ext cx="821690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821689" h="657225">
                    <a:moveTo>
                      <a:pt x="0" y="0"/>
                    </a:moveTo>
                    <a:lnTo>
                      <a:pt x="821266" y="0"/>
                    </a:lnTo>
                    <a:lnTo>
                      <a:pt x="821266" y="657013"/>
                    </a:lnTo>
                    <a:lnTo>
                      <a:pt x="0" y="657013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72" name="object 72"/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2396744" y="5637275"/>
                <a:ext cx="1447800" cy="499872"/>
              </a:xfrm>
              <a:prstGeom prst="rect">
                <a:avLst/>
              </a:prstGeom>
            </p:spPr>
          </p:pic>
          <p:pic>
            <p:nvPicPr>
              <p:cNvPr id="73" name="object 73"/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2375408" y="5594604"/>
                <a:ext cx="1490471" cy="664463"/>
              </a:xfrm>
              <a:prstGeom prst="rect">
                <a:avLst/>
              </a:prstGeom>
            </p:spPr>
          </p:pic>
        </p:grpSp>
        <p:sp>
          <p:nvSpPr>
            <p:cNvPr id="74" name="object 74"/>
            <p:cNvSpPr txBox="1"/>
            <p:nvPr/>
          </p:nvSpPr>
          <p:spPr>
            <a:xfrm>
              <a:off x="2253130" y="4976424"/>
              <a:ext cx="1125071" cy="271125"/>
            </a:xfrm>
            <a:prstGeom prst="rect">
              <a:avLst/>
            </a:prstGeom>
            <a:solidFill>
              <a:srgbClr val="618FFD"/>
            </a:solidFill>
            <a:ln w="30797">
              <a:solidFill>
                <a:srgbClr val="000000"/>
              </a:solidFill>
            </a:ln>
          </p:spPr>
          <p:txBody>
            <a:bodyPr vert="horz" wrap="square" lIns="0" tIns="14175" rIns="0" bIns="0" rtlCol="0">
              <a:spAutoFit/>
            </a:bodyPr>
            <a:lstStyle/>
            <a:p>
              <a:pPr marL="103547" algn="l" defTabSz="502920" rtl="0">
                <a:spcBef>
                  <a:spcPts val="111"/>
                </a:spcBef>
              </a:pPr>
              <a:r>
                <a:rPr sz="1845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FP</a:t>
              </a:r>
              <a:r>
                <a:rPr sz="1845" b="1" kern="1200" spc="-73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sz="1845" b="1" kern="1200" spc="-1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adders</a:t>
              </a:r>
              <a:endParaRPr sz="1845" kern="120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75" name="object 75"/>
            <p:cNvSpPr txBox="1"/>
            <p:nvPr/>
          </p:nvSpPr>
          <p:spPr>
            <a:xfrm>
              <a:off x="1358005" y="3651773"/>
              <a:ext cx="416299" cy="872292"/>
            </a:xfrm>
            <a:prstGeom prst="rect">
              <a:avLst/>
            </a:prstGeom>
          </p:spPr>
          <p:txBody>
            <a:bodyPr vert="horz" wrap="square" lIns="0" tIns="22188" rIns="0" bIns="0" rtlCol="0">
              <a:spAutoFit/>
            </a:bodyPr>
            <a:lstStyle/>
            <a:p>
              <a:pPr marL="12327" marR="4931" algn="just" defTabSz="502920" rtl="0">
                <a:lnSpc>
                  <a:spcPct val="144700"/>
                </a:lnSpc>
                <a:spcBef>
                  <a:spcPts val="175"/>
                </a:spcBef>
              </a:pPr>
              <a:r>
                <a:rPr sz="1456" b="1" kern="1200" spc="-20" dirty="0">
                  <a:solidFill>
                    <a:srgbClr val="FF0000"/>
                  </a:solidFill>
                  <a:latin typeface="Times New Roman"/>
                  <a:ea typeface="+mn-ea"/>
                  <a:cs typeface="Times New Roman"/>
                </a:rPr>
                <a:t>Add1 Add2 Add3</a:t>
              </a:r>
              <a:endParaRPr sz="1456" kern="120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grpSp>
          <p:nvGrpSpPr>
            <p:cNvPr id="76" name="object 76"/>
            <p:cNvGrpSpPr/>
            <p:nvPr/>
          </p:nvGrpSpPr>
          <p:grpSpPr>
            <a:xfrm>
              <a:off x="4836054" y="4020655"/>
              <a:ext cx="2262468" cy="1502149"/>
              <a:chOff x="5328461" y="4556742"/>
              <a:chExt cx="2564130" cy="1702435"/>
            </a:xfrm>
          </p:grpSpPr>
          <p:pic>
            <p:nvPicPr>
              <p:cNvPr id="77" name="object 77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5341112" y="4570476"/>
                <a:ext cx="2551176" cy="374904"/>
              </a:xfrm>
              <a:prstGeom prst="rect">
                <a:avLst/>
              </a:prstGeom>
            </p:spPr>
          </p:pic>
          <p:sp>
            <p:nvSpPr>
              <p:cNvPr id="78" name="object 78"/>
              <p:cNvSpPr/>
              <p:nvPr/>
            </p:nvSpPr>
            <p:spPr>
              <a:xfrm>
                <a:off x="5344019" y="4572299"/>
                <a:ext cx="2381885" cy="205740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05739">
                    <a:moveTo>
                      <a:pt x="2381672" y="0"/>
                    </a:moveTo>
                    <a:lnTo>
                      <a:pt x="0" y="0"/>
                    </a:lnTo>
                    <a:lnTo>
                      <a:pt x="0" y="205317"/>
                    </a:lnTo>
                    <a:lnTo>
                      <a:pt x="2381672" y="205317"/>
                    </a:lnTo>
                    <a:lnTo>
                      <a:pt x="2381672" y="0"/>
                    </a:lnTo>
                    <a:close/>
                  </a:path>
                </a:pathLst>
              </a:custGeom>
              <a:solidFill>
                <a:srgbClr val="618FFD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9" name="object 79"/>
              <p:cNvSpPr/>
              <p:nvPr/>
            </p:nvSpPr>
            <p:spPr>
              <a:xfrm>
                <a:off x="5344019" y="4572299"/>
                <a:ext cx="2381885" cy="205740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05739">
                    <a:moveTo>
                      <a:pt x="0" y="0"/>
                    </a:moveTo>
                    <a:lnTo>
                      <a:pt x="2381673" y="0"/>
                    </a:lnTo>
                    <a:lnTo>
                      <a:pt x="2381673" y="205316"/>
                    </a:lnTo>
                    <a:lnTo>
                      <a:pt x="0" y="205316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80" name="object 80"/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5341112" y="4774692"/>
                <a:ext cx="2551176" cy="374904"/>
              </a:xfrm>
              <a:prstGeom prst="rect">
                <a:avLst/>
              </a:prstGeom>
            </p:spPr>
          </p:pic>
          <p:sp>
            <p:nvSpPr>
              <p:cNvPr id="81" name="object 81"/>
              <p:cNvSpPr/>
              <p:nvPr/>
            </p:nvSpPr>
            <p:spPr>
              <a:xfrm>
                <a:off x="5344019" y="4777617"/>
                <a:ext cx="2381885" cy="205740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05739">
                    <a:moveTo>
                      <a:pt x="2381672" y="0"/>
                    </a:moveTo>
                    <a:lnTo>
                      <a:pt x="0" y="0"/>
                    </a:lnTo>
                    <a:lnTo>
                      <a:pt x="0" y="205317"/>
                    </a:lnTo>
                    <a:lnTo>
                      <a:pt x="2381672" y="205317"/>
                    </a:lnTo>
                    <a:lnTo>
                      <a:pt x="2381672" y="0"/>
                    </a:lnTo>
                    <a:close/>
                  </a:path>
                </a:pathLst>
              </a:custGeom>
              <a:solidFill>
                <a:srgbClr val="618FFD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2" name="object 82"/>
              <p:cNvSpPr/>
              <p:nvPr/>
            </p:nvSpPr>
            <p:spPr>
              <a:xfrm>
                <a:off x="5344019" y="4777617"/>
                <a:ext cx="2381885" cy="205740"/>
              </a:xfrm>
              <a:custGeom>
                <a:avLst/>
                <a:gdLst/>
                <a:ahLst/>
                <a:cxnLst/>
                <a:rect l="l" t="t" r="r" b="b"/>
                <a:pathLst>
                  <a:path w="2381884" h="205739">
                    <a:moveTo>
                      <a:pt x="0" y="0"/>
                    </a:moveTo>
                    <a:lnTo>
                      <a:pt x="2381673" y="0"/>
                    </a:lnTo>
                    <a:lnTo>
                      <a:pt x="2381673" y="205316"/>
                    </a:lnTo>
                    <a:lnTo>
                      <a:pt x="0" y="205316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3" name="object 83"/>
              <p:cNvSpPr/>
              <p:nvPr/>
            </p:nvSpPr>
            <p:spPr>
              <a:xfrm>
                <a:off x="5672524" y="4572299"/>
                <a:ext cx="821690" cy="410845"/>
              </a:xfrm>
              <a:custGeom>
                <a:avLst/>
                <a:gdLst/>
                <a:ahLst/>
                <a:cxnLst/>
                <a:rect l="l" t="t" r="r" b="b"/>
                <a:pathLst>
                  <a:path w="821689" h="410845">
                    <a:moveTo>
                      <a:pt x="0" y="0"/>
                    </a:moveTo>
                    <a:lnTo>
                      <a:pt x="821266" y="0"/>
                    </a:lnTo>
                    <a:lnTo>
                      <a:pt x="821266" y="410633"/>
                    </a:lnTo>
                    <a:lnTo>
                      <a:pt x="0" y="410633"/>
                    </a:lnTo>
                    <a:lnTo>
                      <a:pt x="0" y="0"/>
                    </a:lnTo>
                    <a:close/>
                  </a:path>
                </a:pathLst>
              </a:custGeom>
              <a:ln w="307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84" name="object 84"/>
              <p:cNvPicPr/>
              <p:nvPr/>
            </p:nvPicPr>
            <p:blipFill>
              <a:blip r:embed="rId27" cstate="print"/>
              <a:stretch>
                <a:fillRect/>
              </a:stretch>
            </p:blipFill>
            <p:spPr>
              <a:xfrm>
                <a:off x="5682488" y="5637276"/>
                <a:ext cx="1883664" cy="499872"/>
              </a:xfrm>
              <a:prstGeom prst="rect">
                <a:avLst/>
              </a:prstGeom>
            </p:spPr>
          </p:pic>
          <p:pic>
            <p:nvPicPr>
              <p:cNvPr id="85" name="object 85"/>
              <p:cNvPicPr/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5658104" y="5594604"/>
                <a:ext cx="1932431" cy="664463"/>
              </a:xfrm>
              <a:prstGeom prst="rect">
                <a:avLst/>
              </a:prstGeom>
            </p:spPr>
          </p:pic>
        </p:grpSp>
        <p:sp>
          <p:nvSpPr>
            <p:cNvPr id="86" name="object 86"/>
            <p:cNvSpPr txBox="1"/>
            <p:nvPr/>
          </p:nvSpPr>
          <p:spPr>
            <a:xfrm>
              <a:off x="5151717" y="4976424"/>
              <a:ext cx="1509993" cy="271125"/>
            </a:xfrm>
            <a:prstGeom prst="rect">
              <a:avLst/>
            </a:prstGeom>
            <a:solidFill>
              <a:srgbClr val="618FFD"/>
            </a:solidFill>
            <a:ln w="30797">
              <a:solidFill>
                <a:srgbClr val="000000"/>
              </a:solidFill>
            </a:ln>
          </p:spPr>
          <p:txBody>
            <a:bodyPr vert="horz" wrap="square" lIns="0" tIns="14175" rIns="0" bIns="0" rtlCol="0">
              <a:spAutoFit/>
            </a:bodyPr>
            <a:lstStyle/>
            <a:p>
              <a:pPr marL="102931" algn="l" defTabSz="502920" rtl="0">
                <a:spcBef>
                  <a:spcPts val="111"/>
                </a:spcBef>
              </a:pPr>
              <a:r>
                <a:rPr sz="1845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FP</a:t>
              </a:r>
              <a:r>
                <a:rPr sz="1845" b="1" kern="1200" spc="-73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sz="1845" b="1" kern="1200" spc="-1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multipliers</a:t>
              </a:r>
              <a:endParaRPr sz="1845" kern="120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87" name="object 87"/>
            <p:cNvSpPr txBox="1"/>
            <p:nvPr/>
          </p:nvSpPr>
          <p:spPr>
            <a:xfrm>
              <a:off x="4336607" y="3904578"/>
              <a:ext cx="462803" cy="546603"/>
            </a:xfrm>
            <a:prstGeom prst="rect">
              <a:avLst/>
            </a:prstGeom>
          </p:spPr>
          <p:txBody>
            <a:bodyPr vert="horz" wrap="square" lIns="0" tIns="12327" rIns="0" bIns="0" rtlCol="0">
              <a:spAutoFit/>
            </a:bodyPr>
            <a:lstStyle/>
            <a:p>
              <a:pPr marL="12327" marR="4931" algn="l" defTabSz="502920" rtl="0">
                <a:lnSpc>
                  <a:spcPct val="138700"/>
                </a:lnSpc>
                <a:spcBef>
                  <a:spcPts val="97"/>
                </a:spcBef>
              </a:pPr>
              <a:r>
                <a:rPr sz="1456" b="1" kern="1200" spc="-10" dirty="0">
                  <a:solidFill>
                    <a:srgbClr val="FF0000"/>
                  </a:solidFill>
                  <a:latin typeface="Times New Roman"/>
                  <a:ea typeface="+mn-ea"/>
                  <a:cs typeface="Times New Roman"/>
                </a:rPr>
                <a:t>Mult1 Mult2</a:t>
              </a:r>
              <a:endParaRPr sz="1456" kern="120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grpSp>
          <p:nvGrpSpPr>
            <p:cNvPr id="88" name="object 88"/>
            <p:cNvGrpSpPr/>
            <p:nvPr/>
          </p:nvGrpSpPr>
          <p:grpSpPr>
            <a:xfrm>
              <a:off x="908004" y="1840814"/>
              <a:ext cx="7903509" cy="4094629"/>
              <a:chOff x="876671" y="2086256"/>
              <a:chExt cx="8957310" cy="4640580"/>
            </a:xfrm>
          </p:grpSpPr>
          <p:sp>
            <p:nvSpPr>
              <p:cNvPr id="89" name="object 89"/>
              <p:cNvSpPr/>
              <p:nvPr/>
            </p:nvSpPr>
            <p:spPr>
              <a:xfrm>
                <a:off x="2012746" y="2683395"/>
                <a:ext cx="6801484" cy="2956560"/>
              </a:xfrm>
              <a:custGeom>
                <a:avLst/>
                <a:gdLst/>
                <a:ahLst/>
                <a:cxnLst/>
                <a:rect l="l" t="t" r="r" b="b"/>
                <a:pathLst>
                  <a:path w="6801484" h="2956560">
                    <a:moveTo>
                      <a:pt x="749414" y="2864167"/>
                    </a:moveTo>
                    <a:lnTo>
                      <a:pt x="718616" y="2864167"/>
                    </a:lnTo>
                    <a:lnTo>
                      <a:pt x="718616" y="2381669"/>
                    </a:lnTo>
                    <a:lnTo>
                      <a:pt x="687819" y="2381669"/>
                    </a:lnTo>
                    <a:lnTo>
                      <a:pt x="687819" y="2864167"/>
                    </a:lnTo>
                    <a:lnTo>
                      <a:pt x="657021" y="2864167"/>
                    </a:lnTo>
                    <a:lnTo>
                      <a:pt x="703211" y="2956560"/>
                    </a:lnTo>
                    <a:lnTo>
                      <a:pt x="741705" y="2879560"/>
                    </a:lnTo>
                    <a:lnTo>
                      <a:pt x="749414" y="2864167"/>
                    </a:lnTo>
                    <a:close/>
                  </a:path>
                  <a:path w="6801484" h="2956560">
                    <a:moveTo>
                      <a:pt x="1488554" y="2864167"/>
                    </a:moveTo>
                    <a:lnTo>
                      <a:pt x="1457756" y="2864167"/>
                    </a:lnTo>
                    <a:lnTo>
                      <a:pt x="1457756" y="2381669"/>
                    </a:lnTo>
                    <a:lnTo>
                      <a:pt x="1426959" y="2381669"/>
                    </a:lnTo>
                    <a:lnTo>
                      <a:pt x="1426959" y="2864167"/>
                    </a:lnTo>
                    <a:lnTo>
                      <a:pt x="1396161" y="2864167"/>
                    </a:lnTo>
                    <a:lnTo>
                      <a:pt x="1442351" y="2956560"/>
                    </a:lnTo>
                    <a:lnTo>
                      <a:pt x="1480845" y="2879560"/>
                    </a:lnTo>
                    <a:lnTo>
                      <a:pt x="1488554" y="2864167"/>
                    </a:lnTo>
                    <a:close/>
                  </a:path>
                  <a:path w="6801484" h="2956560">
                    <a:moveTo>
                      <a:pt x="4116603" y="2864167"/>
                    </a:moveTo>
                    <a:lnTo>
                      <a:pt x="4085806" y="2864167"/>
                    </a:lnTo>
                    <a:lnTo>
                      <a:pt x="4085806" y="2299538"/>
                    </a:lnTo>
                    <a:lnTo>
                      <a:pt x="4055008" y="2299538"/>
                    </a:lnTo>
                    <a:lnTo>
                      <a:pt x="4055008" y="2864167"/>
                    </a:lnTo>
                    <a:lnTo>
                      <a:pt x="4024211" y="2864167"/>
                    </a:lnTo>
                    <a:lnTo>
                      <a:pt x="4070413" y="2956560"/>
                    </a:lnTo>
                    <a:lnTo>
                      <a:pt x="4108907" y="2879560"/>
                    </a:lnTo>
                    <a:lnTo>
                      <a:pt x="4116603" y="2864167"/>
                    </a:lnTo>
                    <a:close/>
                  </a:path>
                  <a:path w="6801484" h="2956560">
                    <a:moveTo>
                      <a:pt x="5102123" y="2864167"/>
                    </a:moveTo>
                    <a:lnTo>
                      <a:pt x="5071326" y="2864167"/>
                    </a:lnTo>
                    <a:lnTo>
                      <a:pt x="5071326" y="2299538"/>
                    </a:lnTo>
                    <a:lnTo>
                      <a:pt x="5040528" y="2299538"/>
                    </a:lnTo>
                    <a:lnTo>
                      <a:pt x="5040528" y="2864167"/>
                    </a:lnTo>
                    <a:lnTo>
                      <a:pt x="5009731" y="2864167"/>
                    </a:lnTo>
                    <a:lnTo>
                      <a:pt x="5055933" y="2956560"/>
                    </a:lnTo>
                    <a:lnTo>
                      <a:pt x="5094427" y="2879560"/>
                    </a:lnTo>
                    <a:lnTo>
                      <a:pt x="5102123" y="2864167"/>
                    </a:lnTo>
                    <a:close/>
                  </a:path>
                  <a:path w="6801484" h="2956560">
                    <a:moveTo>
                      <a:pt x="6801117" y="1045400"/>
                    </a:moveTo>
                    <a:lnTo>
                      <a:pt x="6770319" y="1045400"/>
                    </a:lnTo>
                    <a:lnTo>
                      <a:pt x="6770319" y="578307"/>
                    </a:lnTo>
                    <a:lnTo>
                      <a:pt x="6770319" y="562902"/>
                    </a:lnTo>
                    <a:lnTo>
                      <a:pt x="6770319" y="554405"/>
                    </a:lnTo>
                    <a:lnTo>
                      <a:pt x="6763423" y="547509"/>
                    </a:lnTo>
                    <a:lnTo>
                      <a:pt x="4907077" y="547509"/>
                    </a:lnTo>
                    <a:lnTo>
                      <a:pt x="4907077" y="0"/>
                    </a:lnTo>
                    <a:lnTo>
                      <a:pt x="4876279" y="0"/>
                    </a:lnTo>
                    <a:lnTo>
                      <a:pt x="4876279" y="547509"/>
                    </a:lnTo>
                    <a:lnTo>
                      <a:pt x="4866005" y="547509"/>
                    </a:lnTo>
                    <a:lnTo>
                      <a:pt x="4866005" y="578307"/>
                    </a:lnTo>
                    <a:lnTo>
                      <a:pt x="4876279" y="578307"/>
                    </a:lnTo>
                    <a:lnTo>
                      <a:pt x="4876279" y="1052245"/>
                    </a:lnTo>
                    <a:lnTo>
                      <a:pt x="4003929" y="1052245"/>
                    </a:lnTo>
                    <a:lnTo>
                      <a:pt x="4003675" y="903414"/>
                    </a:lnTo>
                    <a:lnTo>
                      <a:pt x="4003675" y="887996"/>
                    </a:lnTo>
                    <a:lnTo>
                      <a:pt x="4003675" y="0"/>
                    </a:lnTo>
                    <a:lnTo>
                      <a:pt x="3973131" y="0"/>
                    </a:lnTo>
                    <a:lnTo>
                      <a:pt x="3973131" y="1052245"/>
                    </a:lnTo>
                    <a:lnTo>
                      <a:pt x="2196896" y="1052245"/>
                    </a:lnTo>
                    <a:lnTo>
                      <a:pt x="2196896" y="918794"/>
                    </a:lnTo>
                    <a:lnTo>
                      <a:pt x="3972903" y="918794"/>
                    </a:lnTo>
                    <a:lnTo>
                      <a:pt x="3973131" y="1052245"/>
                    </a:lnTo>
                    <a:lnTo>
                      <a:pt x="3973131" y="0"/>
                    </a:lnTo>
                    <a:lnTo>
                      <a:pt x="3972877" y="0"/>
                    </a:lnTo>
                    <a:lnTo>
                      <a:pt x="3972877" y="887996"/>
                    </a:lnTo>
                    <a:lnTo>
                      <a:pt x="2196896" y="887996"/>
                    </a:lnTo>
                    <a:lnTo>
                      <a:pt x="2196896" y="164249"/>
                    </a:lnTo>
                    <a:lnTo>
                      <a:pt x="2166099" y="164249"/>
                    </a:lnTo>
                    <a:lnTo>
                      <a:pt x="2166099" y="887996"/>
                    </a:lnTo>
                    <a:lnTo>
                      <a:pt x="2166099" y="918794"/>
                    </a:lnTo>
                    <a:lnTo>
                      <a:pt x="2166099" y="1052245"/>
                    </a:lnTo>
                    <a:lnTo>
                      <a:pt x="2166099" y="1083043"/>
                    </a:lnTo>
                    <a:lnTo>
                      <a:pt x="2166099" y="1298625"/>
                    </a:lnTo>
                    <a:lnTo>
                      <a:pt x="1622005" y="1298625"/>
                    </a:lnTo>
                    <a:lnTo>
                      <a:pt x="1622005" y="1083043"/>
                    </a:lnTo>
                    <a:lnTo>
                      <a:pt x="2166099" y="1083043"/>
                    </a:lnTo>
                    <a:lnTo>
                      <a:pt x="2166099" y="1052245"/>
                    </a:lnTo>
                    <a:lnTo>
                      <a:pt x="1598104" y="1052245"/>
                    </a:lnTo>
                    <a:lnTo>
                      <a:pt x="1591208" y="1059141"/>
                    </a:lnTo>
                    <a:lnTo>
                      <a:pt x="1591208" y="1298625"/>
                    </a:lnTo>
                    <a:lnTo>
                      <a:pt x="636485" y="1298625"/>
                    </a:lnTo>
                    <a:lnTo>
                      <a:pt x="636485" y="918794"/>
                    </a:lnTo>
                    <a:lnTo>
                      <a:pt x="2166099" y="918794"/>
                    </a:lnTo>
                    <a:lnTo>
                      <a:pt x="2166099" y="887996"/>
                    </a:lnTo>
                    <a:lnTo>
                      <a:pt x="612584" y="887996"/>
                    </a:lnTo>
                    <a:lnTo>
                      <a:pt x="605688" y="894880"/>
                    </a:lnTo>
                    <a:lnTo>
                      <a:pt x="605688" y="1298625"/>
                    </a:lnTo>
                    <a:lnTo>
                      <a:pt x="37693" y="1298625"/>
                    </a:lnTo>
                    <a:lnTo>
                      <a:pt x="30797" y="1305521"/>
                    </a:lnTo>
                    <a:lnTo>
                      <a:pt x="30797" y="1632267"/>
                    </a:lnTo>
                    <a:lnTo>
                      <a:pt x="0" y="1632267"/>
                    </a:lnTo>
                    <a:lnTo>
                      <a:pt x="46202" y="1724660"/>
                    </a:lnTo>
                    <a:lnTo>
                      <a:pt x="84696" y="1647659"/>
                    </a:lnTo>
                    <a:lnTo>
                      <a:pt x="92392" y="1632267"/>
                    </a:lnTo>
                    <a:lnTo>
                      <a:pt x="61595" y="1632267"/>
                    </a:lnTo>
                    <a:lnTo>
                      <a:pt x="61595" y="1329423"/>
                    </a:lnTo>
                    <a:lnTo>
                      <a:pt x="605688" y="1329423"/>
                    </a:lnTo>
                    <a:lnTo>
                      <a:pt x="605688" y="1632267"/>
                    </a:lnTo>
                    <a:lnTo>
                      <a:pt x="574890" y="1632267"/>
                    </a:lnTo>
                    <a:lnTo>
                      <a:pt x="621080" y="1724660"/>
                    </a:lnTo>
                    <a:lnTo>
                      <a:pt x="659587" y="1647659"/>
                    </a:lnTo>
                    <a:lnTo>
                      <a:pt x="667283" y="1632267"/>
                    </a:lnTo>
                    <a:lnTo>
                      <a:pt x="636485" y="1632267"/>
                    </a:lnTo>
                    <a:lnTo>
                      <a:pt x="636485" y="1329423"/>
                    </a:lnTo>
                    <a:lnTo>
                      <a:pt x="1591208" y="1329423"/>
                    </a:lnTo>
                    <a:lnTo>
                      <a:pt x="1591208" y="1632267"/>
                    </a:lnTo>
                    <a:lnTo>
                      <a:pt x="1560410" y="1632267"/>
                    </a:lnTo>
                    <a:lnTo>
                      <a:pt x="1606600" y="1724660"/>
                    </a:lnTo>
                    <a:lnTo>
                      <a:pt x="1645107" y="1647659"/>
                    </a:lnTo>
                    <a:lnTo>
                      <a:pt x="1652803" y="1632267"/>
                    </a:lnTo>
                    <a:lnTo>
                      <a:pt x="1622005" y="1632267"/>
                    </a:lnTo>
                    <a:lnTo>
                      <a:pt x="1622005" y="1329423"/>
                    </a:lnTo>
                    <a:lnTo>
                      <a:pt x="2181491" y="1329423"/>
                    </a:lnTo>
                    <a:lnTo>
                      <a:pt x="2190000" y="1329423"/>
                    </a:lnTo>
                    <a:lnTo>
                      <a:pt x="3480117" y="1329423"/>
                    </a:lnTo>
                    <a:lnTo>
                      <a:pt x="3480117" y="1796516"/>
                    </a:lnTo>
                    <a:lnTo>
                      <a:pt x="3449320" y="1796516"/>
                    </a:lnTo>
                    <a:lnTo>
                      <a:pt x="3495522" y="1888909"/>
                    </a:lnTo>
                    <a:lnTo>
                      <a:pt x="3534016" y="1811921"/>
                    </a:lnTo>
                    <a:lnTo>
                      <a:pt x="3541712" y="1796516"/>
                    </a:lnTo>
                    <a:lnTo>
                      <a:pt x="3510915" y="1796516"/>
                    </a:lnTo>
                    <a:lnTo>
                      <a:pt x="3510915" y="1329423"/>
                    </a:lnTo>
                    <a:lnTo>
                      <a:pt x="3510915" y="1314018"/>
                    </a:lnTo>
                    <a:lnTo>
                      <a:pt x="3510915" y="1305521"/>
                    </a:lnTo>
                    <a:lnTo>
                      <a:pt x="3504019" y="1298625"/>
                    </a:lnTo>
                    <a:lnTo>
                      <a:pt x="2196896" y="1298625"/>
                    </a:lnTo>
                    <a:lnTo>
                      <a:pt x="2196896" y="1083043"/>
                    </a:lnTo>
                    <a:lnTo>
                      <a:pt x="3973182" y="1083043"/>
                    </a:lnTo>
                    <a:lnTo>
                      <a:pt x="3974427" y="1796592"/>
                    </a:lnTo>
                    <a:lnTo>
                      <a:pt x="3943629" y="1796592"/>
                    </a:lnTo>
                    <a:lnTo>
                      <a:pt x="3989997" y="1888909"/>
                    </a:lnTo>
                    <a:lnTo>
                      <a:pt x="4028313" y="1811947"/>
                    </a:lnTo>
                    <a:lnTo>
                      <a:pt x="4035945" y="1796592"/>
                    </a:lnTo>
                    <a:lnTo>
                      <a:pt x="4005224" y="1796592"/>
                    </a:lnTo>
                    <a:lnTo>
                      <a:pt x="4003979" y="1083043"/>
                    </a:lnTo>
                    <a:lnTo>
                      <a:pt x="4876279" y="1083043"/>
                    </a:lnTo>
                    <a:lnTo>
                      <a:pt x="4876279" y="1796516"/>
                    </a:lnTo>
                    <a:lnTo>
                      <a:pt x="4845482" y="1796516"/>
                    </a:lnTo>
                    <a:lnTo>
                      <a:pt x="4891671" y="1888909"/>
                    </a:lnTo>
                    <a:lnTo>
                      <a:pt x="4930165" y="1811921"/>
                    </a:lnTo>
                    <a:lnTo>
                      <a:pt x="4937874" y="1796516"/>
                    </a:lnTo>
                    <a:lnTo>
                      <a:pt x="4907077" y="1796516"/>
                    </a:lnTo>
                    <a:lnTo>
                      <a:pt x="4907077" y="578307"/>
                    </a:lnTo>
                    <a:lnTo>
                      <a:pt x="6739522" y="578307"/>
                    </a:lnTo>
                    <a:lnTo>
                      <a:pt x="6739522" y="1045400"/>
                    </a:lnTo>
                    <a:lnTo>
                      <a:pt x="6708724" y="1045400"/>
                    </a:lnTo>
                    <a:lnTo>
                      <a:pt x="6754927" y="1137793"/>
                    </a:lnTo>
                    <a:lnTo>
                      <a:pt x="6793420" y="1060805"/>
                    </a:lnTo>
                    <a:lnTo>
                      <a:pt x="6801117" y="10454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0" name="object 90"/>
              <p:cNvSpPr/>
              <p:nvPr/>
            </p:nvSpPr>
            <p:spPr>
              <a:xfrm>
                <a:off x="876671" y="6695616"/>
                <a:ext cx="89573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957310">
                    <a:moveTo>
                      <a:pt x="0" y="0"/>
                    </a:moveTo>
                    <a:lnTo>
                      <a:pt x="8956938" y="1"/>
                    </a:lnTo>
                  </a:path>
                </a:pathLst>
              </a:custGeom>
              <a:ln w="61594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1" name="object 91"/>
              <p:cNvSpPr/>
              <p:nvPr/>
            </p:nvSpPr>
            <p:spPr>
              <a:xfrm>
                <a:off x="1201750" y="2086266"/>
                <a:ext cx="8500110" cy="4609465"/>
              </a:xfrm>
              <a:custGeom>
                <a:avLst/>
                <a:gdLst/>
                <a:ahLst/>
                <a:cxnLst/>
                <a:rect l="l" t="t" r="r" b="b"/>
                <a:pathLst>
                  <a:path w="8500110" h="4609465">
                    <a:moveTo>
                      <a:pt x="184785" y="4424565"/>
                    </a:moveTo>
                    <a:lnTo>
                      <a:pt x="123190" y="4424565"/>
                    </a:lnTo>
                    <a:lnTo>
                      <a:pt x="123190" y="1817052"/>
                    </a:lnTo>
                    <a:lnTo>
                      <a:pt x="61595" y="1817052"/>
                    </a:lnTo>
                    <a:lnTo>
                      <a:pt x="61595" y="4424565"/>
                    </a:lnTo>
                    <a:lnTo>
                      <a:pt x="0" y="4424565"/>
                    </a:lnTo>
                    <a:lnTo>
                      <a:pt x="92392" y="4609350"/>
                    </a:lnTo>
                    <a:lnTo>
                      <a:pt x="169392" y="4455363"/>
                    </a:lnTo>
                    <a:lnTo>
                      <a:pt x="184785" y="4424565"/>
                    </a:lnTo>
                    <a:close/>
                  </a:path>
                  <a:path w="8500110" h="4609465">
                    <a:moveTo>
                      <a:pt x="1991575" y="4424565"/>
                    </a:moveTo>
                    <a:lnTo>
                      <a:pt x="1929980" y="4424565"/>
                    </a:lnTo>
                    <a:lnTo>
                      <a:pt x="1929980" y="3870210"/>
                    </a:lnTo>
                    <a:lnTo>
                      <a:pt x="1868385" y="3870210"/>
                    </a:lnTo>
                    <a:lnTo>
                      <a:pt x="1868385" y="4424565"/>
                    </a:lnTo>
                    <a:lnTo>
                      <a:pt x="1806790" y="4424565"/>
                    </a:lnTo>
                    <a:lnTo>
                      <a:pt x="1899183" y="4609350"/>
                    </a:lnTo>
                    <a:lnTo>
                      <a:pt x="1976170" y="4455363"/>
                    </a:lnTo>
                    <a:lnTo>
                      <a:pt x="1991575" y="4424565"/>
                    </a:lnTo>
                    <a:close/>
                  </a:path>
                  <a:path w="8500110" h="4609465">
                    <a:moveTo>
                      <a:pt x="5523014" y="4424565"/>
                    </a:moveTo>
                    <a:lnTo>
                      <a:pt x="5461419" y="4424565"/>
                    </a:lnTo>
                    <a:lnTo>
                      <a:pt x="5461419" y="3870210"/>
                    </a:lnTo>
                    <a:lnTo>
                      <a:pt x="5399824" y="3870210"/>
                    </a:lnTo>
                    <a:lnTo>
                      <a:pt x="5399824" y="4424565"/>
                    </a:lnTo>
                    <a:lnTo>
                      <a:pt x="5338229" y="4424565"/>
                    </a:lnTo>
                    <a:lnTo>
                      <a:pt x="5430621" y="4609350"/>
                    </a:lnTo>
                    <a:lnTo>
                      <a:pt x="5507621" y="4455363"/>
                    </a:lnTo>
                    <a:lnTo>
                      <a:pt x="5523014" y="4424565"/>
                    </a:lnTo>
                    <a:close/>
                  </a:path>
                  <a:path w="8500110" h="4609465">
                    <a:moveTo>
                      <a:pt x="8500110" y="92392"/>
                    </a:moveTo>
                    <a:lnTo>
                      <a:pt x="8497684" y="80403"/>
                    </a:lnTo>
                    <a:lnTo>
                      <a:pt x="8491093" y="70612"/>
                    </a:lnTo>
                    <a:lnTo>
                      <a:pt x="8481301" y="64008"/>
                    </a:lnTo>
                    <a:lnTo>
                      <a:pt x="8469312" y="61595"/>
                    </a:lnTo>
                    <a:lnTo>
                      <a:pt x="7011568" y="61595"/>
                    </a:lnTo>
                    <a:lnTo>
                      <a:pt x="7011568" y="0"/>
                    </a:lnTo>
                    <a:lnTo>
                      <a:pt x="6826783" y="92392"/>
                    </a:lnTo>
                    <a:lnTo>
                      <a:pt x="7011568" y="184785"/>
                    </a:lnTo>
                    <a:lnTo>
                      <a:pt x="7011568" y="123190"/>
                    </a:lnTo>
                    <a:lnTo>
                      <a:pt x="8438515" y="123190"/>
                    </a:lnTo>
                    <a:lnTo>
                      <a:pt x="8438515" y="2032635"/>
                    </a:lnTo>
                    <a:lnTo>
                      <a:pt x="8243468" y="2032635"/>
                    </a:lnTo>
                    <a:lnTo>
                      <a:pt x="8243468" y="1971040"/>
                    </a:lnTo>
                    <a:lnTo>
                      <a:pt x="8058683" y="2063432"/>
                    </a:lnTo>
                    <a:lnTo>
                      <a:pt x="8243468" y="2155825"/>
                    </a:lnTo>
                    <a:lnTo>
                      <a:pt x="8243468" y="2094230"/>
                    </a:lnTo>
                    <a:lnTo>
                      <a:pt x="8438515" y="2094230"/>
                    </a:lnTo>
                    <a:lnTo>
                      <a:pt x="8438515" y="4609350"/>
                    </a:lnTo>
                    <a:lnTo>
                      <a:pt x="8500110" y="4609350"/>
                    </a:lnTo>
                    <a:lnTo>
                      <a:pt x="8500110" y="123190"/>
                    </a:lnTo>
                    <a:lnTo>
                      <a:pt x="8500110" y="92392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2" name="object 92"/>
              <p:cNvSpPr/>
              <p:nvPr/>
            </p:nvSpPr>
            <p:spPr>
              <a:xfrm>
                <a:off x="8675283" y="4478196"/>
                <a:ext cx="184785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184784" h="657225">
                    <a:moveTo>
                      <a:pt x="61594" y="472227"/>
                    </a:moveTo>
                    <a:lnTo>
                      <a:pt x="0" y="472227"/>
                    </a:lnTo>
                    <a:lnTo>
                      <a:pt x="92392" y="657012"/>
                    </a:lnTo>
                    <a:lnTo>
                      <a:pt x="169386" y="503025"/>
                    </a:lnTo>
                    <a:lnTo>
                      <a:pt x="61595" y="503025"/>
                    </a:lnTo>
                    <a:lnTo>
                      <a:pt x="61594" y="472227"/>
                    </a:lnTo>
                    <a:close/>
                  </a:path>
                  <a:path w="184784" h="657225">
                    <a:moveTo>
                      <a:pt x="123188" y="0"/>
                    </a:moveTo>
                    <a:lnTo>
                      <a:pt x="61593" y="0"/>
                    </a:lnTo>
                    <a:lnTo>
                      <a:pt x="61595" y="503025"/>
                    </a:lnTo>
                    <a:lnTo>
                      <a:pt x="123189" y="503025"/>
                    </a:lnTo>
                    <a:lnTo>
                      <a:pt x="123188" y="0"/>
                    </a:lnTo>
                    <a:close/>
                  </a:path>
                  <a:path w="184784" h="657225">
                    <a:moveTo>
                      <a:pt x="184784" y="472227"/>
                    </a:moveTo>
                    <a:lnTo>
                      <a:pt x="123189" y="472227"/>
                    </a:lnTo>
                    <a:lnTo>
                      <a:pt x="123189" y="503025"/>
                    </a:lnTo>
                    <a:lnTo>
                      <a:pt x="169386" y="503025"/>
                    </a:lnTo>
                    <a:lnTo>
                      <a:pt x="184784" y="47222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3" name="object 93"/>
              <p:cNvSpPr/>
              <p:nvPr/>
            </p:nvSpPr>
            <p:spPr>
              <a:xfrm>
                <a:off x="3860607" y="5053083"/>
                <a:ext cx="123189" cy="1314450"/>
              </a:xfrm>
              <a:custGeom>
                <a:avLst/>
                <a:gdLst/>
                <a:ahLst/>
                <a:cxnLst/>
                <a:rect l="l" t="t" r="r" b="b"/>
                <a:pathLst>
                  <a:path w="123189" h="1314450">
                    <a:moveTo>
                      <a:pt x="82127" y="102656"/>
                    </a:moveTo>
                    <a:lnTo>
                      <a:pt x="41064" y="102656"/>
                    </a:lnTo>
                    <a:lnTo>
                      <a:pt x="41062" y="1314025"/>
                    </a:lnTo>
                    <a:lnTo>
                      <a:pt x="82125" y="1314025"/>
                    </a:lnTo>
                    <a:lnTo>
                      <a:pt x="82127" y="102656"/>
                    </a:lnTo>
                    <a:close/>
                  </a:path>
                  <a:path w="123189" h="1314450">
                    <a:moveTo>
                      <a:pt x="61594" y="0"/>
                    </a:moveTo>
                    <a:lnTo>
                      <a:pt x="0" y="123190"/>
                    </a:lnTo>
                    <a:lnTo>
                      <a:pt x="41064" y="123190"/>
                    </a:lnTo>
                    <a:lnTo>
                      <a:pt x="41064" y="102656"/>
                    </a:lnTo>
                    <a:lnTo>
                      <a:pt x="112923" y="102656"/>
                    </a:lnTo>
                    <a:lnTo>
                      <a:pt x="61594" y="0"/>
                    </a:lnTo>
                    <a:close/>
                  </a:path>
                  <a:path w="123189" h="1314450">
                    <a:moveTo>
                      <a:pt x="112923" y="102656"/>
                    </a:moveTo>
                    <a:lnTo>
                      <a:pt x="82127" y="102656"/>
                    </a:lnTo>
                    <a:lnTo>
                      <a:pt x="82127" y="123190"/>
                    </a:lnTo>
                    <a:lnTo>
                      <a:pt x="123189" y="123190"/>
                    </a:lnTo>
                    <a:lnTo>
                      <a:pt x="112923" y="102656"/>
                    </a:lnTo>
                    <a:close/>
                  </a:path>
                </a:pathLst>
              </a:custGeom>
              <a:solidFill>
                <a:srgbClr val="00AE00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4" name="object 94"/>
              <p:cNvSpPr/>
              <p:nvPr/>
            </p:nvSpPr>
            <p:spPr>
              <a:xfrm>
                <a:off x="3829799" y="4970957"/>
                <a:ext cx="3798570" cy="1724660"/>
              </a:xfrm>
              <a:custGeom>
                <a:avLst/>
                <a:gdLst/>
                <a:ahLst/>
                <a:cxnLst/>
                <a:rect l="l" t="t" r="r" b="b"/>
                <a:pathLst>
                  <a:path w="3798570" h="1724659">
                    <a:moveTo>
                      <a:pt x="184785" y="266915"/>
                    </a:moveTo>
                    <a:lnTo>
                      <a:pt x="169392" y="236118"/>
                    </a:lnTo>
                    <a:lnTo>
                      <a:pt x="92392" y="82130"/>
                    </a:lnTo>
                    <a:lnTo>
                      <a:pt x="0" y="266915"/>
                    </a:lnTo>
                    <a:lnTo>
                      <a:pt x="61595" y="266915"/>
                    </a:lnTo>
                    <a:lnTo>
                      <a:pt x="61595" y="1724660"/>
                    </a:lnTo>
                    <a:lnTo>
                      <a:pt x="123190" y="1724660"/>
                    </a:lnTo>
                    <a:lnTo>
                      <a:pt x="123190" y="266915"/>
                    </a:lnTo>
                    <a:lnTo>
                      <a:pt x="184785" y="266915"/>
                    </a:lnTo>
                    <a:close/>
                  </a:path>
                  <a:path w="3798570" h="1724659">
                    <a:moveTo>
                      <a:pt x="3798366" y="184785"/>
                    </a:moveTo>
                    <a:lnTo>
                      <a:pt x="3782961" y="153987"/>
                    </a:lnTo>
                    <a:lnTo>
                      <a:pt x="3705974" y="0"/>
                    </a:lnTo>
                    <a:lnTo>
                      <a:pt x="3613581" y="184785"/>
                    </a:lnTo>
                    <a:lnTo>
                      <a:pt x="3675176" y="184785"/>
                    </a:lnTo>
                    <a:lnTo>
                      <a:pt x="3675176" y="1724660"/>
                    </a:lnTo>
                    <a:lnTo>
                      <a:pt x="3736771" y="1724660"/>
                    </a:lnTo>
                    <a:lnTo>
                      <a:pt x="3736771" y="184785"/>
                    </a:lnTo>
                    <a:lnTo>
                      <a:pt x="3798366" y="184785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pPr algn="l" defTabSz="502920" rtl="0"/>
                <a:endParaRPr sz="1747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5" name="object 95"/>
            <p:cNvSpPr txBox="1"/>
            <p:nvPr/>
          </p:nvSpPr>
          <p:spPr>
            <a:xfrm>
              <a:off x="652682" y="1374737"/>
              <a:ext cx="1071282" cy="269428"/>
            </a:xfrm>
            <a:prstGeom prst="rect">
              <a:avLst/>
            </a:prstGeom>
          </p:spPr>
          <p:txBody>
            <a:bodyPr vert="horz" wrap="square" lIns="0" tIns="12327" rIns="0" bIns="0" rtlCol="0">
              <a:spAutoFit/>
            </a:bodyPr>
            <a:lstStyle/>
            <a:p>
              <a:pPr marL="12327" algn="l" defTabSz="502920" rtl="0">
                <a:spcBef>
                  <a:spcPts val="97"/>
                </a:spcBef>
              </a:pPr>
              <a:r>
                <a:rPr sz="1845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From</a:t>
              </a:r>
              <a:r>
                <a:rPr sz="1845" b="1" kern="1200" spc="38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sz="1845" b="1" kern="1200" spc="-24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Mem</a:t>
              </a:r>
              <a:endParaRPr sz="1845" kern="120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96" name="object 96"/>
            <p:cNvSpPr txBox="1"/>
            <p:nvPr/>
          </p:nvSpPr>
          <p:spPr>
            <a:xfrm>
              <a:off x="5459808" y="1303553"/>
              <a:ext cx="1343025" cy="263565"/>
            </a:xfrm>
            <a:prstGeom prst="rect">
              <a:avLst/>
            </a:prstGeom>
          </p:spPr>
          <p:txBody>
            <a:bodyPr vert="horz" wrap="square" lIns="0" tIns="13559" rIns="0" bIns="0" rtlCol="0">
              <a:spAutoFit/>
            </a:bodyPr>
            <a:lstStyle/>
            <a:p>
              <a:pPr marL="12327" algn="l" defTabSz="502920" rtl="0">
                <a:spcBef>
                  <a:spcPts val="107"/>
                </a:spcBef>
              </a:pPr>
              <a:r>
                <a:rPr sz="1795" b="1" kern="1200" dirty="0">
                  <a:solidFill>
                    <a:prstClr val="black"/>
                  </a:solidFill>
                  <a:latin typeface="Comic Sans MS"/>
                  <a:ea typeface="+mn-ea"/>
                  <a:cs typeface="Comic Sans MS"/>
                </a:rPr>
                <a:t>FP</a:t>
              </a:r>
              <a:r>
                <a:rPr sz="1795" b="1" kern="1200" spc="-83" dirty="0">
                  <a:solidFill>
                    <a:prstClr val="black"/>
                  </a:solidFill>
                  <a:latin typeface="Comic Sans MS"/>
                  <a:ea typeface="+mn-ea"/>
                  <a:cs typeface="Comic Sans MS"/>
                </a:rPr>
                <a:t> </a:t>
              </a:r>
              <a:r>
                <a:rPr sz="1795" b="1" kern="1200" spc="48" dirty="0">
                  <a:solidFill>
                    <a:prstClr val="black"/>
                  </a:solidFill>
                  <a:latin typeface="Comic Sans MS"/>
                  <a:ea typeface="+mn-ea"/>
                  <a:cs typeface="Comic Sans MS"/>
                </a:rPr>
                <a:t>Registers</a:t>
              </a:r>
              <a:endParaRPr sz="1795" kern="1200">
                <a:solidFill>
                  <a:prstClr val="black"/>
                </a:solidFill>
                <a:latin typeface="Comic Sans MS"/>
                <a:ea typeface="+mn-ea"/>
                <a:cs typeface="Comic Sans MS"/>
              </a:endParaRPr>
            </a:p>
          </p:txBody>
        </p:sp>
        <p:sp>
          <p:nvSpPr>
            <p:cNvPr id="97" name="object 97"/>
            <p:cNvSpPr txBox="1"/>
            <p:nvPr/>
          </p:nvSpPr>
          <p:spPr>
            <a:xfrm>
              <a:off x="3911631" y="4356171"/>
              <a:ext cx="1131234" cy="752894"/>
            </a:xfrm>
            <a:prstGeom prst="rect">
              <a:avLst/>
            </a:prstGeom>
          </p:spPr>
          <p:txBody>
            <a:bodyPr vert="horz" wrap="square" lIns="0" tIns="12327" rIns="0" bIns="0" rtlCol="0">
              <a:spAutoFit/>
            </a:bodyPr>
            <a:lstStyle/>
            <a:p>
              <a:pPr marL="240996" marR="4931" indent="-229285" algn="l" defTabSz="502920" rtl="0">
                <a:lnSpc>
                  <a:spcPct val="152600"/>
                </a:lnSpc>
                <a:spcBef>
                  <a:spcPts val="97"/>
                </a:spcBef>
              </a:pPr>
              <a:r>
                <a:rPr sz="1845" b="1" kern="1200" spc="-1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Reservation Stations</a:t>
              </a:r>
              <a:endParaRPr sz="1845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98" name="object 98"/>
            <p:cNvSpPr txBox="1"/>
            <p:nvPr/>
          </p:nvSpPr>
          <p:spPr>
            <a:xfrm>
              <a:off x="3585540" y="5925223"/>
              <a:ext cx="2442322" cy="269428"/>
            </a:xfrm>
            <a:prstGeom prst="rect">
              <a:avLst/>
            </a:prstGeom>
          </p:spPr>
          <p:txBody>
            <a:bodyPr vert="horz" wrap="square" lIns="0" tIns="12327" rIns="0" bIns="0" rtlCol="0">
              <a:spAutoFit/>
            </a:bodyPr>
            <a:lstStyle/>
            <a:p>
              <a:pPr marL="12327" algn="l" defTabSz="502920" rtl="0">
                <a:spcBef>
                  <a:spcPts val="97"/>
                </a:spcBef>
              </a:pPr>
              <a:r>
                <a:rPr sz="1845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Common</a:t>
              </a:r>
              <a:r>
                <a:rPr sz="1845" b="1" kern="1200" spc="58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sz="1845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Data</a:t>
              </a:r>
              <a:r>
                <a:rPr sz="1845" b="1" kern="1200" spc="63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sz="1845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Bus</a:t>
              </a:r>
              <a:r>
                <a:rPr sz="1845" b="1" kern="1200" spc="58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sz="1845" b="1" kern="1200" spc="-1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(CDB)</a:t>
              </a:r>
              <a:endParaRPr sz="1845" kern="120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99" name="object 99"/>
            <p:cNvSpPr txBox="1"/>
            <p:nvPr/>
          </p:nvSpPr>
          <p:spPr>
            <a:xfrm>
              <a:off x="7440662" y="4561691"/>
              <a:ext cx="790015" cy="269428"/>
            </a:xfrm>
            <a:prstGeom prst="rect">
              <a:avLst/>
            </a:prstGeom>
          </p:spPr>
          <p:txBody>
            <a:bodyPr vert="horz" wrap="square" lIns="0" tIns="12327" rIns="0" bIns="0" rtlCol="0">
              <a:spAutoFit/>
            </a:bodyPr>
            <a:lstStyle/>
            <a:p>
              <a:pPr marL="12327" algn="l" defTabSz="502920" rtl="0">
                <a:spcBef>
                  <a:spcPts val="97"/>
                </a:spcBef>
              </a:pPr>
              <a:r>
                <a:rPr sz="1845" b="1" kern="1200" spc="-2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To</a:t>
              </a:r>
              <a:r>
                <a:rPr sz="1845" b="1" kern="1200" spc="-97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sz="1845" b="1" kern="1200" spc="-24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Mem</a:t>
              </a:r>
              <a:endParaRPr sz="1845" kern="120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100" name="object 100"/>
            <p:cNvSpPr txBox="1"/>
            <p:nvPr/>
          </p:nvSpPr>
          <p:spPr>
            <a:xfrm>
              <a:off x="1538633" y="1175721"/>
              <a:ext cx="1739152" cy="1129221"/>
            </a:xfrm>
            <a:prstGeom prst="rect">
              <a:avLst/>
            </a:prstGeom>
          </p:spPr>
          <p:txBody>
            <a:bodyPr vert="horz" wrap="square" lIns="0" tIns="12327" rIns="0" bIns="0" rtlCol="0">
              <a:spAutoFit/>
            </a:bodyPr>
            <a:lstStyle/>
            <a:p>
              <a:pPr marL="1195115" marR="4931" indent="-43761" algn="l" defTabSz="502920" rtl="0">
                <a:lnSpc>
                  <a:spcPct val="152600"/>
                </a:lnSpc>
                <a:spcBef>
                  <a:spcPts val="97"/>
                </a:spcBef>
              </a:pPr>
              <a:r>
                <a:rPr sz="1845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FP</a:t>
              </a:r>
              <a:r>
                <a:rPr sz="1845" b="1" kern="1200" spc="-73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sz="1845" b="1" kern="1200" spc="-24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Ops </a:t>
              </a:r>
              <a:r>
                <a:rPr sz="1845" b="1" kern="1200" spc="-1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Queue</a:t>
              </a:r>
              <a:endParaRPr sz="1845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  <a:p>
              <a:pPr marL="12327" algn="l" defTabSz="502920" rtl="0">
                <a:spcBef>
                  <a:spcPts val="582"/>
                </a:spcBef>
              </a:pPr>
              <a:r>
                <a:rPr sz="1845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Load</a:t>
              </a:r>
              <a:r>
                <a:rPr sz="1845" b="1" kern="1200" spc="78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sz="1845" b="1" kern="1200" spc="-1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Buffers</a:t>
              </a:r>
              <a:endParaRPr sz="1845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101" name="object 101"/>
            <p:cNvSpPr txBox="1"/>
            <p:nvPr/>
          </p:nvSpPr>
          <p:spPr>
            <a:xfrm>
              <a:off x="6552516" y="2892337"/>
              <a:ext cx="1254499" cy="269428"/>
            </a:xfrm>
            <a:prstGeom prst="rect">
              <a:avLst/>
            </a:prstGeom>
          </p:spPr>
          <p:txBody>
            <a:bodyPr vert="horz" wrap="square" lIns="0" tIns="12327" rIns="0" bIns="0" rtlCol="0">
              <a:spAutoFit/>
            </a:bodyPr>
            <a:lstStyle/>
            <a:p>
              <a:pPr marL="12327" algn="l" defTabSz="502920" rtl="0">
                <a:spcBef>
                  <a:spcPts val="97"/>
                </a:spcBef>
              </a:pPr>
              <a:r>
                <a:rPr sz="1845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Store</a:t>
              </a:r>
              <a:r>
                <a:rPr sz="1845" b="1" kern="1200" spc="29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sz="1845" b="1" kern="1200" spc="-1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Buffers</a:t>
              </a:r>
              <a:endParaRPr sz="1845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102" name="object 102"/>
            <p:cNvSpPr txBox="1"/>
            <p:nvPr/>
          </p:nvSpPr>
          <p:spPr>
            <a:xfrm>
              <a:off x="391054" y="1946685"/>
              <a:ext cx="482413" cy="1697478"/>
            </a:xfrm>
            <a:prstGeom prst="rect">
              <a:avLst/>
            </a:prstGeom>
          </p:spPr>
          <p:txBody>
            <a:bodyPr vert="horz" wrap="square" lIns="0" tIns="6779" rIns="0" bIns="0" rtlCol="0">
              <a:spAutoFit/>
            </a:bodyPr>
            <a:lstStyle/>
            <a:p>
              <a:pPr marL="12327" marR="4931" algn="just" defTabSz="502920" rtl="0">
                <a:lnSpc>
                  <a:spcPct val="141100"/>
                </a:lnSpc>
                <a:spcBef>
                  <a:spcPts val="54"/>
                </a:spcBef>
              </a:pPr>
              <a:r>
                <a:rPr sz="1456" b="1" kern="1200" spc="-10" dirty="0">
                  <a:solidFill>
                    <a:srgbClr val="FF0000"/>
                  </a:solidFill>
                  <a:latin typeface="Times New Roman"/>
                  <a:ea typeface="+mn-ea"/>
                  <a:cs typeface="Times New Roman"/>
                </a:rPr>
                <a:t>Load1 Load2 Load3 Load4 Load5 Load6</a:t>
              </a:r>
              <a:endParaRPr sz="1456" kern="120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103" name="object 103"/>
            <p:cNvSpPr txBox="1"/>
            <p:nvPr/>
          </p:nvSpPr>
          <p:spPr>
            <a:xfrm>
              <a:off x="6939071" y="3105822"/>
              <a:ext cx="488576" cy="892408"/>
            </a:xfrm>
            <a:prstGeom prst="rect">
              <a:avLst/>
            </a:prstGeom>
          </p:spPr>
          <p:txBody>
            <a:bodyPr vert="horz" wrap="square" lIns="0" tIns="13559" rIns="0" bIns="0" rtlCol="0">
              <a:spAutoFit/>
            </a:bodyPr>
            <a:lstStyle/>
            <a:p>
              <a:pPr marL="12327" marR="4931" algn="just" defTabSz="502920" rtl="0">
                <a:lnSpc>
                  <a:spcPct val="150000"/>
                </a:lnSpc>
                <a:spcBef>
                  <a:spcPts val="107"/>
                </a:spcBef>
              </a:pPr>
              <a:r>
                <a:rPr sz="1456" b="1" kern="1200" spc="-10" dirty="0">
                  <a:solidFill>
                    <a:srgbClr val="FF0000"/>
                  </a:solidFill>
                  <a:latin typeface="Times New Roman"/>
                  <a:ea typeface="+mn-ea"/>
                  <a:cs typeface="Times New Roman"/>
                </a:rPr>
                <a:t>Store1 Store2 Store3</a:t>
              </a:r>
              <a:endParaRPr sz="1456" kern="120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</p:txBody>
        </p:sp>
      </p:grpSp>
      <p:sp>
        <p:nvSpPr>
          <p:cNvPr id="104" name="object 41">
            <a:extLst>
              <a:ext uri="{FF2B5EF4-FFF2-40B4-BE49-F238E27FC236}">
                <a16:creationId xmlns:a16="http://schemas.microsoft.com/office/drawing/2014/main" id="{93C826AB-1A4D-A63A-D4A9-81F01507E51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762000"/>
            <a:ext cx="7291236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3560">
              <a:spcBef>
                <a:spcPts val="97"/>
              </a:spcBef>
            </a:pPr>
            <a:r>
              <a:rPr dirty="0"/>
              <a:t>Three</a:t>
            </a:r>
            <a:r>
              <a:rPr spc="107" dirty="0"/>
              <a:t> </a:t>
            </a:r>
            <a:r>
              <a:rPr dirty="0"/>
              <a:t>Stages</a:t>
            </a:r>
            <a:r>
              <a:rPr spc="102" dirty="0"/>
              <a:t> </a:t>
            </a:r>
            <a:r>
              <a:rPr dirty="0"/>
              <a:t>of</a:t>
            </a:r>
            <a:r>
              <a:rPr spc="97" dirty="0"/>
              <a:t> </a:t>
            </a:r>
            <a:r>
              <a:rPr dirty="0"/>
              <a:t>Tomasulo</a:t>
            </a:r>
            <a:r>
              <a:rPr spc="117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360751"/>
            <a:ext cx="9144000" cy="6190410"/>
          </a:xfrm>
          <a:prstGeom prst="rect">
            <a:avLst/>
          </a:prstGeom>
        </p:spPr>
        <p:txBody>
          <a:bodyPr vert="horz" wrap="square" lIns="0" tIns="98612" rIns="0" bIns="0" rtlCol="0">
            <a:spAutoFit/>
          </a:bodyPr>
          <a:lstStyle/>
          <a:p>
            <a:pPr marL="490004" indent="-477676" algn="l" defTabSz="502920" rtl="0">
              <a:spcBef>
                <a:spcPts val="777"/>
              </a:spcBef>
              <a:buSzPct val="88461"/>
              <a:buFontTx/>
              <a:buAutoNum type="arabicPeriod"/>
              <a:tabLst>
                <a:tab pos="490004" algn="l"/>
              </a:tabLst>
            </a:pPr>
            <a:r>
              <a:rPr sz="2523" b="1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Issue</a:t>
            </a:r>
            <a:r>
              <a:rPr sz="2523" kern="1200" spc="-38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-</a:t>
            </a:r>
            <a:r>
              <a:rPr sz="2523" kern="1200" spc="-3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get</a:t>
            </a:r>
            <a:r>
              <a:rPr sz="2523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instruction</a:t>
            </a:r>
            <a:r>
              <a:rPr sz="2523" kern="1200" spc="-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from</a:t>
            </a:r>
            <a:r>
              <a:rPr sz="2523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FP</a:t>
            </a:r>
            <a:r>
              <a:rPr sz="2523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</a:t>
            </a:r>
            <a:r>
              <a:rPr sz="2523" kern="1200" spc="-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Queue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marR="925767" lvl="1" indent="-239146" algn="l" defTabSz="502920" rtl="0">
              <a:spcBef>
                <a:spcPts val="922"/>
              </a:spcBef>
              <a:buFontTx/>
              <a:buChar char="–"/>
              <a:tabLst>
                <a:tab pos="729766" algn="l"/>
              </a:tabLst>
            </a:pP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If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reservation</a:t>
            </a:r>
            <a:r>
              <a:rPr sz="2135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station</a:t>
            </a:r>
            <a:r>
              <a:rPr sz="2135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free</a:t>
            </a:r>
            <a:r>
              <a:rPr sz="2135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(no</a:t>
            </a:r>
            <a:r>
              <a:rPr sz="2135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structural</a:t>
            </a:r>
            <a:r>
              <a:rPr sz="2135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hazard),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control</a:t>
            </a:r>
            <a:r>
              <a:rPr sz="2135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issues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instruction</a:t>
            </a:r>
            <a:r>
              <a:rPr sz="2135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&amp;</a:t>
            </a:r>
            <a:r>
              <a:rPr sz="2135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sends</a:t>
            </a:r>
            <a:r>
              <a:rPr sz="2135" kern="1200" spc="-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operands</a:t>
            </a:r>
            <a:r>
              <a:rPr sz="2135" kern="1200" spc="-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(renames</a:t>
            </a:r>
            <a:r>
              <a:rPr sz="2135" kern="1200" spc="-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registers).</a:t>
            </a:r>
            <a:endParaRPr sz="2135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004" indent="-477676" algn="l" defTabSz="502920" rtl="0">
              <a:spcBef>
                <a:spcPts val="529"/>
              </a:spcBef>
              <a:buSzPct val="88461"/>
              <a:buFontTx/>
              <a:buAutoNum type="arabicPeriod"/>
              <a:tabLst>
                <a:tab pos="490004" algn="l"/>
              </a:tabLst>
            </a:pPr>
            <a:r>
              <a:rPr sz="2523" b="1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Execute</a:t>
            </a:r>
            <a:r>
              <a:rPr sz="2523" kern="1200" spc="-8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-</a:t>
            </a:r>
            <a:r>
              <a:rPr sz="2523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operate</a:t>
            </a:r>
            <a:r>
              <a:rPr sz="2523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</a:t>
            </a:r>
            <a:r>
              <a:rPr sz="2523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operands</a:t>
            </a:r>
            <a:r>
              <a:rPr sz="2523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(EX)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549"/>
              </a:spcBef>
              <a:buFontTx/>
              <a:buChar char="–"/>
              <a:tabLst>
                <a:tab pos="729766" algn="l"/>
              </a:tabLst>
            </a:pP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Start</a:t>
            </a:r>
            <a:r>
              <a:rPr sz="2135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execution</a:t>
            </a:r>
            <a:r>
              <a:rPr sz="2135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when</a:t>
            </a:r>
            <a:r>
              <a:rPr sz="2135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both</a:t>
            </a:r>
            <a:r>
              <a:rPr sz="2135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operands</a:t>
            </a:r>
            <a:r>
              <a:rPr sz="2135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ready;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if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not,</a:t>
            </a:r>
            <a:r>
              <a:rPr sz="2135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b="1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watch</a:t>
            </a:r>
            <a:r>
              <a:rPr sz="2135" b="1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CDB</a:t>
            </a:r>
            <a:r>
              <a:rPr sz="2135" kern="1200" spc="-9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sz="2135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result</a:t>
            </a:r>
            <a:endParaRPr sz="2135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490004" indent="-477676" algn="l" defTabSz="502920" rtl="0">
              <a:spcBef>
                <a:spcPts val="543"/>
              </a:spcBef>
              <a:buSzPct val="88461"/>
              <a:buFontTx/>
              <a:buAutoNum type="arabicPeriod"/>
              <a:tabLst>
                <a:tab pos="490004" algn="l"/>
              </a:tabLst>
            </a:pPr>
            <a:r>
              <a:rPr sz="2523" b="1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Write</a:t>
            </a:r>
            <a:r>
              <a:rPr sz="2523" b="1" kern="1200" spc="-6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result</a:t>
            </a:r>
            <a:r>
              <a:rPr sz="2523" kern="1200" spc="-7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-</a:t>
            </a:r>
            <a:r>
              <a:rPr sz="2523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finish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execution</a:t>
            </a:r>
            <a:r>
              <a:rPr sz="2523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(WB)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485"/>
              </a:spcBef>
              <a:spcAft>
                <a:spcPts val="1800"/>
              </a:spcAft>
              <a:buFontTx/>
              <a:buChar char="–"/>
              <a:tabLst>
                <a:tab pos="729766" algn="l"/>
              </a:tabLst>
            </a:pP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Write</a:t>
            </a:r>
            <a:r>
              <a:rPr sz="2135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CDB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135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all</a:t>
            </a:r>
            <a:r>
              <a:rPr sz="2135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awaiting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units;</a:t>
            </a:r>
            <a:r>
              <a:rPr sz="2135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mark</a:t>
            </a:r>
            <a:r>
              <a:rPr sz="2135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RS</a:t>
            </a:r>
            <a:r>
              <a:rPr sz="2135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available</a:t>
            </a:r>
            <a:endParaRPr sz="2135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636"/>
              </a:spcBef>
              <a:spcAft>
                <a:spcPts val="600"/>
              </a:spcAft>
              <a:buFontTx/>
              <a:buChar char="•"/>
              <a:tabLst>
                <a:tab pos="310643" algn="l"/>
              </a:tabLst>
            </a:pP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Normal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data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bus: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data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+</a:t>
            </a:r>
            <a:r>
              <a:rPr sz="2523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destination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(“go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to”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bus)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558"/>
              </a:spcBef>
              <a:buFont typeface="Calibri"/>
              <a:buChar char="•"/>
              <a:tabLst>
                <a:tab pos="310643" algn="l"/>
                <a:tab pos="4801416" algn="l"/>
              </a:tabLst>
            </a:pPr>
            <a:r>
              <a:rPr sz="2523" b="1" u="heavy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Common</a:t>
            </a:r>
            <a:r>
              <a:rPr sz="2523" b="1" u="heavy" kern="1200" spc="-83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23" b="1" u="heavy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data</a:t>
            </a:r>
            <a:r>
              <a:rPr sz="2523" b="1" u="heavy" kern="1200" spc="-73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23" b="1" u="heavy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bus</a:t>
            </a:r>
            <a:r>
              <a:rPr sz="2523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:</a:t>
            </a:r>
            <a:r>
              <a:rPr sz="2523" b="1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data</a:t>
            </a:r>
            <a:r>
              <a:rPr sz="2523" b="1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+</a:t>
            </a:r>
            <a:r>
              <a:rPr sz="2523" b="1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u="heavy" kern="1200" spc="-1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source</a:t>
            </a:r>
            <a:r>
              <a:rPr sz="2523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	</a:t>
            </a:r>
            <a:r>
              <a:rPr sz="2523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(“</a:t>
            </a:r>
            <a:r>
              <a:rPr sz="2523" b="1" u="heavy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come</a:t>
            </a:r>
            <a:r>
              <a:rPr sz="2523" b="1" u="heavy" kern="1200" spc="-97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23" b="1" u="heavy" kern="1200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from</a:t>
            </a:r>
            <a:r>
              <a:rPr sz="2523" b="1" u="heavy" kern="1200" dirty="0">
                <a:solidFill>
                  <a:prstClr val="black"/>
                </a:solidFill>
                <a:uFill>
                  <a:solidFill>
                    <a:srgbClr val="3366FF"/>
                  </a:solidFill>
                </a:uFill>
                <a:latin typeface="Calibri"/>
                <a:ea typeface="+mn-ea"/>
                <a:cs typeface="Calibri"/>
              </a:rPr>
              <a:t>”</a:t>
            </a:r>
            <a:r>
              <a:rPr sz="2523" b="1" kern="1200" spc="-92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bus)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457"/>
              </a:spcBef>
              <a:buFontTx/>
              <a:buChar char="–"/>
              <a:tabLst>
                <a:tab pos="729766" algn="l"/>
              </a:tabLst>
            </a:pP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64</a:t>
            </a:r>
            <a:r>
              <a:rPr sz="2135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bits</a:t>
            </a:r>
            <a:r>
              <a:rPr sz="2135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135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data</a:t>
            </a:r>
            <a:r>
              <a:rPr sz="2135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+</a:t>
            </a:r>
            <a:r>
              <a:rPr sz="2135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4</a:t>
            </a:r>
            <a:r>
              <a:rPr sz="2135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bits</a:t>
            </a:r>
            <a:r>
              <a:rPr sz="2135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135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Functional</a:t>
            </a:r>
            <a:r>
              <a:rPr sz="2135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Unit</a:t>
            </a:r>
            <a:r>
              <a:rPr sz="2135" kern="1200" spc="37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source</a:t>
            </a:r>
            <a:r>
              <a:rPr sz="2135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address</a:t>
            </a:r>
            <a:endParaRPr sz="2135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563"/>
              </a:spcBef>
              <a:buFontTx/>
              <a:buChar char="–"/>
              <a:tabLst>
                <a:tab pos="729766" algn="l"/>
              </a:tabLst>
            </a:pP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Write</a:t>
            </a:r>
            <a:r>
              <a:rPr sz="2135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if</a:t>
            </a:r>
            <a:r>
              <a:rPr sz="2135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matches</a:t>
            </a:r>
            <a:r>
              <a:rPr sz="2135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expected</a:t>
            </a:r>
            <a:r>
              <a:rPr sz="2135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Functional</a:t>
            </a:r>
            <a:r>
              <a:rPr sz="2135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Unit</a:t>
            </a:r>
            <a:r>
              <a:rPr sz="2135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(produces</a:t>
            </a:r>
            <a:r>
              <a:rPr sz="2135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result)</a:t>
            </a:r>
            <a:endParaRPr sz="2135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441"/>
              </a:spcBef>
              <a:spcAft>
                <a:spcPts val="600"/>
              </a:spcAft>
              <a:buFontTx/>
              <a:buChar char="–"/>
              <a:tabLst>
                <a:tab pos="729766" algn="l"/>
              </a:tabLst>
            </a:pP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Does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</a:t>
            </a:r>
            <a:r>
              <a:rPr sz="2135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broadcast</a:t>
            </a:r>
            <a:endParaRPr lang="en-US" sz="2135" kern="1200" spc="-1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288925" indent="-280988" algn="l" defTabSz="502920" rtl="0">
              <a:lnSpc>
                <a:spcPct val="110000"/>
              </a:lnSpc>
              <a:spcBef>
                <a:spcPts val="441"/>
              </a:spcBef>
              <a:spcAft>
                <a:spcPts val="600"/>
              </a:spcAft>
              <a:buSzPct val="130000"/>
              <a:buFont typeface="Arial" panose="020B0604020202020204" pitchFamily="34" charset="0"/>
              <a:buChar char="•"/>
              <a:tabLst>
                <a:tab pos="729766" algn="l"/>
              </a:tabLst>
            </a:pPr>
            <a:r>
              <a:rPr lang="en-US" sz="2520" u="sng" kern="1200" spc="-1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Completion</a:t>
            </a:r>
            <a:r>
              <a:rPr lang="en-US" sz="2520" u="sng" kern="1200" spc="-68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2520" u="sng" kern="1200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latencies</a:t>
            </a:r>
            <a:r>
              <a:rPr lang="en-US" sz="2520" kern="1200" spc="-7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520" kern="1200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lang="en-US" sz="2520" kern="1200" spc="-6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520" kern="1200" spc="-10" dirty="0">
                <a:solidFill>
                  <a:prstClr val="black"/>
                </a:solidFill>
                <a:latin typeface="Calibri"/>
                <a:cs typeface="Calibri"/>
              </a:rPr>
              <a:t>instructions</a:t>
            </a:r>
            <a:r>
              <a:rPr lang="en-US" sz="2520" kern="1200" spc="-6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520" kern="1200" dirty="0">
                <a:solidFill>
                  <a:prstClr val="black"/>
                </a:solidFill>
                <a:latin typeface="Calibri"/>
                <a:cs typeface="Calibri"/>
              </a:rPr>
              <a:t>in</a:t>
            </a:r>
            <a:r>
              <a:rPr lang="en-US" sz="2520" kern="1200" spc="-6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520" kern="1200" dirty="0">
                <a:solidFill>
                  <a:prstClr val="black"/>
                </a:solidFill>
                <a:latin typeface="Calibri"/>
                <a:cs typeface="Calibri"/>
              </a:rPr>
              <a:t>following</a:t>
            </a:r>
            <a:r>
              <a:rPr lang="en-US" sz="2520" kern="1200" spc="-7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520" kern="1200" spc="-10" dirty="0">
                <a:solidFill>
                  <a:prstClr val="black"/>
                </a:solidFill>
                <a:latin typeface="Calibri"/>
                <a:cs typeface="Calibri"/>
              </a:rPr>
              <a:t>example </a:t>
            </a:r>
            <a:r>
              <a:rPr lang="en-US" sz="2520" kern="1200" dirty="0">
                <a:solidFill>
                  <a:prstClr val="black"/>
                </a:solidFill>
                <a:latin typeface="Calibri"/>
                <a:cs typeface="Calibri"/>
              </a:rPr>
              <a:t>slides:</a:t>
            </a:r>
            <a:r>
              <a:rPr lang="en-US" sz="2400" kern="1200" spc="-58" dirty="0">
                <a:solidFill>
                  <a:prstClr val="black"/>
                </a:solidFill>
                <a:latin typeface="Calibri"/>
                <a:cs typeface="Calibri"/>
              </a:rPr>
              <a:t>  </a:t>
            </a:r>
            <a:br>
              <a:rPr lang="en-US" sz="2400" kern="1200" spc="-58" dirty="0">
                <a:solidFill>
                  <a:prstClr val="black"/>
                </a:solidFill>
                <a:latin typeface="Calibri"/>
                <a:cs typeface="Calibri"/>
              </a:rPr>
            </a:b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       1cc</a:t>
            </a:r>
            <a:r>
              <a:rPr lang="en-US" sz="2000" kern="1200" spc="-5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lang="en-US" sz="2000" kern="1200" spc="-5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L.D </a:t>
            </a:r>
            <a:r>
              <a:rPr lang="en-US" sz="2000" kern="1200" spc="393" dirty="0">
                <a:solidFill>
                  <a:prstClr val="black"/>
                </a:solidFill>
                <a:latin typeface="Calibri"/>
                <a:cs typeface="Calibri"/>
              </a:rPr>
              <a:t>  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2cc</a:t>
            </a:r>
            <a:r>
              <a:rPr lang="en-US" sz="2000" kern="1200" spc="-6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lang="en-US" sz="2000" kern="1200" spc="-58" dirty="0">
                <a:solidFill>
                  <a:prstClr val="black"/>
                </a:solidFill>
                <a:latin typeface="Calibri"/>
                <a:cs typeface="Calibri"/>
              </a:rPr>
              <a:t> FP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ADD</a:t>
            </a:r>
            <a:r>
              <a:rPr lang="en-US" sz="2000" kern="1200" spc="-58" dirty="0">
                <a:solidFill>
                  <a:prstClr val="black"/>
                </a:solidFill>
                <a:latin typeface="Calibri"/>
                <a:cs typeface="Calibri"/>
              </a:rPr>
              <a:t> (</a:t>
            </a:r>
            <a:r>
              <a:rPr lang="en-US" sz="2000" kern="1200" spc="-29" dirty="0">
                <a:solidFill>
                  <a:prstClr val="black"/>
                </a:solidFill>
                <a:latin typeface="Calibri"/>
                <a:cs typeface="Calibri"/>
              </a:rPr>
              <a:t>+,-)</a:t>
            </a:r>
            <a:r>
              <a:rPr lang="en-US" sz="2000" kern="1200" spc="393" dirty="0">
                <a:solidFill>
                  <a:prstClr val="black"/>
                </a:solidFill>
                <a:latin typeface="Calibri"/>
                <a:cs typeface="Calibri"/>
              </a:rPr>
              <a:t>   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10cc</a:t>
            </a:r>
            <a:r>
              <a:rPr lang="en-US" sz="2000" kern="1200" spc="-6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lang="en-US" sz="2000" kern="1200" spc="-54" dirty="0">
                <a:solidFill>
                  <a:prstClr val="black"/>
                </a:solidFill>
                <a:latin typeface="Calibri"/>
                <a:cs typeface="Calibri"/>
              </a:rPr>
              <a:t> FP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MUL</a:t>
            </a:r>
            <a:r>
              <a:rPr lang="en-US" sz="2000" kern="1200" spc="393" dirty="0">
                <a:solidFill>
                  <a:prstClr val="black"/>
                </a:solidFill>
                <a:latin typeface="Calibri"/>
                <a:cs typeface="Calibri"/>
              </a:rPr>
              <a:t>   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40cc</a:t>
            </a:r>
            <a:r>
              <a:rPr lang="en-US" sz="2000" kern="1200" spc="-6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000" kern="1200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lang="en-US" sz="2000" kern="1200" spc="-54" dirty="0">
                <a:solidFill>
                  <a:prstClr val="black"/>
                </a:solidFill>
                <a:latin typeface="Calibri"/>
                <a:cs typeface="Calibri"/>
              </a:rPr>
              <a:t> FP </a:t>
            </a:r>
            <a:r>
              <a:rPr lang="en-US" sz="2000" kern="1200" spc="-24" dirty="0">
                <a:solidFill>
                  <a:prstClr val="black"/>
                </a:solidFill>
                <a:latin typeface="Calibri"/>
                <a:cs typeface="Calibri"/>
              </a:rPr>
              <a:t>DIV</a:t>
            </a:r>
            <a:endParaRPr lang="en-US" sz="2000" kern="12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5" name="object 41">
            <a:extLst>
              <a:ext uri="{FF2B5EF4-FFF2-40B4-BE49-F238E27FC236}">
                <a16:creationId xmlns:a16="http://schemas.microsoft.com/office/drawing/2014/main" id="{BD9FB4C6-C104-68BB-25B8-BEAD7744572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762000"/>
            <a:ext cx="5702114" cy="520279"/>
          </a:xfrm>
          <a:prstGeom prst="rect">
            <a:avLst/>
          </a:prstGeom>
        </p:spPr>
        <p:txBody>
          <a:bodyPr vert="horz" wrap="square" lIns="0" tIns="12327" rIns="0" bIns="0" rtlCol="0">
            <a:spAutoFit/>
          </a:bodyPr>
          <a:lstStyle/>
          <a:p>
            <a:pPr marL="13560">
              <a:spcBef>
                <a:spcPts val="97"/>
              </a:spcBef>
            </a:pPr>
            <a:r>
              <a:rPr dirty="0"/>
              <a:t>Reservation</a:t>
            </a:r>
            <a:r>
              <a:rPr spc="165" dirty="0"/>
              <a:t> </a:t>
            </a:r>
            <a:r>
              <a:rPr dirty="0"/>
              <a:t>Station</a:t>
            </a:r>
            <a:r>
              <a:rPr spc="169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371600"/>
            <a:ext cx="8305800" cy="6005826"/>
          </a:xfrm>
          <a:prstGeom prst="rect">
            <a:avLst/>
          </a:prstGeom>
        </p:spPr>
        <p:txBody>
          <a:bodyPr vert="horz" wrap="square" lIns="0" tIns="97996" rIns="0" bIns="0" rtlCol="0">
            <a:spAutoFit/>
          </a:bodyPr>
          <a:lstStyle/>
          <a:p>
            <a:pPr marL="310643" indent="-298317" algn="l" defTabSz="502920" rtl="0">
              <a:spcBef>
                <a:spcPts val="772"/>
              </a:spcBef>
              <a:spcAft>
                <a:spcPts val="600"/>
              </a:spcAft>
              <a:buFontTx/>
              <a:buChar char="•"/>
              <a:tabLst>
                <a:tab pos="310643" algn="l"/>
                <a:tab pos="968296" algn="l"/>
              </a:tabLst>
            </a:pPr>
            <a:r>
              <a:rPr sz="2523" b="1" kern="1200" spc="-24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Op</a:t>
            </a:r>
            <a:r>
              <a:rPr sz="2523" b="1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: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	</a:t>
            </a:r>
            <a:r>
              <a:rPr sz="2523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Operation</a:t>
            </a:r>
            <a:r>
              <a:rPr sz="2523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523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perform</a:t>
            </a:r>
            <a:r>
              <a:rPr sz="2523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</a:t>
            </a:r>
            <a:r>
              <a:rPr sz="2523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</a:t>
            </a:r>
            <a:r>
              <a:rPr sz="2523" kern="1200" spc="-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unit</a:t>
            </a:r>
            <a:r>
              <a:rPr sz="2523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(e.g.,</a:t>
            </a:r>
            <a:r>
              <a:rPr sz="2523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+</a:t>
            </a:r>
            <a:r>
              <a:rPr sz="2523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or</a:t>
            </a:r>
            <a:r>
              <a:rPr sz="2523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3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–)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674"/>
              </a:spcBef>
              <a:buFontTx/>
              <a:buChar char="•"/>
              <a:tabLst>
                <a:tab pos="310643" algn="l"/>
              </a:tabLst>
            </a:pPr>
            <a:r>
              <a:rPr sz="2523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Vj,</a:t>
            </a:r>
            <a:r>
              <a:rPr sz="2523" b="1" kern="1200" spc="-73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Vk</a:t>
            </a:r>
            <a:r>
              <a:rPr sz="2523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:</a:t>
            </a:r>
            <a:r>
              <a:rPr sz="2523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Value</a:t>
            </a:r>
            <a:r>
              <a:rPr sz="2523" b="1" kern="1200" spc="-73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source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operands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Op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457"/>
              </a:spcBef>
              <a:spcAft>
                <a:spcPts val="600"/>
              </a:spcAft>
              <a:buFontTx/>
              <a:buChar char="–"/>
              <a:tabLst>
                <a:tab pos="729766" algn="l"/>
              </a:tabLst>
            </a:pP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Each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store</a:t>
            </a:r>
            <a:r>
              <a:rPr sz="2135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buffer</a:t>
            </a:r>
            <a:r>
              <a:rPr sz="2135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has</a:t>
            </a:r>
            <a:r>
              <a:rPr sz="2135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</a:t>
            </a:r>
            <a:r>
              <a:rPr sz="2135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V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field,</a:t>
            </a:r>
            <a:r>
              <a:rPr sz="2135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sz="2135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the</a:t>
            </a:r>
            <a:r>
              <a:rPr sz="2135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result</a:t>
            </a:r>
            <a:r>
              <a:rPr sz="2135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be</a:t>
            </a:r>
            <a:r>
              <a:rPr sz="2135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stored</a:t>
            </a:r>
            <a:endParaRPr sz="2135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366732" indent="-298933" algn="l" defTabSz="502920" rtl="0">
              <a:spcBef>
                <a:spcPts val="888"/>
              </a:spcBef>
              <a:buFontTx/>
              <a:buChar char="•"/>
              <a:tabLst>
                <a:tab pos="310643" algn="l"/>
              </a:tabLst>
            </a:pPr>
            <a:r>
              <a:rPr sz="2523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Qj,</a:t>
            </a:r>
            <a:r>
              <a:rPr sz="2523" b="1" kern="1200" spc="-73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Qk</a:t>
            </a:r>
            <a:r>
              <a:rPr sz="2523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:</a:t>
            </a:r>
            <a:r>
              <a:rPr sz="2523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u="sng" kern="1200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Reservation</a:t>
            </a:r>
            <a:r>
              <a:rPr sz="2523" u="sng" kern="1200" spc="-7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23" u="sng" kern="1200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stations</a:t>
            </a:r>
            <a:r>
              <a:rPr sz="2523" u="sng" kern="1200" spc="-6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23" u="sng" kern="1200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producing</a:t>
            </a:r>
            <a:r>
              <a:rPr sz="2523" u="sng" kern="1200" spc="-8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23" u="sng" kern="12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source</a:t>
            </a:r>
            <a:r>
              <a:rPr sz="2523" u="sng" kern="1200" spc="-6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sz="2523" u="sng" kern="1200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registers</a:t>
            </a:r>
            <a:r>
              <a:rPr sz="2523" kern="1200" spc="-10" dirty="0">
                <a:solidFill>
                  <a:srgbClr val="FF0000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(value</a:t>
            </a:r>
            <a:r>
              <a:rPr sz="2523" kern="1200" spc="-4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523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be</a:t>
            </a:r>
            <a:r>
              <a:rPr sz="2523" kern="1200" spc="-3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written)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509"/>
              </a:spcBef>
              <a:buFontTx/>
              <a:buChar char="–"/>
              <a:tabLst>
                <a:tab pos="729766" algn="l"/>
              </a:tabLst>
            </a:pP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Note:</a:t>
            </a:r>
            <a:r>
              <a:rPr sz="2135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Qj,Qk=0</a:t>
            </a:r>
            <a:r>
              <a:rPr sz="2135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=&gt;</a:t>
            </a:r>
            <a:r>
              <a:rPr sz="2135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ready</a:t>
            </a:r>
            <a:endParaRPr sz="2135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729766" lvl="1" indent="-239146" algn="l" defTabSz="502920" rtl="0">
              <a:spcBef>
                <a:spcPts val="441"/>
              </a:spcBef>
              <a:spcAft>
                <a:spcPts val="600"/>
              </a:spcAft>
              <a:buFontTx/>
              <a:buChar char="–"/>
              <a:tabLst>
                <a:tab pos="729766" algn="l"/>
              </a:tabLst>
            </a:pP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Store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buffers</a:t>
            </a:r>
            <a:r>
              <a:rPr sz="2135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have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only</a:t>
            </a:r>
            <a:r>
              <a:rPr sz="2135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one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Qi</a:t>
            </a:r>
            <a:r>
              <a:rPr sz="2135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for</a:t>
            </a:r>
            <a:r>
              <a:rPr sz="2135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RS</a:t>
            </a:r>
            <a:r>
              <a:rPr sz="2135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producing</a:t>
            </a:r>
            <a:r>
              <a:rPr sz="2135" kern="1200" spc="-87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135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result</a:t>
            </a:r>
            <a:endParaRPr sz="2135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543"/>
              </a:spcBef>
              <a:spcAft>
                <a:spcPts val="600"/>
              </a:spcAft>
              <a:buFontTx/>
              <a:buChar char="•"/>
              <a:tabLst>
                <a:tab pos="310643" algn="l"/>
              </a:tabLst>
            </a:pPr>
            <a:r>
              <a:rPr sz="2523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Busy</a:t>
            </a:r>
            <a:r>
              <a:rPr sz="2523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:</a:t>
            </a:r>
            <a:r>
              <a:rPr sz="2523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Indicates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reservation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station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or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FU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is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busy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indent="-298317" algn="l" defTabSz="502920" rtl="0">
              <a:spcBef>
                <a:spcPts val="674"/>
              </a:spcBef>
              <a:buFontTx/>
              <a:buChar char="•"/>
              <a:tabLst>
                <a:tab pos="310643" algn="l"/>
              </a:tabLst>
            </a:pPr>
            <a:r>
              <a:rPr sz="2523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Time</a:t>
            </a:r>
            <a:r>
              <a:rPr sz="2523" b="1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:</a:t>
            </a:r>
            <a:r>
              <a:rPr sz="2523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After</a:t>
            </a:r>
            <a:r>
              <a:rPr sz="2523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FU</a:t>
            </a:r>
            <a:r>
              <a:rPr sz="2523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starts</a:t>
            </a:r>
            <a:r>
              <a:rPr sz="2523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EX,</a:t>
            </a:r>
            <a:r>
              <a:rPr sz="2523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number</a:t>
            </a:r>
            <a:r>
              <a:rPr sz="2523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of</a:t>
            </a:r>
            <a:r>
              <a:rPr sz="2523" kern="1200" spc="-4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cycles</a:t>
            </a:r>
            <a:r>
              <a:rPr sz="2523" kern="1200" spc="-5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yet</a:t>
            </a:r>
            <a:r>
              <a:rPr sz="2523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to</a:t>
            </a:r>
            <a:r>
              <a:rPr sz="2523" kern="1200" spc="-5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24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do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algn="l" defTabSz="502920" rtl="0">
              <a:spcBef>
                <a:spcPts val="1499"/>
              </a:spcBef>
              <a:buClr>
                <a:srgbClr val="3366FF"/>
              </a:buClr>
              <a:buFont typeface="Calibri"/>
              <a:buChar char="•"/>
            </a:pP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  <a:p>
            <a:pPr marL="310643" marR="4931" indent="-298933" algn="l" defTabSz="502920" rtl="0">
              <a:buFontTx/>
              <a:buChar char="•"/>
              <a:tabLst>
                <a:tab pos="310643" algn="l"/>
              </a:tabLst>
            </a:pPr>
            <a:r>
              <a:rPr sz="2523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Register</a:t>
            </a:r>
            <a:r>
              <a:rPr sz="2523" b="1" kern="1200" spc="-83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result</a:t>
            </a:r>
            <a:r>
              <a:rPr sz="2523" b="1" kern="1200" spc="-87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b="1" kern="1200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status</a:t>
            </a:r>
            <a:r>
              <a:rPr sz="2523" kern="1200" spc="-83" dirty="0">
                <a:solidFill>
                  <a:srgbClr val="3366FF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-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Indicates</a:t>
            </a:r>
            <a:r>
              <a:rPr sz="2523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which</a:t>
            </a:r>
            <a:r>
              <a:rPr sz="2523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functional</a:t>
            </a:r>
            <a:r>
              <a:rPr sz="2523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unit</a:t>
            </a:r>
            <a:r>
              <a:rPr sz="2523" kern="1200" spc="-8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2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will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write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each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register,</a:t>
            </a:r>
            <a:r>
              <a:rPr sz="2523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if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one</a:t>
            </a:r>
            <a:r>
              <a:rPr sz="2523" kern="1200" spc="-6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exists.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Blank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when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no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pending instructions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will</a:t>
            </a:r>
            <a:r>
              <a:rPr sz="2523" kern="1200" spc="-73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write</a:t>
            </a:r>
            <a:r>
              <a:rPr sz="2523" kern="1200" spc="-6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that</a:t>
            </a:r>
            <a:r>
              <a:rPr sz="2523" kern="1200" spc="-78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 </a:t>
            </a:r>
            <a:r>
              <a:rPr sz="2523" kern="1200" spc="-10" dirty="0">
                <a:solidFill>
                  <a:prstClr val="black"/>
                </a:solidFill>
                <a:latin typeface="Calibri"/>
                <a:ea typeface="+mn-ea"/>
                <a:cs typeface="Calibri"/>
              </a:rPr>
              <a:t>register.</a:t>
            </a:r>
            <a:endParaRPr sz="2523" kern="1200" dirty="0">
              <a:solidFill>
                <a:prstClr val="black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5" name="object 41">
            <a:extLst>
              <a:ext uri="{FF2B5EF4-FFF2-40B4-BE49-F238E27FC236}">
                <a16:creationId xmlns:a16="http://schemas.microsoft.com/office/drawing/2014/main" id="{2AFD92A6-878A-EE12-FE49-566537073F7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9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9508" y="1902460"/>
            <a:ext cx="21272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Instruction</a:t>
            </a: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810" y="2233571"/>
            <a:ext cx="953135" cy="1711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</a:pPr>
            <a:r>
              <a:rPr sz="1450" spc="75" dirty="0">
                <a:latin typeface="Times New Roman"/>
                <a:cs typeface="Times New Roman"/>
              </a:rPr>
              <a:t>Instruction </a:t>
            </a:r>
            <a:r>
              <a:rPr sz="1450" spc="140" dirty="0">
                <a:latin typeface="Times New Roman"/>
                <a:cs typeface="Times New Roman"/>
              </a:rPr>
              <a:t>LD</a:t>
            </a: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140" dirty="0">
                <a:solidFill>
                  <a:srgbClr val="FF0000"/>
                </a:solidFill>
                <a:latin typeface="Times New Roman"/>
                <a:cs typeface="Times New Roman"/>
              </a:rPr>
              <a:t>LD</a:t>
            </a:r>
            <a:endParaRPr sz="1450" dirty="0">
              <a:latin typeface="Times New Roman"/>
              <a:cs typeface="Times New Roman"/>
            </a:endParaRPr>
          </a:p>
          <a:p>
            <a:pPr marL="12700" marR="177800">
              <a:lnSpc>
                <a:spcPct val="107400"/>
              </a:lnSpc>
              <a:spcBef>
                <a:spcPts val="80"/>
              </a:spcBef>
            </a:pPr>
            <a:r>
              <a:rPr sz="1450" spc="135" dirty="0">
                <a:solidFill>
                  <a:srgbClr val="0000FF"/>
                </a:solidFill>
                <a:latin typeface="Times New Roman"/>
                <a:cs typeface="Times New Roman"/>
              </a:rPr>
              <a:t>MULTD </a:t>
            </a:r>
            <a:r>
              <a:rPr sz="1450" spc="120" dirty="0">
                <a:solidFill>
                  <a:srgbClr val="FF00FF"/>
                </a:solidFill>
                <a:latin typeface="Times New Roman"/>
                <a:cs typeface="Times New Roman"/>
              </a:rPr>
              <a:t>SUBD 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 </a:t>
            </a:r>
            <a:r>
              <a:rPr sz="1450" spc="114" dirty="0">
                <a:latin typeface="Times New Roman"/>
                <a:cs typeface="Times New Roman"/>
              </a:rPr>
              <a:t>ADDD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6007" y="2233571"/>
            <a:ext cx="1564640" cy="17119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754380">
              <a:lnSpc>
                <a:spcPct val="100000"/>
              </a:lnSpc>
              <a:spcBef>
                <a:spcPts val="305"/>
              </a:spcBef>
              <a:tabLst>
                <a:tab pos="1347470" algn="l"/>
              </a:tabLst>
            </a:pPr>
            <a:r>
              <a:rPr sz="1450" i="1" spc="30" dirty="0">
                <a:latin typeface="Times New Roman"/>
                <a:cs typeface="Times New Roman"/>
              </a:rPr>
              <a:t>j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80" dirty="0">
                <a:latin typeface="Times New Roman"/>
                <a:cs typeface="Times New Roman"/>
              </a:rPr>
              <a:t>k</a:t>
            </a:r>
            <a:endParaRPr sz="1450" dirty="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210"/>
              </a:spcBef>
              <a:tabLst>
                <a:tab pos="624205" algn="l"/>
                <a:tab pos="1291590" algn="l"/>
              </a:tabLst>
            </a:pPr>
            <a:r>
              <a:rPr sz="1450" spc="70" dirty="0">
                <a:latin typeface="Times New Roman"/>
                <a:cs typeface="Times New Roman"/>
              </a:rPr>
              <a:t>F6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25" dirty="0">
                <a:latin typeface="Times New Roman"/>
                <a:cs typeface="Times New Roman"/>
              </a:rPr>
              <a:t>34+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45" dirty="0">
                <a:latin typeface="Times New Roman"/>
                <a:cs typeface="Times New Roman"/>
              </a:rPr>
              <a:t>R2</a:t>
            </a:r>
            <a:endParaRPr sz="1450" dirty="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85"/>
              </a:spcBef>
              <a:tabLst>
                <a:tab pos="624205" algn="l"/>
                <a:tab pos="1291590" algn="l"/>
              </a:tabLst>
            </a:pPr>
            <a:r>
              <a:rPr sz="1450" spc="70" dirty="0">
                <a:solidFill>
                  <a:srgbClr val="FF0000"/>
                </a:solidFill>
                <a:latin typeface="Times New Roman"/>
                <a:cs typeface="Times New Roman"/>
              </a:rPr>
              <a:t>F2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25" dirty="0">
                <a:solidFill>
                  <a:srgbClr val="FF0000"/>
                </a:solidFill>
                <a:latin typeface="Times New Roman"/>
                <a:cs typeface="Times New Roman"/>
              </a:rPr>
              <a:t>45+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45" dirty="0">
                <a:solidFill>
                  <a:srgbClr val="FF0000"/>
                </a:solidFill>
                <a:latin typeface="Times New Roman"/>
                <a:cs typeface="Times New Roman"/>
              </a:rPr>
              <a:t>R3</a:t>
            </a:r>
            <a:endParaRPr sz="1450" dirty="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210"/>
              </a:spcBef>
              <a:tabLst>
                <a:tab pos="698500" algn="l"/>
                <a:tab pos="1291590" algn="l"/>
              </a:tabLst>
            </a:pPr>
            <a:r>
              <a:rPr sz="1450" spc="70" dirty="0">
                <a:solidFill>
                  <a:srgbClr val="0000FF"/>
                </a:solidFill>
                <a:latin typeface="Times New Roman"/>
                <a:cs typeface="Times New Roman"/>
              </a:rPr>
              <a:t>F0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0000FF"/>
                </a:solidFill>
                <a:latin typeface="Times New Roman"/>
                <a:cs typeface="Times New Roman"/>
              </a:rPr>
              <a:t>F2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0000FF"/>
                </a:solidFill>
                <a:latin typeface="Times New Roman"/>
                <a:cs typeface="Times New Roman"/>
              </a:rPr>
              <a:t>F4</a:t>
            </a:r>
            <a:endParaRPr sz="1450" dirty="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90"/>
              </a:spcBef>
              <a:tabLst>
                <a:tab pos="698500" algn="l"/>
                <a:tab pos="1291590" algn="l"/>
              </a:tabLst>
            </a:pPr>
            <a:r>
              <a:rPr sz="1450" spc="70" dirty="0">
                <a:solidFill>
                  <a:srgbClr val="FF00FF"/>
                </a:solidFill>
                <a:latin typeface="Times New Roman"/>
                <a:cs typeface="Times New Roman"/>
              </a:rPr>
              <a:t>F8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FF00FF"/>
                </a:solidFill>
                <a:latin typeface="Times New Roman"/>
                <a:cs typeface="Times New Roman"/>
              </a:rPr>
              <a:t>F6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FF00FF"/>
                </a:solidFill>
                <a:latin typeface="Times New Roman"/>
                <a:cs typeface="Times New Roman"/>
              </a:rPr>
              <a:t>F2</a:t>
            </a: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  <a:tabLst>
                <a:tab pos="698500" algn="l"/>
                <a:tab pos="1291590" algn="l"/>
              </a:tabLst>
            </a:pPr>
            <a:r>
              <a:rPr sz="1450" spc="85" dirty="0">
                <a:solidFill>
                  <a:srgbClr val="1FB714"/>
                </a:solidFill>
                <a:latin typeface="Times New Roman"/>
                <a:cs typeface="Times New Roman"/>
              </a:rPr>
              <a:t>F10</a:t>
            </a:r>
            <a:r>
              <a:rPr sz="1450" dirty="0">
                <a:solidFill>
                  <a:srgbClr val="1FB714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1FB714"/>
                </a:solidFill>
                <a:latin typeface="Times New Roman"/>
                <a:cs typeface="Times New Roman"/>
              </a:rPr>
              <a:t>F0</a:t>
            </a:r>
            <a:r>
              <a:rPr sz="1450" dirty="0">
                <a:solidFill>
                  <a:srgbClr val="1FB714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1FB714"/>
                </a:solidFill>
                <a:latin typeface="Times New Roman"/>
                <a:cs typeface="Times New Roman"/>
              </a:rPr>
              <a:t>F6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85"/>
              </a:spcBef>
              <a:tabLst>
                <a:tab pos="698500" algn="l"/>
                <a:tab pos="1291590" algn="l"/>
              </a:tabLst>
            </a:pPr>
            <a:r>
              <a:rPr sz="1450" spc="70" dirty="0">
                <a:latin typeface="Times New Roman"/>
                <a:cs typeface="Times New Roman"/>
              </a:rPr>
              <a:t>F6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70" dirty="0">
                <a:latin typeface="Times New Roman"/>
                <a:cs typeface="Times New Roman"/>
              </a:rPr>
              <a:t>F8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70" dirty="0">
                <a:latin typeface="Times New Roman"/>
                <a:cs typeface="Times New Roman"/>
              </a:rPr>
              <a:t>F2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8626" y="1716532"/>
            <a:ext cx="2887345" cy="49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0"/>
              </a:lnSpc>
              <a:spcBef>
                <a:spcPts val="100"/>
              </a:spcBef>
            </a:pP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Instruction</a:t>
            </a:r>
            <a:r>
              <a:rPr sz="1900" b="1" spc="114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3366FF"/>
                </a:solidFill>
                <a:latin typeface="Times New Roman"/>
                <a:cs typeface="Times New Roman"/>
              </a:rPr>
              <a:t>stream</a:t>
            </a:r>
            <a:endParaRPr sz="1900">
              <a:latin typeface="Times New Roman"/>
              <a:cs typeface="Times New Roman"/>
            </a:endParaRPr>
          </a:p>
          <a:p>
            <a:pPr marL="1654175">
              <a:lnSpc>
                <a:spcPts val="1650"/>
              </a:lnSpc>
              <a:tabLst>
                <a:tab pos="2340610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Exec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130" dirty="0">
                <a:latin typeface="Times New Roman"/>
                <a:cs typeface="Times New Roman"/>
              </a:rPr>
              <a:t>Write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6062" y="2227382"/>
            <a:ext cx="203962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16915" algn="l"/>
              </a:tabLst>
            </a:pPr>
            <a:r>
              <a:rPr sz="1550" i="1" spc="130" dirty="0">
                <a:latin typeface="Times New Roman"/>
                <a:cs typeface="Times New Roman"/>
              </a:rPr>
              <a:t>Issue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50" dirty="0">
                <a:latin typeface="Times New Roman"/>
                <a:cs typeface="Times New Roman"/>
              </a:rPr>
              <a:t>Comp</a:t>
            </a:r>
            <a:r>
              <a:rPr sz="1550" i="1" spc="270" dirty="0">
                <a:latin typeface="Times New Roman"/>
                <a:cs typeface="Times New Roman"/>
              </a:rPr>
              <a:t> </a:t>
            </a:r>
            <a:r>
              <a:rPr sz="1550" i="1" spc="160" dirty="0">
                <a:latin typeface="Times New Roman"/>
                <a:cs typeface="Times New Roman"/>
              </a:rPr>
              <a:t>Result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003" y="2227382"/>
            <a:ext cx="53594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80" dirty="0">
                <a:latin typeface="Times New Roman"/>
                <a:cs typeface="Times New Roman"/>
              </a:rPr>
              <a:t>Busy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88066" y="2227382"/>
            <a:ext cx="82423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5" dirty="0">
                <a:latin typeface="Times New Roman"/>
                <a:cs typeface="Times New Roman"/>
              </a:rPr>
              <a:t>Address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97398" y="2505887"/>
            <a:ext cx="1156970" cy="728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508" y="403766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67084" y="4362587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69005" y="404694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73610" y="404694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59673" y="404694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45736" y="404694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36647" y="5328071"/>
            <a:ext cx="544830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</a:pPr>
            <a:r>
              <a:rPr sz="1450" spc="90" dirty="0">
                <a:latin typeface="Times New Roman"/>
                <a:cs typeface="Times New Roman"/>
              </a:rPr>
              <a:t>Mult1 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43295" y="4368776"/>
            <a:ext cx="5316220" cy="14801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605790" algn="l"/>
              </a:tabLst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125" dirty="0">
                <a:latin typeface="Times New Roman"/>
                <a:cs typeface="Times New Roman"/>
              </a:rPr>
              <a:t>Name</a:t>
            </a:r>
            <a:endParaRPr sz="1450">
              <a:latin typeface="Times New Roman"/>
              <a:cs typeface="Times New Roman"/>
            </a:endParaRPr>
          </a:p>
          <a:p>
            <a:pPr marL="605790" algn="just">
              <a:lnSpc>
                <a:spcPct val="100000"/>
              </a:lnSpc>
              <a:spcBef>
                <a:spcPts val="210"/>
              </a:spcBef>
            </a:pPr>
            <a:r>
              <a:rPr sz="1450" spc="135" dirty="0">
                <a:latin typeface="Times New Roman"/>
                <a:cs typeface="Times New Roman"/>
              </a:rPr>
              <a:t>Add1</a:t>
            </a:r>
            <a:r>
              <a:rPr sz="1450" spc="365" dirty="0">
                <a:latin typeface="Times New Roman"/>
                <a:cs typeface="Times New Roman"/>
              </a:rPr>
              <a:t>   </a:t>
            </a:r>
            <a:r>
              <a:rPr sz="1450" spc="9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605790" algn="just">
              <a:lnSpc>
                <a:spcPct val="100000"/>
              </a:lnSpc>
              <a:spcBef>
                <a:spcPts val="85"/>
              </a:spcBef>
            </a:pPr>
            <a:r>
              <a:rPr sz="1450" spc="135" dirty="0">
                <a:latin typeface="Times New Roman"/>
                <a:cs typeface="Times New Roman"/>
              </a:rPr>
              <a:t>Add2</a:t>
            </a:r>
            <a:r>
              <a:rPr sz="1450" spc="365" dirty="0">
                <a:latin typeface="Times New Roman"/>
                <a:cs typeface="Times New Roman"/>
              </a:rPr>
              <a:t>   </a:t>
            </a:r>
            <a:r>
              <a:rPr sz="1450" spc="9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365885" marR="3681729" algn="just">
              <a:lnSpc>
                <a:spcPct val="108500"/>
              </a:lnSpc>
              <a:spcBef>
                <a:spcPts val="65"/>
              </a:spcBef>
            </a:pPr>
            <a:r>
              <a:rPr sz="1450" spc="100" dirty="0">
                <a:latin typeface="Times New Roman"/>
                <a:cs typeface="Times New Roman"/>
              </a:rPr>
              <a:t>No No 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9508" y="5897459"/>
            <a:ext cx="2553335" cy="163004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716915">
              <a:lnSpc>
                <a:spcPct val="100000"/>
              </a:lnSpc>
              <a:spcBef>
                <a:spcPts val="229"/>
              </a:spcBef>
            </a:pPr>
            <a:r>
              <a:rPr sz="1450" b="1" spc="95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  <a:p>
            <a:pPr marL="1266190" marR="309880" indent="-226060">
              <a:lnSpc>
                <a:spcPct val="101099"/>
              </a:lnSpc>
              <a:spcBef>
                <a:spcPts val="935"/>
              </a:spcBef>
            </a:pP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Clock</a:t>
            </a:r>
            <a:r>
              <a:rPr sz="1900" b="1" spc="8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spc="-20" dirty="0">
                <a:solidFill>
                  <a:srgbClr val="3366FF"/>
                </a:solidFill>
                <a:latin typeface="Times New Roman"/>
                <a:cs typeface="Times New Roman"/>
              </a:rPr>
              <a:t>cycle </a:t>
            </a:r>
            <a:r>
              <a:rPr sz="1900" b="1" spc="-10" dirty="0">
                <a:solidFill>
                  <a:srgbClr val="3366FF"/>
                </a:solidFill>
                <a:latin typeface="Times New Roman"/>
                <a:cs typeface="Times New Roman"/>
              </a:rPr>
              <a:t>counter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08773" y="6250232"/>
            <a:ext cx="61074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5330" algn="l"/>
                <a:tab pos="1440180" algn="l"/>
                <a:tab pos="2125980" algn="l"/>
                <a:tab pos="2830830" algn="l"/>
                <a:tab pos="3442335" algn="l"/>
                <a:tab pos="4258310" algn="l"/>
                <a:tab pos="5148580" algn="l"/>
                <a:tab pos="5630545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F6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78337" y="6575154"/>
            <a:ext cx="31623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517508" y="2503114"/>
            <a:ext cx="2174240" cy="1454785"/>
            <a:chOff x="3517508" y="2503114"/>
            <a:chExt cx="2174240" cy="1454785"/>
          </a:xfrm>
        </p:grpSpPr>
        <p:sp>
          <p:nvSpPr>
            <p:cNvPr id="24" name="object 24"/>
            <p:cNvSpPr/>
            <p:nvPr/>
          </p:nvSpPr>
          <p:spPr>
            <a:xfrm>
              <a:off x="3536050" y="2503115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901" y="0"/>
                  </a:moveTo>
                  <a:lnTo>
                    <a:pt x="0" y="0"/>
                  </a:lnTo>
                  <a:lnTo>
                    <a:pt x="21509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36051" y="2505048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36050" y="2503115"/>
              <a:ext cx="0" cy="1454785"/>
            </a:xfrm>
            <a:custGeom>
              <a:avLst/>
              <a:gdLst/>
              <a:ahLst/>
              <a:cxnLst/>
              <a:rect l="l" t="t" r="r" b="b"/>
              <a:pathLst>
                <a:path h="1454785">
                  <a:moveTo>
                    <a:pt x="0" y="0"/>
                  </a:moveTo>
                  <a:lnTo>
                    <a:pt x="0" y="14544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19826" y="2503114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17506" y="2503118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70726" y="2503114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68404" y="2503118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36051" y="394399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7059076" y="2503115"/>
            <a:ext cx="1669414" cy="1033780"/>
            <a:chOff x="7059076" y="2503115"/>
            <a:chExt cx="1669414" cy="1033780"/>
          </a:xfrm>
        </p:grpSpPr>
        <p:sp>
          <p:nvSpPr>
            <p:cNvPr id="33" name="object 33"/>
            <p:cNvSpPr/>
            <p:nvPr/>
          </p:nvSpPr>
          <p:spPr>
            <a:xfrm>
              <a:off x="7077619" y="2503115"/>
              <a:ext cx="0" cy="727710"/>
            </a:xfrm>
            <a:custGeom>
              <a:avLst/>
              <a:gdLst/>
              <a:ahLst/>
              <a:cxnLst/>
              <a:rect l="l" t="t" r="r" b="b"/>
              <a:pathLst>
                <a:path h="727710">
                  <a:moveTo>
                    <a:pt x="0" y="0"/>
                  </a:moveTo>
                  <a:lnTo>
                    <a:pt x="0" y="727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61394" y="2503115"/>
              <a:ext cx="0" cy="731520"/>
            </a:xfrm>
            <a:custGeom>
              <a:avLst/>
              <a:gdLst/>
              <a:ahLst/>
              <a:cxnLst/>
              <a:rect l="l" t="t" r="r" b="b"/>
              <a:pathLst>
                <a:path h="731519">
                  <a:moveTo>
                    <a:pt x="0" y="0"/>
                  </a:moveTo>
                  <a:lnTo>
                    <a:pt x="0" y="73107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59066" y="2503119"/>
              <a:ext cx="19050" cy="727710"/>
            </a:xfrm>
            <a:custGeom>
              <a:avLst/>
              <a:gdLst/>
              <a:ahLst/>
              <a:cxnLst/>
              <a:rect l="l" t="t" r="r" b="b"/>
              <a:pathLst>
                <a:path w="19050" h="727710">
                  <a:moveTo>
                    <a:pt x="18542" y="0"/>
                  </a:moveTo>
                  <a:lnTo>
                    <a:pt x="0" y="0"/>
                  </a:lnTo>
                  <a:lnTo>
                    <a:pt x="0" y="727214"/>
                  </a:lnTo>
                  <a:lnTo>
                    <a:pt x="18542" y="727214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11654" y="2503115"/>
              <a:ext cx="0" cy="731520"/>
            </a:xfrm>
            <a:custGeom>
              <a:avLst/>
              <a:gdLst/>
              <a:ahLst/>
              <a:cxnLst/>
              <a:rect l="l" t="t" r="r" b="b"/>
              <a:pathLst>
                <a:path h="731519">
                  <a:moveTo>
                    <a:pt x="0" y="0"/>
                  </a:moveTo>
                  <a:lnTo>
                    <a:pt x="0" y="73107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77619" y="2503115"/>
              <a:ext cx="1650364" cy="0"/>
            </a:xfrm>
            <a:custGeom>
              <a:avLst/>
              <a:gdLst/>
              <a:ahLst/>
              <a:cxnLst/>
              <a:rect l="l" t="t" r="r" b="b"/>
              <a:pathLst>
                <a:path w="1650365">
                  <a:moveTo>
                    <a:pt x="1650259" y="0"/>
                  </a:moveTo>
                  <a:lnTo>
                    <a:pt x="0" y="0"/>
                  </a:lnTo>
                  <a:lnTo>
                    <a:pt x="1650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77619" y="2505049"/>
              <a:ext cx="1636395" cy="0"/>
            </a:xfrm>
            <a:custGeom>
              <a:avLst/>
              <a:gdLst/>
              <a:ahLst/>
              <a:cxnLst/>
              <a:rect l="l" t="t" r="r" b="b"/>
              <a:pathLst>
                <a:path w="1636395">
                  <a:moveTo>
                    <a:pt x="0" y="0"/>
                  </a:moveTo>
                  <a:lnTo>
                    <a:pt x="1636352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77619" y="3230322"/>
              <a:ext cx="1650364" cy="0"/>
            </a:xfrm>
            <a:custGeom>
              <a:avLst/>
              <a:gdLst/>
              <a:ahLst/>
              <a:cxnLst/>
              <a:rect l="l" t="t" r="r" b="b"/>
              <a:pathLst>
                <a:path w="1650365">
                  <a:moveTo>
                    <a:pt x="1650259" y="0"/>
                  </a:moveTo>
                  <a:lnTo>
                    <a:pt x="0" y="0"/>
                  </a:lnTo>
                  <a:lnTo>
                    <a:pt x="1650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77619" y="3216784"/>
              <a:ext cx="1636395" cy="0"/>
            </a:xfrm>
            <a:custGeom>
              <a:avLst/>
              <a:gdLst/>
              <a:ahLst/>
              <a:cxnLst/>
              <a:rect l="l" t="t" r="r" b="b"/>
              <a:pathLst>
                <a:path w="1636395">
                  <a:moveTo>
                    <a:pt x="0" y="0"/>
                  </a:moveTo>
                  <a:lnTo>
                    <a:pt x="1636352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77619" y="3214850"/>
              <a:ext cx="1631950" cy="15875"/>
            </a:xfrm>
            <a:custGeom>
              <a:avLst/>
              <a:gdLst/>
              <a:ahLst/>
              <a:cxnLst/>
              <a:rect l="l" t="t" r="r" b="b"/>
              <a:pathLst>
                <a:path w="1631950" h="15875">
                  <a:moveTo>
                    <a:pt x="1631717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1631717" y="15472"/>
                  </a:lnTo>
                  <a:lnTo>
                    <a:pt x="1631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85761" y="3193256"/>
              <a:ext cx="343535" cy="343535"/>
            </a:xfrm>
            <a:custGeom>
              <a:avLst/>
              <a:gdLst/>
              <a:ahLst/>
              <a:cxnLst/>
              <a:rect l="l" t="t" r="r" b="b"/>
              <a:pathLst>
                <a:path w="343534" h="343535">
                  <a:moveTo>
                    <a:pt x="101626" y="72589"/>
                  </a:moveTo>
                  <a:lnTo>
                    <a:pt x="72591" y="101625"/>
                  </a:lnTo>
                  <a:lnTo>
                    <a:pt x="313988" y="343024"/>
                  </a:lnTo>
                  <a:lnTo>
                    <a:pt x="343025" y="313988"/>
                  </a:lnTo>
                  <a:lnTo>
                    <a:pt x="101626" y="72589"/>
                  </a:lnTo>
                  <a:close/>
                </a:path>
                <a:path w="343534" h="343535">
                  <a:moveTo>
                    <a:pt x="0" y="0"/>
                  </a:moveTo>
                  <a:lnTo>
                    <a:pt x="43554" y="130662"/>
                  </a:lnTo>
                  <a:lnTo>
                    <a:pt x="72591" y="101625"/>
                  </a:lnTo>
                  <a:lnTo>
                    <a:pt x="58073" y="87108"/>
                  </a:lnTo>
                  <a:lnTo>
                    <a:pt x="87109" y="58072"/>
                  </a:lnTo>
                  <a:lnTo>
                    <a:pt x="116144" y="58072"/>
                  </a:lnTo>
                  <a:lnTo>
                    <a:pt x="130662" y="43553"/>
                  </a:lnTo>
                  <a:lnTo>
                    <a:pt x="0" y="0"/>
                  </a:lnTo>
                  <a:close/>
                </a:path>
                <a:path w="343534" h="343535">
                  <a:moveTo>
                    <a:pt x="87109" y="58072"/>
                  </a:moveTo>
                  <a:lnTo>
                    <a:pt x="58073" y="87108"/>
                  </a:lnTo>
                  <a:lnTo>
                    <a:pt x="72591" y="101625"/>
                  </a:lnTo>
                  <a:lnTo>
                    <a:pt x="101626" y="72589"/>
                  </a:lnTo>
                  <a:lnTo>
                    <a:pt x="87109" y="58072"/>
                  </a:lnTo>
                  <a:close/>
                </a:path>
                <a:path w="343534" h="343535">
                  <a:moveTo>
                    <a:pt x="116144" y="58072"/>
                  </a:moveTo>
                  <a:lnTo>
                    <a:pt x="87109" y="58072"/>
                  </a:lnTo>
                  <a:lnTo>
                    <a:pt x="101626" y="72589"/>
                  </a:lnTo>
                  <a:lnTo>
                    <a:pt x="116144" y="58072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3517508" y="6572382"/>
            <a:ext cx="6416040" cy="263525"/>
            <a:chOff x="3517508" y="6572382"/>
            <a:chExt cx="6416040" cy="263525"/>
          </a:xfrm>
        </p:grpSpPr>
        <p:sp>
          <p:nvSpPr>
            <p:cNvPr id="44" name="object 44"/>
            <p:cNvSpPr/>
            <p:nvPr/>
          </p:nvSpPr>
          <p:spPr>
            <a:xfrm>
              <a:off x="3536050" y="658785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19826" y="6572382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17506" y="6572389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916900" y="6587855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914573" y="6587858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36051" y="6572382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36048" y="6572389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66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66" y="15468"/>
                  </a:lnTo>
                  <a:lnTo>
                    <a:pt x="63970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36051" y="6819942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2961241" y="4638319"/>
            <a:ext cx="4121150" cy="1210945"/>
            <a:chOff x="2961241" y="4638319"/>
            <a:chExt cx="4121150" cy="1210945"/>
          </a:xfrm>
        </p:grpSpPr>
        <p:sp>
          <p:nvSpPr>
            <p:cNvPr id="53" name="object 53"/>
            <p:cNvSpPr/>
            <p:nvPr/>
          </p:nvSpPr>
          <p:spPr>
            <a:xfrm>
              <a:off x="7077619" y="4653791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061394" y="463831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059066" y="4638331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42"/>
                  </a:lnTo>
                  <a:lnTo>
                    <a:pt x="18542" y="120684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963559" y="463831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961233" y="4638331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42"/>
                  </a:lnTo>
                  <a:lnTo>
                    <a:pt x="18542" y="120684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979783" y="464025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979784" y="584517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5" y="0"/>
                  </a:moveTo>
                  <a:lnTo>
                    <a:pt x="0" y="0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979783" y="5831636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979784" y="5829702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59773" y="4990084"/>
            <a:ext cx="22098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FU</a:t>
            </a:r>
            <a:r>
              <a:rPr sz="1900" b="1" spc="6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countdown</a:t>
            </a:r>
            <a:r>
              <a:rPr sz="1900" b="1" spc="36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175" spc="172" baseline="-22988" dirty="0">
                <a:latin typeface="Times New Roman"/>
                <a:cs typeface="Times New Roman"/>
              </a:rPr>
              <a:t>Add3</a:t>
            </a:r>
            <a:endParaRPr sz="2175" baseline="-22988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497752" y="6596376"/>
            <a:ext cx="237490" cy="301625"/>
          </a:xfrm>
          <a:custGeom>
            <a:avLst/>
            <a:gdLst/>
            <a:ahLst/>
            <a:cxnLst/>
            <a:rect l="l" t="t" r="r" b="b"/>
            <a:pathLst>
              <a:path w="237489" h="301625">
                <a:moveTo>
                  <a:pt x="91066" y="85464"/>
                </a:moveTo>
                <a:lnTo>
                  <a:pt x="58425" y="110380"/>
                </a:lnTo>
                <a:lnTo>
                  <a:pt x="204396" y="301612"/>
                </a:lnTo>
                <a:lnTo>
                  <a:pt x="237036" y="276697"/>
                </a:lnTo>
                <a:lnTo>
                  <a:pt x="91066" y="85464"/>
                </a:lnTo>
                <a:close/>
              </a:path>
              <a:path w="237489" h="301625">
                <a:moveTo>
                  <a:pt x="0" y="0"/>
                </a:moveTo>
                <a:lnTo>
                  <a:pt x="25784" y="135295"/>
                </a:lnTo>
                <a:lnTo>
                  <a:pt x="58425" y="110380"/>
                </a:lnTo>
                <a:lnTo>
                  <a:pt x="45967" y="94059"/>
                </a:lnTo>
                <a:lnTo>
                  <a:pt x="78609" y="69144"/>
                </a:lnTo>
                <a:lnTo>
                  <a:pt x="112447" y="69144"/>
                </a:lnTo>
                <a:lnTo>
                  <a:pt x="123706" y="60549"/>
                </a:lnTo>
                <a:lnTo>
                  <a:pt x="0" y="0"/>
                </a:lnTo>
                <a:close/>
              </a:path>
              <a:path w="237489" h="301625">
                <a:moveTo>
                  <a:pt x="78609" y="69144"/>
                </a:moveTo>
                <a:lnTo>
                  <a:pt x="45967" y="94059"/>
                </a:lnTo>
                <a:lnTo>
                  <a:pt x="58425" y="110380"/>
                </a:lnTo>
                <a:lnTo>
                  <a:pt x="91066" y="85464"/>
                </a:lnTo>
                <a:lnTo>
                  <a:pt x="78609" y="69144"/>
                </a:lnTo>
                <a:close/>
              </a:path>
              <a:path w="237489" h="301625">
                <a:moveTo>
                  <a:pt x="112447" y="69144"/>
                </a:moveTo>
                <a:lnTo>
                  <a:pt x="78609" y="69144"/>
                </a:lnTo>
                <a:lnTo>
                  <a:pt x="91066" y="85464"/>
                </a:lnTo>
                <a:lnTo>
                  <a:pt x="112447" y="69144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563453" y="4707465"/>
            <a:ext cx="262890" cy="340995"/>
          </a:xfrm>
          <a:custGeom>
            <a:avLst/>
            <a:gdLst/>
            <a:ahLst/>
            <a:cxnLst/>
            <a:rect l="l" t="t" r="r" b="b"/>
            <a:pathLst>
              <a:path w="262889" h="340995">
                <a:moveTo>
                  <a:pt x="172466" y="86233"/>
                </a:moveTo>
                <a:lnTo>
                  <a:pt x="0" y="316188"/>
                </a:lnTo>
                <a:lnTo>
                  <a:pt x="32849" y="340826"/>
                </a:lnTo>
                <a:lnTo>
                  <a:pt x="205316" y="110870"/>
                </a:lnTo>
                <a:lnTo>
                  <a:pt x="172466" y="86233"/>
                </a:lnTo>
                <a:close/>
              </a:path>
              <a:path w="262889" h="340995">
                <a:moveTo>
                  <a:pt x="250112" y="69808"/>
                </a:moveTo>
                <a:lnTo>
                  <a:pt x="184784" y="69808"/>
                </a:lnTo>
                <a:lnTo>
                  <a:pt x="217634" y="94446"/>
                </a:lnTo>
                <a:lnTo>
                  <a:pt x="205316" y="110870"/>
                </a:lnTo>
                <a:lnTo>
                  <a:pt x="238166" y="135508"/>
                </a:lnTo>
                <a:lnTo>
                  <a:pt x="250112" y="69808"/>
                </a:lnTo>
                <a:close/>
              </a:path>
              <a:path w="262889" h="340995">
                <a:moveTo>
                  <a:pt x="184784" y="69808"/>
                </a:moveTo>
                <a:lnTo>
                  <a:pt x="172466" y="86233"/>
                </a:lnTo>
                <a:lnTo>
                  <a:pt x="205316" y="110870"/>
                </a:lnTo>
                <a:lnTo>
                  <a:pt x="217634" y="94446"/>
                </a:lnTo>
                <a:lnTo>
                  <a:pt x="184784" y="69808"/>
                </a:lnTo>
                <a:close/>
              </a:path>
              <a:path w="262889" h="340995">
                <a:moveTo>
                  <a:pt x="262804" y="0"/>
                </a:moveTo>
                <a:lnTo>
                  <a:pt x="139614" y="61594"/>
                </a:lnTo>
                <a:lnTo>
                  <a:pt x="172466" y="86233"/>
                </a:lnTo>
                <a:lnTo>
                  <a:pt x="184784" y="69808"/>
                </a:lnTo>
                <a:lnTo>
                  <a:pt x="250112" y="69808"/>
                </a:lnTo>
                <a:lnTo>
                  <a:pt x="262804" y="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744132" y="2009587"/>
            <a:ext cx="1309370" cy="647065"/>
          </a:xfrm>
          <a:custGeom>
            <a:avLst/>
            <a:gdLst/>
            <a:ahLst/>
            <a:cxnLst/>
            <a:rect l="l" t="t" r="r" b="b"/>
            <a:pathLst>
              <a:path w="1309370" h="647064">
                <a:moveTo>
                  <a:pt x="84265" y="535768"/>
                </a:moveTo>
                <a:lnTo>
                  <a:pt x="0" y="644714"/>
                </a:lnTo>
                <a:lnTo>
                  <a:pt x="137716" y="646758"/>
                </a:lnTo>
                <a:lnTo>
                  <a:pt x="124189" y="618670"/>
                </a:lnTo>
                <a:lnTo>
                  <a:pt x="101399" y="618670"/>
                </a:lnTo>
                <a:lnTo>
                  <a:pt x="83582" y="581673"/>
                </a:lnTo>
                <a:lnTo>
                  <a:pt x="102082" y="572764"/>
                </a:lnTo>
                <a:lnTo>
                  <a:pt x="84265" y="535768"/>
                </a:lnTo>
                <a:close/>
              </a:path>
              <a:path w="1309370" h="647064">
                <a:moveTo>
                  <a:pt x="102082" y="572764"/>
                </a:moveTo>
                <a:lnTo>
                  <a:pt x="83582" y="581673"/>
                </a:lnTo>
                <a:lnTo>
                  <a:pt x="101399" y="618670"/>
                </a:lnTo>
                <a:lnTo>
                  <a:pt x="119899" y="609761"/>
                </a:lnTo>
                <a:lnTo>
                  <a:pt x="102082" y="572764"/>
                </a:lnTo>
                <a:close/>
              </a:path>
              <a:path w="1309370" h="647064">
                <a:moveTo>
                  <a:pt x="119899" y="609761"/>
                </a:moveTo>
                <a:lnTo>
                  <a:pt x="101399" y="618670"/>
                </a:lnTo>
                <a:lnTo>
                  <a:pt x="124189" y="618670"/>
                </a:lnTo>
                <a:lnTo>
                  <a:pt x="119899" y="609761"/>
                </a:lnTo>
                <a:close/>
              </a:path>
              <a:path w="1309370" h="647064">
                <a:moveTo>
                  <a:pt x="1291431" y="0"/>
                </a:moveTo>
                <a:lnTo>
                  <a:pt x="102082" y="572764"/>
                </a:lnTo>
                <a:lnTo>
                  <a:pt x="119899" y="609761"/>
                </a:lnTo>
                <a:lnTo>
                  <a:pt x="1309248" y="36996"/>
                </a:lnTo>
                <a:lnTo>
                  <a:pt x="1291431" y="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652255" y="3523996"/>
            <a:ext cx="16046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3</a:t>
            </a:r>
            <a:r>
              <a:rPr sz="1900" b="1" spc="3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3366FF"/>
                </a:solidFill>
                <a:latin typeface="Times New Roman"/>
                <a:cs typeface="Times New Roman"/>
              </a:rPr>
              <a:t>Load/Buffers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827216" y="4633467"/>
            <a:ext cx="1710689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 marR="5080" indent="-66675">
              <a:lnSpc>
                <a:spcPct val="152600"/>
              </a:lnSpc>
              <a:spcBef>
                <a:spcPts val="100"/>
              </a:spcBef>
            </a:pP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3</a:t>
            </a:r>
            <a:r>
              <a:rPr sz="1900" b="1" spc="4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FP</a:t>
            </a:r>
            <a:r>
              <a:rPr sz="1900" b="1" spc="-17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Adder</a:t>
            </a:r>
            <a:r>
              <a:rPr sz="1900" b="1" spc="1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spc="-20" dirty="0">
                <a:solidFill>
                  <a:srgbClr val="3366FF"/>
                </a:solidFill>
                <a:latin typeface="Times New Roman"/>
                <a:cs typeface="Times New Roman"/>
              </a:rPr>
              <a:t>R.S. </a:t>
            </a: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2</a:t>
            </a:r>
            <a:r>
              <a:rPr sz="1900" b="1" spc="5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FP</a:t>
            </a:r>
            <a:r>
              <a:rPr sz="1900" b="1" spc="-6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Mult</a:t>
            </a:r>
            <a:r>
              <a:rPr sz="1900" b="1" spc="5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spc="-20" dirty="0">
                <a:solidFill>
                  <a:srgbClr val="3366FF"/>
                </a:solidFill>
                <a:latin typeface="Times New Roman"/>
                <a:cs typeface="Times New Roman"/>
              </a:rPr>
              <a:t>R.S.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164492" y="5066770"/>
            <a:ext cx="410845" cy="92710"/>
          </a:xfrm>
          <a:custGeom>
            <a:avLst/>
            <a:gdLst/>
            <a:ahLst/>
            <a:cxnLst/>
            <a:rect l="l" t="t" r="r" b="b"/>
            <a:pathLst>
              <a:path w="410845" h="92710">
                <a:moveTo>
                  <a:pt x="92392" y="0"/>
                </a:moveTo>
                <a:lnTo>
                  <a:pt x="0" y="46197"/>
                </a:lnTo>
                <a:lnTo>
                  <a:pt x="92392" y="92392"/>
                </a:lnTo>
                <a:lnTo>
                  <a:pt x="92392" y="61594"/>
                </a:lnTo>
                <a:lnTo>
                  <a:pt x="76993" y="61594"/>
                </a:lnTo>
                <a:lnTo>
                  <a:pt x="76993" y="30797"/>
                </a:lnTo>
                <a:lnTo>
                  <a:pt x="92392" y="30797"/>
                </a:lnTo>
                <a:lnTo>
                  <a:pt x="92392" y="0"/>
                </a:lnTo>
                <a:close/>
              </a:path>
              <a:path w="410845" h="92710">
                <a:moveTo>
                  <a:pt x="92392" y="30797"/>
                </a:moveTo>
                <a:lnTo>
                  <a:pt x="76993" y="30797"/>
                </a:lnTo>
                <a:lnTo>
                  <a:pt x="76993" y="61594"/>
                </a:lnTo>
                <a:lnTo>
                  <a:pt x="92392" y="61594"/>
                </a:lnTo>
                <a:lnTo>
                  <a:pt x="92392" y="30797"/>
                </a:lnTo>
                <a:close/>
              </a:path>
              <a:path w="410845" h="92710">
                <a:moveTo>
                  <a:pt x="410632" y="30797"/>
                </a:moveTo>
                <a:lnTo>
                  <a:pt x="92392" y="30797"/>
                </a:lnTo>
                <a:lnTo>
                  <a:pt x="92392" y="61594"/>
                </a:lnTo>
                <a:lnTo>
                  <a:pt x="410632" y="61594"/>
                </a:lnTo>
                <a:lnTo>
                  <a:pt x="410632" y="30797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471473" y="2227579"/>
            <a:ext cx="2825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latin typeface="Arial"/>
                <a:cs typeface="Arial"/>
              </a:rPr>
              <a:t>EX</a:t>
            </a:r>
            <a:endParaRPr sz="15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50639" y="1668779"/>
            <a:ext cx="123189" cy="657225"/>
          </a:xfrm>
          <a:custGeom>
            <a:avLst/>
            <a:gdLst/>
            <a:ahLst/>
            <a:cxnLst/>
            <a:rect l="l" t="t" r="r" b="b"/>
            <a:pathLst>
              <a:path w="123190" h="657225">
                <a:moveTo>
                  <a:pt x="41063" y="533822"/>
                </a:moveTo>
                <a:lnTo>
                  <a:pt x="0" y="533822"/>
                </a:lnTo>
                <a:lnTo>
                  <a:pt x="61595" y="657012"/>
                </a:lnTo>
                <a:lnTo>
                  <a:pt x="112923" y="554355"/>
                </a:lnTo>
                <a:lnTo>
                  <a:pt x="41063" y="554355"/>
                </a:lnTo>
                <a:lnTo>
                  <a:pt x="41063" y="533822"/>
                </a:lnTo>
                <a:close/>
              </a:path>
              <a:path w="123190" h="657225">
                <a:moveTo>
                  <a:pt x="82125" y="0"/>
                </a:moveTo>
                <a:lnTo>
                  <a:pt x="41062" y="0"/>
                </a:lnTo>
                <a:lnTo>
                  <a:pt x="41063" y="554355"/>
                </a:lnTo>
                <a:lnTo>
                  <a:pt x="82126" y="554355"/>
                </a:lnTo>
                <a:lnTo>
                  <a:pt x="82125" y="0"/>
                </a:lnTo>
                <a:close/>
              </a:path>
              <a:path w="123190" h="657225">
                <a:moveTo>
                  <a:pt x="123189" y="533822"/>
                </a:moveTo>
                <a:lnTo>
                  <a:pt x="82126" y="533822"/>
                </a:lnTo>
                <a:lnTo>
                  <a:pt x="82126" y="554355"/>
                </a:lnTo>
                <a:lnTo>
                  <a:pt x="112923" y="554355"/>
                </a:lnTo>
                <a:lnTo>
                  <a:pt x="123189" y="533822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433831" y="1375155"/>
            <a:ext cx="36442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Cycle</a:t>
            </a:r>
            <a:r>
              <a:rPr sz="1900" b="1" spc="10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instruction</a:t>
            </a:r>
            <a:r>
              <a:rPr sz="1900" b="1" spc="114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EXecution</a:t>
            </a:r>
            <a:r>
              <a:rPr sz="1900" b="1" spc="10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3366FF"/>
                </a:solidFill>
                <a:latin typeface="Times New Roman"/>
                <a:cs typeface="Times New Roman"/>
              </a:rPr>
              <a:t>starts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72" name="object 41">
            <a:extLst>
              <a:ext uri="{FF2B5EF4-FFF2-40B4-BE49-F238E27FC236}">
                <a16:creationId xmlns:a16="http://schemas.microsoft.com/office/drawing/2014/main" id="{5A8080EB-5230-2A7C-5699-DEF6880787A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99AE71-DA93-22E7-76F3-2669C6B36DCB}"/>
              </a:ext>
            </a:extLst>
          </p:cNvPr>
          <p:cNvSpPr txBox="1"/>
          <p:nvPr/>
        </p:nvSpPr>
        <p:spPr>
          <a:xfrm>
            <a:off x="7077619" y="91691"/>
            <a:ext cx="20538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1cc</a:t>
            </a:r>
            <a:r>
              <a:rPr lang="en-US" sz="1800" kern="1200" spc="-5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lang="en-US" sz="1800" kern="1200" spc="-5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L.D </a:t>
            </a:r>
            <a:r>
              <a:rPr lang="en-US" sz="1800" kern="1200" spc="393" dirty="0">
                <a:solidFill>
                  <a:prstClr val="black"/>
                </a:solidFill>
                <a:latin typeface="Calibri"/>
                <a:cs typeface="Calibri"/>
              </a:rPr>
              <a:t>   </a:t>
            </a:r>
          </a:p>
          <a:p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2cc</a:t>
            </a:r>
            <a:r>
              <a:rPr lang="en-US" sz="1800" kern="1200" spc="-6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lang="en-US" sz="1800" kern="1200" spc="-58" dirty="0">
                <a:solidFill>
                  <a:prstClr val="black"/>
                </a:solidFill>
                <a:latin typeface="Calibri"/>
                <a:cs typeface="Calibri"/>
              </a:rPr>
              <a:t> FP </a:t>
            </a:r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ADD</a:t>
            </a:r>
            <a:r>
              <a:rPr lang="en-US" sz="1800" kern="1200" spc="-58" dirty="0">
                <a:solidFill>
                  <a:prstClr val="black"/>
                </a:solidFill>
                <a:latin typeface="Calibri"/>
                <a:cs typeface="Calibri"/>
              </a:rPr>
              <a:t> (</a:t>
            </a:r>
            <a:r>
              <a:rPr lang="en-US" sz="1800" kern="1200" spc="-29" dirty="0">
                <a:solidFill>
                  <a:prstClr val="black"/>
                </a:solidFill>
                <a:latin typeface="Calibri"/>
                <a:cs typeface="Calibri"/>
              </a:rPr>
              <a:t>+,-)</a:t>
            </a:r>
            <a:r>
              <a:rPr lang="en-US" sz="1800" kern="1200" spc="393" dirty="0">
                <a:solidFill>
                  <a:prstClr val="black"/>
                </a:solidFill>
                <a:latin typeface="Calibri"/>
                <a:cs typeface="Calibri"/>
              </a:rPr>
              <a:t>    </a:t>
            </a:r>
          </a:p>
          <a:p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10cc</a:t>
            </a:r>
            <a:r>
              <a:rPr lang="en-US" sz="1800" kern="1200" spc="-6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lang="en-US" sz="1800" kern="1200" spc="-54" dirty="0">
                <a:solidFill>
                  <a:prstClr val="black"/>
                </a:solidFill>
                <a:latin typeface="Calibri"/>
                <a:cs typeface="Calibri"/>
              </a:rPr>
              <a:t> FP </a:t>
            </a:r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MUL</a:t>
            </a:r>
            <a:r>
              <a:rPr lang="en-US" sz="1800" kern="1200" spc="393" dirty="0">
                <a:solidFill>
                  <a:prstClr val="black"/>
                </a:solidFill>
                <a:latin typeface="Calibri"/>
                <a:cs typeface="Calibri"/>
              </a:rPr>
              <a:t>    </a:t>
            </a:r>
          </a:p>
          <a:p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40cc</a:t>
            </a:r>
            <a:r>
              <a:rPr lang="en-US" sz="1800" kern="1200" spc="-6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1800" kern="1200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lang="en-US" sz="1800" kern="1200" spc="-54" dirty="0">
                <a:solidFill>
                  <a:prstClr val="black"/>
                </a:solidFill>
                <a:latin typeface="Calibri"/>
                <a:cs typeface="Calibri"/>
              </a:rPr>
              <a:t> FP </a:t>
            </a:r>
            <a:r>
              <a:rPr lang="en-US" sz="1800" kern="1200" spc="-24" dirty="0">
                <a:solidFill>
                  <a:prstClr val="black"/>
                </a:solidFill>
                <a:latin typeface="Calibri"/>
                <a:cs typeface="Calibri"/>
              </a:rPr>
              <a:t>DIV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6414" y="1738427"/>
            <a:ext cx="50355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160" dirty="0">
                <a:latin typeface="Times New Roman"/>
                <a:cs typeface="Times New Roman"/>
              </a:rPr>
              <a:t>Exec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42477" y="1738427"/>
            <a:ext cx="55943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140" dirty="0">
                <a:latin typeface="Times New Roman"/>
                <a:cs typeface="Times New Roman"/>
              </a:rPr>
              <a:t>Write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069889"/>
              </p:ext>
            </p:extLst>
          </p:nvPr>
        </p:nvGraphicFramePr>
        <p:xfrm>
          <a:off x="688507" y="2044965"/>
          <a:ext cx="7862570" cy="16859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9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9554">
                <a:tc gridSpan="2">
                  <a:txBody>
                    <a:bodyPr/>
                    <a:lstStyle/>
                    <a:p>
                      <a:pPr marL="31750">
                        <a:lnSpc>
                          <a:spcPts val="1730"/>
                        </a:lnSpc>
                        <a:spcBef>
                          <a:spcPts val="135"/>
                        </a:spcBef>
                      </a:pP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ts val="1730"/>
                        </a:lnSpc>
                        <a:spcBef>
                          <a:spcPts val="135"/>
                        </a:spcBef>
                      </a:pP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1730"/>
                        </a:lnSpc>
                        <a:spcBef>
                          <a:spcPts val="13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5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775"/>
                        </a:lnSpc>
                      </a:pPr>
                      <a:r>
                        <a:rPr sz="1550" i="1" spc="250" dirty="0">
                          <a:latin typeface="Times New Roman"/>
                          <a:cs typeface="Times New Roman"/>
                        </a:rPr>
                        <a:t>Comp</a:t>
                      </a:r>
                      <a:r>
                        <a:rPr sz="1550" i="1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775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775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55" dirty="0">
                          <a:latin typeface="Times New Roman"/>
                          <a:cs typeface="Times New Roman"/>
                        </a:rPr>
                        <a:t>34+R2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95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95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95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169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marL="31750">
                        <a:lnSpc>
                          <a:spcPts val="1664"/>
                        </a:lnSpc>
                        <a:spcBef>
                          <a:spcPts val="15"/>
                        </a:spcBef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4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4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4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4"/>
                        </a:lnSpc>
                        <a:spcBef>
                          <a:spcPts val="15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1655"/>
                        </a:lnSpc>
                        <a:spcBef>
                          <a:spcPts val="15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 marL="31750">
                        <a:lnSpc>
                          <a:spcPts val="1689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72394" y="4158326"/>
            <a:ext cx="4722495" cy="14801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450" i="1" spc="125" dirty="0">
                <a:latin typeface="Times New Roman"/>
                <a:cs typeface="Times New Roman"/>
              </a:rPr>
              <a:t>Name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2795" algn="l"/>
              </a:tabLst>
            </a:pPr>
            <a:r>
              <a:rPr sz="1450" spc="90" dirty="0">
                <a:latin typeface="Times New Roman"/>
                <a:cs typeface="Times New Roman"/>
              </a:rPr>
              <a:t>Mult1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  <a:tabLst>
                <a:tab pos="772795" algn="l"/>
              </a:tabLst>
            </a:pPr>
            <a:r>
              <a:rPr sz="1450" spc="90" dirty="0">
                <a:latin typeface="Times New Roman"/>
                <a:cs typeface="Times New Roman"/>
              </a:rPr>
              <a:t>Mult2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254" y="5714859"/>
            <a:ext cx="255333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07049" y="6079437"/>
          <a:ext cx="9052556" cy="531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9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8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323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spc="130" dirty="0">
                          <a:latin typeface="Times New Roman"/>
                          <a:cs typeface="Times New Roman"/>
                        </a:rPr>
                        <a:t>Clock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F4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F8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125"/>
                        </a:lnSpc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2125"/>
                        </a:lnSpc>
                        <a:tabLst>
                          <a:tab pos="1065530" algn="l"/>
                          <a:tab pos="1548130" algn="l"/>
                        </a:tabLst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F12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65" dirty="0">
                          <a:latin typeface="Times New Roman"/>
                          <a:cs typeface="Times New Roman"/>
                        </a:rPr>
                        <a:t>...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F30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5125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b="1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750570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i="1" spc="140" dirty="0">
                          <a:latin typeface="Times New Roman"/>
                          <a:cs typeface="Times New Roman"/>
                        </a:rPr>
                        <a:t>FU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17" name="object 17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3468792" y="2307371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80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835985" y="2307371"/>
            <a:ext cx="1807210" cy="246379"/>
          </a:xfrm>
          <a:custGeom>
            <a:avLst/>
            <a:gdLst/>
            <a:ahLst/>
            <a:cxnLst/>
            <a:rect l="l" t="t" r="r" b="b"/>
            <a:pathLst>
              <a:path w="1807209" h="246380">
                <a:moveTo>
                  <a:pt x="0" y="41063"/>
                </a:moveTo>
                <a:lnTo>
                  <a:pt x="3226" y="25080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1765723" y="0"/>
                </a:lnTo>
                <a:lnTo>
                  <a:pt x="1781706" y="3227"/>
                </a:lnTo>
                <a:lnTo>
                  <a:pt x="1794759" y="12027"/>
                </a:lnTo>
                <a:lnTo>
                  <a:pt x="1803559" y="25080"/>
                </a:lnTo>
                <a:lnTo>
                  <a:pt x="1806786" y="41063"/>
                </a:lnTo>
                <a:lnTo>
                  <a:pt x="1806786" y="205316"/>
                </a:lnTo>
                <a:lnTo>
                  <a:pt x="1803559" y="221299"/>
                </a:lnTo>
                <a:lnTo>
                  <a:pt x="1794759" y="234352"/>
                </a:lnTo>
                <a:lnTo>
                  <a:pt x="1781706" y="243152"/>
                </a:lnTo>
                <a:lnTo>
                  <a:pt x="1765723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299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55254" y="1659341"/>
            <a:ext cx="2127250" cy="6089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Instruction</a:t>
            </a: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200"/>
              </a:spcBef>
            </a:pPr>
            <a:r>
              <a:rPr sz="1500" b="1" spc="-25" dirty="0">
                <a:latin typeface="Arial"/>
                <a:cs typeface="Arial"/>
              </a:rPr>
              <a:t>EX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397573" y="6387129"/>
            <a:ext cx="821690" cy="246379"/>
          </a:xfrm>
          <a:custGeom>
            <a:avLst/>
            <a:gdLst/>
            <a:ahLst/>
            <a:cxnLst/>
            <a:rect l="l" t="t" r="r" b="b"/>
            <a:pathLst>
              <a:path w="821689" h="246379">
                <a:moveTo>
                  <a:pt x="0" y="41064"/>
                </a:moveTo>
                <a:lnTo>
                  <a:pt x="3227" y="25080"/>
                </a:lnTo>
                <a:lnTo>
                  <a:pt x="12027" y="12027"/>
                </a:lnTo>
                <a:lnTo>
                  <a:pt x="25080" y="3227"/>
                </a:lnTo>
                <a:lnTo>
                  <a:pt x="41064" y="0"/>
                </a:lnTo>
                <a:lnTo>
                  <a:pt x="780202" y="0"/>
                </a:lnTo>
                <a:lnTo>
                  <a:pt x="796186" y="3227"/>
                </a:lnTo>
                <a:lnTo>
                  <a:pt x="809239" y="12027"/>
                </a:lnTo>
                <a:lnTo>
                  <a:pt x="818039" y="25080"/>
                </a:lnTo>
                <a:lnTo>
                  <a:pt x="821266" y="41064"/>
                </a:lnTo>
                <a:lnTo>
                  <a:pt x="821266" y="205315"/>
                </a:lnTo>
                <a:lnTo>
                  <a:pt x="818039" y="221299"/>
                </a:lnTo>
                <a:lnTo>
                  <a:pt x="809239" y="234352"/>
                </a:lnTo>
                <a:lnTo>
                  <a:pt x="796186" y="243152"/>
                </a:lnTo>
                <a:lnTo>
                  <a:pt x="780202" y="246379"/>
                </a:lnTo>
                <a:lnTo>
                  <a:pt x="41064" y="246379"/>
                </a:lnTo>
                <a:lnTo>
                  <a:pt x="25080" y="243152"/>
                </a:lnTo>
                <a:lnTo>
                  <a:pt x="12027" y="234352"/>
                </a:lnTo>
                <a:lnTo>
                  <a:pt x="3227" y="221299"/>
                </a:lnTo>
                <a:lnTo>
                  <a:pt x="0" y="205315"/>
                </a:lnTo>
                <a:lnTo>
                  <a:pt x="0" y="41064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254" y="1692009"/>
            <a:ext cx="21272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Instruction</a:t>
            </a: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6414" y="1738427"/>
            <a:ext cx="50355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160" dirty="0">
                <a:latin typeface="Times New Roman"/>
                <a:cs typeface="Times New Roman"/>
              </a:rPr>
              <a:t>Exec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2477" y="1738427"/>
            <a:ext cx="55943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140" dirty="0">
                <a:latin typeface="Times New Roman"/>
                <a:cs typeface="Times New Roman"/>
              </a:rPr>
              <a:t>Write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458014"/>
              </p:ext>
            </p:extLst>
          </p:nvPr>
        </p:nvGraphicFramePr>
        <p:xfrm>
          <a:off x="352159" y="2051533"/>
          <a:ext cx="8199118" cy="16789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3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9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12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1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6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720"/>
                        </a:lnSpc>
                      </a:pPr>
                      <a:r>
                        <a:rPr sz="1550" i="1" spc="250" dirty="0">
                          <a:latin typeface="Times New Roman"/>
                          <a:cs typeface="Times New Roman"/>
                        </a:rPr>
                        <a:t>Comp</a:t>
                      </a:r>
                      <a:r>
                        <a:rPr sz="1550" i="1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72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72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106680">
                        <a:lnSpc>
                          <a:spcPts val="1775"/>
                        </a:lnSpc>
                        <a:tabLst>
                          <a:tab pos="367665" algn="l"/>
                        </a:tabLst>
                      </a:pPr>
                      <a:r>
                        <a:rPr sz="2250" b="1" spc="-75" baseline="-555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250" b="1" baseline="-5555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55" dirty="0">
                          <a:latin typeface="Times New Roman"/>
                          <a:cs typeface="Times New Roman"/>
                        </a:rPr>
                        <a:t>34+R2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140">
                <a:tc>
                  <a:txBody>
                    <a:bodyPr/>
                    <a:lstStyle/>
                    <a:p>
                      <a:pPr marL="367665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630"/>
                        </a:lnSpc>
                      </a:pPr>
                      <a:r>
                        <a:rPr sz="1450" spc="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ts val="1630"/>
                        </a:lnSpc>
                      </a:pPr>
                      <a:r>
                        <a:rPr sz="1450" spc="1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marL="367665">
                        <a:lnSpc>
                          <a:spcPts val="1664"/>
                        </a:lnSpc>
                        <a:spcBef>
                          <a:spcPts val="15"/>
                        </a:spcBef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ts val="1664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4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4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4"/>
                        </a:lnSpc>
                        <a:spcBef>
                          <a:spcPts val="15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1655"/>
                        </a:lnSpc>
                        <a:spcBef>
                          <a:spcPts val="15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 marL="367665">
                        <a:lnSpc>
                          <a:spcPts val="1689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72394" y="4158326"/>
            <a:ext cx="4722495" cy="14801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450" i="1" spc="125" dirty="0">
                <a:latin typeface="Times New Roman"/>
                <a:cs typeface="Times New Roman"/>
              </a:rPr>
              <a:t>Name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2795" algn="l"/>
              </a:tabLst>
            </a:pPr>
            <a:r>
              <a:rPr sz="1450" spc="90" dirty="0">
                <a:latin typeface="Times New Roman"/>
                <a:cs typeface="Times New Roman"/>
              </a:rPr>
              <a:t>Mult1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  <a:tabLst>
                <a:tab pos="772795" algn="l"/>
              </a:tabLst>
            </a:pPr>
            <a:r>
              <a:rPr sz="1450" spc="90" dirty="0">
                <a:latin typeface="Times New Roman"/>
                <a:cs typeface="Times New Roman"/>
              </a:rPr>
              <a:t>Mult2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5254" y="5714859"/>
            <a:ext cx="255333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07049" y="6079437"/>
          <a:ext cx="9052557" cy="531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8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323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spc="130" dirty="0">
                          <a:latin typeface="Times New Roman"/>
                          <a:cs typeface="Times New Roman"/>
                        </a:rPr>
                        <a:t>Clock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F4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F8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125"/>
                        </a:lnSpc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2125"/>
                        </a:lnSpc>
                        <a:tabLst>
                          <a:tab pos="1065530" algn="l"/>
                          <a:tab pos="1548130" algn="l"/>
                        </a:tabLst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F12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65" dirty="0">
                          <a:latin typeface="Times New Roman"/>
                          <a:cs typeface="Times New Roman"/>
                        </a:rPr>
                        <a:t>...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F30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5125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b="1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750570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i="1" spc="140" dirty="0">
                          <a:latin typeface="Times New Roman"/>
                          <a:cs typeface="Times New Roman"/>
                        </a:rPr>
                        <a:t>FU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18" name="object 18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3468792" y="2543197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80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835985" y="2543197"/>
            <a:ext cx="1807210" cy="246379"/>
          </a:xfrm>
          <a:custGeom>
            <a:avLst/>
            <a:gdLst/>
            <a:ahLst/>
            <a:cxnLst/>
            <a:rect l="l" t="t" r="r" b="b"/>
            <a:pathLst>
              <a:path w="1807209" h="246380">
                <a:moveTo>
                  <a:pt x="0" y="41063"/>
                </a:moveTo>
                <a:lnTo>
                  <a:pt x="3226" y="25080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1765723" y="0"/>
                </a:lnTo>
                <a:lnTo>
                  <a:pt x="1781706" y="3227"/>
                </a:lnTo>
                <a:lnTo>
                  <a:pt x="1794759" y="12027"/>
                </a:lnTo>
                <a:lnTo>
                  <a:pt x="1803559" y="25080"/>
                </a:lnTo>
                <a:lnTo>
                  <a:pt x="1806786" y="41063"/>
                </a:lnTo>
                <a:lnTo>
                  <a:pt x="1806786" y="205316"/>
                </a:lnTo>
                <a:lnTo>
                  <a:pt x="1803559" y="221299"/>
                </a:lnTo>
                <a:lnTo>
                  <a:pt x="1794759" y="234352"/>
                </a:lnTo>
                <a:lnTo>
                  <a:pt x="1781706" y="243152"/>
                </a:lnTo>
                <a:lnTo>
                  <a:pt x="1765723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299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43679" y="6392262"/>
            <a:ext cx="821690" cy="246379"/>
          </a:xfrm>
          <a:custGeom>
            <a:avLst/>
            <a:gdLst/>
            <a:ahLst/>
            <a:cxnLst/>
            <a:rect l="l" t="t" r="r" b="b"/>
            <a:pathLst>
              <a:path w="821689" h="246379">
                <a:moveTo>
                  <a:pt x="0" y="41064"/>
                </a:moveTo>
                <a:lnTo>
                  <a:pt x="3227" y="25080"/>
                </a:lnTo>
                <a:lnTo>
                  <a:pt x="12027" y="12027"/>
                </a:lnTo>
                <a:lnTo>
                  <a:pt x="25080" y="3227"/>
                </a:lnTo>
                <a:lnTo>
                  <a:pt x="41064" y="0"/>
                </a:lnTo>
                <a:lnTo>
                  <a:pt x="780202" y="0"/>
                </a:lnTo>
                <a:lnTo>
                  <a:pt x="796186" y="3227"/>
                </a:lnTo>
                <a:lnTo>
                  <a:pt x="809239" y="12027"/>
                </a:lnTo>
                <a:lnTo>
                  <a:pt x="818039" y="25080"/>
                </a:lnTo>
                <a:lnTo>
                  <a:pt x="821266" y="41064"/>
                </a:lnTo>
                <a:lnTo>
                  <a:pt x="821266" y="205315"/>
                </a:lnTo>
                <a:lnTo>
                  <a:pt x="818039" y="221299"/>
                </a:lnTo>
                <a:lnTo>
                  <a:pt x="809239" y="234352"/>
                </a:lnTo>
                <a:lnTo>
                  <a:pt x="796186" y="243152"/>
                </a:lnTo>
                <a:lnTo>
                  <a:pt x="780202" y="246379"/>
                </a:lnTo>
                <a:lnTo>
                  <a:pt x="41064" y="246379"/>
                </a:lnTo>
                <a:lnTo>
                  <a:pt x="25080" y="243152"/>
                </a:lnTo>
                <a:lnTo>
                  <a:pt x="12027" y="234352"/>
                </a:lnTo>
                <a:lnTo>
                  <a:pt x="3227" y="221299"/>
                </a:lnTo>
                <a:lnTo>
                  <a:pt x="0" y="205315"/>
                </a:lnTo>
                <a:lnTo>
                  <a:pt x="0" y="41064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15958" y="6877811"/>
            <a:ext cx="679924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u="sng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Note:</a:t>
            </a:r>
            <a:r>
              <a:rPr sz="2200" b="1" u="sng" spc="35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Can</a:t>
            </a:r>
            <a:r>
              <a:rPr sz="2200" b="1" u="sng" spc="30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have</a:t>
            </a:r>
            <a:r>
              <a:rPr sz="2200" b="1" u="sng" spc="30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multiple</a:t>
            </a:r>
            <a:r>
              <a:rPr sz="2200" b="1" u="sng" spc="30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loads</a:t>
            </a:r>
            <a:r>
              <a:rPr sz="2200" b="1" u="sng" spc="30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10" dirty="0">
                <a:solidFill>
                  <a:srgbClr val="0332B7"/>
                </a:solidFill>
                <a:uFill>
                  <a:solidFill>
                    <a:srgbClr val="0332B7"/>
                  </a:solidFill>
                </a:uFill>
                <a:latin typeface="Arial"/>
                <a:cs typeface="Arial"/>
              </a:rPr>
              <a:t>outstanding</a:t>
            </a:r>
            <a:endParaRPr sz="2200" u="sng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50" dirty="0"/>
              <a:t>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5254" y="1692009"/>
            <a:ext cx="21272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Instruction</a:t>
            </a: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6414" y="1738427"/>
            <a:ext cx="50355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160" dirty="0">
                <a:latin typeface="Times New Roman"/>
                <a:cs typeface="Times New Roman"/>
              </a:rPr>
              <a:t>Exec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2477" y="1738427"/>
            <a:ext cx="55943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140" dirty="0">
                <a:latin typeface="Times New Roman"/>
                <a:cs typeface="Times New Roman"/>
              </a:rPr>
              <a:t>Write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112936"/>
              </p:ext>
            </p:extLst>
          </p:nvPr>
        </p:nvGraphicFramePr>
        <p:xfrm>
          <a:off x="352159" y="2051533"/>
          <a:ext cx="8199118" cy="16795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3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9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12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1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6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720"/>
                        </a:lnSpc>
                      </a:pPr>
                      <a:r>
                        <a:rPr sz="1550" i="1" spc="250" dirty="0">
                          <a:latin typeface="Times New Roman"/>
                          <a:cs typeface="Times New Roman"/>
                        </a:rPr>
                        <a:t>Comp</a:t>
                      </a:r>
                      <a:r>
                        <a:rPr sz="1550" i="1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72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72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106680">
                        <a:lnSpc>
                          <a:spcPts val="1775"/>
                        </a:lnSpc>
                        <a:tabLst>
                          <a:tab pos="367665" algn="l"/>
                        </a:tabLst>
                      </a:pPr>
                      <a:r>
                        <a:rPr sz="2250" b="1" spc="-75" baseline="-555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250" b="1" baseline="-5555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55" dirty="0">
                          <a:latin typeface="Times New Roman"/>
                          <a:cs typeface="Times New Roman"/>
                        </a:rPr>
                        <a:t>34+R2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06680">
                        <a:lnSpc>
                          <a:spcPts val="1639"/>
                        </a:lnSpc>
                        <a:tabLst>
                          <a:tab pos="367665" algn="l"/>
                        </a:tabLst>
                      </a:pPr>
                      <a:r>
                        <a:rPr sz="2250" b="1" spc="-75" baseline="-7407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2250" b="1" baseline="-7407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630"/>
                        </a:lnSpc>
                      </a:pPr>
                      <a:r>
                        <a:rPr sz="1450" spc="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ts val="1630"/>
                        </a:lnSpc>
                      </a:pPr>
                      <a:r>
                        <a:rPr sz="1450" spc="1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67665">
                        <a:lnSpc>
                          <a:spcPts val="1585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ts val="1585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585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585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58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585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 marL="367665">
                        <a:lnSpc>
                          <a:spcPts val="1689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239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0803" y="5142376"/>
            <a:ext cx="123698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667385" algn="l"/>
              </a:tabLst>
            </a:pPr>
            <a:r>
              <a:rPr sz="1450" spc="10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r>
              <a:rPr sz="145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1450" spc="114" dirty="0">
                <a:solidFill>
                  <a:srgbClr val="FF0000"/>
                </a:solidFill>
                <a:latin typeface="Times New Roman"/>
                <a:cs typeface="Times New Roman"/>
              </a:rPr>
              <a:t>Load2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72394" y="4111908"/>
            <a:ext cx="1948180" cy="15265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1402715" algn="l"/>
              </a:tabLst>
            </a:pPr>
            <a:r>
              <a:rPr sz="2175" i="1" spc="217" baseline="-3831" dirty="0">
                <a:latin typeface="Times New Roman"/>
                <a:cs typeface="Times New Roman"/>
              </a:rPr>
              <a:t>Name</a:t>
            </a:r>
            <a:r>
              <a:rPr sz="2175" i="1" spc="187" baseline="-3831" dirty="0">
                <a:latin typeface="Times New Roman"/>
                <a:cs typeface="Times New Roman"/>
              </a:rPr>
              <a:t>  </a:t>
            </a: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5330" algn="l"/>
              </a:tabLst>
            </a:pPr>
            <a:r>
              <a:rPr sz="1450" spc="90" dirty="0">
                <a:latin typeface="Times New Roman"/>
                <a:cs typeface="Times New Roman"/>
              </a:rPr>
              <a:t>Mult1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Yes  </a:t>
            </a:r>
            <a:r>
              <a:rPr sz="1450" spc="13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  <a:tabLst>
                <a:tab pos="772795" algn="l"/>
              </a:tabLst>
            </a:pPr>
            <a:r>
              <a:rPr sz="1450" spc="90" dirty="0">
                <a:latin typeface="Times New Roman"/>
                <a:cs typeface="Times New Roman"/>
              </a:rPr>
              <a:t>Mult2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254" y="5714859"/>
            <a:ext cx="255333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07049" y="6079437"/>
          <a:ext cx="9053193" cy="531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80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323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spc="130" dirty="0">
                          <a:latin typeface="Times New Roman"/>
                          <a:cs typeface="Times New Roman"/>
                        </a:rPr>
                        <a:t>Clock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F4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F8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125"/>
                        </a:lnSpc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2125"/>
                        </a:lnSpc>
                        <a:tabLst>
                          <a:tab pos="1065530" algn="l"/>
                          <a:tab pos="1548130" algn="l"/>
                        </a:tabLst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F12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65" dirty="0">
                          <a:latin typeface="Times New Roman"/>
                          <a:cs typeface="Times New Roman"/>
                        </a:rPr>
                        <a:t>...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F30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5125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b="1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750570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i="1" spc="140" dirty="0">
                          <a:latin typeface="Times New Roman"/>
                          <a:cs typeface="Times New Roman"/>
                        </a:rPr>
                        <a:t>FU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9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2780982" y="4427869"/>
            <a:ext cx="4168140" cy="1210945"/>
            <a:chOff x="2780982" y="4427869"/>
            <a:chExt cx="4168140" cy="1210945"/>
          </a:xfrm>
        </p:grpSpPr>
        <p:sp>
          <p:nvSpPr>
            <p:cNvPr id="19" name="object 19"/>
            <p:cNvSpPr/>
            <p:nvPr/>
          </p:nvSpPr>
          <p:spPr>
            <a:xfrm>
              <a:off x="6913367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11780" y="5131386"/>
              <a:ext cx="4106545" cy="315595"/>
            </a:xfrm>
            <a:custGeom>
              <a:avLst/>
              <a:gdLst/>
              <a:ahLst/>
              <a:cxnLst/>
              <a:rect l="l" t="t" r="r" b="b"/>
              <a:pathLst>
                <a:path w="4106545" h="315595">
                  <a:moveTo>
                    <a:pt x="0" y="52537"/>
                  </a:moveTo>
                  <a:lnTo>
                    <a:pt x="4128" y="32087"/>
                  </a:lnTo>
                  <a:lnTo>
                    <a:pt x="15387" y="15387"/>
                  </a:lnTo>
                  <a:lnTo>
                    <a:pt x="32087" y="4128"/>
                  </a:lnTo>
                  <a:lnTo>
                    <a:pt x="52537" y="0"/>
                  </a:lnTo>
                  <a:lnTo>
                    <a:pt x="4053795" y="0"/>
                  </a:lnTo>
                  <a:lnTo>
                    <a:pt x="4074245" y="4128"/>
                  </a:lnTo>
                  <a:lnTo>
                    <a:pt x="4090945" y="15387"/>
                  </a:lnTo>
                  <a:lnTo>
                    <a:pt x="4102204" y="32087"/>
                  </a:lnTo>
                  <a:lnTo>
                    <a:pt x="4106333" y="52537"/>
                  </a:lnTo>
                  <a:lnTo>
                    <a:pt x="4106333" y="262682"/>
                  </a:lnTo>
                  <a:lnTo>
                    <a:pt x="4102204" y="283132"/>
                  </a:lnTo>
                  <a:lnTo>
                    <a:pt x="4090945" y="299831"/>
                  </a:lnTo>
                  <a:lnTo>
                    <a:pt x="4074245" y="311091"/>
                  </a:lnTo>
                  <a:lnTo>
                    <a:pt x="4053795" y="315219"/>
                  </a:lnTo>
                  <a:lnTo>
                    <a:pt x="52537" y="315219"/>
                  </a:lnTo>
                  <a:lnTo>
                    <a:pt x="32087" y="311091"/>
                  </a:lnTo>
                  <a:lnTo>
                    <a:pt x="15387" y="299831"/>
                  </a:lnTo>
                  <a:lnTo>
                    <a:pt x="4128" y="283132"/>
                  </a:lnTo>
                  <a:lnTo>
                    <a:pt x="0" y="262682"/>
                  </a:lnTo>
                  <a:lnTo>
                    <a:pt x="0" y="52537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4165673" y="2312504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80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304540" y="6392262"/>
            <a:ext cx="821690" cy="246379"/>
          </a:xfrm>
          <a:custGeom>
            <a:avLst/>
            <a:gdLst/>
            <a:ahLst/>
            <a:cxnLst/>
            <a:rect l="l" t="t" r="r" b="b"/>
            <a:pathLst>
              <a:path w="821689" h="246379">
                <a:moveTo>
                  <a:pt x="0" y="41064"/>
                </a:moveTo>
                <a:lnTo>
                  <a:pt x="3227" y="25080"/>
                </a:lnTo>
                <a:lnTo>
                  <a:pt x="12027" y="12027"/>
                </a:lnTo>
                <a:lnTo>
                  <a:pt x="25080" y="3227"/>
                </a:lnTo>
                <a:lnTo>
                  <a:pt x="41064" y="0"/>
                </a:lnTo>
                <a:lnTo>
                  <a:pt x="780202" y="0"/>
                </a:lnTo>
                <a:lnTo>
                  <a:pt x="796186" y="3227"/>
                </a:lnTo>
                <a:lnTo>
                  <a:pt x="809239" y="12027"/>
                </a:lnTo>
                <a:lnTo>
                  <a:pt x="818039" y="25080"/>
                </a:lnTo>
                <a:lnTo>
                  <a:pt x="821266" y="41064"/>
                </a:lnTo>
                <a:lnTo>
                  <a:pt x="821266" y="205315"/>
                </a:lnTo>
                <a:lnTo>
                  <a:pt x="818039" y="221299"/>
                </a:lnTo>
                <a:lnTo>
                  <a:pt x="809239" y="234352"/>
                </a:lnTo>
                <a:lnTo>
                  <a:pt x="796186" y="243152"/>
                </a:lnTo>
                <a:lnTo>
                  <a:pt x="780202" y="246379"/>
                </a:lnTo>
                <a:lnTo>
                  <a:pt x="41064" y="246379"/>
                </a:lnTo>
                <a:lnTo>
                  <a:pt x="25080" y="243152"/>
                </a:lnTo>
                <a:lnTo>
                  <a:pt x="12027" y="234352"/>
                </a:lnTo>
                <a:lnTo>
                  <a:pt x="3227" y="221299"/>
                </a:lnTo>
                <a:lnTo>
                  <a:pt x="0" y="205315"/>
                </a:lnTo>
                <a:lnTo>
                  <a:pt x="0" y="41064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439822" y="2776289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80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50677" y="6642065"/>
            <a:ext cx="7574123" cy="10541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20675" marR="5080" indent="-307975">
              <a:lnSpc>
                <a:spcPts val="2400"/>
              </a:lnSpc>
              <a:spcBef>
                <a:spcPts val="380"/>
              </a:spcBef>
              <a:buFont typeface="Arial MT"/>
              <a:buChar char="•"/>
              <a:tabLst>
                <a:tab pos="320675" algn="l"/>
              </a:tabLst>
            </a:pPr>
            <a:r>
              <a:rPr sz="2200" b="1" spc="-20" dirty="0">
                <a:solidFill>
                  <a:srgbClr val="0332B7"/>
                </a:solidFill>
                <a:latin typeface="Arial"/>
                <a:cs typeface="Arial"/>
              </a:rPr>
              <a:t>Note:</a:t>
            </a:r>
            <a:r>
              <a:rPr sz="22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332B7"/>
                </a:solidFill>
                <a:latin typeface="Arial"/>
                <a:cs typeface="Arial"/>
              </a:rPr>
              <a:t>register</a:t>
            </a:r>
            <a:r>
              <a:rPr sz="22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332B7"/>
                </a:solidFill>
                <a:latin typeface="Arial"/>
                <a:cs typeface="Arial"/>
              </a:rPr>
              <a:t>names</a:t>
            </a:r>
            <a:r>
              <a:rPr sz="22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32B7"/>
                </a:solidFill>
                <a:latin typeface="Arial"/>
                <a:cs typeface="Arial"/>
              </a:rPr>
              <a:t>are</a:t>
            </a:r>
            <a:r>
              <a:rPr sz="2200" b="1" spc="-11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0332B7"/>
                </a:solidFill>
                <a:latin typeface="Arial"/>
                <a:cs typeface="Arial"/>
              </a:rPr>
              <a:t>removed</a:t>
            </a:r>
            <a:r>
              <a:rPr sz="22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30" dirty="0">
                <a:solidFill>
                  <a:srgbClr val="0332B7"/>
                </a:solidFill>
                <a:latin typeface="Arial"/>
                <a:cs typeface="Arial"/>
              </a:rPr>
              <a:t>(“renamed”)</a:t>
            </a:r>
            <a:r>
              <a:rPr sz="22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32B7"/>
                </a:solidFill>
                <a:latin typeface="Arial"/>
                <a:cs typeface="Arial"/>
              </a:rPr>
              <a:t>in</a:t>
            </a:r>
            <a:r>
              <a:rPr sz="2200" b="1" spc="-11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32B7"/>
                </a:solidFill>
                <a:latin typeface="Arial"/>
                <a:cs typeface="Arial"/>
              </a:rPr>
              <a:t>RSs;</a:t>
            </a:r>
            <a:r>
              <a:rPr sz="2200" b="1" spc="-10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br>
              <a:rPr lang="en-US" sz="2200" b="1" spc="-100" dirty="0">
                <a:solidFill>
                  <a:srgbClr val="0332B7"/>
                </a:solidFill>
                <a:latin typeface="Arial"/>
                <a:cs typeface="Arial"/>
              </a:rPr>
            </a:br>
            <a:r>
              <a:rPr sz="2200" b="1" spc="-10" dirty="0">
                <a:solidFill>
                  <a:srgbClr val="0332B7"/>
                </a:solidFill>
                <a:latin typeface="Arial"/>
                <a:cs typeface="Arial"/>
              </a:rPr>
              <a:t>MULTD issued;</a:t>
            </a:r>
            <a:endParaRPr sz="2200" dirty="0">
              <a:latin typeface="Arial"/>
              <a:cs typeface="Arial"/>
            </a:endParaRPr>
          </a:p>
          <a:p>
            <a:pPr marL="320040" indent="-307340">
              <a:lnSpc>
                <a:spcPct val="100000"/>
              </a:lnSpc>
              <a:spcBef>
                <a:spcPts val="415"/>
              </a:spcBef>
              <a:buFont typeface="Arial MT"/>
              <a:buChar char="•"/>
              <a:tabLst>
                <a:tab pos="320040" algn="l"/>
              </a:tabLst>
            </a:pPr>
            <a:r>
              <a:rPr sz="2200" b="1" spc="-20" dirty="0">
                <a:solidFill>
                  <a:srgbClr val="0332B7"/>
                </a:solidFill>
                <a:latin typeface="Arial"/>
                <a:cs typeface="Arial"/>
              </a:rPr>
              <a:t>Load1</a:t>
            </a:r>
            <a:r>
              <a:rPr sz="2200" b="1" spc="-10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30" dirty="0">
                <a:solidFill>
                  <a:srgbClr val="0332B7"/>
                </a:solidFill>
                <a:latin typeface="Arial"/>
                <a:cs typeface="Arial"/>
              </a:rPr>
              <a:t>completing;</a:t>
            </a:r>
            <a:r>
              <a:rPr sz="2200" b="1" spc="-9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332B7"/>
                </a:solidFill>
                <a:latin typeface="Arial"/>
                <a:cs typeface="Arial"/>
              </a:rPr>
              <a:t>what</a:t>
            </a:r>
            <a:r>
              <a:rPr sz="2200" b="1" spc="-9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32B7"/>
                </a:solidFill>
                <a:latin typeface="Arial"/>
                <a:cs typeface="Arial"/>
              </a:rPr>
              <a:t>is</a:t>
            </a:r>
            <a:r>
              <a:rPr sz="2200" b="1" spc="-10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0332B7"/>
                </a:solidFill>
                <a:latin typeface="Arial"/>
                <a:cs typeface="Arial"/>
              </a:rPr>
              <a:t>waiting</a:t>
            </a:r>
            <a:r>
              <a:rPr sz="2200" b="1" spc="-10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32B7"/>
                </a:solidFill>
                <a:latin typeface="Arial"/>
                <a:cs typeface="Arial"/>
              </a:rPr>
              <a:t>for</a:t>
            </a:r>
            <a:r>
              <a:rPr sz="2200" b="1" spc="-9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332B7"/>
                </a:solidFill>
                <a:latin typeface="Arial"/>
                <a:cs typeface="Arial"/>
              </a:rPr>
              <a:t>Load1?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33" name="object 41">
            <a:extLst>
              <a:ext uri="{FF2B5EF4-FFF2-40B4-BE49-F238E27FC236}">
                <a16:creationId xmlns:a16="http://schemas.microsoft.com/office/drawing/2014/main" id="{F3FD65F1-81FF-3557-021F-73221FF7748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254" y="1692009"/>
            <a:ext cx="21272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Instruction</a:t>
            </a: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57" y="2023120"/>
            <a:ext cx="2529205" cy="17119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109855" algn="r">
              <a:lnSpc>
                <a:spcPct val="100000"/>
              </a:lnSpc>
              <a:spcBef>
                <a:spcPts val="305"/>
              </a:spcBef>
              <a:tabLst>
                <a:tab pos="593090" algn="l"/>
              </a:tabLst>
            </a:pPr>
            <a:r>
              <a:rPr sz="1450" i="1" spc="30" dirty="0">
                <a:latin typeface="Times New Roman"/>
                <a:cs typeface="Times New Roman"/>
              </a:rPr>
              <a:t>j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80" dirty="0">
                <a:latin typeface="Times New Roman"/>
                <a:cs typeface="Times New Roman"/>
              </a:rPr>
              <a:t>k</a:t>
            </a:r>
            <a:endParaRPr sz="145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10"/>
              </a:spcBef>
              <a:tabLst>
                <a:tab pos="1031875" algn="l"/>
              </a:tabLst>
            </a:pPr>
            <a:r>
              <a:rPr sz="1450" spc="140" dirty="0">
                <a:latin typeface="Times New Roman"/>
                <a:cs typeface="Times New Roman"/>
              </a:rPr>
              <a:t>LD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F6</a:t>
            </a:r>
            <a:r>
              <a:rPr sz="1450" spc="295" dirty="0">
                <a:latin typeface="Times New Roman"/>
                <a:cs typeface="Times New Roman"/>
              </a:rPr>
              <a:t>    </a:t>
            </a:r>
            <a:r>
              <a:rPr sz="1450" spc="150" dirty="0">
                <a:latin typeface="Times New Roman"/>
                <a:cs typeface="Times New Roman"/>
              </a:rPr>
              <a:t>34+</a:t>
            </a:r>
            <a:r>
              <a:rPr sz="1450" spc="480" dirty="0">
                <a:latin typeface="Times New Roman"/>
                <a:cs typeface="Times New Roman"/>
              </a:rPr>
              <a:t>   </a:t>
            </a:r>
            <a:r>
              <a:rPr sz="1450" spc="145" dirty="0">
                <a:latin typeface="Times New Roman"/>
                <a:cs typeface="Times New Roman"/>
              </a:rPr>
              <a:t>R2</a:t>
            </a:r>
            <a:endParaRPr sz="145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85"/>
              </a:spcBef>
              <a:tabLst>
                <a:tab pos="1031875" algn="l"/>
              </a:tabLst>
            </a:pPr>
            <a:r>
              <a:rPr sz="1450" spc="140" dirty="0">
                <a:solidFill>
                  <a:srgbClr val="FF0000"/>
                </a:solidFill>
                <a:latin typeface="Times New Roman"/>
                <a:cs typeface="Times New Roman"/>
              </a:rPr>
              <a:t>LD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F2</a:t>
            </a:r>
            <a:r>
              <a:rPr sz="1450" spc="295" dirty="0">
                <a:solidFill>
                  <a:srgbClr val="FF0000"/>
                </a:solidFill>
                <a:latin typeface="Times New Roman"/>
                <a:cs typeface="Times New Roman"/>
              </a:rPr>
              <a:t>    </a:t>
            </a:r>
            <a:r>
              <a:rPr sz="1450" spc="150" dirty="0">
                <a:solidFill>
                  <a:srgbClr val="FF0000"/>
                </a:solidFill>
                <a:latin typeface="Times New Roman"/>
                <a:cs typeface="Times New Roman"/>
              </a:rPr>
              <a:t>45+</a:t>
            </a:r>
            <a:r>
              <a:rPr sz="1450" spc="480" dirty="0">
                <a:solidFill>
                  <a:srgbClr val="FF0000"/>
                </a:solidFill>
                <a:latin typeface="Times New Roman"/>
                <a:cs typeface="Times New Roman"/>
              </a:rPr>
              <a:t>   </a:t>
            </a:r>
            <a:r>
              <a:rPr sz="1450" spc="145" dirty="0">
                <a:solidFill>
                  <a:srgbClr val="FF0000"/>
                </a:solidFill>
                <a:latin typeface="Times New Roman"/>
                <a:cs typeface="Times New Roman"/>
              </a:rPr>
              <a:t>R3</a:t>
            </a:r>
            <a:endParaRPr sz="1450" dirty="0">
              <a:latin typeface="Times New Roman"/>
              <a:cs typeface="Times New Roman"/>
            </a:endParaRPr>
          </a:p>
          <a:p>
            <a:pPr marL="12700" marR="41910" algn="just">
              <a:lnSpc>
                <a:spcPct val="107400"/>
              </a:lnSpc>
              <a:spcBef>
                <a:spcPts val="85"/>
              </a:spcBef>
            </a:pPr>
            <a:r>
              <a:rPr sz="1450" spc="145" dirty="0">
                <a:solidFill>
                  <a:srgbClr val="0000FF"/>
                </a:solidFill>
                <a:latin typeface="Times New Roman"/>
                <a:cs typeface="Times New Roman"/>
              </a:rPr>
              <a:t>MULTD</a:t>
            </a:r>
            <a:r>
              <a:rPr sz="1450" spc="335" dirty="0">
                <a:solidFill>
                  <a:srgbClr val="0000FF"/>
                </a:solidFill>
                <a:latin typeface="Times New Roman"/>
                <a:cs typeface="Times New Roman"/>
              </a:rPr>
              <a:t>   </a:t>
            </a: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F0</a:t>
            </a:r>
            <a:r>
              <a:rPr sz="1450" spc="440" dirty="0">
                <a:solidFill>
                  <a:srgbClr val="0000FF"/>
                </a:solidFill>
                <a:latin typeface="Times New Roman"/>
                <a:cs typeface="Times New Roman"/>
              </a:rPr>
              <a:t>    </a:t>
            </a: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F2</a:t>
            </a:r>
            <a:r>
              <a:rPr sz="1450" spc="370" dirty="0">
                <a:solidFill>
                  <a:srgbClr val="0000FF"/>
                </a:solidFill>
                <a:latin typeface="Times New Roman"/>
                <a:cs typeface="Times New Roman"/>
              </a:rPr>
              <a:t>    </a:t>
            </a:r>
            <a:r>
              <a:rPr sz="1450" spc="70" dirty="0">
                <a:solidFill>
                  <a:srgbClr val="0000FF"/>
                </a:solidFill>
                <a:latin typeface="Times New Roman"/>
                <a:cs typeface="Times New Roman"/>
              </a:rPr>
              <a:t>F4 </a:t>
            </a:r>
            <a:r>
              <a:rPr sz="1450" spc="140" dirty="0">
                <a:solidFill>
                  <a:srgbClr val="FF00FF"/>
                </a:solidFill>
                <a:latin typeface="Times New Roman"/>
                <a:cs typeface="Times New Roman"/>
              </a:rPr>
              <a:t>SUBD</a:t>
            </a:r>
            <a:r>
              <a:rPr sz="1450" spc="345" dirty="0">
                <a:solidFill>
                  <a:srgbClr val="FF00FF"/>
                </a:solidFill>
                <a:latin typeface="Times New Roman"/>
                <a:cs typeface="Times New Roman"/>
              </a:rPr>
              <a:t>     </a:t>
            </a:r>
            <a:r>
              <a:rPr sz="1450" spc="95" dirty="0">
                <a:solidFill>
                  <a:srgbClr val="FF00FF"/>
                </a:solidFill>
                <a:latin typeface="Times New Roman"/>
                <a:cs typeface="Times New Roman"/>
              </a:rPr>
              <a:t>F8</a:t>
            </a:r>
            <a:r>
              <a:rPr sz="1450" spc="445" dirty="0">
                <a:solidFill>
                  <a:srgbClr val="FF00FF"/>
                </a:solidFill>
                <a:latin typeface="Times New Roman"/>
                <a:cs typeface="Times New Roman"/>
              </a:rPr>
              <a:t>    </a:t>
            </a:r>
            <a:r>
              <a:rPr sz="1450" spc="95" dirty="0">
                <a:solidFill>
                  <a:srgbClr val="FF00FF"/>
                </a:solidFill>
                <a:latin typeface="Times New Roman"/>
                <a:cs typeface="Times New Roman"/>
              </a:rPr>
              <a:t>F6</a:t>
            </a:r>
            <a:r>
              <a:rPr sz="1450" spc="370" dirty="0">
                <a:solidFill>
                  <a:srgbClr val="FF00FF"/>
                </a:solidFill>
                <a:latin typeface="Times New Roman"/>
                <a:cs typeface="Times New Roman"/>
              </a:rPr>
              <a:t>    </a:t>
            </a:r>
            <a:r>
              <a:rPr sz="1450" spc="70" dirty="0">
                <a:solidFill>
                  <a:srgbClr val="FF00FF"/>
                </a:solidFill>
                <a:latin typeface="Times New Roman"/>
                <a:cs typeface="Times New Roman"/>
              </a:rPr>
              <a:t>F2 </a:t>
            </a:r>
            <a:r>
              <a:rPr sz="1450" spc="13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spc="490" dirty="0">
                <a:solidFill>
                  <a:srgbClr val="1FB714"/>
                </a:solidFill>
                <a:latin typeface="Times New Roman"/>
                <a:cs typeface="Times New Roman"/>
              </a:rPr>
              <a:t>    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F10</a:t>
            </a:r>
            <a:r>
              <a:rPr sz="1450" spc="330" dirty="0">
                <a:solidFill>
                  <a:srgbClr val="1FB714"/>
                </a:solidFill>
                <a:latin typeface="Times New Roman"/>
                <a:cs typeface="Times New Roman"/>
              </a:rPr>
              <a:t>    </a:t>
            </a:r>
            <a:r>
              <a:rPr sz="1450" spc="95" dirty="0">
                <a:solidFill>
                  <a:srgbClr val="1FB714"/>
                </a:solidFill>
                <a:latin typeface="Times New Roman"/>
                <a:cs typeface="Times New Roman"/>
              </a:rPr>
              <a:t>F0</a:t>
            </a:r>
            <a:r>
              <a:rPr sz="1450" spc="370" dirty="0">
                <a:solidFill>
                  <a:srgbClr val="1FB714"/>
                </a:solidFill>
                <a:latin typeface="Times New Roman"/>
                <a:cs typeface="Times New Roman"/>
              </a:rPr>
              <a:t>    </a:t>
            </a:r>
            <a:r>
              <a:rPr sz="1450" spc="70" dirty="0">
                <a:solidFill>
                  <a:srgbClr val="1FB714"/>
                </a:solidFill>
                <a:latin typeface="Times New Roman"/>
                <a:cs typeface="Times New Roman"/>
              </a:rPr>
              <a:t>F6 </a:t>
            </a:r>
            <a:r>
              <a:rPr sz="1450" spc="135" dirty="0">
                <a:latin typeface="Times New Roman"/>
                <a:cs typeface="Times New Roman"/>
              </a:rPr>
              <a:t>ADDD</a:t>
            </a:r>
            <a:r>
              <a:rPr sz="1450" spc="450" dirty="0">
                <a:latin typeface="Times New Roman"/>
                <a:cs typeface="Times New Roman"/>
              </a:rPr>
              <a:t>    </a:t>
            </a:r>
            <a:r>
              <a:rPr sz="1450" spc="95" dirty="0">
                <a:latin typeface="Times New Roman"/>
                <a:cs typeface="Times New Roman"/>
              </a:rPr>
              <a:t>F6</a:t>
            </a:r>
            <a:r>
              <a:rPr sz="1450" spc="440" dirty="0">
                <a:latin typeface="Times New Roman"/>
                <a:cs typeface="Times New Roman"/>
              </a:rPr>
              <a:t>    </a:t>
            </a:r>
            <a:r>
              <a:rPr sz="1450" spc="95" dirty="0">
                <a:latin typeface="Times New Roman"/>
                <a:cs typeface="Times New Roman"/>
              </a:rPr>
              <a:t>F8</a:t>
            </a:r>
            <a:r>
              <a:rPr sz="1450" spc="370" dirty="0">
                <a:latin typeface="Times New Roman"/>
                <a:cs typeface="Times New Roman"/>
              </a:rPr>
              <a:t>    </a:t>
            </a:r>
            <a:r>
              <a:rPr sz="1450" spc="70" dirty="0">
                <a:latin typeface="Times New Roman"/>
                <a:cs typeface="Times New Roman"/>
              </a:rPr>
              <a:t>F2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809" y="2043047"/>
            <a:ext cx="13398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50" b="1" baseline="-5555" dirty="0">
                <a:latin typeface="Arial"/>
                <a:cs typeface="Arial"/>
              </a:rPr>
              <a:t>EX</a:t>
            </a:r>
            <a:r>
              <a:rPr sz="2250" b="1" spc="322" baseline="-5555" dirty="0">
                <a:latin typeface="Arial"/>
                <a:cs typeface="Arial"/>
              </a:rPr>
              <a:t> </a:t>
            </a:r>
            <a:r>
              <a:rPr sz="1450" spc="75" dirty="0">
                <a:latin typeface="Times New Roman"/>
                <a:cs typeface="Times New Roman"/>
              </a:rPr>
              <a:t>Instruction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1809" y="2016932"/>
            <a:ext cx="52197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130" dirty="0">
                <a:latin typeface="Times New Roman"/>
                <a:cs typeface="Times New Roman"/>
              </a:rPr>
              <a:t>Issue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6414" y="1701293"/>
            <a:ext cx="1334770" cy="1075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0"/>
              </a:spcBef>
              <a:tabLst>
                <a:tab pos="698500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Exec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130" dirty="0">
                <a:latin typeface="Times New Roman"/>
                <a:cs typeface="Times New Roman"/>
              </a:rPr>
              <a:t>Write </a:t>
            </a:r>
            <a:r>
              <a:rPr sz="1550" i="1" spc="250" dirty="0">
                <a:latin typeface="Times New Roman"/>
                <a:cs typeface="Times New Roman"/>
              </a:rPr>
              <a:t>Comp</a:t>
            </a:r>
            <a:r>
              <a:rPr sz="1550" i="1" spc="270" dirty="0">
                <a:latin typeface="Times New Roman"/>
                <a:cs typeface="Times New Roman"/>
              </a:rPr>
              <a:t> </a:t>
            </a:r>
            <a:r>
              <a:rPr sz="1550" i="1" spc="160" dirty="0">
                <a:latin typeface="Times New Roman"/>
                <a:cs typeface="Times New Roman"/>
              </a:rPr>
              <a:t>Result</a:t>
            </a:r>
            <a:endParaRPr sz="155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315"/>
              </a:spcBef>
              <a:tabLst>
                <a:tab pos="958215" algn="l"/>
              </a:tabLst>
            </a:pPr>
            <a:r>
              <a:rPr sz="1450" spc="95" dirty="0">
                <a:latin typeface="Times New Roman"/>
                <a:cs typeface="Times New Roman"/>
              </a:rPr>
              <a:t>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8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85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7750" y="2016932"/>
            <a:ext cx="53594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80" dirty="0">
                <a:latin typeface="Times New Roman"/>
                <a:cs typeface="Times New Roman"/>
              </a:rPr>
              <a:t>Busy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3813" y="2016932"/>
            <a:ext cx="82423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5" dirty="0">
                <a:latin typeface="Times New Roman"/>
                <a:cs typeface="Times New Roman"/>
              </a:rPr>
              <a:t>Address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4316" y="2295437"/>
            <a:ext cx="137160" cy="9601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450" spc="9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3608" y="2527524"/>
            <a:ext cx="63754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55" dirty="0">
                <a:solidFill>
                  <a:srgbClr val="FF0000"/>
                </a:solidFill>
                <a:latin typeface="Times New Roman"/>
                <a:cs typeface="Times New Roman"/>
              </a:rPr>
              <a:t>45+R3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3145" y="2295437"/>
            <a:ext cx="1187450" cy="728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46455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75" dirty="0">
                <a:latin typeface="Times New Roman"/>
                <a:cs typeface="Times New Roman"/>
              </a:rPr>
              <a:t>Yes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72394" y="4158326"/>
            <a:ext cx="544830" cy="148018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just">
              <a:lnSpc>
                <a:spcPct val="109200"/>
              </a:lnSpc>
              <a:spcBef>
                <a:spcPts val="145"/>
              </a:spcBef>
            </a:pPr>
            <a:r>
              <a:rPr sz="1450" i="1" spc="125" dirty="0">
                <a:latin typeface="Times New Roman"/>
                <a:cs typeface="Times New Roman"/>
              </a:rPr>
              <a:t>Name </a:t>
            </a:r>
            <a:r>
              <a:rPr sz="1450" spc="114" dirty="0">
                <a:latin typeface="Times New Roman"/>
                <a:cs typeface="Times New Roman"/>
              </a:rPr>
              <a:t>Add1 Add2 Add3 </a:t>
            </a:r>
            <a:r>
              <a:rPr sz="1450" spc="90" dirty="0">
                <a:latin typeface="Times New Roman"/>
                <a:cs typeface="Times New Roman"/>
              </a:rPr>
              <a:t>Mult1 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64387" y="4430641"/>
            <a:ext cx="56959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50" spc="114" dirty="0">
                <a:solidFill>
                  <a:srgbClr val="FF0000"/>
                </a:solidFill>
                <a:latin typeface="Times New Roman"/>
                <a:cs typeface="Times New Roman"/>
              </a:rPr>
              <a:t>Load2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08241" y="4430641"/>
            <a:ext cx="1866900" cy="728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555625" algn="l"/>
                <a:tab pos="126047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20" dirty="0">
                <a:solidFill>
                  <a:srgbClr val="FF00FF"/>
                </a:solidFill>
                <a:latin typeface="Times New Roman"/>
                <a:cs typeface="Times New Roman"/>
              </a:rPr>
              <a:t>SUBD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latin typeface="Times New Roman"/>
                <a:cs typeface="Times New Roman"/>
              </a:rPr>
              <a:t>M(A1)</a:t>
            </a:r>
            <a:endParaRPr sz="145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  <a:spcBef>
                <a:spcPts val="90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  <a:spcBef>
                <a:spcPts val="204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08241" y="5117620"/>
            <a:ext cx="3239135" cy="5207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  <a:tabLst>
                <a:tab pos="2002155" algn="l"/>
                <a:tab pos="2669540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  </a:t>
            </a:r>
            <a:r>
              <a:rPr sz="1450" spc="13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r>
              <a:rPr sz="145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Load2</a:t>
            </a:r>
            <a:endParaRPr sz="145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  <a:spcBef>
                <a:spcPts val="210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5254" y="5714859"/>
            <a:ext cx="255333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707049" y="6079437"/>
          <a:ext cx="9057003" cy="531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7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9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spc="130" dirty="0">
                          <a:latin typeface="Times New Roman"/>
                          <a:cs typeface="Times New Roman"/>
                        </a:rPr>
                        <a:t>Clock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F4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F8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2125"/>
                        </a:lnSpc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2125"/>
                        </a:lnSpc>
                        <a:tabLst>
                          <a:tab pos="1065530" algn="l"/>
                          <a:tab pos="1548130" algn="l"/>
                        </a:tabLst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F12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65" dirty="0">
                          <a:latin typeface="Times New Roman"/>
                          <a:cs typeface="Times New Roman"/>
                        </a:rPr>
                        <a:t>...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F30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5125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b="1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750570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i="1" spc="140" dirty="0">
                          <a:latin typeface="Times New Roman"/>
                          <a:cs typeface="Times New Roman"/>
                        </a:rPr>
                        <a:t>FU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9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05" dirty="0">
                          <a:latin typeface="Times New Roman"/>
                          <a:cs typeface="Times New Roman"/>
                        </a:rPr>
                        <a:t>M(A1)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Add1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6" name="object 26"/>
          <p:cNvGrpSpPr/>
          <p:nvPr/>
        </p:nvGrpSpPr>
        <p:grpSpPr>
          <a:xfrm>
            <a:off x="3353255" y="2281707"/>
            <a:ext cx="2174240" cy="1465580"/>
            <a:chOff x="3353255" y="2281707"/>
            <a:chExt cx="2174240" cy="1465580"/>
          </a:xfrm>
        </p:grpSpPr>
        <p:sp>
          <p:nvSpPr>
            <p:cNvPr id="27" name="object 27"/>
            <p:cNvSpPr/>
            <p:nvPr/>
          </p:nvSpPr>
          <p:spPr>
            <a:xfrm>
              <a:off x="3371798" y="2292664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71798" y="2294598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71798" y="2292664"/>
              <a:ext cx="0" cy="1454785"/>
            </a:xfrm>
            <a:custGeom>
              <a:avLst/>
              <a:gdLst/>
              <a:ahLst/>
              <a:cxnLst/>
              <a:rect l="l" t="t" r="r" b="b"/>
              <a:pathLst>
                <a:path h="1454785">
                  <a:moveTo>
                    <a:pt x="0" y="0"/>
                  </a:moveTo>
                  <a:lnTo>
                    <a:pt x="0" y="1454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55573" y="2292664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53244" y="2292667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06473" y="2292664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04155" y="2292667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1798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64947" y="2312504"/>
              <a:ext cx="575310" cy="246379"/>
            </a:xfrm>
            <a:custGeom>
              <a:avLst/>
              <a:gdLst/>
              <a:ahLst/>
              <a:cxnLst/>
              <a:rect l="l" t="t" r="r" b="b"/>
              <a:pathLst>
                <a:path w="575310" h="246380">
                  <a:moveTo>
                    <a:pt x="0" y="41063"/>
                  </a:moveTo>
                  <a:lnTo>
                    <a:pt x="3226" y="25079"/>
                  </a:lnTo>
                  <a:lnTo>
                    <a:pt x="12027" y="12027"/>
                  </a:lnTo>
                  <a:lnTo>
                    <a:pt x="25079" y="3227"/>
                  </a:lnTo>
                  <a:lnTo>
                    <a:pt x="41063" y="0"/>
                  </a:lnTo>
                  <a:lnTo>
                    <a:pt x="533822" y="0"/>
                  </a:lnTo>
                  <a:lnTo>
                    <a:pt x="549806" y="3227"/>
                  </a:lnTo>
                  <a:lnTo>
                    <a:pt x="562859" y="12027"/>
                  </a:lnTo>
                  <a:lnTo>
                    <a:pt x="571659" y="25079"/>
                  </a:lnTo>
                  <a:lnTo>
                    <a:pt x="574886" y="41063"/>
                  </a:lnTo>
                  <a:lnTo>
                    <a:pt x="574886" y="205316"/>
                  </a:lnTo>
                  <a:lnTo>
                    <a:pt x="571659" y="221300"/>
                  </a:lnTo>
                  <a:lnTo>
                    <a:pt x="562859" y="234352"/>
                  </a:lnTo>
                  <a:lnTo>
                    <a:pt x="549806" y="243152"/>
                  </a:lnTo>
                  <a:lnTo>
                    <a:pt x="533822" y="246379"/>
                  </a:lnTo>
                  <a:lnTo>
                    <a:pt x="41063" y="246379"/>
                  </a:lnTo>
                  <a:lnTo>
                    <a:pt x="25079" y="243152"/>
                  </a:lnTo>
                  <a:lnTo>
                    <a:pt x="12027" y="234352"/>
                  </a:lnTo>
                  <a:lnTo>
                    <a:pt x="3226" y="221300"/>
                  </a:lnTo>
                  <a:lnTo>
                    <a:pt x="0" y="205316"/>
                  </a:lnTo>
                  <a:lnTo>
                    <a:pt x="0" y="41063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39823" y="3011782"/>
              <a:ext cx="575310" cy="246379"/>
            </a:xfrm>
            <a:custGeom>
              <a:avLst/>
              <a:gdLst/>
              <a:ahLst/>
              <a:cxnLst/>
              <a:rect l="l" t="t" r="r" b="b"/>
              <a:pathLst>
                <a:path w="575310" h="246379">
                  <a:moveTo>
                    <a:pt x="0" y="41063"/>
                  </a:moveTo>
                  <a:lnTo>
                    <a:pt x="3226" y="25079"/>
                  </a:lnTo>
                  <a:lnTo>
                    <a:pt x="12027" y="12027"/>
                  </a:lnTo>
                  <a:lnTo>
                    <a:pt x="25079" y="3227"/>
                  </a:lnTo>
                  <a:lnTo>
                    <a:pt x="41063" y="0"/>
                  </a:lnTo>
                  <a:lnTo>
                    <a:pt x="533822" y="0"/>
                  </a:lnTo>
                  <a:lnTo>
                    <a:pt x="549806" y="3227"/>
                  </a:lnTo>
                  <a:lnTo>
                    <a:pt x="562859" y="12027"/>
                  </a:lnTo>
                  <a:lnTo>
                    <a:pt x="571659" y="25079"/>
                  </a:lnTo>
                  <a:lnTo>
                    <a:pt x="574886" y="41063"/>
                  </a:lnTo>
                  <a:lnTo>
                    <a:pt x="574886" y="205316"/>
                  </a:lnTo>
                  <a:lnTo>
                    <a:pt x="571659" y="221300"/>
                  </a:lnTo>
                  <a:lnTo>
                    <a:pt x="562859" y="234352"/>
                  </a:lnTo>
                  <a:lnTo>
                    <a:pt x="549806" y="243152"/>
                  </a:lnTo>
                  <a:lnTo>
                    <a:pt x="533822" y="246379"/>
                  </a:lnTo>
                  <a:lnTo>
                    <a:pt x="41063" y="246379"/>
                  </a:lnTo>
                  <a:lnTo>
                    <a:pt x="25079" y="243152"/>
                  </a:lnTo>
                  <a:lnTo>
                    <a:pt x="12027" y="234352"/>
                  </a:lnTo>
                  <a:lnTo>
                    <a:pt x="3226" y="221300"/>
                  </a:lnTo>
                  <a:lnTo>
                    <a:pt x="0" y="205316"/>
                  </a:lnTo>
                  <a:lnTo>
                    <a:pt x="0" y="41063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194643" y="2545598"/>
              <a:ext cx="575310" cy="246379"/>
            </a:xfrm>
            <a:custGeom>
              <a:avLst/>
              <a:gdLst/>
              <a:ahLst/>
              <a:cxnLst/>
              <a:rect l="l" t="t" r="r" b="b"/>
              <a:pathLst>
                <a:path w="575310" h="246380">
                  <a:moveTo>
                    <a:pt x="0" y="41063"/>
                  </a:moveTo>
                  <a:lnTo>
                    <a:pt x="3226" y="25079"/>
                  </a:lnTo>
                  <a:lnTo>
                    <a:pt x="12027" y="12027"/>
                  </a:lnTo>
                  <a:lnTo>
                    <a:pt x="25079" y="3227"/>
                  </a:lnTo>
                  <a:lnTo>
                    <a:pt x="41063" y="0"/>
                  </a:lnTo>
                  <a:lnTo>
                    <a:pt x="533822" y="0"/>
                  </a:lnTo>
                  <a:lnTo>
                    <a:pt x="549806" y="3227"/>
                  </a:lnTo>
                  <a:lnTo>
                    <a:pt x="562859" y="12027"/>
                  </a:lnTo>
                  <a:lnTo>
                    <a:pt x="571659" y="25079"/>
                  </a:lnTo>
                  <a:lnTo>
                    <a:pt x="574886" y="41063"/>
                  </a:lnTo>
                  <a:lnTo>
                    <a:pt x="574886" y="205316"/>
                  </a:lnTo>
                  <a:lnTo>
                    <a:pt x="571659" y="221300"/>
                  </a:lnTo>
                  <a:lnTo>
                    <a:pt x="562859" y="234352"/>
                  </a:lnTo>
                  <a:lnTo>
                    <a:pt x="549806" y="243152"/>
                  </a:lnTo>
                  <a:lnTo>
                    <a:pt x="533822" y="246379"/>
                  </a:lnTo>
                  <a:lnTo>
                    <a:pt x="41063" y="246379"/>
                  </a:lnTo>
                  <a:lnTo>
                    <a:pt x="25079" y="243152"/>
                  </a:lnTo>
                  <a:lnTo>
                    <a:pt x="12027" y="234352"/>
                  </a:lnTo>
                  <a:lnTo>
                    <a:pt x="3226" y="221300"/>
                  </a:lnTo>
                  <a:lnTo>
                    <a:pt x="0" y="205316"/>
                  </a:lnTo>
                  <a:lnTo>
                    <a:pt x="0" y="41063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6894823" y="2292664"/>
            <a:ext cx="1669414" cy="731520"/>
            <a:chOff x="6894823" y="2292664"/>
            <a:chExt cx="1669414" cy="731520"/>
          </a:xfrm>
        </p:grpSpPr>
        <p:sp>
          <p:nvSpPr>
            <p:cNvPr id="39" name="object 39"/>
            <p:cNvSpPr/>
            <p:nvPr/>
          </p:nvSpPr>
          <p:spPr>
            <a:xfrm>
              <a:off x="6913366" y="2292664"/>
              <a:ext cx="0" cy="727710"/>
            </a:xfrm>
            <a:custGeom>
              <a:avLst/>
              <a:gdLst/>
              <a:ahLst/>
              <a:cxnLst/>
              <a:rect l="l" t="t" r="r" b="b"/>
              <a:pathLst>
                <a:path h="727710">
                  <a:moveTo>
                    <a:pt x="0" y="0"/>
                  </a:moveTo>
                  <a:lnTo>
                    <a:pt x="0" y="727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97141" y="2292664"/>
              <a:ext cx="0" cy="731520"/>
            </a:xfrm>
            <a:custGeom>
              <a:avLst/>
              <a:gdLst/>
              <a:ahLst/>
              <a:cxnLst/>
              <a:rect l="l" t="t" r="r" b="b"/>
              <a:pathLst>
                <a:path h="731519">
                  <a:moveTo>
                    <a:pt x="0" y="0"/>
                  </a:moveTo>
                  <a:lnTo>
                    <a:pt x="0" y="73107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94817" y="2292667"/>
              <a:ext cx="19050" cy="727710"/>
            </a:xfrm>
            <a:custGeom>
              <a:avLst/>
              <a:gdLst/>
              <a:ahLst/>
              <a:cxnLst/>
              <a:rect l="l" t="t" r="r" b="b"/>
              <a:pathLst>
                <a:path w="19050" h="727710">
                  <a:moveTo>
                    <a:pt x="18542" y="0"/>
                  </a:moveTo>
                  <a:lnTo>
                    <a:pt x="0" y="0"/>
                  </a:lnTo>
                  <a:lnTo>
                    <a:pt x="0" y="727214"/>
                  </a:lnTo>
                  <a:lnTo>
                    <a:pt x="18542" y="727214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547400" y="2292664"/>
              <a:ext cx="0" cy="731520"/>
            </a:xfrm>
            <a:custGeom>
              <a:avLst/>
              <a:gdLst/>
              <a:ahLst/>
              <a:cxnLst/>
              <a:rect l="l" t="t" r="r" b="b"/>
              <a:pathLst>
                <a:path h="731519">
                  <a:moveTo>
                    <a:pt x="0" y="0"/>
                  </a:moveTo>
                  <a:lnTo>
                    <a:pt x="0" y="73107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913366" y="2292664"/>
              <a:ext cx="1650364" cy="0"/>
            </a:xfrm>
            <a:custGeom>
              <a:avLst/>
              <a:gdLst/>
              <a:ahLst/>
              <a:cxnLst/>
              <a:rect l="l" t="t" r="r" b="b"/>
              <a:pathLst>
                <a:path w="1650365">
                  <a:moveTo>
                    <a:pt x="1650259" y="0"/>
                  </a:moveTo>
                  <a:lnTo>
                    <a:pt x="0" y="0"/>
                  </a:lnTo>
                  <a:lnTo>
                    <a:pt x="1650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13365" y="2294598"/>
              <a:ext cx="1636395" cy="0"/>
            </a:xfrm>
            <a:custGeom>
              <a:avLst/>
              <a:gdLst/>
              <a:ahLst/>
              <a:cxnLst/>
              <a:rect l="l" t="t" r="r" b="b"/>
              <a:pathLst>
                <a:path w="1636395">
                  <a:moveTo>
                    <a:pt x="0" y="0"/>
                  </a:moveTo>
                  <a:lnTo>
                    <a:pt x="1636352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913366" y="3019872"/>
              <a:ext cx="1650364" cy="0"/>
            </a:xfrm>
            <a:custGeom>
              <a:avLst/>
              <a:gdLst/>
              <a:ahLst/>
              <a:cxnLst/>
              <a:rect l="l" t="t" r="r" b="b"/>
              <a:pathLst>
                <a:path w="1650365">
                  <a:moveTo>
                    <a:pt x="1650259" y="0"/>
                  </a:moveTo>
                  <a:lnTo>
                    <a:pt x="0" y="0"/>
                  </a:lnTo>
                  <a:lnTo>
                    <a:pt x="1650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13365" y="3006333"/>
              <a:ext cx="1636395" cy="0"/>
            </a:xfrm>
            <a:custGeom>
              <a:avLst/>
              <a:gdLst/>
              <a:ahLst/>
              <a:cxnLst/>
              <a:rect l="l" t="t" r="r" b="b"/>
              <a:pathLst>
                <a:path w="1636395">
                  <a:moveTo>
                    <a:pt x="0" y="0"/>
                  </a:moveTo>
                  <a:lnTo>
                    <a:pt x="1636352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13366" y="3004399"/>
              <a:ext cx="1631950" cy="15875"/>
            </a:xfrm>
            <a:custGeom>
              <a:avLst/>
              <a:gdLst/>
              <a:ahLst/>
              <a:cxnLst/>
              <a:rect l="l" t="t" r="r" b="b"/>
              <a:pathLst>
                <a:path w="1631950" h="15875">
                  <a:moveTo>
                    <a:pt x="1631717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1631717" y="15472"/>
                  </a:lnTo>
                  <a:lnTo>
                    <a:pt x="1631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2780982" y="4390424"/>
            <a:ext cx="4168140" cy="1248410"/>
            <a:chOff x="2780982" y="4390424"/>
            <a:chExt cx="4168140" cy="1248410"/>
          </a:xfrm>
        </p:grpSpPr>
        <p:sp>
          <p:nvSpPr>
            <p:cNvPr id="49" name="object 49"/>
            <p:cNvSpPr/>
            <p:nvPr/>
          </p:nvSpPr>
          <p:spPr>
            <a:xfrm>
              <a:off x="6913367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815530" y="5619252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811780" y="4421221"/>
              <a:ext cx="4106545" cy="315595"/>
            </a:xfrm>
            <a:custGeom>
              <a:avLst/>
              <a:gdLst/>
              <a:ahLst/>
              <a:cxnLst/>
              <a:rect l="l" t="t" r="r" b="b"/>
              <a:pathLst>
                <a:path w="4106545" h="315595">
                  <a:moveTo>
                    <a:pt x="0" y="52537"/>
                  </a:moveTo>
                  <a:lnTo>
                    <a:pt x="4128" y="32087"/>
                  </a:lnTo>
                  <a:lnTo>
                    <a:pt x="15387" y="15387"/>
                  </a:lnTo>
                  <a:lnTo>
                    <a:pt x="32087" y="4128"/>
                  </a:lnTo>
                  <a:lnTo>
                    <a:pt x="52537" y="0"/>
                  </a:lnTo>
                  <a:lnTo>
                    <a:pt x="4053795" y="0"/>
                  </a:lnTo>
                  <a:lnTo>
                    <a:pt x="4074245" y="4128"/>
                  </a:lnTo>
                  <a:lnTo>
                    <a:pt x="4090945" y="15387"/>
                  </a:lnTo>
                  <a:lnTo>
                    <a:pt x="4102204" y="32087"/>
                  </a:lnTo>
                  <a:lnTo>
                    <a:pt x="4106333" y="52537"/>
                  </a:lnTo>
                  <a:lnTo>
                    <a:pt x="4106333" y="262682"/>
                  </a:lnTo>
                  <a:lnTo>
                    <a:pt x="4102204" y="283132"/>
                  </a:lnTo>
                  <a:lnTo>
                    <a:pt x="4090945" y="299831"/>
                  </a:lnTo>
                  <a:lnTo>
                    <a:pt x="4074245" y="311091"/>
                  </a:lnTo>
                  <a:lnTo>
                    <a:pt x="4053795" y="315219"/>
                  </a:lnTo>
                  <a:lnTo>
                    <a:pt x="52537" y="315219"/>
                  </a:lnTo>
                  <a:lnTo>
                    <a:pt x="32087" y="311091"/>
                  </a:lnTo>
                  <a:lnTo>
                    <a:pt x="15387" y="299831"/>
                  </a:lnTo>
                  <a:lnTo>
                    <a:pt x="4128" y="283132"/>
                  </a:lnTo>
                  <a:lnTo>
                    <a:pt x="0" y="262682"/>
                  </a:lnTo>
                  <a:lnTo>
                    <a:pt x="0" y="52537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14931" y="6757416"/>
            <a:ext cx="745870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0040" algn="l"/>
              </a:tabLst>
            </a:pP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Load2</a:t>
            </a:r>
            <a:r>
              <a:rPr sz="26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completing;</a:t>
            </a:r>
            <a:r>
              <a:rPr sz="26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what</a:t>
            </a:r>
            <a:r>
              <a:rPr sz="26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is</a:t>
            </a:r>
            <a:r>
              <a:rPr sz="26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waiting</a:t>
            </a:r>
            <a:r>
              <a:rPr sz="2600" b="1" spc="-114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for</a:t>
            </a:r>
            <a:r>
              <a:rPr sz="26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0332B7"/>
                </a:solidFill>
                <a:latin typeface="Arial"/>
                <a:cs typeface="Arial"/>
              </a:rPr>
              <a:t>Load2?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46492" y="2294636"/>
            <a:ext cx="131445" cy="5073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spc="-50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508670" y="6350000"/>
            <a:ext cx="1327785" cy="288925"/>
          </a:xfrm>
          <a:custGeom>
            <a:avLst/>
            <a:gdLst/>
            <a:ahLst/>
            <a:cxnLst/>
            <a:rect l="l" t="t" r="r" b="b"/>
            <a:pathLst>
              <a:path w="1327784" h="288925">
                <a:moveTo>
                  <a:pt x="0" y="48108"/>
                </a:moveTo>
                <a:lnTo>
                  <a:pt x="3780" y="29382"/>
                </a:lnTo>
                <a:lnTo>
                  <a:pt x="14090" y="14090"/>
                </a:lnTo>
                <a:lnTo>
                  <a:pt x="29382" y="3780"/>
                </a:lnTo>
                <a:lnTo>
                  <a:pt x="48107" y="0"/>
                </a:lnTo>
                <a:lnTo>
                  <a:pt x="1279207" y="0"/>
                </a:lnTo>
                <a:lnTo>
                  <a:pt x="1297933" y="3780"/>
                </a:lnTo>
                <a:lnTo>
                  <a:pt x="1313225" y="14090"/>
                </a:lnTo>
                <a:lnTo>
                  <a:pt x="1323535" y="29382"/>
                </a:lnTo>
                <a:lnTo>
                  <a:pt x="1327315" y="48108"/>
                </a:lnTo>
                <a:lnTo>
                  <a:pt x="1327315" y="240534"/>
                </a:lnTo>
                <a:lnTo>
                  <a:pt x="1323535" y="259260"/>
                </a:lnTo>
                <a:lnTo>
                  <a:pt x="1313225" y="274552"/>
                </a:lnTo>
                <a:lnTo>
                  <a:pt x="1297933" y="284862"/>
                </a:lnTo>
                <a:lnTo>
                  <a:pt x="1279207" y="288642"/>
                </a:lnTo>
                <a:lnTo>
                  <a:pt x="48107" y="288642"/>
                </a:lnTo>
                <a:lnTo>
                  <a:pt x="29382" y="284862"/>
                </a:lnTo>
                <a:lnTo>
                  <a:pt x="14090" y="274552"/>
                </a:lnTo>
                <a:lnTo>
                  <a:pt x="3780" y="259260"/>
                </a:lnTo>
                <a:lnTo>
                  <a:pt x="0" y="240534"/>
                </a:lnTo>
                <a:lnTo>
                  <a:pt x="0" y="48108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50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254" y="1692009"/>
            <a:ext cx="21272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Instruction</a:t>
            </a: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1809" y="1701293"/>
            <a:ext cx="2039620" cy="582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704215">
              <a:lnSpc>
                <a:spcPct val="117900"/>
              </a:lnSpc>
              <a:spcBef>
                <a:spcPts val="90"/>
              </a:spcBef>
              <a:tabLst>
                <a:tab pos="716915" algn="l"/>
                <a:tab pos="140271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Exec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130" dirty="0">
                <a:latin typeface="Times New Roman"/>
                <a:cs typeface="Times New Roman"/>
              </a:rPr>
              <a:t>Write Issue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50" dirty="0">
                <a:latin typeface="Times New Roman"/>
                <a:cs typeface="Times New Roman"/>
              </a:rPr>
              <a:t>Comp</a:t>
            </a:r>
            <a:r>
              <a:rPr sz="1550" i="1" spc="270" dirty="0">
                <a:latin typeface="Times New Roman"/>
                <a:cs typeface="Times New Roman"/>
              </a:rPr>
              <a:t> </a:t>
            </a:r>
            <a:r>
              <a:rPr sz="1550" i="1" spc="160" dirty="0">
                <a:latin typeface="Times New Roman"/>
                <a:cs typeface="Times New Roman"/>
              </a:rPr>
              <a:t>Result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57" y="2023120"/>
            <a:ext cx="2529205" cy="17119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109855" algn="r">
              <a:lnSpc>
                <a:spcPct val="100000"/>
              </a:lnSpc>
              <a:spcBef>
                <a:spcPts val="305"/>
              </a:spcBef>
              <a:tabLst>
                <a:tab pos="593090" algn="l"/>
              </a:tabLst>
            </a:pPr>
            <a:r>
              <a:rPr sz="1450" i="1" spc="30" dirty="0">
                <a:latin typeface="Times New Roman"/>
                <a:cs typeface="Times New Roman"/>
              </a:rPr>
              <a:t>j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80" dirty="0">
                <a:latin typeface="Times New Roman"/>
                <a:cs typeface="Times New Roman"/>
              </a:rPr>
              <a:t>k</a:t>
            </a:r>
            <a:endParaRPr sz="145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10"/>
              </a:spcBef>
              <a:tabLst>
                <a:tab pos="1031875" algn="l"/>
              </a:tabLst>
            </a:pPr>
            <a:r>
              <a:rPr sz="1450" spc="140" dirty="0">
                <a:latin typeface="Times New Roman"/>
                <a:cs typeface="Times New Roman"/>
              </a:rPr>
              <a:t>LD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F6</a:t>
            </a:r>
            <a:r>
              <a:rPr sz="1450" spc="295" dirty="0">
                <a:latin typeface="Times New Roman"/>
                <a:cs typeface="Times New Roman"/>
              </a:rPr>
              <a:t>    </a:t>
            </a:r>
            <a:r>
              <a:rPr sz="1450" spc="150" dirty="0">
                <a:latin typeface="Times New Roman"/>
                <a:cs typeface="Times New Roman"/>
              </a:rPr>
              <a:t>34+</a:t>
            </a:r>
            <a:r>
              <a:rPr sz="1450" spc="480" dirty="0">
                <a:latin typeface="Times New Roman"/>
                <a:cs typeface="Times New Roman"/>
              </a:rPr>
              <a:t>   </a:t>
            </a:r>
            <a:r>
              <a:rPr sz="1450" spc="145" dirty="0">
                <a:latin typeface="Times New Roman"/>
                <a:cs typeface="Times New Roman"/>
              </a:rPr>
              <a:t>R2</a:t>
            </a:r>
            <a:endParaRPr sz="145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85"/>
              </a:spcBef>
              <a:tabLst>
                <a:tab pos="1031875" algn="l"/>
              </a:tabLst>
            </a:pPr>
            <a:r>
              <a:rPr sz="1450" spc="140" dirty="0">
                <a:solidFill>
                  <a:srgbClr val="FF0000"/>
                </a:solidFill>
                <a:latin typeface="Times New Roman"/>
                <a:cs typeface="Times New Roman"/>
              </a:rPr>
              <a:t>LD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F2</a:t>
            </a:r>
            <a:r>
              <a:rPr sz="1450" spc="295" dirty="0">
                <a:solidFill>
                  <a:srgbClr val="FF0000"/>
                </a:solidFill>
                <a:latin typeface="Times New Roman"/>
                <a:cs typeface="Times New Roman"/>
              </a:rPr>
              <a:t>    </a:t>
            </a:r>
            <a:r>
              <a:rPr sz="1450" spc="150" dirty="0">
                <a:solidFill>
                  <a:srgbClr val="FF0000"/>
                </a:solidFill>
                <a:latin typeface="Times New Roman"/>
                <a:cs typeface="Times New Roman"/>
              </a:rPr>
              <a:t>45+</a:t>
            </a:r>
            <a:r>
              <a:rPr sz="1450" spc="480" dirty="0">
                <a:solidFill>
                  <a:srgbClr val="FF0000"/>
                </a:solidFill>
                <a:latin typeface="Times New Roman"/>
                <a:cs typeface="Times New Roman"/>
              </a:rPr>
              <a:t>   </a:t>
            </a:r>
            <a:r>
              <a:rPr sz="1450" spc="145" dirty="0">
                <a:solidFill>
                  <a:srgbClr val="FF0000"/>
                </a:solidFill>
                <a:latin typeface="Times New Roman"/>
                <a:cs typeface="Times New Roman"/>
              </a:rPr>
              <a:t>R3</a:t>
            </a:r>
            <a:endParaRPr sz="1450" dirty="0">
              <a:latin typeface="Times New Roman"/>
              <a:cs typeface="Times New Roman"/>
            </a:endParaRPr>
          </a:p>
          <a:p>
            <a:pPr marL="12700" marR="41910" algn="just">
              <a:lnSpc>
                <a:spcPct val="107400"/>
              </a:lnSpc>
              <a:spcBef>
                <a:spcPts val="85"/>
              </a:spcBef>
            </a:pPr>
            <a:r>
              <a:rPr sz="1450" spc="145" dirty="0">
                <a:solidFill>
                  <a:srgbClr val="0000FF"/>
                </a:solidFill>
                <a:latin typeface="Times New Roman"/>
                <a:cs typeface="Times New Roman"/>
              </a:rPr>
              <a:t>MULTD</a:t>
            </a:r>
            <a:r>
              <a:rPr sz="1450" spc="335" dirty="0">
                <a:solidFill>
                  <a:srgbClr val="0000FF"/>
                </a:solidFill>
                <a:latin typeface="Times New Roman"/>
                <a:cs typeface="Times New Roman"/>
              </a:rPr>
              <a:t>   </a:t>
            </a: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F0</a:t>
            </a:r>
            <a:r>
              <a:rPr sz="1450" spc="440" dirty="0">
                <a:solidFill>
                  <a:srgbClr val="0000FF"/>
                </a:solidFill>
                <a:latin typeface="Times New Roman"/>
                <a:cs typeface="Times New Roman"/>
              </a:rPr>
              <a:t>    </a:t>
            </a: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F2</a:t>
            </a:r>
            <a:r>
              <a:rPr sz="1450" spc="370" dirty="0">
                <a:solidFill>
                  <a:srgbClr val="0000FF"/>
                </a:solidFill>
                <a:latin typeface="Times New Roman"/>
                <a:cs typeface="Times New Roman"/>
              </a:rPr>
              <a:t>    </a:t>
            </a:r>
            <a:r>
              <a:rPr sz="1450" spc="70" dirty="0">
                <a:solidFill>
                  <a:srgbClr val="0000FF"/>
                </a:solidFill>
                <a:latin typeface="Times New Roman"/>
                <a:cs typeface="Times New Roman"/>
              </a:rPr>
              <a:t>F4 </a:t>
            </a:r>
            <a:r>
              <a:rPr sz="1450" spc="140" dirty="0">
                <a:solidFill>
                  <a:srgbClr val="FF00FF"/>
                </a:solidFill>
                <a:latin typeface="Times New Roman"/>
                <a:cs typeface="Times New Roman"/>
              </a:rPr>
              <a:t>SUBD</a:t>
            </a:r>
            <a:r>
              <a:rPr sz="1450" spc="345" dirty="0">
                <a:solidFill>
                  <a:srgbClr val="FF00FF"/>
                </a:solidFill>
                <a:latin typeface="Times New Roman"/>
                <a:cs typeface="Times New Roman"/>
              </a:rPr>
              <a:t>     </a:t>
            </a:r>
            <a:r>
              <a:rPr sz="1450" spc="95" dirty="0">
                <a:solidFill>
                  <a:srgbClr val="FF00FF"/>
                </a:solidFill>
                <a:latin typeface="Times New Roman"/>
                <a:cs typeface="Times New Roman"/>
              </a:rPr>
              <a:t>F8</a:t>
            </a:r>
            <a:r>
              <a:rPr sz="1450" spc="445" dirty="0">
                <a:solidFill>
                  <a:srgbClr val="FF00FF"/>
                </a:solidFill>
                <a:latin typeface="Times New Roman"/>
                <a:cs typeface="Times New Roman"/>
              </a:rPr>
              <a:t>    </a:t>
            </a:r>
            <a:r>
              <a:rPr sz="1450" spc="95" dirty="0">
                <a:solidFill>
                  <a:srgbClr val="FF00FF"/>
                </a:solidFill>
                <a:latin typeface="Times New Roman"/>
                <a:cs typeface="Times New Roman"/>
              </a:rPr>
              <a:t>F6</a:t>
            </a:r>
            <a:r>
              <a:rPr sz="1450" spc="370" dirty="0">
                <a:solidFill>
                  <a:srgbClr val="FF00FF"/>
                </a:solidFill>
                <a:latin typeface="Times New Roman"/>
                <a:cs typeface="Times New Roman"/>
              </a:rPr>
              <a:t>    </a:t>
            </a:r>
            <a:r>
              <a:rPr sz="1450" spc="70" dirty="0">
                <a:solidFill>
                  <a:srgbClr val="FF00FF"/>
                </a:solidFill>
                <a:latin typeface="Times New Roman"/>
                <a:cs typeface="Times New Roman"/>
              </a:rPr>
              <a:t>F2 </a:t>
            </a:r>
            <a:r>
              <a:rPr sz="1450" spc="13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spc="490" dirty="0">
                <a:solidFill>
                  <a:srgbClr val="1FB714"/>
                </a:solidFill>
                <a:latin typeface="Times New Roman"/>
                <a:cs typeface="Times New Roman"/>
              </a:rPr>
              <a:t>    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F10</a:t>
            </a:r>
            <a:r>
              <a:rPr sz="1450" spc="330" dirty="0">
                <a:solidFill>
                  <a:srgbClr val="1FB714"/>
                </a:solidFill>
                <a:latin typeface="Times New Roman"/>
                <a:cs typeface="Times New Roman"/>
              </a:rPr>
              <a:t>    </a:t>
            </a:r>
            <a:r>
              <a:rPr sz="1450" spc="95" dirty="0">
                <a:solidFill>
                  <a:srgbClr val="1FB714"/>
                </a:solidFill>
                <a:latin typeface="Times New Roman"/>
                <a:cs typeface="Times New Roman"/>
              </a:rPr>
              <a:t>F0</a:t>
            </a:r>
            <a:r>
              <a:rPr sz="1450" spc="370" dirty="0">
                <a:solidFill>
                  <a:srgbClr val="1FB714"/>
                </a:solidFill>
                <a:latin typeface="Times New Roman"/>
                <a:cs typeface="Times New Roman"/>
              </a:rPr>
              <a:t>    </a:t>
            </a:r>
            <a:r>
              <a:rPr sz="1450" spc="70" dirty="0">
                <a:solidFill>
                  <a:srgbClr val="1FB714"/>
                </a:solidFill>
                <a:latin typeface="Times New Roman"/>
                <a:cs typeface="Times New Roman"/>
              </a:rPr>
              <a:t>F6 </a:t>
            </a:r>
            <a:r>
              <a:rPr sz="1450" spc="135" dirty="0">
                <a:latin typeface="Times New Roman"/>
                <a:cs typeface="Times New Roman"/>
              </a:rPr>
              <a:t>ADDD</a:t>
            </a:r>
            <a:r>
              <a:rPr sz="1450" spc="450" dirty="0">
                <a:latin typeface="Times New Roman"/>
                <a:cs typeface="Times New Roman"/>
              </a:rPr>
              <a:t>    </a:t>
            </a:r>
            <a:r>
              <a:rPr sz="1450" spc="95" dirty="0">
                <a:latin typeface="Times New Roman"/>
                <a:cs typeface="Times New Roman"/>
              </a:rPr>
              <a:t>F6</a:t>
            </a:r>
            <a:r>
              <a:rPr sz="1450" spc="440" dirty="0">
                <a:latin typeface="Times New Roman"/>
                <a:cs typeface="Times New Roman"/>
              </a:rPr>
              <a:t>    </a:t>
            </a:r>
            <a:r>
              <a:rPr sz="1450" spc="95" dirty="0">
                <a:latin typeface="Times New Roman"/>
                <a:cs typeface="Times New Roman"/>
              </a:rPr>
              <a:t>F8</a:t>
            </a:r>
            <a:r>
              <a:rPr sz="1450" spc="370" dirty="0">
                <a:latin typeface="Times New Roman"/>
                <a:cs typeface="Times New Roman"/>
              </a:rPr>
              <a:t>    </a:t>
            </a:r>
            <a:r>
              <a:rPr sz="1450" spc="70" dirty="0">
                <a:latin typeface="Times New Roman"/>
                <a:cs typeface="Times New Roman"/>
              </a:rPr>
              <a:t>F2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809" y="2043047"/>
            <a:ext cx="13398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50" b="1" baseline="-5555" dirty="0">
                <a:latin typeface="Arial"/>
                <a:cs typeface="Arial"/>
              </a:rPr>
              <a:t>EX</a:t>
            </a:r>
            <a:r>
              <a:rPr sz="2250" b="1" spc="322" baseline="-5555" dirty="0">
                <a:latin typeface="Arial"/>
                <a:cs typeface="Arial"/>
              </a:rPr>
              <a:t> </a:t>
            </a:r>
            <a:r>
              <a:rPr sz="1450" spc="75" dirty="0">
                <a:latin typeface="Times New Roman"/>
                <a:cs typeface="Times New Roman"/>
              </a:rPr>
              <a:t>Instruction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7750" y="2016932"/>
            <a:ext cx="53594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80" dirty="0">
                <a:latin typeface="Times New Roman"/>
                <a:cs typeface="Times New Roman"/>
              </a:rPr>
              <a:t>Busy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23813" y="2016932"/>
            <a:ext cx="82423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5" dirty="0">
                <a:latin typeface="Times New Roman"/>
                <a:cs typeface="Times New Roman"/>
              </a:rPr>
              <a:t>Address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7463" y="2295437"/>
            <a:ext cx="137160" cy="4806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2068" y="2295437"/>
            <a:ext cx="137160" cy="4806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4316" y="2295437"/>
            <a:ext cx="137160" cy="1207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450" spc="9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450" spc="9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3145" y="2295437"/>
            <a:ext cx="1156970" cy="728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9042" y="4183081"/>
            <a:ext cx="112585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05790" algn="l"/>
              </a:tabLst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125" dirty="0">
                <a:latin typeface="Times New Roman"/>
                <a:cs typeface="Times New Roman"/>
              </a:rPr>
              <a:t>Name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6971" y="4430641"/>
            <a:ext cx="693420" cy="48069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98120" marR="5080" indent="-185420">
              <a:lnSpc>
                <a:spcPct val="105000"/>
              </a:lnSpc>
              <a:spcBef>
                <a:spcPts val="25"/>
              </a:spcBef>
            </a:pPr>
            <a:r>
              <a:rPr sz="1450" spc="145" dirty="0">
                <a:latin typeface="Times New Roman"/>
                <a:cs typeface="Times New Roman"/>
              </a:rPr>
              <a:t>2</a:t>
            </a:r>
            <a:r>
              <a:rPr sz="1450" spc="21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Add1 Add2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95541" y="4430641"/>
            <a:ext cx="2566035" cy="728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  <a:tab pos="127317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20" dirty="0">
                <a:solidFill>
                  <a:srgbClr val="FF00FF"/>
                </a:solidFill>
                <a:latin typeface="Times New Roman"/>
                <a:cs typeface="Times New Roman"/>
              </a:rPr>
              <a:t>SUBD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114" dirty="0">
                <a:latin typeface="Times New Roman"/>
                <a:cs typeface="Times New Roman"/>
              </a:rPr>
              <a:t>M(A1)</a:t>
            </a:r>
            <a:r>
              <a:rPr sz="1450" spc="385" dirty="0">
                <a:latin typeface="Times New Roman"/>
                <a:cs typeface="Times New Roman"/>
              </a:rPr>
              <a:t> </a:t>
            </a: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endParaRPr sz="14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90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204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72394" y="4910289"/>
            <a:ext cx="50800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14" dirty="0">
                <a:latin typeface="Times New Roman"/>
                <a:cs typeface="Times New Roman"/>
              </a:rPr>
              <a:t>Add3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95541" y="5117620"/>
            <a:ext cx="1879600" cy="4932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  <a:tabLst>
                <a:tab pos="587375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</a:t>
            </a:r>
            <a:r>
              <a:rPr sz="1450" spc="105" dirty="0">
                <a:latin typeface="Times New Roman"/>
                <a:cs typeface="Times New Roman"/>
              </a:rPr>
              <a:t>  </a:t>
            </a:r>
            <a:r>
              <a:rPr sz="1450" spc="14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spc="1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 </a:t>
            </a: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42477" y="5117620"/>
            <a:ext cx="619125" cy="5207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305"/>
              </a:spcBef>
            </a:pPr>
            <a:r>
              <a:rPr sz="1450" spc="10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450" spc="105" dirty="0">
                <a:latin typeface="Times New Roman"/>
                <a:cs typeface="Times New Roman"/>
              </a:rPr>
              <a:t>M(A1)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84166" y="5389936"/>
            <a:ext cx="54483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0" dirty="0">
                <a:solidFill>
                  <a:srgbClr val="3333CC"/>
                </a:solidFill>
                <a:latin typeface="Times New Roman"/>
                <a:cs typeface="Times New Roman"/>
              </a:rPr>
              <a:t>Mult1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5254" y="5687008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716915">
              <a:lnSpc>
                <a:spcPct val="100000"/>
              </a:lnSpc>
              <a:spcBef>
                <a:spcPts val="229"/>
              </a:spcBef>
            </a:pPr>
            <a:r>
              <a:rPr sz="1450" b="1" spc="9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62941" y="6039781"/>
            <a:ext cx="328930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205" algn="l"/>
                <a:tab pos="1440180" algn="l"/>
                <a:tab pos="2329815" algn="l"/>
                <a:tab pos="2812415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14084" y="6002647"/>
            <a:ext cx="3251835" cy="6108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42620">
              <a:lnSpc>
                <a:spcPct val="100000"/>
              </a:lnSpc>
              <a:spcBef>
                <a:spcPts val="390"/>
              </a:spcBef>
              <a:tabLst>
                <a:tab pos="1365885" algn="l"/>
                <a:tab pos="2070735" algn="l"/>
                <a:tab pos="2756535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F6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  <a:tabLst>
                <a:tab pos="568325" algn="l"/>
                <a:tab pos="1254760" algn="l"/>
                <a:tab pos="2645410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0000FF"/>
                </a:solidFill>
                <a:latin typeface="Times New Roman"/>
                <a:cs typeface="Times New Roman"/>
              </a:rPr>
              <a:t>Mult1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07314" y="6364704"/>
            <a:ext cx="50800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14" dirty="0">
                <a:solidFill>
                  <a:srgbClr val="FF00FF"/>
                </a:solidFill>
                <a:latin typeface="Times New Roman"/>
                <a:cs typeface="Times New Roman"/>
              </a:rPr>
              <a:t>Add1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74834" y="6364704"/>
            <a:ext cx="544830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0" dirty="0">
                <a:solidFill>
                  <a:srgbClr val="1FB714"/>
                </a:solidFill>
                <a:latin typeface="Times New Roman"/>
                <a:cs typeface="Times New Roman"/>
              </a:rPr>
              <a:t>Mult2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353255" y="2292664"/>
            <a:ext cx="2174240" cy="1454785"/>
            <a:chOff x="3353255" y="2292664"/>
            <a:chExt cx="2174240" cy="1454785"/>
          </a:xfrm>
        </p:grpSpPr>
        <p:sp>
          <p:nvSpPr>
            <p:cNvPr id="32" name="object 32"/>
            <p:cNvSpPr/>
            <p:nvPr/>
          </p:nvSpPr>
          <p:spPr>
            <a:xfrm>
              <a:off x="3371798" y="2292664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71798" y="2294598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1798" y="2292664"/>
              <a:ext cx="0" cy="1454785"/>
            </a:xfrm>
            <a:custGeom>
              <a:avLst/>
              <a:gdLst/>
              <a:ahLst/>
              <a:cxnLst/>
              <a:rect l="l" t="t" r="r" b="b"/>
              <a:pathLst>
                <a:path h="1454785">
                  <a:moveTo>
                    <a:pt x="0" y="0"/>
                  </a:moveTo>
                  <a:lnTo>
                    <a:pt x="0" y="1454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55573" y="2292664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53244" y="2292667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06473" y="2292664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04155" y="2292667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71798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64947" y="2532310"/>
              <a:ext cx="575310" cy="246379"/>
            </a:xfrm>
            <a:custGeom>
              <a:avLst/>
              <a:gdLst/>
              <a:ahLst/>
              <a:cxnLst/>
              <a:rect l="l" t="t" r="r" b="b"/>
              <a:pathLst>
                <a:path w="575310" h="246380">
                  <a:moveTo>
                    <a:pt x="0" y="41063"/>
                  </a:moveTo>
                  <a:lnTo>
                    <a:pt x="3226" y="25079"/>
                  </a:lnTo>
                  <a:lnTo>
                    <a:pt x="12027" y="12027"/>
                  </a:lnTo>
                  <a:lnTo>
                    <a:pt x="25079" y="3227"/>
                  </a:lnTo>
                  <a:lnTo>
                    <a:pt x="41063" y="0"/>
                  </a:lnTo>
                  <a:lnTo>
                    <a:pt x="533822" y="0"/>
                  </a:lnTo>
                  <a:lnTo>
                    <a:pt x="549806" y="3227"/>
                  </a:lnTo>
                  <a:lnTo>
                    <a:pt x="562859" y="12027"/>
                  </a:lnTo>
                  <a:lnTo>
                    <a:pt x="571659" y="25079"/>
                  </a:lnTo>
                  <a:lnTo>
                    <a:pt x="574886" y="41063"/>
                  </a:lnTo>
                  <a:lnTo>
                    <a:pt x="574886" y="205316"/>
                  </a:lnTo>
                  <a:lnTo>
                    <a:pt x="571659" y="221300"/>
                  </a:lnTo>
                  <a:lnTo>
                    <a:pt x="562859" y="234352"/>
                  </a:lnTo>
                  <a:lnTo>
                    <a:pt x="549806" y="243152"/>
                  </a:lnTo>
                  <a:lnTo>
                    <a:pt x="533822" y="246379"/>
                  </a:lnTo>
                  <a:lnTo>
                    <a:pt x="41063" y="246379"/>
                  </a:lnTo>
                  <a:lnTo>
                    <a:pt x="25079" y="243152"/>
                  </a:lnTo>
                  <a:lnTo>
                    <a:pt x="12027" y="234352"/>
                  </a:lnTo>
                  <a:lnTo>
                    <a:pt x="3226" y="221300"/>
                  </a:lnTo>
                  <a:lnTo>
                    <a:pt x="0" y="205316"/>
                  </a:lnTo>
                  <a:lnTo>
                    <a:pt x="0" y="41063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68793" y="3269049"/>
              <a:ext cx="575310" cy="246379"/>
            </a:xfrm>
            <a:custGeom>
              <a:avLst/>
              <a:gdLst/>
              <a:ahLst/>
              <a:cxnLst/>
              <a:rect l="l" t="t" r="r" b="b"/>
              <a:pathLst>
                <a:path w="575310" h="246379">
                  <a:moveTo>
                    <a:pt x="0" y="41063"/>
                  </a:moveTo>
                  <a:lnTo>
                    <a:pt x="3226" y="25079"/>
                  </a:lnTo>
                  <a:lnTo>
                    <a:pt x="12027" y="12027"/>
                  </a:lnTo>
                  <a:lnTo>
                    <a:pt x="25079" y="3227"/>
                  </a:lnTo>
                  <a:lnTo>
                    <a:pt x="41063" y="0"/>
                  </a:lnTo>
                  <a:lnTo>
                    <a:pt x="533822" y="0"/>
                  </a:lnTo>
                  <a:lnTo>
                    <a:pt x="549806" y="3227"/>
                  </a:lnTo>
                  <a:lnTo>
                    <a:pt x="562859" y="12027"/>
                  </a:lnTo>
                  <a:lnTo>
                    <a:pt x="571659" y="25079"/>
                  </a:lnTo>
                  <a:lnTo>
                    <a:pt x="574886" y="41063"/>
                  </a:lnTo>
                  <a:lnTo>
                    <a:pt x="574886" y="205316"/>
                  </a:lnTo>
                  <a:lnTo>
                    <a:pt x="571659" y="221300"/>
                  </a:lnTo>
                  <a:lnTo>
                    <a:pt x="562859" y="234352"/>
                  </a:lnTo>
                  <a:lnTo>
                    <a:pt x="549806" y="243152"/>
                  </a:lnTo>
                  <a:lnTo>
                    <a:pt x="533822" y="246379"/>
                  </a:lnTo>
                  <a:lnTo>
                    <a:pt x="41063" y="246379"/>
                  </a:lnTo>
                  <a:lnTo>
                    <a:pt x="25079" y="243152"/>
                  </a:lnTo>
                  <a:lnTo>
                    <a:pt x="12027" y="234352"/>
                  </a:lnTo>
                  <a:lnTo>
                    <a:pt x="3226" y="221300"/>
                  </a:lnTo>
                  <a:lnTo>
                    <a:pt x="0" y="205316"/>
                  </a:lnTo>
                  <a:lnTo>
                    <a:pt x="0" y="41063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6894823" y="2292664"/>
            <a:ext cx="1669414" cy="731520"/>
            <a:chOff x="6894823" y="2292664"/>
            <a:chExt cx="1669414" cy="731520"/>
          </a:xfrm>
        </p:grpSpPr>
        <p:sp>
          <p:nvSpPr>
            <p:cNvPr id="43" name="object 43"/>
            <p:cNvSpPr/>
            <p:nvPr/>
          </p:nvSpPr>
          <p:spPr>
            <a:xfrm>
              <a:off x="6913366" y="2292664"/>
              <a:ext cx="0" cy="727710"/>
            </a:xfrm>
            <a:custGeom>
              <a:avLst/>
              <a:gdLst/>
              <a:ahLst/>
              <a:cxnLst/>
              <a:rect l="l" t="t" r="r" b="b"/>
              <a:pathLst>
                <a:path h="727710">
                  <a:moveTo>
                    <a:pt x="0" y="0"/>
                  </a:moveTo>
                  <a:lnTo>
                    <a:pt x="0" y="727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897141" y="2292664"/>
              <a:ext cx="0" cy="731520"/>
            </a:xfrm>
            <a:custGeom>
              <a:avLst/>
              <a:gdLst/>
              <a:ahLst/>
              <a:cxnLst/>
              <a:rect l="l" t="t" r="r" b="b"/>
              <a:pathLst>
                <a:path h="731519">
                  <a:moveTo>
                    <a:pt x="0" y="0"/>
                  </a:moveTo>
                  <a:lnTo>
                    <a:pt x="0" y="73107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894817" y="2292667"/>
              <a:ext cx="19050" cy="727710"/>
            </a:xfrm>
            <a:custGeom>
              <a:avLst/>
              <a:gdLst/>
              <a:ahLst/>
              <a:cxnLst/>
              <a:rect l="l" t="t" r="r" b="b"/>
              <a:pathLst>
                <a:path w="19050" h="727710">
                  <a:moveTo>
                    <a:pt x="18542" y="0"/>
                  </a:moveTo>
                  <a:lnTo>
                    <a:pt x="0" y="0"/>
                  </a:lnTo>
                  <a:lnTo>
                    <a:pt x="0" y="727214"/>
                  </a:lnTo>
                  <a:lnTo>
                    <a:pt x="18542" y="727214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547400" y="2292664"/>
              <a:ext cx="0" cy="731520"/>
            </a:xfrm>
            <a:custGeom>
              <a:avLst/>
              <a:gdLst/>
              <a:ahLst/>
              <a:cxnLst/>
              <a:rect l="l" t="t" r="r" b="b"/>
              <a:pathLst>
                <a:path h="731519">
                  <a:moveTo>
                    <a:pt x="0" y="0"/>
                  </a:moveTo>
                  <a:lnTo>
                    <a:pt x="0" y="73107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13366" y="2292664"/>
              <a:ext cx="1650364" cy="0"/>
            </a:xfrm>
            <a:custGeom>
              <a:avLst/>
              <a:gdLst/>
              <a:ahLst/>
              <a:cxnLst/>
              <a:rect l="l" t="t" r="r" b="b"/>
              <a:pathLst>
                <a:path w="1650365">
                  <a:moveTo>
                    <a:pt x="1650259" y="0"/>
                  </a:moveTo>
                  <a:lnTo>
                    <a:pt x="0" y="0"/>
                  </a:lnTo>
                  <a:lnTo>
                    <a:pt x="1650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13365" y="2294598"/>
              <a:ext cx="1636395" cy="0"/>
            </a:xfrm>
            <a:custGeom>
              <a:avLst/>
              <a:gdLst/>
              <a:ahLst/>
              <a:cxnLst/>
              <a:rect l="l" t="t" r="r" b="b"/>
              <a:pathLst>
                <a:path w="1636395">
                  <a:moveTo>
                    <a:pt x="0" y="0"/>
                  </a:moveTo>
                  <a:lnTo>
                    <a:pt x="1636352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13366" y="3019872"/>
              <a:ext cx="1650364" cy="0"/>
            </a:xfrm>
            <a:custGeom>
              <a:avLst/>
              <a:gdLst/>
              <a:ahLst/>
              <a:cxnLst/>
              <a:rect l="l" t="t" r="r" b="b"/>
              <a:pathLst>
                <a:path w="1650365">
                  <a:moveTo>
                    <a:pt x="1650259" y="0"/>
                  </a:moveTo>
                  <a:lnTo>
                    <a:pt x="0" y="0"/>
                  </a:lnTo>
                  <a:lnTo>
                    <a:pt x="1650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13365" y="3006333"/>
              <a:ext cx="1636395" cy="0"/>
            </a:xfrm>
            <a:custGeom>
              <a:avLst/>
              <a:gdLst/>
              <a:ahLst/>
              <a:cxnLst/>
              <a:rect l="l" t="t" r="r" b="b"/>
              <a:pathLst>
                <a:path w="1636395">
                  <a:moveTo>
                    <a:pt x="0" y="0"/>
                  </a:moveTo>
                  <a:lnTo>
                    <a:pt x="1636352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913366" y="3004399"/>
              <a:ext cx="1631950" cy="15875"/>
            </a:xfrm>
            <a:custGeom>
              <a:avLst/>
              <a:gdLst/>
              <a:ahLst/>
              <a:cxnLst/>
              <a:rect l="l" t="t" r="r" b="b"/>
              <a:pathLst>
                <a:path w="1631950" h="15875">
                  <a:moveTo>
                    <a:pt x="1631717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1631717" y="15472"/>
                  </a:lnTo>
                  <a:lnTo>
                    <a:pt x="1631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353033" y="6359391"/>
            <a:ext cx="6416040" cy="266065"/>
            <a:chOff x="3353033" y="6359391"/>
            <a:chExt cx="6416040" cy="266065"/>
          </a:xfrm>
        </p:grpSpPr>
        <p:sp>
          <p:nvSpPr>
            <p:cNvPr id="53" name="object 53"/>
            <p:cNvSpPr/>
            <p:nvPr/>
          </p:nvSpPr>
          <p:spPr>
            <a:xfrm>
              <a:off x="3371797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55573" y="6361931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53244" y="6361937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752646" y="637740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750323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371797" y="636193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71786" y="6361937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79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79" y="15468"/>
                  </a:lnTo>
                  <a:lnTo>
                    <a:pt x="6397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371797" y="660949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2796988" y="4417000"/>
            <a:ext cx="4121150" cy="1221740"/>
            <a:chOff x="2796988" y="4417000"/>
            <a:chExt cx="4121150" cy="1221740"/>
          </a:xfrm>
        </p:grpSpPr>
        <p:sp>
          <p:nvSpPr>
            <p:cNvPr id="62" name="object 62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782820" y="4447797"/>
              <a:ext cx="710565" cy="259715"/>
            </a:xfrm>
            <a:custGeom>
              <a:avLst/>
              <a:gdLst/>
              <a:ahLst/>
              <a:cxnLst/>
              <a:rect l="l" t="t" r="r" b="b"/>
              <a:pathLst>
                <a:path w="710564" h="259714">
                  <a:moveTo>
                    <a:pt x="0" y="43278"/>
                  </a:moveTo>
                  <a:lnTo>
                    <a:pt x="3401" y="26432"/>
                  </a:lnTo>
                  <a:lnTo>
                    <a:pt x="12676" y="12676"/>
                  </a:lnTo>
                  <a:lnTo>
                    <a:pt x="26432" y="3401"/>
                  </a:lnTo>
                  <a:lnTo>
                    <a:pt x="43278" y="0"/>
                  </a:lnTo>
                  <a:lnTo>
                    <a:pt x="666890" y="0"/>
                  </a:lnTo>
                  <a:lnTo>
                    <a:pt x="683736" y="3401"/>
                  </a:lnTo>
                  <a:lnTo>
                    <a:pt x="697493" y="12676"/>
                  </a:lnTo>
                  <a:lnTo>
                    <a:pt x="706768" y="26432"/>
                  </a:lnTo>
                  <a:lnTo>
                    <a:pt x="710169" y="43278"/>
                  </a:lnTo>
                  <a:lnTo>
                    <a:pt x="710169" y="216388"/>
                  </a:lnTo>
                  <a:lnTo>
                    <a:pt x="706768" y="233235"/>
                  </a:lnTo>
                  <a:lnTo>
                    <a:pt x="697493" y="246991"/>
                  </a:lnTo>
                  <a:lnTo>
                    <a:pt x="683736" y="256266"/>
                  </a:lnTo>
                  <a:lnTo>
                    <a:pt x="666890" y="259667"/>
                  </a:lnTo>
                  <a:lnTo>
                    <a:pt x="43278" y="259667"/>
                  </a:lnTo>
                  <a:lnTo>
                    <a:pt x="26432" y="256266"/>
                  </a:lnTo>
                  <a:lnTo>
                    <a:pt x="12676" y="246991"/>
                  </a:lnTo>
                  <a:lnTo>
                    <a:pt x="3401" y="233235"/>
                  </a:lnTo>
                  <a:lnTo>
                    <a:pt x="0" y="216388"/>
                  </a:lnTo>
                  <a:lnTo>
                    <a:pt x="0" y="43278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112517" y="5160362"/>
              <a:ext cx="710565" cy="259715"/>
            </a:xfrm>
            <a:custGeom>
              <a:avLst/>
              <a:gdLst/>
              <a:ahLst/>
              <a:cxnLst/>
              <a:rect l="l" t="t" r="r" b="b"/>
              <a:pathLst>
                <a:path w="710564" h="259714">
                  <a:moveTo>
                    <a:pt x="0" y="43278"/>
                  </a:moveTo>
                  <a:lnTo>
                    <a:pt x="3401" y="26432"/>
                  </a:lnTo>
                  <a:lnTo>
                    <a:pt x="12676" y="12676"/>
                  </a:lnTo>
                  <a:lnTo>
                    <a:pt x="26432" y="3401"/>
                  </a:lnTo>
                  <a:lnTo>
                    <a:pt x="43278" y="0"/>
                  </a:lnTo>
                  <a:lnTo>
                    <a:pt x="666890" y="0"/>
                  </a:lnTo>
                  <a:lnTo>
                    <a:pt x="683736" y="3401"/>
                  </a:lnTo>
                  <a:lnTo>
                    <a:pt x="697493" y="12676"/>
                  </a:lnTo>
                  <a:lnTo>
                    <a:pt x="706768" y="26432"/>
                  </a:lnTo>
                  <a:lnTo>
                    <a:pt x="710169" y="43278"/>
                  </a:lnTo>
                  <a:lnTo>
                    <a:pt x="710169" y="216388"/>
                  </a:lnTo>
                  <a:lnTo>
                    <a:pt x="706768" y="233235"/>
                  </a:lnTo>
                  <a:lnTo>
                    <a:pt x="697493" y="246991"/>
                  </a:lnTo>
                  <a:lnTo>
                    <a:pt x="683736" y="256266"/>
                  </a:lnTo>
                  <a:lnTo>
                    <a:pt x="666890" y="259667"/>
                  </a:lnTo>
                  <a:lnTo>
                    <a:pt x="43278" y="259667"/>
                  </a:lnTo>
                  <a:lnTo>
                    <a:pt x="26432" y="256266"/>
                  </a:lnTo>
                  <a:lnTo>
                    <a:pt x="12676" y="246991"/>
                  </a:lnTo>
                  <a:lnTo>
                    <a:pt x="3401" y="233235"/>
                  </a:lnTo>
                  <a:lnTo>
                    <a:pt x="0" y="216388"/>
                  </a:lnTo>
                  <a:lnTo>
                    <a:pt x="0" y="43278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614305" y="4743196"/>
            <a:ext cx="11658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FU</a:t>
            </a:r>
            <a:r>
              <a:rPr sz="1900" b="1" spc="2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3366FF"/>
                </a:solidFill>
                <a:latin typeface="Times New Roman"/>
                <a:cs typeface="Times New Roman"/>
              </a:rPr>
              <a:t>latency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72685" y="4951884"/>
            <a:ext cx="2169795" cy="68643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60"/>
              </a:spcBef>
            </a:pPr>
            <a:r>
              <a:rPr sz="1900" b="1" dirty="0">
                <a:solidFill>
                  <a:srgbClr val="3366FF"/>
                </a:solidFill>
                <a:latin typeface="Times New Roman"/>
                <a:cs typeface="Times New Roman"/>
              </a:rPr>
              <a:t>countdown</a:t>
            </a:r>
            <a:r>
              <a:rPr sz="1900" b="1" spc="484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175" spc="217" baseline="-15325" dirty="0">
                <a:latin typeface="Times New Roman"/>
                <a:cs typeface="Times New Roman"/>
              </a:rPr>
              <a:t>10</a:t>
            </a:r>
            <a:r>
              <a:rPr sz="2175" spc="375" baseline="-15325" dirty="0">
                <a:latin typeface="Times New Roman"/>
                <a:cs typeface="Times New Roman"/>
              </a:rPr>
              <a:t> </a:t>
            </a:r>
            <a:r>
              <a:rPr sz="2175" spc="135" baseline="-15325" dirty="0">
                <a:latin typeface="Times New Roman"/>
                <a:cs typeface="Times New Roman"/>
              </a:rPr>
              <a:t>Mult1</a:t>
            </a:r>
            <a:endParaRPr sz="2175" baseline="-15325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520"/>
              </a:spcBef>
            </a:pPr>
            <a:r>
              <a:rPr sz="1450" spc="90" dirty="0">
                <a:latin typeface="Times New Roman"/>
                <a:cs typeface="Times New Roman"/>
              </a:rPr>
              <a:t>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284568" y="4461087"/>
            <a:ext cx="262890" cy="340995"/>
          </a:xfrm>
          <a:custGeom>
            <a:avLst/>
            <a:gdLst/>
            <a:ahLst/>
            <a:cxnLst/>
            <a:rect l="l" t="t" r="r" b="b"/>
            <a:pathLst>
              <a:path w="262890" h="340995">
                <a:moveTo>
                  <a:pt x="172465" y="86232"/>
                </a:moveTo>
                <a:lnTo>
                  <a:pt x="0" y="316186"/>
                </a:lnTo>
                <a:lnTo>
                  <a:pt x="32849" y="340824"/>
                </a:lnTo>
                <a:lnTo>
                  <a:pt x="205315" y="110870"/>
                </a:lnTo>
                <a:lnTo>
                  <a:pt x="172465" y="86232"/>
                </a:lnTo>
                <a:close/>
              </a:path>
              <a:path w="262890" h="340995">
                <a:moveTo>
                  <a:pt x="250112" y="69806"/>
                </a:moveTo>
                <a:lnTo>
                  <a:pt x="184785" y="69806"/>
                </a:lnTo>
                <a:lnTo>
                  <a:pt x="217634" y="94444"/>
                </a:lnTo>
                <a:lnTo>
                  <a:pt x="205315" y="110870"/>
                </a:lnTo>
                <a:lnTo>
                  <a:pt x="238166" y="135508"/>
                </a:lnTo>
                <a:lnTo>
                  <a:pt x="250112" y="69806"/>
                </a:lnTo>
                <a:close/>
              </a:path>
              <a:path w="262890" h="340995">
                <a:moveTo>
                  <a:pt x="184785" y="69806"/>
                </a:moveTo>
                <a:lnTo>
                  <a:pt x="172465" y="86232"/>
                </a:lnTo>
                <a:lnTo>
                  <a:pt x="205315" y="110870"/>
                </a:lnTo>
                <a:lnTo>
                  <a:pt x="217634" y="94444"/>
                </a:lnTo>
                <a:lnTo>
                  <a:pt x="184785" y="69806"/>
                </a:lnTo>
                <a:close/>
              </a:path>
              <a:path w="262890" h="340995">
                <a:moveTo>
                  <a:pt x="262804" y="0"/>
                </a:moveTo>
                <a:lnTo>
                  <a:pt x="139614" y="61594"/>
                </a:lnTo>
                <a:lnTo>
                  <a:pt x="172465" y="86232"/>
                </a:lnTo>
                <a:lnTo>
                  <a:pt x="184785" y="69806"/>
                </a:lnTo>
                <a:lnTo>
                  <a:pt x="250112" y="69806"/>
                </a:lnTo>
                <a:lnTo>
                  <a:pt x="262804" y="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514931" y="6741160"/>
            <a:ext cx="56216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0040" algn="l"/>
              </a:tabLst>
            </a:pP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Timer</a:t>
            </a:r>
            <a:r>
              <a:rPr sz="26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starts</a:t>
            </a:r>
            <a:r>
              <a:rPr sz="26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down</a:t>
            </a:r>
            <a:r>
              <a:rPr sz="26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for</a:t>
            </a:r>
            <a:r>
              <a:rPr sz="2600" b="1" spc="-18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Add1,</a:t>
            </a:r>
            <a:r>
              <a:rPr sz="26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0332B7"/>
                </a:solidFill>
                <a:latin typeface="Arial"/>
                <a:cs typeface="Arial"/>
              </a:rPr>
              <a:t>Mult1</a:t>
            </a:r>
            <a:endParaRPr sz="2600" dirty="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4068431" y="6345778"/>
            <a:ext cx="3537585" cy="321310"/>
            <a:chOff x="4068431" y="6345778"/>
            <a:chExt cx="3537585" cy="321310"/>
          </a:xfrm>
        </p:grpSpPr>
        <p:sp>
          <p:nvSpPr>
            <p:cNvPr id="79" name="object 79"/>
            <p:cNvSpPr/>
            <p:nvPr/>
          </p:nvSpPr>
          <p:spPr>
            <a:xfrm>
              <a:off x="4099228" y="6376576"/>
              <a:ext cx="710565" cy="259715"/>
            </a:xfrm>
            <a:custGeom>
              <a:avLst/>
              <a:gdLst/>
              <a:ahLst/>
              <a:cxnLst/>
              <a:rect l="l" t="t" r="r" b="b"/>
              <a:pathLst>
                <a:path w="710564" h="259715">
                  <a:moveTo>
                    <a:pt x="0" y="43278"/>
                  </a:moveTo>
                  <a:lnTo>
                    <a:pt x="3401" y="26432"/>
                  </a:lnTo>
                  <a:lnTo>
                    <a:pt x="12676" y="12676"/>
                  </a:lnTo>
                  <a:lnTo>
                    <a:pt x="26432" y="3401"/>
                  </a:lnTo>
                  <a:lnTo>
                    <a:pt x="43278" y="0"/>
                  </a:lnTo>
                  <a:lnTo>
                    <a:pt x="666890" y="0"/>
                  </a:lnTo>
                  <a:lnTo>
                    <a:pt x="683736" y="3401"/>
                  </a:lnTo>
                  <a:lnTo>
                    <a:pt x="697493" y="12676"/>
                  </a:lnTo>
                  <a:lnTo>
                    <a:pt x="706768" y="26432"/>
                  </a:lnTo>
                  <a:lnTo>
                    <a:pt x="710169" y="43278"/>
                  </a:lnTo>
                  <a:lnTo>
                    <a:pt x="710169" y="216388"/>
                  </a:lnTo>
                  <a:lnTo>
                    <a:pt x="706768" y="233235"/>
                  </a:lnTo>
                  <a:lnTo>
                    <a:pt x="697493" y="246991"/>
                  </a:lnTo>
                  <a:lnTo>
                    <a:pt x="683736" y="256266"/>
                  </a:lnTo>
                  <a:lnTo>
                    <a:pt x="666890" y="259667"/>
                  </a:lnTo>
                  <a:lnTo>
                    <a:pt x="43278" y="259667"/>
                  </a:lnTo>
                  <a:lnTo>
                    <a:pt x="26432" y="256266"/>
                  </a:lnTo>
                  <a:lnTo>
                    <a:pt x="12676" y="246991"/>
                  </a:lnTo>
                  <a:lnTo>
                    <a:pt x="3401" y="233235"/>
                  </a:lnTo>
                  <a:lnTo>
                    <a:pt x="0" y="216388"/>
                  </a:lnTo>
                  <a:lnTo>
                    <a:pt x="0" y="43278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864957" y="6376576"/>
              <a:ext cx="710565" cy="259715"/>
            </a:xfrm>
            <a:custGeom>
              <a:avLst/>
              <a:gdLst/>
              <a:ahLst/>
              <a:cxnLst/>
              <a:rect l="l" t="t" r="r" b="b"/>
              <a:pathLst>
                <a:path w="710565" h="259715">
                  <a:moveTo>
                    <a:pt x="0" y="43278"/>
                  </a:moveTo>
                  <a:lnTo>
                    <a:pt x="3401" y="26432"/>
                  </a:lnTo>
                  <a:lnTo>
                    <a:pt x="12676" y="12676"/>
                  </a:lnTo>
                  <a:lnTo>
                    <a:pt x="26432" y="3401"/>
                  </a:lnTo>
                  <a:lnTo>
                    <a:pt x="43278" y="0"/>
                  </a:lnTo>
                  <a:lnTo>
                    <a:pt x="666890" y="0"/>
                  </a:lnTo>
                  <a:lnTo>
                    <a:pt x="683736" y="3401"/>
                  </a:lnTo>
                  <a:lnTo>
                    <a:pt x="697493" y="12676"/>
                  </a:lnTo>
                  <a:lnTo>
                    <a:pt x="706768" y="26432"/>
                  </a:lnTo>
                  <a:lnTo>
                    <a:pt x="710169" y="43278"/>
                  </a:lnTo>
                  <a:lnTo>
                    <a:pt x="710169" y="216388"/>
                  </a:lnTo>
                  <a:lnTo>
                    <a:pt x="706768" y="233235"/>
                  </a:lnTo>
                  <a:lnTo>
                    <a:pt x="697493" y="246991"/>
                  </a:lnTo>
                  <a:lnTo>
                    <a:pt x="683736" y="256266"/>
                  </a:lnTo>
                  <a:lnTo>
                    <a:pt x="666890" y="259667"/>
                  </a:lnTo>
                  <a:lnTo>
                    <a:pt x="43278" y="259667"/>
                  </a:lnTo>
                  <a:lnTo>
                    <a:pt x="26432" y="256266"/>
                  </a:lnTo>
                  <a:lnTo>
                    <a:pt x="12676" y="246991"/>
                  </a:lnTo>
                  <a:lnTo>
                    <a:pt x="3401" y="233235"/>
                  </a:lnTo>
                  <a:lnTo>
                    <a:pt x="0" y="216388"/>
                  </a:lnTo>
                  <a:lnTo>
                    <a:pt x="0" y="43278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46492" y="2294636"/>
            <a:ext cx="131445" cy="98869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spc="-50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spc="-50" dirty="0">
                <a:latin typeface="Arial"/>
                <a:cs typeface="Arial"/>
              </a:rPr>
              <a:t>5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spc="-50" dirty="0">
                <a:latin typeface="Arial"/>
                <a:cs typeface="Arial"/>
              </a:rPr>
              <a:t>5</a:t>
            </a:r>
            <a:endParaRPr sz="1500">
              <a:latin typeface="Arial"/>
              <a:cs typeface="Arial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50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254" y="1692009"/>
            <a:ext cx="21272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Instruction</a:t>
            </a: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1809" y="1701293"/>
            <a:ext cx="2039620" cy="582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704215">
              <a:lnSpc>
                <a:spcPct val="117900"/>
              </a:lnSpc>
              <a:spcBef>
                <a:spcPts val="90"/>
              </a:spcBef>
              <a:tabLst>
                <a:tab pos="716915" algn="l"/>
                <a:tab pos="140271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Exec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130" dirty="0">
                <a:latin typeface="Times New Roman"/>
                <a:cs typeface="Times New Roman"/>
              </a:rPr>
              <a:t>Write Issue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50" dirty="0">
                <a:latin typeface="Times New Roman"/>
                <a:cs typeface="Times New Roman"/>
              </a:rPr>
              <a:t>Comp</a:t>
            </a:r>
            <a:r>
              <a:rPr sz="1550" i="1" spc="270" dirty="0">
                <a:latin typeface="Times New Roman"/>
                <a:cs typeface="Times New Roman"/>
              </a:rPr>
              <a:t> </a:t>
            </a:r>
            <a:r>
              <a:rPr sz="1550" i="1" spc="160" dirty="0">
                <a:latin typeface="Times New Roman"/>
                <a:cs typeface="Times New Roman"/>
              </a:rPr>
              <a:t>Result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57" y="2023120"/>
            <a:ext cx="2529205" cy="17119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109855" algn="r">
              <a:lnSpc>
                <a:spcPct val="100000"/>
              </a:lnSpc>
              <a:spcBef>
                <a:spcPts val="305"/>
              </a:spcBef>
              <a:tabLst>
                <a:tab pos="593090" algn="l"/>
              </a:tabLst>
            </a:pPr>
            <a:r>
              <a:rPr sz="1450" i="1" spc="30" dirty="0">
                <a:latin typeface="Times New Roman"/>
                <a:cs typeface="Times New Roman"/>
              </a:rPr>
              <a:t>j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80" dirty="0">
                <a:latin typeface="Times New Roman"/>
                <a:cs typeface="Times New Roman"/>
              </a:rPr>
              <a:t>k</a:t>
            </a:r>
            <a:endParaRPr sz="145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10"/>
              </a:spcBef>
              <a:tabLst>
                <a:tab pos="1031875" algn="l"/>
              </a:tabLst>
            </a:pPr>
            <a:r>
              <a:rPr sz="1450" spc="140" dirty="0">
                <a:latin typeface="Times New Roman"/>
                <a:cs typeface="Times New Roman"/>
              </a:rPr>
              <a:t>LD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F6</a:t>
            </a:r>
            <a:r>
              <a:rPr sz="1450" spc="295" dirty="0">
                <a:latin typeface="Times New Roman"/>
                <a:cs typeface="Times New Roman"/>
              </a:rPr>
              <a:t>    </a:t>
            </a:r>
            <a:r>
              <a:rPr sz="1450" spc="150" dirty="0">
                <a:latin typeface="Times New Roman"/>
                <a:cs typeface="Times New Roman"/>
              </a:rPr>
              <a:t>34+</a:t>
            </a:r>
            <a:r>
              <a:rPr sz="1450" spc="480" dirty="0">
                <a:latin typeface="Times New Roman"/>
                <a:cs typeface="Times New Roman"/>
              </a:rPr>
              <a:t>   </a:t>
            </a:r>
            <a:r>
              <a:rPr sz="1450" spc="145" dirty="0">
                <a:latin typeface="Times New Roman"/>
                <a:cs typeface="Times New Roman"/>
              </a:rPr>
              <a:t>R2</a:t>
            </a:r>
            <a:endParaRPr sz="145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85"/>
              </a:spcBef>
              <a:tabLst>
                <a:tab pos="1031875" algn="l"/>
              </a:tabLst>
            </a:pPr>
            <a:r>
              <a:rPr sz="1450" spc="140" dirty="0">
                <a:solidFill>
                  <a:srgbClr val="FF0000"/>
                </a:solidFill>
                <a:latin typeface="Times New Roman"/>
                <a:cs typeface="Times New Roman"/>
              </a:rPr>
              <a:t>LD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F2</a:t>
            </a:r>
            <a:r>
              <a:rPr sz="1450" spc="295" dirty="0">
                <a:solidFill>
                  <a:srgbClr val="FF0000"/>
                </a:solidFill>
                <a:latin typeface="Times New Roman"/>
                <a:cs typeface="Times New Roman"/>
              </a:rPr>
              <a:t>    </a:t>
            </a:r>
            <a:r>
              <a:rPr sz="1450" spc="150" dirty="0">
                <a:solidFill>
                  <a:srgbClr val="FF0000"/>
                </a:solidFill>
                <a:latin typeface="Times New Roman"/>
                <a:cs typeface="Times New Roman"/>
              </a:rPr>
              <a:t>45+</a:t>
            </a:r>
            <a:r>
              <a:rPr sz="1450" spc="480" dirty="0">
                <a:solidFill>
                  <a:srgbClr val="FF0000"/>
                </a:solidFill>
                <a:latin typeface="Times New Roman"/>
                <a:cs typeface="Times New Roman"/>
              </a:rPr>
              <a:t>   </a:t>
            </a:r>
            <a:r>
              <a:rPr sz="1450" spc="145" dirty="0">
                <a:solidFill>
                  <a:srgbClr val="FF0000"/>
                </a:solidFill>
                <a:latin typeface="Times New Roman"/>
                <a:cs typeface="Times New Roman"/>
              </a:rPr>
              <a:t>R3</a:t>
            </a:r>
            <a:endParaRPr sz="1450" dirty="0">
              <a:latin typeface="Times New Roman"/>
              <a:cs typeface="Times New Roman"/>
            </a:endParaRPr>
          </a:p>
          <a:p>
            <a:pPr marL="12700" marR="41910" algn="just">
              <a:lnSpc>
                <a:spcPct val="107400"/>
              </a:lnSpc>
              <a:spcBef>
                <a:spcPts val="85"/>
              </a:spcBef>
            </a:pPr>
            <a:r>
              <a:rPr sz="1450" spc="145" dirty="0">
                <a:solidFill>
                  <a:srgbClr val="0000FF"/>
                </a:solidFill>
                <a:latin typeface="Times New Roman"/>
                <a:cs typeface="Times New Roman"/>
              </a:rPr>
              <a:t>MULTD</a:t>
            </a:r>
            <a:r>
              <a:rPr sz="1450" spc="335" dirty="0">
                <a:solidFill>
                  <a:srgbClr val="0000FF"/>
                </a:solidFill>
                <a:latin typeface="Times New Roman"/>
                <a:cs typeface="Times New Roman"/>
              </a:rPr>
              <a:t>   </a:t>
            </a: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F0</a:t>
            </a:r>
            <a:r>
              <a:rPr sz="1450" spc="440" dirty="0">
                <a:solidFill>
                  <a:srgbClr val="0000FF"/>
                </a:solidFill>
                <a:latin typeface="Times New Roman"/>
                <a:cs typeface="Times New Roman"/>
              </a:rPr>
              <a:t>    </a:t>
            </a: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F2</a:t>
            </a:r>
            <a:r>
              <a:rPr sz="1450" spc="370" dirty="0">
                <a:solidFill>
                  <a:srgbClr val="0000FF"/>
                </a:solidFill>
                <a:latin typeface="Times New Roman"/>
                <a:cs typeface="Times New Roman"/>
              </a:rPr>
              <a:t>    </a:t>
            </a:r>
            <a:r>
              <a:rPr sz="1450" spc="70" dirty="0">
                <a:solidFill>
                  <a:srgbClr val="0000FF"/>
                </a:solidFill>
                <a:latin typeface="Times New Roman"/>
                <a:cs typeface="Times New Roman"/>
              </a:rPr>
              <a:t>F4 </a:t>
            </a:r>
            <a:r>
              <a:rPr sz="1450" spc="140" dirty="0">
                <a:solidFill>
                  <a:srgbClr val="FF00FF"/>
                </a:solidFill>
                <a:latin typeface="Times New Roman"/>
                <a:cs typeface="Times New Roman"/>
              </a:rPr>
              <a:t>SUBD</a:t>
            </a:r>
            <a:r>
              <a:rPr sz="1450" spc="345" dirty="0">
                <a:solidFill>
                  <a:srgbClr val="FF00FF"/>
                </a:solidFill>
                <a:latin typeface="Times New Roman"/>
                <a:cs typeface="Times New Roman"/>
              </a:rPr>
              <a:t>     </a:t>
            </a:r>
            <a:r>
              <a:rPr sz="1450" spc="95" dirty="0">
                <a:solidFill>
                  <a:srgbClr val="FF00FF"/>
                </a:solidFill>
                <a:latin typeface="Times New Roman"/>
                <a:cs typeface="Times New Roman"/>
              </a:rPr>
              <a:t>F8</a:t>
            </a:r>
            <a:r>
              <a:rPr sz="1450" spc="445" dirty="0">
                <a:solidFill>
                  <a:srgbClr val="FF00FF"/>
                </a:solidFill>
                <a:latin typeface="Times New Roman"/>
                <a:cs typeface="Times New Roman"/>
              </a:rPr>
              <a:t>    </a:t>
            </a:r>
            <a:r>
              <a:rPr sz="1450" spc="95" dirty="0">
                <a:solidFill>
                  <a:srgbClr val="FF00FF"/>
                </a:solidFill>
                <a:latin typeface="Times New Roman"/>
                <a:cs typeface="Times New Roman"/>
              </a:rPr>
              <a:t>F6</a:t>
            </a:r>
            <a:r>
              <a:rPr sz="1450" spc="370" dirty="0">
                <a:solidFill>
                  <a:srgbClr val="FF00FF"/>
                </a:solidFill>
                <a:latin typeface="Times New Roman"/>
                <a:cs typeface="Times New Roman"/>
              </a:rPr>
              <a:t>    </a:t>
            </a:r>
            <a:r>
              <a:rPr sz="1450" spc="70" dirty="0">
                <a:solidFill>
                  <a:srgbClr val="FF00FF"/>
                </a:solidFill>
                <a:latin typeface="Times New Roman"/>
                <a:cs typeface="Times New Roman"/>
              </a:rPr>
              <a:t>F2 </a:t>
            </a:r>
            <a:r>
              <a:rPr sz="1450" spc="13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spc="490" dirty="0">
                <a:solidFill>
                  <a:srgbClr val="1FB714"/>
                </a:solidFill>
                <a:latin typeface="Times New Roman"/>
                <a:cs typeface="Times New Roman"/>
              </a:rPr>
              <a:t>    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F10</a:t>
            </a:r>
            <a:r>
              <a:rPr sz="1450" spc="330" dirty="0">
                <a:solidFill>
                  <a:srgbClr val="1FB714"/>
                </a:solidFill>
                <a:latin typeface="Times New Roman"/>
                <a:cs typeface="Times New Roman"/>
              </a:rPr>
              <a:t>    </a:t>
            </a:r>
            <a:r>
              <a:rPr sz="1450" spc="95" dirty="0">
                <a:solidFill>
                  <a:srgbClr val="1FB714"/>
                </a:solidFill>
                <a:latin typeface="Times New Roman"/>
                <a:cs typeface="Times New Roman"/>
              </a:rPr>
              <a:t>F0</a:t>
            </a:r>
            <a:r>
              <a:rPr sz="1450" spc="370" dirty="0">
                <a:solidFill>
                  <a:srgbClr val="1FB714"/>
                </a:solidFill>
                <a:latin typeface="Times New Roman"/>
                <a:cs typeface="Times New Roman"/>
              </a:rPr>
              <a:t>    </a:t>
            </a:r>
            <a:r>
              <a:rPr sz="1450" spc="70" dirty="0">
                <a:solidFill>
                  <a:srgbClr val="1FB714"/>
                </a:solidFill>
                <a:latin typeface="Times New Roman"/>
                <a:cs typeface="Times New Roman"/>
              </a:rPr>
              <a:t>F6 </a:t>
            </a:r>
            <a:r>
              <a:rPr sz="1450" spc="135" dirty="0">
                <a:latin typeface="Times New Roman"/>
                <a:cs typeface="Times New Roman"/>
              </a:rPr>
              <a:t>ADDD</a:t>
            </a:r>
            <a:r>
              <a:rPr sz="1450" spc="450" dirty="0">
                <a:latin typeface="Times New Roman"/>
                <a:cs typeface="Times New Roman"/>
              </a:rPr>
              <a:t>    </a:t>
            </a:r>
            <a:r>
              <a:rPr sz="1450" spc="95" dirty="0">
                <a:latin typeface="Times New Roman"/>
                <a:cs typeface="Times New Roman"/>
              </a:rPr>
              <a:t>F6</a:t>
            </a:r>
            <a:r>
              <a:rPr sz="1450" spc="440" dirty="0">
                <a:latin typeface="Times New Roman"/>
                <a:cs typeface="Times New Roman"/>
              </a:rPr>
              <a:t>    </a:t>
            </a:r>
            <a:r>
              <a:rPr sz="1450" spc="95" dirty="0">
                <a:latin typeface="Times New Roman"/>
                <a:cs typeface="Times New Roman"/>
              </a:rPr>
              <a:t>F8</a:t>
            </a:r>
            <a:r>
              <a:rPr sz="1450" spc="370" dirty="0">
                <a:latin typeface="Times New Roman"/>
                <a:cs typeface="Times New Roman"/>
              </a:rPr>
              <a:t>    </a:t>
            </a:r>
            <a:r>
              <a:rPr sz="1450" spc="70" dirty="0">
                <a:latin typeface="Times New Roman"/>
                <a:cs typeface="Times New Roman"/>
              </a:rPr>
              <a:t>F2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809" y="2043047"/>
            <a:ext cx="13398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50" b="1" baseline="-5555" dirty="0">
                <a:latin typeface="Arial"/>
                <a:cs typeface="Arial"/>
              </a:rPr>
              <a:t>EX</a:t>
            </a:r>
            <a:r>
              <a:rPr sz="2250" b="1" spc="322" baseline="-5555" dirty="0">
                <a:latin typeface="Arial"/>
                <a:cs typeface="Arial"/>
              </a:rPr>
              <a:t> </a:t>
            </a:r>
            <a:r>
              <a:rPr sz="1450" spc="75" dirty="0">
                <a:latin typeface="Times New Roman"/>
                <a:cs typeface="Times New Roman"/>
              </a:rPr>
              <a:t>Instruction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7750" y="2016932"/>
            <a:ext cx="53594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80" dirty="0">
                <a:latin typeface="Times New Roman"/>
                <a:cs typeface="Times New Roman"/>
              </a:rPr>
              <a:t>Busy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23813" y="2016932"/>
            <a:ext cx="82423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5" dirty="0">
                <a:latin typeface="Times New Roman"/>
                <a:cs typeface="Times New Roman"/>
              </a:rPr>
              <a:t>Address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7463" y="2295437"/>
            <a:ext cx="137160" cy="4806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2068" y="2295437"/>
            <a:ext cx="137160" cy="4806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4316" y="2295437"/>
            <a:ext cx="137160" cy="1440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450" spc="9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450" spc="9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450" spc="9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3145" y="2295437"/>
            <a:ext cx="1156970" cy="728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9042" y="4158326"/>
            <a:ext cx="1138555" cy="14801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05"/>
              </a:spcBef>
            </a:pPr>
            <a:r>
              <a:rPr sz="1450" i="1" spc="80" dirty="0">
                <a:latin typeface="Times New Roman"/>
                <a:cs typeface="Times New Roman"/>
              </a:rPr>
              <a:t>Time</a:t>
            </a:r>
            <a:r>
              <a:rPr sz="1450" i="1" spc="345" dirty="0">
                <a:latin typeface="Times New Roman"/>
                <a:cs typeface="Times New Roman"/>
              </a:rPr>
              <a:t>  </a:t>
            </a:r>
            <a:r>
              <a:rPr sz="1450" i="1" spc="125" dirty="0">
                <a:latin typeface="Times New Roman"/>
                <a:cs typeface="Times New Roman"/>
              </a:rPr>
              <a:t>Name</a:t>
            </a:r>
            <a:endParaRPr sz="1450">
              <a:latin typeface="Times New Roman"/>
              <a:cs typeface="Times New Roman"/>
            </a:endParaRPr>
          </a:p>
          <a:p>
            <a:pPr marL="605790" marR="41910" indent="-185420" algn="just">
              <a:lnSpc>
                <a:spcPct val="108500"/>
              </a:lnSpc>
              <a:spcBef>
                <a:spcPts val="60"/>
              </a:spcBef>
            </a:pPr>
            <a:r>
              <a:rPr sz="1450" spc="145" dirty="0">
                <a:latin typeface="Times New Roman"/>
                <a:cs typeface="Times New Roman"/>
              </a:rPr>
              <a:t>1</a:t>
            </a:r>
            <a:r>
              <a:rPr sz="1450" spc="21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Add1 Add2 Add3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1450" spc="145" dirty="0">
                <a:latin typeface="Times New Roman"/>
                <a:cs typeface="Times New Roman"/>
              </a:rPr>
              <a:t>9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Mult1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10"/>
              </a:spcBef>
            </a:pPr>
            <a:r>
              <a:rPr sz="1450" spc="90" dirty="0">
                <a:latin typeface="Times New Roman"/>
                <a:cs typeface="Times New Roman"/>
              </a:rPr>
              <a:t>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56414" y="4430641"/>
            <a:ext cx="1304925" cy="4806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1450" spc="114" dirty="0">
                <a:latin typeface="Times New Roman"/>
                <a:cs typeface="Times New Roman"/>
              </a:rPr>
              <a:t>M(A1)</a:t>
            </a:r>
            <a:r>
              <a:rPr sz="1450" spc="385" dirty="0"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02709" y="4662729"/>
            <a:ext cx="50800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14" dirty="0">
                <a:solidFill>
                  <a:srgbClr val="FF00FF"/>
                </a:solidFill>
                <a:latin typeface="Times New Roman"/>
                <a:cs typeface="Times New Roman"/>
              </a:rPr>
              <a:t>Add1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95541" y="4430641"/>
            <a:ext cx="1150620" cy="7283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25"/>
              </a:spcBef>
              <a:tabLst>
                <a:tab pos="513080" algn="l"/>
                <a:tab pos="56832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	</a:t>
            </a:r>
            <a:r>
              <a:rPr sz="1450" spc="120" dirty="0">
                <a:solidFill>
                  <a:srgbClr val="FF00FF"/>
                </a:solidFill>
                <a:latin typeface="Times New Roman"/>
                <a:cs typeface="Times New Roman"/>
              </a:rPr>
              <a:t>SUBD </a:t>
            </a: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4" dirty="0">
                <a:latin typeface="Times New Roman"/>
                <a:cs typeface="Times New Roman"/>
              </a:rPr>
              <a:t>ADDD</a:t>
            </a:r>
            <a:endParaRPr sz="14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209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95541" y="5117620"/>
            <a:ext cx="1879600" cy="4932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  <a:tabLst>
                <a:tab pos="587375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</a:t>
            </a:r>
            <a:r>
              <a:rPr sz="1450" spc="105" dirty="0">
                <a:latin typeface="Times New Roman"/>
                <a:cs typeface="Times New Roman"/>
              </a:rPr>
              <a:t>  </a:t>
            </a:r>
            <a:r>
              <a:rPr sz="1450" spc="14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spc="1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 </a:t>
            </a: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42477" y="5117620"/>
            <a:ext cx="619125" cy="5207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305"/>
              </a:spcBef>
            </a:pPr>
            <a:r>
              <a:rPr sz="1450" spc="10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450" spc="105" dirty="0">
                <a:latin typeface="Times New Roman"/>
                <a:cs typeface="Times New Roman"/>
              </a:rPr>
              <a:t>M(A1)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84166" y="5389936"/>
            <a:ext cx="54483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0" dirty="0">
                <a:solidFill>
                  <a:srgbClr val="3333CC"/>
                </a:solidFill>
                <a:latin typeface="Times New Roman"/>
                <a:cs typeface="Times New Roman"/>
              </a:rPr>
              <a:t>Mult1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5254" y="5687008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716915">
              <a:lnSpc>
                <a:spcPct val="100000"/>
              </a:lnSpc>
              <a:spcBef>
                <a:spcPts val="229"/>
              </a:spcBef>
            </a:pPr>
            <a:r>
              <a:rPr sz="1450" b="1" spc="9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14084" y="6002647"/>
            <a:ext cx="6737984" cy="6108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42620">
              <a:lnSpc>
                <a:spcPct val="100000"/>
              </a:lnSpc>
              <a:spcBef>
                <a:spcPts val="390"/>
              </a:spcBef>
              <a:tabLst>
                <a:tab pos="1365885" algn="l"/>
                <a:tab pos="2070735" algn="l"/>
                <a:tab pos="2756535" algn="l"/>
                <a:tab pos="3461385" algn="l"/>
                <a:tab pos="4072890" algn="l"/>
                <a:tab pos="4888865" algn="l"/>
                <a:tab pos="5779135" algn="l"/>
                <a:tab pos="6261100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F6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  <a:tabLst>
                <a:tab pos="568325" algn="l"/>
                <a:tab pos="1254760" algn="l"/>
                <a:tab pos="2700655" algn="l"/>
                <a:tab pos="3405504" algn="l"/>
                <a:tab pos="4072890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0000FF"/>
                </a:solidFill>
                <a:latin typeface="Times New Roman"/>
                <a:cs typeface="Times New Roman"/>
              </a:rPr>
              <a:t>Mult1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14" dirty="0">
                <a:latin typeface="Times New Roman"/>
                <a:cs typeface="Times New Roman"/>
              </a:rPr>
              <a:t>Add2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4" dirty="0">
                <a:solidFill>
                  <a:srgbClr val="FF00FF"/>
                </a:solidFill>
                <a:latin typeface="Times New Roman"/>
                <a:cs typeface="Times New Roman"/>
              </a:rPr>
              <a:t>Add1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1FB714"/>
                </a:solidFill>
                <a:latin typeface="Times New Roman"/>
                <a:cs typeface="Times New Roman"/>
              </a:rPr>
              <a:t>Mult2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353255" y="2292664"/>
            <a:ext cx="2174240" cy="1473835"/>
            <a:chOff x="3353255" y="2292664"/>
            <a:chExt cx="2174240" cy="1473835"/>
          </a:xfrm>
        </p:grpSpPr>
        <p:sp>
          <p:nvSpPr>
            <p:cNvPr id="29" name="object 29"/>
            <p:cNvSpPr/>
            <p:nvPr/>
          </p:nvSpPr>
          <p:spPr>
            <a:xfrm>
              <a:off x="3371798" y="2292664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71798" y="2294598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71798" y="2292664"/>
              <a:ext cx="0" cy="1454785"/>
            </a:xfrm>
            <a:custGeom>
              <a:avLst/>
              <a:gdLst/>
              <a:ahLst/>
              <a:cxnLst/>
              <a:rect l="l" t="t" r="r" b="b"/>
              <a:pathLst>
                <a:path h="1454785">
                  <a:moveTo>
                    <a:pt x="0" y="0"/>
                  </a:moveTo>
                  <a:lnTo>
                    <a:pt x="0" y="1454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55573" y="2292664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53244" y="2292667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06473" y="2292664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04155" y="2292667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71798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39823" y="3488855"/>
              <a:ext cx="575310" cy="246379"/>
            </a:xfrm>
            <a:custGeom>
              <a:avLst/>
              <a:gdLst/>
              <a:ahLst/>
              <a:cxnLst/>
              <a:rect l="l" t="t" r="r" b="b"/>
              <a:pathLst>
                <a:path w="575310" h="246379">
                  <a:moveTo>
                    <a:pt x="0" y="41063"/>
                  </a:moveTo>
                  <a:lnTo>
                    <a:pt x="3226" y="25079"/>
                  </a:lnTo>
                  <a:lnTo>
                    <a:pt x="12027" y="12027"/>
                  </a:lnTo>
                  <a:lnTo>
                    <a:pt x="25079" y="3227"/>
                  </a:lnTo>
                  <a:lnTo>
                    <a:pt x="41063" y="0"/>
                  </a:lnTo>
                  <a:lnTo>
                    <a:pt x="533822" y="0"/>
                  </a:lnTo>
                  <a:lnTo>
                    <a:pt x="549806" y="3227"/>
                  </a:lnTo>
                  <a:lnTo>
                    <a:pt x="562859" y="12027"/>
                  </a:lnTo>
                  <a:lnTo>
                    <a:pt x="571659" y="25079"/>
                  </a:lnTo>
                  <a:lnTo>
                    <a:pt x="574886" y="41063"/>
                  </a:lnTo>
                  <a:lnTo>
                    <a:pt x="574886" y="205316"/>
                  </a:lnTo>
                  <a:lnTo>
                    <a:pt x="571659" y="221300"/>
                  </a:lnTo>
                  <a:lnTo>
                    <a:pt x="562859" y="234352"/>
                  </a:lnTo>
                  <a:lnTo>
                    <a:pt x="549806" y="243152"/>
                  </a:lnTo>
                  <a:lnTo>
                    <a:pt x="533822" y="246379"/>
                  </a:lnTo>
                  <a:lnTo>
                    <a:pt x="41063" y="246379"/>
                  </a:lnTo>
                  <a:lnTo>
                    <a:pt x="25079" y="243152"/>
                  </a:lnTo>
                  <a:lnTo>
                    <a:pt x="12027" y="234352"/>
                  </a:lnTo>
                  <a:lnTo>
                    <a:pt x="3226" y="221300"/>
                  </a:lnTo>
                  <a:lnTo>
                    <a:pt x="0" y="205316"/>
                  </a:lnTo>
                  <a:lnTo>
                    <a:pt x="0" y="41063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6894823" y="2292664"/>
            <a:ext cx="1669414" cy="731520"/>
            <a:chOff x="6894823" y="2292664"/>
            <a:chExt cx="1669414" cy="731520"/>
          </a:xfrm>
        </p:grpSpPr>
        <p:sp>
          <p:nvSpPr>
            <p:cNvPr id="39" name="object 39"/>
            <p:cNvSpPr/>
            <p:nvPr/>
          </p:nvSpPr>
          <p:spPr>
            <a:xfrm>
              <a:off x="6913366" y="2292664"/>
              <a:ext cx="0" cy="727710"/>
            </a:xfrm>
            <a:custGeom>
              <a:avLst/>
              <a:gdLst/>
              <a:ahLst/>
              <a:cxnLst/>
              <a:rect l="l" t="t" r="r" b="b"/>
              <a:pathLst>
                <a:path h="727710">
                  <a:moveTo>
                    <a:pt x="0" y="0"/>
                  </a:moveTo>
                  <a:lnTo>
                    <a:pt x="0" y="727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97141" y="2292664"/>
              <a:ext cx="0" cy="731520"/>
            </a:xfrm>
            <a:custGeom>
              <a:avLst/>
              <a:gdLst/>
              <a:ahLst/>
              <a:cxnLst/>
              <a:rect l="l" t="t" r="r" b="b"/>
              <a:pathLst>
                <a:path h="731519">
                  <a:moveTo>
                    <a:pt x="0" y="0"/>
                  </a:moveTo>
                  <a:lnTo>
                    <a:pt x="0" y="73107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94817" y="2292667"/>
              <a:ext cx="19050" cy="727710"/>
            </a:xfrm>
            <a:custGeom>
              <a:avLst/>
              <a:gdLst/>
              <a:ahLst/>
              <a:cxnLst/>
              <a:rect l="l" t="t" r="r" b="b"/>
              <a:pathLst>
                <a:path w="19050" h="727710">
                  <a:moveTo>
                    <a:pt x="18542" y="0"/>
                  </a:moveTo>
                  <a:lnTo>
                    <a:pt x="0" y="0"/>
                  </a:lnTo>
                  <a:lnTo>
                    <a:pt x="0" y="727214"/>
                  </a:lnTo>
                  <a:lnTo>
                    <a:pt x="18542" y="727214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547400" y="2292664"/>
              <a:ext cx="0" cy="731520"/>
            </a:xfrm>
            <a:custGeom>
              <a:avLst/>
              <a:gdLst/>
              <a:ahLst/>
              <a:cxnLst/>
              <a:rect l="l" t="t" r="r" b="b"/>
              <a:pathLst>
                <a:path h="731519">
                  <a:moveTo>
                    <a:pt x="0" y="0"/>
                  </a:moveTo>
                  <a:lnTo>
                    <a:pt x="0" y="73107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913366" y="2292664"/>
              <a:ext cx="1650364" cy="0"/>
            </a:xfrm>
            <a:custGeom>
              <a:avLst/>
              <a:gdLst/>
              <a:ahLst/>
              <a:cxnLst/>
              <a:rect l="l" t="t" r="r" b="b"/>
              <a:pathLst>
                <a:path w="1650365">
                  <a:moveTo>
                    <a:pt x="1650259" y="0"/>
                  </a:moveTo>
                  <a:lnTo>
                    <a:pt x="0" y="0"/>
                  </a:lnTo>
                  <a:lnTo>
                    <a:pt x="1650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13365" y="2294598"/>
              <a:ext cx="1636395" cy="0"/>
            </a:xfrm>
            <a:custGeom>
              <a:avLst/>
              <a:gdLst/>
              <a:ahLst/>
              <a:cxnLst/>
              <a:rect l="l" t="t" r="r" b="b"/>
              <a:pathLst>
                <a:path w="1636395">
                  <a:moveTo>
                    <a:pt x="0" y="0"/>
                  </a:moveTo>
                  <a:lnTo>
                    <a:pt x="1636352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913366" y="3019872"/>
              <a:ext cx="1650364" cy="0"/>
            </a:xfrm>
            <a:custGeom>
              <a:avLst/>
              <a:gdLst/>
              <a:ahLst/>
              <a:cxnLst/>
              <a:rect l="l" t="t" r="r" b="b"/>
              <a:pathLst>
                <a:path w="1650365">
                  <a:moveTo>
                    <a:pt x="1650259" y="0"/>
                  </a:moveTo>
                  <a:lnTo>
                    <a:pt x="0" y="0"/>
                  </a:lnTo>
                  <a:lnTo>
                    <a:pt x="1650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13365" y="3006333"/>
              <a:ext cx="1636395" cy="0"/>
            </a:xfrm>
            <a:custGeom>
              <a:avLst/>
              <a:gdLst/>
              <a:ahLst/>
              <a:cxnLst/>
              <a:rect l="l" t="t" r="r" b="b"/>
              <a:pathLst>
                <a:path w="1636395">
                  <a:moveTo>
                    <a:pt x="0" y="0"/>
                  </a:moveTo>
                  <a:lnTo>
                    <a:pt x="1636352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13366" y="3004399"/>
              <a:ext cx="1631950" cy="15875"/>
            </a:xfrm>
            <a:custGeom>
              <a:avLst/>
              <a:gdLst/>
              <a:ahLst/>
              <a:cxnLst/>
              <a:rect l="l" t="t" r="r" b="b"/>
              <a:pathLst>
                <a:path w="1631950" h="15875">
                  <a:moveTo>
                    <a:pt x="1631717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1631717" y="15472"/>
                  </a:lnTo>
                  <a:lnTo>
                    <a:pt x="1631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3353255" y="6345778"/>
            <a:ext cx="6416040" cy="321310"/>
            <a:chOff x="3353255" y="6345778"/>
            <a:chExt cx="6416040" cy="321310"/>
          </a:xfrm>
        </p:grpSpPr>
        <p:sp>
          <p:nvSpPr>
            <p:cNvPr id="49" name="object 49"/>
            <p:cNvSpPr/>
            <p:nvPr/>
          </p:nvSpPr>
          <p:spPr>
            <a:xfrm>
              <a:off x="3371798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55573" y="6361931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353244" y="6361937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752646" y="637740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750323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71797" y="636193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71786" y="6361937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79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79" y="15468"/>
                  </a:lnTo>
                  <a:lnTo>
                    <a:pt x="6397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371797" y="660949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21960" y="6376576"/>
              <a:ext cx="710565" cy="259715"/>
            </a:xfrm>
            <a:custGeom>
              <a:avLst/>
              <a:gdLst/>
              <a:ahLst/>
              <a:cxnLst/>
              <a:rect l="l" t="t" r="r" b="b"/>
              <a:pathLst>
                <a:path w="710564" h="259715">
                  <a:moveTo>
                    <a:pt x="0" y="43278"/>
                  </a:moveTo>
                  <a:lnTo>
                    <a:pt x="3401" y="26432"/>
                  </a:lnTo>
                  <a:lnTo>
                    <a:pt x="12676" y="12676"/>
                  </a:lnTo>
                  <a:lnTo>
                    <a:pt x="26432" y="3401"/>
                  </a:lnTo>
                  <a:lnTo>
                    <a:pt x="43278" y="0"/>
                  </a:lnTo>
                  <a:lnTo>
                    <a:pt x="666890" y="0"/>
                  </a:lnTo>
                  <a:lnTo>
                    <a:pt x="683736" y="3401"/>
                  </a:lnTo>
                  <a:lnTo>
                    <a:pt x="697493" y="12676"/>
                  </a:lnTo>
                  <a:lnTo>
                    <a:pt x="706768" y="26432"/>
                  </a:lnTo>
                  <a:lnTo>
                    <a:pt x="710169" y="43278"/>
                  </a:lnTo>
                  <a:lnTo>
                    <a:pt x="710169" y="216388"/>
                  </a:lnTo>
                  <a:lnTo>
                    <a:pt x="706768" y="233235"/>
                  </a:lnTo>
                  <a:lnTo>
                    <a:pt x="697493" y="246991"/>
                  </a:lnTo>
                  <a:lnTo>
                    <a:pt x="683736" y="256266"/>
                  </a:lnTo>
                  <a:lnTo>
                    <a:pt x="666890" y="259667"/>
                  </a:lnTo>
                  <a:lnTo>
                    <a:pt x="43278" y="259667"/>
                  </a:lnTo>
                  <a:lnTo>
                    <a:pt x="26432" y="256266"/>
                  </a:lnTo>
                  <a:lnTo>
                    <a:pt x="12676" y="246991"/>
                  </a:lnTo>
                  <a:lnTo>
                    <a:pt x="3401" y="233235"/>
                  </a:lnTo>
                  <a:lnTo>
                    <a:pt x="0" y="216388"/>
                  </a:lnTo>
                  <a:lnTo>
                    <a:pt x="0" y="43278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2780982" y="4427869"/>
            <a:ext cx="4168140" cy="1210945"/>
            <a:chOff x="2780982" y="4427869"/>
            <a:chExt cx="4168140" cy="1210945"/>
          </a:xfrm>
        </p:grpSpPr>
        <p:sp>
          <p:nvSpPr>
            <p:cNvPr id="59" name="object 59"/>
            <p:cNvSpPr/>
            <p:nvPr/>
          </p:nvSpPr>
          <p:spPr>
            <a:xfrm>
              <a:off x="6913367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11780" y="4651915"/>
              <a:ext cx="4106545" cy="315595"/>
            </a:xfrm>
            <a:custGeom>
              <a:avLst/>
              <a:gdLst/>
              <a:ahLst/>
              <a:cxnLst/>
              <a:rect l="l" t="t" r="r" b="b"/>
              <a:pathLst>
                <a:path w="4106545" h="315595">
                  <a:moveTo>
                    <a:pt x="0" y="52537"/>
                  </a:moveTo>
                  <a:lnTo>
                    <a:pt x="4128" y="32087"/>
                  </a:lnTo>
                  <a:lnTo>
                    <a:pt x="15387" y="15387"/>
                  </a:lnTo>
                  <a:lnTo>
                    <a:pt x="32087" y="4128"/>
                  </a:lnTo>
                  <a:lnTo>
                    <a:pt x="52537" y="0"/>
                  </a:lnTo>
                  <a:lnTo>
                    <a:pt x="4053795" y="0"/>
                  </a:lnTo>
                  <a:lnTo>
                    <a:pt x="4074245" y="4128"/>
                  </a:lnTo>
                  <a:lnTo>
                    <a:pt x="4090945" y="15387"/>
                  </a:lnTo>
                  <a:lnTo>
                    <a:pt x="4102204" y="32087"/>
                  </a:lnTo>
                  <a:lnTo>
                    <a:pt x="4106333" y="52537"/>
                  </a:lnTo>
                  <a:lnTo>
                    <a:pt x="4106333" y="262682"/>
                  </a:lnTo>
                  <a:lnTo>
                    <a:pt x="4102204" y="283132"/>
                  </a:lnTo>
                  <a:lnTo>
                    <a:pt x="4090945" y="299831"/>
                  </a:lnTo>
                  <a:lnTo>
                    <a:pt x="4074245" y="311091"/>
                  </a:lnTo>
                  <a:lnTo>
                    <a:pt x="4053795" y="315219"/>
                  </a:lnTo>
                  <a:lnTo>
                    <a:pt x="52537" y="315219"/>
                  </a:lnTo>
                  <a:lnTo>
                    <a:pt x="32087" y="311091"/>
                  </a:lnTo>
                  <a:lnTo>
                    <a:pt x="15387" y="299831"/>
                  </a:lnTo>
                  <a:lnTo>
                    <a:pt x="4128" y="283132"/>
                  </a:lnTo>
                  <a:lnTo>
                    <a:pt x="0" y="262682"/>
                  </a:lnTo>
                  <a:lnTo>
                    <a:pt x="0" y="52537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446492" y="2294636"/>
            <a:ext cx="131445" cy="98869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spc="-50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spc="-50" dirty="0">
                <a:latin typeface="Arial"/>
                <a:cs typeface="Arial"/>
              </a:rPr>
              <a:t>5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spc="-50" dirty="0">
                <a:latin typeface="Arial"/>
                <a:cs typeface="Arial"/>
              </a:rPr>
              <a:t>5</a:t>
            </a:r>
            <a:endParaRPr sz="15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14930" y="6757416"/>
            <a:ext cx="895625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0040" algn="l"/>
              </a:tabLst>
            </a:pPr>
            <a:r>
              <a:rPr sz="2600" b="1" spc="-10" dirty="0">
                <a:solidFill>
                  <a:srgbClr val="0332B7"/>
                </a:solidFill>
                <a:latin typeface="Arial"/>
                <a:cs typeface="Arial"/>
              </a:rPr>
              <a:t>Issue</a:t>
            </a:r>
            <a:r>
              <a:rPr sz="2600" b="1" spc="-16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ADD</a:t>
            </a:r>
            <a:r>
              <a:rPr lang="en-US" sz="2600" b="1" dirty="0">
                <a:solidFill>
                  <a:srgbClr val="0332B7"/>
                </a:solidFill>
                <a:latin typeface="Arial"/>
                <a:cs typeface="Arial"/>
              </a:rPr>
              <a:t>.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D</a:t>
            </a:r>
            <a:r>
              <a:rPr sz="2600" b="1" spc="-7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despite</a:t>
            </a:r>
            <a:r>
              <a:rPr sz="2600" b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name</a:t>
            </a:r>
            <a:r>
              <a:rPr sz="2600" b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0332B7"/>
                </a:solidFill>
                <a:latin typeface="Arial"/>
                <a:cs typeface="Arial"/>
              </a:rPr>
              <a:t>output-</a:t>
            </a:r>
            <a:r>
              <a:rPr sz="2600" b="1" spc="-10" dirty="0">
                <a:solidFill>
                  <a:srgbClr val="0332B7"/>
                </a:solidFill>
                <a:latin typeface="Arial"/>
                <a:cs typeface="Arial"/>
              </a:rPr>
              <a:t>dependency</a:t>
            </a:r>
            <a:r>
              <a:rPr sz="2600" b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on</a:t>
            </a:r>
            <a:r>
              <a:rPr sz="2600" b="1" spc="-8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0332B7"/>
                </a:solidFill>
                <a:latin typeface="Arial"/>
                <a:cs typeface="Arial"/>
              </a:rPr>
              <a:t>F6?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3" name="object 41">
            <a:extLst>
              <a:ext uri="{FF2B5EF4-FFF2-40B4-BE49-F238E27FC236}">
                <a16:creationId xmlns:a16="http://schemas.microsoft.com/office/drawing/2014/main" id="{0D8D3B5F-0D4A-25C5-480F-3D43B774D4F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50" dirty="0"/>
              <a:t>7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883420"/>
              </p:ext>
            </p:extLst>
          </p:nvPr>
        </p:nvGraphicFramePr>
        <p:xfrm>
          <a:off x="336204" y="1731665"/>
          <a:ext cx="9425936" cy="4872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5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6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80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882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2860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67310"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103505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7321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4508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732155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732155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89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689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895">
                <a:tc gridSpan="5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Reservation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Stations: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58419"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550" i="1" spc="180" dirty="0">
                          <a:latin typeface="Times New Roman"/>
                          <a:cs typeface="Times New Roman"/>
                        </a:rPr>
                        <a:t>S1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56845" marB="0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550" i="1" spc="180" dirty="0">
                          <a:latin typeface="Times New Roman"/>
                          <a:cs typeface="Times New Roman"/>
                        </a:rPr>
                        <a:t>S2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56845" marB="0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38735"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550" i="1" spc="165" dirty="0">
                          <a:latin typeface="Times New Roman"/>
                          <a:cs typeface="Times New Roman"/>
                        </a:rPr>
                        <a:t>RS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56845" marB="0"/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550" i="1" spc="165" dirty="0">
                          <a:latin typeface="Times New Roman"/>
                          <a:cs typeface="Times New Roman"/>
                        </a:rPr>
                        <a:t>RS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5684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430">
                <a:tc gridSpan="4">
                  <a:txBody>
                    <a:bodyPr/>
                    <a:lstStyle/>
                    <a:p>
                      <a:pPr marL="1255395">
                        <a:lnSpc>
                          <a:spcPts val="1730"/>
                        </a:lnSpc>
                        <a:spcBef>
                          <a:spcPts val="260"/>
                        </a:spcBef>
                        <a:tabLst>
                          <a:tab pos="1848485" algn="l"/>
                        </a:tabLst>
                      </a:pPr>
                      <a:r>
                        <a:rPr sz="1450" i="1" spc="6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4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125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220" dirty="0">
                          <a:latin typeface="Times New Roman"/>
                          <a:cs typeface="Times New Roman"/>
                        </a:rPr>
                        <a:t>Op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Vj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155" dirty="0">
                          <a:latin typeface="Times New Roman"/>
                          <a:cs typeface="Times New Roman"/>
                        </a:rPr>
                        <a:t>Vk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185" dirty="0">
                          <a:latin typeface="Times New Roman"/>
                          <a:cs typeface="Times New Roman"/>
                        </a:rPr>
                        <a:t>Qj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210" dirty="0">
                          <a:latin typeface="Times New Roman"/>
                          <a:cs typeface="Times New Roman"/>
                        </a:rPr>
                        <a:t>Qk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095">
                <a:tc gridSpan="4"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45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5" dirty="0">
                          <a:latin typeface="Times New Roman"/>
                          <a:cs typeface="Times New Roman"/>
                        </a:rPr>
                        <a:t>M(A1)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M(A2)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395">
                <a:tc gridSpan="4">
                  <a:txBody>
                    <a:bodyPr/>
                    <a:lstStyle/>
                    <a:p>
                      <a:pPr marR="131445" algn="r">
                        <a:lnSpc>
                          <a:spcPts val="1695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695"/>
                        </a:lnSpc>
                      </a:pPr>
                      <a:r>
                        <a:rPr sz="1450" spc="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ts val="1695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ts val="1695"/>
                        </a:lnSpc>
                      </a:pPr>
                      <a:r>
                        <a:rPr sz="1450" spc="10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M(A2)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695"/>
                        </a:lnSpc>
                      </a:pPr>
                      <a:r>
                        <a:rPr sz="1450" spc="114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Add1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395">
                <a:tc gridSpan="4"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395">
                <a:tc gridSpan="4">
                  <a:txBody>
                    <a:bodyPr/>
                    <a:lstStyle/>
                    <a:p>
                      <a:pPr marR="93980" algn="r">
                        <a:lnSpc>
                          <a:spcPts val="1695"/>
                        </a:lnSpc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45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50" spc="90" dirty="0">
                          <a:latin typeface="Times New Roman"/>
                          <a:cs typeface="Times New Roman"/>
                        </a:rPr>
                        <a:t>Mult1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695"/>
                        </a:lnSpc>
                      </a:pPr>
                      <a:r>
                        <a:rPr sz="1450" spc="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1695"/>
                        </a:lnSpc>
                      </a:pPr>
                      <a:r>
                        <a:rPr sz="1450" spc="13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695"/>
                        </a:lnSpc>
                      </a:pPr>
                      <a:r>
                        <a:rPr sz="1450" spc="10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M(A2)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95"/>
                        </a:lnSpc>
                      </a:pPr>
                      <a:r>
                        <a:rPr sz="1450" spc="10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R(F4)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790">
                <a:tc gridSpan="4">
                  <a:txBody>
                    <a:bodyPr/>
                    <a:lstStyle/>
                    <a:p>
                      <a:pPr marR="93980" algn="r">
                        <a:lnSpc>
                          <a:spcPts val="1655"/>
                        </a:lnSpc>
                        <a:spcBef>
                          <a:spcPts val="15"/>
                        </a:spcBef>
                      </a:pPr>
                      <a:r>
                        <a:rPr sz="1450" spc="90" dirty="0">
                          <a:latin typeface="Times New Roman"/>
                          <a:cs typeface="Times New Roman"/>
                        </a:rPr>
                        <a:t>Mult2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655"/>
                        </a:lnSpc>
                        <a:spcBef>
                          <a:spcPts val="15"/>
                        </a:spcBef>
                      </a:pPr>
                      <a:r>
                        <a:rPr sz="1450" spc="7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15"/>
                        </a:spcBef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ts val="1655"/>
                        </a:lnSpc>
                        <a:spcBef>
                          <a:spcPts val="15"/>
                        </a:spcBef>
                      </a:pPr>
                      <a:r>
                        <a:rPr sz="1450" spc="105" dirty="0">
                          <a:latin typeface="Times New Roman"/>
                          <a:cs typeface="Times New Roman"/>
                        </a:rPr>
                        <a:t>M(A1)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655"/>
                        </a:lnSpc>
                        <a:spcBef>
                          <a:spcPts val="15"/>
                        </a:spcBef>
                      </a:pPr>
                      <a:r>
                        <a:rPr sz="1450" spc="9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Mult1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1320">
                <a:tc gridSpan="12">
                  <a:txBody>
                    <a:bodyPr/>
                    <a:lstStyle/>
                    <a:p>
                      <a:pPr marL="31750">
                        <a:lnSpc>
                          <a:spcPts val="2270"/>
                        </a:lnSpc>
                        <a:spcBef>
                          <a:spcPts val="790"/>
                        </a:spcBef>
                      </a:pPr>
                      <a:r>
                        <a:rPr sz="1950" i="1" spc="13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Register</a:t>
                      </a:r>
                      <a:r>
                        <a:rPr sz="1950" i="1" spc="8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sz="1950" i="1" spc="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003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0995">
                <a:tc gridSpan="2"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950" spc="130" dirty="0">
                          <a:latin typeface="Times New Roman"/>
                          <a:cs typeface="Times New Roman"/>
                        </a:rPr>
                        <a:t>Clock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F4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F8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185"/>
                        </a:spcBef>
                        <a:tabLst>
                          <a:tab pos="1121410" algn="l"/>
                          <a:tab pos="1603375" algn="l"/>
                        </a:tabLst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F12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65" dirty="0">
                          <a:latin typeface="Times New Roman"/>
                          <a:cs typeface="Times New Roman"/>
                        </a:rPr>
                        <a:t>...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F30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1300">
                <a:tc gridSpan="2">
                  <a:txBody>
                    <a:bodyPr/>
                    <a:lstStyle/>
                    <a:p>
                      <a:pPr marL="735965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b="1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R="137160" algn="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i="1" spc="140" dirty="0">
                          <a:latin typeface="Times New Roman"/>
                          <a:cs typeface="Times New Roman"/>
                        </a:rPr>
                        <a:t>FU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9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0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M(A2)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Add1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9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Mult2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194643" y="3009381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79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4931" y="6742176"/>
            <a:ext cx="77882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0040" algn="l"/>
              </a:tabLst>
            </a:pP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Add1</a:t>
            </a:r>
            <a:r>
              <a:rPr sz="2600" b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(SUBD)</a:t>
            </a:r>
            <a:r>
              <a:rPr sz="2600" b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0332B7"/>
                </a:solidFill>
                <a:latin typeface="Arial"/>
                <a:cs typeface="Arial"/>
              </a:rPr>
              <a:t>completing;</a:t>
            </a:r>
            <a:r>
              <a:rPr sz="2600" b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what</a:t>
            </a:r>
            <a:r>
              <a:rPr sz="2600" b="1" spc="-7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is</a:t>
            </a:r>
            <a:r>
              <a:rPr sz="2600" b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waiting</a:t>
            </a:r>
            <a:r>
              <a:rPr sz="2600" b="1" spc="-8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for</a:t>
            </a:r>
            <a:r>
              <a:rPr sz="2600" b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0332B7"/>
                </a:solidFill>
                <a:latin typeface="Arial"/>
                <a:cs typeface="Arial"/>
              </a:rPr>
              <a:t>it?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50" dirty="0"/>
              <a:t>8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80557"/>
              </p:ext>
            </p:extLst>
          </p:nvPr>
        </p:nvGraphicFramePr>
        <p:xfrm>
          <a:off x="336204" y="1731665"/>
          <a:ext cx="8214992" cy="1998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4508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 marL="45085" algn="ctr">
                        <a:lnSpc>
                          <a:spcPts val="1555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89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89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8882" y="4662729"/>
            <a:ext cx="20523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7600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ADDD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25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spc="37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9042" y="4158326"/>
            <a:ext cx="1670050" cy="1000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605790" algn="l"/>
              </a:tabLst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125" dirty="0">
                <a:latin typeface="Times New Roman"/>
                <a:cs typeface="Times New Roman"/>
              </a:rPr>
              <a:t>Name</a:t>
            </a:r>
            <a:endParaRPr sz="1450">
              <a:latin typeface="Times New Roman"/>
              <a:cs typeface="Times New Roman"/>
            </a:endParaRPr>
          </a:p>
          <a:p>
            <a:pPr marL="1329055" marR="5080" indent="-723265" algn="just">
              <a:lnSpc>
                <a:spcPct val="108500"/>
              </a:lnSpc>
              <a:spcBef>
                <a:spcPts val="60"/>
              </a:spcBef>
            </a:pPr>
            <a:r>
              <a:rPr sz="1450" spc="135" dirty="0">
                <a:latin typeface="Times New Roman"/>
                <a:cs typeface="Times New Roman"/>
              </a:rPr>
              <a:t>Add1</a:t>
            </a:r>
            <a:r>
              <a:rPr sz="1450" spc="365" dirty="0">
                <a:latin typeface="Times New Roman"/>
                <a:cs typeface="Times New Roman"/>
              </a:rPr>
              <a:t>   </a:t>
            </a:r>
            <a:r>
              <a:rPr sz="1450" spc="100" dirty="0">
                <a:latin typeface="Times New Roman"/>
                <a:cs typeface="Times New Roman"/>
              </a:rPr>
              <a:t>No </a:t>
            </a:r>
            <a:r>
              <a:rPr sz="1450" spc="75" dirty="0">
                <a:latin typeface="Times New Roman"/>
                <a:cs typeface="Times New Roman"/>
              </a:rPr>
              <a:t>Yes 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6971" y="4637973"/>
            <a:ext cx="73025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 marR="41910" indent="-185420" algn="r">
              <a:lnSpc>
                <a:spcPct val="112000"/>
              </a:lnSpc>
              <a:spcBef>
                <a:spcPts val="95"/>
              </a:spcBef>
            </a:pPr>
            <a:r>
              <a:rPr sz="1450" spc="145" dirty="0">
                <a:latin typeface="Times New Roman"/>
                <a:cs typeface="Times New Roman"/>
              </a:rPr>
              <a:t>2</a:t>
            </a:r>
            <a:r>
              <a:rPr sz="1450" spc="21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Add2 Add3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1450" spc="145" dirty="0">
                <a:latin typeface="Times New Roman"/>
                <a:cs typeface="Times New Roman"/>
              </a:rPr>
              <a:t>7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Mult1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09"/>
              </a:spcBef>
            </a:pPr>
            <a:r>
              <a:rPr sz="1450" spc="90" dirty="0">
                <a:latin typeface="Times New Roman"/>
                <a:cs typeface="Times New Roman"/>
              </a:rPr>
              <a:t>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8241" y="5117620"/>
            <a:ext cx="3220720" cy="5207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  <a:tabLst>
                <a:tab pos="2002155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</a:t>
            </a:r>
            <a:r>
              <a:rPr sz="1450" spc="105" dirty="0">
                <a:latin typeface="Times New Roman"/>
                <a:cs typeface="Times New Roman"/>
              </a:rPr>
              <a:t>  </a:t>
            </a:r>
            <a:r>
              <a:rPr sz="1450" spc="14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spc="1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tabLst>
                <a:tab pos="574675" algn="l"/>
                <a:tab pos="1946275" algn="l"/>
                <a:tab pos="268795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80" dirty="0">
                <a:solidFill>
                  <a:srgbClr val="3333CC"/>
                </a:solidFill>
                <a:latin typeface="Times New Roman"/>
                <a:cs typeface="Times New Roman"/>
              </a:rPr>
              <a:t>Mult1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254" y="5714859"/>
            <a:ext cx="255333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558257"/>
              </p:ext>
            </p:extLst>
          </p:nvPr>
        </p:nvGraphicFramePr>
        <p:xfrm>
          <a:off x="707049" y="6079437"/>
          <a:ext cx="9052556" cy="531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6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043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spc="130" dirty="0">
                          <a:latin typeface="Times New Roman"/>
                          <a:cs typeface="Times New Roman"/>
                        </a:rPr>
                        <a:t>Clock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F4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F8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920" algn="ctr">
                        <a:lnSpc>
                          <a:spcPts val="2125"/>
                        </a:lnSpc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F10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125"/>
                        </a:lnSpc>
                        <a:tabLst>
                          <a:tab pos="1038225" algn="l"/>
                          <a:tab pos="1520190" algn="l"/>
                        </a:tabLst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F12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65" dirty="0">
                          <a:latin typeface="Times New Roman"/>
                          <a:cs typeface="Times New Roman"/>
                        </a:rPr>
                        <a:t>...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F30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5125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b="1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750570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i="1" spc="140" dirty="0">
                          <a:latin typeface="Times New Roman"/>
                          <a:cs typeface="Times New Roman"/>
                        </a:rPr>
                        <a:t>FU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9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0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M(A2)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(M-</a:t>
                      </a:r>
                      <a:r>
                        <a:rPr sz="1450" spc="10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M)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9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Mult2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2780982" y="4427869"/>
            <a:ext cx="4168140" cy="1210945"/>
            <a:chOff x="2780982" y="4427869"/>
            <a:chExt cx="4168140" cy="1210945"/>
          </a:xfrm>
        </p:grpSpPr>
        <p:sp>
          <p:nvSpPr>
            <p:cNvPr id="17" name="object 17"/>
            <p:cNvSpPr/>
            <p:nvPr/>
          </p:nvSpPr>
          <p:spPr>
            <a:xfrm>
              <a:off x="6913367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11780" y="4461086"/>
              <a:ext cx="4106545" cy="506095"/>
            </a:xfrm>
            <a:custGeom>
              <a:avLst/>
              <a:gdLst/>
              <a:ahLst/>
              <a:cxnLst/>
              <a:rect l="l" t="t" r="r" b="b"/>
              <a:pathLst>
                <a:path w="4106545" h="506095">
                  <a:moveTo>
                    <a:pt x="0" y="84345"/>
                  </a:moveTo>
                  <a:lnTo>
                    <a:pt x="6628" y="51514"/>
                  </a:lnTo>
                  <a:lnTo>
                    <a:pt x="24704" y="24704"/>
                  </a:lnTo>
                  <a:lnTo>
                    <a:pt x="51514" y="6628"/>
                  </a:lnTo>
                  <a:lnTo>
                    <a:pt x="84345" y="0"/>
                  </a:lnTo>
                  <a:lnTo>
                    <a:pt x="4021988" y="0"/>
                  </a:lnTo>
                  <a:lnTo>
                    <a:pt x="4054818" y="6628"/>
                  </a:lnTo>
                  <a:lnTo>
                    <a:pt x="4081628" y="24704"/>
                  </a:lnTo>
                  <a:lnTo>
                    <a:pt x="4099704" y="51514"/>
                  </a:lnTo>
                  <a:lnTo>
                    <a:pt x="4106333" y="84345"/>
                  </a:lnTo>
                  <a:lnTo>
                    <a:pt x="4106333" y="421703"/>
                  </a:lnTo>
                  <a:lnTo>
                    <a:pt x="4099704" y="454534"/>
                  </a:lnTo>
                  <a:lnTo>
                    <a:pt x="4081628" y="481344"/>
                  </a:lnTo>
                  <a:lnTo>
                    <a:pt x="4054818" y="499420"/>
                  </a:lnTo>
                  <a:lnTo>
                    <a:pt x="4021988" y="506048"/>
                  </a:lnTo>
                  <a:lnTo>
                    <a:pt x="84345" y="506048"/>
                  </a:lnTo>
                  <a:lnTo>
                    <a:pt x="51514" y="499420"/>
                  </a:lnTo>
                  <a:lnTo>
                    <a:pt x="24704" y="481344"/>
                  </a:lnTo>
                  <a:lnTo>
                    <a:pt x="6628" y="454534"/>
                  </a:lnTo>
                  <a:lnTo>
                    <a:pt x="0" y="421703"/>
                  </a:lnTo>
                  <a:lnTo>
                    <a:pt x="0" y="84345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4864947" y="3011782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79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92262" y="6392262"/>
            <a:ext cx="710565" cy="259715"/>
          </a:xfrm>
          <a:custGeom>
            <a:avLst/>
            <a:gdLst/>
            <a:ahLst/>
            <a:cxnLst/>
            <a:rect l="l" t="t" r="r" b="b"/>
            <a:pathLst>
              <a:path w="710565" h="259715">
                <a:moveTo>
                  <a:pt x="0" y="43278"/>
                </a:moveTo>
                <a:lnTo>
                  <a:pt x="3401" y="26432"/>
                </a:lnTo>
                <a:lnTo>
                  <a:pt x="12676" y="12676"/>
                </a:lnTo>
                <a:lnTo>
                  <a:pt x="26432" y="3401"/>
                </a:lnTo>
                <a:lnTo>
                  <a:pt x="43278" y="0"/>
                </a:lnTo>
                <a:lnTo>
                  <a:pt x="666890" y="0"/>
                </a:lnTo>
                <a:lnTo>
                  <a:pt x="683736" y="3401"/>
                </a:lnTo>
                <a:lnTo>
                  <a:pt x="697493" y="12676"/>
                </a:lnTo>
                <a:lnTo>
                  <a:pt x="706768" y="26432"/>
                </a:lnTo>
                <a:lnTo>
                  <a:pt x="710169" y="43278"/>
                </a:lnTo>
                <a:lnTo>
                  <a:pt x="710169" y="216388"/>
                </a:lnTo>
                <a:lnTo>
                  <a:pt x="706768" y="233235"/>
                </a:lnTo>
                <a:lnTo>
                  <a:pt x="697493" y="246991"/>
                </a:lnTo>
                <a:lnTo>
                  <a:pt x="683736" y="256266"/>
                </a:lnTo>
                <a:lnTo>
                  <a:pt x="666890" y="259667"/>
                </a:lnTo>
                <a:lnTo>
                  <a:pt x="43278" y="259667"/>
                </a:lnTo>
                <a:lnTo>
                  <a:pt x="26432" y="256266"/>
                </a:lnTo>
                <a:lnTo>
                  <a:pt x="12676" y="246991"/>
                </a:lnTo>
                <a:lnTo>
                  <a:pt x="3401" y="233235"/>
                </a:lnTo>
                <a:lnTo>
                  <a:pt x="0" y="216388"/>
                </a:lnTo>
                <a:lnTo>
                  <a:pt x="0" y="43278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50" dirty="0"/>
              <a:t>9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704966"/>
              </p:ext>
            </p:extLst>
          </p:nvPr>
        </p:nvGraphicFramePr>
        <p:xfrm>
          <a:off x="336204" y="1731665"/>
          <a:ext cx="8214992" cy="1998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4508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 marL="45085" algn="ctr">
                        <a:lnSpc>
                          <a:spcPts val="1555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89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89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8882" y="4662729"/>
            <a:ext cx="20523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7600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ADDD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25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spc="37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9042" y="4158326"/>
            <a:ext cx="1670050" cy="1000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605790" algn="l"/>
              </a:tabLst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125" dirty="0">
                <a:latin typeface="Times New Roman"/>
                <a:cs typeface="Times New Roman"/>
              </a:rPr>
              <a:t>Name</a:t>
            </a:r>
            <a:endParaRPr sz="1450">
              <a:latin typeface="Times New Roman"/>
              <a:cs typeface="Times New Roman"/>
            </a:endParaRPr>
          </a:p>
          <a:p>
            <a:pPr marL="1329055" marR="5080" indent="-723265" algn="just">
              <a:lnSpc>
                <a:spcPct val="108500"/>
              </a:lnSpc>
              <a:spcBef>
                <a:spcPts val="60"/>
              </a:spcBef>
            </a:pPr>
            <a:r>
              <a:rPr sz="1450" spc="135" dirty="0">
                <a:latin typeface="Times New Roman"/>
                <a:cs typeface="Times New Roman"/>
              </a:rPr>
              <a:t>Add1</a:t>
            </a:r>
            <a:r>
              <a:rPr sz="1450" spc="365" dirty="0">
                <a:latin typeface="Times New Roman"/>
                <a:cs typeface="Times New Roman"/>
              </a:rPr>
              <a:t>   </a:t>
            </a:r>
            <a:r>
              <a:rPr sz="1450" spc="100" dirty="0">
                <a:latin typeface="Times New Roman"/>
                <a:cs typeface="Times New Roman"/>
              </a:rPr>
              <a:t>No </a:t>
            </a:r>
            <a:r>
              <a:rPr sz="1450" spc="75" dirty="0">
                <a:latin typeface="Times New Roman"/>
                <a:cs typeface="Times New Roman"/>
              </a:rPr>
              <a:t>Yes 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6971" y="4637973"/>
            <a:ext cx="73025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 marR="41910" indent="-185420" algn="r">
              <a:lnSpc>
                <a:spcPct val="112000"/>
              </a:lnSpc>
              <a:spcBef>
                <a:spcPts val="95"/>
              </a:spcBef>
            </a:pPr>
            <a:r>
              <a:rPr sz="1450" spc="145" dirty="0">
                <a:latin typeface="Times New Roman"/>
                <a:cs typeface="Times New Roman"/>
              </a:rPr>
              <a:t>1</a:t>
            </a:r>
            <a:r>
              <a:rPr sz="1450" spc="21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Add2 Add3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1450" spc="145" dirty="0">
                <a:latin typeface="Times New Roman"/>
                <a:cs typeface="Times New Roman"/>
              </a:rPr>
              <a:t>6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Mult1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09"/>
              </a:spcBef>
            </a:pPr>
            <a:r>
              <a:rPr sz="1450" spc="90" dirty="0">
                <a:latin typeface="Times New Roman"/>
                <a:cs typeface="Times New Roman"/>
              </a:rPr>
              <a:t>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8241" y="5117620"/>
            <a:ext cx="3220720" cy="5207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  <a:tabLst>
                <a:tab pos="2002155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</a:t>
            </a:r>
            <a:r>
              <a:rPr sz="1450" spc="105" dirty="0">
                <a:latin typeface="Times New Roman"/>
                <a:cs typeface="Times New Roman"/>
              </a:rPr>
              <a:t>  </a:t>
            </a:r>
            <a:r>
              <a:rPr sz="1450" spc="14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spc="1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tabLst>
                <a:tab pos="574675" algn="l"/>
                <a:tab pos="1946275" algn="l"/>
                <a:tab pos="268795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80" dirty="0">
                <a:solidFill>
                  <a:srgbClr val="3333CC"/>
                </a:solidFill>
                <a:latin typeface="Times New Roman"/>
                <a:cs typeface="Times New Roman"/>
              </a:rPr>
              <a:t>Mult1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254" y="5714859"/>
            <a:ext cx="255333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969618"/>
              </p:ext>
            </p:extLst>
          </p:nvPr>
        </p:nvGraphicFramePr>
        <p:xfrm>
          <a:off x="707049" y="6079437"/>
          <a:ext cx="9052556" cy="531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6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043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spc="130" dirty="0">
                          <a:latin typeface="Times New Roman"/>
                          <a:cs typeface="Times New Roman"/>
                        </a:rPr>
                        <a:t>Clock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F4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F8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920" algn="ctr">
                        <a:lnSpc>
                          <a:spcPts val="2125"/>
                        </a:lnSpc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F10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125"/>
                        </a:lnSpc>
                        <a:tabLst>
                          <a:tab pos="1038225" algn="l"/>
                          <a:tab pos="1520190" algn="l"/>
                        </a:tabLst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F12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65" dirty="0">
                          <a:latin typeface="Times New Roman"/>
                          <a:cs typeface="Times New Roman"/>
                        </a:rPr>
                        <a:t>...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F30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5125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b="1" spc="95" dirty="0">
                          <a:latin typeface="Times New Roman"/>
                          <a:cs typeface="Times New Roman"/>
                        </a:rPr>
                        <a:t>9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750570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i="1" spc="140" dirty="0">
                          <a:latin typeface="Times New Roman"/>
                          <a:cs typeface="Times New Roman"/>
                        </a:rPr>
                        <a:t>FU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9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0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M(A2)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(M-</a:t>
                      </a:r>
                      <a:r>
                        <a:rPr sz="1450" spc="10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M)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9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Mult2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17" name="object 17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25" dirty="0"/>
              <a:t>10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581276"/>
              </p:ext>
            </p:extLst>
          </p:nvPr>
        </p:nvGraphicFramePr>
        <p:xfrm>
          <a:off x="336204" y="1731665"/>
          <a:ext cx="8214992" cy="1998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4508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695">
                <a:tc>
                  <a:txBody>
                    <a:bodyPr/>
                    <a:lstStyle/>
                    <a:p>
                      <a:pPr marL="45085" algn="ctr">
                        <a:lnSpc>
                          <a:spcPts val="1555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89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89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89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89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8882" y="4662729"/>
            <a:ext cx="20523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7600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ADDD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25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spc="37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9042" y="4158326"/>
            <a:ext cx="1670050" cy="1000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605790" algn="l"/>
              </a:tabLst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125" dirty="0">
                <a:latin typeface="Times New Roman"/>
                <a:cs typeface="Times New Roman"/>
              </a:rPr>
              <a:t>Name</a:t>
            </a:r>
            <a:endParaRPr sz="1450">
              <a:latin typeface="Times New Roman"/>
              <a:cs typeface="Times New Roman"/>
            </a:endParaRPr>
          </a:p>
          <a:p>
            <a:pPr marL="1329055" marR="5080" indent="-723265" algn="just">
              <a:lnSpc>
                <a:spcPct val="108500"/>
              </a:lnSpc>
              <a:spcBef>
                <a:spcPts val="60"/>
              </a:spcBef>
            </a:pPr>
            <a:r>
              <a:rPr sz="1450" spc="135" dirty="0">
                <a:latin typeface="Times New Roman"/>
                <a:cs typeface="Times New Roman"/>
              </a:rPr>
              <a:t>Add1</a:t>
            </a:r>
            <a:r>
              <a:rPr sz="1450" spc="365" dirty="0">
                <a:latin typeface="Times New Roman"/>
                <a:cs typeface="Times New Roman"/>
              </a:rPr>
              <a:t>   </a:t>
            </a:r>
            <a:r>
              <a:rPr sz="1450" spc="100" dirty="0">
                <a:latin typeface="Times New Roman"/>
                <a:cs typeface="Times New Roman"/>
              </a:rPr>
              <a:t>No </a:t>
            </a:r>
            <a:r>
              <a:rPr sz="1450" spc="75" dirty="0">
                <a:latin typeface="Times New Roman"/>
                <a:cs typeface="Times New Roman"/>
              </a:rPr>
              <a:t>Yes 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6971" y="4637973"/>
            <a:ext cx="73025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 marR="41910" indent="-185420" algn="r">
              <a:lnSpc>
                <a:spcPct val="112000"/>
              </a:lnSpc>
              <a:spcBef>
                <a:spcPts val="95"/>
              </a:spcBef>
            </a:pPr>
            <a:r>
              <a:rPr sz="1450" spc="145" dirty="0">
                <a:latin typeface="Times New Roman"/>
                <a:cs typeface="Times New Roman"/>
              </a:rPr>
              <a:t>0</a:t>
            </a:r>
            <a:r>
              <a:rPr sz="1450" spc="21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Add2 Add3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1450" spc="145" dirty="0">
                <a:latin typeface="Times New Roman"/>
                <a:cs typeface="Times New Roman"/>
              </a:rPr>
              <a:t>5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Mult1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09"/>
              </a:spcBef>
            </a:pPr>
            <a:r>
              <a:rPr sz="1450" spc="90" dirty="0">
                <a:latin typeface="Times New Roman"/>
                <a:cs typeface="Times New Roman"/>
              </a:rPr>
              <a:t>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8241" y="5117620"/>
            <a:ext cx="3220720" cy="5207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  <a:tabLst>
                <a:tab pos="2002155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</a:t>
            </a:r>
            <a:r>
              <a:rPr sz="1450" spc="105" dirty="0">
                <a:latin typeface="Times New Roman"/>
                <a:cs typeface="Times New Roman"/>
              </a:rPr>
              <a:t>  </a:t>
            </a:r>
            <a:r>
              <a:rPr sz="1450" spc="14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spc="1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tabLst>
                <a:tab pos="574675" algn="l"/>
                <a:tab pos="1946275" algn="l"/>
                <a:tab pos="268795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80" dirty="0">
                <a:solidFill>
                  <a:srgbClr val="3333CC"/>
                </a:solidFill>
                <a:latin typeface="Times New Roman"/>
                <a:cs typeface="Times New Roman"/>
              </a:rPr>
              <a:t>Mult1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254" y="5714859"/>
            <a:ext cx="255333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699378"/>
              </p:ext>
            </p:extLst>
          </p:nvPr>
        </p:nvGraphicFramePr>
        <p:xfrm>
          <a:off x="707049" y="6079437"/>
          <a:ext cx="9052556" cy="531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6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043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0195">
                <a:tc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spc="130" dirty="0">
                          <a:latin typeface="Times New Roman"/>
                          <a:cs typeface="Times New Roman"/>
                        </a:rPr>
                        <a:t>Clock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F4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2125"/>
                        </a:lnSpc>
                      </a:pPr>
                      <a:r>
                        <a:rPr sz="1950" i="1" spc="125" dirty="0">
                          <a:latin typeface="Times New Roman"/>
                          <a:cs typeface="Times New Roman"/>
                        </a:rPr>
                        <a:t>F8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920" algn="ctr">
                        <a:lnSpc>
                          <a:spcPts val="2125"/>
                        </a:lnSpc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F10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125"/>
                        </a:lnSpc>
                        <a:tabLst>
                          <a:tab pos="1038225" algn="l"/>
                          <a:tab pos="1520190" algn="l"/>
                        </a:tabLst>
                      </a:pP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F12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65" dirty="0">
                          <a:latin typeface="Times New Roman"/>
                          <a:cs typeface="Times New Roman"/>
                        </a:rPr>
                        <a:t>...</a:t>
                      </a:r>
                      <a:r>
                        <a:rPr sz="19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i="1" spc="135" dirty="0">
                          <a:latin typeface="Times New Roman"/>
                          <a:cs typeface="Times New Roman"/>
                        </a:rPr>
                        <a:t>F30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09880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b="1" spc="12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750570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i="1" spc="140" dirty="0">
                          <a:latin typeface="Times New Roman"/>
                          <a:cs typeface="Times New Roman"/>
                        </a:rPr>
                        <a:t>FU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9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0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M(A2)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11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(M-</a:t>
                      </a:r>
                      <a:r>
                        <a:rPr sz="1450" spc="10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M)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ts val="1730"/>
                        </a:lnSpc>
                        <a:spcBef>
                          <a:spcPts val="70"/>
                        </a:spcBef>
                      </a:pPr>
                      <a:r>
                        <a:rPr sz="1450" spc="9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Mult2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17" name="object 17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81355" y="3488855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79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3400" y="6749866"/>
            <a:ext cx="8093996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0040" algn="l"/>
              </a:tabLst>
            </a:pP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Add2</a:t>
            </a:r>
            <a:r>
              <a:rPr sz="2600" b="1" spc="4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(ADD</a:t>
            </a:r>
            <a:r>
              <a:rPr lang="en-US" sz="2600" b="1" dirty="0">
                <a:solidFill>
                  <a:srgbClr val="0332B7"/>
                </a:solidFill>
                <a:latin typeface="Arial"/>
                <a:cs typeface="Arial"/>
              </a:rPr>
              <a:t>.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D)</a:t>
            </a:r>
            <a:r>
              <a:rPr sz="2600" b="1" spc="5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completing;</a:t>
            </a:r>
            <a:r>
              <a:rPr sz="2600" b="1" spc="5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what</a:t>
            </a:r>
            <a:r>
              <a:rPr sz="2600" b="1" spc="5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is</a:t>
            </a:r>
            <a:r>
              <a:rPr sz="2600" b="1" spc="4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waiting</a:t>
            </a:r>
            <a:r>
              <a:rPr sz="2600" b="1" spc="4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for</a:t>
            </a:r>
            <a:r>
              <a:rPr sz="2600" b="1" spc="4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0332B7"/>
                </a:solidFill>
                <a:latin typeface="Arial"/>
                <a:cs typeface="Arial"/>
              </a:rPr>
              <a:t>it?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25" dirty="0"/>
              <a:t>11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6204" y="1731665"/>
          <a:ext cx="8215625" cy="1278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4508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marL="45085" algn="ctr">
                        <a:lnSpc>
                          <a:spcPts val="156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575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575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575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57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575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407477"/>
              </p:ext>
            </p:extLst>
          </p:nvPr>
        </p:nvGraphicFramePr>
        <p:xfrm>
          <a:off x="427442" y="3040089"/>
          <a:ext cx="5008243" cy="713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3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6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29">
                <a:tc>
                  <a:txBody>
                    <a:bodyPr/>
                    <a:lstStyle/>
                    <a:p>
                      <a:pPr marR="38100" algn="ctr">
                        <a:lnSpc>
                          <a:spcPts val="1775"/>
                        </a:lnSpc>
                        <a:spcBef>
                          <a:spcPts val="1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9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59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59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159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59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59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ts val="159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R="38100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95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69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695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ts val="1695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11</a:t>
                      </a:r>
                      <a:endParaRPr sz="14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89939" y="3097276"/>
            <a:ext cx="3684904" cy="13220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20040" marR="5080" indent="-307975">
              <a:lnSpc>
                <a:spcPct val="92100"/>
              </a:lnSpc>
              <a:spcBef>
                <a:spcPts val="280"/>
              </a:spcBef>
              <a:buFont typeface="Arial MT"/>
              <a:buChar char="•"/>
              <a:tabLst>
                <a:tab pos="320040" algn="l"/>
                <a:tab pos="1045844" algn="l"/>
              </a:tabLst>
            </a:pP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If</a:t>
            </a:r>
            <a:r>
              <a:rPr sz="1900" b="1" i="1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scoreboard,</a:t>
            </a:r>
            <a:r>
              <a:rPr sz="1900" b="1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ADD</a:t>
            </a:r>
            <a:r>
              <a:rPr lang="en-US" sz="1900" b="1" i="1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1900" b="1" i="1" spc="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spc="-10" dirty="0">
                <a:solidFill>
                  <a:srgbClr val="FF0000"/>
                </a:solidFill>
                <a:latin typeface="Arial"/>
                <a:cs typeface="Arial"/>
              </a:rPr>
              <a:t>cannot 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write</a:t>
            </a:r>
            <a:r>
              <a:rPr sz="1900" b="1" i="1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result</a:t>
            </a:r>
            <a:r>
              <a:rPr sz="1900" b="1" i="1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due</a:t>
            </a:r>
            <a:r>
              <a:rPr sz="1900" b="1" i="1" spc="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900" b="1" i="1" spc="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F6</a:t>
            </a:r>
            <a:r>
              <a:rPr sz="1900" b="1" i="1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read</a:t>
            </a:r>
            <a:r>
              <a:rPr sz="1900" b="1" i="1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spc="-25" dirty="0">
                <a:solidFill>
                  <a:srgbClr val="FF0000"/>
                </a:solidFill>
                <a:latin typeface="Arial"/>
                <a:cs typeface="Arial"/>
              </a:rPr>
              <a:t>at </a:t>
            </a:r>
            <a:r>
              <a:rPr sz="1900" b="1" i="1" spc="-20" dirty="0">
                <a:solidFill>
                  <a:srgbClr val="FF0000"/>
                </a:solidFill>
                <a:latin typeface="Arial"/>
                <a:cs typeface="Arial"/>
              </a:rPr>
              <a:t>DIVD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	(avoid</a:t>
            </a:r>
            <a:r>
              <a:rPr sz="1900" b="1" i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F0000"/>
                </a:solidFill>
                <a:latin typeface="Arial"/>
                <a:cs typeface="Arial"/>
              </a:rPr>
              <a:t>WAR</a:t>
            </a:r>
            <a:r>
              <a:rPr sz="1900" b="1" i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b="1" i="1" spc="-10" dirty="0">
                <a:solidFill>
                  <a:srgbClr val="FF0000"/>
                </a:solidFill>
                <a:latin typeface="Arial"/>
                <a:cs typeface="Arial"/>
              </a:rPr>
              <a:t>hazard)</a:t>
            </a:r>
            <a:endParaRPr sz="1900" dirty="0">
              <a:latin typeface="Arial"/>
              <a:cs typeface="Arial"/>
            </a:endParaRPr>
          </a:p>
          <a:p>
            <a:pPr marL="704215">
              <a:lnSpc>
                <a:spcPts val="1525"/>
              </a:lnSpc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 dirty="0">
              <a:latin typeface="Times New Roman"/>
              <a:cs typeface="Times New Roman"/>
            </a:endParaRPr>
          </a:p>
          <a:p>
            <a:pPr marL="704215">
              <a:lnSpc>
                <a:spcPct val="100000"/>
              </a:lnSpc>
              <a:spcBef>
                <a:spcPts val="330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72394" y="4158326"/>
            <a:ext cx="532130" cy="1000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09700"/>
              </a:lnSpc>
              <a:spcBef>
                <a:spcPts val="135"/>
              </a:spcBef>
            </a:pPr>
            <a:r>
              <a:rPr sz="1450" i="1" spc="125" dirty="0">
                <a:latin typeface="Times New Roman"/>
                <a:cs typeface="Times New Roman"/>
              </a:rPr>
              <a:t>Name </a:t>
            </a:r>
            <a:r>
              <a:rPr sz="1450" spc="114" dirty="0">
                <a:latin typeface="Times New Roman"/>
                <a:cs typeface="Times New Roman"/>
              </a:rPr>
              <a:t>Add1 Add2 Add3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15530" y="4430641"/>
            <a:ext cx="4079875" cy="195168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9539" marR="3681729">
              <a:lnSpc>
                <a:spcPct val="105000"/>
              </a:lnSpc>
              <a:spcBef>
                <a:spcPts val="25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209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85"/>
              </a:spcBef>
              <a:tabLst>
                <a:tab pos="2094864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</a:t>
            </a:r>
            <a:r>
              <a:rPr sz="1450" spc="105" dirty="0">
                <a:latin typeface="Times New Roman"/>
                <a:cs typeface="Times New Roman"/>
              </a:rPr>
              <a:t>  </a:t>
            </a:r>
            <a:r>
              <a:rPr sz="1450" spc="14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spc="1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210"/>
              </a:spcBef>
              <a:tabLst>
                <a:tab pos="667385" algn="l"/>
                <a:tab pos="2038985" algn="l"/>
                <a:tab pos="278066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80" dirty="0">
                <a:solidFill>
                  <a:srgbClr val="3333CC"/>
                </a:solidFill>
                <a:latin typeface="Times New Roman"/>
                <a:cs typeface="Times New Roman"/>
              </a:rPr>
              <a:t>Mult1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741680">
              <a:lnSpc>
                <a:spcPct val="100000"/>
              </a:lnSpc>
              <a:tabLst>
                <a:tab pos="1464310" algn="l"/>
                <a:tab pos="2169160" algn="l"/>
                <a:tab pos="2854960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F6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86971" y="5117620"/>
            <a:ext cx="730250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 marR="5080" indent="-185420">
              <a:lnSpc>
                <a:spcPct val="112000"/>
              </a:lnSpc>
              <a:spcBef>
                <a:spcPts val="95"/>
              </a:spcBef>
            </a:pPr>
            <a:r>
              <a:rPr sz="1450" spc="145" dirty="0">
                <a:latin typeface="Times New Roman"/>
                <a:cs typeface="Times New Roman"/>
              </a:rPr>
              <a:t>4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Mult1 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62941" y="6039781"/>
            <a:ext cx="110109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205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90693" y="6039781"/>
            <a:ext cx="186118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2335" algn="l"/>
                <a:tab pos="1384300" algn="l"/>
              </a:tabLst>
            </a:pPr>
            <a:r>
              <a:rPr sz="1950" i="1" spc="135" dirty="0">
                <a:latin typeface="Times New Roman"/>
                <a:cs typeface="Times New Roman"/>
              </a:rPr>
              <a:t>F12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254" y="5687008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  <a:spcBef>
                <a:spcPts val="229"/>
              </a:spcBef>
            </a:pPr>
            <a:r>
              <a:rPr sz="1450" b="1" spc="120" dirty="0">
                <a:latin typeface="Times New Roman"/>
                <a:cs typeface="Times New Roman"/>
              </a:rPr>
              <a:t>11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14084" y="6364704"/>
            <a:ext cx="6836409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  <a:tab pos="1254760" algn="l"/>
                <a:tab pos="2478405" algn="l"/>
                <a:tab pos="4072890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0000FF"/>
                </a:solidFill>
                <a:latin typeface="Times New Roman"/>
                <a:cs typeface="Times New Roman"/>
              </a:rPr>
              <a:t>Mult1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(M-</a:t>
            </a:r>
            <a:r>
              <a:rPr sz="1450" spc="165" dirty="0">
                <a:solidFill>
                  <a:srgbClr val="1FB714"/>
                </a:solidFill>
                <a:latin typeface="Times New Roman"/>
                <a:cs typeface="Times New Roman"/>
              </a:rPr>
              <a:t>M+M(</a:t>
            </a:r>
            <a:r>
              <a:rPr sz="1450" spc="165" dirty="0">
                <a:solidFill>
                  <a:srgbClr val="FF00FF"/>
                </a:solidFill>
                <a:latin typeface="Times New Roman"/>
                <a:cs typeface="Times New Roman"/>
              </a:rPr>
              <a:t>M-</a:t>
            </a:r>
            <a:r>
              <a:rPr sz="1450" spc="100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1FB714"/>
                </a:solidFill>
                <a:latin typeface="Times New Roman"/>
                <a:cs typeface="Times New Roman"/>
              </a:rPr>
              <a:t>Mult2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53255" y="2292664"/>
            <a:ext cx="19050" cy="1454785"/>
            <a:chOff x="3353255" y="2292664"/>
            <a:chExt cx="19050" cy="1454785"/>
          </a:xfrm>
        </p:grpSpPr>
        <p:sp>
          <p:nvSpPr>
            <p:cNvPr id="21" name="object 21"/>
            <p:cNvSpPr/>
            <p:nvPr/>
          </p:nvSpPr>
          <p:spPr>
            <a:xfrm>
              <a:off x="3371798" y="2292664"/>
              <a:ext cx="0" cy="1454785"/>
            </a:xfrm>
            <a:custGeom>
              <a:avLst/>
              <a:gdLst/>
              <a:ahLst/>
              <a:cxnLst/>
              <a:rect l="l" t="t" r="r" b="b"/>
              <a:pathLst>
                <a:path h="1454785">
                  <a:moveTo>
                    <a:pt x="0" y="0"/>
                  </a:moveTo>
                  <a:lnTo>
                    <a:pt x="0" y="1454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55573" y="2292664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53256" y="2292664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3"/>
                  </a:lnTo>
                  <a:lnTo>
                    <a:pt x="18542" y="1438943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371797" y="2292664"/>
            <a:ext cx="2155825" cy="1454785"/>
            <a:chOff x="3371797" y="2292664"/>
            <a:chExt cx="2155825" cy="1454785"/>
          </a:xfrm>
        </p:grpSpPr>
        <p:sp>
          <p:nvSpPr>
            <p:cNvPr id="25" name="object 25"/>
            <p:cNvSpPr/>
            <p:nvPr/>
          </p:nvSpPr>
          <p:spPr>
            <a:xfrm>
              <a:off x="5522697" y="2308137"/>
              <a:ext cx="0" cy="1439545"/>
            </a:xfrm>
            <a:custGeom>
              <a:avLst/>
              <a:gdLst/>
              <a:ahLst/>
              <a:cxnLst/>
              <a:rect l="l" t="t" r="r" b="b"/>
              <a:pathLst>
                <a:path h="1439545">
                  <a:moveTo>
                    <a:pt x="0" y="0"/>
                  </a:moveTo>
                  <a:lnTo>
                    <a:pt x="0" y="1438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06473" y="2292664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04154" y="2292667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71797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30" name="object 30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3353255" y="6319202"/>
            <a:ext cx="6416040" cy="390525"/>
            <a:chOff x="3353255" y="6319202"/>
            <a:chExt cx="6416040" cy="390525"/>
          </a:xfrm>
        </p:grpSpPr>
        <p:sp>
          <p:nvSpPr>
            <p:cNvPr id="40" name="object 40"/>
            <p:cNvSpPr/>
            <p:nvPr/>
          </p:nvSpPr>
          <p:spPr>
            <a:xfrm>
              <a:off x="3371798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355573" y="6361931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53244" y="6361938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752646" y="637740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750323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71797" y="636193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71786" y="6361938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79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79" y="15468"/>
                  </a:lnTo>
                  <a:lnTo>
                    <a:pt x="6397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71797" y="660949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344417" y="6350000"/>
              <a:ext cx="930275" cy="328930"/>
            </a:xfrm>
            <a:custGeom>
              <a:avLst/>
              <a:gdLst/>
              <a:ahLst/>
              <a:cxnLst/>
              <a:rect l="l" t="t" r="r" b="b"/>
              <a:pathLst>
                <a:path w="930275" h="328929">
                  <a:moveTo>
                    <a:pt x="0" y="54751"/>
                  </a:moveTo>
                  <a:lnTo>
                    <a:pt x="4302" y="33439"/>
                  </a:lnTo>
                  <a:lnTo>
                    <a:pt x="16036" y="16036"/>
                  </a:lnTo>
                  <a:lnTo>
                    <a:pt x="33439" y="4302"/>
                  </a:lnTo>
                  <a:lnTo>
                    <a:pt x="54751" y="0"/>
                  </a:lnTo>
                  <a:lnTo>
                    <a:pt x="875219" y="0"/>
                  </a:lnTo>
                  <a:lnTo>
                    <a:pt x="896531" y="4302"/>
                  </a:lnTo>
                  <a:lnTo>
                    <a:pt x="913934" y="16036"/>
                  </a:lnTo>
                  <a:lnTo>
                    <a:pt x="925668" y="33439"/>
                  </a:lnTo>
                  <a:lnTo>
                    <a:pt x="929971" y="54751"/>
                  </a:lnTo>
                  <a:lnTo>
                    <a:pt x="929971" y="273754"/>
                  </a:lnTo>
                  <a:lnTo>
                    <a:pt x="925668" y="295066"/>
                  </a:lnTo>
                  <a:lnTo>
                    <a:pt x="913934" y="312470"/>
                  </a:lnTo>
                  <a:lnTo>
                    <a:pt x="896531" y="324203"/>
                  </a:lnTo>
                  <a:lnTo>
                    <a:pt x="875219" y="328506"/>
                  </a:lnTo>
                  <a:lnTo>
                    <a:pt x="54751" y="328506"/>
                  </a:lnTo>
                  <a:lnTo>
                    <a:pt x="33439" y="324203"/>
                  </a:lnTo>
                  <a:lnTo>
                    <a:pt x="16036" y="312470"/>
                  </a:lnTo>
                  <a:lnTo>
                    <a:pt x="4302" y="295066"/>
                  </a:lnTo>
                  <a:lnTo>
                    <a:pt x="0" y="273754"/>
                  </a:lnTo>
                  <a:lnTo>
                    <a:pt x="0" y="54751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864947" y="3488855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79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15695" y="6701156"/>
            <a:ext cx="6124575" cy="84264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20040" algn="l"/>
              </a:tabLst>
            </a:pPr>
            <a:r>
              <a:rPr sz="2200" b="1" spc="-20" dirty="0">
                <a:solidFill>
                  <a:srgbClr val="0332B7"/>
                </a:solidFill>
                <a:latin typeface="Arial"/>
                <a:cs typeface="Arial"/>
              </a:rPr>
              <a:t>Write</a:t>
            </a:r>
            <a:r>
              <a:rPr sz="2200" b="1" spc="-1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332B7"/>
                </a:solidFill>
                <a:latin typeface="Arial"/>
                <a:cs typeface="Arial"/>
              </a:rPr>
              <a:t>result</a:t>
            </a:r>
            <a:r>
              <a:rPr sz="22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332B7"/>
                </a:solidFill>
                <a:latin typeface="Arial"/>
                <a:cs typeface="Arial"/>
              </a:rPr>
              <a:t>of</a:t>
            </a:r>
            <a:r>
              <a:rPr sz="2200" b="1" spc="-1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32B7"/>
                </a:solidFill>
                <a:latin typeface="Arial"/>
                <a:cs typeface="Arial"/>
              </a:rPr>
              <a:t>ADD</a:t>
            </a:r>
            <a:r>
              <a:rPr lang="en-US" sz="2200" b="1" dirty="0">
                <a:solidFill>
                  <a:srgbClr val="0332B7"/>
                </a:solidFill>
                <a:latin typeface="Arial"/>
                <a:cs typeface="Arial"/>
              </a:rPr>
              <a:t>.</a:t>
            </a:r>
            <a:r>
              <a:rPr sz="2200" b="1" dirty="0">
                <a:solidFill>
                  <a:srgbClr val="0332B7"/>
                </a:solidFill>
                <a:latin typeface="Arial"/>
                <a:cs typeface="Arial"/>
              </a:rPr>
              <a:t>D</a:t>
            </a:r>
            <a:r>
              <a:rPr sz="2200" b="1" spc="-10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332B7"/>
                </a:solidFill>
                <a:latin typeface="Arial"/>
                <a:cs typeface="Arial"/>
              </a:rPr>
              <a:t>here?</a:t>
            </a:r>
            <a:endParaRPr sz="2200" dirty="0">
              <a:latin typeface="Arial"/>
              <a:cs typeface="Arial"/>
            </a:endParaRPr>
          </a:p>
          <a:p>
            <a:pPr marL="320040" indent="-30734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20040" algn="l"/>
              </a:tabLst>
            </a:pPr>
            <a:r>
              <a:rPr sz="2200" b="1" dirty="0">
                <a:solidFill>
                  <a:srgbClr val="0332B7"/>
                </a:solidFill>
                <a:latin typeface="Arial"/>
                <a:cs typeface="Arial"/>
              </a:rPr>
              <a:t>All</a:t>
            </a:r>
            <a:r>
              <a:rPr sz="2200" b="1" spc="-9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332B7"/>
                </a:solidFill>
                <a:latin typeface="Arial"/>
                <a:cs typeface="Arial"/>
              </a:rPr>
              <a:t>quick</a:t>
            </a:r>
            <a:r>
              <a:rPr sz="2200" b="1" spc="-10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30" dirty="0">
                <a:solidFill>
                  <a:srgbClr val="0332B7"/>
                </a:solidFill>
                <a:latin typeface="Arial"/>
                <a:cs typeface="Arial"/>
              </a:rPr>
              <a:t>instructions</a:t>
            </a:r>
            <a:r>
              <a:rPr sz="2200" b="1" spc="-10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0332B7"/>
                </a:solidFill>
                <a:latin typeface="Arial"/>
                <a:cs typeface="Arial"/>
              </a:rPr>
              <a:t>complete</a:t>
            </a:r>
            <a:r>
              <a:rPr sz="2200" b="1" spc="-10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32B7"/>
                </a:solidFill>
                <a:latin typeface="Arial"/>
                <a:cs typeface="Arial"/>
              </a:rPr>
              <a:t>in</a:t>
            </a:r>
            <a:r>
              <a:rPr sz="2200" b="1" spc="-10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332B7"/>
                </a:solidFill>
                <a:latin typeface="Arial"/>
                <a:cs typeface="Arial"/>
              </a:rPr>
              <a:t>this</a:t>
            </a:r>
            <a:r>
              <a:rPr sz="2200" b="1" spc="-10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332B7"/>
                </a:solidFill>
                <a:latin typeface="Arial"/>
                <a:cs typeface="Arial"/>
              </a:rPr>
              <a:t>cycle!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2" name="object 41">
            <a:extLst>
              <a:ext uri="{FF2B5EF4-FFF2-40B4-BE49-F238E27FC236}">
                <a16:creationId xmlns:a16="http://schemas.microsoft.com/office/drawing/2014/main" id="{13688CB4-AEB1-6B65-11F6-08F2CAA7B2A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25" dirty="0"/>
              <a:t>12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976454"/>
              </p:ext>
            </p:extLst>
          </p:nvPr>
        </p:nvGraphicFramePr>
        <p:xfrm>
          <a:off x="336204" y="1731665"/>
          <a:ext cx="8214992" cy="201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4508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95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9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95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95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2394" y="4158326"/>
            <a:ext cx="532130" cy="1000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09700"/>
              </a:lnSpc>
              <a:spcBef>
                <a:spcPts val="135"/>
              </a:spcBef>
            </a:pPr>
            <a:r>
              <a:rPr sz="1450" i="1" spc="125" dirty="0">
                <a:latin typeface="Times New Roman"/>
                <a:cs typeface="Times New Roman"/>
              </a:rPr>
              <a:t>Name </a:t>
            </a:r>
            <a:r>
              <a:rPr sz="1450" spc="114" dirty="0">
                <a:latin typeface="Times New Roman"/>
                <a:cs typeface="Times New Roman"/>
              </a:rPr>
              <a:t>Add1 Add2 Add3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5530" y="4430641"/>
            <a:ext cx="4079875" cy="195168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9539" marR="3681729">
              <a:lnSpc>
                <a:spcPct val="105000"/>
              </a:lnSpc>
              <a:spcBef>
                <a:spcPts val="25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209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85"/>
              </a:spcBef>
              <a:tabLst>
                <a:tab pos="2094864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</a:t>
            </a:r>
            <a:r>
              <a:rPr sz="1450" spc="105" dirty="0">
                <a:latin typeface="Times New Roman"/>
                <a:cs typeface="Times New Roman"/>
              </a:rPr>
              <a:t>  </a:t>
            </a:r>
            <a:r>
              <a:rPr sz="1450" spc="14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spc="1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210"/>
              </a:spcBef>
              <a:tabLst>
                <a:tab pos="667385" algn="l"/>
                <a:tab pos="2038985" algn="l"/>
                <a:tab pos="278066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80" dirty="0">
                <a:solidFill>
                  <a:srgbClr val="3333CC"/>
                </a:solidFill>
                <a:latin typeface="Times New Roman"/>
                <a:cs typeface="Times New Roman"/>
              </a:rPr>
              <a:t>Mult1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741680">
              <a:lnSpc>
                <a:spcPct val="100000"/>
              </a:lnSpc>
              <a:tabLst>
                <a:tab pos="1464310" algn="l"/>
                <a:tab pos="2169160" algn="l"/>
                <a:tab pos="2854960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F6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6971" y="5117620"/>
            <a:ext cx="730250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 marR="5080" indent="-185420">
              <a:lnSpc>
                <a:spcPct val="112000"/>
              </a:lnSpc>
              <a:spcBef>
                <a:spcPts val="95"/>
              </a:spcBef>
            </a:pPr>
            <a:r>
              <a:rPr sz="1450" spc="145" dirty="0">
                <a:latin typeface="Times New Roman"/>
                <a:cs typeface="Times New Roman"/>
              </a:rPr>
              <a:t>3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Mult1 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941" y="6039781"/>
            <a:ext cx="110109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205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90693" y="6039781"/>
            <a:ext cx="186118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2335" algn="l"/>
                <a:tab pos="1384300" algn="l"/>
              </a:tabLst>
            </a:pPr>
            <a:r>
              <a:rPr sz="1950" i="1" spc="135" dirty="0">
                <a:latin typeface="Times New Roman"/>
                <a:cs typeface="Times New Roman"/>
              </a:rPr>
              <a:t>F12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254" y="5687008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  <a:spcBef>
                <a:spcPts val="229"/>
              </a:spcBef>
            </a:pPr>
            <a:r>
              <a:rPr sz="1450" b="1" spc="120" dirty="0">
                <a:latin typeface="Times New Roman"/>
                <a:cs typeface="Times New Roman"/>
              </a:rPr>
              <a:t>12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14084" y="6364704"/>
            <a:ext cx="6836409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  <a:tab pos="1254760" algn="l"/>
                <a:tab pos="2478405" algn="l"/>
                <a:tab pos="4072890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0000FF"/>
                </a:solidFill>
                <a:latin typeface="Times New Roman"/>
                <a:cs typeface="Times New Roman"/>
              </a:rPr>
              <a:t>Mult1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(M-</a:t>
            </a:r>
            <a:r>
              <a:rPr sz="1450" spc="165" dirty="0">
                <a:solidFill>
                  <a:srgbClr val="1FB714"/>
                </a:solidFill>
                <a:latin typeface="Times New Roman"/>
                <a:cs typeface="Times New Roman"/>
              </a:rPr>
              <a:t>M+M</a:t>
            </a:r>
            <a:r>
              <a:rPr sz="1450" spc="165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00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1FB714"/>
                </a:solidFill>
                <a:latin typeface="Times New Roman"/>
                <a:cs typeface="Times New Roman"/>
              </a:rPr>
              <a:t>Mult2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19" name="object 19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353255" y="6361931"/>
            <a:ext cx="6416040" cy="263525"/>
            <a:chOff x="3353255" y="6361931"/>
            <a:chExt cx="6416040" cy="263525"/>
          </a:xfrm>
        </p:grpSpPr>
        <p:sp>
          <p:nvSpPr>
            <p:cNvPr id="29" name="object 29"/>
            <p:cNvSpPr/>
            <p:nvPr/>
          </p:nvSpPr>
          <p:spPr>
            <a:xfrm>
              <a:off x="3371798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55573" y="6361931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53244" y="6361938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52646" y="637740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50323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1797" y="636193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71786" y="6361938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79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79" y="15468"/>
                  </a:lnTo>
                  <a:lnTo>
                    <a:pt x="6397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71797" y="660949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371797" y="3731607"/>
            <a:ext cx="2155825" cy="4445"/>
            <a:chOff x="3371797" y="3731607"/>
            <a:chExt cx="2155825" cy="4445"/>
          </a:xfrm>
        </p:grpSpPr>
        <p:sp>
          <p:nvSpPr>
            <p:cNvPr id="38" name="object 38"/>
            <p:cNvSpPr/>
            <p:nvPr/>
          </p:nvSpPr>
          <p:spPr>
            <a:xfrm>
              <a:off x="3371797" y="3731608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71797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25" dirty="0"/>
              <a:t>13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538728"/>
              </p:ext>
            </p:extLst>
          </p:nvPr>
        </p:nvGraphicFramePr>
        <p:xfrm>
          <a:off x="336204" y="1731665"/>
          <a:ext cx="8214992" cy="201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4508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95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9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95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95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2394" y="4158326"/>
            <a:ext cx="532130" cy="1000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09700"/>
              </a:lnSpc>
              <a:spcBef>
                <a:spcPts val="135"/>
              </a:spcBef>
            </a:pPr>
            <a:r>
              <a:rPr sz="1450" i="1" spc="125" dirty="0">
                <a:latin typeface="Times New Roman"/>
                <a:cs typeface="Times New Roman"/>
              </a:rPr>
              <a:t>Name </a:t>
            </a:r>
            <a:r>
              <a:rPr sz="1450" spc="114" dirty="0">
                <a:latin typeface="Times New Roman"/>
                <a:cs typeface="Times New Roman"/>
              </a:rPr>
              <a:t>Add1 Add2 Add3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5530" y="4430641"/>
            <a:ext cx="4079875" cy="195168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9539" marR="3681729">
              <a:lnSpc>
                <a:spcPct val="105000"/>
              </a:lnSpc>
              <a:spcBef>
                <a:spcPts val="25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209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85"/>
              </a:spcBef>
              <a:tabLst>
                <a:tab pos="2094864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</a:t>
            </a:r>
            <a:r>
              <a:rPr sz="1450" spc="105" dirty="0">
                <a:latin typeface="Times New Roman"/>
                <a:cs typeface="Times New Roman"/>
              </a:rPr>
              <a:t>  </a:t>
            </a:r>
            <a:r>
              <a:rPr sz="1450" spc="14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spc="1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210"/>
              </a:spcBef>
              <a:tabLst>
                <a:tab pos="667385" algn="l"/>
                <a:tab pos="2038985" algn="l"/>
                <a:tab pos="278066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80" dirty="0">
                <a:solidFill>
                  <a:srgbClr val="3333CC"/>
                </a:solidFill>
                <a:latin typeface="Times New Roman"/>
                <a:cs typeface="Times New Roman"/>
              </a:rPr>
              <a:t>Mult1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741680">
              <a:lnSpc>
                <a:spcPct val="100000"/>
              </a:lnSpc>
              <a:tabLst>
                <a:tab pos="1464310" algn="l"/>
                <a:tab pos="2169160" algn="l"/>
                <a:tab pos="2854960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F6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6971" y="5117620"/>
            <a:ext cx="730250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 marR="5080" indent="-185420">
              <a:lnSpc>
                <a:spcPct val="112000"/>
              </a:lnSpc>
              <a:spcBef>
                <a:spcPts val="95"/>
              </a:spcBef>
            </a:pPr>
            <a:r>
              <a:rPr sz="1450" spc="145" dirty="0">
                <a:latin typeface="Times New Roman"/>
                <a:cs typeface="Times New Roman"/>
              </a:rPr>
              <a:t>2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Mult1 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941" y="6039781"/>
            <a:ext cx="110109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205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90693" y="6039781"/>
            <a:ext cx="186118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2335" algn="l"/>
                <a:tab pos="1384300" algn="l"/>
              </a:tabLst>
            </a:pPr>
            <a:r>
              <a:rPr sz="1950" i="1" spc="135" dirty="0">
                <a:latin typeface="Times New Roman"/>
                <a:cs typeface="Times New Roman"/>
              </a:rPr>
              <a:t>F12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254" y="5687008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  <a:spcBef>
                <a:spcPts val="229"/>
              </a:spcBef>
            </a:pPr>
            <a:r>
              <a:rPr sz="1450" b="1" spc="120" dirty="0">
                <a:latin typeface="Times New Roman"/>
                <a:cs typeface="Times New Roman"/>
              </a:rPr>
              <a:t>13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14084" y="6364704"/>
            <a:ext cx="6836409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  <a:tab pos="1254760" algn="l"/>
                <a:tab pos="2478405" algn="l"/>
                <a:tab pos="4072890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0000FF"/>
                </a:solidFill>
                <a:latin typeface="Times New Roman"/>
                <a:cs typeface="Times New Roman"/>
              </a:rPr>
              <a:t>Mult1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(M-</a:t>
            </a:r>
            <a:r>
              <a:rPr sz="1450" spc="165" dirty="0">
                <a:solidFill>
                  <a:srgbClr val="1FB714"/>
                </a:solidFill>
                <a:latin typeface="Times New Roman"/>
                <a:cs typeface="Times New Roman"/>
              </a:rPr>
              <a:t>M+M</a:t>
            </a:r>
            <a:r>
              <a:rPr sz="1450" spc="165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00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1FB714"/>
                </a:solidFill>
                <a:latin typeface="Times New Roman"/>
                <a:cs typeface="Times New Roman"/>
              </a:rPr>
              <a:t>Mult2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19" name="object 19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353255" y="6361931"/>
            <a:ext cx="6416040" cy="263525"/>
            <a:chOff x="3353255" y="6361931"/>
            <a:chExt cx="6416040" cy="263525"/>
          </a:xfrm>
        </p:grpSpPr>
        <p:sp>
          <p:nvSpPr>
            <p:cNvPr id="29" name="object 29"/>
            <p:cNvSpPr/>
            <p:nvPr/>
          </p:nvSpPr>
          <p:spPr>
            <a:xfrm>
              <a:off x="3371798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55573" y="6361931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53244" y="6361938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52646" y="637740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50323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1797" y="636193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71786" y="6361938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79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79" y="15468"/>
                  </a:lnTo>
                  <a:lnTo>
                    <a:pt x="6397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71797" y="660949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371797" y="3731607"/>
            <a:ext cx="2155825" cy="4445"/>
            <a:chOff x="3371797" y="3731607"/>
            <a:chExt cx="2155825" cy="4445"/>
          </a:xfrm>
        </p:grpSpPr>
        <p:sp>
          <p:nvSpPr>
            <p:cNvPr id="38" name="object 38"/>
            <p:cNvSpPr/>
            <p:nvPr/>
          </p:nvSpPr>
          <p:spPr>
            <a:xfrm>
              <a:off x="3371797" y="3731608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71797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25" dirty="0"/>
              <a:t>14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604559"/>
              </p:ext>
            </p:extLst>
          </p:nvPr>
        </p:nvGraphicFramePr>
        <p:xfrm>
          <a:off x="336204" y="1731665"/>
          <a:ext cx="8214992" cy="201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4508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95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9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95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95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2394" y="4158326"/>
            <a:ext cx="532130" cy="1000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09700"/>
              </a:lnSpc>
              <a:spcBef>
                <a:spcPts val="135"/>
              </a:spcBef>
            </a:pPr>
            <a:r>
              <a:rPr sz="1450" i="1" spc="125" dirty="0">
                <a:latin typeface="Times New Roman"/>
                <a:cs typeface="Times New Roman"/>
              </a:rPr>
              <a:t>Name </a:t>
            </a:r>
            <a:r>
              <a:rPr sz="1450" spc="114" dirty="0">
                <a:latin typeface="Times New Roman"/>
                <a:cs typeface="Times New Roman"/>
              </a:rPr>
              <a:t>Add1 Add2 Add3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5530" y="4430641"/>
            <a:ext cx="4079875" cy="195168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9539" marR="3681729">
              <a:lnSpc>
                <a:spcPct val="105000"/>
              </a:lnSpc>
              <a:spcBef>
                <a:spcPts val="25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209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85"/>
              </a:spcBef>
              <a:tabLst>
                <a:tab pos="2094864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</a:t>
            </a:r>
            <a:r>
              <a:rPr sz="1450" spc="105" dirty="0">
                <a:latin typeface="Times New Roman"/>
                <a:cs typeface="Times New Roman"/>
              </a:rPr>
              <a:t>  </a:t>
            </a:r>
            <a:r>
              <a:rPr sz="1450" spc="14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spc="1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210"/>
              </a:spcBef>
              <a:tabLst>
                <a:tab pos="667385" algn="l"/>
                <a:tab pos="2038985" algn="l"/>
                <a:tab pos="278066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80" dirty="0">
                <a:solidFill>
                  <a:srgbClr val="3333CC"/>
                </a:solidFill>
                <a:latin typeface="Times New Roman"/>
                <a:cs typeface="Times New Roman"/>
              </a:rPr>
              <a:t>Mult1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741680">
              <a:lnSpc>
                <a:spcPct val="100000"/>
              </a:lnSpc>
              <a:tabLst>
                <a:tab pos="1464310" algn="l"/>
                <a:tab pos="2169160" algn="l"/>
                <a:tab pos="2854960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F6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6971" y="5117620"/>
            <a:ext cx="730250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 marR="5080" indent="-185420">
              <a:lnSpc>
                <a:spcPct val="112000"/>
              </a:lnSpc>
              <a:spcBef>
                <a:spcPts val="95"/>
              </a:spcBef>
            </a:pPr>
            <a:r>
              <a:rPr sz="1450" spc="145" dirty="0">
                <a:latin typeface="Times New Roman"/>
                <a:cs typeface="Times New Roman"/>
              </a:rPr>
              <a:t>1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Mult1 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941" y="6039781"/>
            <a:ext cx="110109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205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90693" y="6039781"/>
            <a:ext cx="186118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2335" algn="l"/>
                <a:tab pos="1384300" algn="l"/>
              </a:tabLst>
            </a:pPr>
            <a:r>
              <a:rPr sz="1950" i="1" spc="135" dirty="0">
                <a:latin typeface="Times New Roman"/>
                <a:cs typeface="Times New Roman"/>
              </a:rPr>
              <a:t>F12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254" y="5687008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  <a:spcBef>
                <a:spcPts val="229"/>
              </a:spcBef>
            </a:pPr>
            <a:r>
              <a:rPr sz="1450" b="1" spc="120" dirty="0">
                <a:latin typeface="Times New Roman"/>
                <a:cs typeface="Times New Roman"/>
              </a:rPr>
              <a:t>14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14084" y="6364704"/>
            <a:ext cx="6836409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  <a:tab pos="1254760" algn="l"/>
                <a:tab pos="2478405" algn="l"/>
                <a:tab pos="4072890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0000FF"/>
                </a:solidFill>
                <a:latin typeface="Times New Roman"/>
                <a:cs typeface="Times New Roman"/>
              </a:rPr>
              <a:t>Mult1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(M-</a:t>
            </a:r>
            <a:r>
              <a:rPr sz="1450" spc="165" dirty="0">
                <a:solidFill>
                  <a:srgbClr val="1FB714"/>
                </a:solidFill>
                <a:latin typeface="Times New Roman"/>
                <a:cs typeface="Times New Roman"/>
              </a:rPr>
              <a:t>M+M</a:t>
            </a:r>
            <a:r>
              <a:rPr sz="1450" spc="165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00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1FB714"/>
                </a:solidFill>
                <a:latin typeface="Times New Roman"/>
                <a:cs typeface="Times New Roman"/>
              </a:rPr>
              <a:t>Mult2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19" name="object 19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353255" y="6361931"/>
            <a:ext cx="6416040" cy="263525"/>
            <a:chOff x="3353255" y="6361931"/>
            <a:chExt cx="6416040" cy="263525"/>
          </a:xfrm>
        </p:grpSpPr>
        <p:sp>
          <p:nvSpPr>
            <p:cNvPr id="29" name="object 29"/>
            <p:cNvSpPr/>
            <p:nvPr/>
          </p:nvSpPr>
          <p:spPr>
            <a:xfrm>
              <a:off x="3371798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55573" y="6361931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53244" y="6361938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52646" y="637740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50323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1797" y="636193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71786" y="6361938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79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79" y="15468"/>
                  </a:lnTo>
                  <a:lnTo>
                    <a:pt x="6397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71797" y="660949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371797" y="3731607"/>
            <a:ext cx="2155825" cy="4445"/>
            <a:chOff x="3371797" y="3731607"/>
            <a:chExt cx="2155825" cy="4445"/>
          </a:xfrm>
        </p:grpSpPr>
        <p:sp>
          <p:nvSpPr>
            <p:cNvPr id="38" name="object 38"/>
            <p:cNvSpPr/>
            <p:nvPr/>
          </p:nvSpPr>
          <p:spPr>
            <a:xfrm>
              <a:off x="3371797" y="3731608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71797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25" dirty="0"/>
              <a:t>15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524372"/>
              </p:ext>
            </p:extLst>
          </p:nvPr>
        </p:nvGraphicFramePr>
        <p:xfrm>
          <a:off x="336204" y="1731665"/>
          <a:ext cx="8214992" cy="201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1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94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4508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60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5085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95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95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9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95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95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2394" y="4158326"/>
            <a:ext cx="532130" cy="1000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09700"/>
              </a:lnSpc>
              <a:spcBef>
                <a:spcPts val="135"/>
              </a:spcBef>
            </a:pPr>
            <a:r>
              <a:rPr sz="1450" i="1" spc="125" dirty="0">
                <a:latin typeface="Times New Roman"/>
                <a:cs typeface="Times New Roman"/>
              </a:rPr>
              <a:t>Name </a:t>
            </a:r>
            <a:r>
              <a:rPr sz="1450" spc="114" dirty="0">
                <a:latin typeface="Times New Roman"/>
                <a:cs typeface="Times New Roman"/>
              </a:rPr>
              <a:t>Add1 Add2 Add3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5530" y="4430641"/>
            <a:ext cx="4079875" cy="195168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9539" marR="3681729">
              <a:lnSpc>
                <a:spcPct val="105000"/>
              </a:lnSpc>
              <a:spcBef>
                <a:spcPts val="25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209"/>
              </a:spcBef>
            </a:pP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85"/>
              </a:spcBef>
              <a:tabLst>
                <a:tab pos="2094864" algn="l"/>
              </a:tabLst>
            </a:pPr>
            <a:r>
              <a:rPr sz="1450" spc="100" dirty="0">
                <a:latin typeface="Times New Roman"/>
                <a:cs typeface="Times New Roman"/>
              </a:rPr>
              <a:t>Yes</a:t>
            </a:r>
            <a:r>
              <a:rPr sz="1450" spc="105" dirty="0">
                <a:latin typeface="Times New Roman"/>
                <a:cs typeface="Times New Roman"/>
              </a:rPr>
              <a:t>  </a:t>
            </a:r>
            <a:r>
              <a:rPr sz="1450" spc="145" dirty="0">
                <a:solidFill>
                  <a:srgbClr val="3333CC"/>
                </a:solidFill>
                <a:latin typeface="Times New Roman"/>
                <a:cs typeface="Times New Roman"/>
              </a:rPr>
              <a:t>MULTD</a:t>
            </a:r>
            <a:r>
              <a:rPr sz="1450" spc="1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solidFill>
                  <a:srgbClr val="3333CC"/>
                </a:solidFill>
                <a:latin typeface="Times New Roman"/>
                <a:cs typeface="Times New Roman"/>
              </a:rPr>
              <a:t>R(F4)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210"/>
              </a:spcBef>
              <a:tabLst>
                <a:tab pos="667385" algn="l"/>
                <a:tab pos="2038985" algn="l"/>
                <a:tab pos="278066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80" dirty="0">
                <a:solidFill>
                  <a:srgbClr val="3333CC"/>
                </a:solidFill>
                <a:latin typeface="Times New Roman"/>
                <a:cs typeface="Times New Roman"/>
              </a:rPr>
              <a:t>Mult1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741680">
              <a:lnSpc>
                <a:spcPct val="100000"/>
              </a:lnSpc>
              <a:tabLst>
                <a:tab pos="1464310" algn="l"/>
                <a:tab pos="2169160" algn="l"/>
                <a:tab pos="2854960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F6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6971" y="5117620"/>
            <a:ext cx="730250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 marR="5080" indent="-185420">
              <a:lnSpc>
                <a:spcPct val="112000"/>
              </a:lnSpc>
              <a:spcBef>
                <a:spcPts val="95"/>
              </a:spcBef>
            </a:pPr>
            <a:r>
              <a:rPr sz="1450" spc="145" dirty="0">
                <a:latin typeface="Times New Roman"/>
                <a:cs typeface="Times New Roman"/>
              </a:rPr>
              <a:t>0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Mult1 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941" y="6039781"/>
            <a:ext cx="1917064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205" algn="l"/>
                <a:tab pos="1440180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80721" y="6039781"/>
            <a:ext cx="9715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665" algn="l"/>
              </a:tabLst>
            </a:pP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254" y="5687008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  <a:spcBef>
                <a:spcPts val="229"/>
              </a:spcBef>
            </a:pPr>
            <a:r>
              <a:rPr sz="1450" b="1" spc="120" dirty="0">
                <a:latin typeface="Times New Roman"/>
                <a:cs typeface="Times New Roman"/>
              </a:rPr>
              <a:t>15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14084" y="6364704"/>
            <a:ext cx="6836409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  <a:tab pos="1254760" algn="l"/>
                <a:tab pos="2478405" algn="l"/>
                <a:tab pos="4072890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0000FF"/>
                </a:solidFill>
                <a:latin typeface="Times New Roman"/>
                <a:cs typeface="Times New Roman"/>
              </a:rPr>
              <a:t>Mult1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(M-</a:t>
            </a:r>
            <a:r>
              <a:rPr sz="1450" spc="165" dirty="0">
                <a:solidFill>
                  <a:srgbClr val="1FB714"/>
                </a:solidFill>
                <a:latin typeface="Times New Roman"/>
                <a:cs typeface="Times New Roman"/>
              </a:rPr>
              <a:t>M+M</a:t>
            </a:r>
            <a:r>
              <a:rPr sz="1450" spc="165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00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1FB714"/>
                </a:solidFill>
                <a:latin typeface="Times New Roman"/>
                <a:cs typeface="Times New Roman"/>
              </a:rPr>
              <a:t>Mult2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19" name="object 19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353255" y="6361931"/>
            <a:ext cx="6416040" cy="263525"/>
            <a:chOff x="3353255" y="6361931"/>
            <a:chExt cx="6416040" cy="263525"/>
          </a:xfrm>
        </p:grpSpPr>
        <p:sp>
          <p:nvSpPr>
            <p:cNvPr id="29" name="object 29"/>
            <p:cNvSpPr/>
            <p:nvPr/>
          </p:nvSpPr>
          <p:spPr>
            <a:xfrm>
              <a:off x="3371798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55573" y="6361931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53244" y="6361938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52646" y="637740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50323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1797" y="636193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71786" y="6361938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79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79" y="15468"/>
                  </a:lnTo>
                  <a:lnTo>
                    <a:pt x="6397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71797" y="660949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371797" y="3731607"/>
            <a:ext cx="2155825" cy="4445"/>
            <a:chOff x="3371797" y="3731607"/>
            <a:chExt cx="2155825" cy="4445"/>
          </a:xfrm>
        </p:grpSpPr>
        <p:sp>
          <p:nvSpPr>
            <p:cNvPr id="38" name="object 38"/>
            <p:cNvSpPr/>
            <p:nvPr/>
          </p:nvSpPr>
          <p:spPr>
            <a:xfrm>
              <a:off x="3371797" y="3731608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71797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471175" y="4214707"/>
            <a:ext cx="710565" cy="1396365"/>
          </a:xfrm>
          <a:custGeom>
            <a:avLst/>
            <a:gdLst/>
            <a:ahLst/>
            <a:cxnLst/>
            <a:rect l="l" t="t" r="r" b="b"/>
            <a:pathLst>
              <a:path w="710564" h="1396364">
                <a:moveTo>
                  <a:pt x="0" y="118363"/>
                </a:moveTo>
                <a:lnTo>
                  <a:pt x="9301" y="72290"/>
                </a:lnTo>
                <a:lnTo>
                  <a:pt x="34667" y="34667"/>
                </a:lnTo>
                <a:lnTo>
                  <a:pt x="72291" y="9301"/>
                </a:lnTo>
                <a:lnTo>
                  <a:pt x="118363" y="0"/>
                </a:lnTo>
                <a:lnTo>
                  <a:pt x="591806" y="0"/>
                </a:lnTo>
                <a:lnTo>
                  <a:pt x="637878" y="9301"/>
                </a:lnTo>
                <a:lnTo>
                  <a:pt x="675501" y="34667"/>
                </a:lnTo>
                <a:lnTo>
                  <a:pt x="700867" y="72290"/>
                </a:lnTo>
                <a:lnTo>
                  <a:pt x="710169" y="118363"/>
                </a:lnTo>
                <a:lnTo>
                  <a:pt x="710169" y="1277790"/>
                </a:lnTo>
                <a:lnTo>
                  <a:pt x="700867" y="1323862"/>
                </a:lnTo>
                <a:lnTo>
                  <a:pt x="675501" y="1361485"/>
                </a:lnTo>
                <a:lnTo>
                  <a:pt x="637878" y="1386851"/>
                </a:lnTo>
                <a:lnTo>
                  <a:pt x="591806" y="1396153"/>
                </a:lnTo>
                <a:lnTo>
                  <a:pt x="118363" y="1396153"/>
                </a:lnTo>
                <a:lnTo>
                  <a:pt x="72291" y="1386851"/>
                </a:lnTo>
                <a:lnTo>
                  <a:pt x="34667" y="1361485"/>
                </a:lnTo>
                <a:lnTo>
                  <a:pt x="9301" y="1323862"/>
                </a:lnTo>
                <a:lnTo>
                  <a:pt x="0" y="1277790"/>
                </a:lnTo>
                <a:lnTo>
                  <a:pt x="0" y="1183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81355" y="2776289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80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73868" y="6757416"/>
            <a:ext cx="80232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0040" algn="l"/>
              </a:tabLst>
            </a:pP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Mult1</a:t>
            </a:r>
            <a:r>
              <a:rPr sz="2600" b="1" spc="-9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0332B7"/>
                </a:solidFill>
                <a:latin typeface="Arial"/>
                <a:cs typeface="Arial"/>
              </a:rPr>
              <a:t>(MULTD)</a:t>
            </a:r>
            <a:r>
              <a:rPr sz="2600" b="1" spc="-8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0332B7"/>
                </a:solidFill>
                <a:latin typeface="Arial"/>
                <a:cs typeface="Arial"/>
              </a:rPr>
              <a:t>completing;</a:t>
            </a:r>
            <a:r>
              <a:rPr sz="2600" b="1" spc="-8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what</a:t>
            </a:r>
            <a:r>
              <a:rPr sz="2600" b="1" spc="-8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is</a:t>
            </a:r>
            <a:r>
              <a:rPr sz="2600" b="1" spc="-9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waiting</a:t>
            </a:r>
            <a:r>
              <a:rPr sz="2600" b="1" spc="-9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for</a:t>
            </a:r>
            <a:r>
              <a:rPr sz="2600" b="1" spc="-8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0332B7"/>
                </a:solidFill>
                <a:latin typeface="Arial"/>
                <a:cs typeface="Arial"/>
              </a:rPr>
              <a:t>it?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25" dirty="0"/>
              <a:t>16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496653"/>
              </p:ext>
            </p:extLst>
          </p:nvPr>
        </p:nvGraphicFramePr>
        <p:xfrm>
          <a:off x="336204" y="1731665"/>
          <a:ext cx="8221343" cy="201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5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0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1841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841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1841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60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60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1841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18415" algn="ctr">
                        <a:lnSpc>
                          <a:spcPts val="1739"/>
                        </a:lnSpc>
                        <a:spcBef>
                          <a:spcPts val="2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18415" algn="ctr">
                        <a:lnSpc>
                          <a:spcPts val="1720"/>
                        </a:lnSpc>
                        <a:spcBef>
                          <a:spcPts val="5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14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14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14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14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4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14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14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2394" y="4158326"/>
            <a:ext cx="544830" cy="12325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algn="just">
              <a:lnSpc>
                <a:spcPct val="108500"/>
              </a:lnSpc>
              <a:spcBef>
                <a:spcPts val="155"/>
              </a:spcBef>
            </a:pPr>
            <a:r>
              <a:rPr sz="1450" i="1" spc="125" dirty="0">
                <a:latin typeface="Times New Roman"/>
                <a:cs typeface="Times New Roman"/>
              </a:rPr>
              <a:t>Name </a:t>
            </a:r>
            <a:r>
              <a:rPr sz="1450" spc="114" dirty="0">
                <a:latin typeface="Times New Roman"/>
                <a:cs typeface="Times New Roman"/>
              </a:rPr>
              <a:t>Add1 Add2 Add3 </a:t>
            </a:r>
            <a:r>
              <a:rPr sz="1450" spc="90" dirty="0">
                <a:latin typeface="Times New Roman"/>
                <a:cs typeface="Times New Roman"/>
              </a:rPr>
              <a:t>Mult1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5718" y="5389936"/>
            <a:ext cx="84137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45" dirty="0">
                <a:latin typeface="Times New Roman"/>
                <a:cs typeface="Times New Roman"/>
              </a:rPr>
              <a:t>40</a:t>
            </a:r>
            <a:r>
              <a:rPr sz="1450" spc="215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15530" y="4430641"/>
            <a:ext cx="4079875" cy="19316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9539" marR="3681729">
              <a:lnSpc>
                <a:spcPct val="105000"/>
              </a:lnSpc>
              <a:spcBef>
                <a:spcPts val="25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129539" marR="3681729">
              <a:lnSpc>
                <a:spcPct val="105000"/>
              </a:lnSpc>
              <a:spcBef>
                <a:spcPts val="120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210"/>
              </a:spcBef>
              <a:tabLst>
                <a:tab pos="667385" algn="l"/>
                <a:tab pos="1390015" algn="l"/>
                <a:tab pos="203898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0000FF"/>
                </a:solidFill>
                <a:latin typeface="Times New Roman"/>
                <a:cs typeface="Times New Roman"/>
              </a:rPr>
              <a:t>M*F4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741680">
              <a:lnSpc>
                <a:spcPct val="100000"/>
              </a:lnSpc>
              <a:tabLst>
                <a:tab pos="1464310" algn="l"/>
                <a:tab pos="2169160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58335" y="6039781"/>
            <a:ext cx="399351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6915" algn="l"/>
                <a:tab pos="1329055" algn="l"/>
                <a:tab pos="2144395" algn="l"/>
                <a:tab pos="3034665" algn="l"/>
                <a:tab pos="3516629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F6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5254" y="5687008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  <a:spcBef>
                <a:spcPts val="229"/>
              </a:spcBef>
            </a:pPr>
            <a:r>
              <a:rPr sz="1450" b="1" spc="120" dirty="0">
                <a:latin typeface="Times New Roman"/>
                <a:cs typeface="Times New Roman"/>
              </a:rPr>
              <a:t>16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14084" y="6364704"/>
            <a:ext cx="6836409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  <a:tab pos="1254760" algn="l"/>
                <a:tab pos="2478405" algn="l"/>
                <a:tab pos="4072890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0000FF"/>
                </a:solidFill>
                <a:latin typeface="Times New Roman"/>
                <a:cs typeface="Times New Roman"/>
              </a:rPr>
              <a:t>M*F4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(M-</a:t>
            </a:r>
            <a:r>
              <a:rPr sz="1450" spc="165" dirty="0">
                <a:solidFill>
                  <a:srgbClr val="1FB714"/>
                </a:solidFill>
                <a:latin typeface="Times New Roman"/>
                <a:cs typeface="Times New Roman"/>
              </a:rPr>
              <a:t>M+M</a:t>
            </a:r>
            <a:r>
              <a:rPr sz="1450" spc="165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00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1FB714"/>
                </a:solidFill>
                <a:latin typeface="Times New Roman"/>
                <a:cs typeface="Times New Roman"/>
              </a:rPr>
              <a:t>Mult2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371797" y="3731607"/>
            <a:ext cx="2155825" cy="4445"/>
            <a:chOff x="3371797" y="3731607"/>
            <a:chExt cx="2155825" cy="4445"/>
          </a:xfrm>
        </p:grpSpPr>
        <p:sp>
          <p:nvSpPr>
            <p:cNvPr id="18" name="object 18"/>
            <p:cNvSpPr/>
            <p:nvPr/>
          </p:nvSpPr>
          <p:spPr>
            <a:xfrm>
              <a:off x="3371797" y="3731608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71797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471175" y="4214707"/>
            <a:ext cx="710565" cy="1478280"/>
          </a:xfrm>
          <a:custGeom>
            <a:avLst/>
            <a:gdLst/>
            <a:ahLst/>
            <a:cxnLst/>
            <a:rect l="l" t="t" r="r" b="b"/>
            <a:pathLst>
              <a:path w="710564" h="1478279">
                <a:moveTo>
                  <a:pt x="0" y="118364"/>
                </a:moveTo>
                <a:lnTo>
                  <a:pt x="9301" y="72291"/>
                </a:lnTo>
                <a:lnTo>
                  <a:pt x="34668" y="34668"/>
                </a:lnTo>
                <a:lnTo>
                  <a:pt x="72291" y="9301"/>
                </a:lnTo>
                <a:lnTo>
                  <a:pt x="118364" y="0"/>
                </a:lnTo>
                <a:lnTo>
                  <a:pt x="591805" y="0"/>
                </a:lnTo>
                <a:lnTo>
                  <a:pt x="637877" y="9301"/>
                </a:lnTo>
                <a:lnTo>
                  <a:pt x="675501" y="34668"/>
                </a:lnTo>
                <a:lnTo>
                  <a:pt x="700867" y="72291"/>
                </a:lnTo>
                <a:lnTo>
                  <a:pt x="710169" y="118364"/>
                </a:lnTo>
                <a:lnTo>
                  <a:pt x="710169" y="1359915"/>
                </a:lnTo>
                <a:lnTo>
                  <a:pt x="700867" y="1405988"/>
                </a:lnTo>
                <a:lnTo>
                  <a:pt x="675501" y="1443611"/>
                </a:lnTo>
                <a:lnTo>
                  <a:pt x="637877" y="1468978"/>
                </a:lnTo>
                <a:lnTo>
                  <a:pt x="591805" y="1478279"/>
                </a:lnTo>
                <a:lnTo>
                  <a:pt x="118364" y="1478279"/>
                </a:lnTo>
                <a:lnTo>
                  <a:pt x="72291" y="1468978"/>
                </a:lnTo>
                <a:lnTo>
                  <a:pt x="34668" y="1443611"/>
                </a:lnTo>
                <a:lnTo>
                  <a:pt x="9301" y="1405988"/>
                </a:lnTo>
                <a:lnTo>
                  <a:pt x="0" y="1359915"/>
                </a:lnTo>
                <a:lnTo>
                  <a:pt x="0" y="118364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2780982" y="4427869"/>
            <a:ext cx="4168140" cy="1269365"/>
            <a:chOff x="2780982" y="4427869"/>
            <a:chExt cx="4168140" cy="1269365"/>
          </a:xfrm>
        </p:grpSpPr>
        <p:sp>
          <p:nvSpPr>
            <p:cNvPr id="22" name="object 22"/>
            <p:cNvSpPr/>
            <p:nvPr/>
          </p:nvSpPr>
          <p:spPr>
            <a:xfrm>
              <a:off x="6913367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811780" y="5160361"/>
              <a:ext cx="4106545" cy="506095"/>
            </a:xfrm>
            <a:custGeom>
              <a:avLst/>
              <a:gdLst/>
              <a:ahLst/>
              <a:cxnLst/>
              <a:rect l="l" t="t" r="r" b="b"/>
              <a:pathLst>
                <a:path w="4106545" h="506095">
                  <a:moveTo>
                    <a:pt x="0" y="84345"/>
                  </a:moveTo>
                  <a:lnTo>
                    <a:pt x="6628" y="51514"/>
                  </a:lnTo>
                  <a:lnTo>
                    <a:pt x="24704" y="24704"/>
                  </a:lnTo>
                  <a:lnTo>
                    <a:pt x="51514" y="6628"/>
                  </a:lnTo>
                  <a:lnTo>
                    <a:pt x="84345" y="0"/>
                  </a:lnTo>
                  <a:lnTo>
                    <a:pt x="4021988" y="0"/>
                  </a:lnTo>
                  <a:lnTo>
                    <a:pt x="4054818" y="6628"/>
                  </a:lnTo>
                  <a:lnTo>
                    <a:pt x="4081628" y="24704"/>
                  </a:lnTo>
                  <a:lnTo>
                    <a:pt x="4099704" y="51514"/>
                  </a:lnTo>
                  <a:lnTo>
                    <a:pt x="4106333" y="84345"/>
                  </a:lnTo>
                  <a:lnTo>
                    <a:pt x="4106333" y="421703"/>
                  </a:lnTo>
                  <a:lnTo>
                    <a:pt x="4099704" y="454534"/>
                  </a:lnTo>
                  <a:lnTo>
                    <a:pt x="4081628" y="481344"/>
                  </a:lnTo>
                  <a:lnTo>
                    <a:pt x="4054818" y="499420"/>
                  </a:lnTo>
                  <a:lnTo>
                    <a:pt x="4021988" y="506048"/>
                  </a:lnTo>
                  <a:lnTo>
                    <a:pt x="84345" y="506048"/>
                  </a:lnTo>
                  <a:lnTo>
                    <a:pt x="51514" y="499420"/>
                  </a:lnTo>
                  <a:lnTo>
                    <a:pt x="24704" y="481344"/>
                  </a:lnTo>
                  <a:lnTo>
                    <a:pt x="6628" y="454534"/>
                  </a:lnTo>
                  <a:lnTo>
                    <a:pt x="0" y="421703"/>
                  </a:lnTo>
                  <a:lnTo>
                    <a:pt x="0" y="84345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3344972" y="6361465"/>
            <a:ext cx="6424295" cy="321310"/>
            <a:chOff x="3344972" y="6361465"/>
            <a:chExt cx="6424295" cy="321310"/>
          </a:xfrm>
        </p:grpSpPr>
        <p:sp>
          <p:nvSpPr>
            <p:cNvPr id="33" name="object 33"/>
            <p:cNvSpPr/>
            <p:nvPr/>
          </p:nvSpPr>
          <p:spPr>
            <a:xfrm>
              <a:off x="3371797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55573" y="6361931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53244" y="6361937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752646" y="637740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750323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71797" y="636193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71786" y="6361937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79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79" y="15468"/>
                  </a:lnTo>
                  <a:lnTo>
                    <a:pt x="6397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71797" y="660949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375770" y="6392263"/>
              <a:ext cx="710565" cy="259715"/>
            </a:xfrm>
            <a:custGeom>
              <a:avLst/>
              <a:gdLst/>
              <a:ahLst/>
              <a:cxnLst/>
              <a:rect l="l" t="t" r="r" b="b"/>
              <a:pathLst>
                <a:path w="710564" h="259715">
                  <a:moveTo>
                    <a:pt x="0" y="43278"/>
                  </a:moveTo>
                  <a:lnTo>
                    <a:pt x="3401" y="26432"/>
                  </a:lnTo>
                  <a:lnTo>
                    <a:pt x="12676" y="12676"/>
                  </a:lnTo>
                  <a:lnTo>
                    <a:pt x="26432" y="3401"/>
                  </a:lnTo>
                  <a:lnTo>
                    <a:pt x="43278" y="0"/>
                  </a:lnTo>
                  <a:lnTo>
                    <a:pt x="666890" y="0"/>
                  </a:lnTo>
                  <a:lnTo>
                    <a:pt x="683736" y="3401"/>
                  </a:lnTo>
                  <a:lnTo>
                    <a:pt x="697493" y="12676"/>
                  </a:lnTo>
                  <a:lnTo>
                    <a:pt x="706768" y="26432"/>
                  </a:lnTo>
                  <a:lnTo>
                    <a:pt x="710169" y="43278"/>
                  </a:lnTo>
                  <a:lnTo>
                    <a:pt x="710169" y="216388"/>
                  </a:lnTo>
                  <a:lnTo>
                    <a:pt x="706768" y="233235"/>
                  </a:lnTo>
                  <a:lnTo>
                    <a:pt x="697493" y="246991"/>
                  </a:lnTo>
                  <a:lnTo>
                    <a:pt x="683736" y="256266"/>
                  </a:lnTo>
                  <a:lnTo>
                    <a:pt x="666890" y="259667"/>
                  </a:lnTo>
                  <a:lnTo>
                    <a:pt x="43278" y="259667"/>
                  </a:lnTo>
                  <a:lnTo>
                    <a:pt x="26432" y="256266"/>
                  </a:lnTo>
                  <a:lnTo>
                    <a:pt x="12676" y="246991"/>
                  </a:lnTo>
                  <a:lnTo>
                    <a:pt x="3401" y="233235"/>
                  </a:lnTo>
                  <a:lnTo>
                    <a:pt x="0" y="216388"/>
                  </a:lnTo>
                  <a:lnTo>
                    <a:pt x="0" y="43278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/>
          <p:nvPr/>
        </p:nvSpPr>
        <p:spPr>
          <a:xfrm>
            <a:off x="4864947" y="2776289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80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14931" y="6781800"/>
            <a:ext cx="8794115" cy="66421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320675" marR="5080" indent="-307975">
              <a:lnSpc>
                <a:spcPct val="94100"/>
              </a:lnSpc>
              <a:spcBef>
                <a:spcPts val="284"/>
              </a:spcBef>
              <a:buFont typeface="Arial MT"/>
              <a:buChar char="•"/>
              <a:tabLst>
                <a:tab pos="320675" algn="l"/>
              </a:tabLst>
            </a:pP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Must</a:t>
            </a:r>
            <a:r>
              <a:rPr sz="2600" b="1" spc="-5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wait</a:t>
            </a:r>
            <a:r>
              <a:rPr sz="2600" b="1" spc="-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for</a:t>
            </a:r>
            <a:r>
              <a:rPr sz="2600" b="1" spc="-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Mult2</a:t>
            </a:r>
            <a:r>
              <a:rPr sz="2600" b="1" spc="-4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(DIVD)</a:t>
            </a:r>
            <a:r>
              <a:rPr sz="2600" b="1" spc="-4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to</a:t>
            </a:r>
            <a:r>
              <a:rPr sz="2600" b="1" spc="-4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0332B7"/>
                </a:solidFill>
                <a:latin typeface="Arial"/>
                <a:cs typeface="Arial"/>
              </a:rPr>
              <a:t>complete;</a:t>
            </a:r>
            <a:r>
              <a:rPr sz="2600" b="1" spc="-26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br>
              <a:rPr lang="en-US" sz="2600" b="1" spc="-260" dirty="0">
                <a:solidFill>
                  <a:srgbClr val="0332B7"/>
                </a:solidFill>
                <a:latin typeface="Arial"/>
                <a:cs typeface="Arial"/>
              </a:rPr>
            </a:br>
            <a:r>
              <a:rPr sz="1700" b="1" dirty="0">
                <a:solidFill>
                  <a:srgbClr val="FC0128"/>
                </a:solidFill>
                <a:latin typeface="Arial"/>
                <a:cs typeface="Arial"/>
              </a:rPr>
              <a:t>skip</a:t>
            </a:r>
            <a:r>
              <a:rPr sz="1700" b="1" spc="10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C0128"/>
                </a:solidFill>
                <a:latin typeface="Arial"/>
                <a:cs typeface="Arial"/>
              </a:rPr>
              <a:t>39 no-new-</a:t>
            </a:r>
            <a:r>
              <a:rPr sz="1700" b="1" spc="-10" dirty="0">
                <a:solidFill>
                  <a:srgbClr val="FC0128"/>
                </a:solidFill>
                <a:latin typeface="Arial"/>
                <a:cs typeface="Arial"/>
              </a:rPr>
              <a:t>action </a:t>
            </a:r>
            <a:r>
              <a:rPr sz="1700" b="1" dirty="0">
                <a:solidFill>
                  <a:srgbClr val="FC0128"/>
                </a:solidFill>
                <a:latin typeface="Arial"/>
                <a:cs typeface="Arial"/>
              </a:rPr>
              <a:t>cycles</a:t>
            </a:r>
            <a:r>
              <a:rPr sz="1700" b="1" spc="15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C0128"/>
                </a:solidFill>
                <a:latin typeface="Arial"/>
                <a:cs typeface="Arial"/>
              </a:rPr>
              <a:t>…</a:t>
            </a:r>
            <a:r>
              <a:rPr sz="1700" b="1" spc="35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700" b="1" spc="-50" dirty="0">
                <a:solidFill>
                  <a:srgbClr val="FC0128"/>
                </a:solidFill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…</a:t>
            </a:r>
            <a:r>
              <a:rPr spc="114" dirty="0"/>
              <a:t> </a:t>
            </a:r>
            <a:r>
              <a:rPr dirty="0"/>
              <a:t>Tomasulo</a:t>
            </a:r>
            <a:r>
              <a:rPr spc="110" dirty="0"/>
              <a:t> </a:t>
            </a:r>
            <a:r>
              <a:rPr dirty="0"/>
              <a:t>Example</a:t>
            </a:r>
            <a:r>
              <a:rPr spc="105" dirty="0"/>
              <a:t> </a:t>
            </a:r>
            <a:r>
              <a:rPr dirty="0"/>
              <a:t>Cycle</a:t>
            </a:r>
            <a:r>
              <a:rPr spc="100" dirty="0"/>
              <a:t> </a:t>
            </a:r>
            <a:r>
              <a:rPr spc="-25" dirty="0"/>
              <a:t>55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932186"/>
              </p:ext>
            </p:extLst>
          </p:nvPr>
        </p:nvGraphicFramePr>
        <p:xfrm>
          <a:off x="336204" y="1731665"/>
          <a:ext cx="8221343" cy="201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5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0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1841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841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1841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60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60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1841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18415" algn="ctr">
                        <a:lnSpc>
                          <a:spcPts val="1739"/>
                        </a:lnSpc>
                        <a:spcBef>
                          <a:spcPts val="2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18415" algn="ctr">
                        <a:lnSpc>
                          <a:spcPts val="1720"/>
                        </a:lnSpc>
                        <a:spcBef>
                          <a:spcPts val="5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14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14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14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14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4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14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14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2394" y="4158326"/>
            <a:ext cx="544830" cy="12325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algn="just">
              <a:lnSpc>
                <a:spcPct val="108500"/>
              </a:lnSpc>
              <a:spcBef>
                <a:spcPts val="155"/>
              </a:spcBef>
            </a:pPr>
            <a:r>
              <a:rPr sz="1450" i="1" spc="125" dirty="0">
                <a:latin typeface="Times New Roman"/>
                <a:cs typeface="Times New Roman"/>
              </a:rPr>
              <a:t>Name </a:t>
            </a:r>
            <a:r>
              <a:rPr sz="1450" spc="114" dirty="0">
                <a:latin typeface="Times New Roman"/>
                <a:cs typeface="Times New Roman"/>
              </a:rPr>
              <a:t>Add1 Add2 Add3 </a:t>
            </a:r>
            <a:r>
              <a:rPr sz="1450" spc="90" dirty="0">
                <a:latin typeface="Times New Roman"/>
                <a:cs typeface="Times New Roman"/>
              </a:rPr>
              <a:t>Mult1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6971" y="5389936"/>
            <a:ext cx="73025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45" dirty="0">
                <a:latin typeface="Times New Roman"/>
                <a:cs typeface="Times New Roman"/>
              </a:rPr>
              <a:t>1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15530" y="4430641"/>
            <a:ext cx="4079875" cy="19316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9539" marR="3681729">
              <a:lnSpc>
                <a:spcPct val="105000"/>
              </a:lnSpc>
              <a:spcBef>
                <a:spcPts val="25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129539" marR="3681729">
              <a:lnSpc>
                <a:spcPct val="105000"/>
              </a:lnSpc>
              <a:spcBef>
                <a:spcPts val="120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210"/>
              </a:spcBef>
              <a:tabLst>
                <a:tab pos="667385" algn="l"/>
                <a:tab pos="1390015" algn="l"/>
                <a:tab pos="203898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0000FF"/>
                </a:solidFill>
                <a:latin typeface="Times New Roman"/>
                <a:cs typeface="Times New Roman"/>
              </a:rPr>
              <a:t>M*F4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741680">
              <a:lnSpc>
                <a:spcPct val="100000"/>
              </a:lnSpc>
              <a:tabLst>
                <a:tab pos="1464310" algn="l"/>
                <a:tab pos="2169160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58335" y="6039781"/>
            <a:ext cx="1805939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6915" algn="l"/>
                <a:tab pos="1329055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F6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90693" y="6039781"/>
            <a:ext cx="186118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2335" algn="l"/>
                <a:tab pos="1384300" algn="l"/>
              </a:tabLst>
            </a:pPr>
            <a:r>
              <a:rPr sz="1950" i="1" spc="135" dirty="0">
                <a:latin typeface="Times New Roman"/>
                <a:cs typeface="Times New Roman"/>
              </a:rPr>
              <a:t>F12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254" y="5687008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  <a:spcBef>
                <a:spcPts val="229"/>
              </a:spcBef>
            </a:pPr>
            <a:r>
              <a:rPr sz="1450" b="1" spc="120" dirty="0">
                <a:latin typeface="Times New Roman"/>
                <a:cs typeface="Times New Roman"/>
              </a:rPr>
              <a:t>55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14084" y="6364704"/>
            <a:ext cx="6836409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  <a:tab pos="1254760" algn="l"/>
                <a:tab pos="2478405" algn="l"/>
                <a:tab pos="4072890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0000FF"/>
                </a:solidFill>
                <a:latin typeface="Times New Roman"/>
                <a:cs typeface="Times New Roman"/>
              </a:rPr>
              <a:t>M*F4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(M-</a:t>
            </a:r>
            <a:r>
              <a:rPr sz="1450" spc="165" dirty="0">
                <a:solidFill>
                  <a:srgbClr val="1FB714"/>
                </a:solidFill>
                <a:latin typeface="Times New Roman"/>
                <a:cs typeface="Times New Roman"/>
              </a:rPr>
              <a:t>M+M</a:t>
            </a:r>
            <a:r>
              <a:rPr sz="1450" spc="165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00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1FB714"/>
                </a:solidFill>
                <a:latin typeface="Times New Roman"/>
                <a:cs typeface="Times New Roman"/>
              </a:rPr>
              <a:t>Mult2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19" name="object 19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353255" y="6361931"/>
            <a:ext cx="6416040" cy="263525"/>
            <a:chOff x="3353255" y="6361931"/>
            <a:chExt cx="6416040" cy="263525"/>
          </a:xfrm>
        </p:grpSpPr>
        <p:sp>
          <p:nvSpPr>
            <p:cNvPr id="29" name="object 29"/>
            <p:cNvSpPr/>
            <p:nvPr/>
          </p:nvSpPr>
          <p:spPr>
            <a:xfrm>
              <a:off x="3371798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55573" y="6361931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53244" y="6361938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52646" y="637740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50323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1797" y="636193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71786" y="6361938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79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79" y="15468"/>
                  </a:lnTo>
                  <a:lnTo>
                    <a:pt x="6397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71797" y="660949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371797" y="3731607"/>
            <a:ext cx="2155825" cy="4445"/>
            <a:chOff x="3371797" y="3731607"/>
            <a:chExt cx="2155825" cy="4445"/>
          </a:xfrm>
        </p:grpSpPr>
        <p:sp>
          <p:nvSpPr>
            <p:cNvPr id="38" name="object 38"/>
            <p:cNvSpPr/>
            <p:nvPr/>
          </p:nvSpPr>
          <p:spPr>
            <a:xfrm>
              <a:off x="3371797" y="3731608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71797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471175" y="4214707"/>
            <a:ext cx="710565" cy="1478280"/>
          </a:xfrm>
          <a:custGeom>
            <a:avLst/>
            <a:gdLst/>
            <a:ahLst/>
            <a:cxnLst/>
            <a:rect l="l" t="t" r="r" b="b"/>
            <a:pathLst>
              <a:path w="710564" h="1478279">
                <a:moveTo>
                  <a:pt x="0" y="118364"/>
                </a:moveTo>
                <a:lnTo>
                  <a:pt x="9301" y="72291"/>
                </a:lnTo>
                <a:lnTo>
                  <a:pt x="34668" y="34668"/>
                </a:lnTo>
                <a:lnTo>
                  <a:pt x="72291" y="9301"/>
                </a:lnTo>
                <a:lnTo>
                  <a:pt x="118364" y="0"/>
                </a:lnTo>
                <a:lnTo>
                  <a:pt x="591805" y="0"/>
                </a:lnTo>
                <a:lnTo>
                  <a:pt x="637877" y="9301"/>
                </a:lnTo>
                <a:lnTo>
                  <a:pt x="675501" y="34668"/>
                </a:lnTo>
                <a:lnTo>
                  <a:pt x="700867" y="72291"/>
                </a:lnTo>
                <a:lnTo>
                  <a:pt x="710169" y="118364"/>
                </a:lnTo>
                <a:lnTo>
                  <a:pt x="710169" y="1359915"/>
                </a:lnTo>
                <a:lnTo>
                  <a:pt x="700867" y="1405988"/>
                </a:lnTo>
                <a:lnTo>
                  <a:pt x="675501" y="1443611"/>
                </a:lnTo>
                <a:lnTo>
                  <a:pt x="637877" y="1468978"/>
                </a:lnTo>
                <a:lnTo>
                  <a:pt x="591805" y="1478279"/>
                </a:lnTo>
                <a:lnTo>
                  <a:pt x="118364" y="1478279"/>
                </a:lnTo>
                <a:lnTo>
                  <a:pt x="72291" y="1468978"/>
                </a:lnTo>
                <a:lnTo>
                  <a:pt x="34668" y="1443611"/>
                </a:lnTo>
                <a:lnTo>
                  <a:pt x="9301" y="1405988"/>
                </a:lnTo>
                <a:lnTo>
                  <a:pt x="0" y="1359915"/>
                </a:lnTo>
                <a:lnTo>
                  <a:pt x="0" y="118364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25" dirty="0"/>
              <a:t>56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928220"/>
              </p:ext>
            </p:extLst>
          </p:nvPr>
        </p:nvGraphicFramePr>
        <p:xfrm>
          <a:off x="336204" y="1731665"/>
          <a:ext cx="8221343" cy="201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5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0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1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261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</a:pPr>
                      <a:r>
                        <a:rPr sz="1950" i="1" spc="114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50" i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i="1" spc="1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status: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ts val="1780"/>
                        </a:lnSpc>
                        <a:spcBef>
                          <a:spcPts val="425"/>
                        </a:spcBef>
                        <a:tabLst>
                          <a:tab pos="2089785" algn="l"/>
                        </a:tabLst>
                      </a:pPr>
                      <a:r>
                        <a:rPr sz="2250" b="1" baseline="-5555" dirty="0">
                          <a:latin typeface="Arial"/>
                          <a:cs typeface="Arial"/>
                        </a:rPr>
                        <a:t>EX</a:t>
                      </a:r>
                      <a:r>
                        <a:rPr sz="2250" b="1" spc="322" baseline="-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50" spc="7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4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i="1" spc="30" dirty="0">
                          <a:latin typeface="Times New Roman"/>
                          <a:cs typeface="Times New Roman"/>
                        </a:rPr>
                        <a:t>j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sz="1450" i="1" spc="80" dirty="0">
                          <a:latin typeface="Times New Roman"/>
                          <a:cs typeface="Times New Roman"/>
                        </a:rPr>
                        <a:t>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i="1" spc="13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Exec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229" dirty="0">
                          <a:latin typeface="Times New Roman"/>
                          <a:cs typeface="Times New Roman"/>
                        </a:rPr>
                        <a:t>Comp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550" i="1" spc="140" dirty="0">
                          <a:latin typeface="Times New Roman"/>
                          <a:cs typeface="Times New Roman"/>
                        </a:rPr>
                        <a:t>Write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550" i="1" spc="16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550" spc="18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550" spc="155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18415" algn="ctr">
                        <a:lnSpc>
                          <a:spcPts val="1755"/>
                        </a:lnSpc>
                        <a:spcBef>
                          <a:spcPts val="1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0" dirty="0"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25" dirty="0">
                          <a:latin typeface="Times New Roman"/>
                          <a:cs typeface="Times New Roman"/>
                        </a:rPr>
                        <a:t>34+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45" dirty="0">
                          <a:latin typeface="Times New Roman"/>
                          <a:cs typeface="Times New Roman"/>
                        </a:rPr>
                        <a:t>R2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8415" algn="ctr">
                        <a:lnSpc>
                          <a:spcPts val="1785"/>
                        </a:lnSpc>
                        <a:spcBef>
                          <a:spcPts val="3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30"/>
                        </a:lnSpc>
                      </a:pPr>
                      <a:r>
                        <a:rPr sz="1450" spc="1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30"/>
                        </a:lnSpc>
                      </a:pPr>
                      <a:r>
                        <a:rPr sz="1450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30"/>
                        </a:lnSpc>
                      </a:pPr>
                      <a:r>
                        <a:rPr sz="1450" spc="1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45+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630"/>
                        </a:lnSpc>
                      </a:pPr>
                      <a:r>
                        <a:rPr sz="1450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3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630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18415" algn="ctr">
                        <a:lnSpc>
                          <a:spcPts val="1720"/>
                        </a:lnSpc>
                        <a:spcBef>
                          <a:spcPts val="1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60"/>
                        </a:lnSpc>
                      </a:pPr>
                      <a:r>
                        <a:rPr sz="1450" spc="1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MULTD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60"/>
                        </a:lnSpc>
                      </a:pPr>
                      <a:r>
                        <a:rPr sz="1450" spc="7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6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60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60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1660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Load3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ts val="1575"/>
                        </a:lnSpc>
                      </a:pPr>
                      <a:r>
                        <a:rPr sz="1450" spc="100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18415" algn="ctr">
                        <a:lnSpc>
                          <a:spcPts val="1775"/>
                        </a:lnSpc>
                        <a:spcBef>
                          <a:spcPts val="7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55"/>
                        </a:lnSpc>
                      </a:pPr>
                      <a:r>
                        <a:rPr sz="1450" spc="12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SUBD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5"/>
                        </a:lnSpc>
                      </a:pPr>
                      <a:r>
                        <a:rPr sz="1450" spc="70" dirty="0">
                          <a:solidFill>
                            <a:srgbClr val="FF00FF"/>
                          </a:solidFill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55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L="18415" algn="ctr">
                        <a:lnSpc>
                          <a:spcPts val="1739"/>
                        </a:lnSpc>
                        <a:spcBef>
                          <a:spcPts val="2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50"/>
                        </a:lnSpc>
                      </a:pPr>
                      <a:r>
                        <a:rPr sz="1450" spc="11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DIVD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50"/>
                        </a:lnSpc>
                      </a:pPr>
                      <a:r>
                        <a:rPr sz="1450" spc="85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F10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F0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50"/>
                        </a:lnSpc>
                      </a:pPr>
                      <a:r>
                        <a:rPr sz="1450" spc="70" dirty="0">
                          <a:solidFill>
                            <a:srgbClr val="1FB714"/>
                          </a:solidFill>
                          <a:latin typeface="Times New Roman"/>
                          <a:cs typeface="Times New Roman"/>
                        </a:rPr>
                        <a:t>F6</a:t>
                      </a:r>
                      <a:endParaRPr sz="145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50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50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56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18415" algn="ctr">
                        <a:lnSpc>
                          <a:spcPts val="1720"/>
                        </a:lnSpc>
                        <a:spcBef>
                          <a:spcPts val="5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14"/>
                        </a:lnSpc>
                      </a:pPr>
                      <a:r>
                        <a:rPr sz="1450" spc="114" dirty="0">
                          <a:latin typeface="Times New Roman"/>
                          <a:cs typeface="Times New Roman"/>
                        </a:rPr>
                        <a:t>ADDD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1614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14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1614"/>
                        </a:lnSpc>
                      </a:pPr>
                      <a:r>
                        <a:rPr sz="1450" spc="70" dirty="0">
                          <a:latin typeface="Times New Roman"/>
                          <a:cs typeface="Times New Roman"/>
                        </a:rPr>
                        <a:t>F2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4"/>
                        </a:lnSpc>
                      </a:pPr>
                      <a:r>
                        <a:rPr sz="1450" spc="95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614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14"/>
                        </a:lnSpc>
                      </a:pPr>
                      <a:r>
                        <a:rPr sz="1450" spc="120" dirty="0">
                          <a:latin typeface="Times New Roman"/>
                          <a:cs typeface="Times New Roman"/>
                        </a:rPr>
                        <a:t>11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5254" y="3827214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4752" y="3836498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9357" y="3836498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5420" y="3836498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483" y="3836498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042" y="4183081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2394" y="4158326"/>
            <a:ext cx="544830" cy="12325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algn="just">
              <a:lnSpc>
                <a:spcPct val="108500"/>
              </a:lnSpc>
              <a:spcBef>
                <a:spcPts val="155"/>
              </a:spcBef>
            </a:pPr>
            <a:r>
              <a:rPr sz="1450" i="1" spc="125" dirty="0">
                <a:latin typeface="Times New Roman"/>
                <a:cs typeface="Times New Roman"/>
              </a:rPr>
              <a:t>Name </a:t>
            </a:r>
            <a:r>
              <a:rPr sz="1450" spc="114" dirty="0">
                <a:latin typeface="Times New Roman"/>
                <a:cs typeface="Times New Roman"/>
              </a:rPr>
              <a:t>Add1 Add2 Add3 </a:t>
            </a:r>
            <a:r>
              <a:rPr sz="1450" spc="90" dirty="0">
                <a:latin typeface="Times New Roman"/>
                <a:cs typeface="Times New Roman"/>
              </a:rPr>
              <a:t>Mult1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2830" y="4152136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6971" y="5389936"/>
            <a:ext cx="73025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45" dirty="0">
                <a:latin typeface="Times New Roman"/>
                <a:cs typeface="Times New Roman"/>
              </a:rPr>
              <a:t>0</a:t>
            </a:r>
            <a:r>
              <a:rPr sz="1450" spc="204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Mult2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15530" y="4430641"/>
            <a:ext cx="4079875" cy="19316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9539" marR="3681729">
              <a:lnSpc>
                <a:spcPct val="105000"/>
              </a:lnSpc>
              <a:spcBef>
                <a:spcPts val="25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129539" marR="3681729">
              <a:lnSpc>
                <a:spcPct val="105000"/>
              </a:lnSpc>
              <a:spcBef>
                <a:spcPts val="120"/>
              </a:spcBef>
            </a:pPr>
            <a:r>
              <a:rPr sz="1450" spc="100" dirty="0">
                <a:latin typeface="Times New Roman"/>
                <a:cs typeface="Times New Roman"/>
              </a:rPr>
              <a:t>No No</a:t>
            </a:r>
            <a:endParaRPr sz="1450" dirty="0">
              <a:latin typeface="Times New Roman"/>
              <a:cs typeface="Times New Roman"/>
            </a:endParaRPr>
          </a:p>
          <a:p>
            <a:pPr marL="92710">
              <a:lnSpc>
                <a:spcPct val="100000"/>
              </a:lnSpc>
              <a:spcBef>
                <a:spcPts val="210"/>
              </a:spcBef>
              <a:tabLst>
                <a:tab pos="667385" algn="l"/>
                <a:tab pos="1390015" algn="l"/>
                <a:tab pos="2038985" algn="l"/>
              </a:tabLst>
            </a:pPr>
            <a:r>
              <a:rPr sz="1450" spc="75" dirty="0">
                <a:latin typeface="Times New Roman"/>
                <a:cs typeface="Times New Roman"/>
              </a:rPr>
              <a:t>Yes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r>
              <a:rPr sz="1450" dirty="0">
                <a:solidFill>
                  <a:srgbClr val="00FF00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0000FF"/>
                </a:solidFill>
                <a:latin typeface="Times New Roman"/>
                <a:cs typeface="Times New Roman"/>
              </a:rPr>
              <a:t>M*F4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95" dirty="0">
                <a:latin typeface="Times New Roman"/>
                <a:cs typeface="Times New Roman"/>
              </a:rPr>
              <a:t>M(A1)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741680">
              <a:lnSpc>
                <a:spcPct val="100000"/>
              </a:lnSpc>
              <a:tabLst>
                <a:tab pos="1464310" algn="l"/>
                <a:tab pos="2169160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58335" y="6039781"/>
            <a:ext cx="262191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6915" algn="l"/>
                <a:tab pos="1329055" algn="l"/>
                <a:tab pos="2144395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F6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80721" y="6039781"/>
            <a:ext cx="9715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665" algn="l"/>
              </a:tabLst>
            </a:pP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254" y="5687008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  <a:spcBef>
                <a:spcPts val="229"/>
              </a:spcBef>
            </a:pPr>
            <a:r>
              <a:rPr sz="1450" b="1" spc="120" dirty="0">
                <a:latin typeface="Times New Roman"/>
                <a:cs typeface="Times New Roman"/>
              </a:rPr>
              <a:t>56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14084" y="6364704"/>
            <a:ext cx="6836409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  <a:tab pos="1254760" algn="l"/>
                <a:tab pos="2478405" algn="l"/>
                <a:tab pos="4072890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0000FF"/>
                </a:solidFill>
                <a:latin typeface="Times New Roman"/>
                <a:cs typeface="Times New Roman"/>
              </a:rPr>
              <a:t>M*F4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(M-</a:t>
            </a:r>
            <a:r>
              <a:rPr sz="1450" spc="165" dirty="0">
                <a:solidFill>
                  <a:srgbClr val="1FB714"/>
                </a:solidFill>
                <a:latin typeface="Times New Roman"/>
                <a:cs typeface="Times New Roman"/>
              </a:rPr>
              <a:t>M+M</a:t>
            </a:r>
            <a:r>
              <a:rPr sz="1450" spc="165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00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90" dirty="0">
                <a:solidFill>
                  <a:srgbClr val="1FB714"/>
                </a:solidFill>
                <a:latin typeface="Times New Roman"/>
                <a:cs typeface="Times New Roman"/>
              </a:rPr>
              <a:t>Mult2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96988" y="4427869"/>
            <a:ext cx="4121150" cy="1210945"/>
            <a:chOff x="2796988" y="4427869"/>
            <a:chExt cx="4121150" cy="1210945"/>
          </a:xfrm>
        </p:grpSpPr>
        <p:sp>
          <p:nvSpPr>
            <p:cNvPr id="19" name="object 19"/>
            <p:cNvSpPr/>
            <p:nvPr/>
          </p:nvSpPr>
          <p:spPr>
            <a:xfrm>
              <a:off x="6913366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97141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94817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9306" y="4427869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96984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15530" y="4429803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5530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6" y="0"/>
                  </a:moveTo>
                  <a:lnTo>
                    <a:pt x="0" y="0"/>
                  </a:lnTo>
                  <a:lnTo>
                    <a:pt x="40978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15530" y="5621185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5530" y="5619251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353255" y="6361931"/>
            <a:ext cx="6416040" cy="263525"/>
            <a:chOff x="3353255" y="6361931"/>
            <a:chExt cx="6416040" cy="263525"/>
          </a:xfrm>
        </p:grpSpPr>
        <p:sp>
          <p:nvSpPr>
            <p:cNvPr id="29" name="object 29"/>
            <p:cNvSpPr/>
            <p:nvPr/>
          </p:nvSpPr>
          <p:spPr>
            <a:xfrm>
              <a:off x="3371798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55573" y="6361931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53244" y="6361938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52646" y="6377404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50323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71797" y="636193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71786" y="6361938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79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79" y="15468"/>
                  </a:lnTo>
                  <a:lnTo>
                    <a:pt x="6397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71797" y="6609491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371797" y="3731607"/>
            <a:ext cx="2155825" cy="4445"/>
            <a:chOff x="3371797" y="3731607"/>
            <a:chExt cx="2155825" cy="4445"/>
          </a:xfrm>
        </p:grpSpPr>
        <p:sp>
          <p:nvSpPr>
            <p:cNvPr id="38" name="object 38"/>
            <p:cNvSpPr/>
            <p:nvPr/>
          </p:nvSpPr>
          <p:spPr>
            <a:xfrm>
              <a:off x="3371797" y="3731608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71797" y="3733541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471175" y="4214707"/>
            <a:ext cx="710565" cy="1478280"/>
          </a:xfrm>
          <a:custGeom>
            <a:avLst/>
            <a:gdLst/>
            <a:ahLst/>
            <a:cxnLst/>
            <a:rect l="l" t="t" r="r" b="b"/>
            <a:pathLst>
              <a:path w="710564" h="1478279">
                <a:moveTo>
                  <a:pt x="0" y="118364"/>
                </a:moveTo>
                <a:lnTo>
                  <a:pt x="9301" y="72291"/>
                </a:lnTo>
                <a:lnTo>
                  <a:pt x="34668" y="34668"/>
                </a:lnTo>
                <a:lnTo>
                  <a:pt x="72291" y="9301"/>
                </a:lnTo>
                <a:lnTo>
                  <a:pt x="118364" y="0"/>
                </a:lnTo>
                <a:lnTo>
                  <a:pt x="591805" y="0"/>
                </a:lnTo>
                <a:lnTo>
                  <a:pt x="637877" y="9301"/>
                </a:lnTo>
                <a:lnTo>
                  <a:pt x="675501" y="34668"/>
                </a:lnTo>
                <a:lnTo>
                  <a:pt x="700867" y="72291"/>
                </a:lnTo>
                <a:lnTo>
                  <a:pt x="710169" y="118364"/>
                </a:lnTo>
                <a:lnTo>
                  <a:pt x="710169" y="1359915"/>
                </a:lnTo>
                <a:lnTo>
                  <a:pt x="700867" y="1405988"/>
                </a:lnTo>
                <a:lnTo>
                  <a:pt x="675501" y="1443611"/>
                </a:lnTo>
                <a:lnTo>
                  <a:pt x="637877" y="1468978"/>
                </a:lnTo>
                <a:lnTo>
                  <a:pt x="591805" y="1478279"/>
                </a:lnTo>
                <a:lnTo>
                  <a:pt x="118364" y="1478279"/>
                </a:lnTo>
                <a:lnTo>
                  <a:pt x="72291" y="1468978"/>
                </a:lnTo>
                <a:lnTo>
                  <a:pt x="34668" y="1443611"/>
                </a:lnTo>
                <a:lnTo>
                  <a:pt x="9301" y="1405988"/>
                </a:lnTo>
                <a:lnTo>
                  <a:pt x="0" y="1359915"/>
                </a:lnTo>
                <a:lnTo>
                  <a:pt x="0" y="118364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52384" y="3271450"/>
            <a:ext cx="575310" cy="246379"/>
          </a:xfrm>
          <a:custGeom>
            <a:avLst/>
            <a:gdLst/>
            <a:ahLst/>
            <a:cxnLst/>
            <a:rect l="l" t="t" r="r" b="b"/>
            <a:pathLst>
              <a:path w="575310" h="246379">
                <a:moveTo>
                  <a:pt x="0" y="41063"/>
                </a:moveTo>
                <a:lnTo>
                  <a:pt x="3226" y="25079"/>
                </a:lnTo>
                <a:lnTo>
                  <a:pt x="12027" y="12027"/>
                </a:lnTo>
                <a:lnTo>
                  <a:pt x="25079" y="3227"/>
                </a:lnTo>
                <a:lnTo>
                  <a:pt x="41063" y="0"/>
                </a:lnTo>
                <a:lnTo>
                  <a:pt x="533822" y="0"/>
                </a:lnTo>
                <a:lnTo>
                  <a:pt x="549806" y="3227"/>
                </a:lnTo>
                <a:lnTo>
                  <a:pt x="562859" y="12027"/>
                </a:lnTo>
                <a:lnTo>
                  <a:pt x="571659" y="25079"/>
                </a:lnTo>
                <a:lnTo>
                  <a:pt x="574886" y="41063"/>
                </a:lnTo>
                <a:lnTo>
                  <a:pt x="574886" y="205316"/>
                </a:lnTo>
                <a:lnTo>
                  <a:pt x="571659" y="221300"/>
                </a:lnTo>
                <a:lnTo>
                  <a:pt x="562859" y="234352"/>
                </a:lnTo>
                <a:lnTo>
                  <a:pt x="549806" y="243152"/>
                </a:lnTo>
                <a:lnTo>
                  <a:pt x="533822" y="246379"/>
                </a:lnTo>
                <a:lnTo>
                  <a:pt x="41063" y="246379"/>
                </a:lnTo>
                <a:lnTo>
                  <a:pt x="25079" y="243152"/>
                </a:lnTo>
                <a:lnTo>
                  <a:pt x="12027" y="234352"/>
                </a:lnTo>
                <a:lnTo>
                  <a:pt x="3226" y="221300"/>
                </a:lnTo>
                <a:lnTo>
                  <a:pt x="0" y="205316"/>
                </a:lnTo>
                <a:lnTo>
                  <a:pt x="0" y="41063"/>
                </a:lnTo>
                <a:close/>
              </a:path>
            </a:pathLst>
          </a:custGeom>
          <a:ln w="615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57200" y="6741160"/>
            <a:ext cx="80479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0040" algn="l"/>
              </a:tabLst>
            </a:pP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Mult2</a:t>
            </a:r>
            <a:r>
              <a:rPr sz="2600" b="1" spc="-8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(DIVD)</a:t>
            </a:r>
            <a:r>
              <a:rPr sz="2600" b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is</a:t>
            </a:r>
            <a:r>
              <a:rPr sz="2600" b="1" spc="-8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0332B7"/>
                </a:solidFill>
                <a:latin typeface="Arial"/>
                <a:cs typeface="Arial"/>
              </a:rPr>
              <a:t>completing;</a:t>
            </a:r>
            <a:r>
              <a:rPr sz="2600" b="1" spc="-7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what</a:t>
            </a:r>
            <a:r>
              <a:rPr sz="2600" b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is</a:t>
            </a:r>
            <a:r>
              <a:rPr sz="2600" b="1" spc="-8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waiting</a:t>
            </a:r>
            <a:r>
              <a:rPr sz="2600" b="1" spc="-8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332B7"/>
                </a:solidFill>
                <a:latin typeface="Arial"/>
                <a:cs typeface="Arial"/>
              </a:rPr>
              <a:t>for</a:t>
            </a:r>
            <a:r>
              <a:rPr sz="2600" b="1" spc="-7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0332B7"/>
                </a:solidFill>
                <a:latin typeface="Arial"/>
                <a:cs typeface="Arial"/>
              </a:rPr>
              <a:t>it?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45" dirty="0"/>
              <a:t> </a:t>
            </a: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Cycle</a:t>
            </a:r>
            <a:r>
              <a:rPr spc="140" dirty="0"/>
              <a:t> </a:t>
            </a:r>
            <a:r>
              <a:rPr spc="-25" dirty="0"/>
              <a:t>57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0388" y="1692010"/>
            <a:ext cx="21272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Instruction</a:t>
            </a: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6942" y="1701294"/>
            <a:ext cx="2039620" cy="582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704215">
              <a:lnSpc>
                <a:spcPct val="117900"/>
              </a:lnSpc>
              <a:spcBef>
                <a:spcPts val="90"/>
              </a:spcBef>
              <a:tabLst>
                <a:tab pos="716915" algn="l"/>
                <a:tab pos="140271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Exec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130" dirty="0">
                <a:latin typeface="Times New Roman"/>
                <a:cs typeface="Times New Roman"/>
              </a:rPr>
              <a:t>Write Issue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50" dirty="0">
                <a:latin typeface="Times New Roman"/>
                <a:cs typeface="Times New Roman"/>
              </a:rPr>
              <a:t>Comp</a:t>
            </a:r>
            <a:r>
              <a:rPr sz="1550" i="1" spc="270" dirty="0">
                <a:latin typeface="Times New Roman"/>
                <a:cs typeface="Times New Roman"/>
              </a:rPr>
              <a:t> </a:t>
            </a:r>
            <a:r>
              <a:rPr sz="1550" i="1" spc="160" dirty="0">
                <a:latin typeface="Times New Roman"/>
                <a:cs typeface="Times New Roman"/>
              </a:rPr>
              <a:t>Result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2883" y="2016933"/>
            <a:ext cx="53594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80" dirty="0">
                <a:latin typeface="Times New Roman"/>
                <a:cs typeface="Times New Roman"/>
              </a:rPr>
              <a:t>Busy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8946" y="2016933"/>
            <a:ext cx="82423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55" dirty="0">
                <a:latin typeface="Times New Roman"/>
                <a:cs typeface="Times New Roman"/>
              </a:rPr>
              <a:t>Address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9449" y="2295438"/>
            <a:ext cx="137160" cy="1440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9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450" spc="9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450" spc="9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450" spc="9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46970" y="2295438"/>
            <a:ext cx="248285" cy="1440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10"/>
              </a:spcBef>
            </a:pPr>
            <a:r>
              <a:rPr sz="1450" spc="9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450" spc="120" dirty="0">
                <a:latin typeface="Times New Roman"/>
                <a:cs typeface="Times New Roman"/>
              </a:rPr>
              <a:t>15</a:t>
            </a:r>
            <a:endParaRPr sz="14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450" spc="120" dirty="0">
                <a:latin typeface="Times New Roman"/>
                <a:cs typeface="Times New Roman"/>
              </a:rPr>
              <a:t>56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450" spc="120" dirty="0">
                <a:latin typeface="Times New Roman"/>
                <a:cs typeface="Times New Roman"/>
              </a:rPr>
              <a:t>10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51575" y="2295438"/>
            <a:ext cx="248285" cy="1440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10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450" spc="120" dirty="0">
                <a:latin typeface="Times New Roman"/>
                <a:cs typeface="Times New Roman"/>
              </a:rPr>
              <a:t>16</a:t>
            </a:r>
            <a:endParaRPr sz="14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90"/>
              </a:spcBef>
            </a:pPr>
            <a:r>
              <a:rPr sz="1450" spc="95" dirty="0">
                <a:latin typeface="Times New Roman"/>
                <a:cs typeface="Times New Roman"/>
              </a:rPr>
              <a:t>8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450" spc="120" dirty="0">
                <a:latin typeface="Times New Roman"/>
                <a:cs typeface="Times New Roman"/>
              </a:rPr>
              <a:t>57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450" spc="120" dirty="0">
                <a:latin typeface="Times New Roman"/>
                <a:cs typeface="Times New Roman"/>
              </a:rPr>
              <a:t>11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38278" y="2295438"/>
            <a:ext cx="1156970" cy="728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  <a:tabLst>
                <a:tab pos="883919" algn="l"/>
              </a:tabLst>
            </a:pPr>
            <a:r>
              <a:rPr sz="1450" spc="114" dirty="0">
                <a:latin typeface="Times New Roman"/>
                <a:cs typeface="Times New Roman"/>
              </a:rPr>
              <a:t>Load3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2690" y="3486820"/>
            <a:ext cx="63119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14" dirty="0">
                <a:latin typeface="Times New Roman"/>
                <a:cs typeface="Times New Roman"/>
              </a:rPr>
              <a:t>ADDD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2690" y="2023122"/>
            <a:ext cx="2529205" cy="17119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109855" algn="r">
              <a:lnSpc>
                <a:spcPct val="100000"/>
              </a:lnSpc>
              <a:spcBef>
                <a:spcPts val="305"/>
              </a:spcBef>
              <a:tabLst>
                <a:tab pos="593090" algn="l"/>
              </a:tabLst>
            </a:pPr>
            <a:r>
              <a:rPr sz="1450" i="1" spc="30" dirty="0">
                <a:latin typeface="Times New Roman"/>
                <a:cs typeface="Times New Roman"/>
              </a:rPr>
              <a:t>j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80" dirty="0">
                <a:latin typeface="Times New Roman"/>
                <a:cs typeface="Times New Roman"/>
              </a:rPr>
              <a:t>k</a:t>
            </a:r>
            <a:endParaRPr sz="145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10"/>
              </a:spcBef>
              <a:tabLst>
                <a:tab pos="1019175" algn="l"/>
                <a:tab pos="1575435" algn="l"/>
                <a:tab pos="2243455" algn="l"/>
              </a:tabLst>
            </a:pPr>
            <a:r>
              <a:rPr sz="1450" spc="140" dirty="0">
                <a:latin typeface="Times New Roman"/>
                <a:cs typeface="Times New Roman"/>
              </a:rPr>
              <a:t>LD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70" dirty="0">
                <a:latin typeface="Times New Roman"/>
                <a:cs typeface="Times New Roman"/>
              </a:rPr>
              <a:t>F6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25" dirty="0">
                <a:latin typeface="Times New Roman"/>
                <a:cs typeface="Times New Roman"/>
              </a:rPr>
              <a:t>34+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45" dirty="0">
                <a:latin typeface="Times New Roman"/>
                <a:cs typeface="Times New Roman"/>
              </a:rPr>
              <a:t>R2</a:t>
            </a:r>
            <a:endParaRPr sz="145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85"/>
              </a:spcBef>
              <a:tabLst>
                <a:tab pos="1019175" algn="l"/>
                <a:tab pos="1575435" algn="l"/>
                <a:tab pos="2243455" algn="l"/>
              </a:tabLst>
            </a:pPr>
            <a:r>
              <a:rPr sz="1450" spc="140" dirty="0">
                <a:solidFill>
                  <a:srgbClr val="FF0000"/>
                </a:solidFill>
                <a:latin typeface="Times New Roman"/>
                <a:cs typeface="Times New Roman"/>
              </a:rPr>
              <a:t>LD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FF0000"/>
                </a:solidFill>
                <a:latin typeface="Times New Roman"/>
                <a:cs typeface="Times New Roman"/>
              </a:rPr>
              <a:t>F2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25" dirty="0">
                <a:solidFill>
                  <a:srgbClr val="FF0000"/>
                </a:solidFill>
                <a:latin typeface="Times New Roman"/>
                <a:cs typeface="Times New Roman"/>
              </a:rPr>
              <a:t>45+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45" dirty="0">
                <a:solidFill>
                  <a:srgbClr val="FF0000"/>
                </a:solidFill>
                <a:latin typeface="Times New Roman"/>
                <a:cs typeface="Times New Roman"/>
              </a:rPr>
              <a:t>R3</a:t>
            </a:r>
            <a:endParaRPr sz="1450" dirty="0">
              <a:latin typeface="Times New Roman"/>
              <a:cs typeface="Times New Roman"/>
            </a:endParaRPr>
          </a:p>
          <a:p>
            <a:pPr marL="12700" marR="41910" algn="r">
              <a:lnSpc>
                <a:spcPct val="105000"/>
              </a:lnSpc>
              <a:spcBef>
                <a:spcPts val="125"/>
              </a:spcBef>
              <a:tabLst>
                <a:tab pos="1031875" algn="l"/>
                <a:tab pos="1662430" algn="l"/>
                <a:tab pos="2256155" algn="l"/>
              </a:tabLst>
            </a:pPr>
            <a:r>
              <a:rPr sz="1450" spc="135" dirty="0">
                <a:solidFill>
                  <a:srgbClr val="0000FF"/>
                </a:solidFill>
                <a:latin typeface="Times New Roman"/>
                <a:cs typeface="Times New Roman"/>
              </a:rPr>
              <a:t>MULTD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0000FF"/>
                </a:solidFill>
                <a:latin typeface="Times New Roman"/>
                <a:cs typeface="Times New Roman"/>
              </a:rPr>
              <a:t>F0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0000FF"/>
                </a:solidFill>
                <a:latin typeface="Times New Roman"/>
                <a:cs typeface="Times New Roman"/>
              </a:rPr>
              <a:t>F2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0000FF"/>
                </a:solidFill>
                <a:latin typeface="Times New Roman"/>
                <a:cs typeface="Times New Roman"/>
              </a:rPr>
              <a:t>F4 </a:t>
            </a:r>
            <a:r>
              <a:rPr sz="1450" spc="120" dirty="0">
                <a:solidFill>
                  <a:srgbClr val="FF00FF"/>
                </a:solidFill>
                <a:latin typeface="Times New Roman"/>
                <a:cs typeface="Times New Roman"/>
              </a:rPr>
              <a:t>SUBD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FF00FF"/>
                </a:solidFill>
                <a:latin typeface="Times New Roman"/>
                <a:cs typeface="Times New Roman"/>
              </a:rPr>
              <a:t>F8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FF00FF"/>
                </a:solidFill>
                <a:latin typeface="Times New Roman"/>
                <a:cs typeface="Times New Roman"/>
              </a:rPr>
              <a:t>F6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FF00FF"/>
                </a:solidFill>
                <a:latin typeface="Times New Roman"/>
                <a:cs typeface="Times New Roman"/>
              </a:rPr>
              <a:t>F2</a:t>
            </a:r>
            <a:endParaRPr sz="1450" dirty="0">
              <a:latin typeface="Times New Roman"/>
              <a:cs typeface="Times New Roman"/>
            </a:endParaRPr>
          </a:p>
          <a:p>
            <a:pPr marR="41910" algn="r">
              <a:lnSpc>
                <a:spcPct val="100000"/>
              </a:lnSpc>
              <a:spcBef>
                <a:spcPts val="210"/>
              </a:spcBef>
              <a:tabLst>
                <a:tab pos="685800" algn="l"/>
                <a:tab pos="1278890" algn="l"/>
              </a:tabLst>
            </a:pPr>
            <a:r>
              <a:rPr sz="1450" spc="85" dirty="0">
                <a:solidFill>
                  <a:srgbClr val="1FB714"/>
                </a:solidFill>
                <a:latin typeface="Times New Roman"/>
                <a:cs typeface="Times New Roman"/>
              </a:rPr>
              <a:t>F10</a:t>
            </a:r>
            <a:r>
              <a:rPr sz="1450" dirty="0">
                <a:solidFill>
                  <a:srgbClr val="1FB714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1FB714"/>
                </a:solidFill>
                <a:latin typeface="Times New Roman"/>
                <a:cs typeface="Times New Roman"/>
              </a:rPr>
              <a:t>F0</a:t>
            </a:r>
            <a:r>
              <a:rPr sz="1450" dirty="0">
                <a:solidFill>
                  <a:srgbClr val="1FB714"/>
                </a:solidFill>
                <a:latin typeface="Times New Roman"/>
                <a:cs typeface="Times New Roman"/>
              </a:rPr>
              <a:t>	</a:t>
            </a:r>
            <a:r>
              <a:rPr sz="1450" spc="70" dirty="0">
                <a:solidFill>
                  <a:srgbClr val="1FB714"/>
                </a:solidFill>
                <a:latin typeface="Times New Roman"/>
                <a:cs typeface="Times New Roman"/>
              </a:rPr>
              <a:t>F6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  <a:p>
            <a:pPr marR="41910" algn="r">
              <a:lnSpc>
                <a:spcPct val="100000"/>
              </a:lnSpc>
              <a:spcBef>
                <a:spcPts val="85"/>
              </a:spcBef>
              <a:tabLst>
                <a:tab pos="629920" algn="l"/>
                <a:tab pos="1223645" algn="l"/>
              </a:tabLst>
            </a:pPr>
            <a:r>
              <a:rPr sz="1450" spc="70" dirty="0">
                <a:latin typeface="Times New Roman"/>
                <a:cs typeface="Times New Roman"/>
              </a:rPr>
              <a:t>F6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70" dirty="0">
                <a:latin typeface="Times New Roman"/>
                <a:cs typeface="Times New Roman"/>
              </a:rPr>
              <a:t>F8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70" dirty="0">
                <a:latin typeface="Times New Roman"/>
                <a:cs typeface="Times New Roman"/>
              </a:rPr>
              <a:t>F2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5809" y="2043048"/>
            <a:ext cx="13449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50" b="1" baseline="-5555" dirty="0">
                <a:latin typeface="Arial"/>
                <a:cs typeface="Arial"/>
              </a:rPr>
              <a:t>EX</a:t>
            </a:r>
            <a:r>
              <a:rPr sz="2250" b="1" spc="382" baseline="-5555" dirty="0">
                <a:latin typeface="Arial"/>
                <a:cs typeface="Arial"/>
              </a:rPr>
              <a:t> </a:t>
            </a:r>
            <a:r>
              <a:rPr sz="1450" spc="75" dirty="0">
                <a:latin typeface="Times New Roman"/>
                <a:cs typeface="Times New Roman"/>
              </a:rPr>
              <a:t>Instruction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0388" y="3827215"/>
            <a:ext cx="25165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45" dirty="0">
                <a:solidFill>
                  <a:srgbClr val="FF0000"/>
                </a:solidFill>
                <a:latin typeface="Times New Roman"/>
                <a:cs typeface="Times New Roman"/>
              </a:rPr>
              <a:t>Reservation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Stations: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9885" y="3836499"/>
            <a:ext cx="278130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34"/>
              </a:spcBef>
            </a:pPr>
            <a:r>
              <a:rPr sz="1550" i="1" spc="130" dirty="0">
                <a:latin typeface="Times New Roman"/>
                <a:cs typeface="Times New Roman"/>
              </a:rPr>
              <a:t>Vj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14490" y="3836499"/>
            <a:ext cx="28130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80" dirty="0">
                <a:latin typeface="Times New Roman"/>
                <a:cs typeface="Times New Roman"/>
              </a:rPr>
              <a:t>S2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155" dirty="0">
                <a:latin typeface="Times New Roman"/>
                <a:cs typeface="Times New Roman"/>
              </a:rPr>
              <a:t>Vk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00553" y="3836499"/>
            <a:ext cx="29654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  <a:spcBef>
                <a:spcPts val="334"/>
              </a:spcBef>
            </a:pPr>
            <a:r>
              <a:rPr sz="1550" i="1" spc="185" dirty="0">
                <a:latin typeface="Times New Roman"/>
                <a:cs typeface="Times New Roman"/>
              </a:rPr>
              <a:t>Qj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86616" y="3836499"/>
            <a:ext cx="318135" cy="5829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50" i="1" spc="165" dirty="0">
                <a:latin typeface="Times New Roman"/>
                <a:cs typeface="Times New Roman"/>
              </a:rPr>
              <a:t>RS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550" i="1" spc="210" dirty="0">
                <a:latin typeface="Times New Roman"/>
                <a:cs typeface="Times New Roman"/>
              </a:rPr>
              <a:t>Qk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4176" y="4183083"/>
            <a:ext cx="4394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i="1" spc="60" dirty="0">
                <a:latin typeface="Times New Roman"/>
                <a:cs typeface="Times New Roman"/>
              </a:rPr>
              <a:t>Time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07964" y="4152138"/>
            <a:ext cx="10922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72795" algn="l"/>
              </a:tabLst>
            </a:pPr>
            <a:r>
              <a:rPr sz="1550" i="1" spc="160" dirty="0">
                <a:latin typeface="Times New Roman"/>
                <a:cs typeface="Times New Roman"/>
              </a:rPr>
              <a:t>Busy</a:t>
            </a:r>
            <a:r>
              <a:rPr sz="1550" i="1" dirty="0">
                <a:latin typeface="Times New Roman"/>
                <a:cs typeface="Times New Roman"/>
              </a:rPr>
              <a:t>	</a:t>
            </a:r>
            <a:r>
              <a:rPr sz="1550" i="1" spc="220" dirty="0">
                <a:latin typeface="Times New Roman"/>
                <a:cs typeface="Times New Roman"/>
              </a:rPr>
              <a:t>Op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77527" y="4158327"/>
            <a:ext cx="1076325" cy="14801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450" i="1" spc="125" dirty="0">
                <a:latin typeface="Times New Roman"/>
                <a:cs typeface="Times New Roman"/>
              </a:rPr>
              <a:t>Name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  <a:tabLst>
                <a:tab pos="772795" algn="l"/>
              </a:tabLst>
            </a:pPr>
            <a:r>
              <a:rPr sz="1450" spc="114" dirty="0">
                <a:latin typeface="Times New Roman"/>
                <a:cs typeface="Times New Roman"/>
              </a:rPr>
              <a:t>Add3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2795" algn="l"/>
              </a:tabLst>
            </a:pPr>
            <a:r>
              <a:rPr sz="1450" spc="90" dirty="0">
                <a:latin typeface="Times New Roman"/>
                <a:cs typeface="Times New Roman"/>
              </a:rPr>
              <a:t>Mult1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100" dirty="0">
                <a:latin typeface="Times New Roman"/>
                <a:cs typeface="Times New Roman"/>
              </a:rPr>
              <a:t>No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  <a:tabLst>
                <a:tab pos="735330" algn="l"/>
              </a:tabLst>
            </a:pPr>
            <a:r>
              <a:rPr sz="1450" spc="90" dirty="0">
                <a:latin typeface="Times New Roman"/>
                <a:cs typeface="Times New Roman"/>
              </a:rPr>
              <a:t>Mult2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75" dirty="0">
                <a:latin typeface="Times New Roman"/>
                <a:cs typeface="Times New Roman"/>
              </a:rPr>
              <a:t>Yes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75484" y="5389938"/>
            <a:ext cx="55753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10" dirty="0">
                <a:solidFill>
                  <a:srgbClr val="00FF00"/>
                </a:solidFill>
                <a:latin typeface="Times New Roman"/>
                <a:cs typeface="Times New Roman"/>
              </a:rPr>
              <a:t>DIVD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98632" y="5389938"/>
            <a:ext cx="54483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05" dirty="0">
                <a:solidFill>
                  <a:srgbClr val="0000FF"/>
                </a:solidFill>
                <a:latin typeface="Times New Roman"/>
                <a:cs typeface="Times New Roman"/>
              </a:rPr>
              <a:t>M*F4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47610" y="5389938"/>
            <a:ext cx="61912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105" dirty="0">
                <a:latin typeface="Times New Roman"/>
                <a:cs typeface="Times New Roman"/>
              </a:rPr>
              <a:t>M(A1)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0388" y="5687010"/>
            <a:ext cx="2553335" cy="9264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95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Register</a:t>
            </a:r>
            <a:r>
              <a:rPr sz="1950" i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14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r>
              <a:rPr sz="195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i="1" spc="100" dirty="0">
                <a:solidFill>
                  <a:srgbClr val="FF0000"/>
                </a:solidFill>
                <a:latin typeface="Times New Roman"/>
                <a:cs typeface="Times New Roman"/>
              </a:rPr>
              <a:t>status:</a:t>
            </a:r>
            <a:endParaRPr sz="195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220"/>
              </a:spcBef>
            </a:pPr>
            <a:r>
              <a:rPr sz="1950" spc="130" dirty="0">
                <a:latin typeface="Times New Roman"/>
                <a:cs typeface="Times New Roman"/>
              </a:rPr>
              <a:t>Clock</a:t>
            </a:r>
            <a:endParaRPr sz="195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  <a:spcBef>
                <a:spcPts val="229"/>
              </a:spcBef>
            </a:pPr>
            <a:r>
              <a:rPr sz="1450" b="1" spc="120" dirty="0">
                <a:latin typeface="Times New Roman"/>
                <a:cs typeface="Times New Roman"/>
              </a:rPr>
              <a:t>56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85854" y="6039782"/>
            <a:ext cx="9715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665" algn="l"/>
              </a:tabLst>
            </a:pPr>
            <a:r>
              <a:rPr sz="1950" i="1" spc="65" dirty="0">
                <a:latin typeface="Times New Roman"/>
                <a:cs typeface="Times New Roman"/>
              </a:rPr>
              <a:t>...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F30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19217" y="6002649"/>
            <a:ext cx="6836409" cy="6108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42620">
              <a:lnSpc>
                <a:spcPct val="100000"/>
              </a:lnSpc>
              <a:spcBef>
                <a:spcPts val="390"/>
              </a:spcBef>
              <a:tabLst>
                <a:tab pos="1365885" algn="l"/>
                <a:tab pos="2070735" algn="l"/>
                <a:tab pos="2756535" algn="l"/>
                <a:tab pos="3461385" algn="l"/>
                <a:tab pos="4072890" algn="l"/>
                <a:tab pos="4888865" algn="l"/>
              </a:tabLst>
            </a:pPr>
            <a:r>
              <a:rPr sz="1950" i="1" spc="125" dirty="0">
                <a:latin typeface="Times New Roman"/>
                <a:cs typeface="Times New Roman"/>
              </a:rPr>
              <a:t>F0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F2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F4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F6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25" dirty="0">
                <a:latin typeface="Times New Roman"/>
                <a:cs typeface="Times New Roman"/>
              </a:rPr>
              <a:t>F8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F10</a:t>
            </a:r>
            <a:r>
              <a:rPr sz="1950" i="1" dirty="0">
                <a:latin typeface="Times New Roman"/>
                <a:cs typeface="Times New Roman"/>
              </a:rPr>
              <a:t>	</a:t>
            </a:r>
            <a:r>
              <a:rPr sz="1950" i="1" spc="135" dirty="0">
                <a:latin typeface="Times New Roman"/>
                <a:cs typeface="Times New Roman"/>
              </a:rPr>
              <a:t>F12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  <a:tabLst>
                <a:tab pos="568325" algn="l"/>
                <a:tab pos="1254760" algn="l"/>
                <a:tab pos="2478405" algn="l"/>
                <a:tab pos="4054475" algn="l"/>
              </a:tabLst>
            </a:pPr>
            <a:r>
              <a:rPr sz="1450" i="1" spc="140" dirty="0">
                <a:latin typeface="Times New Roman"/>
                <a:cs typeface="Times New Roman"/>
              </a:rPr>
              <a:t>FU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0000FF"/>
                </a:solidFill>
                <a:latin typeface="Times New Roman"/>
                <a:cs typeface="Times New Roman"/>
              </a:rPr>
              <a:t>M*F4</a:t>
            </a:r>
            <a:r>
              <a:rPr sz="14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450" spc="105" dirty="0">
                <a:solidFill>
                  <a:srgbClr val="FF0000"/>
                </a:solidFill>
                <a:latin typeface="Times New Roman"/>
                <a:cs typeface="Times New Roman"/>
              </a:rPr>
              <a:t>M(A2)</a:t>
            </a:r>
            <a:r>
              <a:rPr sz="145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(M-</a:t>
            </a:r>
            <a:r>
              <a:rPr sz="1450" spc="165" dirty="0">
                <a:solidFill>
                  <a:srgbClr val="1FB714"/>
                </a:solidFill>
                <a:latin typeface="Times New Roman"/>
                <a:cs typeface="Times New Roman"/>
              </a:rPr>
              <a:t>M+M</a:t>
            </a:r>
            <a:r>
              <a:rPr sz="1450" spc="165" dirty="0">
                <a:solidFill>
                  <a:srgbClr val="FF00FF"/>
                </a:solidFill>
                <a:latin typeface="Times New Roman"/>
                <a:cs typeface="Times New Roman"/>
              </a:rPr>
              <a:t>(M-</a:t>
            </a:r>
            <a:r>
              <a:rPr sz="1450" spc="100" dirty="0">
                <a:solidFill>
                  <a:srgbClr val="FF00FF"/>
                </a:solidFill>
                <a:latin typeface="Times New Roman"/>
                <a:cs typeface="Times New Roman"/>
              </a:rPr>
              <a:t>M)</a:t>
            </a:r>
            <a:r>
              <a:rPr sz="14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450" spc="80" dirty="0">
                <a:solidFill>
                  <a:srgbClr val="1FB714"/>
                </a:solidFill>
                <a:latin typeface="Times New Roman"/>
                <a:cs typeface="Times New Roman"/>
              </a:rPr>
              <a:t>Result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358389" y="2268419"/>
            <a:ext cx="2174240" cy="1622425"/>
            <a:chOff x="3358389" y="2268419"/>
            <a:chExt cx="2174240" cy="1622425"/>
          </a:xfrm>
        </p:grpSpPr>
        <p:sp>
          <p:nvSpPr>
            <p:cNvPr id="30" name="object 30"/>
            <p:cNvSpPr/>
            <p:nvPr/>
          </p:nvSpPr>
          <p:spPr>
            <a:xfrm>
              <a:off x="3376931" y="2292666"/>
              <a:ext cx="2151380" cy="0"/>
            </a:xfrm>
            <a:custGeom>
              <a:avLst/>
              <a:gdLst/>
              <a:ahLst/>
              <a:cxnLst/>
              <a:rect l="l" t="t" r="r" b="b"/>
              <a:pathLst>
                <a:path w="2151379">
                  <a:moveTo>
                    <a:pt x="2150899" y="0"/>
                  </a:moveTo>
                  <a:lnTo>
                    <a:pt x="0" y="0"/>
                  </a:lnTo>
                  <a:lnTo>
                    <a:pt x="21508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76931" y="2294599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76931" y="2292666"/>
              <a:ext cx="0" cy="1454785"/>
            </a:xfrm>
            <a:custGeom>
              <a:avLst/>
              <a:gdLst/>
              <a:ahLst/>
              <a:cxnLst/>
              <a:rect l="l" t="t" r="r" b="b"/>
              <a:pathLst>
                <a:path h="1454785">
                  <a:moveTo>
                    <a:pt x="0" y="0"/>
                  </a:moveTo>
                  <a:lnTo>
                    <a:pt x="0" y="14544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60706" y="2292665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58388" y="2292667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11606" y="2292665"/>
              <a:ext cx="0" cy="1443355"/>
            </a:xfrm>
            <a:custGeom>
              <a:avLst/>
              <a:gdLst/>
              <a:ahLst/>
              <a:cxnLst/>
              <a:rect l="l" t="t" r="r" b="b"/>
              <a:pathLst>
                <a:path h="1443354">
                  <a:moveTo>
                    <a:pt x="0" y="0"/>
                  </a:moveTo>
                  <a:lnTo>
                    <a:pt x="0" y="1442810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09285" y="2292667"/>
              <a:ext cx="19050" cy="1439545"/>
            </a:xfrm>
            <a:custGeom>
              <a:avLst/>
              <a:gdLst/>
              <a:ahLst/>
              <a:cxnLst/>
              <a:rect l="l" t="t" r="r" b="b"/>
              <a:pathLst>
                <a:path w="19050" h="1439545">
                  <a:moveTo>
                    <a:pt x="18542" y="0"/>
                  </a:moveTo>
                  <a:lnTo>
                    <a:pt x="0" y="0"/>
                  </a:lnTo>
                  <a:lnTo>
                    <a:pt x="0" y="1438948"/>
                  </a:lnTo>
                  <a:lnTo>
                    <a:pt x="18542" y="1438948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76931" y="3733542"/>
              <a:ext cx="2155825" cy="0"/>
            </a:xfrm>
            <a:custGeom>
              <a:avLst/>
              <a:gdLst/>
              <a:ahLst/>
              <a:cxnLst/>
              <a:rect l="l" t="t" r="r" b="b"/>
              <a:pathLst>
                <a:path w="2155825">
                  <a:moveTo>
                    <a:pt x="0" y="0"/>
                  </a:moveTo>
                  <a:lnTo>
                    <a:pt x="2155535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55503" y="2299216"/>
              <a:ext cx="575310" cy="1560830"/>
            </a:xfrm>
            <a:custGeom>
              <a:avLst/>
              <a:gdLst/>
              <a:ahLst/>
              <a:cxnLst/>
              <a:rect l="l" t="t" r="r" b="b"/>
              <a:pathLst>
                <a:path w="575310" h="1560829">
                  <a:moveTo>
                    <a:pt x="0" y="95815"/>
                  </a:moveTo>
                  <a:lnTo>
                    <a:pt x="7529" y="58519"/>
                  </a:lnTo>
                  <a:lnTo>
                    <a:pt x="28063" y="28063"/>
                  </a:lnTo>
                  <a:lnTo>
                    <a:pt x="58519" y="7529"/>
                  </a:lnTo>
                  <a:lnTo>
                    <a:pt x="95815" y="0"/>
                  </a:lnTo>
                  <a:lnTo>
                    <a:pt x="479071" y="0"/>
                  </a:lnTo>
                  <a:lnTo>
                    <a:pt x="516366" y="7529"/>
                  </a:lnTo>
                  <a:lnTo>
                    <a:pt x="546822" y="28063"/>
                  </a:lnTo>
                  <a:lnTo>
                    <a:pt x="567356" y="58519"/>
                  </a:lnTo>
                  <a:lnTo>
                    <a:pt x="574886" y="95815"/>
                  </a:lnTo>
                  <a:lnTo>
                    <a:pt x="574886" y="1464591"/>
                  </a:lnTo>
                  <a:lnTo>
                    <a:pt x="567356" y="1501886"/>
                  </a:lnTo>
                  <a:lnTo>
                    <a:pt x="546822" y="1532343"/>
                  </a:lnTo>
                  <a:lnTo>
                    <a:pt x="516366" y="1552877"/>
                  </a:lnTo>
                  <a:lnTo>
                    <a:pt x="479071" y="1560406"/>
                  </a:lnTo>
                  <a:lnTo>
                    <a:pt x="95815" y="1560406"/>
                  </a:lnTo>
                  <a:lnTo>
                    <a:pt x="58519" y="1552877"/>
                  </a:lnTo>
                  <a:lnTo>
                    <a:pt x="28063" y="1532343"/>
                  </a:lnTo>
                  <a:lnTo>
                    <a:pt x="7529" y="1501886"/>
                  </a:lnTo>
                  <a:lnTo>
                    <a:pt x="0" y="1464591"/>
                  </a:lnTo>
                  <a:lnTo>
                    <a:pt x="0" y="95815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194643" y="2791976"/>
              <a:ext cx="575310" cy="1068070"/>
            </a:xfrm>
            <a:custGeom>
              <a:avLst/>
              <a:gdLst/>
              <a:ahLst/>
              <a:cxnLst/>
              <a:rect l="l" t="t" r="r" b="b"/>
              <a:pathLst>
                <a:path w="575310" h="1068070">
                  <a:moveTo>
                    <a:pt x="0" y="95816"/>
                  </a:moveTo>
                  <a:lnTo>
                    <a:pt x="7529" y="58520"/>
                  </a:lnTo>
                  <a:lnTo>
                    <a:pt x="28063" y="28063"/>
                  </a:lnTo>
                  <a:lnTo>
                    <a:pt x="58520" y="7529"/>
                  </a:lnTo>
                  <a:lnTo>
                    <a:pt x="95816" y="0"/>
                  </a:lnTo>
                  <a:lnTo>
                    <a:pt x="479070" y="0"/>
                  </a:lnTo>
                  <a:lnTo>
                    <a:pt x="516366" y="7529"/>
                  </a:lnTo>
                  <a:lnTo>
                    <a:pt x="546822" y="28063"/>
                  </a:lnTo>
                  <a:lnTo>
                    <a:pt x="567356" y="58520"/>
                  </a:lnTo>
                  <a:lnTo>
                    <a:pt x="574886" y="95816"/>
                  </a:lnTo>
                  <a:lnTo>
                    <a:pt x="574886" y="971830"/>
                  </a:lnTo>
                  <a:lnTo>
                    <a:pt x="567356" y="1009126"/>
                  </a:lnTo>
                  <a:lnTo>
                    <a:pt x="546822" y="1039582"/>
                  </a:lnTo>
                  <a:lnTo>
                    <a:pt x="516366" y="1060116"/>
                  </a:lnTo>
                  <a:lnTo>
                    <a:pt x="479070" y="1067646"/>
                  </a:lnTo>
                  <a:lnTo>
                    <a:pt x="95816" y="1067646"/>
                  </a:lnTo>
                  <a:lnTo>
                    <a:pt x="58520" y="1060116"/>
                  </a:lnTo>
                  <a:lnTo>
                    <a:pt x="28063" y="1039582"/>
                  </a:lnTo>
                  <a:lnTo>
                    <a:pt x="7529" y="1009126"/>
                  </a:lnTo>
                  <a:lnTo>
                    <a:pt x="0" y="971830"/>
                  </a:lnTo>
                  <a:lnTo>
                    <a:pt x="0" y="95816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51657" y="2299216"/>
              <a:ext cx="575310" cy="1560830"/>
            </a:xfrm>
            <a:custGeom>
              <a:avLst/>
              <a:gdLst/>
              <a:ahLst/>
              <a:cxnLst/>
              <a:rect l="l" t="t" r="r" b="b"/>
              <a:pathLst>
                <a:path w="575310" h="1560829">
                  <a:moveTo>
                    <a:pt x="0" y="95815"/>
                  </a:moveTo>
                  <a:lnTo>
                    <a:pt x="7529" y="58519"/>
                  </a:lnTo>
                  <a:lnTo>
                    <a:pt x="28063" y="28063"/>
                  </a:lnTo>
                  <a:lnTo>
                    <a:pt x="58519" y="7529"/>
                  </a:lnTo>
                  <a:lnTo>
                    <a:pt x="95815" y="0"/>
                  </a:lnTo>
                  <a:lnTo>
                    <a:pt x="479071" y="0"/>
                  </a:lnTo>
                  <a:lnTo>
                    <a:pt x="516366" y="7529"/>
                  </a:lnTo>
                  <a:lnTo>
                    <a:pt x="546822" y="28063"/>
                  </a:lnTo>
                  <a:lnTo>
                    <a:pt x="567356" y="58519"/>
                  </a:lnTo>
                  <a:lnTo>
                    <a:pt x="574886" y="95815"/>
                  </a:lnTo>
                  <a:lnTo>
                    <a:pt x="574886" y="1464591"/>
                  </a:lnTo>
                  <a:lnTo>
                    <a:pt x="567356" y="1501886"/>
                  </a:lnTo>
                  <a:lnTo>
                    <a:pt x="546822" y="1532343"/>
                  </a:lnTo>
                  <a:lnTo>
                    <a:pt x="516366" y="1552877"/>
                  </a:lnTo>
                  <a:lnTo>
                    <a:pt x="479071" y="1560406"/>
                  </a:lnTo>
                  <a:lnTo>
                    <a:pt x="95815" y="1560406"/>
                  </a:lnTo>
                  <a:lnTo>
                    <a:pt x="58519" y="1552877"/>
                  </a:lnTo>
                  <a:lnTo>
                    <a:pt x="28063" y="1532343"/>
                  </a:lnTo>
                  <a:lnTo>
                    <a:pt x="7529" y="1501886"/>
                  </a:lnTo>
                  <a:lnTo>
                    <a:pt x="0" y="1464591"/>
                  </a:lnTo>
                  <a:lnTo>
                    <a:pt x="0" y="95815"/>
                  </a:lnTo>
                  <a:close/>
                </a:path>
              </a:pathLst>
            </a:custGeom>
            <a:ln w="615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6899957" y="2292665"/>
            <a:ext cx="1669414" cy="731520"/>
            <a:chOff x="6899957" y="2292665"/>
            <a:chExt cx="1669414" cy="731520"/>
          </a:xfrm>
        </p:grpSpPr>
        <p:sp>
          <p:nvSpPr>
            <p:cNvPr id="42" name="object 42"/>
            <p:cNvSpPr/>
            <p:nvPr/>
          </p:nvSpPr>
          <p:spPr>
            <a:xfrm>
              <a:off x="6918499" y="2292666"/>
              <a:ext cx="0" cy="727710"/>
            </a:xfrm>
            <a:custGeom>
              <a:avLst/>
              <a:gdLst/>
              <a:ahLst/>
              <a:cxnLst/>
              <a:rect l="l" t="t" r="r" b="b"/>
              <a:pathLst>
                <a:path h="727710">
                  <a:moveTo>
                    <a:pt x="0" y="0"/>
                  </a:moveTo>
                  <a:lnTo>
                    <a:pt x="0" y="7272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902275" y="2292665"/>
              <a:ext cx="0" cy="731520"/>
            </a:xfrm>
            <a:custGeom>
              <a:avLst/>
              <a:gdLst/>
              <a:ahLst/>
              <a:cxnLst/>
              <a:rect l="l" t="t" r="r" b="b"/>
              <a:pathLst>
                <a:path h="731519">
                  <a:moveTo>
                    <a:pt x="0" y="0"/>
                  </a:moveTo>
                  <a:lnTo>
                    <a:pt x="0" y="73107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899948" y="2292667"/>
              <a:ext cx="19050" cy="727710"/>
            </a:xfrm>
            <a:custGeom>
              <a:avLst/>
              <a:gdLst/>
              <a:ahLst/>
              <a:cxnLst/>
              <a:rect l="l" t="t" r="r" b="b"/>
              <a:pathLst>
                <a:path w="19050" h="727710">
                  <a:moveTo>
                    <a:pt x="18542" y="0"/>
                  </a:moveTo>
                  <a:lnTo>
                    <a:pt x="0" y="0"/>
                  </a:lnTo>
                  <a:lnTo>
                    <a:pt x="0" y="727214"/>
                  </a:lnTo>
                  <a:lnTo>
                    <a:pt x="18542" y="727214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552534" y="2292665"/>
              <a:ext cx="0" cy="731520"/>
            </a:xfrm>
            <a:custGeom>
              <a:avLst/>
              <a:gdLst/>
              <a:ahLst/>
              <a:cxnLst/>
              <a:rect l="l" t="t" r="r" b="b"/>
              <a:pathLst>
                <a:path h="731519">
                  <a:moveTo>
                    <a:pt x="0" y="0"/>
                  </a:moveTo>
                  <a:lnTo>
                    <a:pt x="0" y="73107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18499" y="2292666"/>
              <a:ext cx="1650364" cy="0"/>
            </a:xfrm>
            <a:custGeom>
              <a:avLst/>
              <a:gdLst/>
              <a:ahLst/>
              <a:cxnLst/>
              <a:rect l="l" t="t" r="r" b="b"/>
              <a:pathLst>
                <a:path w="1650365">
                  <a:moveTo>
                    <a:pt x="1650259" y="0"/>
                  </a:moveTo>
                  <a:lnTo>
                    <a:pt x="0" y="0"/>
                  </a:lnTo>
                  <a:lnTo>
                    <a:pt x="1650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18499" y="2294599"/>
              <a:ext cx="1636395" cy="0"/>
            </a:xfrm>
            <a:custGeom>
              <a:avLst/>
              <a:gdLst/>
              <a:ahLst/>
              <a:cxnLst/>
              <a:rect l="l" t="t" r="r" b="b"/>
              <a:pathLst>
                <a:path w="1636395">
                  <a:moveTo>
                    <a:pt x="0" y="0"/>
                  </a:moveTo>
                  <a:lnTo>
                    <a:pt x="1636352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18499" y="3019873"/>
              <a:ext cx="1650364" cy="0"/>
            </a:xfrm>
            <a:custGeom>
              <a:avLst/>
              <a:gdLst/>
              <a:ahLst/>
              <a:cxnLst/>
              <a:rect l="l" t="t" r="r" b="b"/>
              <a:pathLst>
                <a:path w="1650365">
                  <a:moveTo>
                    <a:pt x="1650259" y="0"/>
                  </a:moveTo>
                  <a:lnTo>
                    <a:pt x="0" y="0"/>
                  </a:lnTo>
                  <a:lnTo>
                    <a:pt x="1650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18499" y="3006334"/>
              <a:ext cx="1636395" cy="0"/>
            </a:xfrm>
            <a:custGeom>
              <a:avLst/>
              <a:gdLst/>
              <a:ahLst/>
              <a:cxnLst/>
              <a:rect l="l" t="t" r="r" b="b"/>
              <a:pathLst>
                <a:path w="1636395">
                  <a:moveTo>
                    <a:pt x="0" y="0"/>
                  </a:moveTo>
                  <a:lnTo>
                    <a:pt x="1636352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18499" y="3004400"/>
              <a:ext cx="1631950" cy="15875"/>
            </a:xfrm>
            <a:custGeom>
              <a:avLst/>
              <a:gdLst/>
              <a:ahLst/>
              <a:cxnLst/>
              <a:rect l="l" t="t" r="r" b="b"/>
              <a:pathLst>
                <a:path w="1631950" h="15875">
                  <a:moveTo>
                    <a:pt x="1631717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1631717" y="15472"/>
                  </a:lnTo>
                  <a:lnTo>
                    <a:pt x="1631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3358389" y="6361932"/>
            <a:ext cx="6416040" cy="263525"/>
            <a:chOff x="3358389" y="6361932"/>
            <a:chExt cx="6416040" cy="263525"/>
          </a:xfrm>
        </p:grpSpPr>
        <p:sp>
          <p:nvSpPr>
            <p:cNvPr id="52" name="object 52"/>
            <p:cNvSpPr/>
            <p:nvPr/>
          </p:nvSpPr>
          <p:spPr>
            <a:xfrm>
              <a:off x="3376931" y="6377405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60706" y="6361933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59">
                  <a:moveTo>
                    <a:pt x="0" y="0"/>
                  </a:moveTo>
                  <a:lnTo>
                    <a:pt x="0" y="251428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58388" y="6361937"/>
              <a:ext cx="19050" cy="247650"/>
            </a:xfrm>
            <a:custGeom>
              <a:avLst/>
              <a:gdLst/>
              <a:ahLst/>
              <a:cxnLst/>
              <a:rect l="l" t="t" r="r" b="b"/>
              <a:pathLst>
                <a:path w="19050" h="247650">
                  <a:moveTo>
                    <a:pt x="18542" y="0"/>
                  </a:moveTo>
                  <a:lnTo>
                    <a:pt x="0" y="0"/>
                  </a:lnTo>
                  <a:lnTo>
                    <a:pt x="0" y="247561"/>
                  </a:lnTo>
                  <a:lnTo>
                    <a:pt x="18542" y="247561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757780" y="6377405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5955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755454" y="6377406"/>
              <a:ext cx="19050" cy="232410"/>
            </a:xfrm>
            <a:custGeom>
              <a:avLst/>
              <a:gdLst/>
              <a:ahLst/>
              <a:cxnLst/>
              <a:rect l="l" t="t" r="r" b="b"/>
              <a:pathLst>
                <a:path w="19050" h="232409">
                  <a:moveTo>
                    <a:pt x="18542" y="0"/>
                  </a:moveTo>
                  <a:lnTo>
                    <a:pt x="0" y="0"/>
                  </a:lnTo>
                  <a:lnTo>
                    <a:pt x="0" y="232092"/>
                  </a:lnTo>
                  <a:lnTo>
                    <a:pt x="18542" y="232092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376931" y="6361933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376930" y="6361937"/>
              <a:ext cx="6397625" cy="15875"/>
            </a:xfrm>
            <a:custGeom>
              <a:avLst/>
              <a:gdLst/>
              <a:ahLst/>
              <a:cxnLst/>
              <a:rect l="l" t="t" r="r" b="b"/>
              <a:pathLst>
                <a:path w="6397625" h="15875">
                  <a:moveTo>
                    <a:pt x="6397066" y="0"/>
                  </a:moveTo>
                  <a:lnTo>
                    <a:pt x="0" y="0"/>
                  </a:lnTo>
                  <a:lnTo>
                    <a:pt x="0" y="15468"/>
                  </a:lnTo>
                  <a:lnTo>
                    <a:pt x="6397066" y="15468"/>
                  </a:lnTo>
                  <a:lnTo>
                    <a:pt x="63970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76931" y="6609493"/>
              <a:ext cx="6397625" cy="4445"/>
            </a:xfrm>
            <a:custGeom>
              <a:avLst/>
              <a:gdLst/>
              <a:ahLst/>
              <a:cxnLst/>
              <a:rect l="l" t="t" r="r" b="b"/>
              <a:pathLst>
                <a:path w="6397625" h="4445">
                  <a:moveTo>
                    <a:pt x="6397073" y="3868"/>
                  </a:moveTo>
                  <a:lnTo>
                    <a:pt x="0" y="3868"/>
                  </a:lnTo>
                  <a:lnTo>
                    <a:pt x="0" y="0"/>
                  </a:lnTo>
                  <a:lnTo>
                    <a:pt x="6397073" y="0"/>
                  </a:lnTo>
                  <a:lnTo>
                    <a:pt x="6397073" y="3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2802121" y="4427870"/>
            <a:ext cx="4121150" cy="1210945"/>
            <a:chOff x="2802121" y="4427870"/>
            <a:chExt cx="4121150" cy="1210945"/>
          </a:xfrm>
        </p:grpSpPr>
        <p:sp>
          <p:nvSpPr>
            <p:cNvPr id="61" name="object 61"/>
            <p:cNvSpPr/>
            <p:nvPr/>
          </p:nvSpPr>
          <p:spPr>
            <a:xfrm>
              <a:off x="6918499" y="4443342"/>
              <a:ext cx="0" cy="1191895"/>
            </a:xfrm>
            <a:custGeom>
              <a:avLst/>
              <a:gdLst/>
              <a:ahLst/>
              <a:cxnLst/>
              <a:rect l="l" t="t" r="r" b="b"/>
              <a:pathLst>
                <a:path h="1191895">
                  <a:moveTo>
                    <a:pt x="0" y="0"/>
                  </a:moveTo>
                  <a:lnTo>
                    <a:pt x="0" y="1191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902274" y="4427870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899948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804439" y="4427870"/>
              <a:ext cx="0" cy="1210945"/>
            </a:xfrm>
            <a:custGeom>
              <a:avLst/>
              <a:gdLst/>
              <a:ahLst/>
              <a:cxnLst/>
              <a:rect l="l" t="t" r="r" b="b"/>
              <a:pathLst>
                <a:path h="1210945">
                  <a:moveTo>
                    <a:pt x="0" y="0"/>
                  </a:moveTo>
                  <a:lnTo>
                    <a:pt x="0" y="1210723"/>
                  </a:lnTo>
                </a:path>
              </a:pathLst>
            </a:custGeom>
            <a:ln w="4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802115" y="4427880"/>
              <a:ext cx="19050" cy="1207135"/>
            </a:xfrm>
            <a:custGeom>
              <a:avLst/>
              <a:gdLst/>
              <a:ahLst/>
              <a:cxnLst/>
              <a:rect l="l" t="t" r="r" b="b"/>
              <a:pathLst>
                <a:path w="19050" h="1207135">
                  <a:moveTo>
                    <a:pt x="18542" y="0"/>
                  </a:moveTo>
                  <a:lnTo>
                    <a:pt x="0" y="0"/>
                  </a:lnTo>
                  <a:lnTo>
                    <a:pt x="0" y="1206855"/>
                  </a:lnTo>
                  <a:lnTo>
                    <a:pt x="18542" y="1206855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820664" y="4429804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820663" y="5634724"/>
              <a:ext cx="4098290" cy="0"/>
            </a:xfrm>
            <a:custGeom>
              <a:avLst/>
              <a:gdLst/>
              <a:ahLst/>
              <a:cxnLst/>
              <a:rect l="l" t="t" r="r" b="b"/>
              <a:pathLst>
                <a:path w="4098290">
                  <a:moveTo>
                    <a:pt x="4097835" y="0"/>
                  </a:moveTo>
                  <a:lnTo>
                    <a:pt x="0" y="0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20664" y="5621187"/>
              <a:ext cx="4102735" cy="0"/>
            </a:xfrm>
            <a:custGeom>
              <a:avLst/>
              <a:gdLst/>
              <a:ahLst/>
              <a:cxnLst/>
              <a:rect l="l" t="t" r="r" b="b"/>
              <a:pathLst>
                <a:path w="4102734">
                  <a:moveTo>
                    <a:pt x="0" y="0"/>
                  </a:moveTo>
                  <a:lnTo>
                    <a:pt x="4102470" y="0"/>
                  </a:lnTo>
                </a:path>
              </a:pathLst>
            </a:custGeom>
            <a:ln w="3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820663" y="5619252"/>
              <a:ext cx="4098290" cy="15875"/>
            </a:xfrm>
            <a:custGeom>
              <a:avLst/>
              <a:gdLst/>
              <a:ahLst/>
              <a:cxnLst/>
              <a:rect l="l" t="t" r="r" b="b"/>
              <a:pathLst>
                <a:path w="4098290" h="15875">
                  <a:moveTo>
                    <a:pt x="4097835" y="0"/>
                  </a:moveTo>
                  <a:lnTo>
                    <a:pt x="0" y="0"/>
                  </a:lnTo>
                  <a:lnTo>
                    <a:pt x="0" y="15472"/>
                  </a:lnTo>
                  <a:lnTo>
                    <a:pt x="4097835" y="15472"/>
                  </a:lnTo>
                  <a:lnTo>
                    <a:pt x="40978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46492" y="2294636"/>
            <a:ext cx="131445" cy="98869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500" b="1" spc="-50" dirty="0"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spc="-50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spc="-50" dirty="0">
                <a:latin typeface="Arial"/>
                <a:cs typeface="Arial"/>
              </a:rPr>
              <a:t>5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spc="-50" dirty="0">
                <a:latin typeface="Arial"/>
                <a:cs typeface="Arial"/>
              </a:rPr>
              <a:t>5</a:t>
            </a:r>
            <a:endParaRPr sz="15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93452" y="3254733"/>
            <a:ext cx="876300" cy="2385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250" b="1" baseline="-5555" dirty="0">
                <a:latin typeface="Arial"/>
                <a:cs typeface="Arial"/>
              </a:rPr>
              <a:t>16</a:t>
            </a:r>
            <a:r>
              <a:rPr sz="2250" b="1" spc="600" baseline="-5555" dirty="0">
                <a:latin typeface="Arial"/>
                <a:cs typeface="Arial"/>
              </a:rPr>
              <a:t> </a:t>
            </a:r>
            <a:r>
              <a:rPr sz="1450" spc="110" dirty="0">
                <a:solidFill>
                  <a:srgbClr val="1FB714"/>
                </a:solidFill>
                <a:latin typeface="Times New Roman"/>
                <a:cs typeface="Times New Roman"/>
              </a:rPr>
              <a:t>DIVD</a:t>
            </a:r>
            <a:endParaRPr sz="1450" dirty="0">
              <a:solidFill>
                <a:srgbClr val="1FB714"/>
              </a:solidFill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46492" y="3510788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latin typeface="Arial"/>
                <a:cs typeface="Arial"/>
              </a:rPr>
              <a:t>8</a:t>
            </a:r>
            <a:endParaRPr sz="15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14931" y="6692265"/>
            <a:ext cx="7736840" cy="7753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20675" marR="5080" indent="-307975">
              <a:lnSpc>
                <a:spcPts val="2780"/>
              </a:lnSpc>
              <a:spcBef>
                <a:spcPts val="475"/>
              </a:spcBef>
              <a:buFont typeface="Arial MT"/>
              <a:buChar char="•"/>
              <a:tabLst>
                <a:tab pos="320675" algn="l"/>
              </a:tabLst>
            </a:pP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Once</a:t>
            </a:r>
            <a:r>
              <a:rPr sz="260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again:</a:t>
            </a:r>
            <a:r>
              <a:rPr sz="26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0000"/>
                </a:solidFill>
                <a:latin typeface="Arial"/>
                <a:cs typeface="Arial"/>
              </a:rPr>
              <a:t>In-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order</a:t>
            </a:r>
            <a:r>
              <a:rPr sz="26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issue,</a:t>
            </a:r>
            <a:r>
              <a:rPr sz="26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Arial"/>
                <a:cs typeface="Arial"/>
              </a:rPr>
              <a:t>out-of-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order</a:t>
            </a:r>
            <a:r>
              <a:rPr sz="26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start</a:t>
            </a:r>
            <a:r>
              <a:rPr sz="260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execution,</a:t>
            </a:r>
            <a:r>
              <a:rPr sz="26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6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0000"/>
                </a:solidFill>
                <a:latin typeface="Arial"/>
                <a:cs typeface="Arial"/>
              </a:rPr>
              <a:t>out-</a:t>
            </a:r>
            <a:r>
              <a:rPr sz="2600" b="1" spc="-10" dirty="0">
                <a:solidFill>
                  <a:srgbClr val="FF0000"/>
                </a:solidFill>
                <a:latin typeface="Arial"/>
                <a:cs typeface="Arial"/>
              </a:rPr>
              <a:t>of-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order</a:t>
            </a:r>
            <a:r>
              <a:rPr sz="260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Arial"/>
                <a:cs typeface="Arial"/>
              </a:rPr>
              <a:t>completion.</a:t>
            </a:r>
            <a:endParaRPr sz="2600" dirty="0">
              <a:latin typeface="Arial"/>
              <a:cs typeface="Arial"/>
            </a:endParaRPr>
          </a:p>
        </p:txBody>
      </p:sp>
      <p:pic>
        <p:nvPicPr>
          <p:cNvPr id="74" name="object 7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8055" y="5443185"/>
            <a:ext cx="4881403" cy="249801"/>
          </a:xfrm>
          <a:prstGeom prst="rect">
            <a:avLst/>
          </a:prstGeom>
        </p:spPr>
      </p:pic>
      <p:sp>
        <p:nvSpPr>
          <p:cNvPr id="75" name="object 41">
            <a:extLst>
              <a:ext uri="{FF2B5EF4-FFF2-40B4-BE49-F238E27FC236}">
                <a16:creationId xmlns:a16="http://schemas.microsoft.com/office/drawing/2014/main" id="{94A36563-8DF1-A70E-8042-DBFD5BA1F84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Tomasulo’s</a:t>
            </a:r>
            <a:r>
              <a:rPr spc="120" dirty="0"/>
              <a:t> </a:t>
            </a:r>
            <a:r>
              <a:rPr dirty="0"/>
              <a:t>Scheme:</a:t>
            </a:r>
            <a:r>
              <a:rPr spc="125" dirty="0"/>
              <a:t> </a:t>
            </a:r>
            <a:r>
              <a:rPr dirty="0"/>
              <a:t>Two</a:t>
            </a:r>
            <a:r>
              <a:rPr spc="135" dirty="0"/>
              <a:t> </a:t>
            </a:r>
            <a:r>
              <a:rPr dirty="0"/>
              <a:t>Major</a:t>
            </a:r>
            <a:r>
              <a:rPr spc="114" dirty="0"/>
              <a:t> </a:t>
            </a:r>
            <a:r>
              <a:rPr spc="-10" dirty="0"/>
              <a:t>Advantages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40964" y="1347002"/>
            <a:ext cx="8071484" cy="4269117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63550" indent="-450850">
              <a:spcBef>
                <a:spcPts val="890"/>
              </a:spcBef>
              <a:buFont typeface="+mj-lt"/>
              <a:buAutoNum type="arabicPeriod"/>
              <a:tabLst>
                <a:tab pos="320040" algn="l"/>
              </a:tabLst>
            </a:pPr>
            <a:r>
              <a:rPr sz="2600" b="1" spc="-10" dirty="0">
                <a:latin typeface="Calibri"/>
                <a:cs typeface="Calibri"/>
              </a:rPr>
              <a:t>Distribution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hazard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detection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logic</a:t>
            </a:r>
            <a:endParaRPr sz="2600" dirty="0">
              <a:latin typeface="Calibri"/>
              <a:cs typeface="Calibri"/>
            </a:endParaRPr>
          </a:p>
          <a:p>
            <a:pPr marL="749935" lvl="1" indent="-244475">
              <a:spcBef>
                <a:spcPts val="580"/>
              </a:spcBef>
              <a:spcAft>
                <a:spcPts val="600"/>
              </a:spcAft>
              <a:buChar char="–"/>
              <a:tabLst>
                <a:tab pos="749935" algn="l"/>
              </a:tabLst>
            </a:pPr>
            <a:r>
              <a:rPr sz="2200" dirty="0">
                <a:latin typeface="Calibri"/>
                <a:cs typeface="Calibri"/>
              </a:rPr>
              <a:t>Distributed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reservation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stations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CDB</a:t>
            </a:r>
            <a:endParaRPr sz="2200" dirty="0">
              <a:latin typeface="Calibri"/>
              <a:cs typeface="Calibri"/>
            </a:endParaRPr>
          </a:p>
          <a:p>
            <a:pPr marL="749935" marR="14604" lvl="1" indent="-244475">
              <a:spcBef>
                <a:spcPts val="710"/>
              </a:spcBef>
              <a:spcAft>
                <a:spcPts val="600"/>
              </a:spcAft>
              <a:buChar char="–"/>
              <a:tabLst>
                <a:tab pos="75184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multiple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waiting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single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instruction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other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operand,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released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simultaneously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being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broadcast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CDB</a:t>
            </a:r>
            <a:endParaRPr sz="2200" dirty="0">
              <a:latin typeface="Calibri"/>
              <a:cs typeface="Calibri"/>
            </a:endParaRPr>
          </a:p>
          <a:p>
            <a:pPr marL="749935" marR="5080" lvl="1" indent="-244475">
              <a:spcBef>
                <a:spcPts val="755"/>
              </a:spcBef>
              <a:buChar char="–"/>
              <a:tabLst>
                <a:tab pos="75184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centralized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register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file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used,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units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would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their </a:t>
            </a:r>
            <a:r>
              <a:rPr sz="2200" dirty="0">
                <a:latin typeface="Calibri"/>
                <a:cs typeface="Calibri"/>
              </a:rPr>
              <a:t>results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registers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register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buses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available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(slower)</a:t>
            </a:r>
            <a:endParaRPr sz="2200" dirty="0">
              <a:latin typeface="Calibri"/>
              <a:cs typeface="Calibri"/>
            </a:endParaRPr>
          </a:p>
          <a:p>
            <a:pPr lvl="1">
              <a:spcBef>
                <a:spcPts val="2055"/>
              </a:spcBef>
              <a:buFont typeface="Calibri"/>
              <a:buChar char="–"/>
            </a:pPr>
            <a:endParaRPr sz="1900" dirty="0">
              <a:latin typeface="Calibri"/>
              <a:cs typeface="Calibri"/>
            </a:endParaRPr>
          </a:p>
          <a:p>
            <a:pPr marL="463550" indent="-450850">
              <a:buFont typeface="+mj-lt"/>
              <a:buAutoNum type="arabicPeriod"/>
              <a:tabLst>
                <a:tab pos="320040" algn="l"/>
              </a:tabLst>
            </a:pP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Elimination</a:t>
            </a:r>
            <a:r>
              <a:rPr sz="26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6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stalls</a:t>
            </a:r>
            <a:r>
              <a:rPr sz="26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6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WAW</a:t>
            </a:r>
            <a:r>
              <a:rPr sz="26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6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WAR</a:t>
            </a:r>
            <a:r>
              <a:rPr sz="26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hazards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90" dirty="0"/>
              <a:t> </a:t>
            </a:r>
            <a:r>
              <a:rPr spc="-10" dirty="0"/>
              <a:t>Drawbacks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40963" y="1447800"/>
            <a:ext cx="8331481" cy="5396606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20040" indent="-307340">
              <a:spcBef>
                <a:spcPts val="890"/>
              </a:spcBef>
              <a:buChar char="•"/>
              <a:tabLst>
                <a:tab pos="320040" algn="l"/>
              </a:tabLst>
            </a:pPr>
            <a:r>
              <a:rPr sz="2600" spc="-10" dirty="0">
                <a:latin typeface="Calibri"/>
                <a:cs typeface="Calibri"/>
              </a:rPr>
              <a:t>Complexity</a:t>
            </a:r>
            <a:endParaRPr sz="2600" dirty="0">
              <a:latin typeface="Calibri"/>
              <a:cs typeface="Calibri"/>
            </a:endParaRPr>
          </a:p>
          <a:p>
            <a:pPr marL="505459">
              <a:spcBef>
                <a:spcPts val="580"/>
              </a:spcBef>
            </a:pPr>
            <a:r>
              <a:rPr sz="1900" dirty="0">
                <a:latin typeface="Calibri"/>
                <a:cs typeface="Calibri"/>
              </a:rPr>
              <a:t>–</a:t>
            </a:r>
            <a:r>
              <a:rPr sz="1900" spc="100" dirty="0">
                <a:latin typeface="Calibri"/>
                <a:cs typeface="Calibri"/>
              </a:rPr>
              <a:t>  </a:t>
            </a:r>
            <a:r>
              <a:rPr lang="en-US" sz="2200" spc="100" dirty="0">
                <a:latin typeface="Calibri"/>
                <a:cs typeface="Calibri"/>
              </a:rPr>
              <a:t>D</a:t>
            </a:r>
            <a:r>
              <a:rPr sz="2200" dirty="0">
                <a:latin typeface="Calibri"/>
                <a:cs typeface="Calibri"/>
              </a:rPr>
              <a:t>elays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360/91,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MIPS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10000,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Alpha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21264,</a:t>
            </a:r>
            <a:endParaRPr sz="2200" dirty="0">
              <a:latin typeface="Calibri"/>
              <a:cs typeface="Calibri"/>
            </a:endParaRPr>
          </a:p>
          <a:p>
            <a:pPr marL="751840"/>
            <a:r>
              <a:rPr sz="2200" dirty="0">
                <a:latin typeface="Calibri"/>
                <a:cs typeface="Calibri"/>
              </a:rPr>
              <a:t>IBM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PPC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620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(in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CA:AQA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2/e,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before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silicon!)</a:t>
            </a:r>
            <a:endParaRPr sz="2200" dirty="0">
              <a:latin typeface="Calibri"/>
              <a:cs typeface="Calibri"/>
            </a:endParaRPr>
          </a:p>
          <a:p>
            <a:pPr marL="320040" indent="-307340">
              <a:spcBef>
                <a:spcPts val="620"/>
              </a:spcBef>
              <a:spcAft>
                <a:spcPts val="3000"/>
              </a:spcAft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Many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associative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stores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(CDB)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speed</a:t>
            </a:r>
            <a:endParaRPr sz="2600" dirty="0">
              <a:latin typeface="Calibri"/>
              <a:cs typeface="Calibri"/>
            </a:endParaRPr>
          </a:p>
          <a:p>
            <a:pPr marL="320040" indent="-307340">
              <a:lnSpc>
                <a:spcPct val="110000"/>
              </a:lnSpc>
              <a:buFont typeface="Calibri"/>
              <a:buChar char="•"/>
              <a:tabLst>
                <a:tab pos="320040" algn="l"/>
              </a:tabLst>
            </a:pPr>
            <a:r>
              <a:rPr sz="2600" b="1" spc="-10" dirty="0">
                <a:latin typeface="Calibri"/>
                <a:cs typeface="Calibri"/>
              </a:rPr>
              <a:t>Performance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limited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by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Common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spc="-25" dirty="0">
                <a:latin typeface="Calibri"/>
                <a:cs typeface="Calibri"/>
              </a:rPr>
              <a:t>Bus</a:t>
            </a:r>
            <a:endParaRPr sz="2600" dirty="0">
              <a:latin typeface="Calibri"/>
              <a:cs typeface="Calibri"/>
            </a:endParaRPr>
          </a:p>
          <a:p>
            <a:pPr marL="244475" marR="1997075" lvl="1" indent="-244475" algn="ctr">
              <a:lnSpc>
                <a:spcPct val="110000"/>
              </a:lnSpc>
              <a:spcBef>
                <a:spcPts val="484"/>
              </a:spcBef>
              <a:spcAft>
                <a:spcPts val="600"/>
              </a:spcAft>
              <a:buChar char="–"/>
              <a:tabLst>
                <a:tab pos="244475" algn="l"/>
              </a:tabLst>
            </a:pPr>
            <a:r>
              <a:rPr sz="2200" dirty="0">
                <a:latin typeface="Calibri"/>
                <a:cs typeface="Calibri"/>
              </a:rPr>
              <a:t>Each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CDB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must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multiple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functional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units</a:t>
            </a:r>
            <a:endParaRPr sz="2200" dirty="0">
              <a:latin typeface="Calibri"/>
              <a:cs typeface="Calibri"/>
            </a:endParaRPr>
          </a:p>
          <a:p>
            <a:pPr marR="2405380" algn="ctr">
              <a:lnSpc>
                <a:spcPct val="110000"/>
              </a:lnSpc>
            </a:pPr>
            <a:r>
              <a:rPr sz="2200" dirty="0">
                <a:latin typeface="Symbol"/>
                <a:cs typeface="Symbol"/>
              </a:rPr>
              <a:t></a:t>
            </a:r>
            <a:r>
              <a:rPr lang="en-US" sz="2200" dirty="0">
                <a:latin typeface="Symbol"/>
                <a:cs typeface="Symbol"/>
              </a:rPr>
              <a:t> </a:t>
            </a:r>
            <a:r>
              <a:rPr sz="2200" dirty="0">
                <a:latin typeface="Calibri"/>
                <a:cs typeface="Calibri"/>
              </a:rPr>
              <a:t>high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capacitance,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wiring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density</a:t>
            </a:r>
            <a:endParaRPr sz="2200" dirty="0">
              <a:latin typeface="Calibri"/>
              <a:cs typeface="Calibri"/>
            </a:endParaRPr>
          </a:p>
          <a:p>
            <a:pPr marL="1023938" lvl="1" indent="-244475" algn="l">
              <a:lnSpc>
                <a:spcPct val="110000"/>
              </a:lnSpc>
              <a:spcBef>
                <a:spcPts val="530"/>
              </a:spcBef>
              <a:buChar char="–"/>
              <a:tabLst>
                <a:tab pos="974725" algn="l"/>
              </a:tabLst>
            </a:pP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functional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units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complete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</a:t>
            </a:r>
            <a:r>
              <a:rPr lang="en-US"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limited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one!</a:t>
            </a:r>
            <a:endParaRPr sz="2200" dirty="0">
              <a:latin typeface="Calibri"/>
              <a:cs typeface="Calibri"/>
            </a:endParaRPr>
          </a:p>
          <a:p>
            <a:pPr marL="463550" algn="ctr">
              <a:lnSpc>
                <a:spcPct val="110000"/>
              </a:lnSpc>
              <a:spcBef>
                <a:spcPts val="500"/>
              </a:spcBef>
              <a:spcAft>
                <a:spcPts val="1800"/>
              </a:spcAft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7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Multiple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CDBs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Symbol"/>
                <a:cs typeface="Symbol"/>
              </a:rPr>
              <a:t>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parallel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associative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stores</a:t>
            </a:r>
            <a:endParaRPr sz="2200" dirty="0">
              <a:latin typeface="Calibri"/>
              <a:cs typeface="Calibri"/>
            </a:endParaRPr>
          </a:p>
          <a:p>
            <a:pPr marL="320040" indent="-307340">
              <a:spcBef>
                <a:spcPts val="525"/>
              </a:spcBef>
              <a:buChar char="•"/>
              <a:tabLst>
                <a:tab pos="320040" algn="l"/>
              </a:tabLst>
            </a:pPr>
            <a:r>
              <a:rPr sz="2600" spc="-20" dirty="0">
                <a:solidFill>
                  <a:srgbClr val="3366FF"/>
                </a:solidFill>
                <a:latin typeface="Calibri"/>
                <a:cs typeface="Calibri"/>
              </a:rPr>
              <a:t>Non-</a:t>
            </a:r>
            <a:r>
              <a:rPr sz="2600" dirty="0">
                <a:solidFill>
                  <a:srgbClr val="3366FF"/>
                </a:solidFill>
                <a:latin typeface="Calibri"/>
                <a:cs typeface="Calibri"/>
              </a:rPr>
              <a:t>precise</a:t>
            </a:r>
            <a:r>
              <a:rPr sz="2600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366FF"/>
                </a:solidFill>
                <a:latin typeface="Calibri"/>
                <a:cs typeface="Calibri"/>
              </a:rPr>
              <a:t>exception</a:t>
            </a:r>
            <a:r>
              <a:rPr sz="2600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3366FF"/>
                </a:solidFill>
                <a:latin typeface="Calibri"/>
                <a:cs typeface="Calibri"/>
              </a:rPr>
              <a:t>handling!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30" dirty="0"/>
              <a:t> </a:t>
            </a:r>
            <a:r>
              <a:rPr dirty="0"/>
              <a:t>Can</a:t>
            </a:r>
            <a:r>
              <a:rPr spc="-125" dirty="0"/>
              <a:t> </a:t>
            </a:r>
            <a:r>
              <a:rPr spc="-25" dirty="0"/>
              <a:t>Tomasulo</a:t>
            </a:r>
            <a:r>
              <a:rPr spc="-125" dirty="0"/>
              <a:t> </a:t>
            </a:r>
            <a:r>
              <a:rPr spc="-25" dirty="0"/>
              <a:t>Overlap</a:t>
            </a:r>
            <a:r>
              <a:rPr spc="-125" dirty="0"/>
              <a:t> </a:t>
            </a:r>
            <a:r>
              <a:rPr spc="-35" dirty="0"/>
              <a:t>Iterations</a:t>
            </a:r>
            <a:r>
              <a:rPr spc="-130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lang="en-US" spc="-10" dirty="0"/>
              <a:t>L</a:t>
            </a:r>
            <a:r>
              <a:rPr spc="-10" dirty="0"/>
              <a:t>oops?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40964" y="1347002"/>
            <a:ext cx="8530227" cy="504625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20040" indent="-307340">
              <a:spcBef>
                <a:spcPts val="890"/>
              </a:spcBef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Register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renaming</a:t>
            </a:r>
            <a:endParaRPr sz="2600" dirty="0">
              <a:latin typeface="Calibri"/>
              <a:cs typeface="Calibri"/>
            </a:endParaRPr>
          </a:p>
          <a:p>
            <a:pPr marL="749935" marR="577850" lvl="1" indent="-244475">
              <a:spcBef>
                <a:spcPts val="795"/>
              </a:spcBef>
              <a:buChar char="–"/>
              <a:tabLst>
                <a:tab pos="751840" algn="l"/>
              </a:tabLst>
            </a:pPr>
            <a:r>
              <a:rPr sz="2200" dirty="0">
                <a:latin typeface="Calibri"/>
                <a:cs typeface="Calibri"/>
              </a:rPr>
              <a:t>Multiple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iterations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different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physical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destinations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registers 	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dynamic</a:t>
            </a:r>
            <a:r>
              <a:rPr sz="2200" b="1" u="sng" spc="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loop</a:t>
            </a:r>
            <a:r>
              <a:rPr sz="2200" b="1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unrolling</a:t>
            </a:r>
            <a:r>
              <a:rPr sz="2200" spc="-10" dirty="0">
                <a:latin typeface="Calibri"/>
                <a:cs typeface="Calibri"/>
              </a:rPr>
              <a:t>).</a:t>
            </a:r>
            <a:endParaRPr sz="2200" dirty="0">
              <a:latin typeface="Calibri"/>
              <a:cs typeface="Calibri"/>
            </a:endParaRPr>
          </a:p>
          <a:p>
            <a:pPr lvl="1">
              <a:spcBef>
                <a:spcPts val="1200"/>
              </a:spcBef>
              <a:buFont typeface="Calibri"/>
              <a:buChar char="–"/>
            </a:pPr>
            <a:endParaRPr sz="1900" dirty="0">
              <a:latin typeface="Calibri"/>
              <a:cs typeface="Calibri"/>
            </a:endParaRPr>
          </a:p>
          <a:p>
            <a:pPr marL="320040" indent="-307340">
              <a:buChar char="•"/>
              <a:tabLst>
                <a:tab pos="320040" algn="l"/>
              </a:tabLst>
            </a:pPr>
            <a:r>
              <a:rPr sz="2600" spc="-10" dirty="0">
                <a:latin typeface="Calibri"/>
                <a:cs typeface="Calibri"/>
              </a:rPr>
              <a:t>Reservation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stations</a:t>
            </a:r>
            <a:endParaRPr sz="2600" dirty="0">
              <a:latin typeface="Calibri"/>
              <a:cs typeface="Calibri"/>
            </a:endParaRPr>
          </a:p>
          <a:p>
            <a:pPr marL="749935" lvl="1" indent="-244475">
              <a:spcBef>
                <a:spcPts val="580"/>
              </a:spcBef>
              <a:buChar char="–"/>
              <a:tabLst>
                <a:tab pos="749935" algn="l"/>
              </a:tabLst>
            </a:pPr>
            <a:r>
              <a:rPr sz="2200" dirty="0">
                <a:latin typeface="Calibri"/>
                <a:cs typeface="Calibri"/>
              </a:rPr>
              <a:t>Permit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issue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advance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past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integer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control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flow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operations</a:t>
            </a:r>
            <a:endParaRPr sz="2200" dirty="0">
              <a:latin typeface="Calibri"/>
              <a:cs typeface="Calibri"/>
            </a:endParaRPr>
          </a:p>
          <a:p>
            <a:pPr marL="749935" lvl="1" indent="-244475">
              <a:spcBef>
                <a:spcPts val="530"/>
              </a:spcBef>
              <a:buChar char="–"/>
              <a:tabLst>
                <a:tab pos="749935" algn="l"/>
              </a:tabLst>
            </a:pPr>
            <a:r>
              <a:rPr sz="2200" dirty="0">
                <a:latin typeface="Calibri"/>
                <a:cs typeface="Calibri"/>
              </a:rPr>
              <a:t>Also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buffer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old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values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registers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totally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avoiding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WAR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stall</a:t>
            </a:r>
            <a:endParaRPr sz="1900" dirty="0">
              <a:latin typeface="Calibri"/>
              <a:cs typeface="Calibri"/>
            </a:endParaRPr>
          </a:p>
          <a:p>
            <a:pPr lvl="1">
              <a:spcBef>
                <a:spcPts val="25"/>
              </a:spcBef>
              <a:buFont typeface="Calibri"/>
              <a:buChar char="–"/>
            </a:pPr>
            <a:endParaRPr sz="1900" dirty="0">
              <a:latin typeface="Calibri"/>
              <a:cs typeface="Calibri"/>
            </a:endParaRPr>
          </a:p>
          <a:p>
            <a:pPr marL="320040" marR="62230" indent="-307975" algn="l">
              <a:spcBef>
                <a:spcPts val="5"/>
              </a:spcBef>
              <a:spcAft>
                <a:spcPts val="1200"/>
              </a:spcAft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perspective:</a:t>
            </a:r>
            <a:endParaRPr lang="en-US" sz="2600" spc="-90" dirty="0">
              <a:latin typeface="Calibri"/>
              <a:cs typeface="Calibri"/>
            </a:endParaRPr>
          </a:p>
          <a:p>
            <a:pPr marL="12065" marR="62230" algn="ctr">
              <a:spcBef>
                <a:spcPts val="5"/>
              </a:spcBef>
              <a:tabLst>
                <a:tab pos="320040" algn="l"/>
              </a:tabLst>
            </a:pPr>
            <a:r>
              <a:rPr sz="2600" b="1" i="1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Tomasulo</a:t>
            </a:r>
            <a:r>
              <a:rPr sz="2600" b="1" i="1" spc="-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hardware</a:t>
            </a:r>
            <a:r>
              <a:rPr sz="2600" b="1" i="1" spc="-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builds</a:t>
            </a:r>
            <a:r>
              <a:rPr sz="2600" b="1" i="1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data</a:t>
            </a:r>
            <a:r>
              <a:rPr sz="2600" b="1" i="1" spc="-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600" b="1" i="1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flow</a:t>
            </a:r>
            <a:r>
              <a:rPr lang="en-US" sz="2600" b="1" i="1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br>
              <a:rPr lang="en-US" sz="2600" b="1" i="1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</a:br>
            <a:r>
              <a:rPr sz="2600" b="1" i="1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dependency</a:t>
            </a:r>
            <a:r>
              <a:rPr sz="2600" b="1" i="1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graphs</a:t>
            </a:r>
            <a:r>
              <a:rPr sz="2600" b="1" i="1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on</a:t>
            </a:r>
            <a:r>
              <a:rPr sz="2600" b="1" i="1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the</a:t>
            </a:r>
            <a:r>
              <a:rPr sz="2600" b="1" i="1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600" b="1" i="1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fly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Tomasulo</a:t>
            </a:r>
            <a:r>
              <a:rPr spc="150" dirty="0"/>
              <a:t> </a:t>
            </a:r>
            <a:r>
              <a:rPr dirty="0"/>
              <a:t>Loop</a:t>
            </a:r>
            <a:r>
              <a:rPr spc="15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65924"/>
              </p:ext>
            </p:extLst>
          </p:nvPr>
        </p:nvGraphicFramePr>
        <p:xfrm>
          <a:off x="920202" y="1830070"/>
          <a:ext cx="5154930" cy="1903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 marL="31750">
                        <a:lnSpc>
                          <a:spcPts val="2270"/>
                        </a:lnSpc>
                      </a:pPr>
                      <a:r>
                        <a:rPr sz="2200" b="1" spc="-10" dirty="0">
                          <a:latin typeface="Courier New"/>
                          <a:cs typeface="Courier New"/>
                        </a:rPr>
                        <a:t>Loop: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27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LD</a:t>
                      </a:r>
                      <a:endParaRPr sz="2200" b="1" dirty="0">
                        <a:latin typeface="Courier New"/>
                        <a:cs typeface="Courier New"/>
                      </a:endParaRPr>
                    </a:p>
                    <a:p>
                      <a:pPr marL="8191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200" b="1" spc="-10" dirty="0">
                          <a:latin typeface="Courier New"/>
                          <a:cs typeface="Courier New"/>
                        </a:rPr>
                        <a:t>MULTD</a:t>
                      </a:r>
                      <a:endParaRPr sz="22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4675">
                        <a:lnSpc>
                          <a:spcPts val="227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F0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  <a:p>
                      <a:pPr marL="57467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F4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ts val="2270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0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  <a:p>
                      <a:pPr marL="32829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F0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270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R1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  <a:p>
                      <a:pPr marL="8191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F2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b="1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635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SD</a:t>
                      </a:r>
                      <a:endParaRPr sz="22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0675" algn="r">
                        <a:lnSpc>
                          <a:spcPts val="2635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F4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ts val="2635"/>
                        </a:lnSpc>
                      </a:pPr>
                      <a:r>
                        <a:rPr sz="2200" b="1" spc="-50" dirty="0">
                          <a:latin typeface="Courier New"/>
                          <a:cs typeface="Courier New"/>
                        </a:rPr>
                        <a:t>0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ts val="2635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R1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b="1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575"/>
                        </a:lnSpc>
                      </a:pPr>
                      <a:r>
                        <a:rPr sz="2200" b="1" spc="-20" dirty="0">
                          <a:latin typeface="Courier New"/>
                          <a:cs typeface="Courier New"/>
                        </a:rPr>
                        <a:t>SUBI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0675" algn="r">
                        <a:lnSpc>
                          <a:spcPts val="2575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R1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ts val="2575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R1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ts val="2575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#8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b="1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575"/>
                        </a:lnSpc>
                      </a:pPr>
                      <a:r>
                        <a:rPr sz="2200" b="1" spc="-20" dirty="0">
                          <a:latin typeface="Courier New"/>
                          <a:cs typeface="Courier New"/>
                        </a:rPr>
                        <a:t>BNEZ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0675" algn="r">
                        <a:lnSpc>
                          <a:spcPts val="2575"/>
                        </a:lnSpc>
                      </a:pPr>
                      <a:r>
                        <a:rPr sz="2200" b="1" spc="-25" dirty="0">
                          <a:latin typeface="Courier New"/>
                          <a:cs typeface="Courier New"/>
                        </a:rPr>
                        <a:t>R1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ts val="2575"/>
                        </a:lnSpc>
                      </a:pPr>
                      <a:r>
                        <a:rPr sz="2200" b="1" spc="-20" dirty="0">
                          <a:latin typeface="Courier New"/>
                          <a:cs typeface="Courier New"/>
                        </a:rPr>
                        <a:t>Loop</a:t>
                      </a:r>
                      <a:endParaRPr sz="22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20202" y="4160317"/>
            <a:ext cx="7749540" cy="22288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20040" indent="-307340">
              <a:spcBef>
                <a:spcPts val="580"/>
              </a:spcBef>
              <a:spcAft>
                <a:spcPts val="600"/>
              </a:spcAft>
              <a:buChar char="•"/>
              <a:tabLst>
                <a:tab pos="320040" algn="l"/>
              </a:tabLst>
            </a:pPr>
            <a:r>
              <a:rPr sz="2400" spc="-20" dirty="0">
                <a:latin typeface="Calibri"/>
                <a:cs typeface="Calibri"/>
              </a:rPr>
              <a:t>Assume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multiply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clock</a:t>
            </a:r>
            <a:r>
              <a:rPr lang="en-US" sz="2400" spc="-10" dirty="0">
                <a:latin typeface="Calibri"/>
                <a:cs typeface="Calibri"/>
              </a:rPr>
              <a:t> cycle</a:t>
            </a:r>
            <a:r>
              <a:rPr sz="2400" spc="-10" dirty="0">
                <a:latin typeface="Calibri"/>
                <a:cs typeface="Calibri"/>
              </a:rPr>
              <a:t>s</a:t>
            </a:r>
            <a:endParaRPr sz="2400" dirty="0">
              <a:latin typeface="Calibri"/>
              <a:cs typeface="Calibri"/>
            </a:endParaRPr>
          </a:p>
          <a:p>
            <a:pPr marL="320675" marR="5080" indent="-307975">
              <a:spcBef>
                <a:spcPts val="840"/>
              </a:spcBef>
              <a:spcAft>
                <a:spcPts val="600"/>
              </a:spcAft>
              <a:buChar char="•"/>
              <a:tabLst>
                <a:tab pos="320675" algn="l"/>
              </a:tabLst>
            </a:pPr>
            <a:r>
              <a:rPr sz="2400" spc="-20" dirty="0">
                <a:latin typeface="Calibri"/>
                <a:cs typeface="Calibri"/>
              </a:rPr>
              <a:t>Assume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clock</a:t>
            </a:r>
            <a:r>
              <a:rPr lang="en-US" sz="2400" spc="-10" dirty="0">
                <a:latin typeface="Calibri"/>
                <a:cs typeface="Calibri"/>
              </a:rPr>
              <a:t> cycle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(cache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miss?),</a:t>
            </a:r>
            <a:r>
              <a:rPr sz="2400" spc="-80" dirty="0">
                <a:latin typeface="Calibri"/>
                <a:cs typeface="Calibri"/>
              </a:rPr>
              <a:t> </a:t>
            </a:r>
            <a:br>
              <a:rPr lang="en-US" sz="2400" spc="-80" dirty="0">
                <a:latin typeface="Calibri"/>
                <a:cs typeface="Calibri"/>
              </a:rPr>
            </a:br>
            <a:r>
              <a:rPr sz="2400" spc="-20" dirty="0">
                <a:latin typeface="Calibri"/>
                <a:cs typeface="Calibri"/>
              </a:rPr>
              <a:t>second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4 </a:t>
            </a:r>
            <a:r>
              <a:rPr sz="2400" spc="-10" dirty="0">
                <a:latin typeface="Calibri"/>
                <a:cs typeface="Calibri"/>
              </a:rPr>
              <a:t>clock</a:t>
            </a:r>
            <a:r>
              <a:rPr lang="en-US" sz="2400" spc="-10" dirty="0">
                <a:latin typeface="Calibri"/>
                <a:cs typeface="Calibri"/>
              </a:rPr>
              <a:t> cycle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(hit)</a:t>
            </a:r>
            <a:endParaRPr sz="2400" dirty="0">
              <a:latin typeface="Calibri"/>
              <a:cs typeface="Calibri"/>
            </a:endParaRPr>
          </a:p>
          <a:p>
            <a:pPr marL="320040" indent="-307340">
              <a:spcBef>
                <a:spcPts val="439"/>
              </a:spcBef>
              <a:buChar char="•"/>
              <a:tabLst>
                <a:tab pos="320040" algn="l"/>
              </a:tabLst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clear,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SUBI</a:t>
            </a:r>
            <a:r>
              <a:rPr sz="2400" b="1" spc="-25" dirty="0">
                <a:latin typeface="Calibri"/>
                <a:cs typeface="Calibri"/>
              </a:rPr>
              <a:t>,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lang="en-US"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BNEZ</a:t>
            </a:r>
            <a:r>
              <a:rPr lang="en-US" sz="2400" dirty="0">
                <a:latin typeface="Calibri"/>
                <a:cs typeface="Calibri"/>
              </a:rPr>
              <a:t> will not be explicitly shown </a:t>
            </a:r>
            <a:br>
              <a:rPr lang="en-US" sz="2400" dirty="0">
                <a:latin typeface="Calibri"/>
                <a:cs typeface="Calibri"/>
              </a:rPr>
            </a:br>
            <a:r>
              <a:rPr lang="en-US" sz="2400" dirty="0">
                <a:latin typeface="Calibri"/>
                <a:cs typeface="Calibri"/>
              </a:rPr>
              <a:t>but still need to</a:t>
            </a:r>
            <a:r>
              <a:rPr lang="en-US" sz="2400" spc="-8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account for</a:t>
            </a:r>
            <a:r>
              <a:rPr lang="en-US" sz="2400" spc="-1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their clock cycles</a:t>
            </a:r>
            <a:endParaRPr sz="2400" b="1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50" dirty="0"/>
              <a:t>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406168"/>
              </p:ext>
            </p:extLst>
          </p:nvPr>
        </p:nvGraphicFramePr>
        <p:xfrm>
          <a:off x="640556" y="1822767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25" dirty="0">
                          <a:latin typeface="Tahoma"/>
                          <a:cs typeface="Tahoma"/>
                        </a:rPr>
                        <a:t>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80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50" dirty="0"/>
              <a:t>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949857"/>
              </p:ext>
            </p:extLst>
          </p:nvPr>
        </p:nvGraphicFramePr>
        <p:xfrm>
          <a:off x="640556" y="1822767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25" dirty="0">
                          <a:latin typeface="Tahoma"/>
                          <a:cs typeface="Tahoma"/>
                        </a:rPr>
                        <a:t>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80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50" dirty="0"/>
              <a:t>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794535"/>
              </p:ext>
            </p:extLst>
          </p:nvPr>
        </p:nvGraphicFramePr>
        <p:xfrm>
          <a:off x="640556" y="1822767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25" dirty="0">
                          <a:latin typeface="Tahoma"/>
                          <a:cs typeface="Tahoma"/>
                        </a:rPr>
                        <a:t>2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80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50" dirty="0"/>
              <a:t>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848750"/>
              </p:ext>
            </p:extLst>
          </p:nvPr>
        </p:nvGraphicFramePr>
        <p:xfrm>
          <a:off x="640556" y="1822767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25" dirty="0">
                          <a:latin typeface="Tahoma"/>
                          <a:cs typeface="Tahoma"/>
                        </a:rPr>
                        <a:t>3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80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92689" y="6920483"/>
            <a:ext cx="4628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51130" algn="l"/>
              </a:tabLst>
            </a:pP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Note:</a:t>
            </a:r>
            <a:r>
              <a:rPr sz="1700" b="1" spc="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MULT1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has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no</a:t>
            </a:r>
            <a:r>
              <a:rPr sz="1700" b="1" spc="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register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names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in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800000"/>
                </a:solidFill>
                <a:latin typeface="Arial"/>
                <a:cs typeface="Arial"/>
              </a:rPr>
              <a:t>RS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7564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50" dirty="0"/>
              <a:t>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730666"/>
              </p:ext>
            </p:extLst>
          </p:nvPr>
        </p:nvGraphicFramePr>
        <p:xfrm>
          <a:off x="640556" y="1828800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25" dirty="0">
                          <a:latin typeface="Tahoma"/>
                          <a:cs typeface="Tahoma"/>
                        </a:rPr>
                        <a:t>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72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50" dirty="0"/>
              <a:t>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528724"/>
              </p:ext>
            </p:extLst>
          </p:nvPr>
        </p:nvGraphicFramePr>
        <p:xfrm>
          <a:off x="640556" y="1822767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 dirty="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25" dirty="0">
                          <a:latin typeface="Tahoma"/>
                          <a:cs typeface="Tahoma"/>
                        </a:rPr>
                        <a:t>5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72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50" dirty="0"/>
              <a:t>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394098"/>
              </p:ext>
            </p:extLst>
          </p:nvPr>
        </p:nvGraphicFramePr>
        <p:xfrm>
          <a:off x="640556" y="1822767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25" dirty="0">
                          <a:latin typeface="Tahoma"/>
                          <a:cs typeface="Tahoma"/>
                        </a:rPr>
                        <a:t>6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72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Load2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28751" y="6877710"/>
            <a:ext cx="3511550" cy="241300"/>
          </a:xfrm>
          <a:custGeom>
            <a:avLst/>
            <a:gdLst/>
            <a:ahLst/>
            <a:cxnLst/>
            <a:rect l="l" t="t" r="r" b="b"/>
            <a:pathLst>
              <a:path w="3511550" h="241300">
                <a:moveTo>
                  <a:pt x="3511499" y="0"/>
                </a:moveTo>
                <a:lnTo>
                  <a:pt x="61912" y="0"/>
                </a:lnTo>
                <a:lnTo>
                  <a:pt x="61595" y="0"/>
                </a:lnTo>
                <a:lnTo>
                  <a:pt x="0" y="0"/>
                </a:lnTo>
                <a:lnTo>
                  <a:pt x="0" y="241300"/>
                </a:lnTo>
                <a:lnTo>
                  <a:pt x="61595" y="241300"/>
                </a:lnTo>
                <a:lnTo>
                  <a:pt x="61912" y="241300"/>
                </a:lnTo>
                <a:lnTo>
                  <a:pt x="3511499" y="241300"/>
                </a:lnTo>
                <a:lnTo>
                  <a:pt x="351149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9069" y="6838188"/>
            <a:ext cx="35972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 indent="-84455">
              <a:lnSpc>
                <a:spcPct val="100000"/>
              </a:lnSpc>
              <a:spcBef>
                <a:spcPts val="100"/>
              </a:spcBef>
              <a:buSzPct val="94117"/>
              <a:buFont typeface="Arial MT"/>
              <a:buChar char="•"/>
              <a:tabLst>
                <a:tab pos="88265" algn="l"/>
              </a:tabLst>
            </a:pPr>
            <a:r>
              <a:rPr sz="1700" b="1" u="sng" spc="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Note:</a:t>
            </a:r>
            <a:r>
              <a:rPr sz="1700" b="1" u="sng" spc="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F0</a:t>
            </a:r>
            <a:r>
              <a:rPr sz="1700" b="1" u="sng" spc="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never</a:t>
            </a:r>
            <a:r>
              <a:rPr sz="1700" b="1" u="sng" spc="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sees</a:t>
            </a:r>
            <a:r>
              <a:rPr sz="1700" b="1" u="sng" spc="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Load1</a:t>
            </a:r>
            <a:r>
              <a:rPr sz="1700" b="1" u="sng" spc="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result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50" dirty="0"/>
              <a:t>7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63233"/>
              </p:ext>
            </p:extLst>
          </p:nvPr>
        </p:nvGraphicFramePr>
        <p:xfrm>
          <a:off x="640556" y="1822767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25" dirty="0">
                          <a:latin typeface="Tahoma"/>
                          <a:cs typeface="Tahoma"/>
                        </a:rPr>
                        <a:t>7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72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Load2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92689" y="6920483"/>
            <a:ext cx="4628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51130" algn="l"/>
              </a:tabLst>
            </a:pP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Note:</a:t>
            </a:r>
            <a:r>
              <a:rPr sz="1700" b="1" spc="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MULT2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has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no</a:t>
            </a:r>
            <a:r>
              <a:rPr sz="1700" b="1" spc="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registers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names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in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800000"/>
                </a:solidFill>
                <a:latin typeface="Arial"/>
                <a:cs typeface="Arial"/>
              </a:rPr>
              <a:t>RS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50" dirty="0"/>
              <a:t>8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74653"/>
              </p:ext>
            </p:extLst>
          </p:nvPr>
        </p:nvGraphicFramePr>
        <p:xfrm>
          <a:off x="640556" y="1822767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25" dirty="0">
                          <a:latin typeface="Tahoma"/>
                          <a:cs typeface="Tahoma"/>
                        </a:rPr>
                        <a:t>8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72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Load2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50" dirty="0"/>
              <a:t>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218551"/>
              </p:ext>
            </p:extLst>
          </p:nvPr>
        </p:nvGraphicFramePr>
        <p:xfrm>
          <a:off x="640556" y="1822767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9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25" dirty="0">
                          <a:latin typeface="Tahoma"/>
                          <a:cs typeface="Tahoma"/>
                        </a:rPr>
                        <a:t>9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64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 dirty="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Load2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92689" y="6920483"/>
            <a:ext cx="44176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51130" algn="l"/>
              </a:tabLst>
            </a:pP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Load1</a:t>
            </a:r>
            <a:r>
              <a:rPr sz="1700" b="1" spc="3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completing;</a:t>
            </a:r>
            <a:r>
              <a:rPr sz="1700" b="1" spc="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what</a:t>
            </a:r>
            <a:r>
              <a:rPr sz="1700" b="1" spc="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is</a:t>
            </a:r>
            <a:r>
              <a:rPr sz="1700" b="1" spc="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waiting</a:t>
            </a:r>
            <a:r>
              <a:rPr sz="1700" b="1" spc="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for</a:t>
            </a:r>
            <a:r>
              <a:rPr sz="1700" b="1" spc="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800000"/>
                </a:solidFill>
                <a:latin typeface="Arial"/>
                <a:cs typeface="Arial"/>
              </a:rPr>
              <a:t>it?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25" dirty="0"/>
              <a:t>10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643109"/>
              </p:ext>
            </p:extLst>
          </p:nvPr>
        </p:nvGraphicFramePr>
        <p:xfrm>
          <a:off x="640556" y="1822767"/>
          <a:ext cx="8749656" cy="475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9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M(80)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10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64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Load2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92689" y="6920483"/>
            <a:ext cx="44176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51130" algn="l"/>
              </a:tabLst>
            </a:pP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Load2</a:t>
            </a:r>
            <a:r>
              <a:rPr sz="1700" b="1" spc="3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completing;</a:t>
            </a:r>
            <a:r>
              <a:rPr sz="1700" b="1" spc="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what</a:t>
            </a:r>
            <a:r>
              <a:rPr sz="1700" b="1" spc="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is</a:t>
            </a:r>
            <a:r>
              <a:rPr sz="1700" b="1" spc="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waiting</a:t>
            </a:r>
            <a:r>
              <a:rPr sz="1700" b="1" spc="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for</a:t>
            </a:r>
            <a:r>
              <a:rPr sz="1700" b="1" spc="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800000"/>
                </a:solidFill>
                <a:latin typeface="Arial"/>
                <a:cs typeface="Arial"/>
              </a:rPr>
              <a:t>it?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25" dirty="0"/>
              <a:t>11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579100"/>
              </p:ext>
            </p:extLst>
          </p:nvPr>
        </p:nvGraphicFramePr>
        <p:xfrm>
          <a:off x="640556" y="1877518"/>
          <a:ext cx="8749656" cy="464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9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M(80)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M(72)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11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64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Load3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25" dirty="0"/>
              <a:t>12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834069"/>
              </p:ext>
            </p:extLst>
          </p:nvPr>
        </p:nvGraphicFramePr>
        <p:xfrm>
          <a:off x="640556" y="1877518"/>
          <a:ext cx="8749656" cy="464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9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1FB71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M(80)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M(72)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12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64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Load3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67289" y="6920483"/>
            <a:ext cx="41662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30" indent="-1384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76530" algn="l"/>
              </a:tabLst>
            </a:pP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MULT</a:t>
            </a:r>
            <a:r>
              <a:rPr sz="1700" b="1" spc="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in</a:t>
            </a:r>
            <a:r>
              <a:rPr sz="1700" b="1" spc="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3</a:t>
            </a:r>
            <a:r>
              <a:rPr sz="1650" b="1" baseline="25252" dirty="0">
                <a:solidFill>
                  <a:srgbClr val="800000"/>
                </a:solidFill>
                <a:latin typeface="Arial"/>
                <a:cs typeface="Arial"/>
              </a:rPr>
              <a:t>rd</a:t>
            </a:r>
            <a:r>
              <a:rPr sz="1650" b="1" spc="292" baseline="25252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iteration</a:t>
            </a:r>
            <a:r>
              <a:rPr sz="1700" b="1" spc="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cannot</a:t>
            </a:r>
            <a:r>
              <a:rPr sz="1700" b="1" spc="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be</a:t>
            </a:r>
            <a:r>
              <a:rPr sz="1700" b="1" spc="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800000"/>
                </a:solidFill>
                <a:latin typeface="Arial"/>
                <a:cs typeface="Arial"/>
              </a:rPr>
              <a:t>issued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25" dirty="0"/>
              <a:t>13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726105"/>
              </p:ext>
            </p:extLst>
          </p:nvPr>
        </p:nvGraphicFramePr>
        <p:xfrm>
          <a:off x="640556" y="1887855"/>
          <a:ext cx="8749656" cy="464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9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M(80)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M(72)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13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64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Load3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25" dirty="0"/>
              <a:t>14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2689" y="6940935"/>
            <a:ext cx="434721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z="1700" dirty="0">
                <a:solidFill>
                  <a:srgbClr val="800000"/>
                </a:solidFill>
                <a:latin typeface="Arial MT"/>
                <a:cs typeface="Arial MT"/>
              </a:rPr>
              <a:t>•</a:t>
            </a:r>
            <a:r>
              <a:rPr sz="1700" spc="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Mult1</a:t>
            </a:r>
            <a:r>
              <a:rPr sz="1700" b="1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completing;</a:t>
            </a:r>
            <a:r>
              <a:rPr sz="1700" b="1" spc="5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what</a:t>
            </a:r>
            <a:r>
              <a:rPr sz="1700" b="1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is</a:t>
            </a:r>
            <a:r>
              <a:rPr sz="1700" b="1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waiting</a:t>
            </a:r>
            <a:r>
              <a:rPr sz="1700" b="1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for</a:t>
            </a:r>
            <a:r>
              <a:rPr sz="1700" b="1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800000"/>
                </a:solidFill>
                <a:latin typeface="Arial"/>
                <a:cs typeface="Arial"/>
              </a:rPr>
              <a:t>it?</a:t>
            </a:r>
            <a:endParaRPr sz="1700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980831"/>
              </p:ext>
            </p:extLst>
          </p:nvPr>
        </p:nvGraphicFramePr>
        <p:xfrm>
          <a:off x="640556" y="1877518"/>
          <a:ext cx="8749656" cy="464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9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M(80)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M(72)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14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64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Load3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object 41">
            <a:extLst>
              <a:ext uri="{FF2B5EF4-FFF2-40B4-BE49-F238E27FC236}">
                <a16:creationId xmlns:a16="http://schemas.microsoft.com/office/drawing/2014/main" id="{B996BB21-BBD2-026B-2364-CFDDF5F022D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25" dirty="0"/>
              <a:t>15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2689" y="6940935"/>
            <a:ext cx="434721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z="1700" dirty="0">
                <a:solidFill>
                  <a:srgbClr val="800000"/>
                </a:solidFill>
                <a:latin typeface="Arial MT"/>
                <a:cs typeface="Arial MT"/>
              </a:rPr>
              <a:t>•</a:t>
            </a:r>
            <a:r>
              <a:rPr sz="1700" spc="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Mult2</a:t>
            </a:r>
            <a:r>
              <a:rPr sz="1700" b="1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completing;</a:t>
            </a:r>
            <a:r>
              <a:rPr sz="1700" b="1" spc="5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what</a:t>
            </a:r>
            <a:r>
              <a:rPr sz="1700" b="1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is</a:t>
            </a:r>
            <a:r>
              <a:rPr sz="1700" b="1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waiting</a:t>
            </a:r>
            <a:r>
              <a:rPr sz="1700" b="1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for</a:t>
            </a:r>
            <a:r>
              <a:rPr sz="1700" b="1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800000"/>
                </a:solidFill>
                <a:latin typeface="Arial"/>
                <a:cs typeface="Arial"/>
              </a:rPr>
              <a:t>it?</a:t>
            </a:r>
            <a:endParaRPr sz="1700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651700"/>
              </p:ext>
            </p:extLst>
          </p:nvPr>
        </p:nvGraphicFramePr>
        <p:xfrm>
          <a:off x="640556" y="1877518"/>
          <a:ext cx="8749656" cy="464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9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M(80)*R(F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M(72)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15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64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Load3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object 41">
            <a:extLst>
              <a:ext uri="{FF2B5EF4-FFF2-40B4-BE49-F238E27FC236}">
                <a16:creationId xmlns:a16="http://schemas.microsoft.com/office/drawing/2014/main" id="{AA695165-9D22-0CF1-F1BC-087E933D9FB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25" dirty="0"/>
              <a:t>16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2689" y="6940935"/>
            <a:ext cx="376491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z="1700" dirty="0">
                <a:solidFill>
                  <a:srgbClr val="800000"/>
                </a:solidFill>
                <a:latin typeface="Arial MT"/>
                <a:cs typeface="Arial MT"/>
              </a:rPr>
              <a:t>•</a:t>
            </a:r>
            <a:r>
              <a:rPr sz="1700" spc="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MULT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in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3</a:t>
            </a:r>
            <a:r>
              <a:rPr sz="1650" b="1" baseline="25252" dirty="0">
                <a:solidFill>
                  <a:srgbClr val="800000"/>
                </a:solidFill>
                <a:latin typeface="Arial"/>
                <a:cs typeface="Arial"/>
              </a:rPr>
              <a:t>rd</a:t>
            </a:r>
            <a:r>
              <a:rPr sz="1650" b="1" spc="292" baseline="25252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iteration</a:t>
            </a:r>
            <a:r>
              <a:rPr sz="1700" b="1" spc="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is</a:t>
            </a:r>
            <a:r>
              <a:rPr sz="1700" b="1" spc="1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now</a:t>
            </a:r>
            <a:r>
              <a:rPr sz="1700" b="1" spc="3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800000"/>
                </a:solidFill>
                <a:latin typeface="Arial"/>
                <a:cs typeface="Arial"/>
              </a:rPr>
              <a:t>issued</a:t>
            </a:r>
            <a:endParaRPr sz="1700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27989"/>
              </p:ext>
            </p:extLst>
          </p:nvPr>
        </p:nvGraphicFramePr>
        <p:xfrm>
          <a:off x="640556" y="1877518"/>
          <a:ext cx="8749656" cy="464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9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M(72)*R(F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 dirty="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 dirty="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 dirty="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M(72)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16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64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object 41">
            <a:extLst>
              <a:ext uri="{FF2B5EF4-FFF2-40B4-BE49-F238E27FC236}">
                <a16:creationId xmlns:a16="http://schemas.microsoft.com/office/drawing/2014/main" id="{5C419B68-93DD-51DB-49B8-8D340299801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25" dirty="0"/>
              <a:t>17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2689" y="6940935"/>
            <a:ext cx="347662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z="1700" dirty="0">
                <a:solidFill>
                  <a:srgbClr val="800000"/>
                </a:solidFill>
                <a:latin typeface="Arial MT"/>
                <a:cs typeface="Arial MT"/>
              </a:rPr>
              <a:t>•</a:t>
            </a:r>
            <a:r>
              <a:rPr sz="1700" spc="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SD</a:t>
            </a:r>
            <a:r>
              <a:rPr sz="1700" b="1" spc="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in</a:t>
            </a:r>
            <a:r>
              <a:rPr sz="1700" b="1" spc="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3</a:t>
            </a:r>
            <a:r>
              <a:rPr sz="1650" b="1" baseline="25252" dirty="0">
                <a:solidFill>
                  <a:srgbClr val="800000"/>
                </a:solidFill>
                <a:latin typeface="Arial"/>
                <a:cs typeface="Arial"/>
              </a:rPr>
              <a:t>rd</a:t>
            </a:r>
            <a:r>
              <a:rPr sz="1650" b="1" spc="300" baseline="25252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iteration</a:t>
            </a:r>
            <a:r>
              <a:rPr sz="1700" b="1" spc="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is</a:t>
            </a:r>
            <a:r>
              <a:rPr sz="1700" b="1" spc="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800000"/>
                </a:solidFill>
                <a:latin typeface="Arial"/>
                <a:cs typeface="Arial"/>
              </a:rPr>
              <a:t>now</a:t>
            </a:r>
            <a:r>
              <a:rPr sz="1700" b="1" spc="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800000"/>
                </a:solidFill>
                <a:latin typeface="Arial"/>
                <a:cs typeface="Arial"/>
              </a:rPr>
              <a:t>issued</a:t>
            </a:r>
            <a:endParaRPr sz="1700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718186"/>
              </p:ext>
            </p:extLst>
          </p:nvPr>
        </p:nvGraphicFramePr>
        <p:xfrm>
          <a:off x="640556" y="1877518"/>
          <a:ext cx="8749656" cy="464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9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72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M(72)*R(F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17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64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Load3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object 41">
            <a:extLst>
              <a:ext uri="{FF2B5EF4-FFF2-40B4-BE49-F238E27FC236}">
                <a16:creationId xmlns:a16="http://schemas.microsoft.com/office/drawing/2014/main" id="{C9965C4E-DCBF-4B6A-445B-25AD329E039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Loop</a:t>
            </a:r>
            <a:r>
              <a:rPr spc="130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dirty="0"/>
              <a:t>Cycle</a:t>
            </a:r>
            <a:r>
              <a:rPr spc="120" dirty="0"/>
              <a:t> </a:t>
            </a:r>
            <a:r>
              <a:rPr spc="-25" dirty="0"/>
              <a:t>18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168149"/>
              </p:ext>
            </p:extLst>
          </p:nvPr>
        </p:nvGraphicFramePr>
        <p:xfrm>
          <a:off x="640556" y="1877518"/>
          <a:ext cx="8749656" cy="464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1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0825">
                <a:tc gridSpan="3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Instruction</a:t>
                      </a:r>
                      <a:r>
                        <a:rPr sz="155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55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Execution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Write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iteration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Issue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complete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Result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Busy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9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50" dirty="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Qi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6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solidFill>
                          <a:srgbClr val="F2088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rgbClr val="F2088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17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18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Store3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64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Reservation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Stations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S1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S2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i="1" dirty="0">
                          <a:latin typeface="Arial"/>
                          <a:cs typeface="Arial"/>
                        </a:rPr>
                        <a:t>RS</a:t>
                      </a:r>
                      <a:r>
                        <a:rPr sz="15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5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50" i="1" spc="-50" dirty="0">
                          <a:latin typeface="Arial"/>
                          <a:cs typeface="Arial"/>
                        </a:rPr>
                        <a:t>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Time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Name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0" dirty="0">
                          <a:latin typeface="Arial"/>
                          <a:cs typeface="Arial"/>
                        </a:rPr>
                        <a:t>Busy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Op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Vk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Qj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Qk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10" dirty="0">
                          <a:latin typeface="Arial"/>
                          <a:cs typeface="Arial"/>
                        </a:rPr>
                        <a:t>Code: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MULT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F2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latin typeface="Arial MT"/>
                          <a:cs typeface="Arial MT"/>
                        </a:rPr>
                        <a:t>Add3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No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SD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F4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Yes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MULTD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R(F2)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Load3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SUBI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#8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50" dirty="0">
                          <a:latin typeface="Arial MT"/>
                          <a:cs typeface="Arial MT"/>
                        </a:rPr>
                        <a:t>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Mult2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50" dirty="0">
                        <a:solidFill>
                          <a:srgbClr val="1FB714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BNEZ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5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R1</a:t>
                      </a:r>
                      <a:endParaRPr sz="155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2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825">
                <a:tc gridSpan="4">
                  <a:txBody>
                    <a:bodyPr/>
                    <a:lstStyle/>
                    <a:p>
                      <a:pPr marL="38100">
                        <a:lnSpc>
                          <a:spcPts val="1835"/>
                        </a:lnSpc>
                        <a:spcBef>
                          <a:spcPts val="40"/>
                        </a:spcBef>
                      </a:pP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550" u="sng" spc="-55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5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status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025">
                <a:tc gridSpan="2"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Clock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00" b="1" spc="-25" dirty="0">
                          <a:latin typeface="Tahoma"/>
                          <a:cs typeface="Tahoma"/>
                        </a:rPr>
                        <a:t>R1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F0</a:t>
                      </a:r>
                      <a:endParaRPr sz="205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marR="1206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F12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...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425"/>
                        </a:lnSpc>
                        <a:spcBef>
                          <a:spcPts val="55"/>
                        </a:spcBef>
                      </a:pPr>
                      <a:r>
                        <a:rPr sz="2050" i="1" spc="-25" dirty="0">
                          <a:latin typeface="Arial"/>
                          <a:cs typeface="Arial"/>
                        </a:rPr>
                        <a:t>F30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18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spc="50" dirty="0">
                          <a:latin typeface="Tahoma"/>
                          <a:cs typeface="Tahoma"/>
                        </a:rPr>
                        <a:t>56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i="1" spc="-25" dirty="0">
                          <a:latin typeface="Arial"/>
                          <a:cs typeface="Arial"/>
                        </a:rPr>
                        <a:t>Qi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4D4D4"/>
                      </a:solidFill>
                      <a:prstDash val="solid"/>
                    </a:lnT>
                    <a:lnB w="12700">
                      <a:solidFill>
                        <a:srgbClr val="D4D4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solidFill>
                            <a:srgbClr val="00ABEA"/>
                          </a:solidFill>
                          <a:latin typeface="Arial MT"/>
                          <a:cs typeface="Arial MT"/>
                        </a:rPr>
                        <a:t>Load3</a:t>
                      </a:r>
                      <a:endParaRPr sz="1550" dirty="0">
                        <a:solidFill>
                          <a:srgbClr val="00ABEA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50" spc="-10" dirty="0">
                          <a:latin typeface="Arial MT"/>
                          <a:cs typeface="Arial MT"/>
                        </a:rPr>
                        <a:t>Mult1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25381" y="6672071"/>
            <a:ext cx="8519795" cy="7753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475"/>
              </a:spcBef>
            </a:pP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Once</a:t>
            </a:r>
            <a:r>
              <a:rPr sz="2600" b="1" i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again:</a:t>
            </a:r>
            <a:r>
              <a:rPr sz="26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spc="-25" dirty="0">
                <a:solidFill>
                  <a:srgbClr val="FF0000"/>
                </a:solidFill>
                <a:latin typeface="Calibri"/>
                <a:cs typeface="Calibri"/>
              </a:rPr>
              <a:t>In-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order</a:t>
            </a:r>
            <a:r>
              <a:rPr sz="26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issue,</a:t>
            </a:r>
            <a:r>
              <a:rPr sz="26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spc="-45" dirty="0">
                <a:solidFill>
                  <a:srgbClr val="FF0000"/>
                </a:solidFill>
                <a:latin typeface="Calibri"/>
                <a:cs typeface="Calibri"/>
              </a:rPr>
              <a:t>out-</a:t>
            </a:r>
            <a:r>
              <a:rPr sz="2600" b="1" i="1" spc="-35" dirty="0">
                <a:solidFill>
                  <a:srgbClr val="FF0000"/>
                </a:solidFill>
                <a:latin typeface="Calibri"/>
                <a:cs typeface="Calibri"/>
              </a:rPr>
              <a:t>of-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order</a:t>
            </a:r>
            <a:r>
              <a:rPr sz="26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start</a:t>
            </a:r>
            <a:r>
              <a:rPr sz="26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6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spc="-20" dirty="0">
                <a:solidFill>
                  <a:srgbClr val="FF0000"/>
                </a:solidFill>
                <a:latin typeface="Calibri"/>
                <a:cs typeface="Calibri"/>
              </a:rPr>
              <a:t>execution,</a:t>
            </a:r>
            <a:r>
              <a:rPr sz="26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spc="-2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2600" b="1" i="1" spc="-40" dirty="0">
                <a:solidFill>
                  <a:srgbClr val="FF0000"/>
                </a:solidFill>
                <a:latin typeface="Calibri"/>
                <a:cs typeface="Calibri"/>
              </a:rPr>
              <a:t>out-</a:t>
            </a:r>
            <a:r>
              <a:rPr sz="2600" b="1" i="1" spc="-35" dirty="0">
                <a:solidFill>
                  <a:srgbClr val="FF0000"/>
                </a:solidFill>
                <a:latin typeface="Calibri"/>
                <a:cs typeface="Calibri"/>
              </a:rPr>
              <a:t>of-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order</a:t>
            </a:r>
            <a:r>
              <a:rPr sz="26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FF0000"/>
                </a:solidFill>
                <a:latin typeface="Calibri"/>
                <a:cs typeface="Calibri"/>
              </a:rPr>
              <a:t>completion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16456" y="1829610"/>
            <a:ext cx="2265680" cy="2056764"/>
          </a:xfrm>
          <a:custGeom>
            <a:avLst/>
            <a:gdLst/>
            <a:ahLst/>
            <a:cxnLst/>
            <a:rect l="l" t="t" r="r" b="b"/>
            <a:pathLst>
              <a:path w="2265679" h="2056764">
                <a:moveTo>
                  <a:pt x="0" y="104103"/>
                </a:moveTo>
                <a:lnTo>
                  <a:pt x="8180" y="63581"/>
                </a:lnTo>
                <a:lnTo>
                  <a:pt x="30491" y="30491"/>
                </a:lnTo>
                <a:lnTo>
                  <a:pt x="63581" y="8181"/>
                </a:lnTo>
                <a:lnTo>
                  <a:pt x="104103" y="0"/>
                </a:lnTo>
                <a:lnTo>
                  <a:pt x="2160983" y="0"/>
                </a:lnTo>
                <a:lnTo>
                  <a:pt x="2201505" y="8181"/>
                </a:lnTo>
                <a:lnTo>
                  <a:pt x="2234595" y="30491"/>
                </a:lnTo>
                <a:lnTo>
                  <a:pt x="2256905" y="63581"/>
                </a:lnTo>
                <a:lnTo>
                  <a:pt x="2265086" y="104103"/>
                </a:lnTo>
                <a:lnTo>
                  <a:pt x="2265086" y="1952484"/>
                </a:lnTo>
                <a:lnTo>
                  <a:pt x="2256905" y="1993006"/>
                </a:lnTo>
                <a:lnTo>
                  <a:pt x="2234595" y="2026097"/>
                </a:lnTo>
                <a:lnTo>
                  <a:pt x="2201505" y="2048407"/>
                </a:lnTo>
                <a:lnTo>
                  <a:pt x="2160983" y="2056588"/>
                </a:lnTo>
                <a:lnTo>
                  <a:pt x="104103" y="2056588"/>
                </a:lnTo>
                <a:lnTo>
                  <a:pt x="63581" y="2048407"/>
                </a:lnTo>
                <a:lnTo>
                  <a:pt x="30491" y="2026097"/>
                </a:lnTo>
                <a:lnTo>
                  <a:pt x="8180" y="1993006"/>
                </a:lnTo>
                <a:lnTo>
                  <a:pt x="0" y="1952484"/>
                </a:lnTo>
                <a:lnTo>
                  <a:pt x="0" y="104103"/>
                </a:lnTo>
                <a:close/>
              </a:path>
            </a:pathLst>
          </a:custGeom>
          <a:ln w="4106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1">
            <a:extLst>
              <a:ext uri="{FF2B5EF4-FFF2-40B4-BE49-F238E27FC236}">
                <a16:creationId xmlns:a16="http://schemas.microsoft.com/office/drawing/2014/main" id="{8D704417-87D1-2FB1-FB1A-9C4868BA8E7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471191" y="7227447"/>
            <a:ext cx="33210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And</a:t>
            </a:r>
            <a:r>
              <a:rPr spc="75" dirty="0"/>
              <a:t> </a:t>
            </a:r>
            <a:r>
              <a:rPr dirty="0"/>
              <a:t>In</a:t>
            </a:r>
            <a:r>
              <a:rPr spc="80" dirty="0"/>
              <a:t> </a:t>
            </a:r>
            <a:r>
              <a:rPr dirty="0"/>
              <a:t>Conclusion</a:t>
            </a:r>
            <a:r>
              <a:rPr spc="80" dirty="0"/>
              <a:t> </a:t>
            </a:r>
            <a:r>
              <a:rPr dirty="0"/>
              <a:t>…</a:t>
            </a:r>
            <a:r>
              <a:rPr spc="75" dirty="0"/>
              <a:t> </a:t>
            </a:r>
            <a:r>
              <a:rPr spc="-25" dirty="0"/>
              <a:t>#1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40964" y="1447800"/>
            <a:ext cx="8007984" cy="390748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20040" marR="5080" indent="-307975">
              <a:spcBef>
                <a:spcPts val="450"/>
              </a:spcBef>
              <a:spcAft>
                <a:spcPts val="2400"/>
              </a:spcAft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Leverage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Implicit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Parallelism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Performance:</a:t>
            </a:r>
            <a:r>
              <a:rPr sz="2600" spc="-75" dirty="0">
                <a:latin typeface="Calibri"/>
                <a:cs typeface="Calibri"/>
              </a:rPr>
              <a:t> </a:t>
            </a:r>
            <a:br>
              <a:rPr lang="en-US" sz="2600" spc="-75" dirty="0">
                <a:latin typeface="Calibri"/>
                <a:cs typeface="Calibri"/>
              </a:rPr>
            </a:b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Instruction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Level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Parallelism</a:t>
            </a:r>
            <a:endParaRPr sz="2600" dirty="0">
              <a:latin typeface="Calibri"/>
              <a:cs typeface="Calibri"/>
            </a:endParaRPr>
          </a:p>
          <a:p>
            <a:pPr marL="320040" indent="-307340">
              <a:spcAft>
                <a:spcPts val="600"/>
              </a:spcAft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Loop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unrolling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compiler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increase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ILP</a:t>
            </a:r>
            <a:endParaRPr sz="2600" dirty="0">
              <a:latin typeface="Calibri"/>
              <a:cs typeface="Calibri"/>
            </a:endParaRPr>
          </a:p>
          <a:p>
            <a:pPr marL="320040" indent="-307340">
              <a:spcBef>
                <a:spcPts val="695"/>
              </a:spcBef>
              <a:spcAft>
                <a:spcPts val="600"/>
              </a:spcAft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Branch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prediction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increase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ILP</a:t>
            </a:r>
            <a:endParaRPr sz="2600" dirty="0">
              <a:latin typeface="Calibri"/>
              <a:cs typeface="Calibri"/>
            </a:endParaRPr>
          </a:p>
          <a:p>
            <a:pPr marL="320040" indent="-307340">
              <a:spcBef>
                <a:spcPts val="580"/>
              </a:spcBef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Dynamic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HW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exploiting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ILP</a:t>
            </a:r>
            <a:endParaRPr sz="2600" dirty="0">
              <a:latin typeface="Calibri"/>
              <a:cs typeface="Calibri"/>
            </a:endParaRPr>
          </a:p>
          <a:p>
            <a:pPr marL="749935" lvl="1" indent="-244475">
              <a:spcBef>
                <a:spcPts val="580"/>
              </a:spcBef>
              <a:buChar char="–"/>
              <a:tabLst>
                <a:tab pos="749935" algn="l"/>
              </a:tabLst>
            </a:pPr>
            <a:r>
              <a:rPr sz="2200" dirty="0">
                <a:latin typeface="Calibri"/>
                <a:cs typeface="Calibri"/>
              </a:rPr>
              <a:t>Works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cannot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dependences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compile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time</a:t>
            </a:r>
            <a:endParaRPr sz="2200" dirty="0">
              <a:latin typeface="Calibri"/>
              <a:cs typeface="Calibri"/>
            </a:endParaRPr>
          </a:p>
          <a:p>
            <a:pPr marL="749935" lvl="1" indent="-244475">
              <a:spcBef>
                <a:spcPts val="525"/>
              </a:spcBef>
              <a:buChar char="–"/>
              <a:tabLst>
                <a:tab pos="749935" algn="l"/>
              </a:tabLst>
            </a:pPr>
            <a:r>
              <a:rPr sz="2200" dirty="0">
                <a:latin typeface="Calibri"/>
                <a:cs typeface="Calibri"/>
              </a:rPr>
              <a:t>Can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hide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L1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misses</a:t>
            </a:r>
            <a:endParaRPr sz="2200" dirty="0">
              <a:latin typeface="Calibri"/>
              <a:cs typeface="Calibri"/>
            </a:endParaRPr>
          </a:p>
          <a:p>
            <a:pPr marL="749935" lvl="1" indent="-244475">
              <a:spcBef>
                <a:spcPts val="505"/>
              </a:spcBef>
              <a:buChar char="–"/>
              <a:tabLst>
                <a:tab pos="749935" algn="l"/>
              </a:tabLst>
            </a:pPr>
            <a:r>
              <a:rPr sz="2200" dirty="0">
                <a:latin typeface="Calibri"/>
                <a:cs typeface="Calibri"/>
              </a:rPr>
              <a:t>Code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pipelined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machine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well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another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564" y="685800"/>
            <a:ext cx="834688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And</a:t>
            </a:r>
            <a:r>
              <a:rPr spc="75" dirty="0"/>
              <a:t> </a:t>
            </a:r>
            <a:r>
              <a:rPr dirty="0"/>
              <a:t>In</a:t>
            </a:r>
            <a:r>
              <a:rPr spc="80" dirty="0"/>
              <a:t> </a:t>
            </a:r>
            <a:r>
              <a:rPr dirty="0"/>
              <a:t>Conclusion</a:t>
            </a:r>
            <a:r>
              <a:rPr spc="80" dirty="0"/>
              <a:t> </a:t>
            </a:r>
            <a:r>
              <a:rPr dirty="0"/>
              <a:t>…</a:t>
            </a:r>
            <a:r>
              <a:rPr spc="75" dirty="0"/>
              <a:t> </a:t>
            </a:r>
            <a:r>
              <a:rPr spc="-25" dirty="0"/>
              <a:t>#2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80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40964" y="1408249"/>
            <a:ext cx="8105140" cy="6059351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20040" marR="5080" indent="-307975">
              <a:spcBef>
                <a:spcPts val="450"/>
              </a:spcBef>
              <a:buChar char="•"/>
              <a:tabLst>
                <a:tab pos="320040" algn="l"/>
              </a:tabLst>
            </a:pPr>
            <a:r>
              <a:rPr sz="2600" spc="-10" dirty="0">
                <a:latin typeface="Calibri"/>
                <a:cs typeface="Calibri"/>
              </a:rPr>
              <a:t>Reservations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stations: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renaming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larger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registers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+ </a:t>
            </a:r>
            <a:r>
              <a:rPr sz="2600" dirty="0">
                <a:latin typeface="Calibri"/>
                <a:cs typeface="Calibri"/>
              </a:rPr>
              <a:t>buffering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source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operands</a:t>
            </a:r>
            <a:endParaRPr sz="2600" dirty="0">
              <a:latin typeface="Calibri"/>
              <a:cs typeface="Calibri"/>
            </a:endParaRPr>
          </a:p>
          <a:p>
            <a:pPr marL="751840" lvl="1" indent="-246379">
              <a:spcBef>
                <a:spcPts val="550"/>
              </a:spcBef>
              <a:buChar char="–"/>
              <a:tabLst>
                <a:tab pos="751840" algn="l"/>
              </a:tabLst>
            </a:pPr>
            <a:r>
              <a:rPr sz="2200" spc="-20" dirty="0">
                <a:latin typeface="Calibri"/>
                <a:cs typeface="Calibri"/>
              </a:rPr>
              <a:t>Prevents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registers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from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being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bottlenecks</a:t>
            </a:r>
            <a:endParaRPr sz="2200" dirty="0">
              <a:latin typeface="Calibri"/>
              <a:cs typeface="Calibri"/>
            </a:endParaRPr>
          </a:p>
          <a:p>
            <a:pPr marL="751840" lvl="1" indent="-246379">
              <a:spcBef>
                <a:spcPts val="455"/>
              </a:spcBef>
              <a:buChar char="–"/>
              <a:tabLst>
                <a:tab pos="751840" algn="l"/>
              </a:tabLst>
            </a:pPr>
            <a:r>
              <a:rPr sz="2200" spc="-10" dirty="0">
                <a:latin typeface="Calibri"/>
                <a:cs typeface="Calibri"/>
              </a:rPr>
              <a:t>Avoids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WAR,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WAW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hazards</a:t>
            </a:r>
            <a:endParaRPr sz="2200" dirty="0">
              <a:latin typeface="Calibri"/>
              <a:cs typeface="Calibri"/>
            </a:endParaRPr>
          </a:p>
          <a:p>
            <a:pPr marL="751840" lvl="1" indent="-246379">
              <a:spcBef>
                <a:spcPts val="455"/>
              </a:spcBef>
              <a:buChar char="–"/>
              <a:tabLst>
                <a:tab pos="751840" algn="l"/>
              </a:tabLst>
            </a:pPr>
            <a:r>
              <a:rPr sz="2200" spc="-20" dirty="0">
                <a:latin typeface="Calibri"/>
                <a:cs typeface="Calibri"/>
              </a:rPr>
              <a:t>Allows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dynamic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loop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unrolling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hardware</a:t>
            </a:r>
            <a:endParaRPr sz="2200" dirty="0">
              <a:latin typeface="Calibri"/>
              <a:cs typeface="Calibri"/>
            </a:endParaRPr>
          </a:p>
          <a:p>
            <a:pPr marL="320040" indent="-307340">
              <a:spcBef>
                <a:spcPts val="560"/>
              </a:spcBef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Not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limited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basic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blocks</a:t>
            </a:r>
            <a:endParaRPr sz="2600" dirty="0">
              <a:latin typeface="Calibri"/>
              <a:cs typeface="Calibri"/>
            </a:endParaRPr>
          </a:p>
          <a:p>
            <a:pPr marL="320040"/>
            <a:r>
              <a:rPr sz="2600" dirty="0">
                <a:latin typeface="Calibri"/>
                <a:cs typeface="Calibri"/>
              </a:rPr>
              <a:t>(integer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units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ahead,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beyond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branches)</a:t>
            </a:r>
            <a:endParaRPr sz="2600" dirty="0">
              <a:latin typeface="Calibri"/>
              <a:cs typeface="Calibri"/>
            </a:endParaRPr>
          </a:p>
          <a:p>
            <a:pPr marL="320040" indent="-307340">
              <a:spcBef>
                <a:spcPts val="670"/>
              </a:spcBef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cache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misses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well</a:t>
            </a:r>
            <a:endParaRPr sz="2600" dirty="0">
              <a:latin typeface="Calibri"/>
              <a:cs typeface="Calibri"/>
            </a:endParaRPr>
          </a:p>
          <a:p>
            <a:pPr marL="320040" indent="-307340">
              <a:spcBef>
                <a:spcPts val="580"/>
              </a:spcBef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Lasting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Contributions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Tomasulo</a:t>
            </a:r>
            <a:endParaRPr sz="2600" dirty="0">
              <a:latin typeface="Calibri"/>
              <a:cs typeface="Calibri"/>
            </a:endParaRPr>
          </a:p>
          <a:p>
            <a:pPr marL="751840" lvl="1" indent="-246379">
              <a:spcBef>
                <a:spcPts val="590"/>
              </a:spcBef>
              <a:buChar char="–"/>
              <a:tabLst>
                <a:tab pos="751840" algn="l"/>
              </a:tabLst>
            </a:pPr>
            <a:r>
              <a:rPr sz="2200" spc="-25" dirty="0">
                <a:latin typeface="Calibri"/>
                <a:cs typeface="Calibri"/>
              </a:rPr>
              <a:t>Dynamic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scheduling</a:t>
            </a:r>
            <a:endParaRPr sz="2200" dirty="0">
              <a:latin typeface="Calibri"/>
              <a:cs typeface="Calibri"/>
            </a:endParaRPr>
          </a:p>
          <a:p>
            <a:pPr marL="751840" lvl="1" indent="-246379">
              <a:spcBef>
                <a:spcPts val="455"/>
              </a:spcBef>
              <a:buChar char="–"/>
              <a:tabLst>
                <a:tab pos="751840" algn="l"/>
              </a:tabLst>
            </a:pPr>
            <a:r>
              <a:rPr sz="2200" spc="-20" dirty="0">
                <a:latin typeface="Calibri"/>
                <a:cs typeface="Calibri"/>
              </a:rPr>
              <a:t>Register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renaming</a:t>
            </a:r>
            <a:endParaRPr sz="2200" dirty="0">
              <a:latin typeface="Calibri"/>
              <a:cs typeface="Calibri"/>
            </a:endParaRPr>
          </a:p>
          <a:p>
            <a:pPr marL="751840" lvl="1" indent="-246379">
              <a:spcBef>
                <a:spcPts val="455"/>
              </a:spcBef>
              <a:buChar char="–"/>
              <a:tabLst>
                <a:tab pos="751840" algn="l"/>
              </a:tabLst>
            </a:pPr>
            <a:r>
              <a:rPr sz="2200" spc="-25" dirty="0">
                <a:latin typeface="Calibri"/>
                <a:cs typeface="Calibri"/>
              </a:rPr>
              <a:t>Load/store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disambiguation</a:t>
            </a:r>
            <a:endParaRPr sz="2200" dirty="0">
              <a:latin typeface="Calibri"/>
              <a:cs typeface="Calibri"/>
            </a:endParaRPr>
          </a:p>
          <a:p>
            <a:pPr marL="320040" marR="492759" indent="-307975">
              <a:spcBef>
                <a:spcPts val="915"/>
              </a:spcBef>
              <a:buChar char="•"/>
              <a:tabLst>
                <a:tab pos="320040" algn="l"/>
              </a:tabLst>
            </a:pPr>
            <a:r>
              <a:rPr sz="2600" dirty="0">
                <a:latin typeface="Calibri"/>
                <a:cs typeface="Calibri"/>
              </a:rPr>
              <a:t>360/91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descendants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Intel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Pentium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4,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IBM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Power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5, </a:t>
            </a:r>
            <a:r>
              <a:rPr sz="2600" dirty="0">
                <a:latin typeface="Calibri"/>
                <a:cs typeface="Calibri"/>
              </a:rPr>
              <a:t>AMD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Athlon/Opteron,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…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</TotalTime>
  <Words>9972</Words>
  <Application>Microsoft Office PowerPoint</Application>
  <PresentationFormat>Custom</PresentationFormat>
  <Paragraphs>4863</Paragraphs>
  <Slides>57</Slides>
  <Notes>42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Aptos</vt:lpstr>
      <vt:lpstr>Arial</vt:lpstr>
      <vt:lpstr>Arial MT</vt:lpstr>
      <vt:lpstr>Calibri</vt:lpstr>
      <vt:lpstr>Comic Sans MS</vt:lpstr>
      <vt:lpstr>Courier New</vt:lpstr>
      <vt:lpstr>Symbol</vt:lpstr>
      <vt:lpstr>Tahoma</vt:lpstr>
      <vt:lpstr>Times New Roman</vt:lpstr>
      <vt:lpstr>Office Theme</vt:lpstr>
      <vt:lpstr>1_Office Theme</vt:lpstr>
      <vt:lpstr>PowerPoint Presentation</vt:lpstr>
      <vt:lpstr>Outline</vt:lpstr>
      <vt:lpstr>Advantages of Dynamic Scheduling</vt:lpstr>
      <vt:lpstr>HW Schemes: Instruction Parallelism</vt:lpstr>
      <vt:lpstr>HW Schemes: Instruction Parallelism</vt:lpstr>
      <vt:lpstr>HW Schemes: Instruction Parallelism</vt:lpstr>
      <vt:lpstr>Dynamic Scheduling - Step 1</vt:lpstr>
      <vt:lpstr>A Dynamic Algorithm: Tomasulo’s</vt:lpstr>
      <vt:lpstr>Tomasulo Algorithm</vt:lpstr>
      <vt:lpstr>Tomasulo Organization</vt:lpstr>
      <vt:lpstr>Three Stages of Tomasulo Algorithm</vt:lpstr>
      <vt:lpstr>Reservation Station Components</vt:lpstr>
      <vt:lpstr>Tomasulo Example</vt:lpstr>
      <vt:lpstr>Tomasulo Example Cycle 1</vt:lpstr>
      <vt:lpstr>Tomasulo Example Cycle 2</vt:lpstr>
      <vt:lpstr>Tomasulo Example Cycle 3</vt:lpstr>
      <vt:lpstr>Tomasulo Example Cycle 4</vt:lpstr>
      <vt:lpstr>Tomasulo Example Cycle 5</vt:lpstr>
      <vt:lpstr>Tomasulo Example Cycle 6</vt:lpstr>
      <vt:lpstr>Tomasulo Example Cycle 7</vt:lpstr>
      <vt:lpstr>Tomasulo Example Cycle 8</vt:lpstr>
      <vt:lpstr>Tomasulo Example Cycle 9</vt:lpstr>
      <vt:lpstr>Tomasulo Example Cycle 10</vt:lpstr>
      <vt:lpstr>Tomasulo Example Cycle 11</vt:lpstr>
      <vt:lpstr>Tomasulo Example Cycle 12</vt:lpstr>
      <vt:lpstr>Tomasulo Example Cycle 13</vt:lpstr>
      <vt:lpstr>Tomasulo Example Cycle 14</vt:lpstr>
      <vt:lpstr>Tomasulo Example Cycle 15</vt:lpstr>
      <vt:lpstr>Tomasulo Example Cycle 16</vt:lpstr>
      <vt:lpstr>… Tomasulo Example Cycle 55</vt:lpstr>
      <vt:lpstr>Tomasulo Example Cycle 56</vt:lpstr>
      <vt:lpstr>Tomasulo Example Cycle 57</vt:lpstr>
      <vt:lpstr>Tomasulo’s Scheme: Two Major Advantages</vt:lpstr>
      <vt:lpstr>Tomasulo Drawbacks</vt:lpstr>
      <vt:lpstr>Why Can Tomasulo Overlap Iterations Of Loops?</vt:lpstr>
      <vt:lpstr>Tomasulo Loop Example</vt:lpstr>
      <vt:lpstr>Loop Example Cycle 0</vt:lpstr>
      <vt:lpstr>Loop Example Cycle 1</vt:lpstr>
      <vt:lpstr>Loop Example Cycle 2</vt:lpstr>
      <vt:lpstr>Loop Example Cycle 3</vt:lpstr>
      <vt:lpstr>Loop Example Cycle 4</vt:lpstr>
      <vt:lpstr>Loop Example Cycle 5</vt:lpstr>
      <vt:lpstr>Loop Example Cycle 6</vt:lpstr>
      <vt:lpstr>Loop Example Cycle 7</vt:lpstr>
      <vt:lpstr>Loop Example Cycle 8</vt:lpstr>
      <vt:lpstr>Loop Example Cycle 9</vt:lpstr>
      <vt:lpstr>Loop Example Cycle 10</vt:lpstr>
      <vt:lpstr>Loop Example Cycle 11</vt:lpstr>
      <vt:lpstr>Loop Example Cycle 12</vt:lpstr>
      <vt:lpstr>Loop Example Cycle 13</vt:lpstr>
      <vt:lpstr>Loop Example Cycle 14</vt:lpstr>
      <vt:lpstr>Loop Example Cycle 15</vt:lpstr>
      <vt:lpstr>Loop Example Cycle 16</vt:lpstr>
      <vt:lpstr>Loop Example Cycle 17</vt:lpstr>
      <vt:lpstr>Loop Example Cycle 18</vt:lpstr>
      <vt:lpstr>And In Conclusion … #1</vt:lpstr>
      <vt:lpstr>And In Conclusion … #2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lec25</dc:title>
  <dc:creator>Richard Johnson</dc:creator>
  <cp:lastModifiedBy>Richard Johnson</cp:lastModifiedBy>
  <cp:revision>312</cp:revision>
  <dcterms:created xsi:type="dcterms:W3CDTF">2025-08-24T21:24:35Z</dcterms:created>
  <dcterms:modified xsi:type="dcterms:W3CDTF">2025-11-24T16:59:56Z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2023-11-30T00:00:00Z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2025-08-24T00:00:00Z</vt:filetime>
  </property>
  <property fmtid="{D5CDD505-2E9C-101B-9397-08002B2CF9AE}" pid="5" name="Producer">
    <vt:lpwstr>macOS Version 14.1 (Build 23B74) Quartz PDFContext</vt:lpwstr>
  </property>
</Properties>
</file>