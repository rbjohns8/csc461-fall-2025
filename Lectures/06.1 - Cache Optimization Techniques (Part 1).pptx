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51"/>
  </p:notesMasterIdLst>
  <p:sldIdLst>
    <p:sldId id="348" r:id="rId2"/>
    <p:sldId id="365" r:id="rId3"/>
    <p:sldId id="366" r:id="rId4"/>
    <p:sldId id="367" r:id="rId5"/>
    <p:sldId id="401" r:id="rId6"/>
    <p:sldId id="368" r:id="rId7"/>
    <p:sldId id="369" r:id="rId8"/>
    <p:sldId id="370" r:id="rId9"/>
    <p:sldId id="371" r:id="rId10"/>
    <p:sldId id="399" r:id="rId11"/>
    <p:sldId id="372" r:id="rId12"/>
    <p:sldId id="373" r:id="rId13"/>
    <p:sldId id="258" r:id="rId14"/>
    <p:sldId id="259" r:id="rId15"/>
    <p:sldId id="260" r:id="rId16"/>
    <p:sldId id="261" r:id="rId17"/>
    <p:sldId id="400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2B7"/>
    <a:srgbClr val="000066"/>
    <a:srgbClr val="0066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65" autoAdjust="0"/>
  </p:normalViewPr>
  <p:slideViewPr>
    <p:cSldViewPr snapToGrid="0">
      <p:cViewPr varScale="1">
        <p:scale>
          <a:sx n="58" d="100"/>
          <a:sy n="58" d="100"/>
        </p:scale>
        <p:origin x="20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3 November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stalls,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represent the time lost due to cache misses,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reduced by optimizing any of the three key parameters: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memory access time (miss penalty),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access (hit) time,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miss rate.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14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misses can be categorized based on their underlying causes.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compulsory miss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 when data is accessed for the first time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is not present in the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requiring it to be fetched from main memory.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miss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happens when the cache is too small to hold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the data required by a program during its execution.</a:t>
            </a:r>
            <a:br>
              <a:rPr lang="en-US" b="0" dirty="0"/>
            </a:b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direct-mapped and set-associative caches,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 miss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 when multiple memory addresses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same cache set,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preventing them from being stored simultaneously due to the cache's organization.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95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CCEB-57CD-95DC-1AA7-79D6A295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CA927-ABE3-2230-0839-8D7503139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F252A-2E19-9684-E58E-0B27E0519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misses can be categorized based on their underlying causes.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compulsory miss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 when data is accessed for the first time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is not present in the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requiring it to be fetched from main memory.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miss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happens when the cache is too small to hold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the data required by a program during its execution.</a:t>
            </a:r>
            <a:br>
              <a:rPr lang="en-US" b="0" dirty="0"/>
            </a:b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direct-mapped and set-associative caches,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 miss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 when multiple memory addresses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same cache set,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preventing them from being stored simultaneously due to the cache's organization.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8A6E-32AE-CD8C-E8B2-B27BE17F7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68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five basic cache optimizations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improving cache performance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categorized based on their primary goal: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miss rate,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 penalty,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hit time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 on each 1-5)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Miss Rate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 the block size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cache can reduce the number of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compulsory misses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(by exploiting spatial locality)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misses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reduced by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 the cache size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associativity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cache design reduces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 misses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(by allowing a memory block to be stored in any of multiple cache lines within a specific set).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Miss Penalty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Multilevel caches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a primary technique used to reduce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 penalty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cache hierarchies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(by introducing additional levels of cache between the CPU and main memory)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Hit Time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hit time can be achieved by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giving priority to read misses over write misses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read operations to complete before earlier writes in the write buffer are processed.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 cache block size improves spatial locality,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 to fewer cache misses for sequential access patterns,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reduces the frequency of block loading.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blocks also enhance memory bandwidth efficiency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can reduce the number of outstanding memory requests,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improving overall throughput.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 on each)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Competing statements:</a:t>
            </a:r>
          </a:p>
          <a:p>
            <a:pPr marL="228600" indent="-228600">
              <a:buFont typeface="+mj-lt"/>
              <a:buAutoNum type="alphaL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want to increase the block size to minimize the frequency of having to stop and load blocks.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larger blocks increase miss penalty if the entire block must be loaded before data is usable. 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We want</a:t>
            </a:r>
            <a:r>
              <a:rPr lang="en-US" sz="1200" spc="-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 block</a:t>
            </a:r>
            <a:r>
              <a:rPr lang="en-US" sz="1200" spc="-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size small</a:t>
            </a:r>
            <a:r>
              <a:rPr lang="en-US" sz="1200" spc="-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so</a:t>
            </a:r>
            <a:r>
              <a:rPr lang="en-US" sz="1200" spc="-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that</a:t>
            </a:r>
            <a:r>
              <a:rPr lang="en-US" sz="1200" spc="-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blocks</a:t>
            </a:r>
            <a:r>
              <a:rPr lang="en-US" sz="1200" spc="-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load quickly</a:t>
            </a:r>
            <a:br>
              <a:rPr lang="en-US" sz="1200" dirty="0">
                <a:latin typeface="Calibri"/>
                <a:cs typeface="Calibri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 blocks reduce the time to load a block, minimizing miss penalty.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(Go over diagram.)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0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large block size may reduce miss rates but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 the miss penalty.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(Go over example.)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32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i="1" dirty="0"/>
              <a:t>(Go over example.)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83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(H&amp;P 6ed, Figure 2.3, page 77)</a:t>
            </a:r>
          </a:p>
          <a:p>
            <a:endParaRPr lang="en-US" dirty="0"/>
          </a:p>
          <a:p>
            <a:r>
              <a:rPr lang="en-US" dirty="0"/>
              <a:t>&gt;&gt;</a:t>
            </a:r>
            <a:endParaRPr lang="en-US" i="1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times generally increase as cache size and associativity are increased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due to the added hardware complexity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interconnect delays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longer critical paths for tag comparison and data retrieval.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caches require more time to index and search,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higher associativity necessitates more tag comparators and multiplexers,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contribute to longer access times.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trade-off is evident in the design of cache hierarchies,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increased associativity reduces conflict misses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at the cost of higher latency.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16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i="1" dirty="0"/>
              <a:t>(Reiterate)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Multilevel caches are a primary technique used to reduce the miss penalty in cache hierarchies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 introducing additional levels of cache between the CPU and main memory.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 …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95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cache block that has recently been replaced (evicted)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stored in a small, fully associative cache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 as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to hold blocks evicted from a higher-level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when a cache miss occurs, is checked before accessing the next lower-level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desired data is found in the victim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swap the victim block with the block in the cache that was replaced during the miss.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purpose of this mechanism is to reduce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 misses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providing a temporary storage for recently evicted data,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thereby improving overall cache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39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(H&amp;P 3ed, Figure 5.13, page 407)</a:t>
            </a:r>
          </a:p>
          <a:p>
            <a:endParaRPr lang="en-US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&gt;&gt; </a:t>
            </a:r>
          </a:p>
          <a:p>
            <a:r>
              <a:rPr lang="en-US" dirty="0"/>
              <a:t>This diagram illustrates the placement of victim cache in the memory hierarchy. </a:t>
            </a:r>
          </a:p>
          <a:p>
            <a:endParaRPr lang="en-US" dirty="0"/>
          </a:p>
          <a:p>
            <a:r>
              <a:rPr lang="en-US" dirty="0"/>
              <a:t>Although it reduces miss penalty, </a:t>
            </a:r>
          </a:p>
          <a:p>
            <a:r>
              <a:rPr lang="en-US" dirty="0"/>
              <a:t>the victim cache is aimed at reducing the damage done by conflict misses.</a:t>
            </a:r>
          </a:p>
          <a:p>
            <a:endParaRPr lang="en-US" dirty="0"/>
          </a:p>
          <a:p>
            <a:r>
              <a:rPr lang="en-US" i="1" u="sng" dirty="0"/>
              <a:t>Optional:</a:t>
            </a:r>
          </a:p>
          <a:p>
            <a:r>
              <a:rPr lang="en-US" i="1" dirty="0"/>
              <a:t>Jouppi [1990] found the four-entry victim cache could reduce the miss penalty for 20% to 95% of conflict misses.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532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cache miss occurs and the CPU needs a specific word,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(such as the 10th word in a block,)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techniques like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Restart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Word 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allow the CPU to proceed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waiting for the entire block to be loaded.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Restart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involves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fetching the block words in normal order from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as soon as the requested word arrives,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(such as the 10th word in a block,)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sent to the CPU to resume execution while the rest of the block continues to be fetched.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reduces the effective miss penalty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enabling the CPU to continue processing as soon as the needed data is available.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Word 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involves requesting the specific word needed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(e.g., the 10th word in a block)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from memory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sent to the processor immediately upon arrival,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execution to continue while the rest of the block is filled in sequentially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minimizes the effective miss penalty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prioritizing the critical word.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29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non-blocking cache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the processor to continue executing instructions even during a cache miss.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achieved through the "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hit-under-miss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optimization,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cache continues to service subsequent cache hits 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a previous miss is still being processed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reduces the effective miss penalty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overlapping the processing of multiple memory requests,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the CPU to proceed with other work instead of stalling.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u="sng" dirty="0"/>
              <a:t>Disadvantage:</a:t>
            </a:r>
            <a:br>
              <a:rPr lang="en-US" u="sng" dirty="0"/>
            </a:br>
            <a:r>
              <a:rPr lang="en-US" u="none" dirty="0"/>
              <a:t>However, </a:t>
            </a: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ntroducing a non-blocking cache significantly increases cache architecture complexity because 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must manage multiple outstanding cache requests simultaneously, 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the possibility of multiple misses occurring at once.</a:t>
            </a:r>
          </a:p>
          <a:p>
            <a:endParaRPr lang="en-US" sz="1200" b="0" i="0" u="non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 L2 caches also support this feature?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general,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L2 caches typically have much higher latency due to their larger size and greater distance from the processor core,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impractical to hide their miss penalties through the same mechanisms.</a:t>
            </a:r>
            <a:endParaRPr lang="en-US" b="0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09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(H&amp;P 6ed, Figure 2.5, page 84)</a:t>
            </a:r>
          </a:p>
          <a:p>
            <a:endParaRPr lang="en-US" dirty="0"/>
          </a:p>
          <a:p>
            <a:r>
              <a:rPr lang="en-US" dirty="0"/>
              <a:t>&gt;&gt;</a:t>
            </a:r>
          </a:p>
          <a:p>
            <a:r>
              <a:rPr lang="en-US" u="sng" dirty="0"/>
              <a:t>This chart illustrates</a:t>
            </a:r>
          </a:p>
          <a:p>
            <a:r>
              <a:rPr lang="en-US" dirty="0"/>
              <a:t>the evaluation on the effectiveness of a </a:t>
            </a:r>
            <a:r>
              <a:rPr lang="en-US" b="1" dirty="0"/>
              <a:t>nonblocking cache</a:t>
            </a:r>
            <a:endParaRPr lang="en-US" dirty="0"/>
          </a:p>
          <a:p>
            <a:r>
              <a:rPr lang="en-US" dirty="0"/>
              <a:t>by allowing 1, 2, or 64 hits under a cache miss </a:t>
            </a:r>
          </a:p>
          <a:p>
            <a:r>
              <a:rPr lang="en-US" dirty="0"/>
              <a:t>with 9 SPECINT (on the left) and 9 SPECFP (on the right) benchmarks. </a:t>
            </a:r>
          </a:p>
          <a:p>
            <a:endParaRPr lang="en-US" dirty="0"/>
          </a:p>
          <a:p>
            <a:r>
              <a:rPr lang="en-US" dirty="0"/>
              <a:t>The data memory system modeled after the Intel i7 consists of 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32KB L1 cache: </a:t>
            </a:r>
            <a:r>
              <a:rPr lang="en-US" i="0" dirty="0"/>
              <a:t>with a four cycle access latency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256 KB L2 cache (shared with instructions): with a 10 clock cycle access latency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a 2 MB L3 cache: with a 36-cycle access latency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the caches are 8-way set associative and have a 64-byte block size. </a:t>
            </a:r>
          </a:p>
          <a:p>
            <a:endParaRPr lang="en-US" dirty="0"/>
          </a:p>
          <a:p>
            <a:r>
              <a:rPr lang="en-US" dirty="0"/>
              <a:t>Allowing a </a:t>
            </a:r>
            <a:r>
              <a:rPr lang="en-US" b="1" dirty="0"/>
              <a:t>1 hit under miss</a:t>
            </a:r>
            <a:r>
              <a:rPr lang="en-US" dirty="0"/>
              <a:t> reduces the miss penalty by 9% </a:t>
            </a:r>
          </a:p>
          <a:p>
            <a:r>
              <a:rPr lang="en-US" dirty="0"/>
              <a:t>for the integer benchmarks and 12.5% for the floating point. </a:t>
            </a:r>
          </a:p>
          <a:p>
            <a:endParaRPr lang="en-US" dirty="0"/>
          </a:p>
          <a:p>
            <a:r>
              <a:rPr lang="en-US" dirty="0"/>
              <a:t>Allowing a </a:t>
            </a:r>
            <a:r>
              <a:rPr lang="en-US" b="1" dirty="0"/>
              <a:t>2 hits under miss </a:t>
            </a:r>
            <a:r>
              <a:rPr lang="en-US" dirty="0"/>
              <a:t>improves these results to 10% and 16%.</a:t>
            </a:r>
          </a:p>
          <a:p>
            <a:endParaRPr lang="en-US" dirty="0"/>
          </a:p>
          <a:p>
            <a:r>
              <a:rPr lang="en-US" dirty="0"/>
              <a:t>And allowing </a:t>
            </a:r>
            <a:r>
              <a:rPr lang="en-US" b="1" dirty="0"/>
              <a:t>64 hits under miss </a:t>
            </a:r>
            <a:r>
              <a:rPr lang="en-US" dirty="0"/>
              <a:t>results in little additional improvement.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49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prefetching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 </a:t>
            </a: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technique 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CPU predicts and fetches data into cache 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it is explicitly requested, to hide memory latency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idea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that: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block from page k is accessed,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access is likely to be from page k+1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(especially in sequential access patterns)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when a cache miss occurs,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missed block is read from memory,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hardware prefetcher will initiate a prefetch of the subsequent block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(often using a separate buffer to hold prefetched data)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06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(H&amp;P 5ed, Figure 2.10, page 92)</a:t>
            </a:r>
          </a:p>
          <a:p>
            <a:endParaRPr lang="en-US" dirty="0"/>
          </a:p>
          <a:p>
            <a:r>
              <a:rPr lang="en-US" dirty="0"/>
              <a:t>&gt;&gt; </a:t>
            </a:r>
          </a:p>
          <a:p>
            <a:r>
              <a:rPr lang="en-US" dirty="0"/>
              <a:t>This chart shows the</a:t>
            </a:r>
          </a:p>
          <a:p>
            <a:r>
              <a:rPr lang="en-US" dirty="0"/>
              <a:t>speedup due to </a:t>
            </a:r>
            <a:r>
              <a:rPr lang="en-US" b="1" dirty="0"/>
              <a:t>hardware prefetching</a:t>
            </a:r>
            <a:r>
              <a:rPr lang="en-US" dirty="0"/>
              <a:t> on Intel Pentium 4 with hardware prefetching </a:t>
            </a:r>
          </a:p>
          <a:p>
            <a:r>
              <a:rPr lang="en-US" dirty="0"/>
              <a:t>turned on for 2 of 12 SPECint2000 benchmarks and 9 of 14 SPECfp2000 benchmarks. </a:t>
            </a:r>
          </a:p>
          <a:p>
            <a:endParaRPr lang="en-US" dirty="0"/>
          </a:p>
          <a:p>
            <a:r>
              <a:rPr lang="en-US" dirty="0"/>
              <a:t>Only the programs that benefit the most from prefetching are shown; </a:t>
            </a:r>
          </a:p>
          <a:p>
            <a:r>
              <a:rPr lang="en-US" dirty="0"/>
              <a:t>prefetching speeds up the missing 15 SPEC benchmarks by less than 15% [Singhal 2004].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1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idea behind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Compiler-controlled prefetching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0" dirty="0">
                <a:latin typeface="Calibri"/>
                <a:cs typeface="Calibri"/>
              </a:rPr>
              <a:t>the</a:t>
            </a:r>
            <a:r>
              <a:rPr lang="en-US" sz="1200" i="0" spc="-75" dirty="0">
                <a:latin typeface="Calibri"/>
                <a:cs typeface="Calibri"/>
              </a:rPr>
              <a:t> </a:t>
            </a:r>
            <a:r>
              <a:rPr lang="en-US" sz="1200" i="0" spc="-9" dirty="0">
                <a:latin typeface="Calibri"/>
                <a:cs typeface="Calibri"/>
              </a:rPr>
              <a:t>compiler</a:t>
            </a:r>
            <a:r>
              <a:rPr lang="en-US" sz="1200" i="0" spc="-71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has</a:t>
            </a:r>
            <a:r>
              <a:rPr lang="en-US" sz="1200" i="0" spc="-71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a</a:t>
            </a:r>
            <a:r>
              <a:rPr lang="en-US" sz="1200" i="0" spc="-75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better</a:t>
            </a:r>
            <a:r>
              <a:rPr lang="en-US" sz="1200" i="0" spc="-71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idea</a:t>
            </a:r>
            <a:r>
              <a:rPr lang="en-US" sz="1200" i="0" spc="-75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than</a:t>
            </a:r>
            <a:r>
              <a:rPr lang="en-US" sz="1200" i="0" spc="-79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the</a:t>
            </a:r>
            <a:r>
              <a:rPr lang="en-US" sz="1200" i="0" spc="-71" dirty="0">
                <a:latin typeface="Calibri"/>
                <a:cs typeface="Calibri"/>
              </a:rPr>
              <a:t> </a:t>
            </a:r>
            <a:r>
              <a:rPr lang="en-US" sz="1200" i="0" spc="-9" dirty="0">
                <a:latin typeface="Calibri"/>
                <a:cs typeface="Calibri"/>
              </a:rPr>
              <a:t>hardware </a:t>
            </a:r>
            <a:r>
              <a:rPr lang="en-US" sz="1200" i="0" dirty="0">
                <a:latin typeface="Calibri"/>
                <a:cs typeface="Calibri"/>
              </a:rPr>
              <a:t>does</a:t>
            </a:r>
            <a:r>
              <a:rPr lang="en-US" sz="1200" i="0" spc="-88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of</a:t>
            </a:r>
            <a:r>
              <a:rPr lang="en-US" sz="1200" i="0" spc="-79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when</a:t>
            </a:r>
            <a:r>
              <a:rPr lang="en-US" sz="1200" i="0" spc="-88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blocks</a:t>
            </a:r>
            <a:r>
              <a:rPr lang="en-US" sz="1200" i="0" spc="-84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are</a:t>
            </a:r>
            <a:r>
              <a:rPr lang="en-US" sz="1200" i="0" spc="-84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being</a:t>
            </a:r>
            <a:r>
              <a:rPr lang="en-US" sz="1200" i="0" spc="-88" dirty="0">
                <a:latin typeface="Calibri"/>
                <a:cs typeface="Calibri"/>
              </a:rPr>
              <a:t> </a:t>
            </a:r>
            <a:r>
              <a:rPr lang="en-US" sz="1200" i="0" dirty="0">
                <a:latin typeface="Calibri"/>
                <a:cs typeface="Calibri"/>
              </a:rPr>
              <a:t>use</a:t>
            </a:r>
            <a:r>
              <a:rPr lang="en-US" sz="1200" i="0" spc="-88" dirty="0">
                <a:latin typeface="Calibri"/>
                <a:cs typeface="Calibri"/>
              </a:rPr>
              <a:t> </a:t>
            </a:r>
            <a:r>
              <a:rPr lang="en-US" sz="1200" i="0" spc="-9" dirty="0">
                <a:latin typeface="Calibri"/>
                <a:cs typeface="Calibri"/>
              </a:rPr>
              <a:t>sequentially.</a:t>
            </a:r>
            <a:endParaRPr lang="en-US" sz="1200" i="0" dirty="0">
              <a:latin typeface="Calibri"/>
              <a:cs typeface="Calibri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works by leveraging the compiler's static analysis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predict data access patterns more accurately than hardware alone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(particularly for sequential block usage)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CPUs include prefetching instructions in their ISA,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enables the insertion of prefetch instructions before data is required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hide memory latency.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prefetching is ineffective if it interferes with normal CPU memory operations,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the use of a nonblocking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(lockup-free)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is necessary.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prefetch request involves an invalid address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(illegal block)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(such as one that would generate a page fault or protection exception)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prefetch instruction does not generate a hardware exception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Instead, it fails silently and the program continues execution as if the prefetch request had not been issued.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45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 cache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specialized instruction cache that stores sequences of instructions,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 as traces,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their dynamic execution order rather than their static memory layout.</a:t>
            </a:r>
          </a:p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48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reduce the time for cache hits,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the cache design simple and small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this minimizes the critical path through the hardware and speeds up hit detection.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Additionally, employing a low associativity (e.g., direct-mapped) cache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simplifies the tag comparison logic, further decreasing hit time.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instruction scheduling,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leveraging L2 and L3 caches can improve performance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handling misses from L1.</a:t>
            </a: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4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Reducing cache hit time can be achieved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 using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addresses for indexing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avoids the need for address translation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cache access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(See overlap access on VM slides for more details.)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US" b="0" dirty="0"/>
          </a:p>
          <a:p>
            <a:r>
              <a:rPr lang="en-US" b="0" i="1" dirty="0"/>
              <a:t>(arrow down)</a:t>
            </a:r>
          </a:p>
          <a:p>
            <a:r>
              <a:rPr lang="en-US" b="0" u="sng" dirty="0"/>
              <a:t>For example:</a:t>
            </a:r>
          </a:p>
          <a:p>
            <a:r>
              <a:rPr lang="en-US" b="0" u="none" dirty="0"/>
              <a:t>Page size: 4KB (2^12 bytes)</a:t>
            </a:r>
          </a:p>
          <a:p>
            <a:r>
              <a:rPr lang="en-US" b="0" u="none" dirty="0"/>
              <a:t>Page offset: 12-bits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page number 0 maps to Physical frame number 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offset 0x000 (from 0x00) is added to the start of the frame: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(0x5 &lt;&lt; 12) + 0x000 = 0x5000</a:t>
            </a:r>
          </a:p>
          <a:p>
            <a:endParaRPr lang="en-US" b="0" dirty="0"/>
          </a:p>
          <a:p>
            <a:r>
              <a:rPr lang="en-US" sz="1200" b="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Optional: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(Using a virtually addressed cache avoids the need for address translation during indexing, which can reduce hit time.)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343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instructions can use virtual addresses for both indexing and tagging in a cache,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can be saved by allowing the cache lookup to begin before address translation is complete.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b="1" dirty="0"/>
              <a:t>Q. </a:t>
            </a:r>
            <a:r>
              <a:rPr lang="en-US" sz="1200" dirty="0">
                <a:latin typeface="Calibri"/>
                <a:cs typeface="Calibri"/>
              </a:rPr>
              <a:t>What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happens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when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one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copy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-4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modified?</a:t>
            </a:r>
            <a:endParaRPr lang="en-US" dirty="0"/>
          </a:p>
          <a:p>
            <a:r>
              <a:rPr lang="en-US" b="1" dirty="0"/>
              <a:t>A.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one copy is modified,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other copy remains unchanged,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 to data inconsistency and potential corruption,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update is not reflected in the other cache entry.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87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Pipelined cache access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for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 clock cycle times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breaking the cache access into multiple stages,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a new access to begin each cycle even if previous accesses are still in progress.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this comes at the cost of increased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 latency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L1 cache hit now spans multiple clock cycles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being completed in a single cycle.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results in more clock cycles between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load instruction and the availability of its data,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potentially increasing the number of pipeline stalls.</a:t>
            </a:r>
          </a:p>
          <a:p>
            <a:endParaRPr lang="en-US" b="0" dirty="0"/>
          </a:p>
          <a:p>
            <a:r>
              <a:rPr lang="en-US" b="0" dirty="0"/>
              <a:t>Examples: … </a:t>
            </a:r>
            <a:r>
              <a:rPr lang="en-US" b="0" i="1" dirty="0"/>
              <a:t>(# of cycles grows over time)</a:t>
            </a:r>
          </a:p>
          <a:p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All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modern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processors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use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b="1" spc="-9" dirty="0">
                <a:latin typeface="Calibri"/>
                <a:cs typeface="Calibri"/>
              </a:rPr>
              <a:t>pipelined cache access</a:t>
            </a:r>
            <a:r>
              <a:rPr lang="en-US" sz="1200" b="1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for</a:t>
            </a:r>
            <a:r>
              <a:rPr lang="en-US" sz="1200" spc="-62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L1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spc="-9" dirty="0">
                <a:latin typeface="Calibri"/>
                <a:cs typeface="Calibri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 the access latency is typically 4-7 cycles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depending on the processor and data type</a:t>
            </a:r>
            <a:r>
              <a:rPr lang="en-US" sz="1200" b="0" i="1" spc="-9" dirty="0">
                <a:latin typeface="Calibri"/>
                <a:cs typeface="Calibri"/>
              </a:rPr>
              <a:t>)</a:t>
            </a:r>
            <a:endParaRPr lang="en-US" sz="1200" b="0" i="1" dirty="0">
              <a:latin typeface="Calibri"/>
              <a:cs typeface="Calibri"/>
            </a:endParaRP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759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multi-bank cache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can help overcome the limitations of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cache access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bank 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layout,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one memory access per cycle is allowed,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limiting its ability to handle multiple concurrent memory requests,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(which can become a bottleneck in high-performance processors.)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multi-bank cache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 designed to support multiple memory reference instructions per cycle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 superscalar processors)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dividing the cache into several independent banks,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capable of handling separate accesses simultaneously.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</a:t>
            </a:r>
            <a:r>
              <a:rPr lang="en-US" sz="1200" dirty="0">
                <a:latin typeface="Calibri"/>
                <a:cs typeface="Calibri"/>
              </a:rPr>
              <a:t>Intel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Core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i7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has</a:t>
            </a:r>
            <a:r>
              <a:rPr lang="en-US" sz="1200" spc="-4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4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banks</a:t>
            </a:r>
            <a:r>
              <a:rPr lang="en-US" sz="1200" spc="-4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L1</a:t>
            </a:r>
            <a:endParaRPr lang="en-US" sz="1200" dirty="0">
              <a:latin typeface="Calibri"/>
              <a:cs typeface="Calibri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 addresses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mapped to specific banks (via sequential interleaving),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 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bank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determined by the block address modulo the number of banks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</a:t>
            </a:r>
            <a:r>
              <a:rPr lang="en-US" sz="1200" spc="-9" dirty="0">
                <a:latin typeface="Calibri"/>
                <a:cs typeface="Calibri"/>
              </a:rPr>
              <a:t>multiple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banks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L2?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spc="-22" dirty="0">
                <a:solidFill>
                  <a:schemeClr val="tx1"/>
                </a:solidFill>
                <a:effectLst/>
                <a:latin typeface="Calibri"/>
                <a:ea typeface="+mn-ea"/>
                <a:cs typeface="Calibri"/>
              </a:rPr>
              <a:t>A. 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 of multiple banks in L2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enable the system to handle multiple outstanding L1 misses effectively.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(as long as the misses are directed to different banks)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33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reads fast, modern systems rely heavily on caching.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read request is made, the system checks the cache first.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data is found in the cache (a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hit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be pulled directly into a register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soon as the address matches the tag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If</a:t>
            </a:r>
            <a:r>
              <a:rPr lang="en-US" sz="1200" spc="-35" dirty="0">
                <a:latin typeface="Calibri"/>
                <a:cs typeface="Calibri"/>
              </a:rPr>
              <a:t> a </a:t>
            </a:r>
            <a:r>
              <a:rPr lang="en-US" sz="1200" u="sng" dirty="0">
                <a:latin typeface="Calibri"/>
                <a:cs typeface="Calibri"/>
              </a:rPr>
              <a:t>cache</a:t>
            </a:r>
            <a:r>
              <a:rPr lang="en-US" sz="1200" u="sng" spc="-35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miss</a:t>
            </a:r>
            <a:r>
              <a:rPr lang="en-US" sz="1200" dirty="0">
                <a:latin typeface="Calibri"/>
                <a:cs typeface="Calibri"/>
              </a:rPr>
              <a:t> occurs,</a:t>
            </a:r>
            <a:r>
              <a:rPr lang="en-US" sz="1200" spc="-35" dirty="0">
                <a:latin typeface="Calibri"/>
                <a:cs typeface="Calibr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data</a:t>
            </a:r>
            <a:r>
              <a:rPr lang="en-US" sz="1200" spc="-40" dirty="0">
                <a:latin typeface="Calibri"/>
                <a:cs typeface="Calibri"/>
              </a:rPr>
              <a:t> must be loaded </a:t>
            </a:r>
            <a:r>
              <a:rPr lang="en-US" sz="1200" dirty="0">
                <a:latin typeface="Calibri"/>
                <a:cs typeface="Calibri"/>
              </a:rPr>
              <a:t>from</a:t>
            </a:r>
            <a:r>
              <a:rPr lang="en-US" sz="1200" spc="-49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lower-</a:t>
            </a:r>
            <a:r>
              <a:rPr lang="en-US" sz="1200" spc="-9" dirty="0">
                <a:latin typeface="Calibri"/>
                <a:cs typeface="Calibri"/>
              </a:rPr>
              <a:t>level memory</a:t>
            </a:r>
            <a:r>
              <a:rPr lang="en-US" sz="1200" spc="-53" dirty="0">
                <a:latin typeface="Calibri"/>
                <a:cs typeface="Calibri"/>
              </a:rPr>
              <a:t> in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-5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cache,</a:t>
            </a:r>
            <a:r>
              <a:rPr lang="en-US" sz="1200" spc="-44" dirty="0">
                <a:latin typeface="Calibri"/>
                <a:cs typeface="Calibr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then</a:t>
            </a:r>
            <a:r>
              <a:rPr lang="en-US" sz="1200" spc="-53" dirty="0">
                <a:latin typeface="Calibri"/>
                <a:cs typeface="Calibri"/>
              </a:rPr>
              <a:t> again </a:t>
            </a:r>
            <a:r>
              <a:rPr lang="en-US" sz="1200" dirty="0">
                <a:latin typeface="Calibri"/>
                <a:cs typeface="Calibri"/>
              </a:rPr>
              <a:t>into</a:t>
            </a:r>
            <a:r>
              <a:rPr lang="en-US" sz="1200" spc="-49" dirty="0">
                <a:latin typeface="Calibri"/>
                <a:cs typeface="Calibri"/>
              </a:rPr>
              <a:t> a </a:t>
            </a:r>
            <a:r>
              <a:rPr lang="en-US" sz="1200" spc="-9" dirty="0">
                <a:latin typeface="Calibri"/>
                <a:cs typeface="Calibri"/>
              </a:rPr>
              <a:t>register.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write operations are more complex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they require ensuring data consistency.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write must verify the address before modifying the cache.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(especially when using write-back policies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cache line is marked as "dirty"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must eventually be written back to main memory.)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53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buffer in a write-through cache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acts as an intermediary between the cache and main memory,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storing data awaiting write to the next level of the memory hierarchy.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write-through L1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write buffer serves to absorb processor writes at a rate faster than the next-level cache can handle,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preventing processor stalls.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primary purpose is to aggregate multiple writes targeting the same cache block,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combining consecutive writes into a single buffer entry.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(Go over Q. &amp; A.)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Are</a:t>
            </a:r>
            <a:r>
              <a:rPr lang="en-US" sz="1200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Read</a:t>
            </a:r>
            <a:r>
              <a:rPr lang="en-US" sz="1200" spc="-9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After</a:t>
            </a:r>
            <a:r>
              <a:rPr lang="en-US" sz="12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18" dirty="0">
                <a:solidFill>
                  <a:srgbClr val="053DE8"/>
                </a:solidFill>
                <a:latin typeface="Calibri"/>
                <a:cs typeface="Calibri"/>
              </a:rPr>
              <a:t>Write (RAW)</a:t>
            </a:r>
            <a:r>
              <a:rPr lang="en-US" sz="12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18" dirty="0">
                <a:solidFill>
                  <a:srgbClr val="053DE8"/>
                </a:solidFill>
                <a:latin typeface="Calibri"/>
                <a:cs typeface="Calibri"/>
              </a:rPr>
              <a:t>hazards</a:t>
            </a:r>
            <a:r>
              <a:rPr lang="en-US" sz="12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an</a:t>
            </a:r>
            <a:r>
              <a:rPr lang="en-US" sz="1200" spc="-7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issue</a:t>
            </a:r>
            <a:r>
              <a:rPr lang="en-US" sz="1200" spc="-7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22" dirty="0">
                <a:solidFill>
                  <a:srgbClr val="053DE8"/>
                </a:solidFill>
                <a:latin typeface="Calibri"/>
                <a:cs typeface="Calibri"/>
              </a:rPr>
              <a:t>for </a:t>
            </a:r>
            <a:r>
              <a:rPr lang="en-US" sz="1200" dirty="0">
                <a:solidFill>
                  <a:srgbClr val="053DE8"/>
                </a:solidFill>
                <a:latin typeface="Calibri"/>
                <a:cs typeface="Calibri"/>
              </a:rPr>
              <a:t>write</a:t>
            </a:r>
            <a:r>
              <a:rPr lang="en-US" sz="1200" spc="-12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lang="en-US" sz="1200" spc="-9" dirty="0">
                <a:solidFill>
                  <a:srgbClr val="053DE8"/>
                </a:solidFill>
                <a:latin typeface="Calibri"/>
                <a:cs typeface="Calibri"/>
              </a:rPr>
              <a:t>buffer?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Yes! To handle this, two primary strategies exist: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 drain the entire write buffer before servicing a read miss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(can degrade performance)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check the write buffer contents after checking the cache before proceeding with a read miss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64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u="sng" dirty="0"/>
              <a:t>If there’s an empty entry,</a:t>
            </a:r>
            <a:r>
              <a:rPr lang="en-US" dirty="0"/>
              <a:t> </a:t>
            </a:r>
          </a:p>
          <a:p>
            <a:r>
              <a:rPr lang="en-US" dirty="0"/>
              <a:t>the data and address are written to the buffer, </a:t>
            </a:r>
          </a:p>
          <a:p>
            <a:r>
              <a:rPr lang="en-US" i="1" dirty="0"/>
              <a:t>(and the CPU is done with the write.)</a:t>
            </a:r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u="sng" dirty="0"/>
              <a:t>If buffer contains other modified blocks,</a:t>
            </a:r>
            <a:r>
              <a:rPr lang="en-US" dirty="0"/>
              <a:t> </a:t>
            </a:r>
          </a:p>
          <a:p>
            <a:r>
              <a:rPr lang="en-US" dirty="0"/>
              <a:t>check to see if new address matches one already in the buffer.</a:t>
            </a:r>
          </a:p>
          <a:p>
            <a:r>
              <a:rPr lang="en-US" dirty="0"/>
              <a:t>If so, combine the new data with that entry.</a:t>
            </a:r>
          </a:p>
          <a:p>
            <a:endParaRPr lang="en-US" dirty="0"/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  <a:endParaRPr lang="en-US" dirty="0"/>
          </a:p>
          <a:p>
            <a:r>
              <a:rPr lang="en-US" u="sng" dirty="0"/>
              <a:t>If buffer full and no address match,</a:t>
            </a:r>
            <a:r>
              <a:rPr lang="en-US" dirty="0"/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cache and CPU must stall until an entry becomes available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data is written back to main memory.</a:t>
            </a:r>
            <a:endParaRPr lang="en-US" b="0" dirty="0"/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48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(H&amp;P 6ed, Figure 2.7, page 88)</a:t>
            </a:r>
          </a:p>
          <a:p>
            <a:endParaRPr lang="en-US" dirty="0"/>
          </a:p>
          <a:p>
            <a:r>
              <a:rPr lang="en-US" dirty="0"/>
              <a:t>&gt;&gt;</a:t>
            </a:r>
          </a:p>
          <a:p>
            <a:r>
              <a:rPr lang="en-US" u="sng" dirty="0"/>
              <a:t>In this figure,</a:t>
            </a:r>
          </a:p>
          <a:p>
            <a:r>
              <a:rPr lang="en-US" dirty="0"/>
              <a:t>the write buffer on top does not use </a:t>
            </a:r>
            <a:r>
              <a:rPr lang="en-US" b="1" dirty="0"/>
              <a:t>write merging</a:t>
            </a:r>
          </a:p>
          <a:p>
            <a:r>
              <a:rPr lang="en-US" dirty="0"/>
              <a:t>while the write buffer on the bottom does.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buffer has four entries,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each entry holds four 64-bit words. </a:t>
            </a:r>
          </a:p>
          <a:p>
            <a:endParaRPr lang="en-US" dirty="0"/>
          </a:p>
          <a:p>
            <a:r>
              <a:rPr lang="en-US" dirty="0"/>
              <a:t>The address for each entry is on the left, </a:t>
            </a:r>
          </a:p>
          <a:p>
            <a:r>
              <a:rPr lang="en-US" dirty="0"/>
              <a:t>with a valid bit (V) indicating whether the </a:t>
            </a:r>
          </a:p>
          <a:p>
            <a:r>
              <a:rPr lang="en-US" dirty="0"/>
              <a:t>next sequential 8 bytes in this entry are occupied. </a:t>
            </a:r>
          </a:p>
          <a:p>
            <a:endParaRPr lang="en-US" dirty="0"/>
          </a:p>
          <a:p>
            <a:r>
              <a:rPr lang="en-US" dirty="0"/>
              <a:t>Four 64-bit (8 byte) writes can be merged into a single buffer entry with </a:t>
            </a:r>
            <a:r>
              <a:rPr lang="en-US" b="1" dirty="0"/>
              <a:t>write merging</a:t>
            </a:r>
            <a:r>
              <a:rPr lang="en-US" b="0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u="sng" dirty="0"/>
              <a:t>Without write merging</a:t>
            </a:r>
            <a:r>
              <a:rPr lang="en-US" dirty="0"/>
              <a:t>, </a:t>
            </a:r>
          </a:p>
          <a:p>
            <a:r>
              <a:rPr lang="en-US" dirty="0"/>
              <a:t>the buffer is full even though 3/4 of each entry is wasted.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78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8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first compiler optimization technique is </a:t>
            </a:r>
            <a:r>
              <a:rPr lang="en-US" b="1" dirty="0"/>
              <a:t>merging arrays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Merging arrays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improves spatial locality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combining two separate arrays into a single array of structures,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ensuring that related data elements are accessed together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(and reducing cache misses).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765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9" dirty="0">
                <a:latin typeface="Calibri"/>
                <a:cs typeface="Calibri"/>
              </a:rPr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9" dirty="0">
                <a:latin typeface="Calibri"/>
                <a:cs typeface="Calibri"/>
              </a:rPr>
              <a:t>Assume</a:t>
            </a:r>
            <a:r>
              <a:rPr lang="en-US" sz="1200" spc="-71" dirty="0">
                <a:latin typeface="Calibri"/>
                <a:cs typeface="Calibri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cache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block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size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64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and the arrays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would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be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stored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as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18" dirty="0">
                <a:latin typeface="Calibri"/>
                <a:cs typeface="Calibri"/>
              </a:rPr>
              <a:t>follows</a:t>
            </a:r>
            <a:r>
              <a:rPr lang="en-US" sz="1200" spc="-9" dirty="0">
                <a:latin typeface="Calibri"/>
                <a:cs typeface="Calibri"/>
              </a:rPr>
              <a:t>.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First block stores</a:t>
            </a:r>
          </a:p>
          <a:p>
            <a:r>
              <a:rPr lang="en-US" dirty="0" err="1"/>
              <a:t>val</a:t>
            </a:r>
            <a:r>
              <a:rPr lang="en-US" dirty="0"/>
              <a:t>[0] through </a:t>
            </a:r>
            <a:r>
              <a:rPr lang="en-US" dirty="0" err="1"/>
              <a:t>val</a:t>
            </a:r>
            <a:r>
              <a:rPr lang="en-US" dirty="0"/>
              <a:t>[63]</a:t>
            </a:r>
          </a:p>
          <a:p>
            <a:endParaRPr lang="en-US" dirty="0"/>
          </a:p>
          <a:p>
            <a:r>
              <a:rPr lang="en-US" dirty="0"/>
              <a:t>Second block stores</a:t>
            </a:r>
          </a:p>
          <a:p>
            <a:r>
              <a:rPr lang="en-US" dirty="0" err="1"/>
              <a:t>val</a:t>
            </a:r>
            <a:r>
              <a:rPr lang="en-US" dirty="0"/>
              <a:t>[64 through </a:t>
            </a:r>
            <a:r>
              <a:rPr lang="en-US" dirty="0" err="1"/>
              <a:t>val</a:t>
            </a:r>
            <a:r>
              <a:rPr lang="en-US" dirty="0"/>
              <a:t>[127]</a:t>
            </a:r>
          </a:p>
          <a:p>
            <a:endParaRPr lang="en-US" dirty="0"/>
          </a:p>
          <a:p>
            <a:r>
              <a:rPr lang="en-US" dirty="0"/>
              <a:t>And so on until </a:t>
            </a:r>
            <a:r>
              <a:rPr lang="en-US" dirty="0" err="1"/>
              <a:t>val</a:t>
            </a:r>
            <a:r>
              <a:rPr lang="en-US" dirty="0"/>
              <a:t>[size-1] is reached</a:t>
            </a:r>
          </a:p>
          <a:p>
            <a:r>
              <a:rPr lang="en-US" dirty="0"/>
              <a:t>Followed by the elements of key 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033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9" dirty="0">
                <a:latin typeface="Calibri"/>
                <a:cs typeface="Calibri"/>
              </a:rPr>
              <a:t>This means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that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at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least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2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blocks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must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cache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begin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using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57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arrays.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691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However, if we merge the arrays,</a:t>
            </a:r>
          </a:p>
          <a:p>
            <a:r>
              <a:rPr lang="en-US" dirty="0"/>
              <a:t>then only one block needs to be in cache begin use.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9" dirty="0">
                <a:latin typeface="Calibri"/>
                <a:cs typeface="Calibri"/>
              </a:rPr>
              <a:t>This is </a:t>
            </a:r>
            <a:r>
              <a:rPr lang="en-US" sz="1200" u="sng" spc="-9" dirty="0">
                <a:latin typeface="Calibri"/>
                <a:cs typeface="Calibri"/>
              </a:rPr>
              <a:t>more</a:t>
            </a:r>
            <a:r>
              <a:rPr lang="en-US" sz="1200" u="sng" spc="-75" dirty="0">
                <a:latin typeface="Calibri"/>
                <a:cs typeface="Calibri"/>
              </a:rPr>
              <a:t> </a:t>
            </a:r>
            <a:r>
              <a:rPr lang="en-US" sz="1200" u="sng" spc="-18" dirty="0">
                <a:latin typeface="Calibri"/>
                <a:cs typeface="Calibri"/>
              </a:rPr>
              <a:t>efficient</a:t>
            </a:r>
            <a:r>
              <a:rPr lang="en-US" sz="1200" spc="-18" dirty="0">
                <a:latin typeface="Calibri"/>
                <a:cs typeface="Calibri"/>
              </a:rPr>
              <a:t>,</a:t>
            </a:r>
            <a:r>
              <a:rPr lang="en-US" sz="1200" spc="-66" dirty="0">
                <a:latin typeface="Calibri"/>
                <a:cs typeface="Calibr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9" dirty="0">
                <a:latin typeface="Calibri"/>
                <a:cs typeface="Calibri"/>
              </a:rPr>
              <a:t>especially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if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more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than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two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26" dirty="0">
                <a:latin typeface="Calibri"/>
                <a:cs typeface="Calibri"/>
              </a:rPr>
              <a:t>arrays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are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coupled </a:t>
            </a:r>
            <a:r>
              <a:rPr lang="en-US" sz="1200" dirty="0">
                <a:latin typeface="Calibri"/>
                <a:cs typeface="Calibri"/>
              </a:rPr>
              <a:t>this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62" dirty="0">
                <a:latin typeface="Calibri"/>
                <a:cs typeface="Calibri"/>
              </a:rPr>
              <a:t>way</a:t>
            </a:r>
            <a:r>
              <a:rPr lang="en-US" sz="1200" spc="-9" dirty="0"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733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second compiler optimization technique is </a:t>
            </a:r>
            <a:r>
              <a:rPr lang="en-US" b="1" dirty="0"/>
              <a:t>loop interchange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interchange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 reordering nested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that data can be accessed in the same sequence as it is stored in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(minimizing striding and enhancing spatial locality by enabling sequential memory access.)</a:t>
            </a:r>
          </a:p>
          <a:p>
            <a:endParaRPr lang="en-US" dirty="0"/>
          </a:p>
          <a:p>
            <a:r>
              <a:rPr lang="en-US" i="1" dirty="0"/>
              <a:t>(Go over the example.)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992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4483">
              <a:spcBef>
                <a:spcPts val="88"/>
              </a:spcBef>
            </a:pPr>
            <a:r>
              <a:rPr lang="en-US" sz="1200" dirty="0"/>
              <a:t>&gt;&gt;</a:t>
            </a:r>
          </a:p>
          <a:p>
            <a:pPr marR="4483">
              <a:spcBef>
                <a:spcPts val="88"/>
              </a:spcBef>
            </a:pPr>
            <a:r>
              <a:rPr lang="en-US" sz="1200" dirty="0"/>
              <a:t>Notice</a:t>
            </a:r>
            <a:r>
              <a:rPr lang="en-US" sz="1200" spc="-79" dirty="0"/>
              <a:t> </a:t>
            </a:r>
            <a:r>
              <a:rPr lang="en-US" sz="1200" dirty="0"/>
              <a:t>that</a:t>
            </a:r>
            <a:r>
              <a:rPr lang="en-US" sz="1200" spc="-84" dirty="0"/>
              <a:t> </a:t>
            </a:r>
            <a:r>
              <a:rPr lang="en-US" sz="1200" spc="-9" dirty="0"/>
              <a:t>accesses</a:t>
            </a:r>
            <a:r>
              <a:rPr lang="en-US" sz="1200" spc="-84" dirty="0"/>
              <a:t> </a:t>
            </a:r>
            <a:r>
              <a:rPr lang="en-US" sz="1200" dirty="0"/>
              <a:t>are</a:t>
            </a:r>
            <a:r>
              <a:rPr lang="en-US" sz="1200" spc="-79" dirty="0"/>
              <a:t> </a:t>
            </a:r>
            <a:r>
              <a:rPr lang="en-US" sz="1200" dirty="0"/>
              <a:t>by</a:t>
            </a:r>
            <a:r>
              <a:rPr lang="en-US" sz="1200" spc="-84" dirty="0"/>
              <a:t> </a:t>
            </a:r>
            <a:r>
              <a:rPr lang="en-US" sz="1200" spc="-9" dirty="0"/>
              <a:t>columns,</a:t>
            </a:r>
            <a:r>
              <a:rPr lang="en-US" sz="1200" spc="-75" dirty="0"/>
              <a:t> </a:t>
            </a:r>
          </a:p>
          <a:p>
            <a:pPr marR="4483">
              <a:spcBef>
                <a:spcPts val="88"/>
              </a:spcBef>
            </a:pPr>
            <a:r>
              <a:rPr lang="en-US" sz="1200" dirty="0"/>
              <a:t>This means</a:t>
            </a:r>
            <a:r>
              <a:rPr lang="en-US" sz="1200" spc="-88" dirty="0"/>
              <a:t> </a:t>
            </a:r>
            <a:r>
              <a:rPr lang="en-US" sz="1200" dirty="0"/>
              <a:t>the</a:t>
            </a:r>
            <a:r>
              <a:rPr lang="en-US" sz="1200" spc="-79" dirty="0"/>
              <a:t> </a:t>
            </a:r>
            <a:r>
              <a:rPr lang="en-US" sz="1200" spc="-9" dirty="0"/>
              <a:t>elements</a:t>
            </a:r>
            <a:r>
              <a:rPr lang="en-US" sz="1200" spc="-84" dirty="0"/>
              <a:t> </a:t>
            </a:r>
            <a:r>
              <a:rPr lang="en-US" sz="1200" spc="-22" dirty="0"/>
              <a:t>are </a:t>
            </a:r>
            <a:r>
              <a:rPr lang="en-US" sz="1200" spc="-9" dirty="0"/>
              <a:t>spaced</a:t>
            </a:r>
            <a:r>
              <a:rPr lang="en-US" sz="1200" spc="-71" dirty="0"/>
              <a:t> </a:t>
            </a:r>
            <a:r>
              <a:rPr lang="en-US" sz="1200" dirty="0"/>
              <a:t>100</a:t>
            </a:r>
            <a:r>
              <a:rPr lang="en-US" sz="1200" spc="-75" dirty="0"/>
              <a:t> </a:t>
            </a:r>
            <a:r>
              <a:rPr lang="en-US" sz="1200" spc="-18" dirty="0"/>
              <a:t>words</a:t>
            </a:r>
            <a:r>
              <a:rPr lang="en-US" sz="1200" spc="-71" dirty="0"/>
              <a:t> </a:t>
            </a:r>
            <a:r>
              <a:rPr lang="en-US" sz="1200" spc="-9" dirty="0"/>
              <a:t>apart,</a:t>
            </a:r>
          </a:p>
          <a:p>
            <a:pPr marR="4483">
              <a:spcBef>
                <a:spcPts val="88"/>
              </a:spcBef>
            </a:pPr>
            <a:r>
              <a:rPr lang="en-US" sz="1200" spc="-9" dirty="0"/>
              <a:t>which is larger than the cache block size.</a:t>
            </a:r>
          </a:p>
          <a:p>
            <a:pPr marR="4483">
              <a:spcBef>
                <a:spcPts val="88"/>
              </a:spcBef>
            </a:pPr>
            <a:endParaRPr lang="en-US" sz="1200" spc="-9" dirty="0"/>
          </a:p>
          <a:p>
            <a:pPr marR="4483">
              <a:spcBef>
                <a:spcPts val="88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access pattern, characterized by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striding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across multiple cache blocks, </a:t>
            </a:r>
          </a:p>
          <a:p>
            <a:pPr marR="4483">
              <a:spcBef>
                <a:spcPts val="88"/>
              </a:spcBef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lead to frequent cache misses due to poor spatial and temporal locality.</a:t>
            </a:r>
          </a:p>
          <a:p>
            <a:pPr marR="4483">
              <a:spcBef>
                <a:spcPts val="88"/>
              </a:spcBef>
            </a:pPr>
            <a:endParaRPr lang="en-US" sz="1200" spc="-9" dirty="0"/>
          </a:p>
          <a:p>
            <a:pPr marR="4483">
              <a:spcBef>
                <a:spcPts val="88"/>
              </a:spcBef>
            </a:pPr>
            <a:r>
              <a:rPr lang="en-US" sz="1200" i="1" u="sng" spc="-9" dirty="0"/>
              <a:t>Optional:</a:t>
            </a:r>
          </a:p>
          <a:p>
            <a:pPr marR="4483">
              <a:spcBef>
                <a:spcPts val="88"/>
              </a:spcBef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direct-mapped or low-associativity caches, </a:t>
            </a:r>
          </a:p>
          <a:p>
            <a:pPr marR="4483">
              <a:spcBef>
                <a:spcPts val="88"/>
              </a:spcBef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striding can cause multiple memory blocks to map to the same cache set, </a:t>
            </a:r>
          </a:p>
          <a:p>
            <a:pPr marR="4483">
              <a:spcBef>
                <a:spcPts val="88"/>
              </a:spcBef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leading to repeated evictions and reloads of cache lines</a:t>
            </a:r>
          </a:p>
          <a:p>
            <a:pPr marR="4483">
              <a:spcBef>
                <a:spcPts val="88"/>
              </a:spcBef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phenomenon known as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thrashing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R="4483">
              <a:spcBef>
                <a:spcPts val="88"/>
              </a:spcBef>
            </a:pPr>
            <a:endParaRPr lang="en-US" sz="1200" spc="-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93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542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dirty="0">
                <a:latin typeface="Calibri"/>
                <a:cs typeface="Calibri"/>
              </a:rPr>
              <a:t>This</a:t>
            </a:r>
            <a:r>
              <a:rPr lang="en-US" sz="1200" spc="-71" dirty="0">
                <a:latin typeface="Calibri"/>
                <a:cs typeface="Calibri"/>
              </a:rPr>
              <a:t> re</a:t>
            </a:r>
            <a:r>
              <a:rPr lang="en-US" sz="1200" spc="-9" dirty="0">
                <a:latin typeface="Calibri"/>
                <a:cs typeface="Calibri"/>
              </a:rPr>
              <a:t>ordering allows every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element</a:t>
            </a:r>
            <a:r>
              <a:rPr lang="en-US" sz="1200" spc="-7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in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cache</a:t>
            </a:r>
            <a:r>
              <a:rPr lang="en-US" sz="1200" spc="-66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block to be used </a:t>
            </a:r>
            <a:r>
              <a:rPr lang="en-US" sz="1200" spc="-22" dirty="0">
                <a:latin typeface="Calibri"/>
                <a:cs typeface="Calibri"/>
              </a:rPr>
              <a:t>before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needing</a:t>
            </a:r>
            <a:r>
              <a:rPr lang="en-US" sz="1200" spc="-79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another</a:t>
            </a:r>
            <a:r>
              <a:rPr lang="en-US" sz="1200" spc="-71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block!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451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third </a:t>
            </a:r>
            <a:r>
              <a:rPr lang="en-US" dirty="0"/>
              <a:t>compiler optimization technique is </a:t>
            </a:r>
            <a:r>
              <a:rPr lang="en-US" b="1" dirty="0"/>
              <a:t>loop fusion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fusion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combines multiple independent loops that operate on the same data,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(increasing temporal locality by bringing data accesses closer together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allowing for more reuse within the cache.)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520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/>
                <a:cs typeface="Times New Roman"/>
              </a:rPr>
              <a:t>And</a:t>
            </a:r>
            <a:r>
              <a:rPr lang="en-US" sz="1200" spc="-62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note</a:t>
            </a:r>
            <a:r>
              <a:rPr lang="en-US" sz="1200" spc="-66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that</a:t>
            </a:r>
            <a:r>
              <a:rPr lang="en-US" sz="1200" spc="-62" dirty="0">
                <a:latin typeface="Times New Roman"/>
                <a:cs typeface="Times New Roman"/>
              </a:rPr>
              <a:t> </a:t>
            </a:r>
            <a:r>
              <a:rPr lang="en-US" sz="1200" spc="-22" dirty="0">
                <a:latin typeface="Times New Roman"/>
                <a:cs typeface="Times New Roman"/>
              </a:rPr>
              <a:t>the </a:t>
            </a:r>
            <a:r>
              <a:rPr lang="en-US" sz="1200" spc="-9" dirty="0">
                <a:latin typeface="Times New Roman"/>
                <a:cs typeface="Times New Roman"/>
              </a:rPr>
              <a:t>array </a:t>
            </a:r>
            <a:r>
              <a:rPr lang="en-US" sz="1200" spc="-44" dirty="0">
                <a:latin typeface="Times New Roman"/>
                <a:cs typeface="Times New Roman"/>
              </a:rPr>
              <a:t>x </a:t>
            </a:r>
            <a:r>
              <a:rPr lang="en-US" sz="1200" dirty="0">
                <a:latin typeface="Times New Roman"/>
                <a:cs typeface="Times New Roman"/>
              </a:rPr>
              <a:t>is</a:t>
            </a:r>
            <a:r>
              <a:rPr lang="en-US" sz="1200" spc="-49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used</a:t>
            </a:r>
            <a:r>
              <a:rPr lang="en-US" sz="1200" spc="-53" dirty="0">
                <a:latin typeface="Times New Roman"/>
                <a:cs typeface="Times New Roman"/>
              </a:rPr>
              <a:t> </a:t>
            </a:r>
            <a:r>
              <a:rPr lang="en-US" sz="1200" spc="-22" dirty="0">
                <a:latin typeface="Times New Roman"/>
                <a:cs typeface="Times New Roman"/>
              </a:rPr>
              <a:t>in </a:t>
            </a:r>
            <a:r>
              <a:rPr lang="en-US" sz="1200" dirty="0">
                <a:latin typeface="Times New Roman"/>
                <a:cs typeface="Times New Roman"/>
              </a:rPr>
              <a:t>each loop,</a:t>
            </a:r>
            <a:r>
              <a:rPr lang="en-US" sz="1200" spc="-53" dirty="0">
                <a:latin typeface="Times New Roman"/>
                <a:cs typeface="Times New Roman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/>
                <a:cs typeface="Times New Roman"/>
              </a:rPr>
              <a:t>but</a:t>
            </a:r>
            <a:r>
              <a:rPr lang="en-US" sz="1200" spc="-57" dirty="0">
                <a:latin typeface="Times New Roman"/>
                <a:cs typeface="Times New Roman"/>
              </a:rPr>
              <a:t> </a:t>
            </a:r>
            <a:r>
              <a:rPr lang="en-US" sz="1200" spc="-9" dirty="0">
                <a:latin typeface="Times New Roman"/>
                <a:cs typeface="Times New Roman"/>
              </a:rPr>
              <a:t>may </a:t>
            </a:r>
            <a:r>
              <a:rPr lang="en-US" sz="1200" dirty="0">
                <a:latin typeface="Times New Roman"/>
                <a:cs typeface="Times New Roman"/>
              </a:rPr>
              <a:t>need</a:t>
            </a:r>
            <a:r>
              <a:rPr lang="en-US" sz="1200" spc="-62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to</a:t>
            </a:r>
            <a:r>
              <a:rPr lang="en-US" sz="1200" spc="-66" dirty="0">
                <a:latin typeface="Times New Roman"/>
                <a:cs typeface="Times New Roman"/>
              </a:rPr>
              <a:t> </a:t>
            </a:r>
            <a:r>
              <a:rPr lang="en-US" sz="1200" spc="-22" dirty="0">
                <a:latin typeface="Times New Roman"/>
                <a:cs typeface="Times New Roman"/>
              </a:rPr>
              <a:t>be </a:t>
            </a:r>
            <a:r>
              <a:rPr lang="en-US" sz="1200" dirty="0">
                <a:latin typeface="Times New Roman"/>
                <a:cs typeface="Times New Roman"/>
              </a:rPr>
              <a:t>loaded</a:t>
            </a:r>
            <a:r>
              <a:rPr lang="en-US" sz="1200" spc="-75" dirty="0">
                <a:latin typeface="Times New Roman"/>
                <a:cs typeface="Times New Roman"/>
              </a:rPr>
              <a:t> </a:t>
            </a:r>
            <a:r>
              <a:rPr lang="en-US" sz="1200" dirty="0">
                <a:latin typeface="Times New Roman"/>
                <a:cs typeface="Times New Roman"/>
              </a:rPr>
              <a:t>into</a:t>
            </a:r>
            <a:r>
              <a:rPr lang="en-US" sz="1200" spc="-75" dirty="0">
                <a:latin typeface="Times New Roman"/>
                <a:cs typeface="Times New Roman"/>
              </a:rPr>
              <a:t> </a:t>
            </a:r>
            <a:r>
              <a:rPr lang="en-US" sz="1200" spc="-9">
                <a:latin typeface="Times New Roman"/>
                <a:cs typeface="Times New Roman"/>
              </a:rPr>
              <a:t>cache </a:t>
            </a:r>
            <a:r>
              <a:rPr lang="en-US" sz="1200">
                <a:latin typeface="Times New Roman"/>
                <a:cs typeface="Times New Roman"/>
              </a:rPr>
              <a:t>twice</a:t>
            </a:r>
            <a:r>
              <a:rPr lang="en-US" sz="1200" spc="-9">
                <a:latin typeface="Times New Roman"/>
                <a:cs typeface="Times New Roman"/>
              </a:rPr>
              <a:t>.</a:t>
            </a:r>
            <a:endParaRPr lang="en-US" sz="12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272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multi-level cache hierarchy,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all data in a lower level (level n)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also present in the higher level (level n+1),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known as 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inclusive cache policy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is this useful?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simplifies cache coherence in multiprocessor systems.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6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808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2 and Appendix B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Cache Optimization Techniques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826" y="3092824"/>
            <a:ext cx="5248835" cy="1485509"/>
          </a:xfrm>
          <a:prstGeom prst="rect">
            <a:avLst/>
          </a:prstGeom>
        </p:spPr>
        <p:txBody>
          <a:bodyPr vert="horz" wrap="square" lIns="0" tIns="71157" rIns="0" bIns="0" rtlCol="0">
            <a:spAutoFit/>
          </a:bodyPr>
          <a:lstStyle/>
          <a:p>
            <a:pPr marL="11206" marR="4483">
              <a:lnSpc>
                <a:spcPts val="4041"/>
              </a:lnSpc>
              <a:spcBef>
                <a:spcPts val="560"/>
              </a:spcBef>
            </a:pPr>
            <a:r>
              <a:rPr sz="3706" b="1" dirty="0">
                <a:latin typeface="Arial"/>
                <a:cs typeface="Arial"/>
              </a:rPr>
              <a:t>CACHE</a:t>
            </a:r>
            <a:r>
              <a:rPr sz="3706" b="1" spc="4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OPTIMIZATION TECHNIQUES</a:t>
            </a:r>
            <a:endParaRPr sz="3706" dirty="0">
              <a:latin typeface="Arial"/>
              <a:cs typeface="Arial"/>
            </a:endParaRPr>
          </a:p>
          <a:p>
            <a:pPr marL="11206">
              <a:spcBef>
                <a:spcPts val="772"/>
              </a:spcBef>
            </a:pPr>
            <a:r>
              <a:rPr sz="1853" b="1" dirty="0">
                <a:latin typeface="Arial"/>
                <a:cs typeface="Arial"/>
              </a:rPr>
              <a:t>-</a:t>
            </a:r>
            <a:r>
              <a:rPr sz="1853" b="1" spc="31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APPENDIX</a:t>
            </a:r>
            <a:r>
              <a:rPr sz="1853" b="1" spc="44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B</a:t>
            </a:r>
            <a:r>
              <a:rPr sz="1853" b="1" spc="49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/</a:t>
            </a:r>
            <a:r>
              <a:rPr sz="1853" b="1" spc="26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CHAPTER</a:t>
            </a:r>
            <a:r>
              <a:rPr sz="1853" b="1" spc="49" dirty="0">
                <a:latin typeface="Arial"/>
                <a:cs typeface="Arial"/>
              </a:rPr>
              <a:t> </a:t>
            </a:r>
            <a:r>
              <a:rPr sz="1853" b="1" spc="-44" dirty="0">
                <a:latin typeface="Arial"/>
                <a:cs typeface="Arial"/>
              </a:rPr>
              <a:t>2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CDD01531-8F4E-F84A-F0C0-F54A5098F8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35" dirty="0"/>
              <a:t> </a:t>
            </a:r>
            <a:r>
              <a:rPr lang="en-US" spc="-35" dirty="0"/>
              <a:t>S</a:t>
            </a:r>
            <a:r>
              <a:rPr dirty="0"/>
              <a:t>talls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1020341" y="1320052"/>
            <a:ext cx="6819900" cy="2458897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lnSpc>
                <a:spcPct val="110000"/>
              </a:lnSpc>
              <a:spcBef>
                <a:spcPts val="393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parameters:</a:t>
            </a:r>
            <a:endParaRPr sz="2400" dirty="0">
              <a:latin typeface="Calibri"/>
              <a:cs typeface="Calibri"/>
            </a:endParaRPr>
          </a:p>
          <a:p>
            <a:pPr marL="741363" lvl="1" indent="-457200">
              <a:lnSpc>
                <a:spcPct val="110000"/>
              </a:lnSpc>
              <a:spcBef>
                <a:spcPts val="410"/>
              </a:spcBef>
              <a:spcAft>
                <a:spcPts val="600"/>
              </a:spcAft>
              <a:buFont typeface="+mj-lt"/>
              <a:buAutoNum type="arabicPeriod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ain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(miss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penalty)</a:t>
            </a:r>
            <a:endParaRPr sz="2400" dirty="0">
              <a:latin typeface="Calibri"/>
              <a:cs typeface="Calibri"/>
            </a:endParaRPr>
          </a:p>
          <a:p>
            <a:pPr marL="741363" lvl="1" indent="-457200">
              <a:lnSpc>
                <a:spcPct val="110000"/>
              </a:lnSpc>
              <a:spcBef>
                <a:spcPts val="361"/>
              </a:spcBef>
              <a:spcAft>
                <a:spcPts val="600"/>
              </a:spcAft>
              <a:buFont typeface="+mj-lt"/>
              <a:buAutoNum type="arabicPeriod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ache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(hit)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741363" lvl="1" indent="-457200">
              <a:lnSpc>
                <a:spcPct val="110000"/>
              </a:lnSpc>
              <a:spcBef>
                <a:spcPts val="463"/>
              </a:spcBef>
              <a:buFont typeface="+mj-lt"/>
              <a:buAutoNum type="arabicPeriod"/>
              <a:tabLst>
                <a:tab pos="651657" algn="l"/>
              </a:tabLst>
            </a:pPr>
            <a:r>
              <a:rPr lang="en-US" sz="240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iss </a:t>
            </a:r>
            <a:r>
              <a:rPr sz="2400" spc="-18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2413CEE3-FCF9-BBE9-902E-E8067B5CCA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31" dirty="0"/>
              <a:t> </a:t>
            </a:r>
            <a:r>
              <a:rPr dirty="0"/>
              <a:t>Cache</a:t>
            </a:r>
            <a:r>
              <a:rPr spc="-31" dirty="0"/>
              <a:t> </a:t>
            </a:r>
            <a:r>
              <a:rPr lang="en-US" spc="-9" dirty="0"/>
              <a:t>M</a:t>
            </a:r>
            <a:r>
              <a:rPr spc="-9" dirty="0"/>
              <a:t>isses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091" y="1298439"/>
            <a:ext cx="7397022" cy="3711288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lnSpc>
                <a:spcPct val="110000"/>
              </a:lnSpc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Sometimes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inevitable:</a:t>
            </a:r>
            <a:endParaRPr lang="en-US" sz="2200" spc="-9" dirty="0">
              <a:latin typeface="Calibri"/>
              <a:cs typeface="Calibri"/>
            </a:endParaRPr>
          </a:p>
          <a:p>
            <a:pPr marL="680208" marR="33059" lvl="1" indent="-212363" algn="just">
              <a:lnSpc>
                <a:spcPct val="110000"/>
              </a:lnSpc>
              <a:spcBef>
                <a:spcPts val="335"/>
              </a:spcBef>
              <a:spcAft>
                <a:spcPts val="600"/>
              </a:spcAft>
              <a:buChar char="–"/>
              <a:tabLst>
                <a:tab pos="224690" algn="l"/>
              </a:tabLst>
            </a:pP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The first</a:t>
            </a:r>
            <a:r>
              <a:rPr lang="en-US" sz="2200" u="sng" spc="-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time a block</a:t>
            </a:r>
            <a:r>
              <a:rPr lang="en-US" sz="2200" u="sng" spc="-9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is</a:t>
            </a:r>
            <a:r>
              <a:rPr lang="en-US" sz="2200" u="sng" spc="-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used</a:t>
            </a:r>
            <a:r>
              <a:rPr lang="en-US" sz="2200" dirty="0">
                <a:cs typeface="Calibri"/>
              </a:rPr>
              <a:t>,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need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bring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into cache </a:t>
            </a:r>
            <a:br>
              <a:rPr lang="en-US" sz="2200" dirty="0">
                <a:cs typeface="Calibri"/>
              </a:rPr>
            </a:br>
            <a:r>
              <a:rPr lang="en-US" sz="2200" spc="-22" dirty="0">
                <a:cs typeface="Calibri"/>
              </a:rPr>
              <a:t>(a </a:t>
            </a:r>
            <a:r>
              <a:rPr lang="en-US" sz="2200" b="1" spc="-9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compulsory</a:t>
            </a:r>
            <a:r>
              <a:rPr lang="en-US" sz="2200" b="1" spc="-22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spc="-9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miss</a:t>
            </a:r>
            <a:r>
              <a:rPr lang="en-US" sz="2200" spc="-9" dirty="0">
                <a:cs typeface="Calibri"/>
              </a:rPr>
              <a:t>) </a:t>
            </a:r>
          </a:p>
          <a:p>
            <a:pPr marL="680208" marR="33059" lvl="1" indent="-212363" algn="just">
              <a:lnSpc>
                <a:spcPct val="110000"/>
              </a:lnSpc>
              <a:spcBef>
                <a:spcPts val="335"/>
              </a:spcBef>
              <a:spcAft>
                <a:spcPts val="600"/>
              </a:spcAft>
              <a:buChar char="–"/>
              <a:tabLst>
                <a:tab pos="224690" algn="l"/>
              </a:tabLst>
            </a:pPr>
            <a:r>
              <a:rPr lang="en-US" sz="2200" dirty="0">
                <a:cs typeface="Calibri"/>
              </a:rPr>
              <a:t>If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need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 use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more blocks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at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once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than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 fit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into cache, some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will </a:t>
            </a:r>
            <a:r>
              <a:rPr lang="en-US" sz="2200" dirty="0">
                <a:cs typeface="Calibri"/>
              </a:rPr>
              <a:t>bounce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and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out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(</a:t>
            </a:r>
            <a:r>
              <a:rPr lang="en-US" sz="2200" b="1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capacity</a:t>
            </a:r>
            <a:r>
              <a:rPr lang="en-US" sz="2200" b="1" spc="-13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spc="-18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miss</a:t>
            </a:r>
            <a:r>
              <a:rPr lang="en-US" sz="2200" spc="-18" dirty="0">
                <a:cs typeface="Calibri"/>
              </a:rPr>
              <a:t>)</a:t>
            </a:r>
            <a:endParaRPr lang="en-US" sz="2200" dirty="0">
              <a:cs typeface="Calibri"/>
            </a:endParaRPr>
          </a:p>
          <a:p>
            <a:pPr marL="680208" marR="4483" lvl="1" indent="-212363" algn="just">
              <a:lnSpc>
                <a:spcPct val="110000"/>
              </a:lnSpc>
              <a:spcBef>
                <a:spcPts val="499"/>
              </a:spcBef>
              <a:buChar char="–"/>
              <a:tabLst>
                <a:tab pos="224690" algn="l"/>
              </a:tabLst>
            </a:pPr>
            <a:r>
              <a:rPr lang="en-US" sz="2200" dirty="0">
                <a:cs typeface="Calibri"/>
              </a:rPr>
              <a:t>In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direct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mapped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set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associative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caches,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there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are</a:t>
            </a:r>
            <a:r>
              <a:rPr lang="en-US" sz="2200" spc="-9" dirty="0">
                <a:cs typeface="Calibri"/>
              </a:rPr>
              <a:t> certain </a:t>
            </a:r>
            <a:r>
              <a:rPr lang="en-US" sz="2200" dirty="0">
                <a:cs typeface="Calibri"/>
              </a:rPr>
              <a:t>combinations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of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addresses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that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cannot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be in cache at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 same </a:t>
            </a:r>
            <a:r>
              <a:rPr lang="en-US" sz="2200" spc="-18" dirty="0">
                <a:cs typeface="Calibri"/>
              </a:rPr>
              <a:t>time </a:t>
            </a:r>
            <a:r>
              <a:rPr lang="en-US" sz="2200" dirty="0">
                <a:cs typeface="Calibri"/>
              </a:rPr>
              <a:t>(</a:t>
            </a:r>
            <a:r>
              <a:rPr lang="en-US" sz="2200" b="1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conflict</a:t>
            </a:r>
            <a:r>
              <a:rPr lang="en-US" sz="2200" b="1" spc="-35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spc="-18" dirty="0">
                <a:solidFill>
                  <a:srgbClr val="0070C0"/>
                </a:solidFill>
                <a:highlight>
                  <a:srgbClr val="FFFF00"/>
                </a:highlight>
                <a:cs typeface="Calibri"/>
              </a:rPr>
              <a:t>miss</a:t>
            </a:r>
            <a:r>
              <a:rPr lang="en-US" sz="2200" spc="-18" dirty="0">
                <a:cs typeface="Calibri"/>
              </a:rPr>
              <a:t>)</a:t>
            </a:r>
            <a:endParaRPr lang="en-US" sz="2200" dirty="0">
              <a:cs typeface="Calibri"/>
            </a:endParaRPr>
          </a:p>
          <a:p>
            <a:pPr marL="653338" marR="4483" indent="-214044">
              <a:lnSpc>
                <a:spcPts val="1782"/>
              </a:lnSpc>
              <a:spcBef>
                <a:spcPts val="675"/>
              </a:spcBef>
            </a:pPr>
            <a:endParaRPr sz="1677" dirty="0">
              <a:latin typeface="Calibri"/>
              <a:cs typeface="Calibri"/>
            </a:endParaRP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E9D8AE7-371A-0FE3-A12A-C0752C8401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73FF-9CAE-1DBC-F57B-7E6BBD6D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43F76F-96E9-D2BB-17E3-2E5BE60DC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Types</a:t>
            </a:r>
            <a:r>
              <a:rPr spc="-35" dirty="0"/>
              <a:t> </a:t>
            </a:r>
            <a:r>
              <a:rPr dirty="0"/>
              <a:t>of</a:t>
            </a:r>
            <a:r>
              <a:rPr spc="-31" dirty="0"/>
              <a:t> </a:t>
            </a:r>
            <a:r>
              <a:rPr dirty="0"/>
              <a:t>Cache</a:t>
            </a:r>
            <a:r>
              <a:rPr spc="-31" dirty="0"/>
              <a:t> </a:t>
            </a:r>
            <a:r>
              <a:rPr lang="en-US" spc="-9" dirty="0"/>
              <a:t>M</a:t>
            </a:r>
            <a:r>
              <a:rPr spc="-9" dirty="0"/>
              <a:t>isses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20508CF-6921-BFCD-F0A0-9028158E7F17}"/>
              </a:ext>
            </a:extLst>
          </p:cNvPr>
          <p:cNvSpPr txBox="1"/>
          <p:nvPr/>
        </p:nvSpPr>
        <p:spPr>
          <a:xfrm>
            <a:off x="808383" y="1298439"/>
            <a:ext cx="7500730" cy="4724385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 algn="just">
              <a:lnSpc>
                <a:spcPct val="110000"/>
              </a:lnSpc>
              <a:spcBef>
                <a:spcPts val="644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Sometimes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inevitable</a:t>
            </a:r>
            <a:endParaRPr lang="en-US" sz="2400" spc="-9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78481" indent="-267275" algn="just">
              <a:lnSpc>
                <a:spcPct val="110000"/>
              </a:lnSpc>
              <a:spcBef>
                <a:spcPts val="644"/>
              </a:spcBef>
              <a:buClr>
                <a:schemeClr val="tx1"/>
              </a:buClr>
              <a:buChar char="•"/>
              <a:tabLst>
                <a:tab pos="278481" algn="l"/>
              </a:tabLst>
            </a:pPr>
            <a:r>
              <a:rPr lang="en-US" sz="2400" b="1" spc="-9" dirty="0">
                <a:solidFill>
                  <a:srgbClr val="0070C0"/>
                </a:solidFill>
                <a:cs typeface="Calibri"/>
              </a:rPr>
              <a:t>Compulsory</a:t>
            </a:r>
            <a:r>
              <a:rPr lang="en-US" sz="2400" b="1" spc="-22" dirty="0">
                <a:solidFill>
                  <a:srgbClr val="0070C0"/>
                </a:solidFill>
                <a:cs typeface="Calibri"/>
              </a:rPr>
              <a:t> </a:t>
            </a:r>
            <a:r>
              <a:rPr lang="en-US" sz="2400" b="1" spc="-9" dirty="0">
                <a:solidFill>
                  <a:srgbClr val="0070C0"/>
                </a:solidFill>
                <a:cs typeface="Calibri"/>
              </a:rPr>
              <a:t>miss</a:t>
            </a:r>
          </a:p>
          <a:p>
            <a:pPr marL="811306" lvl="1" indent="-342900" algn="just">
              <a:lnSpc>
                <a:spcPct val="110000"/>
              </a:lnSpc>
              <a:spcAft>
                <a:spcPts val="600"/>
              </a:spcAft>
              <a:buFont typeface="Calibri" panose="020F0502020204030204" pitchFamily="34" charset="0"/>
              <a:buChar char="‒"/>
              <a:tabLst>
                <a:tab pos="278481" algn="l"/>
              </a:tabLst>
            </a:pP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The first</a:t>
            </a:r>
            <a:r>
              <a:rPr lang="en-US" sz="2200" u="sng" spc="-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time a block</a:t>
            </a:r>
            <a:r>
              <a:rPr lang="en-US" sz="2200" u="sng" spc="-9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is</a:t>
            </a:r>
            <a:r>
              <a:rPr lang="en-US" sz="2200" u="sng" spc="-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200" u="sng" dirty="0">
                <a:uFill>
                  <a:solidFill>
                    <a:srgbClr val="000000"/>
                  </a:solidFill>
                </a:uFill>
                <a:cs typeface="Calibri"/>
              </a:rPr>
              <a:t>used</a:t>
            </a:r>
            <a:r>
              <a:rPr lang="en-US" sz="2200" dirty="0">
                <a:cs typeface="Calibri"/>
              </a:rPr>
              <a:t>,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need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bring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into cache </a:t>
            </a:r>
          </a:p>
          <a:p>
            <a:pPr marL="278481" indent="-267275" algn="just">
              <a:lnSpc>
                <a:spcPct val="110000"/>
              </a:lnSpc>
              <a:spcBef>
                <a:spcPts val="644"/>
              </a:spcBef>
              <a:buClr>
                <a:schemeClr val="tx1"/>
              </a:buClr>
              <a:buChar char="•"/>
              <a:tabLst>
                <a:tab pos="278481" algn="l"/>
              </a:tabLst>
            </a:pPr>
            <a:r>
              <a:rPr lang="en-US" sz="2400" b="1" dirty="0">
                <a:solidFill>
                  <a:srgbClr val="0070C0"/>
                </a:solidFill>
                <a:cs typeface="Calibri"/>
              </a:rPr>
              <a:t>Capacity</a:t>
            </a:r>
            <a:r>
              <a:rPr lang="en-US" sz="2400" b="1" spc="-13" dirty="0">
                <a:solidFill>
                  <a:srgbClr val="0070C0"/>
                </a:solidFill>
                <a:cs typeface="Calibri"/>
              </a:rPr>
              <a:t> </a:t>
            </a:r>
            <a:r>
              <a:rPr lang="en-US" sz="2400" b="1" spc="-18" dirty="0">
                <a:solidFill>
                  <a:srgbClr val="0070C0"/>
                </a:solidFill>
                <a:cs typeface="Calibri"/>
              </a:rPr>
              <a:t>miss</a:t>
            </a:r>
            <a:r>
              <a:rPr lang="en-US" sz="2400" spc="-9" dirty="0">
                <a:cs typeface="Calibri"/>
              </a:rPr>
              <a:t> </a:t>
            </a:r>
          </a:p>
          <a:p>
            <a:pPr marL="811306" lvl="1" indent="-342900" algn="just">
              <a:lnSpc>
                <a:spcPct val="110000"/>
              </a:lnSpc>
              <a:spcAft>
                <a:spcPts val="600"/>
              </a:spcAft>
              <a:buFont typeface="Calibri" panose="020F0502020204030204" pitchFamily="34" charset="0"/>
              <a:buChar char="‒"/>
              <a:tabLst>
                <a:tab pos="278481" algn="l"/>
              </a:tabLst>
            </a:pPr>
            <a:r>
              <a:rPr lang="en-US" sz="2200" dirty="0">
                <a:cs typeface="Calibri"/>
              </a:rPr>
              <a:t>If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need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 use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more blocks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at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once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than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 fit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into cache, some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will </a:t>
            </a:r>
            <a:r>
              <a:rPr lang="en-US" sz="2200" dirty="0">
                <a:cs typeface="Calibri"/>
              </a:rPr>
              <a:t>bounce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and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out</a:t>
            </a:r>
          </a:p>
          <a:p>
            <a:pPr marL="278481" indent="-267275" algn="just">
              <a:lnSpc>
                <a:spcPct val="110000"/>
              </a:lnSpc>
              <a:spcBef>
                <a:spcPts val="644"/>
              </a:spcBef>
              <a:buClr>
                <a:schemeClr val="tx1"/>
              </a:buClr>
              <a:buChar char="•"/>
              <a:tabLst>
                <a:tab pos="278481" algn="l"/>
              </a:tabLst>
            </a:pPr>
            <a:r>
              <a:rPr lang="en-US" sz="2400" b="1" dirty="0">
                <a:solidFill>
                  <a:srgbClr val="0070C0"/>
                </a:solidFill>
                <a:cs typeface="Calibri"/>
              </a:rPr>
              <a:t>Conflict</a:t>
            </a:r>
            <a:r>
              <a:rPr lang="en-US" sz="2400" b="1" spc="-35" dirty="0">
                <a:solidFill>
                  <a:srgbClr val="0070C0"/>
                </a:solidFill>
                <a:cs typeface="Calibri"/>
              </a:rPr>
              <a:t> </a:t>
            </a:r>
            <a:r>
              <a:rPr lang="en-US" sz="2400" b="1" spc="-18" dirty="0">
                <a:solidFill>
                  <a:srgbClr val="0070C0"/>
                </a:solidFill>
                <a:cs typeface="Calibri"/>
              </a:rPr>
              <a:t>miss</a:t>
            </a:r>
            <a:endParaRPr lang="en-US" sz="2400" dirty="0">
              <a:cs typeface="Calibri"/>
            </a:endParaRPr>
          </a:p>
          <a:p>
            <a:pPr marL="811306" lvl="1" indent="-342900" algn="just">
              <a:lnSpc>
                <a:spcPct val="110000"/>
              </a:lnSpc>
              <a:buFont typeface="Calibri" panose="020F0502020204030204" pitchFamily="34" charset="0"/>
              <a:buChar char="‒"/>
              <a:tabLst>
                <a:tab pos="278481" algn="l"/>
              </a:tabLst>
            </a:pPr>
            <a:r>
              <a:rPr lang="en-US" sz="2200" dirty="0">
                <a:cs typeface="Calibri"/>
              </a:rPr>
              <a:t>In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direct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mapped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set</a:t>
            </a:r>
            <a:r>
              <a:rPr lang="en-US" sz="2200" spc="-1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associative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caches,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there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are</a:t>
            </a:r>
            <a:r>
              <a:rPr lang="en-US" sz="2200" spc="-9" dirty="0">
                <a:cs typeface="Calibri"/>
              </a:rPr>
              <a:t> certain </a:t>
            </a:r>
            <a:r>
              <a:rPr lang="en-US" sz="2200" dirty="0">
                <a:cs typeface="Calibri"/>
              </a:rPr>
              <a:t>combinations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of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addresses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that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cannot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be in cache at</a:t>
            </a:r>
            <a:r>
              <a:rPr lang="en-US" sz="2200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 same </a:t>
            </a:r>
            <a:r>
              <a:rPr lang="en-US" sz="2200" spc="-18" dirty="0">
                <a:cs typeface="Calibri"/>
              </a:rPr>
              <a:t>time</a:t>
            </a:r>
            <a:endParaRPr lang="en-US" sz="2200" dirty="0">
              <a:cs typeface="Calibri"/>
            </a:endParaRPr>
          </a:p>
          <a:p>
            <a:pPr marL="653338" marR="4483" indent="-214044">
              <a:lnSpc>
                <a:spcPts val="1782"/>
              </a:lnSpc>
              <a:spcBef>
                <a:spcPts val="675"/>
              </a:spcBef>
            </a:pPr>
            <a:endParaRPr sz="1677" dirty="0">
              <a:latin typeface="Calibri"/>
              <a:cs typeface="Calibri"/>
            </a:endParaRP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CF8817AA-B640-7E04-C129-78E57E09BA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54993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5</a:t>
            </a:r>
            <a:r>
              <a:rPr spc="-22" dirty="0"/>
              <a:t> </a:t>
            </a:r>
            <a:r>
              <a:rPr dirty="0"/>
              <a:t>Basic</a:t>
            </a:r>
            <a:r>
              <a:rPr spc="-31" dirty="0"/>
              <a:t> </a:t>
            </a:r>
            <a:r>
              <a:rPr dirty="0"/>
              <a:t>Cache</a:t>
            </a:r>
            <a:r>
              <a:rPr spc="-31" dirty="0"/>
              <a:t> </a:t>
            </a:r>
            <a:r>
              <a:rPr spc="-9" dirty="0"/>
              <a:t>Optimizations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49278"/>
            <a:ext cx="8123581" cy="4616343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lnSpc>
                <a:spcPct val="110000"/>
              </a:lnSpc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Reducing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782194" lvl="1" indent="-342900">
              <a:lnSpc>
                <a:spcPct val="110000"/>
              </a:lnSpc>
              <a:spcBef>
                <a:spcPts val="424"/>
              </a:spcBef>
              <a:buFont typeface="+mj-lt"/>
              <a:buAutoNum type="arabicPeriod"/>
              <a:tabLst>
                <a:tab pos="651657" algn="l"/>
              </a:tabLst>
            </a:pP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 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compulsory,</a:t>
            </a:r>
            <a:r>
              <a:rPr sz="24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“cold”,</a:t>
            </a:r>
            <a:r>
              <a:rPr sz="2400" spc="-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misses</a:t>
            </a:r>
            <a:r>
              <a:rPr sz="2400" spc="-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782194" lvl="1" indent="-342900">
              <a:lnSpc>
                <a:spcPct val="110000"/>
              </a:lnSpc>
              <a:spcBef>
                <a:spcPts val="379"/>
              </a:spcBef>
              <a:buFont typeface="+mj-lt"/>
              <a:buAutoNum type="arabicPeriod"/>
              <a:tabLst>
                <a:tab pos="651657" algn="l"/>
              </a:tabLst>
            </a:pP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capacity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 misses</a:t>
            </a:r>
            <a:r>
              <a:rPr sz="2400" spc="-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782194" lvl="1" indent="-342900">
              <a:lnSpc>
                <a:spcPct val="110000"/>
              </a:lnSpc>
              <a:spcBef>
                <a:spcPts val="361"/>
              </a:spcBef>
              <a:spcAft>
                <a:spcPts val="2400"/>
              </a:spcAft>
              <a:buFont typeface="+mj-lt"/>
              <a:buAutoNum type="arabicPeriod"/>
              <a:tabLst>
                <a:tab pos="651657" algn="l"/>
              </a:tabLst>
            </a:pP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Associativity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conflict</a:t>
            </a:r>
            <a:r>
              <a:rPr sz="2400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misses</a:t>
            </a:r>
            <a:r>
              <a:rPr sz="2400" spc="-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lnSpc>
                <a:spcPct val="110000"/>
              </a:lnSpc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Reducing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  <a:p>
            <a:pPr marL="782194" lvl="1" indent="-342900">
              <a:lnSpc>
                <a:spcPct val="110000"/>
              </a:lnSpc>
              <a:spcBef>
                <a:spcPts val="446"/>
              </a:spcBef>
              <a:spcAft>
                <a:spcPts val="2400"/>
              </a:spcAft>
              <a:buFont typeface="+mj-lt"/>
              <a:buAutoNum type="arabicPeriod" startAt="4"/>
              <a:tabLst>
                <a:tab pos="651657" algn="l"/>
              </a:tabLst>
            </a:pPr>
            <a:r>
              <a:rPr sz="2400" dirty="0">
                <a:latin typeface="Calibri"/>
                <a:cs typeface="Calibri"/>
              </a:rPr>
              <a:t>Multilevel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lnSpc>
                <a:spcPct val="110000"/>
              </a:lnSpc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Reducing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T</a:t>
            </a:r>
            <a:r>
              <a:rPr sz="2400" spc="-18" dirty="0">
                <a:latin typeface="Calibri"/>
                <a:cs typeface="Calibri"/>
              </a:rPr>
              <a:t>ime</a:t>
            </a:r>
            <a:endParaRPr sz="2400" dirty="0">
              <a:latin typeface="Calibri"/>
              <a:cs typeface="Calibri"/>
            </a:endParaRPr>
          </a:p>
          <a:p>
            <a:pPr marL="782194" marR="4483" lvl="1" indent="-342900">
              <a:lnSpc>
                <a:spcPct val="110000"/>
              </a:lnSpc>
              <a:spcBef>
                <a:spcPts val="649"/>
              </a:spcBef>
              <a:buFont typeface="+mj-lt"/>
              <a:buAutoNum type="arabicPeriod" startAt="5"/>
              <a:tabLst>
                <a:tab pos="653338" algn="l"/>
              </a:tabLst>
            </a:pPr>
            <a:r>
              <a:rPr sz="2400" dirty="0">
                <a:latin typeface="Calibri"/>
                <a:cs typeface="Calibri"/>
              </a:rPr>
              <a:t>Giving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lang="en-US" sz="2400" spc="-13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eads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18" dirty="0">
                <a:latin typeface="Calibri"/>
                <a:cs typeface="Calibri"/>
              </a:rPr>
              <a:t> </a:t>
            </a:r>
            <a:br>
              <a:rPr lang="en-US" sz="2400" spc="-18" dirty="0">
                <a:latin typeface="Calibri"/>
                <a:cs typeface="Calibri"/>
              </a:rPr>
            </a:b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completes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-9" dirty="0">
                <a:latin typeface="Calibri"/>
                <a:cs typeface="Calibri"/>
              </a:rPr>
              <a:t> earlier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buffer)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2AAA3023-E43F-DD95-5529-1DA7A17446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67825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Reducing</a:t>
            </a:r>
            <a:r>
              <a:rPr spc="-40" dirty="0"/>
              <a:t> </a:t>
            </a:r>
            <a:r>
              <a:rPr dirty="0"/>
              <a:t>Miss</a:t>
            </a:r>
            <a:r>
              <a:rPr spc="-49" dirty="0"/>
              <a:t> </a:t>
            </a:r>
            <a:r>
              <a:rPr dirty="0"/>
              <a:t>Rate:</a:t>
            </a:r>
            <a:r>
              <a:rPr spc="-40" dirty="0"/>
              <a:t> </a:t>
            </a:r>
            <a:r>
              <a:rPr dirty="0"/>
              <a:t>Increasing</a:t>
            </a:r>
            <a:r>
              <a:rPr spc="-40" dirty="0"/>
              <a:t> </a:t>
            </a:r>
            <a:r>
              <a:rPr dirty="0"/>
              <a:t>block</a:t>
            </a:r>
            <a:r>
              <a:rPr spc="-53" dirty="0"/>
              <a:t> </a:t>
            </a:r>
            <a:r>
              <a:rPr spc="-18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169766"/>
            <a:ext cx="7553739" cy="1934391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Competing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Statements</a:t>
            </a:r>
            <a:endParaRPr sz="2400" dirty="0">
              <a:latin typeface="Calibri"/>
              <a:cs typeface="Calibri"/>
            </a:endParaRPr>
          </a:p>
          <a:p>
            <a:pPr marL="795338" lvl="1" indent="-357188">
              <a:spcBef>
                <a:spcPts val="424"/>
              </a:spcBef>
              <a:buFont typeface="+mj-lt"/>
              <a:buAutoNum type="alphaLcPeriod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Want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block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 large so don’t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 to stop so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 </a:t>
            </a:r>
            <a:r>
              <a:rPr sz="2200" spc="-9" dirty="0">
                <a:latin typeface="Calibri"/>
                <a:cs typeface="Calibri"/>
              </a:rPr>
              <a:t>blocks</a:t>
            </a:r>
            <a:endParaRPr sz="2200" dirty="0">
              <a:latin typeface="Calibri"/>
              <a:cs typeface="Calibri"/>
            </a:endParaRPr>
          </a:p>
          <a:p>
            <a:pPr marL="795338" marR="39783" lvl="1" indent="-357188">
              <a:spcBef>
                <a:spcPts val="582"/>
              </a:spcBef>
              <a:buFont typeface="+mj-lt"/>
              <a:buAutoNum type="alphaLcPeriod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Want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block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 small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 quickly </a:t>
            </a:r>
            <a:br>
              <a:rPr lang="en-US" sz="2200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reduce </a:t>
            </a:r>
            <a:r>
              <a:rPr sz="2200" spc="-18" dirty="0">
                <a:latin typeface="Calibri"/>
                <a:cs typeface="Calibri"/>
              </a:rPr>
              <a:t>miss </a:t>
            </a:r>
            <a:r>
              <a:rPr sz="2200" spc="-9" dirty="0">
                <a:latin typeface="Calibri"/>
                <a:cs typeface="Calibri"/>
              </a:rPr>
              <a:t>penalty)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1024" y="3377990"/>
            <a:ext cx="6321287" cy="3572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56402" y="4056476"/>
            <a:ext cx="1522319" cy="70917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91404">
              <a:lnSpc>
                <a:spcPct val="103499"/>
              </a:lnSpc>
              <a:spcBef>
                <a:spcPts val="22"/>
              </a:spcBef>
            </a:pPr>
            <a:r>
              <a:rPr sz="1500" b="1" dirty="0">
                <a:latin typeface="Arial"/>
                <a:cs typeface="Arial"/>
              </a:rPr>
              <a:t>Fig.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8" dirty="0">
                <a:latin typeface="Arial"/>
                <a:cs typeface="Arial"/>
              </a:rPr>
              <a:t>B.10 </a:t>
            </a:r>
            <a:r>
              <a:rPr sz="1500" b="1" dirty="0">
                <a:latin typeface="Arial"/>
                <a:cs typeface="Arial"/>
              </a:rPr>
              <a:t>SPEC92</a:t>
            </a:r>
            <a:r>
              <a:rPr sz="1500" b="1" spc="-101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on</a:t>
            </a:r>
            <a:endParaRPr sz="1500" dirty="0">
              <a:latin typeface="Arial"/>
              <a:cs typeface="Arial"/>
            </a:endParaRPr>
          </a:p>
          <a:p>
            <a:pPr marL="11206">
              <a:lnSpc>
                <a:spcPts val="1755"/>
              </a:lnSpc>
            </a:pPr>
            <a:r>
              <a:rPr sz="1500" b="1" dirty="0">
                <a:latin typeface="Arial"/>
                <a:cs typeface="Arial"/>
              </a:rPr>
              <a:t>DECstation</a:t>
            </a:r>
            <a:r>
              <a:rPr sz="1500" b="1" spc="-88" dirty="0">
                <a:latin typeface="Arial"/>
                <a:cs typeface="Arial"/>
              </a:rPr>
              <a:t> </a:t>
            </a:r>
            <a:r>
              <a:rPr sz="1500" b="1" spc="-18" dirty="0">
                <a:latin typeface="Arial"/>
                <a:cs typeface="Arial"/>
              </a:rPr>
              <a:t>5000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B9998CA-4F45-D93E-A559-B394589A79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7556048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Reducing</a:t>
            </a:r>
            <a:r>
              <a:rPr lang="en-US" spc="-40" dirty="0"/>
              <a:t> </a:t>
            </a:r>
            <a:r>
              <a:rPr lang="en-US" dirty="0"/>
              <a:t>Miss</a:t>
            </a:r>
            <a:r>
              <a:rPr lang="en-US" spc="-49" dirty="0"/>
              <a:t> </a:t>
            </a:r>
            <a:r>
              <a:rPr lang="en-US" dirty="0"/>
              <a:t>Rate:</a:t>
            </a:r>
            <a:r>
              <a:rPr lang="en-US" spc="-40" dirty="0"/>
              <a:t> </a:t>
            </a:r>
            <a:r>
              <a:rPr dirty="0"/>
              <a:t>Increasing</a:t>
            </a:r>
            <a:r>
              <a:rPr spc="-31" dirty="0"/>
              <a:t> </a:t>
            </a:r>
            <a:r>
              <a:rPr dirty="0"/>
              <a:t>block</a:t>
            </a:r>
            <a:r>
              <a:rPr spc="-35" dirty="0"/>
              <a:t> </a:t>
            </a:r>
            <a:r>
              <a:rPr dirty="0"/>
              <a:t>size</a:t>
            </a:r>
            <a:r>
              <a:rPr spc="-31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320052"/>
            <a:ext cx="7447721" cy="48656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lnSpc>
                <a:spcPct val="110000"/>
              </a:lnSpc>
              <a:spcBef>
                <a:spcPts val="88"/>
              </a:spcBef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rates,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…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lnSpc>
                <a:spcPct val="110000"/>
              </a:lnSpc>
              <a:spcBef>
                <a:spcPts val="4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651657" marR="4483" lvl="1" indent="-212363">
              <a:lnSpc>
                <a:spcPct val="110000"/>
              </a:lnSpc>
              <a:spcBef>
                <a:spcPts val="715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400" dirty="0">
                <a:latin typeface="Calibri"/>
                <a:cs typeface="Calibri"/>
              </a:rPr>
              <a:t>Suppose that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loading a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(overhead) plus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clock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 for each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16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bytes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lnSpc>
                <a:spcPct val="110000"/>
              </a:lnSpc>
              <a:spcBef>
                <a:spcPts val="449"/>
              </a:spcBef>
              <a:spcAft>
                <a:spcPts val="1800"/>
              </a:spcAft>
              <a:buChar char="–"/>
              <a:tabLst>
                <a:tab pos="651657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64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bytes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 be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loaded </a:t>
            </a:r>
            <a:r>
              <a:rPr sz="2400" spc="-22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  <a:p>
            <a:pPr marL="867382">
              <a:lnSpc>
                <a:spcPct val="110000"/>
              </a:lnSpc>
              <a:spcAft>
                <a:spcPts val="2400"/>
              </a:spcAft>
            </a:pP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80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+</a:t>
            </a:r>
            <a:r>
              <a:rPr sz="24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Calibri"/>
                <a:cs typeface="Calibri"/>
              </a:rPr>
              <a:t> *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64</a:t>
            </a:r>
            <a:r>
              <a:rPr lang="en-US" sz="2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/</a:t>
            </a:r>
            <a:r>
              <a:rPr lang="en-US" sz="24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16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cycles =</a:t>
            </a:r>
            <a:r>
              <a:rPr sz="24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88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cycles (miss </a:t>
            </a:r>
            <a:r>
              <a:rPr sz="2400" spc="-9" dirty="0">
                <a:solidFill>
                  <a:srgbClr val="0070C0"/>
                </a:solidFill>
                <a:latin typeface="Calibri"/>
                <a:cs typeface="Calibri"/>
              </a:rPr>
              <a:t>penalty)</a:t>
            </a:r>
            <a:endParaRPr sz="24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278481" marR="318264" indent="-267835">
              <a:lnSpc>
                <a:spcPct val="110000"/>
              </a:lnSpc>
              <a:spcBef>
                <a:spcPts val="4"/>
              </a:spcBef>
              <a:spcAft>
                <a:spcPts val="12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hit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1.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7%,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average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is</a:t>
            </a:r>
            <a:endParaRPr sz="2400" dirty="0">
              <a:latin typeface="Calibri"/>
              <a:cs typeface="Calibri"/>
            </a:endParaRPr>
          </a:p>
          <a:p>
            <a:pPr marL="867382">
              <a:lnSpc>
                <a:spcPct val="110000"/>
              </a:lnSpc>
            </a:pPr>
            <a:r>
              <a:rPr lang="en-US" sz="2400" dirty="0">
                <a:solidFill>
                  <a:srgbClr val="0070C0"/>
                </a:solidFill>
                <a:latin typeface="Calibri"/>
                <a:cs typeface="Calibri"/>
              </a:rPr>
              <a:t>AMAT =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+</a:t>
            </a:r>
            <a:r>
              <a:rPr sz="24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400" spc="9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.07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*</a:t>
            </a:r>
            <a:r>
              <a:rPr sz="2400" spc="1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88</a:t>
            </a:r>
            <a:r>
              <a:rPr sz="24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=</a:t>
            </a:r>
            <a:r>
              <a:rPr sz="24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7.16</a:t>
            </a:r>
            <a:r>
              <a:rPr sz="24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70C0"/>
                </a:solidFill>
                <a:latin typeface="Calibri"/>
                <a:cs typeface="Calibri"/>
              </a:rPr>
              <a:t>cycles</a:t>
            </a:r>
            <a:endParaRPr sz="24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CFD2B0-EF54-13EB-DCA0-D9F617C561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693588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Reducing</a:t>
            </a:r>
            <a:r>
              <a:rPr spc="-31" dirty="0"/>
              <a:t> </a:t>
            </a:r>
            <a:r>
              <a:rPr dirty="0"/>
              <a:t>Miss</a:t>
            </a:r>
            <a:r>
              <a:rPr spc="-35" dirty="0"/>
              <a:t> </a:t>
            </a:r>
            <a:r>
              <a:rPr dirty="0"/>
              <a:t>Rate:</a:t>
            </a:r>
            <a:r>
              <a:rPr spc="-31" dirty="0"/>
              <a:t> </a:t>
            </a:r>
            <a:r>
              <a:rPr dirty="0"/>
              <a:t>Higher</a:t>
            </a:r>
            <a:r>
              <a:rPr spc="-35" dirty="0"/>
              <a:t> </a:t>
            </a:r>
            <a:r>
              <a:rPr spc="-9" dirty="0"/>
              <a:t>Associativity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4" y="1320052"/>
            <a:ext cx="7496512" cy="263433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lnSpc>
                <a:spcPct val="110000"/>
              </a:lnSpc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direct-mapped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miss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2-way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set-associative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N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/</a:t>
            </a:r>
            <a:r>
              <a:rPr lang="en-US" sz="2400" spc="-2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2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lnSpc>
                <a:spcPct val="110000"/>
              </a:lnSpc>
              <a:spcBef>
                <a:spcPts val="410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2:1 cache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thumb</a:t>
            </a:r>
            <a:r>
              <a:rPr sz="2200" spc="9" dirty="0">
                <a:latin typeface="Calibri"/>
                <a:cs typeface="Calibri"/>
              </a:rPr>
              <a:t> </a:t>
            </a:r>
            <a:br>
              <a:rPr lang="en-US" sz="2200" spc="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(seems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128KB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caches)</a:t>
            </a:r>
            <a:endParaRPr sz="2200" dirty="0">
              <a:latin typeface="Calibri"/>
              <a:cs typeface="Calibri"/>
            </a:endParaRPr>
          </a:p>
          <a:p>
            <a:pPr marL="278481" marR="337315" indent="-267835">
              <a:lnSpc>
                <a:spcPct val="110000"/>
              </a:lnSpc>
              <a:spcBef>
                <a:spcPts val="860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associative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slower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direct-mapped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spc="62" dirty="0">
                <a:latin typeface="Calibri"/>
                <a:cs typeface="Calibri"/>
              </a:rPr>
              <a:t> </a:t>
            </a:r>
            <a:br>
              <a:rPr lang="en-US" sz="2400" spc="62" dirty="0">
                <a:latin typeface="Calibri"/>
                <a:cs typeface="Calibri"/>
              </a:rPr>
            </a:br>
            <a:r>
              <a:rPr lang="en-US" sz="2400" spc="-22" dirty="0">
                <a:latin typeface="Calibri"/>
                <a:cs typeface="Calibri"/>
              </a:rPr>
              <a:t>S</a:t>
            </a:r>
            <a:r>
              <a:rPr sz="2400" spc="-22" dirty="0">
                <a:latin typeface="Calibri"/>
                <a:cs typeface="Calibri"/>
              </a:rPr>
              <a:t>o</a:t>
            </a:r>
            <a:r>
              <a:rPr lang="en-US" sz="2400" spc="-22" dirty="0">
                <a:latin typeface="Calibri"/>
                <a:cs typeface="Calibri"/>
              </a:rPr>
              <a:t>,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slower</a:t>
            </a:r>
            <a:r>
              <a:rPr lang="en-US"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A99B3BCF-77A7-7184-9C8B-59BE17BEA4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62CD5-00F3-1AE3-D429-D5D47FB6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78428E-D70D-CDE6-E6E0-053732CA1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68846"/>
            <a:ext cx="750073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Reducing</a:t>
            </a:r>
            <a:r>
              <a:rPr lang="en-US" spc="-40" dirty="0"/>
              <a:t> </a:t>
            </a:r>
            <a:r>
              <a:rPr lang="en-US" dirty="0"/>
              <a:t>Miss</a:t>
            </a:r>
            <a:r>
              <a:rPr lang="en-US" spc="-49" dirty="0"/>
              <a:t> </a:t>
            </a:r>
            <a:r>
              <a:rPr lang="en-US" dirty="0"/>
              <a:t>Rate:</a:t>
            </a:r>
            <a:r>
              <a:rPr lang="en-US" spc="-40" dirty="0"/>
              <a:t> </a:t>
            </a:r>
            <a:r>
              <a:rPr dirty="0"/>
              <a:t>Higher</a:t>
            </a:r>
            <a:r>
              <a:rPr spc="-35" dirty="0"/>
              <a:t> </a:t>
            </a:r>
            <a:r>
              <a:rPr spc="-9" dirty="0"/>
              <a:t>Associativity</a:t>
            </a:r>
            <a:r>
              <a:rPr lang="en-US" spc="-9" dirty="0"/>
              <a:t> (cont.)</a:t>
            </a:r>
            <a:endParaRPr spc="-9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599BDF-7345-C7DC-FF58-E491FCE358FB}"/>
              </a:ext>
            </a:extLst>
          </p:cNvPr>
          <p:cNvSpPr txBox="1"/>
          <p:nvPr/>
        </p:nvSpPr>
        <p:spPr>
          <a:xfrm>
            <a:off x="795130" y="1200784"/>
            <a:ext cx="7500731" cy="561226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indent="-267275">
              <a:lnSpc>
                <a:spcPct val="110000"/>
              </a:lnSpc>
              <a:spcBef>
                <a:spcPts val="600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  <a:p>
            <a:pPr marL="651657" marR="226931" lvl="1" indent="-212363">
              <a:lnSpc>
                <a:spcPct val="110000"/>
              </a:lnSpc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Suppose that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clock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9" dirty="0">
                <a:latin typeface="Calibri"/>
                <a:cs typeface="Calibri"/>
              </a:rPr>
              <a:t> 2-</a:t>
            </a:r>
            <a:r>
              <a:rPr sz="2200" dirty="0">
                <a:latin typeface="Calibri"/>
                <a:cs typeface="Calibri"/>
              </a:rPr>
              <a:t>way cache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 factor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22" dirty="0">
                <a:latin typeface="Calibri"/>
                <a:cs typeface="Calibri"/>
              </a:rPr>
              <a:t>1.1 </a:t>
            </a:r>
            <a:r>
              <a:rPr sz="2200" dirty="0">
                <a:latin typeface="Calibri"/>
                <a:cs typeface="Calibri"/>
              </a:rPr>
              <a:t>times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clock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9" dirty="0">
                <a:latin typeface="Calibri"/>
                <a:cs typeface="Calibri"/>
              </a:rPr>
              <a:t> 1-</a:t>
            </a:r>
            <a:r>
              <a:rPr sz="2200" dirty="0">
                <a:latin typeface="Calibri"/>
                <a:cs typeface="Calibri"/>
              </a:rPr>
              <a:t>way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366" dirty="0">
                <a:latin typeface="Calibri"/>
                <a:cs typeface="Calibri"/>
              </a:rPr>
              <a:t> </a:t>
            </a:r>
            <a:br>
              <a:rPr lang="en-US" sz="2200" spc="366" dirty="0">
                <a:latin typeface="Calibri"/>
                <a:cs typeface="Calibri"/>
              </a:rPr>
            </a:br>
            <a:r>
              <a:rPr lang="en-US" sz="2200" spc="366" dirty="0">
                <a:latin typeface="Calibri"/>
                <a:cs typeface="Calibri"/>
              </a:rPr>
              <a:t>(</a:t>
            </a:r>
            <a:r>
              <a:rPr lang="en-US" sz="220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.e.,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longer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9" dirty="0">
                <a:latin typeface="Calibri"/>
                <a:cs typeface="Calibri"/>
              </a:rPr>
              <a:t> higher associativity</a:t>
            </a:r>
            <a:r>
              <a:rPr lang="en-US" sz="2200" spc="-9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lnSpc>
                <a:spcPct val="110000"/>
              </a:lnSpc>
              <a:spcBef>
                <a:spcPts val="383"/>
              </a:spcBef>
              <a:buFont typeface="Calibri"/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penalty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50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3%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rate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lnSpc>
                <a:spcPct val="110000"/>
              </a:lnSpc>
              <a:spcBef>
                <a:spcPts val="441"/>
              </a:spcBef>
              <a:spcAft>
                <a:spcPts val="600"/>
              </a:spcAft>
              <a:buFont typeface="Calibri"/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hit</a:t>
            </a:r>
            <a:endParaRPr sz="2200" dirty="0">
              <a:latin typeface="Calibri"/>
              <a:cs typeface="Calibri"/>
            </a:endParaRPr>
          </a:p>
          <a:p>
            <a:pPr marL="914400" marR="528386" lvl="1" indent="-476250">
              <a:lnSpc>
                <a:spcPct val="110000"/>
              </a:lnSpc>
              <a:spcBef>
                <a:spcPts val="582"/>
              </a:spcBef>
              <a:tabLst>
                <a:tab pos="653338" algn="l"/>
              </a:tabLst>
            </a:pPr>
            <a:r>
              <a:rPr lang="en-US" sz="2200" b="1" dirty="0">
                <a:solidFill>
                  <a:srgbClr val="00B050"/>
                </a:solidFill>
                <a:latin typeface="Calibri"/>
                <a:cs typeface="Calibri"/>
              </a:rPr>
              <a:t>Q1.</a:t>
            </a:r>
            <a:r>
              <a:rPr lang="en-US"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 is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average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 time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 </a:t>
            </a:r>
            <a:r>
              <a:rPr sz="2200" spc="-9" dirty="0">
                <a:latin typeface="Calibri"/>
                <a:cs typeface="Calibri"/>
              </a:rPr>
              <a:t>direct</a:t>
            </a:r>
            <a:r>
              <a:rPr lang="en-US" sz="2200" spc="-9" dirty="0">
                <a:latin typeface="Calibri"/>
                <a:cs typeface="Calibri"/>
              </a:rPr>
              <a:t>-</a:t>
            </a:r>
            <a:r>
              <a:rPr sz="2200" spc="-9" dirty="0">
                <a:latin typeface="Calibri"/>
                <a:cs typeface="Calibri"/>
              </a:rPr>
              <a:t>mapped? </a:t>
            </a:r>
            <a:r>
              <a:rPr sz="2200" dirty="0">
                <a:latin typeface="Calibri"/>
                <a:cs typeface="Calibri"/>
              </a:rPr>
              <a:t>(assume 6%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</a:t>
            </a:r>
            <a:r>
              <a:rPr lang="en-US" sz="2200" dirty="0">
                <a:latin typeface="Calibri"/>
                <a:cs typeface="Calibri"/>
              </a:rPr>
              <a:t> for direct-mapped</a:t>
            </a:r>
            <a:r>
              <a:rPr sz="2200" dirty="0">
                <a:latin typeface="Calibri"/>
                <a:cs typeface="Calibri"/>
              </a:rPr>
              <a:t>)</a:t>
            </a:r>
            <a:endParaRPr lang="en-US" sz="2200" dirty="0">
              <a:latin typeface="Calibri"/>
              <a:cs typeface="Calibri"/>
            </a:endParaRPr>
          </a:p>
          <a:p>
            <a:pPr marL="914400" marR="528386" lvl="1">
              <a:lnSpc>
                <a:spcPct val="110000"/>
              </a:lnSpc>
              <a:spcBef>
                <a:spcPts val="582"/>
              </a:spcBef>
              <a:spcAft>
                <a:spcPts val="600"/>
              </a:spcAft>
              <a:tabLst>
                <a:tab pos="862013" algn="l"/>
              </a:tabLst>
            </a:pPr>
            <a:r>
              <a:rPr lang="en-US" sz="2200" dirty="0">
                <a:cs typeface="Calibri"/>
              </a:rPr>
              <a:t>»</a:t>
            </a:r>
            <a:r>
              <a:rPr lang="en-US" sz="2200" spc="427" dirty="0">
                <a:cs typeface="Calibri"/>
              </a:rPr>
              <a:t> </a:t>
            </a:r>
            <a:r>
              <a:rPr lang="en-US" sz="2200" spc="-35" dirty="0">
                <a:solidFill>
                  <a:srgbClr val="0070C0"/>
                </a:solidFill>
                <a:latin typeface="Calibri"/>
                <a:cs typeface="Calibri"/>
              </a:rPr>
              <a:t>AMAT =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1 +</a:t>
            </a:r>
            <a:r>
              <a:rPr sz="22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200" spc="4" dirty="0">
                <a:solidFill>
                  <a:srgbClr val="0070C0"/>
                </a:solidFill>
                <a:latin typeface="Calibri"/>
                <a:cs typeface="Calibri"/>
              </a:rPr>
              <a:t>0.06</a:t>
            </a:r>
            <a:r>
              <a:rPr lang="en-US" sz="2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*</a:t>
            </a:r>
            <a:r>
              <a:rPr lang="en-US" sz="22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50 =</a:t>
            </a:r>
            <a:r>
              <a:rPr sz="22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4</a:t>
            </a:r>
            <a:r>
              <a:rPr sz="2200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70C0"/>
                </a:solidFill>
                <a:latin typeface="Calibri"/>
                <a:cs typeface="Calibri"/>
              </a:rPr>
              <a:t>cycles</a:t>
            </a:r>
            <a:endParaRPr sz="22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439294" lvl="1">
              <a:lnSpc>
                <a:spcPct val="110000"/>
              </a:lnSpc>
              <a:spcBef>
                <a:spcPts val="349"/>
              </a:spcBef>
              <a:tabLst>
                <a:tab pos="651657" algn="l"/>
              </a:tabLst>
            </a:pPr>
            <a:r>
              <a:rPr sz="2200" b="1" dirty="0">
                <a:solidFill>
                  <a:srgbClr val="00B050"/>
                </a:solidFill>
                <a:latin typeface="Calibri"/>
                <a:cs typeface="Calibri"/>
              </a:rPr>
              <a:t>Q2</a:t>
            </a:r>
            <a:r>
              <a:rPr lang="en-US" sz="2200" b="1" dirty="0">
                <a:solidFill>
                  <a:srgbClr val="00B050"/>
                </a:solidFill>
                <a:latin typeface="Calibri"/>
                <a:cs typeface="Calibri"/>
              </a:rPr>
              <a:t>.</a:t>
            </a:r>
            <a:r>
              <a:rPr lang="en-US" sz="2200" b="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 the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average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 access time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 </a:t>
            </a:r>
            <a:r>
              <a:rPr sz="2200" spc="-9" dirty="0">
                <a:latin typeface="Calibri"/>
                <a:cs typeface="Calibri"/>
              </a:rPr>
              <a:t>2-</a:t>
            </a:r>
            <a:r>
              <a:rPr sz="2200" spc="-18" dirty="0">
                <a:latin typeface="Calibri"/>
                <a:cs typeface="Calibri"/>
              </a:rPr>
              <a:t>way?</a:t>
            </a:r>
            <a:endParaRPr sz="2200" dirty="0">
              <a:latin typeface="Calibri"/>
              <a:cs typeface="Calibri"/>
            </a:endParaRPr>
          </a:p>
          <a:p>
            <a:pPr marL="914400">
              <a:lnSpc>
                <a:spcPct val="110000"/>
              </a:lnSpc>
              <a:spcBef>
                <a:spcPts val="357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lang="en-US" sz="2200" spc="427" dirty="0">
                <a:latin typeface="Calibri"/>
                <a:cs typeface="Calibri"/>
              </a:rPr>
              <a:t> </a:t>
            </a:r>
            <a:r>
              <a:rPr lang="en-US" sz="2200" dirty="0">
                <a:solidFill>
                  <a:srgbClr val="0070C0"/>
                </a:solidFill>
                <a:latin typeface="Calibri"/>
                <a:cs typeface="Calibri"/>
              </a:rPr>
              <a:t>AMAT =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r>
              <a:rPr sz="22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+</a:t>
            </a:r>
            <a:r>
              <a:rPr sz="22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sz="2200" spc="9" dirty="0">
                <a:solidFill>
                  <a:srgbClr val="0070C0"/>
                </a:solidFill>
                <a:latin typeface="Calibri"/>
                <a:cs typeface="Calibri"/>
              </a:rPr>
              <a:t>0.03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*</a:t>
            </a:r>
            <a:r>
              <a:rPr sz="22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50</a:t>
            </a:r>
            <a:r>
              <a:rPr sz="22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=</a:t>
            </a:r>
            <a:r>
              <a:rPr sz="2200" spc="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alibri"/>
                <a:cs typeface="Calibri"/>
              </a:rPr>
              <a:t>2.5</a:t>
            </a:r>
            <a:r>
              <a:rPr sz="2200" spc="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0070C0"/>
                </a:solidFill>
                <a:latin typeface="Calibri"/>
                <a:cs typeface="Calibri"/>
              </a:rPr>
              <a:t>cycles</a:t>
            </a:r>
            <a:endParaRPr sz="22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1206500" indent="-273050">
              <a:lnSpc>
                <a:spcPct val="110000"/>
              </a:lnSpc>
              <a:spcBef>
                <a:spcPts val="383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42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 </a:t>
            </a:r>
            <a:r>
              <a:rPr lang="en-US" sz="2200" dirty="0">
                <a:latin typeface="Calibri"/>
                <a:cs typeface="Calibri"/>
              </a:rPr>
              <a:t>CCT </a:t>
            </a:r>
            <a:r>
              <a:rPr lang="en-US" sz="2200" i="1" dirty="0">
                <a:latin typeface="Calibri"/>
                <a:cs typeface="Calibri"/>
              </a:rPr>
              <a:t>(clock cycle time)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longer. </a:t>
            </a:r>
            <a:br>
              <a:rPr lang="en-US" sz="2200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So, it corresponds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2.75 cycles</a:t>
            </a:r>
            <a:r>
              <a:rPr sz="2200" b="1" spc="-4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1-</a:t>
            </a:r>
            <a:r>
              <a:rPr sz="2200" dirty="0">
                <a:latin typeface="Calibri"/>
                <a:cs typeface="Calibri"/>
              </a:rPr>
              <a:t>way </a:t>
            </a:r>
            <a:r>
              <a:rPr sz="2200" spc="-9" dirty="0">
                <a:latin typeface="Calibri"/>
                <a:cs typeface="Calibri"/>
              </a:rPr>
              <a:t>design</a:t>
            </a:r>
            <a:r>
              <a:rPr lang="en-US" sz="2200" spc="-9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948FB9A1-6B72-84E3-AC63-9043A832A2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35463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7"/>
            <a:ext cx="6733273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Cache</a:t>
            </a:r>
            <a:r>
              <a:rPr spc="-31" dirty="0"/>
              <a:t> </a:t>
            </a:r>
            <a:r>
              <a:rPr dirty="0"/>
              <a:t>size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/>
              <a:t>associativity</a:t>
            </a:r>
            <a:r>
              <a:rPr spc="-18" dirty="0"/>
              <a:t> </a:t>
            </a:r>
            <a:r>
              <a:rPr dirty="0"/>
              <a:t>and</a:t>
            </a:r>
            <a:r>
              <a:rPr spc="-13" dirty="0"/>
              <a:t> </a:t>
            </a:r>
            <a:r>
              <a:rPr dirty="0"/>
              <a:t>Access</a:t>
            </a:r>
            <a:r>
              <a:rPr spc="-26" dirty="0"/>
              <a:t> </a:t>
            </a:r>
            <a:r>
              <a:rPr spc="-9" dirty="0"/>
              <a:t>times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280296"/>
            <a:ext cx="7423527" cy="789017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generally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associativity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increased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156" y="2207782"/>
            <a:ext cx="7235687" cy="44851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87830" y="6507202"/>
            <a:ext cx="1281393" cy="232530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11206">
              <a:spcBef>
                <a:spcPts val="13"/>
              </a:spcBef>
            </a:pPr>
            <a:r>
              <a:rPr sz="1500" dirty="0">
                <a:latin typeface="Calibri"/>
                <a:cs typeface="Calibri"/>
              </a:rPr>
              <a:t>(Fig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2.3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H&amp;P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lang="en-US" sz="1500" spc="-18" dirty="0">
                <a:latin typeface="Calibri"/>
                <a:cs typeface="Calibri"/>
              </a:rPr>
              <a:t>6</a:t>
            </a:r>
            <a:r>
              <a:rPr sz="1456" spc="-26" baseline="25252" dirty="0">
                <a:latin typeface="Calibri"/>
                <a:cs typeface="Calibri"/>
              </a:rPr>
              <a:t>th</a:t>
            </a:r>
            <a:r>
              <a:rPr sz="1500" spc="-18" dirty="0">
                <a:latin typeface="Calibri"/>
                <a:cs typeface="Calibri"/>
              </a:rPr>
              <a:t>)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585F38-EBB2-6006-C053-72DE8AF049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665490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Reducing</a:t>
            </a:r>
            <a:r>
              <a:rPr spc="-40" dirty="0"/>
              <a:t> </a:t>
            </a:r>
            <a:r>
              <a:rPr dirty="0"/>
              <a:t>Miss</a:t>
            </a:r>
            <a:r>
              <a:rPr spc="-49" dirty="0"/>
              <a:t> </a:t>
            </a:r>
            <a:r>
              <a:rPr dirty="0"/>
              <a:t>Penalty:</a:t>
            </a:r>
            <a:r>
              <a:rPr spc="-40" dirty="0"/>
              <a:t> </a:t>
            </a:r>
            <a:r>
              <a:rPr spc="-9" dirty="0"/>
              <a:t>Multi-</a:t>
            </a:r>
            <a:r>
              <a:rPr dirty="0"/>
              <a:t>level</a:t>
            </a:r>
            <a:r>
              <a:rPr spc="-44" dirty="0"/>
              <a:t> </a:t>
            </a:r>
            <a:r>
              <a:rPr spc="-9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14036"/>
            <a:ext cx="8017565" cy="5361144"/>
          </a:xfrm>
          <a:prstGeom prst="rect">
            <a:avLst/>
          </a:prstGeom>
        </p:spPr>
        <p:txBody>
          <a:bodyPr vert="horz" wrap="square" lIns="0" tIns="41462" rIns="0" bIns="0" rtlCol="0">
            <a:spAutoFit/>
          </a:bodyPr>
          <a:lstStyle/>
          <a:p>
            <a:pPr marL="312100" marR="417441" indent="-267835" algn="just">
              <a:lnSpc>
                <a:spcPct val="110000"/>
              </a:lnSpc>
              <a:spcBef>
                <a:spcPts val="326"/>
              </a:spcBef>
              <a:spcAft>
                <a:spcPts val="1800"/>
              </a:spcAft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larger </a:t>
            </a:r>
            <a:r>
              <a:rPr sz="2400" dirty="0">
                <a:latin typeface="Calibri"/>
                <a:cs typeface="Calibri"/>
              </a:rPr>
              <a:t>(but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necessarily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slower)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secondary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between, </a:t>
            </a:r>
            <a:r>
              <a:rPr sz="2400" dirty="0">
                <a:latin typeface="Calibri"/>
                <a:cs typeface="Calibri"/>
              </a:rPr>
              <a:t>perhaps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capable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</a:t>
            </a:r>
            <a:endParaRPr sz="2400" dirty="0">
              <a:latin typeface="Calibri"/>
              <a:cs typeface="Calibri"/>
            </a:endParaRPr>
          </a:p>
          <a:p>
            <a:pPr marL="312100" marR="407356" indent="-267835" algn="just">
              <a:lnSpc>
                <a:spcPct val="110000"/>
              </a:lnSpc>
              <a:spcBef>
                <a:spcPts val="4"/>
              </a:spcBef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Complicates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analysis,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2nd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 </a:t>
            </a:r>
            <a:r>
              <a:rPr sz="2400" dirty="0">
                <a:latin typeface="Calibri"/>
                <a:cs typeface="Calibri"/>
              </a:rPr>
              <a:t>captures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1st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lowering </a:t>
            </a:r>
            <a:r>
              <a:rPr sz="2400" dirty="0">
                <a:latin typeface="Calibri"/>
                <a:cs typeface="Calibri"/>
              </a:rPr>
              <a:t>effective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  <a:p>
            <a:pPr marL="685276" lvl="1" indent="-212363">
              <a:lnSpc>
                <a:spcPct val="110000"/>
              </a:lnSpc>
              <a:spcBef>
                <a:spcPts val="405"/>
              </a:spcBef>
              <a:spcAft>
                <a:spcPts val="1800"/>
              </a:spcAft>
              <a:buChar char="–"/>
              <a:tabLst>
                <a:tab pos="685276" algn="l"/>
              </a:tabLst>
            </a:pPr>
            <a:r>
              <a:rPr lang="en-US" sz="2200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3rd level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 has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 benefits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</a:t>
            </a:r>
            <a:r>
              <a:rPr sz="2200" spc="-9" dirty="0">
                <a:latin typeface="Calibri"/>
                <a:cs typeface="Calibri"/>
              </a:rPr>
              <a:t> cache</a:t>
            </a:r>
            <a:endParaRPr sz="2200" dirty="0">
              <a:latin typeface="Calibri"/>
              <a:cs typeface="Calibri"/>
            </a:endParaRPr>
          </a:p>
          <a:p>
            <a:pPr marL="312100" marR="259990" indent="-267835" algn="just">
              <a:lnSpc>
                <a:spcPct val="110000"/>
              </a:lnSpc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separate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1st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2nd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level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caches,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3rd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685276" lvl="1" indent="-212363" algn="just">
              <a:lnSpc>
                <a:spcPct val="110000"/>
              </a:lnSpc>
              <a:spcBef>
                <a:spcPts val="410"/>
              </a:spcBef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Previously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lang="en-US" sz="2200" dirty="0">
                <a:latin typeface="Calibri"/>
                <a:cs typeface="Calibri"/>
              </a:rPr>
              <a:t>nd</a:t>
            </a:r>
            <a:r>
              <a:rPr sz="2200" spc="132" baseline="2564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level,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off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chip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3rd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cache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33C98920-A17E-A869-56BF-CAC8419E77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Victim</a:t>
            </a:r>
            <a:r>
              <a:rPr spc="-124" dirty="0"/>
              <a:t> </a:t>
            </a:r>
            <a:r>
              <a:rPr spc="-9" dirty="0"/>
              <a:t>Caches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453178"/>
            <a:ext cx="7779026" cy="403879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740747" indent="-249344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lang="en-US" sz="2400" spc="-66" dirty="0">
                <a:latin typeface="Calibri"/>
                <a:cs typeface="Calibri"/>
              </a:rPr>
              <a:t>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recently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been </a:t>
            </a:r>
            <a:r>
              <a:rPr sz="2400" spc="-9" dirty="0">
                <a:latin typeface="Calibri"/>
                <a:cs typeface="Calibri"/>
              </a:rPr>
              <a:t>replaced</a:t>
            </a:r>
            <a:r>
              <a:rPr lang="en-US"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(evicted)</a:t>
            </a:r>
            <a:endParaRPr sz="2400" dirty="0">
              <a:latin typeface="Calibri"/>
              <a:cs typeface="Calibri"/>
            </a:endParaRPr>
          </a:p>
          <a:p>
            <a:pPr marL="609633" marR="193872" lvl="1" indent="-199475">
              <a:lnSpc>
                <a:spcPct val="110000"/>
              </a:lnSpc>
              <a:spcBef>
                <a:spcPts val="565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U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lang="en-US" sz="2200" dirty="0">
                <a:latin typeface="Calibri"/>
                <a:cs typeface="Calibri"/>
              </a:rPr>
              <a:t>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associative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between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gets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from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604"/>
              </a:spcBef>
              <a:spcAft>
                <a:spcPts val="24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heck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victim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before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next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lower-</a:t>
            </a:r>
            <a:r>
              <a:rPr sz="2200" spc="-9" dirty="0">
                <a:latin typeface="Calibri"/>
                <a:cs typeface="Calibri"/>
              </a:rPr>
              <a:t>level memory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lang="en-US" sz="2400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found,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victim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61"/>
              </a:spcBef>
              <a:buChar char="–"/>
              <a:tabLst>
                <a:tab pos="609633" algn="l"/>
              </a:tabLst>
            </a:pPr>
            <a:r>
              <a:rPr lang="en-US" sz="2200" spc="-9" dirty="0">
                <a:latin typeface="Calibri"/>
                <a:cs typeface="Calibri"/>
              </a:rPr>
              <a:t>R</a:t>
            </a:r>
            <a:r>
              <a:rPr sz="2200" spc="-9" dirty="0">
                <a:latin typeface="Calibri"/>
                <a:cs typeface="Calibri"/>
              </a:rPr>
              <a:t>educes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conflict</a:t>
            </a:r>
            <a:r>
              <a:rPr sz="22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misses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609633" marR="45386" lvl="1" indent="-199475">
              <a:lnSpc>
                <a:spcPct val="110000"/>
              </a:lnSpc>
              <a:spcBef>
                <a:spcPts val="649"/>
              </a:spcBef>
              <a:buChar char="–"/>
              <a:tabLst>
                <a:tab pos="609633" algn="l"/>
              </a:tabLst>
            </a:pPr>
            <a:r>
              <a:rPr lang="en-US" sz="2200" spc="-9" dirty="0">
                <a:latin typeface="Calibri"/>
                <a:cs typeface="Calibri"/>
              </a:rPr>
              <a:t>D</a:t>
            </a:r>
            <a:r>
              <a:rPr sz="2200" spc="-9" dirty="0">
                <a:latin typeface="Calibri"/>
                <a:cs typeface="Calibri"/>
              </a:rPr>
              <a:t>ifferent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(sometimes,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victim</a:t>
            </a:r>
            <a:r>
              <a:rPr sz="2200" b="1" spc="-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buffer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49" dirty="0">
                <a:latin typeface="Calibri"/>
                <a:cs typeface="Calibri"/>
              </a:rPr>
              <a:t> </a:t>
            </a:r>
            <a:br>
              <a:rPr lang="en-US" sz="2200" spc="-4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reduce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penalty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23031420-711E-0156-B088-6ACAD09450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Victim</a:t>
            </a:r>
            <a:r>
              <a:rPr spc="-137" dirty="0"/>
              <a:t> </a:t>
            </a:r>
            <a:r>
              <a:rPr dirty="0"/>
              <a:t>Caches</a:t>
            </a:r>
            <a:r>
              <a:rPr spc="-132" dirty="0"/>
              <a:t> </a:t>
            </a:r>
            <a:r>
              <a:rPr spc="-9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4250" y="1474708"/>
            <a:ext cx="5966480" cy="4966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34250" y="5250428"/>
            <a:ext cx="1784537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dirty="0">
                <a:latin typeface="Arial"/>
                <a:cs typeface="Arial"/>
              </a:rPr>
              <a:t>Figure</a:t>
            </a:r>
            <a:r>
              <a:rPr sz="1412" b="1" spc="-57" dirty="0">
                <a:latin typeface="Arial"/>
                <a:cs typeface="Arial"/>
              </a:rPr>
              <a:t> </a:t>
            </a:r>
            <a:r>
              <a:rPr sz="1412" b="1" dirty="0">
                <a:latin typeface="Arial"/>
                <a:cs typeface="Arial"/>
              </a:rPr>
              <a:t>from</a:t>
            </a:r>
            <a:r>
              <a:rPr sz="1412" b="1" spc="-57" dirty="0">
                <a:latin typeface="Arial"/>
                <a:cs typeface="Arial"/>
              </a:rPr>
              <a:t> </a:t>
            </a:r>
            <a:r>
              <a:rPr sz="1412" b="1" dirty="0">
                <a:latin typeface="Arial"/>
                <a:cs typeface="Arial"/>
              </a:rPr>
              <a:t>H&amp;P</a:t>
            </a:r>
            <a:r>
              <a:rPr sz="1412" b="1" spc="-79" dirty="0">
                <a:latin typeface="Arial"/>
                <a:cs typeface="Arial"/>
              </a:rPr>
              <a:t> </a:t>
            </a:r>
            <a:r>
              <a:rPr sz="1412" b="1" spc="-22" dirty="0">
                <a:latin typeface="Arial"/>
                <a:cs typeface="Arial"/>
              </a:rPr>
              <a:t>3ed</a:t>
            </a:r>
            <a:endParaRPr sz="1412" dirty="0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A652FD-DE21-BFC1-6CEE-0DE27FC458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Don't</a:t>
            </a:r>
            <a:r>
              <a:rPr spc="-84" dirty="0"/>
              <a:t> </a:t>
            </a:r>
            <a:r>
              <a:rPr dirty="0"/>
              <a:t>wait</a:t>
            </a:r>
            <a:r>
              <a:rPr spc="-79" dirty="0"/>
              <a:t> </a:t>
            </a:r>
            <a:r>
              <a:rPr dirty="0"/>
              <a:t>for</a:t>
            </a:r>
            <a:r>
              <a:rPr spc="-93" dirty="0"/>
              <a:t> </a:t>
            </a:r>
            <a:r>
              <a:rPr dirty="0"/>
              <a:t>the</a:t>
            </a:r>
            <a:r>
              <a:rPr spc="-93" dirty="0"/>
              <a:t> </a:t>
            </a:r>
            <a:r>
              <a:rPr dirty="0"/>
              <a:t>whole</a:t>
            </a:r>
            <a:r>
              <a:rPr spc="-93" dirty="0"/>
              <a:t> </a:t>
            </a:r>
            <a:r>
              <a:rPr dirty="0"/>
              <a:t>block</a:t>
            </a:r>
            <a:r>
              <a:rPr spc="-93" dirty="0"/>
              <a:t> </a:t>
            </a:r>
            <a:r>
              <a:rPr dirty="0"/>
              <a:t>on</a:t>
            </a:r>
            <a:r>
              <a:rPr spc="-84" dirty="0"/>
              <a:t> </a:t>
            </a:r>
            <a:r>
              <a:rPr dirty="0"/>
              <a:t>cache</a:t>
            </a:r>
            <a:r>
              <a:rPr spc="-97" dirty="0"/>
              <a:t> </a:t>
            </a:r>
            <a:r>
              <a:rPr spc="-18" dirty="0"/>
              <a:t>miss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2578" y="1346574"/>
            <a:ext cx="7126583" cy="2696469"/>
          </a:xfrm>
          <a:prstGeom prst="rect">
            <a:avLst/>
          </a:prstGeom>
        </p:spPr>
        <p:txBody>
          <a:bodyPr vert="horz" wrap="square" lIns="0" tIns="104102" rIns="0" bIns="0" rtlCol="0">
            <a:spAutoFit/>
          </a:bodyPr>
          <a:lstStyle/>
          <a:p>
            <a:pPr marL="260551" marR="318824" indent="-249344" algn="l">
              <a:lnSpc>
                <a:spcPct val="110000"/>
              </a:lnSpc>
              <a:spcBef>
                <a:spcPts val="375"/>
              </a:spcBef>
              <a:spcAft>
                <a:spcPts val="600"/>
              </a:spcAft>
              <a:buChar char="•"/>
              <a:tabLst>
                <a:tab pos="260551" algn="l"/>
              </a:tabLst>
            </a:pPr>
            <a:r>
              <a:rPr sz="2400" dirty="0"/>
              <a:t>Two</a:t>
            </a:r>
            <a:r>
              <a:rPr sz="2400" spc="-71" dirty="0"/>
              <a:t> </a:t>
            </a:r>
            <a:r>
              <a:rPr sz="2400" dirty="0"/>
              <a:t>ways</a:t>
            </a:r>
            <a:r>
              <a:rPr sz="2400" spc="-66" dirty="0"/>
              <a:t> </a:t>
            </a:r>
            <a:r>
              <a:rPr sz="2400" dirty="0"/>
              <a:t>to</a:t>
            </a:r>
            <a:r>
              <a:rPr sz="2400" spc="-71" dirty="0"/>
              <a:t> </a:t>
            </a:r>
            <a:r>
              <a:rPr sz="2400" dirty="0"/>
              <a:t>do</a:t>
            </a:r>
            <a:r>
              <a:rPr sz="2400" spc="-71" dirty="0"/>
              <a:t> </a:t>
            </a:r>
            <a:r>
              <a:rPr sz="2400" dirty="0"/>
              <a:t>this</a:t>
            </a:r>
            <a:r>
              <a:rPr sz="2400" spc="-62" dirty="0"/>
              <a:t> </a:t>
            </a:r>
            <a:r>
              <a:rPr sz="2400" dirty="0"/>
              <a:t>–</a:t>
            </a:r>
            <a:r>
              <a:rPr sz="2400" spc="-62" dirty="0"/>
              <a:t> </a:t>
            </a:r>
            <a:br>
              <a:rPr lang="en-US" sz="2400" spc="-62" dirty="0"/>
            </a:br>
            <a:r>
              <a:rPr sz="2400" spc="-9" dirty="0"/>
              <a:t>suppose</a:t>
            </a:r>
            <a:r>
              <a:rPr sz="2400" spc="-62" dirty="0"/>
              <a:t> </a:t>
            </a:r>
            <a:r>
              <a:rPr sz="2400" dirty="0"/>
              <a:t>need</a:t>
            </a:r>
            <a:r>
              <a:rPr sz="2400" spc="-66" dirty="0"/>
              <a:t> </a:t>
            </a:r>
            <a:r>
              <a:rPr sz="2400" dirty="0"/>
              <a:t>the</a:t>
            </a:r>
            <a:r>
              <a:rPr sz="2400" spc="-66" dirty="0"/>
              <a:t> </a:t>
            </a:r>
            <a:r>
              <a:rPr sz="2400" dirty="0"/>
              <a:t>10th</a:t>
            </a:r>
            <a:r>
              <a:rPr sz="2400" spc="-66" dirty="0"/>
              <a:t> </a:t>
            </a:r>
            <a:r>
              <a:rPr sz="2400" dirty="0"/>
              <a:t>word</a:t>
            </a:r>
            <a:r>
              <a:rPr sz="2400" spc="-62" dirty="0"/>
              <a:t> </a:t>
            </a:r>
            <a:r>
              <a:rPr sz="2400" dirty="0"/>
              <a:t>in</a:t>
            </a:r>
            <a:r>
              <a:rPr sz="2400" spc="-66" dirty="0"/>
              <a:t> </a:t>
            </a:r>
            <a:r>
              <a:rPr sz="2400" spc="-44" dirty="0"/>
              <a:t>a </a:t>
            </a:r>
            <a:r>
              <a:rPr sz="2400" spc="-9" dirty="0"/>
              <a:t>block:</a:t>
            </a:r>
          </a:p>
          <a:p>
            <a:pPr marL="688975" marR="4483" lvl="1" indent="-396875" algn="just">
              <a:lnSpc>
                <a:spcPct val="110000"/>
              </a:lnSpc>
              <a:spcBef>
                <a:spcPts val="565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>
                <a:tab pos="609633" algn="l"/>
              </a:tabLst>
            </a:pP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Early</a:t>
            </a:r>
            <a:r>
              <a:rPr sz="2200" b="1" spc="-49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restart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required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fetched,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instead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of </a:t>
            </a:r>
            <a:r>
              <a:rPr sz="2200" spc="-9" dirty="0">
                <a:latin typeface="Calibri"/>
                <a:cs typeface="Calibri"/>
              </a:rPr>
              <a:t>waiting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whole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block</a:t>
            </a:r>
            <a:endParaRPr sz="2200" dirty="0">
              <a:latin typeface="Calibri"/>
              <a:cs typeface="Calibri"/>
            </a:endParaRPr>
          </a:p>
          <a:p>
            <a:pPr marL="688975" marR="270636" lvl="1" indent="-396875" algn="just">
              <a:lnSpc>
                <a:spcPct val="110000"/>
              </a:lnSpc>
              <a:spcBef>
                <a:spcPts val="604"/>
              </a:spcBef>
              <a:buClr>
                <a:schemeClr val="tx1"/>
              </a:buClr>
              <a:buFont typeface="+mj-lt"/>
              <a:buAutoNum type="arabicPeriod"/>
              <a:tabLst>
                <a:tab pos="609633" algn="l"/>
              </a:tabLst>
            </a:pP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Critical</a:t>
            </a:r>
            <a:r>
              <a:rPr sz="2200" b="1" spc="-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word</a:t>
            </a:r>
            <a:r>
              <a:rPr sz="2200" b="1" spc="-53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70C0"/>
                </a:solidFill>
                <a:latin typeface="Calibri"/>
                <a:cs typeface="Calibri"/>
              </a:rPr>
              <a:t>first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fetch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10,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few </a:t>
            </a:r>
            <a:r>
              <a:rPr sz="2200" spc="-9" dirty="0">
                <a:latin typeface="Calibri"/>
                <a:cs typeface="Calibri"/>
              </a:rPr>
              <a:t>later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859202FF-F2FD-60C1-C31A-C64E09BFA6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Use</a:t>
            </a:r>
            <a:r>
              <a:rPr spc="-66" dirty="0"/>
              <a:t> </a:t>
            </a:r>
            <a:r>
              <a:rPr dirty="0"/>
              <a:t>a</a:t>
            </a:r>
            <a:r>
              <a:rPr spc="-53" dirty="0"/>
              <a:t> </a:t>
            </a:r>
            <a:r>
              <a:rPr spc="-31" dirty="0"/>
              <a:t>non-</a:t>
            </a:r>
            <a:r>
              <a:rPr spc="-9" dirty="0"/>
              <a:t>blocking</a:t>
            </a:r>
            <a:r>
              <a:rPr spc="-53" dirty="0"/>
              <a:t> </a:t>
            </a:r>
            <a:r>
              <a:rPr spc="-9" dirty="0"/>
              <a:t>cache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091" y="1396701"/>
            <a:ext cx="7503039" cy="5315867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“</a:t>
            </a:r>
            <a:r>
              <a:rPr sz="2400" b="1" spc="-22" dirty="0">
                <a:solidFill>
                  <a:srgbClr val="FF0000"/>
                </a:solidFill>
                <a:latin typeface="Calibri"/>
                <a:cs typeface="Calibri"/>
              </a:rPr>
              <a:t>hit-</a:t>
            </a:r>
            <a:r>
              <a:rPr sz="2400" b="1" spc="-26" dirty="0">
                <a:solidFill>
                  <a:srgbClr val="FF0000"/>
                </a:solidFill>
                <a:latin typeface="Calibri"/>
                <a:cs typeface="Calibri"/>
              </a:rPr>
              <a:t>under-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miss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optimization</a:t>
            </a:r>
            <a:endParaRPr sz="2400" dirty="0">
              <a:latin typeface="Calibri"/>
              <a:cs typeface="Calibri"/>
            </a:endParaRPr>
          </a:p>
          <a:p>
            <a:pPr marL="260551" marR="89092" indent="-249344">
              <a:lnSpc>
                <a:spcPct val="110000"/>
              </a:lnSpc>
              <a:spcBef>
                <a:spcPts val="693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optimization,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doesn't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stop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miss,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continues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requests,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possible,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even </a:t>
            </a:r>
            <a:r>
              <a:rPr sz="2400" spc="-9" dirty="0">
                <a:latin typeface="Calibri"/>
                <a:cs typeface="Calibri"/>
              </a:rPr>
              <a:t>though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earlier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fulfilled</a:t>
            </a:r>
            <a:endParaRPr lang="en-US" sz="2400" spc="-9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591"/>
              </a:spcBef>
              <a:spcAft>
                <a:spcPts val="600"/>
              </a:spcAft>
              <a:buChar char="–"/>
              <a:tabLst>
                <a:tab pos="609633" algn="l"/>
              </a:tabLst>
            </a:pPr>
            <a:r>
              <a:rPr lang="en-US" sz="2200" spc="-9" dirty="0">
                <a:cs typeface="Calibri"/>
              </a:rPr>
              <a:t>Introduces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significant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complexity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into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cache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architecture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–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must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allow multiple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outstanding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cache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requests</a:t>
            </a:r>
            <a:r>
              <a:rPr lang="en-US" sz="2200" spc="-62" dirty="0">
                <a:cs typeface="Calibri"/>
              </a:rPr>
              <a:t> </a:t>
            </a:r>
            <a:br>
              <a:rPr lang="en-US" sz="2200" spc="-62" dirty="0">
                <a:cs typeface="Calibri"/>
              </a:rPr>
            </a:br>
            <a:r>
              <a:rPr lang="en-US" sz="2200" dirty="0">
                <a:cs typeface="Calibri"/>
              </a:rPr>
              <a:t>(maybe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even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multiple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misses)</a:t>
            </a:r>
            <a:endParaRPr lang="en-US" sz="2200" dirty="0"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74"/>
              </a:spcBef>
              <a:spcAft>
                <a:spcPts val="6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cs typeface="Calibri"/>
              </a:rPr>
              <a:t>But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this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is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what’s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done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modern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processors</a:t>
            </a:r>
            <a:endParaRPr lang="en-US" sz="2400" spc="-9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lang="en-US" sz="2400" dirty="0">
                <a:cs typeface="Calibri"/>
              </a:rPr>
              <a:t>Should L2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support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this</a:t>
            </a:r>
            <a:r>
              <a:rPr lang="en-US" sz="2400" spc="-18" dirty="0">
                <a:cs typeface="Calibri"/>
              </a:rPr>
              <a:t>?</a:t>
            </a:r>
            <a:endParaRPr lang="en-US" sz="2400" dirty="0"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lang="en-US" sz="2200" dirty="0">
                <a:cs typeface="Calibri"/>
              </a:rPr>
              <a:t>In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general,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processors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can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hide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L1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miss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penalty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but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not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L2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miss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591"/>
              </a:spcBef>
              <a:spcAft>
                <a:spcPts val="600"/>
              </a:spcAft>
              <a:buChar char="–"/>
              <a:tabLst>
                <a:tab pos="609633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61F068B2-F9C5-E464-665C-DAE4FACA19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0A3F-C211-6782-23F4-BE09CA78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474D4D9-691C-92C9-FBE0-58E7A00C7A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Use</a:t>
            </a:r>
            <a:r>
              <a:rPr spc="-66" dirty="0"/>
              <a:t> </a:t>
            </a:r>
            <a:r>
              <a:rPr dirty="0"/>
              <a:t>a</a:t>
            </a:r>
            <a:r>
              <a:rPr spc="-53" dirty="0"/>
              <a:t> </a:t>
            </a:r>
            <a:r>
              <a:rPr spc="-31" dirty="0"/>
              <a:t>non-</a:t>
            </a:r>
            <a:r>
              <a:rPr spc="-9" dirty="0"/>
              <a:t>blocking</a:t>
            </a:r>
            <a:r>
              <a:rPr spc="-53" dirty="0"/>
              <a:t> </a:t>
            </a:r>
            <a:r>
              <a:rPr spc="-9" dirty="0"/>
              <a:t>cache</a:t>
            </a:r>
            <a:r>
              <a:rPr lang="en-US" spc="-9" dirty="0"/>
              <a:t> (cont.)</a:t>
            </a:r>
            <a:endParaRPr spc="-9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E83CBC6-E0B2-3883-A05A-F4072EC796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6700" y="1404716"/>
            <a:ext cx="6270600" cy="302894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381E5A58-F6FD-6DDF-A572-B4808DAD010E}"/>
              </a:ext>
            </a:extLst>
          </p:cNvPr>
          <p:cNvSpPr txBox="1"/>
          <p:nvPr/>
        </p:nvSpPr>
        <p:spPr>
          <a:xfrm>
            <a:off x="1339099" y="4088277"/>
            <a:ext cx="857810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412" dirty="0">
                <a:latin typeface="Arial MT"/>
                <a:cs typeface="Arial MT"/>
              </a:rPr>
              <a:t>Fig</a:t>
            </a:r>
            <a:r>
              <a:rPr sz="1412" spc="-35" dirty="0">
                <a:latin typeface="Arial MT"/>
                <a:cs typeface="Arial MT"/>
              </a:rPr>
              <a:t> </a:t>
            </a:r>
            <a:r>
              <a:rPr sz="1412" dirty="0">
                <a:latin typeface="Arial MT"/>
                <a:cs typeface="Arial MT"/>
              </a:rPr>
              <a:t>2.5</a:t>
            </a:r>
            <a:r>
              <a:rPr sz="1412" spc="-35" dirty="0">
                <a:latin typeface="Arial MT"/>
                <a:cs typeface="Arial MT"/>
              </a:rPr>
              <a:t> </a:t>
            </a:r>
            <a:r>
              <a:rPr lang="en-US" sz="1412" spc="-22" dirty="0">
                <a:latin typeface="Arial MT"/>
                <a:cs typeface="Arial MT"/>
              </a:rPr>
              <a:t>6</a:t>
            </a:r>
            <a:r>
              <a:rPr sz="1456" spc="-33" baseline="25252" dirty="0">
                <a:latin typeface="Arial MT"/>
                <a:cs typeface="Arial MT"/>
              </a:rPr>
              <a:t>th</a:t>
            </a:r>
            <a:endParaRPr sz="1456" baseline="25252" dirty="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172F289-7AB2-4111-E435-22A1DBC0DBEC}"/>
              </a:ext>
            </a:extLst>
          </p:cNvPr>
          <p:cNvSpPr txBox="1"/>
          <p:nvPr/>
        </p:nvSpPr>
        <p:spPr>
          <a:xfrm>
            <a:off x="1302690" y="4696551"/>
            <a:ext cx="7085938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0" spc="-9" dirty="0">
                <a:latin typeface="Arial MT"/>
                <a:cs typeface="Arial MT"/>
              </a:rPr>
              <a:t>Results</a:t>
            </a:r>
            <a:r>
              <a:rPr sz="2200" spc="-4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9" dirty="0">
                <a:latin typeface="Arial MT"/>
                <a:cs typeface="Arial MT"/>
              </a:rPr>
              <a:t>memory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9" dirty="0">
                <a:latin typeface="Arial MT"/>
                <a:cs typeface="Arial MT"/>
              </a:rPr>
              <a:t>modeled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after</a:t>
            </a:r>
            <a:r>
              <a:rPr sz="2200" spc="-4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2" dirty="0">
                <a:latin typeface="Arial MT"/>
                <a:cs typeface="Arial MT"/>
              </a:rPr>
              <a:t>i7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BBD2041-EFD8-0EBF-8877-ED4B9A8C2BDD}"/>
              </a:ext>
            </a:extLst>
          </p:cNvPr>
          <p:cNvSpPr txBox="1"/>
          <p:nvPr/>
        </p:nvSpPr>
        <p:spPr>
          <a:xfrm>
            <a:off x="1355699" y="5040756"/>
            <a:ext cx="6270600" cy="1512669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158572" indent="-147365">
              <a:spcBef>
                <a:spcPts val="596"/>
              </a:spcBef>
              <a:buChar char="-"/>
              <a:tabLst>
                <a:tab pos="158572" algn="l"/>
              </a:tabLst>
            </a:pPr>
            <a:r>
              <a:rPr sz="2000" dirty="0">
                <a:latin typeface="Arial MT"/>
                <a:cs typeface="Arial MT"/>
              </a:rPr>
              <a:t>32KB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L1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cache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cycle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access</a:t>
            </a:r>
            <a:r>
              <a:rPr sz="2000" spc="-31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latency.</a:t>
            </a:r>
            <a:endParaRPr sz="2000" dirty="0">
              <a:latin typeface="Arial MT"/>
              <a:cs typeface="Arial MT"/>
            </a:endParaRPr>
          </a:p>
          <a:p>
            <a:pPr marL="158572" indent="-147365">
              <a:spcBef>
                <a:spcPts val="507"/>
              </a:spcBef>
              <a:buChar char="-"/>
              <a:tabLst>
                <a:tab pos="158572" algn="l"/>
              </a:tabLst>
            </a:pPr>
            <a:r>
              <a:rPr sz="2000" spc="-9" dirty="0">
                <a:latin typeface="Arial MT"/>
                <a:cs typeface="Arial MT"/>
              </a:rPr>
              <a:t>256KB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L2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cycle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access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latency</a:t>
            </a:r>
            <a:endParaRPr sz="2000" dirty="0">
              <a:latin typeface="Arial MT"/>
              <a:cs typeface="Arial MT"/>
            </a:endParaRPr>
          </a:p>
          <a:p>
            <a:pPr marL="158572" indent="-147365">
              <a:spcBef>
                <a:spcPts val="591"/>
              </a:spcBef>
              <a:buChar char="-"/>
              <a:tabLst>
                <a:tab pos="158572" algn="l"/>
              </a:tabLst>
            </a:pPr>
            <a:r>
              <a:rPr sz="2000" dirty="0">
                <a:latin typeface="Arial MT"/>
                <a:cs typeface="Arial MT"/>
              </a:rPr>
              <a:t>2MB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L3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36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cycle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access</a:t>
            </a:r>
            <a:r>
              <a:rPr sz="2000" spc="-31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latency</a:t>
            </a:r>
            <a:endParaRPr sz="2000" dirty="0">
              <a:latin typeface="Arial MT"/>
              <a:cs typeface="Arial MT"/>
            </a:endParaRPr>
          </a:p>
          <a:p>
            <a:pPr marL="158572" indent="-147365">
              <a:spcBef>
                <a:spcPts val="529"/>
              </a:spcBef>
              <a:buChar char="-"/>
              <a:tabLst>
                <a:tab pos="158572" algn="l"/>
              </a:tabLst>
            </a:pPr>
            <a:r>
              <a:rPr sz="2000" spc="-18" dirty="0">
                <a:latin typeface="Arial MT"/>
                <a:cs typeface="Arial MT"/>
              </a:rPr>
              <a:t>8-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associative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64B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8" dirty="0">
                <a:latin typeface="Arial MT"/>
                <a:cs typeface="Arial MT"/>
              </a:rPr>
              <a:t>size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B608F85E-9AD5-38FD-F8E7-2CE5F200B2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697786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Hardware</a:t>
            </a:r>
            <a:r>
              <a:rPr spc="-141" dirty="0"/>
              <a:t> </a:t>
            </a:r>
            <a:r>
              <a:rPr lang="en-US" spc="-9" dirty="0"/>
              <a:t>P</a:t>
            </a:r>
            <a:r>
              <a:rPr spc="-9" dirty="0"/>
              <a:t>refetching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90684"/>
            <a:ext cx="7553739" cy="5200450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29"/>
              </a:spcBef>
              <a:buChar char="•"/>
              <a:tabLst>
                <a:tab pos="259990" algn="l"/>
                <a:tab pos="917250" algn="l"/>
              </a:tabLst>
            </a:pPr>
            <a:r>
              <a:rPr sz="2400" b="1" spc="-9" dirty="0">
                <a:latin typeface="Calibri"/>
                <a:cs typeface="Calibri"/>
              </a:rPr>
              <a:t>Idea:</a:t>
            </a:r>
            <a:r>
              <a:rPr sz="2400" dirty="0">
                <a:latin typeface="Calibri"/>
                <a:cs typeface="Calibri"/>
              </a:rPr>
              <a:t>	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i="1" spc="-22" dirty="0">
                <a:latin typeface="Calibri"/>
                <a:cs typeface="Calibri"/>
              </a:rPr>
              <a:t>k+1</a:t>
            </a:r>
            <a:endParaRPr sz="2400" dirty="0">
              <a:latin typeface="Calibri"/>
              <a:cs typeface="Calibri"/>
            </a:endParaRPr>
          </a:p>
          <a:p>
            <a:pPr marL="260551" marR="443215" indent="-249344">
              <a:lnSpc>
                <a:spcPct val="110000"/>
              </a:lnSpc>
              <a:spcBef>
                <a:spcPts val="715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next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too</a:t>
            </a:r>
            <a:endParaRPr sz="2400" dirty="0">
              <a:latin typeface="Calibri"/>
              <a:cs typeface="Calibri"/>
            </a:endParaRPr>
          </a:p>
          <a:p>
            <a:pPr marL="609633" marR="226371" lvl="1" indent="-199475">
              <a:lnSpc>
                <a:spcPct val="110000"/>
              </a:lnSpc>
              <a:spcBef>
                <a:spcPts val="565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aybe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separate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accessed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before </a:t>
            </a:r>
            <a:r>
              <a:rPr sz="2200" dirty="0">
                <a:latin typeface="Calibri"/>
                <a:cs typeface="Calibri"/>
              </a:rPr>
              <a:t>going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Advantage:</a:t>
            </a:r>
            <a:endParaRPr sz="2400" dirty="0">
              <a:latin typeface="Calibri"/>
              <a:cs typeface="Calibri"/>
            </a:endParaRPr>
          </a:p>
          <a:p>
            <a:pPr marL="609633" marR="157451" lvl="1" indent="-199475">
              <a:lnSpc>
                <a:spcPct val="110000"/>
              </a:lnSpc>
              <a:spcBef>
                <a:spcPts val="604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I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</a:t>
            </a:r>
            <a:r>
              <a:rPr lang="en-US" sz="2200" dirty="0">
                <a:latin typeface="Calibri"/>
                <a:cs typeface="Calibri"/>
              </a:rPr>
              <a:t> access is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sequential,</a:t>
            </a:r>
            <a:r>
              <a:rPr sz="2200" spc="-49" dirty="0">
                <a:latin typeface="Calibri"/>
                <a:cs typeface="Calibri"/>
              </a:rPr>
              <a:t> </a:t>
            </a:r>
            <a:br>
              <a:rPr lang="en-US" sz="2200" spc="-4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will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fetch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half</a:t>
            </a:r>
            <a:r>
              <a:rPr lang="en-US" sz="2200" dirty="0">
                <a:latin typeface="Calibri"/>
                <a:cs typeface="Calibri"/>
              </a:rPr>
              <a:t> (or more)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from </a:t>
            </a:r>
            <a:r>
              <a:rPr sz="2200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Disadvantages: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ore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move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18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ay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useless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blocks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ay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compete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demand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bandwidth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0435B3F-9DE0-6771-4893-26C7F43BE2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Hardware</a:t>
            </a:r>
            <a:r>
              <a:rPr spc="-141" dirty="0"/>
              <a:t> </a:t>
            </a:r>
            <a:r>
              <a:rPr lang="en-US" spc="-9" dirty="0"/>
              <a:t>P</a:t>
            </a:r>
            <a:r>
              <a:rPr spc="-9" dirty="0"/>
              <a:t>refetching</a:t>
            </a:r>
            <a:r>
              <a:rPr lang="en-US" spc="-9" dirty="0"/>
              <a:t> (cont.)</a:t>
            </a:r>
            <a:endParaRPr spc="-9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563" y="1672304"/>
            <a:ext cx="7270873" cy="4255304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3049957B-554C-0F53-72C4-9B0B2A2BF6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31" dirty="0"/>
              <a:t>Compiler-</a:t>
            </a:r>
            <a:r>
              <a:rPr lang="en-US" spc="-9" dirty="0"/>
              <a:t>C</a:t>
            </a:r>
            <a:r>
              <a:rPr spc="-9" dirty="0"/>
              <a:t>ontrolled</a:t>
            </a:r>
            <a:r>
              <a:rPr spc="-79" dirty="0"/>
              <a:t> </a:t>
            </a:r>
            <a:r>
              <a:rPr lang="en-US" spc="-9" dirty="0"/>
              <a:t>P</a:t>
            </a:r>
            <a:r>
              <a:rPr spc="-9" dirty="0"/>
              <a:t>refetching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201390"/>
            <a:ext cx="7500730" cy="558960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54351" indent="-249344">
              <a:lnSpc>
                <a:spcPct val="110000"/>
              </a:lnSpc>
              <a:spcBef>
                <a:spcPts val="375"/>
              </a:spcBef>
              <a:spcAft>
                <a:spcPts val="1200"/>
              </a:spcAft>
              <a:buFont typeface="Calibri"/>
              <a:buChar char="•"/>
              <a:tabLst>
                <a:tab pos="260551" algn="l"/>
                <a:tab pos="918371" algn="l"/>
              </a:tabLst>
            </a:pPr>
            <a:r>
              <a:rPr sz="2200" b="1" i="1" spc="-9" dirty="0">
                <a:latin typeface="Calibri"/>
                <a:cs typeface="Calibri"/>
              </a:rPr>
              <a:t>Idea:</a:t>
            </a:r>
            <a:r>
              <a:rPr sz="2200" i="1" dirty="0">
                <a:latin typeface="Calibri"/>
                <a:cs typeface="Calibri"/>
              </a:rPr>
              <a:t>	The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compiler</a:t>
            </a:r>
            <a:r>
              <a:rPr sz="2200" i="1" spc="-71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has</a:t>
            </a:r>
            <a:r>
              <a:rPr sz="2200" i="1" spc="-71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better</a:t>
            </a:r>
            <a:r>
              <a:rPr sz="2200" i="1" spc="-71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idea</a:t>
            </a:r>
            <a:r>
              <a:rPr sz="2200" i="1" spc="-7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than</a:t>
            </a:r>
            <a:r>
              <a:rPr sz="2200" i="1" spc="-7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</a:t>
            </a:r>
            <a:r>
              <a:rPr sz="2200" i="1" spc="-71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hardware </a:t>
            </a:r>
            <a:r>
              <a:rPr sz="2200" i="1" dirty="0">
                <a:latin typeface="Calibri"/>
                <a:cs typeface="Calibri"/>
              </a:rPr>
              <a:t>does</a:t>
            </a:r>
            <a:r>
              <a:rPr sz="2200" i="1" spc="-88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of</a:t>
            </a:r>
            <a:r>
              <a:rPr sz="2200" i="1" spc="-79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when</a:t>
            </a:r>
            <a:r>
              <a:rPr sz="2200" i="1" spc="-88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blocks</a:t>
            </a:r>
            <a:r>
              <a:rPr sz="2200" i="1" spc="-8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are</a:t>
            </a:r>
            <a:r>
              <a:rPr sz="2200" i="1" spc="-84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being</a:t>
            </a:r>
            <a:r>
              <a:rPr sz="2200" i="1" spc="-88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use</a:t>
            </a:r>
            <a:r>
              <a:rPr sz="2200" i="1" spc="-88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sequentially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Some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include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prefetching</a:t>
            </a:r>
            <a:r>
              <a:rPr sz="2200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ISA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Insert</a:t>
            </a:r>
            <a:r>
              <a:rPr sz="2000" spc="-6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prefetch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needed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vprefetch1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(to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L2)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vprefetch0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(to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L1)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Xeon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Phi</a:t>
            </a:r>
            <a:endParaRPr sz="2000" dirty="0">
              <a:latin typeface="Calibri"/>
              <a:cs typeface="Calibri"/>
            </a:endParaRPr>
          </a:p>
          <a:p>
            <a:pPr marL="260551" marR="43145" indent="-249344">
              <a:lnSpc>
                <a:spcPct val="110000"/>
              </a:lnSpc>
              <a:spcBef>
                <a:spcPts val="693"/>
              </a:spcBef>
              <a:buChar char="•"/>
              <a:tabLst>
                <a:tab pos="260551" algn="l"/>
              </a:tabLst>
            </a:pPr>
            <a:r>
              <a:rPr sz="2200" dirty="0">
                <a:latin typeface="Calibri"/>
                <a:cs typeface="Calibri"/>
              </a:rPr>
              <a:t>Of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course,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prefetching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help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interferes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normal</a:t>
            </a:r>
            <a:r>
              <a:rPr sz="2200" spc="-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</a:t>
            </a:r>
            <a:r>
              <a:rPr sz="2200" spc="-8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r>
              <a:rPr sz="2200" spc="-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operation.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31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Thus,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nonblocking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(also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lockup-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-22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96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don't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slow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pipeline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waiting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it</a:t>
            </a:r>
            <a:endParaRPr sz="20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85"/>
              </a:spcBef>
              <a:buChar char="•"/>
              <a:tabLst>
                <a:tab pos="259990" algn="l"/>
              </a:tabLst>
            </a:pPr>
            <a:r>
              <a:rPr sz="2200" spc="-9" dirty="0">
                <a:latin typeface="Calibri"/>
                <a:cs typeface="Calibri"/>
              </a:rPr>
              <a:t>Usually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want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prefetch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fail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quietly: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582"/>
              </a:spcBef>
              <a:buChar char="–"/>
              <a:tabLst>
                <a:tab pos="609633" algn="l"/>
              </a:tabLst>
            </a:pPr>
            <a:r>
              <a:rPr lang="en-US" sz="2000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f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ask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illegal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(one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generates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fault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protection exception),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don't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generate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exception;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continue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fetch </a:t>
            </a:r>
            <a:r>
              <a:rPr sz="2000" dirty="0">
                <a:latin typeface="Calibri"/>
                <a:cs typeface="Calibri"/>
              </a:rPr>
              <a:t>wasn't</a:t>
            </a:r>
            <a:r>
              <a:rPr sz="2000" spc="-8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requested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i="1" spc="-22" dirty="0">
                <a:latin typeface="Calibri"/>
                <a:cs typeface="Calibri"/>
              </a:rPr>
              <a:t>non-</a:t>
            </a:r>
            <a:r>
              <a:rPr sz="2000" i="1" dirty="0">
                <a:latin typeface="Calibri"/>
                <a:cs typeface="Calibri"/>
              </a:rPr>
              <a:t>binding</a:t>
            </a:r>
            <a:r>
              <a:rPr sz="2000" i="1" spc="-57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cache</a:t>
            </a:r>
            <a:r>
              <a:rPr sz="2000" i="1" spc="-57" dirty="0">
                <a:latin typeface="Calibri"/>
                <a:cs typeface="Calibri"/>
              </a:rPr>
              <a:t> </a:t>
            </a:r>
            <a:r>
              <a:rPr sz="2000" i="1" spc="-9" dirty="0">
                <a:latin typeface="Calibri"/>
                <a:cs typeface="Calibri"/>
              </a:rPr>
              <a:t>prefetch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7A9E28D-206D-41B3-8D23-8B9043C1A4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738377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How</a:t>
            </a:r>
            <a:r>
              <a:rPr spc="-97" dirty="0"/>
              <a:t> </a:t>
            </a:r>
            <a:r>
              <a:rPr dirty="0"/>
              <a:t>to</a:t>
            </a:r>
            <a:r>
              <a:rPr spc="-88" dirty="0"/>
              <a:t> </a:t>
            </a:r>
            <a:r>
              <a:rPr dirty="0"/>
              <a:t>reduce</a:t>
            </a:r>
            <a:r>
              <a:rPr spc="-93" dirty="0"/>
              <a:t> </a:t>
            </a:r>
            <a:r>
              <a:rPr dirty="0"/>
              <a:t>the</a:t>
            </a:r>
            <a:r>
              <a:rPr spc="-93" dirty="0"/>
              <a:t> </a:t>
            </a:r>
            <a:r>
              <a:rPr dirty="0"/>
              <a:t>time</a:t>
            </a:r>
            <a:r>
              <a:rPr spc="-93" dirty="0"/>
              <a:t> </a:t>
            </a:r>
            <a:r>
              <a:rPr dirty="0"/>
              <a:t>for</a:t>
            </a:r>
            <a:r>
              <a:rPr spc="-84" dirty="0"/>
              <a:t> </a:t>
            </a:r>
            <a:r>
              <a:rPr dirty="0"/>
              <a:t>cache</a:t>
            </a:r>
            <a:r>
              <a:rPr spc="-93" dirty="0"/>
              <a:t> </a:t>
            </a:r>
            <a:r>
              <a:rPr spc="-9" dirty="0"/>
              <a:t>hits?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6700"/>
            <a:ext cx="5263422" cy="2514908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468406" indent="-457200">
              <a:lnSpc>
                <a:spcPct val="110000"/>
              </a:lnSpc>
              <a:spcBef>
                <a:spcPts val="529"/>
              </a:spcBef>
              <a:spcAft>
                <a:spcPts val="600"/>
              </a:spcAft>
              <a:buFont typeface="+mj-lt"/>
              <a:buAutoNum type="arabicPeriod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K.I.S.S.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lang="en-US" sz="2400" i="1" spc="-9" dirty="0">
                <a:latin typeface="Calibri"/>
                <a:cs typeface="Calibri"/>
              </a:rPr>
              <a:t>(</a:t>
            </a:r>
            <a:r>
              <a:rPr lang="en-US" sz="2400" b="1" i="1" dirty="0"/>
              <a:t>K</a:t>
            </a:r>
            <a:r>
              <a:rPr lang="en-US" sz="2400" i="1" dirty="0"/>
              <a:t>eep </a:t>
            </a:r>
            <a:r>
              <a:rPr lang="en-US" sz="2400" b="1" i="1" dirty="0"/>
              <a:t>I</a:t>
            </a:r>
            <a:r>
              <a:rPr lang="en-US" sz="2400" i="1" dirty="0"/>
              <a:t>t </a:t>
            </a:r>
            <a:r>
              <a:rPr lang="en-US" sz="2400" b="1" i="1" dirty="0"/>
              <a:t>S</a:t>
            </a:r>
            <a:r>
              <a:rPr lang="en-US" sz="2400" i="1" dirty="0"/>
              <a:t>imple, </a:t>
            </a:r>
            <a:r>
              <a:rPr lang="en-US" sz="2400" b="1" i="1" dirty="0"/>
              <a:t>S</a:t>
            </a:r>
            <a:r>
              <a:rPr lang="en-US" sz="2400" i="1" dirty="0"/>
              <a:t>tupid</a:t>
            </a:r>
            <a:r>
              <a:rPr lang="en-US" sz="2400" i="1" spc="-9" dirty="0">
                <a:latin typeface="Calibri"/>
                <a:cs typeface="Calibri"/>
              </a:rPr>
              <a:t>)</a:t>
            </a:r>
            <a:endParaRPr sz="2400" i="1" dirty="0">
              <a:latin typeface="Calibri"/>
              <a:cs typeface="Calibri"/>
            </a:endParaRPr>
          </a:p>
          <a:p>
            <a:pPr marL="468407" marR="4483" indent="-457200">
              <a:lnSpc>
                <a:spcPct val="110000"/>
              </a:lnSpc>
              <a:spcBef>
                <a:spcPts val="715"/>
              </a:spcBef>
              <a:spcAft>
                <a:spcPts val="600"/>
              </a:spcAft>
              <a:buFont typeface="+mj-lt"/>
              <a:buAutoNum type="arabicPeriod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virtual</a:t>
            </a:r>
            <a:r>
              <a:rPr sz="2400" i="1" spc="-71" dirty="0">
                <a:latin typeface="Calibri"/>
                <a:cs typeface="Calibri"/>
              </a:rPr>
              <a:t> </a:t>
            </a:r>
            <a:r>
              <a:rPr sz="2400" i="1" spc="-18" dirty="0">
                <a:latin typeface="Calibri"/>
                <a:cs typeface="Calibri"/>
              </a:rPr>
              <a:t>addresses</a:t>
            </a:r>
            <a:r>
              <a:rPr sz="2400" i="1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rather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physical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addresses</a:t>
            </a:r>
            <a:r>
              <a:rPr sz="2400" i="1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cache.</a:t>
            </a:r>
            <a:endParaRPr sz="2400" dirty="0">
              <a:latin typeface="Calibri"/>
              <a:cs typeface="Calibri"/>
            </a:endParaRPr>
          </a:p>
          <a:p>
            <a:pPr marL="468406" indent="-457200">
              <a:lnSpc>
                <a:spcPct val="110000"/>
              </a:lnSpc>
              <a:spcBef>
                <a:spcPts val="401"/>
              </a:spcBef>
              <a:spcAft>
                <a:spcPts val="600"/>
              </a:spcAft>
              <a:buFont typeface="+mj-lt"/>
              <a:buAutoNum type="arabicPeriod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Pipeline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accesses</a:t>
            </a:r>
            <a:endParaRPr sz="2400" dirty="0">
              <a:latin typeface="Calibri"/>
              <a:cs typeface="Calibri"/>
            </a:endParaRPr>
          </a:p>
          <a:p>
            <a:pPr marL="468406" indent="-457200">
              <a:lnSpc>
                <a:spcPct val="110000"/>
              </a:lnSpc>
              <a:spcBef>
                <a:spcPts val="468"/>
              </a:spcBef>
              <a:buFont typeface="+mj-lt"/>
              <a:buAutoNum type="arabicPeriod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Trace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7E164C5-02B4-21EF-B36B-D65B0BA3B2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434" y="671223"/>
            <a:ext cx="480601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K.I.S.S.</a:t>
            </a:r>
            <a:r>
              <a:rPr lang="en-US" spc="-9" dirty="0"/>
              <a:t> </a:t>
            </a:r>
            <a:r>
              <a:rPr lang="en-US" i="1" spc="-9" dirty="0"/>
              <a:t>(</a:t>
            </a:r>
            <a:r>
              <a:rPr lang="en-US" i="1" dirty="0"/>
              <a:t>Keep It Simple, Stupid)</a:t>
            </a:r>
            <a:endParaRPr i="1"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795131" y="1375922"/>
            <a:ext cx="7591347" cy="4764242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dirty="0"/>
              <a:t>Cache</a:t>
            </a:r>
            <a:r>
              <a:rPr sz="2400" spc="-66" dirty="0"/>
              <a:t> </a:t>
            </a:r>
            <a:r>
              <a:rPr sz="2400" spc="-9" dirty="0"/>
              <a:t>should</a:t>
            </a:r>
            <a:r>
              <a:rPr sz="2400" spc="-66" dirty="0"/>
              <a:t> </a:t>
            </a:r>
            <a:r>
              <a:rPr sz="2400" dirty="0"/>
              <a:t>be</a:t>
            </a:r>
            <a:r>
              <a:rPr sz="2400" spc="-66" dirty="0"/>
              <a:t> </a:t>
            </a:r>
            <a:r>
              <a:rPr sz="2400" dirty="0"/>
              <a:t>small</a:t>
            </a:r>
            <a:r>
              <a:rPr sz="2400" spc="-62" dirty="0"/>
              <a:t> </a:t>
            </a:r>
            <a:r>
              <a:rPr sz="2400" spc="-9" dirty="0"/>
              <a:t>enough</a:t>
            </a:r>
            <a:r>
              <a:rPr sz="2400" spc="-66" dirty="0"/>
              <a:t> </a:t>
            </a:r>
            <a:r>
              <a:rPr sz="2400" dirty="0"/>
              <a:t>to</a:t>
            </a:r>
            <a:r>
              <a:rPr sz="2400" spc="-71" dirty="0"/>
              <a:t> </a:t>
            </a:r>
            <a:r>
              <a:rPr sz="2400" dirty="0"/>
              <a:t>fit</a:t>
            </a:r>
            <a:r>
              <a:rPr sz="2400" spc="-71" dirty="0"/>
              <a:t> </a:t>
            </a:r>
            <a:r>
              <a:rPr sz="2400" dirty="0"/>
              <a:t>on</a:t>
            </a:r>
            <a:r>
              <a:rPr sz="2400" spc="-66" dirty="0"/>
              <a:t> </a:t>
            </a:r>
            <a:r>
              <a:rPr sz="2400" dirty="0"/>
              <a:t>the</a:t>
            </a:r>
            <a:r>
              <a:rPr sz="2400" spc="-62" dirty="0"/>
              <a:t> </a:t>
            </a:r>
            <a:r>
              <a:rPr sz="2400" spc="-9" dirty="0"/>
              <a:t>processor</a:t>
            </a:r>
            <a:r>
              <a:rPr sz="2400" spc="-66" dirty="0"/>
              <a:t> </a:t>
            </a:r>
            <a:r>
              <a:rPr sz="2400" spc="-18" dirty="0"/>
              <a:t>chip</a:t>
            </a:r>
          </a:p>
          <a:p>
            <a:pPr marL="260551" marR="420802" indent="-249344">
              <a:lnSpc>
                <a:spcPct val="110000"/>
              </a:lnSpc>
              <a:spcBef>
                <a:spcPts val="715"/>
              </a:spcBef>
              <a:buFontTx/>
              <a:buChar char="•"/>
              <a:tabLst>
                <a:tab pos="260551" algn="l"/>
              </a:tabLst>
            </a:pPr>
            <a:r>
              <a:rPr sz="2400" dirty="0"/>
              <a:t>Direct</a:t>
            </a:r>
            <a:r>
              <a:rPr sz="2400" spc="-88" dirty="0"/>
              <a:t> </a:t>
            </a:r>
            <a:r>
              <a:rPr sz="2400" spc="-9" dirty="0"/>
              <a:t>mapped</a:t>
            </a:r>
            <a:r>
              <a:rPr sz="2400" spc="-88" dirty="0"/>
              <a:t> </a:t>
            </a:r>
            <a:r>
              <a:rPr sz="2400" dirty="0"/>
              <a:t>is</a:t>
            </a:r>
            <a:r>
              <a:rPr sz="2400" spc="-84" dirty="0"/>
              <a:t> </a:t>
            </a:r>
            <a:r>
              <a:rPr sz="2400" dirty="0"/>
              <a:t>faster</a:t>
            </a:r>
            <a:r>
              <a:rPr sz="2400" spc="-84" dirty="0"/>
              <a:t> </a:t>
            </a:r>
            <a:r>
              <a:rPr sz="2400" dirty="0"/>
              <a:t>than</a:t>
            </a:r>
            <a:r>
              <a:rPr sz="2400" spc="-88" dirty="0"/>
              <a:t> </a:t>
            </a:r>
            <a:r>
              <a:rPr sz="2400" spc="-9" dirty="0"/>
              <a:t>associative</a:t>
            </a:r>
            <a:endParaRPr lang="en-US" sz="2400" spc="-84" dirty="0"/>
          </a:p>
          <a:p>
            <a:pPr marL="757540" marR="420802" lvl="1" indent="-342900">
              <a:lnSpc>
                <a:spcPct val="110000"/>
              </a:lnSpc>
              <a:spcBef>
                <a:spcPts val="715"/>
              </a:spcBef>
              <a:buFont typeface="Calibri" panose="020F0502020204030204" pitchFamily="34" charset="0"/>
              <a:buChar char="‒"/>
              <a:tabLst>
                <a:tab pos="260551" algn="l"/>
              </a:tabLst>
            </a:pPr>
            <a:r>
              <a:rPr lang="en-US" sz="2400" spc="-9" dirty="0"/>
              <a:t>E</a:t>
            </a:r>
            <a:r>
              <a:rPr sz="2400" spc="-9" dirty="0"/>
              <a:t>specially</a:t>
            </a:r>
            <a:r>
              <a:rPr sz="2400" spc="-84" dirty="0"/>
              <a:t> </a:t>
            </a:r>
            <a:r>
              <a:rPr sz="2400" spc="-31" dirty="0"/>
              <a:t>on </a:t>
            </a:r>
            <a:endParaRPr lang="en-US" sz="2400" spc="-31" dirty="0"/>
          </a:p>
          <a:p>
            <a:pPr marL="1160974" marR="420802" lvl="2" indent="-342900">
              <a:lnSpc>
                <a:spcPct val="110000"/>
              </a:lnSpc>
              <a:spcBef>
                <a:spcPts val="715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0551" algn="l"/>
              </a:tabLst>
            </a:pPr>
            <a:r>
              <a:rPr lang="en-US" sz="2400" b="1" i="1" spc="-9" dirty="0">
                <a:solidFill>
                  <a:schemeClr val="tx1"/>
                </a:solidFill>
                <a:cs typeface="Calibri"/>
              </a:rPr>
              <a:t>read and scheduling</a:t>
            </a:r>
            <a:r>
              <a:rPr lang="en-US" sz="2400" b="1" i="1" spc="-71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cs typeface="Calibri"/>
              </a:rPr>
              <a:t>of</a:t>
            </a:r>
            <a:r>
              <a:rPr lang="en-US" sz="2400" b="1" i="1" spc="-57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i="1" spc="-9" dirty="0">
                <a:solidFill>
                  <a:schemeClr val="tx1"/>
                </a:solidFill>
                <a:cs typeface="Calibri"/>
              </a:rPr>
              <a:t>instructions</a:t>
            </a:r>
            <a:endParaRPr lang="en-US" sz="2400" b="1" i="1" spc="-57" dirty="0">
              <a:solidFill>
                <a:schemeClr val="tx1"/>
              </a:solidFill>
              <a:cs typeface="Calibri"/>
            </a:endParaRPr>
          </a:p>
          <a:p>
            <a:pPr marL="1160974" marR="420802" lvl="2" indent="-342900">
              <a:lnSpc>
                <a:spcPct val="110000"/>
              </a:lnSpc>
              <a:spcBef>
                <a:spcPts val="715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0551" algn="l"/>
              </a:tabLst>
            </a:pPr>
            <a:r>
              <a:rPr lang="en-US" sz="2400" b="1" i="1" dirty="0">
                <a:solidFill>
                  <a:schemeClr val="tx1"/>
                </a:solidFill>
                <a:cs typeface="Calibri"/>
              </a:rPr>
              <a:t>use</a:t>
            </a:r>
            <a:r>
              <a:rPr lang="en-US" sz="2400" b="1" i="1" spc="-71" dirty="0">
                <a:solidFill>
                  <a:schemeClr val="tx1"/>
                </a:solidFill>
                <a:cs typeface="Calibri"/>
              </a:rPr>
              <a:t> of </a:t>
            </a:r>
            <a:r>
              <a:rPr lang="en-US" sz="2400" b="1" i="1" dirty="0">
                <a:solidFill>
                  <a:schemeClr val="tx1"/>
                </a:solidFill>
                <a:cs typeface="Calibri"/>
              </a:rPr>
              <a:t>L2</a:t>
            </a:r>
            <a:r>
              <a:rPr lang="en-US" sz="2400" b="1" i="1" spc="-66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cs typeface="Calibri"/>
              </a:rPr>
              <a:t>and</a:t>
            </a:r>
            <a:r>
              <a:rPr lang="en-US" sz="2400" b="1" i="1" spc="-66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cs typeface="Calibri"/>
              </a:rPr>
              <a:t>L3</a:t>
            </a:r>
            <a:r>
              <a:rPr lang="en-US" sz="2400" b="1" i="1" spc="-71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cs typeface="Calibri"/>
              </a:rPr>
              <a:t>caches</a:t>
            </a:r>
            <a:r>
              <a:rPr lang="en-US" sz="2400" b="1" i="1" spc="-57" dirty="0">
                <a:solidFill>
                  <a:schemeClr val="tx1"/>
                </a:solidFill>
                <a:cs typeface="Calibri"/>
              </a:rPr>
              <a:t> </a:t>
            </a:r>
            <a:br>
              <a:rPr lang="en-US" sz="2400" b="1" i="1" spc="-57" dirty="0">
                <a:solidFill>
                  <a:schemeClr val="tx1"/>
                </a:solidFill>
                <a:cs typeface="Calibri"/>
              </a:rPr>
            </a:br>
            <a:r>
              <a:rPr lang="en-US" sz="2400" i="1" spc="-57" dirty="0">
                <a:solidFill>
                  <a:schemeClr val="tx1"/>
                </a:solidFill>
                <a:cs typeface="Calibri"/>
              </a:rPr>
              <a:t>(</a:t>
            </a:r>
            <a:r>
              <a:rPr lang="en-US" sz="2400" i="1" spc="-22" dirty="0">
                <a:solidFill>
                  <a:schemeClr val="tx1"/>
                </a:solidFill>
                <a:cs typeface="Calibri"/>
              </a:rPr>
              <a:t>to </a:t>
            </a:r>
            <a:r>
              <a:rPr lang="en-US" sz="2400" i="1" dirty="0">
                <a:solidFill>
                  <a:schemeClr val="tx1"/>
                </a:solidFill>
                <a:cs typeface="Calibri"/>
              </a:rPr>
              <a:t>avoid</a:t>
            </a:r>
            <a:r>
              <a:rPr lang="en-US" sz="2400" i="1" spc="-79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i="1" dirty="0">
                <a:solidFill>
                  <a:schemeClr val="tx1"/>
                </a:solidFill>
                <a:cs typeface="Calibri"/>
              </a:rPr>
              <a:t>main</a:t>
            </a:r>
            <a:r>
              <a:rPr lang="en-US" sz="2400" i="1" spc="-79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i="1" spc="-9" dirty="0">
                <a:solidFill>
                  <a:schemeClr val="tx1"/>
                </a:solidFill>
                <a:cs typeface="Calibri"/>
              </a:rPr>
              <a:t>memory</a:t>
            </a:r>
            <a:r>
              <a:rPr lang="en-US" sz="2400" i="1" spc="-79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i="1" spc="-9" dirty="0">
                <a:solidFill>
                  <a:schemeClr val="tx1"/>
                </a:solidFill>
                <a:cs typeface="Calibri"/>
              </a:rPr>
              <a:t>accesses)</a:t>
            </a:r>
            <a:endParaRPr sz="2400" spc="-18" dirty="0">
              <a:solidFill>
                <a:schemeClr val="tx1"/>
              </a:solidFill>
            </a:endParaRPr>
          </a:p>
          <a:p>
            <a:pPr marL="752496" indent="-342900">
              <a:lnSpc>
                <a:spcPct val="110000"/>
              </a:lnSpc>
              <a:spcBef>
                <a:spcPts val="318"/>
              </a:spcBef>
              <a:spcAft>
                <a:spcPts val="600"/>
              </a:spcAft>
              <a:buFont typeface="Calibri" panose="020F0502020204030204" pitchFamily="34" charset="0"/>
              <a:buChar char="‒"/>
            </a:pPr>
            <a:r>
              <a:rPr lang="en-US" sz="2400" spc="-9" dirty="0"/>
              <a:t>O</a:t>
            </a:r>
            <a:r>
              <a:rPr sz="2400" spc="-9" dirty="0"/>
              <a:t>verlap</a:t>
            </a:r>
            <a:r>
              <a:rPr sz="2400" spc="-35" dirty="0"/>
              <a:t> </a:t>
            </a:r>
            <a:r>
              <a:rPr sz="2400" dirty="0"/>
              <a:t>tag</a:t>
            </a:r>
            <a:r>
              <a:rPr sz="2400" spc="-35" dirty="0"/>
              <a:t> </a:t>
            </a:r>
            <a:r>
              <a:rPr sz="2400" dirty="0"/>
              <a:t>check</a:t>
            </a:r>
            <a:r>
              <a:rPr sz="2400" spc="-44" dirty="0"/>
              <a:t> </a:t>
            </a:r>
            <a:r>
              <a:rPr sz="2400" dirty="0"/>
              <a:t>with</a:t>
            </a:r>
            <a:r>
              <a:rPr sz="2400" spc="-35" dirty="0"/>
              <a:t> </a:t>
            </a:r>
            <a:r>
              <a:rPr sz="2400" spc="-9" dirty="0"/>
              <a:t>transmitting</a:t>
            </a:r>
            <a:r>
              <a:rPr sz="2400" spc="-40" dirty="0"/>
              <a:t> </a:t>
            </a:r>
            <a:r>
              <a:rPr sz="2400" spc="-18" dirty="0"/>
              <a:t>data</a:t>
            </a:r>
            <a:endParaRPr sz="2400" dirty="0"/>
          </a:p>
          <a:p>
            <a:pPr marL="260551" marR="94694" indent="-249344">
              <a:lnSpc>
                <a:spcPct val="110000"/>
              </a:lnSpc>
              <a:spcBef>
                <a:spcPts val="838"/>
              </a:spcBef>
              <a:buChar char="•"/>
              <a:tabLst>
                <a:tab pos="260551" algn="l"/>
              </a:tabLst>
            </a:pPr>
            <a:r>
              <a:rPr sz="2400" dirty="0"/>
              <a:t>For</a:t>
            </a:r>
            <a:r>
              <a:rPr sz="2400" spc="-71" dirty="0"/>
              <a:t> </a:t>
            </a:r>
            <a:r>
              <a:rPr sz="2400" spc="-9" dirty="0"/>
              <a:t>current</a:t>
            </a:r>
            <a:r>
              <a:rPr sz="2400" spc="-75" dirty="0"/>
              <a:t> </a:t>
            </a:r>
            <a:r>
              <a:rPr sz="2400" spc="-9" dirty="0"/>
              <a:t>processors,</a:t>
            </a:r>
            <a:r>
              <a:rPr sz="2400" spc="-66" dirty="0"/>
              <a:t> </a:t>
            </a:r>
            <a:br>
              <a:rPr lang="en-US" sz="2400" spc="-66" dirty="0"/>
            </a:br>
            <a:r>
              <a:rPr sz="2400" spc="-9" dirty="0"/>
              <a:t>relatively</a:t>
            </a:r>
            <a:r>
              <a:rPr sz="2400" spc="-75" dirty="0"/>
              <a:t> </a:t>
            </a:r>
            <a:r>
              <a:rPr sz="2400" dirty="0"/>
              <a:t>small</a:t>
            </a:r>
            <a:r>
              <a:rPr sz="2400" spc="-66" dirty="0"/>
              <a:t> </a:t>
            </a:r>
            <a:r>
              <a:rPr sz="2400" dirty="0"/>
              <a:t>L1</a:t>
            </a:r>
            <a:r>
              <a:rPr sz="2400" spc="-75" dirty="0"/>
              <a:t> </a:t>
            </a:r>
            <a:r>
              <a:rPr sz="2400" dirty="0"/>
              <a:t>caches</a:t>
            </a:r>
            <a:r>
              <a:rPr sz="2400" spc="-75" dirty="0"/>
              <a:t> </a:t>
            </a:r>
            <a:r>
              <a:rPr sz="2400" dirty="0"/>
              <a:t>to</a:t>
            </a:r>
            <a:r>
              <a:rPr sz="2400" spc="-75" dirty="0"/>
              <a:t> </a:t>
            </a:r>
            <a:r>
              <a:rPr sz="2400" spc="-18" dirty="0"/>
              <a:t>keep </a:t>
            </a:r>
            <a:r>
              <a:rPr sz="2400" dirty="0"/>
              <a:t>fast</a:t>
            </a:r>
            <a:r>
              <a:rPr sz="2400" spc="-75" dirty="0"/>
              <a:t> </a:t>
            </a:r>
            <a:r>
              <a:rPr sz="2400" dirty="0"/>
              <a:t>clock</a:t>
            </a:r>
            <a:r>
              <a:rPr sz="2400" spc="-75" dirty="0"/>
              <a:t> </a:t>
            </a:r>
            <a:r>
              <a:rPr sz="2400" dirty="0"/>
              <a:t>cycle</a:t>
            </a:r>
            <a:r>
              <a:rPr sz="2400" spc="-66" dirty="0"/>
              <a:t> </a:t>
            </a:r>
            <a:r>
              <a:rPr sz="2400" dirty="0"/>
              <a:t>time,</a:t>
            </a:r>
            <a:r>
              <a:rPr sz="2400" spc="-66" dirty="0"/>
              <a:t> </a:t>
            </a:r>
            <a:br>
              <a:rPr lang="en-US" sz="2400" spc="-66" dirty="0"/>
            </a:b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hide</a:t>
            </a:r>
            <a:r>
              <a:rPr sz="2400" b="1" i="1" spc="-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L1</a:t>
            </a:r>
            <a:r>
              <a:rPr sz="24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misses</a:t>
            </a:r>
            <a:r>
              <a:rPr sz="2400" b="1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dynamic</a:t>
            </a:r>
            <a:r>
              <a:rPr lang="en-US" sz="2400" b="1" i="1" spc="-9" dirty="0">
                <a:solidFill>
                  <a:srgbClr val="FF0000"/>
                </a:solidFill>
                <a:latin typeface="Calibri"/>
                <a:cs typeface="Calibri"/>
              </a:rPr>
              <a:t> scheduling</a:t>
            </a:r>
            <a:endParaRPr sz="2400" b="1" i="1" spc="-9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9673580F-B80B-ACBA-A433-0B13DAD3E3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7900606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Use</a:t>
            </a:r>
            <a:r>
              <a:rPr spc="-115" dirty="0"/>
              <a:t> </a:t>
            </a:r>
            <a:r>
              <a:rPr lang="en-US" dirty="0"/>
              <a:t>V</a:t>
            </a:r>
            <a:r>
              <a:rPr dirty="0"/>
              <a:t>irtual</a:t>
            </a:r>
            <a:r>
              <a:rPr spc="-97" dirty="0"/>
              <a:t> </a:t>
            </a:r>
            <a:r>
              <a:rPr spc="-9" dirty="0"/>
              <a:t>addresses</a:t>
            </a:r>
            <a:r>
              <a:rPr spc="-101" dirty="0"/>
              <a:t> </a:t>
            </a:r>
            <a:r>
              <a:rPr dirty="0"/>
              <a:t>instead</a:t>
            </a:r>
            <a:r>
              <a:rPr spc="-106" dirty="0"/>
              <a:t> </a:t>
            </a:r>
            <a:r>
              <a:rPr dirty="0"/>
              <a:t>of</a:t>
            </a:r>
            <a:r>
              <a:rPr spc="-101" dirty="0"/>
              <a:t> </a:t>
            </a:r>
            <a:r>
              <a:rPr lang="en-US" spc="-9" dirty="0"/>
              <a:t>P</a:t>
            </a:r>
            <a:r>
              <a:rPr spc="-9" dirty="0"/>
              <a:t>hysical</a:t>
            </a:r>
            <a:r>
              <a:rPr lang="en-US" spc="-9" dirty="0"/>
              <a:t> addresses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808382" y="1386920"/>
            <a:ext cx="7527235" cy="287572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4483" indent="-249344" algn="just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 outside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accessed</a:t>
            </a:r>
            <a:endParaRPr lang="en-US" sz="2400" spc="-9" dirty="0">
              <a:latin typeface="Calibri"/>
              <a:cs typeface="Calibri"/>
            </a:endParaRPr>
          </a:p>
          <a:p>
            <a:pPr marL="260551" marR="4483" indent="-249344" algn="just">
              <a:lnSpc>
                <a:spcPct val="110000"/>
              </a:lnSpc>
              <a:spcBef>
                <a:spcPts val="375"/>
              </a:spcBef>
              <a:spcAft>
                <a:spcPts val="2400"/>
              </a:spcAft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small,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offsets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relative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(pages)</a:t>
            </a:r>
            <a:endParaRPr sz="2118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example,</a:t>
            </a:r>
            <a:endParaRPr sz="2400" dirty="0">
              <a:latin typeface="Calibri"/>
              <a:cs typeface="Calibri"/>
            </a:endParaRPr>
          </a:p>
          <a:p>
            <a:pPr marL="409596">
              <a:lnSpc>
                <a:spcPct val="110000"/>
              </a:lnSpc>
              <a:spcBef>
                <a:spcPts val="361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3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Assuming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5</a:t>
            </a:r>
            <a:r>
              <a:rPr lang="en-US" sz="2400" spc="-18" dirty="0">
                <a:latin typeface="Calibri"/>
                <a:cs typeface="Calibri"/>
              </a:rPr>
              <a:t>0</a:t>
            </a:r>
            <a:r>
              <a:rPr sz="2400" spc="-18" dirty="0">
                <a:latin typeface="Calibri"/>
                <a:cs typeface="Calibri"/>
              </a:rPr>
              <a:t>00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19151"/>
              </p:ext>
            </p:extLst>
          </p:nvPr>
        </p:nvGraphicFramePr>
        <p:xfrm>
          <a:off x="1833515" y="4532671"/>
          <a:ext cx="5319432" cy="150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9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1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Physical</a:t>
                      </a:r>
                      <a:r>
                        <a:rPr sz="2000" b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560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Virtual</a:t>
                      </a:r>
                      <a:r>
                        <a:rPr sz="20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60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lang="en-US" sz="2000" b="1" spc="-20" dirty="0">
                          <a:latin typeface="Arial"/>
                          <a:cs typeface="Arial"/>
                        </a:rPr>
                        <a:t>0x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lang="en-US" sz="2000" b="1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00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5043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lang="en-US" sz="2000" b="1" spc="-25" dirty="0">
                          <a:latin typeface="Arial"/>
                          <a:cs typeface="Arial"/>
                        </a:rPr>
                        <a:t>0x00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00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504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b="1" spc="-20" dirty="0">
                          <a:latin typeface="Arial"/>
                          <a:cs typeface="Arial"/>
                        </a:rPr>
                        <a:t>0x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lang="en-US" sz="2000" b="1" spc="-2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12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b="1" spc="-25" dirty="0">
                          <a:latin typeface="Arial"/>
                          <a:cs typeface="Arial"/>
                        </a:rPr>
                        <a:t>0x00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12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2000" b="1" spc="-20" dirty="0">
                          <a:latin typeface="Arial"/>
                          <a:cs typeface="Arial"/>
                        </a:rPr>
                        <a:t>0x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lang="en-US" sz="2000" b="1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00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2000" b="1" spc="-25" dirty="0">
                          <a:latin typeface="Arial"/>
                          <a:cs typeface="Arial"/>
                        </a:rPr>
                        <a:t>0x0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100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72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D0F3B9-5744-63D0-A1EB-57D637339C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Virtual</a:t>
            </a:r>
            <a:r>
              <a:rPr spc="-124" dirty="0"/>
              <a:t> </a:t>
            </a:r>
            <a:r>
              <a:rPr lang="en-US" spc="-9" dirty="0"/>
              <a:t>A</a:t>
            </a:r>
            <a:r>
              <a:rPr spc="-9" dirty="0"/>
              <a:t>ddresses</a:t>
            </a:r>
            <a:r>
              <a:rPr spc="-128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610" y="1227894"/>
            <a:ext cx="7964555" cy="5462883"/>
          </a:xfrm>
          <a:prstGeom prst="rect">
            <a:avLst/>
          </a:prstGeom>
        </p:spPr>
        <p:txBody>
          <a:bodyPr vert="horz" wrap="square" lIns="0" tIns="48745" rIns="0" bIns="0" rtlCol="0">
            <a:spAutoFit/>
          </a:bodyPr>
          <a:lstStyle/>
          <a:p>
            <a:pPr marL="260551" marR="126633" indent="-249344" algn="just">
              <a:lnSpc>
                <a:spcPct val="110000"/>
              </a:lnSpc>
              <a:spcBef>
                <a:spcPts val="383"/>
              </a:spcBef>
              <a:spcAft>
                <a:spcPts val="1800"/>
              </a:spcAft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addresses,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index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</a:t>
            </a:r>
            <a:r>
              <a:rPr sz="2400" b="1" i="1" spc="-71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save</a:t>
            </a:r>
            <a:r>
              <a:rPr sz="2400" b="1" i="1" spc="-71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time</a:t>
            </a:r>
            <a:r>
              <a:rPr sz="2400" b="1" i="1" spc="-71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66" dirty="0">
                <a:latin typeface="Calibri"/>
                <a:cs typeface="Calibri"/>
              </a:rPr>
              <a:t> </a:t>
            </a:r>
            <a:r>
              <a:rPr sz="2400" b="1" i="1" spc="-9" dirty="0">
                <a:latin typeface="Calibri"/>
                <a:cs typeface="Calibri"/>
              </a:rPr>
              <a:t>translating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22" dirty="0">
                <a:latin typeface="Calibri"/>
                <a:cs typeface="Calibri"/>
              </a:rPr>
              <a:t>to </a:t>
            </a:r>
            <a:r>
              <a:rPr sz="2400" b="1" i="1" spc="-9" dirty="0">
                <a:latin typeface="Calibri"/>
                <a:cs typeface="Calibri"/>
              </a:rPr>
              <a:t>physical</a:t>
            </a:r>
            <a:r>
              <a:rPr sz="2400" b="1" i="1" spc="-88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address</a:t>
            </a:r>
            <a:r>
              <a:rPr sz="2400" b="1" i="1" spc="-88" dirty="0">
                <a:latin typeface="Calibri"/>
                <a:cs typeface="Calibri"/>
              </a:rPr>
              <a:t> </a:t>
            </a:r>
            <a:r>
              <a:rPr sz="2400" b="1" i="1" spc="-18" dirty="0">
                <a:latin typeface="Calibri"/>
                <a:cs typeface="Calibri"/>
              </a:rPr>
              <a:t>space</a:t>
            </a:r>
            <a:endParaRPr lang="en-US" sz="2400" b="1" i="1" spc="-18" dirty="0">
              <a:latin typeface="Calibri"/>
              <a:cs typeface="Calibri"/>
            </a:endParaRPr>
          </a:p>
          <a:p>
            <a:pPr marL="260551" marR="126633" indent="-249344" algn="just">
              <a:lnSpc>
                <a:spcPct val="110000"/>
              </a:lnSpc>
              <a:spcBef>
                <a:spcPts val="383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Note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flushed</a:t>
            </a:r>
            <a:r>
              <a:rPr lang="en-US" sz="2400" spc="-71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lang="en-US" sz="2400" dirty="0">
                <a:latin typeface="Calibri"/>
                <a:cs typeface="Calibri"/>
              </a:rPr>
              <a:t>ting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blocks </a:t>
            </a:r>
            <a:r>
              <a:rPr lang="en-US" sz="2400" spc="-9" dirty="0">
                <a:latin typeface="Calibri"/>
                <a:cs typeface="Calibri"/>
              </a:rPr>
              <a:t>to </a:t>
            </a:r>
            <a:r>
              <a:rPr sz="2400" spc="-9" dirty="0">
                <a:latin typeface="Calibri"/>
                <a:cs typeface="Calibri"/>
              </a:rPr>
              <a:t>invalid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switch</a:t>
            </a:r>
            <a:r>
              <a:rPr lang="en-US" sz="2400" dirty="0">
                <a:latin typeface="Calibri"/>
                <a:cs typeface="Calibri"/>
              </a:rPr>
              <a:t>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context </a:t>
            </a:r>
            <a:r>
              <a:rPr sz="2400" dirty="0">
                <a:latin typeface="Calibri"/>
                <a:cs typeface="Calibri"/>
              </a:rPr>
              <a:t>switch)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virtual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addresses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access,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virtual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 </a:t>
            </a:r>
            <a:r>
              <a:rPr sz="2400" spc="-9" dirty="0">
                <a:latin typeface="Calibri"/>
                <a:cs typeface="Calibri"/>
              </a:rPr>
              <a:t>different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physical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7"/>
              </a:spcBef>
              <a:spcAft>
                <a:spcPts val="18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process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/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user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Aliases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another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problem</a:t>
            </a:r>
            <a:endParaRPr sz="2400" dirty="0">
              <a:latin typeface="Calibri"/>
              <a:cs typeface="Calibri"/>
            </a:endParaRPr>
          </a:p>
          <a:p>
            <a:pPr marL="609633" marR="4483" lvl="1" indent="-199475" algn="just">
              <a:lnSpc>
                <a:spcPct val="110000"/>
              </a:lnSpc>
              <a:spcBef>
                <a:spcPts val="604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W</a:t>
            </a:r>
            <a:r>
              <a:rPr sz="2200" dirty="0">
                <a:latin typeface="Calibri"/>
                <a:cs typeface="Calibri"/>
              </a:rPr>
              <a:t>hen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different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virtual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addresses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physical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–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copies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cache</a:t>
            </a:r>
            <a:endParaRPr sz="2200" dirty="0">
              <a:latin typeface="Calibri"/>
              <a:cs typeface="Calibri"/>
            </a:endParaRPr>
          </a:p>
          <a:p>
            <a:pPr marL="808548">
              <a:lnSpc>
                <a:spcPct val="110000"/>
              </a:lnSpc>
              <a:spcBef>
                <a:spcPts val="383"/>
              </a:spcBef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322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Wh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happens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copy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modified?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8AC4949C-0989-9585-367C-A143419423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Pipelined</a:t>
            </a:r>
            <a:r>
              <a:rPr spc="-119" dirty="0"/>
              <a:t> </a:t>
            </a:r>
            <a:r>
              <a:rPr lang="en-US" spc="-119" dirty="0"/>
              <a:t>C</a:t>
            </a:r>
            <a:r>
              <a:rPr dirty="0"/>
              <a:t>ache</a:t>
            </a:r>
            <a:r>
              <a:rPr spc="-124" dirty="0"/>
              <a:t> </a:t>
            </a:r>
            <a:r>
              <a:rPr lang="en-US" spc="-9" dirty="0"/>
              <a:t>A</a:t>
            </a:r>
            <a:r>
              <a:rPr spc="-9" dirty="0"/>
              <a:t>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2218"/>
            <a:ext cx="7397022" cy="4843521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Benefit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Fast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clock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spcBef>
                <a:spcPts val="490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lang="en-US" sz="2200" spc="-9" dirty="0">
                <a:latin typeface="Calibri"/>
                <a:cs typeface="Calibri"/>
              </a:rPr>
              <a:t>S</a:t>
            </a:r>
            <a:r>
              <a:rPr sz="2200" spc="-9" dirty="0">
                <a:latin typeface="Calibri"/>
                <a:cs typeface="Calibri"/>
              </a:rPr>
              <a:t>lower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hits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(increased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latency)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spcBef>
                <a:spcPts val="613"/>
              </a:spcBef>
              <a:spcAft>
                <a:spcPts val="24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M</a:t>
            </a:r>
            <a:r>
              <a:rPr sz="2200" dirty="0">
                <a:latin typeface="Calibri"/>
                <a:cs typeface="Calibri"/>
              </a:rPr>
              <a:t>ore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clock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between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(maybe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more </a:t>
            </a:r>
            <a:r>
              <a:rPr sz="2200" spc="-9" dirty="0">
                <a:latin typeface="Calibri"/>
                <a:cs typeface="Calibri"/>
              </a:rPr>
              <a:t>pipeline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stalls)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Intel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Pentium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(mid-</a:t>
            </a:r>
            <a:r>
              <a:rPr sz="2200" dirty="0">
                <a:latin typeface="Calibri"/>
                <a:cs typeface="Calibri"/>
              </a:rPr>
              <a:t>1990s)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cycle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access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Pro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~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Pentium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III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(~2000):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cycles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296"/>
              </a:spcBef>
              <a:spcAft>
                <a:spcPts val="1800"/>
              </a:spcAft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Pentium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~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Core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i7: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cycles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modern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processors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pipelining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L1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F8967E95-C364-FFF0-6751-A292289706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31" dirty="0"/>
              <a:t>Multi-</a:t>
            </a:r>
            <a:r>
              <a:rPr dirty="0"/>
              <a:t>banked</a:t>
            </a:r>
            <a:r>
              <a:rPr spc="-119" dirty="0"/>
              <a:t> </a:t>
            </a:r>
            <a:r>
              <a:rPr spc="-18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453178"/>
            <a:ext cx="7540487" cy="461074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180424" indent="-249344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sz="2400" spc="-9" dirty="0">
                <a:latin typeface="Calibri"/>
                <a:cs typeface="Calibri"/>
              </a:rPr>
              <a:t>Multiple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reference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issued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superscalar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processors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31"/>
              </a:spcBef>
              <a:spcAft>
                <a:spcPts val="1200"/>
              </a:spcAft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Need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simultaneously</a:t>
            </a:r>
            <a:endParaRPr sz="2400" dirty="0">
              <a:latin typeface="Calibri"/>
              <a:cs typeface="Calibri"/>
            </a:endParaRPr>
          </a:p>
          <a:p>
            <a:pPr marL="260551" marR="4483" indent="-249344">
              <a:lnSpc>
                <a:spcPct val="110000"/>
              </a:lnSpc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multiple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support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independent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3"/>
              </a:spcBef>
              <a:spcAft>
                <a:spcPts val="1200"/>
              </a:spcAft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Intel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i7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banks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L1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mapped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specific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banks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61"/>
              </a:spcBef>
              <a:spcAft>
                <a:spcPts val="1200"/>
              </a:spcAft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e.g.,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Modulo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(sequential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interleaving)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Multiple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L2?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able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handle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outstanding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L1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misses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AA86F03-EE2D-04EB-D991-2A07BAA3B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Reads</a:t>
            </a:r>
            <a:r>
              <a:rPr spc="-101" dirty="0"/>
              <a:t> </a:t>
            </a:r>
            <a:r>
              <a:rPr dirty="0"/>
              <a:t>are</a:t>
            </a:r>
            <a:r>
              <a:rPr spc="-106" dirty="0"/>
              <a:t> </a:t>
            </a:r>
            <a:r>
              <a:rPr dirty="0"/>
              <a:t>easy,</a:t>
            </a:r>
            <a:r>
              <a:rPr spc="-93" dirty="0"/>
              <a:t> </a:t>
            </a:r>
            <a:r>
              <a:rPr lang="en-US" spc="-93" dirty="0"/>
              <a:t>W</a:t>
            </a:r>
            <a:r>
              <a:rPr dirty="0"/>
              <a:t>rites</a:t>
            </a:r>
            <a:r>
              <a:rPr spc="-101" dirty="0"/>
              <a:t> </a:t>
            </a:r>
            <a:r>
              <a:rPr dirty="0"/>
              <a:t>are</a:t>
            </a:r>
            <a:r>
              <a:rPr spc="-101" dirty="0"/>
              <a:t> </a:t>
            </a:r>
            <a:r>
              <a:rPr spc="-22" dirty="0"/>
              <a:t>not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4" y="1386918"/>
            <a:ext cx="7527234" cy="5104836"/>
          </a:xfrm>
          <a:prstGeom prst="rect">
            <a:avLst/>
          </a:prstGeom>
        </p:spPr>
        <p:txBody>
          <a:bodyPr vert="horz" wrap="square" lIns="0" tIns="48745" rIns="0" bIns="0" rtlCol="0">
            <a:spAutoFit/>
          </a:bodyPr>
          <a:lstStyle/>
          <a:p>
            <a:pPr marL="258870" marR="4483" indent="-247663" algn="just">
              <a:lnSpc>
                <a:spcPct val="110000"/>
              </a:lnSpc>
              <a:spcBef>
                <a:spcPts val="383"/>
              </a:spcBef>
              <a:spcAft>
                <a:spcPts val="1200"/>
              </a:spcAft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accesses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lang="en-US" sz="240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because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read 	</a:t>
            </a:r>
            <a:r>
              <a:rPr sz="2400" spc="-9" dirty="0">
                <a:latin typeface="Calibri"/>
                <a:cs typeface="Calibri"/>
              </a:rPr>
              <a:t>happens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happens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Make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fast:</a:t>
            </a:r>
            <a:endParaRPr sz="2400" dirty="0">
              <a:latin typeface="Calibri"/>
              <a:cs typeface="Calibri"/>
            </a:endParaRPr>
          </a:p>
          <a:p>
            <a:pPr marL="609633" marR="10646" lvl="1" indent="-199475" algn="just">
              <a:lnSpc>
                <a:spcPct val="110000"/>
              </a:lnSpc>
              <a:spcBef>
                <a:spcPts val="587"/>
              </a:spcBef>
              <a:spcAft>
                <a:spcPts val="1200"/>
              </a:spcAft>
              <a:buChar char="–"/>
              <a:tabLst>
                <a:tab pos="609633" algn="l"/>
                <a:tab pos="3643227" algn="l"/>
              </a:tabLst>
            </a:pPr>
            <a:r>
              <a:rPr sz="2200" dirty="0">
                <a:latin typeface="Calibri"/>
                <a:cs typeface="Calibri"/>
              </a:rPr>
              <a:t>Again…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overlap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operations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needed!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pull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a </a:t>
            </a:r>
            <a:r>
              <a:rPr sz="2200" spc="-9" dirty="0">
                <a:latin typeface="Calibri"/>
                <a:cs typeface="Calibri"/>
              </a:rPr>
              <a:t>register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accessed,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while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checking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whether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 matches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tag.</a:t>
            </a:r>
            <a:r>
              <a:rPr sz="2200" spc="29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lower-</a:t>
            </a:r>
            <a:r>
              <a:rPr sz="2200" spc="-9" dirty="0">
                <a:latin typeface="Calibri"/>
                <a:cs typeface="Calibri"/>
              </a:rPr>
              <a:t>level memory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register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again.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write:</a:t>
            </a:r>
            <a:endParaRPr sz="2400" dirty="0">
              <a:latin typeface="Calibri"/>
              <a:cs typeface="Calibri"/>
            </a:endParaRPr>
          </a:p>
          <a:p>
            <a:pPr marL="609633" lvl="1" indent="-200036" algn="just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must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verify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changing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location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EF0B929E-73FD-9034-F418-F5E5CB3A3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67825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91333">
              <a:spcBef>
                <a:spcPts val="88"/>
              </a:spcBef>
            </a:pPr>
            <a:r>
              <a:rPr dirty="0"/>
              <a:t>Write</a:t>
            </a:r>
            <a:r>
              <a:rPr spc="-101" dirty="0"/>
              <a:t> </a:t>
            </a:r>
            <a:r>
              <a:rPr dirty="0"/>
              <a:t>Buffers</a:t>
            </a:r>
            <a:r>
              <a:rPr spc="-93" dirty="0"/>
              <a:t> </a:t>
            </a:r>
            <a:r>
              <a:rPr dirty="0"/>
              <a:t>for</a:t>
            </a:r>
            <a:r>
              <a:rPr spc="-93" dirty="0"/>
              <a:t> </a:t>
            </a:r>
            <a:r>
              <a:rPr spc="-26" dirty="0"/>
              <a:t>Write-</a:t>
            </a:r>
            <a:r>
              <a:rPr spc="-9" dirty="0"/>
              <a:t>Through</a:t>
            </a:r>
            <a:r>
              <a:rPr spc="-88" dirty="0"/>
              <a:t> </a:t>
            </a:r>
            <a:r>
              <a:rPr spc="-9" dirty="0"/>
              <a:t>Caches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8E9EE9-58F4-AEE6-9346-B65365AFF549}"/>
              </a:ext>
            </a:extLst>
          </p:cNvPr>
          <p:cNvGrpSpPr/>
          <p:nvPr/>
        </p:nvGrpSpPr>
        <p:grpSpPr>
          <a:xfrm>
            <a:off x="2377887" y="1495317"/>
            <a:ext cx="4467921" cy="1495011"/>
            <a:chOff x="2377887" y="1658749"/>
            <a:chExt cx="4467921" cy="1495011"/>
          </a:xfrm>
        </p:grpSpPr>
        <p:sp>
          <p:nvSpPr>
            <p:cNvPr id="3" name="object 3"/>
            <p:cNvSpPr txBox="1"/>
            <p:nvPr/>
          </p:nvSpPr>
          <p:spPr>
            <a:xfrm>
              <a:off x="2377887" y="1658749"/>
              <a:ext cx="1108262" cy="534811"/>
            </a:xfrm>
            <a:prstGeom prst="rect">
              <a:avLst/>
            </a:prstGeom>
            <a:ln w="25117">
              <a:solidFill>
                <a:srgbClr val="000000"/>
              </a:solidFill>
            </a:ln>
          </p:spPr>
          <p:txBody>
            <a:bodyPr vert="horz" wrap="square" lIns="0" tIns="70597" rIns="0" bIns="0" rtlCol="0">
              <a:spAutoFit/>
            </a:bodyPr>
            <a:lstStyle/>
            <a:p>
              <a:pPr>
                <a:spcBef>
                  <a:spcPts val="556"/>
                </a:spcBef>
              </a:pPr>
              <a:endParaRPr sz="1412" dirty="0">
                <a:latin typeface="Times New Roman"/>
                <a:cs typeface="Times New Roman"/>
              </a:endParaRPr>
            </a:p>
            <a:p>
              <a:pPr marL="127194"/>
              <a:r>
                <a:rPr sz="1600" b="1" spc="-9" dirty="0">
                  <a:latin typeface="Times New Roman"/>
                  <a:cs typeface="Times New Roman"/>
                </a:rPr>
                <a:t>Processor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505513" y="1658749"/>
              <a:ext cx="776007" cy="509868"/>
            </a:xfrm>
            <a:custGeom>
              <a:avLst/>
              <a:gdLst/>
              <a:ahLst/>
              <a:cxnLst/>
              <a:rect l="l" t="t" r="r" b="b"/>
              <a:pathLst>
                <a:path w="879475" h="577850">
                  <a:moveTo>
                    <a:pt x="0" y="0"/>
                  </a:moveTo>
                  <a:lnTo>
                    <a:pt x="879122" y="0"/>
                  </a:lnTo>
                  <a:lnTo>
                    <a:pt x="879122" y="577708"/>
                  </a:lnTo>
                  <a:lnTo>
                    <a:pt x="0" y="577708"/>
                  </a:lnTo>
                  <a:lnTo>
                    <a:pt x="0" y="0"/>
                  </a:lnTo>
                  <a:close/>
                </a:path>
              </a:pathLst>
            </a:custGeom>
            <a:ln w="25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4588496" y="1792941"/>
              <a:ext cx="617487" cy="25753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b="1" spc="-9" dirty="0">
                  <a:latin typeface="Times New Roman"/>
                  <a:cs typeface="Times New Roman"/>
                </a:rPr>
                <a:t>Cache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grpSp>
          <p:nvGrpSpPr>
            <p:cNvPr id="6" name="object 6"/>
            <p:cNvGrpSpPr/>
            <p:nvPr/>
          </p:nvGrpSpPr>
          <p:grpSpPr>
            <a:xfrm>
              <a:off x="3508189" y="1875594"/>
              <a:ext cx="1784537" cy="637054"/>
              <a:chOff x="3823547" y="2125673"/>
              <a:chExt cx="2022475" cy="721995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4953847" y="2558096"/>
                <a:ext cx="879475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879475" h="276860">
                    <a:moveTo>
                      <a:pt x="0" y="0"/>
                    </a:moveTo>
                    <a:lnTo>
                      <a:pt x="879122" y="0"/>
                    </a:lnTo>
                    <a:lnTo>
                      <a:pt x="879122" y="276295"/>
                    </a:lnTo>
                    <a:lnTo>
                      <a:pt x="0" y="276295"/>
                    </a:lnTo>
                    <a:lnTo>
                      <a:pt x="0" y="0"/>
                    </a:lnTo>
                    <a:close/>
                  </a:path>
                </a:pathLst>
              </a:custGeom>
              <a:ln w="25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5161068" y="2558096"/>
                <a:ext cx="1270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276860">
                    <a:moveTo>
                      <a:pt x="0" y="0"/>
                    </a:moveTo>
                    <a:lnTo>
                      <a:pt x="12558" y="276295"/>
                    </a:lnTo>
                  </a:path>
                </a:pathLst>
              </a:custGeom>
              <a:ln w="25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387128" y="2558096"/>
                <a:ext cx="1270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276860">
                    <a:moveTo>
                      <a:pt x="0" y="0"/>
                    </a:moveTo>
                    <a:lnTo>
                      <a:pt x="12558" y="276295"/>
                    </a:lnTo>
                  </a:path>
                </a:pathLst>
              </a:custGeom>
              <a:ln w="25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5613187" y="2558096"/>
                <a:ext cx="1270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276860">
                    <a:moveTo>
                      <a:pt x="0" y="0"/>
                    </a:moveTo>
                    <a:lnTo>
                      <a:pt x="12558" y="276295"/>
                    </a:lnTo>
                  </a:path>
                </a:pathLst>
              </a:custGeom>
              <a:ln w="25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823538" y="2125674"/>
                <a:ext cx="1105535" cy="612775"/>
              </a:xfrm>
              <a:custGeom>
                <a:avLst/>
                <a:gdLst/>
                <a:ahLst/>
                <a:cxnLst/>
                <a:rect l="l" t="t" r="r" b="b"/>
                <a:pathLst>
                  <a:path w="1105535" h="612775">
                    <a:moveTo>
                      <a:pt x="1080808" y="61226"/>
                    </a:moveTo>
                    <a:lnTo>
                      <a:pt x="1042250" y="61226"/>
                    </a:lnTo>
                    <a:lnTo>
                      <a:pt x="1029690" y="61226"/>
                    </a:lnTo>
                    <a:lnTo>
                      <a:pt x="1029525" y="75349"/>
                    </a:lnTo>
                    <a:lnTo>
                      <a:pt x="1029411" y="86194"/>
                    </a:lnTo>
                    <a:lnTo>
                      <a:pt x="1080808" y="61226"/>
                    </a:lnTo>
                    <a:close/>
                  </a:path>
                  <a:path w="1105535" h="612775">
                    <a:moveTo>
                      <a:pt x="1082090" y="587565"/>
                    </a:moveTo>
                    <a:lnTo>
                      <a:pt x="1042047" y="587565"/>
                    </a:lnTo>
                    <a:lnTo>
                      <a:pt x="1029487" y="587565"/>
                    </a:lnTo>
                    <a:lnTo>
                      <a:pt x="1028750" y="612305"/>
                    </a:lnTo>
                    <a:lnTo>
                      <a:pt x="1082090" y="587565"/>
                    </a:lnTo>
                    <a:close/>
                  </a:path>
                  <a:path w="1105535" h="612775">
                    <a:moveTo>
                      <a:pt x="1105179" y="576859"/>
                    </a:moveTo>
                    <a:lnTo>
                      <a:pt x="1030973" y="536981"/>
                    </a:lnTo>
                    <a:lnTo>
                      <a:pt x="1030236" y="562089"/>
                    </a:lnTo>
                    <a:lnTo>
                      <a:pt x="678548" y="551738"/>
                    </a:lnTo>
                    <a:lnTo>
                      <a:pt x="677811" y="576859"/>
                    </a:lnTo>
                    <a:lnTo>
                      <a:pt x="1029500" y="587197"/>
                    </a:lnTo>
                    <a:lnTo>
                      <a:pt x="1042047" y="587197"/>
                    </a:lnTo>
                    <a:lnTo>
                      <a:pt x="1042784" y="562457"/>
                    </a:lnTo>
                    <a:lnTo>
                      <a:pt x="1042060" y="587197"/>
                    </a:lnTo>
                    <a:lnTo>
                      <a:pt x="1082890" y="587197"/>
                    </a:lnTo>
                    <a:lnTo>
                      <a:pt x="1105179" y="576859"/>
                    </a:lnTo>
                    <a:close/>
                  </a:path>
                  <a:path w="1105535" h="612775">
                    <a:moveTo>
                      <a:pt x="1105179" y="49377"/>
                    </a:moveTo>
                    <a:lnTo>
                      <a:pt x="1042530" y="17157"/>
                    </a:lnTo>
                    <a:lnTo>
                      <a:pt x="1042530" y="36817"/>
                    </a:lnTo>
                    <a:lnTo>
                      <a:pt x="1042390" y="49377"/>
                    </a:lnTo>
                    <a:lnTo>
                      <a:pt x="1042377" y="50012"/>
                    </a:lnTo>
                    <a:lnTo>
                      <a:pt x="1042530" y="36817"/>
                    </a:lnTo>
                    <a:lnTo>
                      <a:pt x="1042530" y="17157"/>
                    </a:lnTo>
                    <a:lnTo>
                      <a:pt x="1030262" y="10845"/>
                    </a:lnTo>
                    <a:lnTo>
                      <a:pt x="1030109" y="24980"/>
                    </a:lnTo>
                    <a:lnTo>
                      <a:pt x="1029982" y="35966"/>
                    </a:lnTo>
                    <a:lnTo>
                      <a:pt x="75488" y="25120"/>
                    </a:lnTo>
                    <a:lnTo>
                      <a:pt x="75488" y="24980"/>
                    </a:lnTo>
                    <a:lnTo>
                      <a:pt x="75653" y="10845"/>
                    </a:lnTo>
                    <a:lnTo>
                      <a:pt x="75780" y="0"/>
                    </a:lnTo>
                    <a:lnTo>
                      <a:pt x="62801" y="6311"/>
                    </a:lnTo>
                    <a:lnTo>
                      <a:pt x="62801" y="36817"/>
                    </a:lnTo>
                    <a:lnTo>
                      <a:pt x="62661" y="49377"/>
                    </a:lnTo>
                    <a:lnTo>
                      <a:pt x="62649" y="50088"/>
                    </a:lnTo>
                    <a:lnTo>
                      <a:pt x="62801" y="36817"/>
                    </a:lnTo>
                    <a:lnTo>
                      <a:pt x="62801" y="6311"/>
                    </a:lnTo>
                    <a:lnTo>
                      <a:pt x="0" y="36817"/>
                    </a:lnTo>
                    <a:lnTo>
                      <a:pt x="74917" y="75349"/>
                    </a:lnTo>
                    <a:lnTo>
                      <a:pt x="75082" y="61226"/>
                    </a:lnTo>
                    <a:lnTo>
                      <a:pt x="75209" y="50241"/>
                    </a:lnTo>
                    <a:lnTo>
                      <a:pt x="75311" y="41300"/>
                    </a:lnTo>
                    <a:lnTo>
                      <a:pt x="75222" y="49377"/>
                    </a:lnTo>
                    <a:lnTo>
                      <a:pt x="75209" y="50241"/>
                    </a:lnTo>
                    <a:lnTo>
                      <a:pt x="1029690" y="61087"/>
                    </a:lnTo>
                    <a:lnTo>
                      <a:pt x="1029970" y="36817"/>
                    </a:lnTo>
                    <a:lnTo>
                      <a:pt x="1029830" y="49377"/>
                    </a:lnTo>
                    <a:lnTo>
                      <a:pt x="1029817" y="50088"/>
                    </a:lnTo>
                    <a:lnTo>
                      <a:pt x="1029690" y="61087"/>
                    </a:lnTo>
                    <a:lnTo>
                      <a:pt x="1042250" y="61087"/>
                    </a:lnTo>
                    <a:lnTo>
                      <a:pt x="1081100" y="61087"/>
                    </a:lnTo>
                    <a:lnTo>
                      <a:pt x="1105179" y="4937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4377117" y="2500076"/>
              <a:ext cx="1174075" cy="25753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b="1" spc="-9" dirty="0">
                  <a:latin typeface="Times New Roman"/>
                  <a:cs typeface="Times New Roman"/>
                </a:rPr>
                <a:t>Write</a:t>
              </a:r>
              <a:r>
                <a:rPr sz="1600" b="1" spc="-66" dirty="0">
                  <a:latin typeface="Times New Roman"/>
                  <a:cs typeface="Times New Roman"/>
                </a:rPr>
                <a:t> </a:t>
              </a:r>
              <a:r>
                <a:rPr sz="1600" b="1" spc="-9" dirty="0">
                  <a:latin typeface="Times New Roman"/>
                  <a:cs typeface="Times New Roman"/>
                </a:rPr>
                <a:t>Buffer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835276" y="1658749"/>
              <a:ext cx="1010532" cy="763784"/>
            </a:xfrm>
            <a:prstGeom prst="rect">
              <a:avLst/>
            </a:prstGeom>
            <a:ln w="25117">
              <a:solidFill>
                <a:srgbClr val="000000"/>
              </a:solidFill>
            </a:ln>
          </p:spPr>
          <p:txBody>
            <a:bodyPr vert="horz" wrap="square" lIns="0" tIns="108697" rIns="0" bIns="0" rtlCol="0">
              <a:spAutoFit/>
            </a:bodyPr>
            <a:lstStyle/>
            <a:p>
              <a:pPr marL="120470" marR="128875" indent="2241" algn="ctr">
                <a:lnSpc>
                  <a:spcPts val="1677"/>
                </a:lnSpc>
                <a:spcBef>
                  <a:spcPts val="856"/>
                </a:spcBef>
              </a:pPr>
              <a:r>
                <a:rPr sz="1600" b="1" spc="-9" dirty="0">
                  <a:latin typeface="Times New Roman"/>
                  <a:cs typeface="Times New Roman"/>
                </a:rPr>
                <a:t>Lower Level </a:t>
              </a:r>
              <a:r>
                <a:rPr sz="1600" b="1" spc="-22" dirty="0">
                  <a:latin typeface="Times New Roman"/>
                  <a:cs typeface="Times New Roman"/>
                </a:rPr>
                <a:t>Memory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grpSp>
          <p:nvGrpSpPr>
            <p:cNvPr id="14" name="object 14"/>
            <p:cNvGrpSpPr/>
            <p:nvPr/>
          </p:nvGrpSpPr>
          <p:grpSpPr>
            <a:xfrm>
              <a:off x="3831515" y="1876289"/>
              <a:ext cx="1982321" cy="1277471"/>
              <a:chOff x="4189984" y="2126461"/>
              <a:chExt cx="2246630" cy="144780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5857926" y="2126462"/>
                <a:ext cx="578485" cy="612140"/>
              </a:xfrm>
              <a:custGeom>
                <a:avLst/>
                <a:gdLst/>
                <a:ahLst/>
                <a:cxnLst/>
                <a:rect l="l" t="t" r="r" b="b"/>
                <a:pathLst>
                  <a:path w="578485" h="612139">
                    <a:moveTo>
                      <a:pt x="554215" y="587260"/>
                    </a:moveTo>
                    <a:lnTo>
                      <a:pt x="514807" y="587260"/>
                    </a:lnTo>
                    <a:lnTo>
                      <a:pt x="502246" y="587260"/>
                    </a:lnTo>
                    <a:lnTo>
                      <a:pt x="501713" y="612101"/>
                    </a:lnTo>
                    <a:lnTo>
                      <a:pt x="554215" y="587260"/>
                    </a:lnTo>
                    <a:close/>
                  </a:path>
                  <a:path w="578485" h="612139">
                    <a:moveTo>
                      <a:pt x="577862" y="576072"/>
                    </a:moveTo>
                    <a:lnTo>
                      <a:pt x="503351" y="536765"/>
                    </a:lnTo>
                    <a:lnTo>
                      <a:pt x="502805" y="561873"/>
                    </a:lnTo>
                    <a:lnTo>
                      <a:pt x="431" y="550951"/>
                    </a:lnTo>
                    <a:lnTo>
                      <a:pt x="190" y="561873"/>
                    </a:lnTo>
                    <a:lnTo>
                      <a:pt x="0" y="576072"/>
                    </a:lnTo>
                    <a:lnTo>
                      <a:pt x="502259" y="586981"/>
                    </a:lnTo>
                    <a:lnTo>
                      <a:pt x="514807" y="586981"/>
                    </a:lnTo>
                    <a:lnTo>
                      <a:pt x="515353" y="562140"/>
                    </a:lnTo>
                    <a:lnTo>
                      <a:pt x="514819" y="586981"/>
                    </a:lnTo>
                    <a:lnTo>
                      <a:pt x="554786" y="586981"/>
                    </a:lnTo>
                    <a:lnTo>
                      <a:pt x="577862" y="576072"/>
                    </a:lnTo>
                    <a:close/>
                  </a:path>
                  <a:path w="578485" h="612139">
                    <a:moveTo>
                      <a:pt x="578142" y="36042"/>
                    </a:moveTo>
                    <a:lnTo>
                      <a:pt x="75768" y="25120"/>
                    </a:lnTo>
                    <a:lnTo>
                      <a:pt x="75768" y="24841"/>
                    </a:lnTo>
                    <a:lnTo>
                      <a:pt x="76314" y="0"/>
                    </a:lnTo>
                    <a:lnTo>
                      <a:pt x="165" y="36042"/>
                    </a:lnTo>
                    <a:lnTo>
                      <a:pt x="74676" y="75336"/>
                    </a:lnTo>
                    <a:lnTo>
                      <a:pt x="75222" y="50228"/>
                    </a:lnTo>
                    <a:lnTo>
                      <a:pt x="577596" y="61150"/>
                    </a:lnTo>
                    <a:lnTo>
                      <a:pt x="578142" y="3604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482888" y="2181330"/>
                <a:ext cx="12700" cy="50292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502919">
                    <a:moveTo>
                      <a:pt x="0" y="0"/>
                    </a:moveTo>
                    <a:lnTo>
                      <a:pt x="12558" y="502355"/>
                    </a:lnTo>
                  </a:path>
                </a:pathLst>
              </a:custGeom>
              <a:ln w="2511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4736007" y="2357129"/>
                <a:ext cx="1423670" cy="892175"/>
              </a:xfrm>
              <a:custGeom>
                <a:avLst/>
                <a:gdLst/>
                <a:ahLst/>
                <a:cxnLst/>
                <a:rect l="l" t="t" r="r" b="b"/>
                <a:pathLst>
                  <a:path w="1423670" h="892175">
                    <a:moveTo>
                      <a:pt x="1214907" y="130581"/>
                    </a:moveTo>
                    <a:lnTo>
                      <a:pt x="1258651" y="160564"/>
                    </a:lnTo>
                    <a:lnTo>
                      <a:pt x="1297249" y="192329"/>
                    </a:lnTo>
                    <a:lnTo>
                      <a:pt x="1330700" y="225653"/>
                    </a:lnTo>
                    <a:lnTo>
                      <a:pt x="1359005" y="260313"/>
                    </a:lnTo>
                    <a:lnTo>
                      <a:pt x="1382164" y="296087"/>
                    </a:lnTo>
                    <a:lnTo>
                      <a:pt x="1400176" y="332752"/>
                    </a:lnTo>
                    <a:lnTo>
                      <a:pt x="1413042" y="370085"/>
                    </a:lnTo>
                    <a:lnTo>
                      <a:pt x="1420762" y="407864"/>
                    </a:lnTo>
                    <a:lnTo>
                      <a:pt x="1423335" y="445865"/>
                    </a:lnTo>
                    <a:lnTo>
                      <a:pt x="1420762" y="483866"/>
                    </a:lnTo>
                    <a:lnTo>
                      <a:pt x="1413042" y="521645"/>
                    </a:lnTo>
                    <a:lnTo>
                      <a:pt x="1400176" y="558978"/>
                    </a:lnTo>
                    <a:lnTo>
                      <a:pt x="1382164" y="595643"/>
                    </a:lnTo>
                    <a:lnTo>
                      <a:pt x="1359005" y="631417"/>
                    </a:lnTo>
                    <a:lnTo>
                      <a:pt x="1330700" y="666077"/>
                    </a:lnTo>
                    <a:lnTo>
                      <a:pt x="1297249" y="699401"/>
                    </a:lnTo>
                    <a:lnTo>
                      <a:pt x="1258651" y="731166"/>
                    </a:lnTo>
                    <a:lnTo>
                      <a:pt x="1214907" y="761149"/>
                    </a:lnTo>
                    <a:lnTo>
                      <a:pt x="1175973" y="783812"/>
                    </a:lnTo>
                    <a:lnTo>
                      <a:pt x="1135092" y="804317"/>
                    </a:lnTo>
                    <a:lnTo>
                      <a:pt x="1092458" y="822663"/>
                    </a:lnTo>
                    <a:lnTo>
                      <a:pt x="1048267" y="838851"/>
                    </a:lnTo>
                    <a:lnTo>
                      <a:pt x="1002712" y="852880"/>
                    </a:lnTo>
                    <a:lnTo>
                      <a:pt x="955989" y="864751"/>
                    </a:lnTo>
                    <a:lnTo>
                      <a:pt x="908293" y="874464"/>
                    </a:lnTo>
                    <a:lnTo>
                      <a:pt x="859818" y="882018"/>
                    </a:lnTo>
                    <a:lnTo>
                      <a:pt x="810759" y="887414"/>
                    </a:lnTo>
                    <a:lnTo>
                      <a:pt x="761310" y="890651"/>
                    </a:lnTo>
                    <a:lnTo>
                      <a:pt x="711667" y="891731"/>
                    </a:lnTo>
                    <a:lnTo>
                      <a:pt x="662024" y="890651"/>
                    </a:lnTo>
                    <a:lnTo>
                      <a:pt x="612575" y="887414"/>
                    </a:lnTo>
                    <a:lnTo>
                      <a:pt x="563516" y="882018"/>
                    </a:lnTo>
                    <a:lnTo>
                      <a:pt x="515041" y="874464"/>
                    </a:lnTo>
                    <a:lnTo>
                      <a:pt x="467345" y="864751"/>
                    </a:lnTo>
                    <a:lnTo>
                      <a:pt x="420622" y="852880"/>
                    </a:lnTo>
                    <a:lnTo>
                      <a:pt x="375068" y="838851"/>
                    </a:lnTo>
                    <a:lnTo>
                      <a:pt x="330876" y="822663"/>
                    </a:lnTo>
                    <a:lnTo>
                      <a:pt x="288243" y="804317"/>
                    </a:lnTo>
                    <a:lnTo>
                      <a:pt x="247361" y="783812"/>
                    </a:lnTo>
                    <a:lnTo>
                      <a:pt x="208427" y="761149"/>
                    </a:lnTo>
                    <a:lnTo>
                      <a:pt x="164683" y="731166"/>
                    </a:lnTo>
                    <a:lnTo>
                      <a:pt x="126085" y="699401"/>
                    </a:lnTo>
                    <a:lnTo>
                      <a:pt x="92634" y="666077"/>
                    </a:lnTo>
                    <a:lnTo>
                      <a:pt x="64329" y="631417"/>
                    </a:lnTo>
                    <a:lnTo>
                      <a:pt x="41170" y="595643"/>
                    </a:lnTo>
                    <a:lnTo>
                      <a:pt x="23158" y="558978"/>
                    </a:lnTo>
                    <a:lnTo>
                      <a:pt x="10292" y="521645"/>
                    </a:lnTo>
                    <a:lnTo>
                      <a:pt x="2573" y="483866"/>
                    </a:lnTo>
                    <a:lnTo>
                      <a:pt x="0" y="445865"/>
                    </a:lnTo>
                    <a:lnTo>
                      <a:pt x="2573" y="407864"/>
                    </a:lnTo>
                    <a:lnTo>
                      <a:pt x="10292" y="370085"/>
                    </a:lnTo>
                    <a:lnTo>
                      <a:pt x="23158" y="332752"/>
                    </a:lnTo>
                    <a:lnTo>
                      <a:pt x="41170" y="296087"/>
                    </a:lnTo>
                    <a:lnTo>
                      <a:pt x="64329" y="260313"/>
                    </a:lnTo>
                    <a:lnTo>
                      <a:pt x="92634" y="225653"/>
                    </a:lnTo>
                    <a:lnTo>
                      <a:pt x="126085" y="192329"/>
                    </a:lnTo>
                    <a:lnTo>
                      <a:pt x="164683" y="160564"/>
                    </a:lnTo>
                    <a:lnTo>
                      <a:pt x="208427" y="130581"/>
                    </a:lnTo>
                    <a:lnTo>
                      <a:pt x="247361" y="107918"/>
                    </a:lnTo>
                    <a:lnTo>
                      <a:pt x="288243" y="87413"/>
                    </a:lnTo>
                    <a:lnTo>
                      <a:pt x="330876" y="69067"/>
                    </a:lnTo>
                    <a:lnTo>
                      <a:pt x="375068" y="52880"/>
                    </a:lnTo>
                    <a:lnTo>
                      <a:pt x="420622" y="38850"/>
                    </a:lnTo>
                    <a:lnTo>
                      <a:pt x="467345" y="26979"/>
                    </a:lnTo>
                    <a:lnTo>
                      <a:pt x="515041" y="17266"/>
                    </a:lnTo>
                    <a:lnTo>
                      <a:pt x="563516" y="9712"/>
                    </a:lnTo>
                    <a:lnTo>
                      <a:pt x="612575" y="4316"/>
                    </a:lnTo>
                    <a:lnTo>
                      <a:pt x="662024" y="1079"/>
                    </a:lnTo>
                    <a:lnTo>
                      <a:pt x="711667" y="0"/>
                    </a:lnTo>
                    <a:lnTo>
                      <a:pt x="761310" y="1079"/>
                    </a:lnTo>
                    <a:lnTo>
                      <a:pt x="810759" y="4316"/>
                    </a:lnTo>
                    <a:lnTo>
                      <a:pt x="859818" y="9712"/>
                    </a:lnTo>
                    <a:lnTo>
                      <a:pt x="908293" y="17266"/>
                    </a:lnTo>
                    <a:lnTo>
                      <a:pt x="955989" y="26979"/>
                    </a:lnTo>
                    <a:lnTo>
                      <a:pt x="1002712" y="38850"/>
                    </a:lnTo>
                    <a:lnTo>
                      <a:pt x="1048267" y="52880"/>
                    </a:lnTo>
                    <a:lnTo>
                      <a:pt x="1092458" y="69067"/>
                    </a:lnTo>
                    <a:lnTo>
                      <a:pt x="1135092" y="87413"/>
                    </a:lnTo>
                    <a:lnTo>
                      <a:pt x="1175973" y="107918"/>
                    </a:lnTo>
                    <a:lnTo>
                      <a:pt x="1214907" y="130581"/>
                    </a:lnTo>
                    <a:close/>
                  </a:path>
                </a:pathLst>
              </a:custGeom>
              <a:ln w="25117">
                <a:solidFill>
                  <a:srgbClr val="053DE8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18" name="object 1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189984" y="3009900"/>
                <a:ext cx="752856" cy="563879"/>
              </a:xfrm>
              <a:prstGeom prst="rect">
                <a:avLst/>
              </a:prstGeom>
            </p:spPr>
          </p:pic>
          <p:sp>
            <p:nvSpPr>
              <p:cNvPr id="19" name="object 19"/>
              <p:cNvSpPr/>
              <p:nvPr/>
            </p:nvSpPr>
            <p:spPr>
              <a:xfrm>
                <a:off x="4212764" y="3085569"/>
                <a:ext cx="54927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549275" h="362585">
                    <a:moveTo>
                      <a:pt x="493181" y="21347"/>
                    </a:moveTo>
                    <a:lnTo>
                      <a:pt x="0" y="341111"/>
                    </a:lnTo>
                    <a:lnTo>
                      <a:pt x="13665" y="362187"/>
                    </a:lnTo>
                    <a:lnTo>
                      <a:pt x="506846" y="42421"/>
                    </a:lnTo>
                    <a:lnTo>
                      <a:pt x="507039" y="27330"/>
                    </a:lnTo>
                    <a:lnTo>
                      <a:pt x="493181" y="21347"/>
                    </a:lnTo>
                    <a:close/>
                  </a:path>
                  <a:path w="549275" h="362585">
                    <a:moveTo>
                      <a:pt x="539309" y="16791"/>
                    </a:moveTo>
                    <a:lnTo>
                      <a:pt x="500207" y="16791"/>
                    </a:lnTo>
                    <a:lnTo>
                      <a:pt x="513871" y="37867"/>
                    </a:lnTo>
                    <a:lnTo>
                      <a:pt x="506846" y="42421"/>
                    </a:lnTo>
                    <a:lnTo>
                      <a:pt x="506460" y="72608"/>
                    </a:lnTo>
                    <a:lnTo>
                      <a:pt x="539309" y="16791"/>
                    </a:lnTo>
                    <a:close/>
                  </a:path>
                  <a:path w="549275" h="362585">
                    <a:moveTo>
                      <a:pt x="507039" y="27330"/>
                    </a:moveTo>
                    <a:lnTo>
                      <a:pt x="506905" y="37867"/>
                    </a:lnTo>
                    <a:lnTo>
                      <a:pt x="506846" y="42421"/>
                    </a:lnTo>
                    <a:lnTo>
                      <a:pt x="513871" y="37867"/>
                    </a:lnTo>
                    <a:lnTo>
                      <a:pt x="507039" y="27330"/>
                    </a:lnTo>
                    <a:close/>
                  </a:path>
                  <a:path w="549275" h="362585">
                    <a:moveTo>
                      <a:pt x="500207" y="16791"/>
                    </a:moveTo>
                    <a:lnTo>
                      <a:pt x="493181" y="21347"/>
                    </a:lnTo>
                    <a:lnTo>
                      <a:pt x="507039" y="27330"/>
                    </a:lnTo>
                    <a:lnTo>
                      <a:pt x="500207" y="16791"/>
                    </a:lnTo>
                    <a:close/>
                  </a:path>
                  <a:path w="549275" h="362585">
                    <a:moveTo>
                      <a:pt x="549191" y="0"/>
                    </a:moveTo>
                    <a:lnTo>
                      <a:pt x="465466" y="9381"/>
                    </a:lnTo>
                    <a:lnTo>
                      <a:pt x="493181" y="21347"/>
                    </a:lnTo>
                    <a:lnTo>
                      <a:pt x="500207" y="16791"/>
                    </a:lnTo>
                    <a:lnTo>
                      <a:pt x="539309" y="16791"/>
                    </a:lnTo>
                    <a:lnTo>
                      <a:pt x="549191" y="0"/>
                    </a:lnTo>
                    <a:close/>
                  </a:path>
                </a:pathLst>
              </a:custGeom>
              <a:solidFill>
                <a:srgbClr val="053DE8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</p:grpSp>
      <p:sp>
        <p:nvSpPr>
          <p:cNvPr id="20" name="object 20"/>
          <p:cNvSpPr txBox="1"/>
          <p:nvPr/>
        </p:nvSpPr>
        <p:spPr>
          <a:xfrm>
            <a:off x="1846687" y="2989270"/>
            <a:ext cx="4523121" cy="68142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R="4483" indent="9525">
              <a:lnSpc>
                <a:spcPct val="100800"/>
              </a:lnSpc>
              <a:spcBef>
                <a:spcPts val="66"/>
              </a:spcBef>
            </a:pPr>
            <a:r>
              <a:rPr sz="2200" b="1" dirty="0">
                <a:latin typeface="Calibri"/>
                <a:cs typeface="Calibri"/>
              </a:rPr>
              <a:t>Holds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18" dirty="0">
                <a:latin typeface="Calibri"/>
                <a:cs typeface="Calibri"/>
              </a:rPr>
              <a:t>(addresses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&amp;</a:t>
            </a:r>
            <a:r>
              <a:rPr sz="2200" b="1" spc="-79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data)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awaiting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write-through</a:t>
            </a:r>
            <a:r>
              <a:rPr sz="2200" b="1" spc="-93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88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lower</a:t>
            </a:r>
            <a:r>
              <a:rPr lang="en-US" sz="2200" b="1" spc="-84" dirty="0">
                <a:latin typeface="Calibri"/>
                <a:cs typeface="Calibri"/>
              </a:rPr>
              <a:t>-</a:t>
            </a:r>
            <a:r>
              <a:rPr sz="2200" b="1" spc="-9" dirty="0">
                <a:latin typeface="Calibri"/>
                <a:cs typeface="Calibri"/>
              </a:rPr>
              <a:t>level</a:t>
            </a:r>
            <a:r>
              <a:rPr sz="2200" b="1" spc="-84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9570" y="3736030"/>
            <a:ext cx="3593423" cy="2695195"/>
          </a:xfrm>
          <a:prstGeom prst="rect">
            <a:avLst/>
          </a:prstGeom>
        </p:spPr>
        <p:txBody>
          <a:bodyPr vert="horz" wrap="square" lIns="0" tIns="169769" rIns="0" bIns="0" rtlCol="0">
            <a:spAutoFit/>
          </a:bodyPr>
          <a:lstStyle/>
          <a:p>
            <a:pPr marL="11206">
              <a:spcBef>
                <a:spcPts val="1337"/>
              </a:spcBef>
            </a:pP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Q.</a:t>
            </a:r>
            <a:r>
              <a:rPr sz="2400" spc="-71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Why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a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write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buffer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44" dirty="0">
                <a:solidFill>
                  <a:srgbClr val="053DE8"/>
                </a:solidFill>
                <a:latin typeface="Calibri"/>
                <a:cs typeface="Calibri"/>
              </a:rPr>
              <a:t>?</a:t>
            </a:r>
            <a:endParaRPr lang="en-US" sz="2400" spc="-44" dirty="0">
              <a:latin typeface="Calibri"/>
              <a:cs typeface="Calibri"/>
            </a:endParaRPr>
          </a:p>
          <a:p>
            <a:pPr marL="344488" indent="-333375">
              <a:spcBef>
                <a:spcPts val="1337"/>
              </a:spcBef>
            </a:pP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Q.</a:t>
            </a:r>
            <a:r>
              <a:rPr sz="2400" spc="-71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Why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a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44" dirty="0">
                <a:solidFill>
                  <a:srgbClr val="053DE8"/>
                </a:solidFill>
                <a:latin typeface="Calibri"/>
                <a:cs typeface="Calibri"/>
              </a:rPr>
              <a:t>buffer,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why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53DE8"/>
                </a:solidFill>
                <a:latin typeface="Calibri"/>
                <a:cs typeface="Calibri"/>
              </a:rPr>
              <a:t>not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just</a:t>
            </a:r>
            <a:r>
              <a:rPr sz="2400" spc="-7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one</a:t>
            </a:r>
            <a:r>
              <a:rPr sz="2400" spc="-88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register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44" dirty="0">
                <a:solidFill>
                  <a:srgbClr val="053DE8"/>
                </a:solidFill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marL="344488" marR="4483" indent="-323850">
              <a:lnSpc>
                <a:spcPct val="99600"/>
              </a:lnSpc>
              <a:spcBef>
                <a:spcPts val="1063"/>
              </a:spcBef>
            </a:pPr>
            <a:r>
              <a:rPr sz="2400" b="1" dirty="0">
                <a:solidFill>
                  <a:srgbClr val="00B050"/>
                </a:solidFill>
                <a:latin typeface="Calibri"/>
                <a:cs typeface="Calibri"/>
              </a:rPr>
              <a:t>Q.</a:t>
            </a:r>
            <a:r>
              <a:rPr sz="2400" spc="-8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Are</a:t>
            </a:r>
            <a:r>
              <a:rPr sz="2400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Read</a:t>
            </a:r>
            <a:r>
              <a:rPr sz="2400" spc="-9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After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Write (RAW)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hazards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an</a:t>
            </a:r>
            <a:r>
              <a:rPr sz="2400" spc="-7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issue</a:t>
            </a:r>
            <a:r>
              <a:rPr sz="2400" spc="-7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53DE8"/>
                </a:solidFill>
                <a:latin typeface="Calibri"/>
                <a:cs typeface="Calibri"/>
              </a:rPr>
              <a:t>for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write</a:t>
            </a:r>
            <a:r>
              <a:rPr sz="2400" spc="-12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buffer?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9459" y="3736030"/>
            <a:ext cx="3870930" cy="2635224"/>
          </a:xfrm>
          <a:prstGeom prst="rect">
            <a:avLst/>
          </a:prstGeom>
        </p:spPr>
        <p:txBody>
          <a:bodyPr vert="horz" wrap="square" lIns="0" tIns="148478" rIns="0" bIns="0" rtlCol="0">
            <a:spAutoFit/>
          </a:bodyPr>
          <a:lstStyle/>
          <a:p>
            <a:pPr marL="33619">
              <a:spcBef>
                <a:spcPts val="1169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A.</a:t>
            </a:r>
            <a:r>
              <a:rPr sz="2400" b="1" spc="-49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So</a:t>
            </a:r>
            <a:r>
              <a:rPr sz="2400" spc="-57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CPU</a:t>
            </a:r>
            <a:r>
              <a:rPr sz="2400" spc="-7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doesn’t</a:t>
            </a:r>
            <a:r>
              <a:rPr sz="2400" spc="-5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stall</a:t>
            </a:r>
            <a:endParaRPr sz="2400" dirty="0">
              <a:latin typeface="Calibri"/>
              <a:cs typeface="Calibri"/>
            </a:endParaRPr>
          </a:p>
          <a:p>
            <a:pPr marL="396875" marR="1164914" indent="-354013">
              <a:spcBef>
                <a:spcPts val="1077"/>
              </a:spcBef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A.</a:t>
            </a:r>
            <a:r>
              <a:rPr sz="2400" b="1" spc="-62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Bursts</a:t>
            </a:r>
            <a:r>
              <a:rPr sz="2400" spc="-7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of</a:t>
            </a:r>
            <a:r>
              <a:rPr sz="2400" spc="-7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writes</a:t>
            </a:r>
            <a:r>
              <a:rPr lang="en-US" sz="2400" spc="-71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53DE8"/>
                </a:solidFill>
                <a:latin typeface="Calibri"/>
                <a:cs typeface="Calibri"/>
              </a:rPr>
              <a:t>are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common.</a:t>
            </a:r>
            <a:endParaRPr sz="2400" dirty="0">
              <a:latin typeface="Calibri"/>
              <a:cs typeface="Calibri"/>
            </a:endParaRPr>
          </a:p>
          <a:p>
            <a:pPr marL="344488" marR="26896" indent="-311150">
              <a:lnSpc>
                <a:spcPct val="99600"/>
              </a:lnSpc>
              <a:spcBef>
                <a:spcPts val="966"/>
              </a:spcBef>
              <a:tabLst>
                <a:tab pos="938543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A.</a:t>
            </a:r>
            <a:r>
              <a:rPr sz="2400" b="1" spc="-26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Yes!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	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Drain</a:t>
            </a:r>
            <a:r>
              <a:rPr sz="2400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buffer</a:t>
            </a:r>
            <a:r>
              <a:rPr sz="2400" spc="-84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53DE8"/>
                </a:solidFill>
                <a:latin typeface="Calibri"/>
                <a:cs typeface="Calibri"/>
              </a:rPr>
              <a:t>before</a:t>
            </a:r>
            <a:r>
              <a:rPr sz="2400" spc="-9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next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read,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send</a:t>
            </a:r>
            <a:r>
              <a:rPr sz="2400" spc="-88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read</a:t>
            </a:r>
            <a:r>
              <a:rPr sz="2400" spc="-88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1</a:t>
            </a:r>
            <a:r>
              <a:rPr sz="2400" baseline="26143" dirty="0">
                <a:solidFill>
                  <a:srgbClr val="053DE8"/>
                </a:solidFill>
                <a:latin typeface="Calibri"/>
                <a:cs typeface="Calibri"/>
              </a:rPr>
              <a:t>st</a:t>
            </a:r>
            <a:r>
              <a:rPr sz="2400" spc="165" baseline="26143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53DE8"/>
                </a:solidFill>
                <a:latin typeface="Calibri"/>
                <a:cs typeface="Calibri"/>
              </a:rPr>
              <a:t>after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check</a:t>
            </a:r>
            <a:r>
              <a:rPr sz="2400" spc="-110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53DE8"/>
                </a:solidFill>
                <a:latin typeface="Calibri"/>
                <a:cs typeface="Calibri"/>
              </a:rPr>
              <a:t>write</a:t>
            </a:r>
            <a:r>
              <a:rPr sz="2400" spc="-119" dirty="0">
                <a:solidFill>
                  <a:srgbClr val="053DE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53DE8"/>
                </a:solidFill>
                <a:latin typeface="Calibri"/>
                <a:cs typeface="Calibri"/>
              </a:rPr>
              <a:t>buffers.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7670724D-FAA8-00FB-1F52-554FA44B32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70026"/>
            <a:ext cx="654031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Another</a:t>
            </a:r>
            <a:r>
              <a:rPr spc="-128" dirty="0"/>
              <a:t> </a:t>
            </a:r>
            <a:r>
              <a:rPr dirty="0"/>
              <a:t>Write</a:t>
            </a:r>
            <a:r>
              <a:rPr spc="-128" dirty="0"/>
              <a:t> </a:t>
            </a:r>
            <a:r>
              <a:rPr dirty="0"/>
              <a:t>Buffer</a:t>
            </a:r>
            <a:r>
              <a:rPr spc="-124" dirty="0"/>
              <a:t> </a:t>
            </a:r>
            <a:r>
              <a:rPr spc="-9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1803" y="1219942"/>
            <a:ext cx="7752354" cy="5275818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 algn="just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mechanics,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merging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An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contain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multiple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words</a:t>
            </a:r>
            <a:r>
              <a:rPr sz="2200" spc="-57" dirty="0">
                <a:latin typeface="Calibri"/>
                <a:cs typeface="Calibri"/>
              </a:rPr>
              <a:t> </a:t>
            </a:r>
            <a:br>
              <a:rPr lang="en-US" sz="2200" spc="-57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(maybe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whole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block)</a:t>
            </a:r>
            <a:endParaRPr sz="2200" dirty="0">
              <a:latin typeface="Calibri"/>
              <a:cs typeface="Calibri"/>
            </a:endParaRPr>
          </a:p>
          <a:p>
            <a:pPr marL="609633" marR="24094" lvl="1" indent="-199475" algn="just">
              <a:lnSpc>
                <a:spcPct val="110000"/>
              </a:lnSpc>
              <a:spcBef>
                <a:spcPts val="613"/>
              </a:spcBef>
              <a:buChar char="–"/>
              <a:tabLst>
                <a:tab pos="609633" algn="l"/>
              </a:tabLst>
            </a:pPr>
            <a:r>
              <a:rPr sz="2200" u="sng" dirty="0">
                <a:latin typeface="Calibri"/>
                <a:cs typeface="Calibri"/>
              </a:rPr>
              <a:t>If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there’s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an</a:t>
            </a:r>
            <a:r>
              <a:rPr sz="2200" u="sng" spc="-44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empty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entry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written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buffer,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done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write</a:t>
            </a:r>
            <a:endParaRPr sz="2200" dirty="0">
              <a:latin typeface="Calibri"/>
              <a:cs typeface="Calibri"/>
            </a:endParaRPr>
          </a:p>
          <a:p>
            <a:pPr marL="609633" marR="318264" lvl="1" indent="-199475" algn="just">
              <a:lnSpc>
                <a:spcPct val="110000"/>
              </a:lnSpc>
              <a:spcBef>
                <a:spcPts val="609"/>
              </a:spcBef>
              <a:buChar char="–"/>
              <a:tabLst>
                <a:tab pos="609633" algn="l"/>
              </a:tabLst>
            </a:pPr>
            <a:r>
              <a:rPr sz="2200" u="sng" dirty="0">
                <a:latin typeface="Calibri"/>
                <a:cs typeface="Calibri"/>
              </a:rPr>
              <a:t>If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buffer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contains</a:t>
            </a:r>
            <a:r>
              <a:rPr sz="2200" u="sng" spc="-53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other</a:t>
            </a:r>
            <a:r>
              <a:rPr sz="2200" u="sng" spc="-44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modified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blocks</a:t>
            </a:r>
            <a:r>
              <a:rPr sz="2200" spc="-9" dirty="0">
                <a:latin typeface="Calibri"/>
                <a:cs typeface="Calibri"/>
              </a:rPr>
              <a:t>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 matches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already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combine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with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(Write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merging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Intel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i7)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 algn="just">
              <a:lnSpc>
                <a:spcPct val="110000"/>
              </a:lnSpc>
              <a:spcBef>
                <a:spcPts val="627"/>
              </a:spcBef>
              <a:buChar char="–"/>
              <a:tabLst>
                <a:tab pos="609633" algn="l"/>
              </a:tabLst>
            </a:pPr>
            <a:r>
              <a:rPr sz="2200" u="sng" dirty="0">
                <a:latin typeface="Calibri"/>
                <a:cs typeface="Calibri"/>
              </a:rPr>
              <a:t>If</a:t>
            </a:r>
            <a:r>
              <a:rPr sz="2200" u="sng" spc="-62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buffer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full</a:t>
            </a:r>
            <a:r>
              <a:rPr sz="2200" u="sng" spc="-53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and</a:t>
            </a:r>
            <a:r>
              <a:rPr sz="2200" u="sng" spc="-49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no</a:t>
            </a:r>
            <a:r>
              <a:rPr sz="2200" u="sng" spc="-53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address</a:t>
            </a:r>
            <a:r>
              <a:rPr sz="2200" u="sng" spc="-53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match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CPU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wait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empty </a:t>
            </a:r>
            <a:r>
              <a:rPr sz="2200" dirty="0">
                <a:latin typeface="Calibri"/>
                <a:cs typeface="Calibri"/>
              </a:rPr>
              <a:t>entry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appear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(meaning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been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written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memory)</a:t>
            </a:r>
            <a:endParaRPr sz="2200" dirty="0">
              <a:latin typeface="Calibri"/>
              <a:cs typeface="Calibri"/>
            </a:endParaRPr>
          </a:p>
          <a:p>
            <a:pPr marL="609633" marR="276240" lvl="1" indent="-199475" algn="just">
              <a:lnSpc>
                <a:spcPct val="110000"/>
              </a:lnSpc>
              <a:spcBef>
                <a:spcPts val="459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Merging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improves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efficiency,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multi-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usually </a:t>
            </a:r>
            <a:r>
              <a:rPr sz="2200" dirty="0">
                <a:latin typeface="Calibri"/>
                <a:cs typeface="Calibri"/>
              </a:rPr>
              <a:t>faster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32C435C8-4985-AA26-EB5B-1798734ADA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Write</a:t>
            </a:r>
            <a:r>
              <a:rPr spc="-124" dirty="0"/>
              <a:t> </a:t>
            </a:r>
            <a:r>
              <a:rPr dirty="0"/>
              <a:t>Buffer</a:t>
            </a:r>
            <a:r>
              <a:rPr spc="-110" dirty="0"/>
              <a:t> </a:t>
            </a:r>
            <a:r>
              <a:rPr spc="-9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7164" y="2570845"/>
            <a:ext cx="1072403" cy="669490"/>
          </a:xfrm>
          <a:prstGeom prst="rect">
            <a:avLst/>
          </a:prstGeom>
        </p:spPr>
        <p:txBody>
          <a:bodyPr vert="horz" wrap="square" lIns="0" tIns="28015" rIns="0" bIns="0" rtlCol="0">
            <a:spAutoFit/>
          </a:bodyPr>
          <a:lstStyle/>
          <a:p>
            <a:pPr marL="11206" marR="4483">
              <a:lnSpc>
                <a:spcPts val="2480"/>
              </a:lnSpc>
              <a:spcBef>
                <a:spcPts val="221"/>
              </a:spcBef>
            </a:pPr>
            <a:r>
              <a:rPr sz="2118" b="1" dirty="0">
                <a:solidFill>
                  <a:srgbClr val="003399"/>
                </a:solidFill>
                <a:latin typeface="Arial"/>
                <a:cs typeface="Arial"/>
              </a:rPr>
              <a:t>No</a:t>
            </a:r>
            <a:r>
              <a:rPr sz="2118" b="1" spc="-7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118" b="1" spc="-18" dirty="0">
                <a:solidFill>
                  <a:srgbClr val="003399"/>
                </a:solidFill>
                <a:latin typeface="Arial"/>
                <a:cs typeface="Arial"/>
              </a:rPr>
              <a:t>write </a:t>
            </a:r>
            <a:r>
              <a:rPr sz="2118" b="1" spc="-22" dirty="0">
                <a:solidFill>
                  <a:srgbClr val="003399"/>
                </a:solidFill>
                <a:latin typeface="Arial"/>
                <a:cs typeface="Arial"/>
              </a:rPr>
              <a:t>merging</a:t>
            </a:r>
            <a:endParaRPr sz="2118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7165" y="4408803"/>
            <a:ext cx="1290357" cy="672318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11206" marR="4483">
              <a:lnSpc>
                <a:spcPts val="2453"/>
              </a:lnSpc>
              <a:spcBef>
                <a:spcPts val="243"/>
              </a:spcBef>
            </a:pPr>
            <a:r>
              <a:rPr sz="2118" b="1" dirty="0">
                <a:solidFill>
                  <a:srgbClr val="003399"/>
                </a:solidFill>
                <a:latin typeface="Arial"/>
                <a:cs typeface="Arial"/>
              </a:rPr>
              <a:t>With</a:t>
            </a:r>
            <a:r>
              <a:rPr sz="2118" b="1" spc="-106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118" b="1" spc="-18" dirty="0">
                <a:solidFill>
                  <a:srgbClr val="003399"/>
                </a:solidFill>
                <a:latin typeface="Arial"/>
                <a:cs typeface="Arial"/>
              </a:rPr>
              <a:t>write </a:t>
            </a:r>
            <a:r>
              <a:rPr sz="2118" b="1" spc="-9" dirty="0">
                <a:solidFill>
                  <a:srgbClr val="003399"/>
                </a:solidFill>
                <a:latin typeface="Arial"/>
                <a:cs typeface="Arial"/>
              </a:rPr>
              <a:t>merging</a:t>
            </a:r>
            <a:endParaRPr sz="2118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147" y="1828800"/>
            <a:ext cx="5601034" cy="3834407"/>
          </a:xfrm>
          <a:prstGeom prst="rect">
            <a:avLst/>
          </a:prstGeom>
        </p:spPr>
      </p:pic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6A35C32-16A3-F0DB-D4F4-CBD3071789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201" y="3113442"/>
            <a:ext cx="6225427" cy="1819861"/>
          </a:xfrm>
          <a:prstGeom prst="rect">
            <a:avLst/>
          </a:prstGeom>
        </p:spPr>
        <p:txBody>
          <a:bodyPr vert="horz" wrap="square" lIns="0" tIns="72838" rIns="0" bIns="0" rtlCol="0">
            <a:spAutoFit/>
          </a:bodyPr>
          <a:lstStyle/>
          <a:p>
            <a:pPr marL="11206" marR="4483">
              <a:lnSpc>
                <a:spcPct val="110000"/>
              </a:lnSpc>
              <a:spcBef>
                <a:spcPts val="574"/>
              </a:spcBef>
            </a:pPr>
            <a:r>
              <a:rPr sz="3530" b="1" dirty="0">
                <a:latin typeface="Arial"/>
                <a:cs typeface="Arial"/>
              </a:rPr>
              <a:t>FURTHER</a:t>
            </a:r>
            <a:r>
              <a:rPr sz="3530" b="1" spc="-238" dirty="0">
                <a:latin typeface="Arial"/>
                <a:cs typeface="Arial"/>
              </a:rPr>
              <a:t> </a:t>
            </a:r>
            <a:r>
              <a:rPr sz="3530" b="1" spc="-9" dirty="0">
                <a:latin typeface="Arial"/>
                <a:cs typeface="Arial"/>
              </a:rPr>
              <a:t>COMPILER </a:t>
            </a:r>
            <a:r>
              <a:rPr sz="3530" b="1" spc="-18" dirty="0">
                <a:latin typeface="Arial"/>
                <a:cs typeface="Arial"/>
              </a:rPr>
              <a:t>OPTIMIZATIONS</a:t>
            </a:r>
            <a:r>
              <a:rPr sz="3530" b="1" spc="-110" dirty="0">
                <a:latin typeface="Arial"/>
                <a:cs typeface="Arial"/>
              </a:rPr>
              <a:t> </a:t>
            </a:r>
            <a:r>
              <a:rPr sz="3530" b="1" dirty="0">
                <a:latin typeface="Arial"/>
                <a:cs typeface="Arial"/>
              </a:rPr>
              <a:t>TO</a:t>
            </a:r>
            <a:r>
              <a:rPr sz="3530" b="1" spc="-110" dirty="0">
                <a:latin typeface="Arial"/>
                <a:cs typeface="Arial"/>
              </a:rPr>
              <a:t> </a:t>
            </a:r>
            <a:br>
              <a:rPr lang="en-US" sz="3530" b="1" spc="-110" dirty="0">
                <a:latin typeface="Arial"/>
                <a:cs typeface="Arial"/>
              </a:rPr>
            </a:br>
            <a:r>
              <a:rPr sz="3530" b="1" spc="-26" dirty="0">
                <a:latin typeface="Arial"/>
                <a:cs typeface="Arial"/>
              </a:rPr>
              <a:t>REDUCE </a:t>
            </a:r>
            <a:r>
              <a:rPr sz="3530" b="1" dirty="0">
                <a:latin typeface="Arial"/>
                <a:cs typeface="Arial"/>
              </a:rPr>
              <a:t>CACHE</a:t>
            </a:r>
            <a:r>
              <a:rPr sz="3530" b="1" spc="-168" dirty="0">
                <a:latin typeface="Arial"/>
                <a:cs typeface="Arial"/>
              </a:rPr>
              <a:t> </a:t>
            </a:r>
            <a:r>
              <a:rPr sz="3530" b="1" dirty="0">
                <a:latin typeface="Arial"/>
                <a:cs typeface="Arial"/>
              </a:rPr>
              <a:t>MISS</a:t>
            </a:r>
            <a:r>
              <a:rPr sz="3530" b="1" spc="-163" dirty="0">
                <a:latin typeface="Arial"/>
                <a:cs typeface="Arial"/>
              </a:rPr>
              <a:t> </a:t>
            </a:r>
            <a:r>
              <a:rPr sz="3530" b="1" spc="-18" dirty="0">
                <a:latin typeface="Arial"/>
                <a:cs typeface="Arial"/>
              </a:rPr>
              <a:t>RATE</a:t>
            </a:r>
            <a:endParaRPr sz="3530" dirty="0">
              <a:latin typeface="Arial"/>
              <a:cs typeface="Arial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8AE106A-4FD8-03CD-9D49-03FA0AA2A7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Three</a:t>
            </a:r>
            <a:r>
              <a:rPr spc="-115" dirty="0"/>
              <a:t> </a:t>
            </a:r>
            <a:r>
              <a:rPr lang="en-US" spc="-9" dirty="0"/>
              <a:t>C</a:t>
            </a:r>
            <a:r>
              <a:rPr spc="-9" dirty="0"/>
              <a:t>ompiler</a:t>
            </a:r>
            <a:r>
              <a:rPr spc="-115" dirty="0"/>
              <a:t> </a:t>
            </a:r>
            <a:r>
              <a:rPr lang="en-US" spc="-9" dirty="0"/>
              <a:t>T</a:t>
            </a:r>
            <a:r>
              <a:rPr spc="-9" dirty="0"/>
              <a:t>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2218"/>
            <a:ext cx="7423526" cy="1935032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spcBef>
                <a:spcPts val="569"/>
              </a:spcBef>
              <a:spcAft>
                <a:spcPts val="600"/>
              </a:spcAft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3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techniques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improve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cache</a:t>
            </a:r>
            <a:r>
              <a:rPr sz="2400" b="1" spc="-66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locality</a:t>
            </a:r>
            <a:r>
              <a:rPr sz="2400" spc="-9" dirty="0">
                <a:latin typeface="Calibri"/>
                <a:cs typeface="Calibri"/>
              </a:rPr>
              <a:t>:</a:t>
            </a:r>
            <a:endParaRPr lang="en-US" sz="2400" spc="-9" dirty="0">
              <a:latin typeface="Calibri"/>
              <a:cs typeface="Calibri"/>
            </a:endParaRPr>
          </a:p>
          <a:p>
            <a:pPr marL="795338" lvl="1" indent="-385763">
              <a:spcBef>
                <a:spcPts val="357"/>
              </a:spcBef>
              <a:spcAft>
                <a:spcPts val="600"/>
              </a:spcAft>
              <a:buFont typeface="+mj-lt"/>
              <a:buAutoNum type="arabicPeriod"/>
              <a:tabLst>
                <a:tab pos="609633" algn="l"/>
              </a:tabLst>
            </a:pPr>
            <a:r>
              <a:rPr lang="en-US" sz="2400" spc="-9" dirty="0">
                <a:cs typeface="Calibri"/>
              </a:rPr>
              <a:t>Merging</a:t>
            </a:r>
            <a:r>
              <a:rPr lang="en-US" sz="2400" spc="-49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arrays</a:t>
            </a:r>
            <a:endParaRPr lang="en-US" sz="2400" dirty="0">
              <a:cs typeface="Calibri"/>
            </a:endParaRPr>
          </a:p>
          <a:p>
            <a:pPr marL="795338" lvl="1" indent="-385763">
              <a:spcBef>
                <a:spcPts val="383"/>
              </a:spcBef>
              <a:spcAft>
                <a:spcPts val="600"/>
              </a:spcAft>
              <a:buFont typeface="+mj-lt"/>
              <a:buAutoNum type="arabicPeriod"/>
              <a:tabLst>
                <a:tab pos="609633" algn="l"/>
              </a:tabLst>
            </a:pPr>
            <a:r>
              <a:rPr lang="en-US" sz="2400" dirty="0">
                <a:cs typeface="Calibri"/>
              </a:rPr>
              <a:t>Loop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interchange</a:t>
            </a:r>
            <a:endParaRPr lang="en-US" sz="2400" dirty="0">
              <a:cs typeface="Calibri"/>
            </a:endParaRPr>
          </a:p>
          <a:p>
            <a:pPr marL="795338" lvl="1" indent="-385763">
              <a:spcBef>
                <a:spcPts val="401"/>
              </a:spcBef>
              <a:spcAft>
                <a:spcPts val="1800"/>
              </a:spcAft>
              <a:buFont typeface="+mj-lt"/>
              <a:buAutoNum type="arabicPeriod"/>
              <a:tabLst>
                <a:tab pos="609633" algn="l"/>
              </a:tabLst>
            </a:pPr>
            <a:r>
              <a:rPr lang="en-US" sz="2400" dirty="0">
                <a:cs typeface="Calibri"/>
              </a:rPr>
              <a:t>Loop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fusion</a:t>
            </a:r>
            <a:endParaRPr lang="en-US" sz="2400" spc="-9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0553E3E9-2724-02A4-482D-9E2C92FD5E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Technique</a:t>
            </a:r>
            <a:r>
              <a:rPr spc="-110" dirty="0"/>
              <a:t> </a:t>
            </a:r>
            <a:r>
              <a:rPr dirty="0"/>
              <a:t>1:</a:t>
            </a:r>
            <a:r>
              <a:rPr spc="-93" dirty="0"/>
              <a:t> </a:t>
            </a:r>
            <a:r>
              <a:rPr lang="en-US" spc="-9" dirty="0"/>
              <a:t>M</a:t>
            </a:r>
            <a:r>
              <a:rPr spc="-9" dirty="0"/>
              <a:t>erging</a:t>
            </a:r>
            <a:r>
              <a:rPr spc="-97" dirty="0"/>
              <a:t> </a:t>
            </a:r>
            <a:r>
              <a:rPr lang="en-US" spc="-9" dirty="0"/>
              <a:t>A</a:t>
            </a:r>
            <a:r>
              <a:rPr spc="-9" dirty="0"/>
              <a:t>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3" y="1392218"/>
            <a:ext cx="7553739" cy="2047883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arrays: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val[size];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key[size];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216"/>
              </a:spcBef>
              <a:buFont typeface="Calibri"/>
              <a:buChar char="–"/>
            </a:pP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lang="en-US" sz="240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usually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together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30722A94-169C-0B8D-9D67-9CF3A9AA79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33</a:t>
            </a:fld>
            <a:endParaRPr lang="en-US" spc="-4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658863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106" dirty="0">
                <a:cs typeface="Arial MT"/>
              </a:rPr>
              <a:t> 1</a:t>
            </a:r>
            <a:r>
              <a:rPr lang="en-US" dirty="0">
                <a:cs typeface="Arial MT"/>
              </a:rPr>
              <a:t>:</a:t>
            </a:r>
            <a:r>
              <a:rPr lang="en-US" spc="-93" dirty="0">
                <a:cs typeface="Arial MT"/>
              </a:rPr>
              <a:t> </a:t>
            </a:r>
            <a:r>
              <a:rPr dirty="0"/>
              <a:t>Merging</a:t>
            </a:r>
            <a:r>
              <a:rPr spc="-146" dirty="0"/>
              <a:t> </a:t>
            </a:r>
            <a:r>
              <a:rPr lang="en-US" spc="-146" dirty="0"/>
              <a:t>A</a:t>
            </a:r>
            <a:r>
              <a:rPr dirty="0"/>
              <a:t>rrays</a:t>
            </a:r>
            <a:r>
              <a:rPr spc="-141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598407"/>
            <a:ext cx="7316762" cy="8006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10000"/>
              </a:lnSpc>
              <a:spcBef>
                <a:spcPts val="66"/>
              </a:spcBef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would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stored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follows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64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words: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994" y="2902772"/>
            <a:ext cx="626409" cy="22661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latin typeface="Calibri"/>
                <a:cs typeface="Calibri"/>
              </a:rPr>
              <a:t>val[0]</a:t>
            </a:r>
            <a:endParaRPr sz="2118" dirty="0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  <a:spcBef>
                <a:spcPts val="18"/>
              </a:spcBef>
            </a:pPr>
            <a:r>
              <a:rPr sz="2118" spc="-9" dirty="0">
                <a:latin typeface="Calibri"/>
                <a:cs typeface="Calibri"/>
              </a:rPr>
              <a:t>val[1]</a:t>
            </a:r>
            <a:endParaRPr sz="2118" dirty="0">
              <a:latin typeface="Calibri"/>
              <a:cs typeface="Calibri"/>
            </a:endParaRPr>
          </a:p>
          <a:p>
            <a:pPr marL="11206">
              <a:lnSpc>
                <a:spcPts val="2480"/>
              </a:lnSpc>
            </a:pPr>
            <a:r>
              <a:rPr sz="2118" spc="-9" dirty="0">
                <a:latin typeface="Calibri"/>
                <a:cs typeface="Calibri"/>
              </a:rPr>
              <a:t>val[2]</a:t>
            </a:r>
            <a:endParaRPr sz="2118" dirty="0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</a:pPr>
            <a:r>
              <a:rPr sz="2118" spc="-9" dirty="0">
                <a:latin typeface="Calibri"/>
                <a:cs typeface="Calibri"/>
              </a:rPr>
              <a:t>val[3]</a:t>
            </a:r>
            <a:endParaRPr sz="2118" dirty="0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89389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75874" y="2892939"/>
            <a:ext cx="1205193" cy="2800910"/>
            <a:chOff x="1633590" y="3278663"/>
            <a:chExt cx="1365885" cy="3174365"/>
          </a:xfrm>
        </p:grpSpPr>
        <p:sp>
          <p:nvSpPr>
            <p:cNvPr id="6" name="object 6"/>
            <p:cNvSpPr/>
            <p:nvPr/>
          </p:nvSpPr>
          <p:spPr>
            <a:xfrm>
              <a:off x="1638299" y="3283373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60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60" y="3164840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638299" y="3283373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35403" y="2896908"/>
            <a:ext cx="1205193" cy="2800910"/>
            <a:chOff x="4647723" y="3313200"/>
            <a:chExt cx="1365885" cy="3174365"/>
          </a:xfrm>
        </p:grpSpPr>
        <p:sp>
          <p:nvSpPr>
            <p:cNvPr id="9" name="object 9"/>
            <p:cNvSpPr/>
            <p:nvPr/>
          </p:nvSpPr>
          <p:spPr>
            <a:xfrm>
              <a:off x="4652432" y="3317910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60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60" y="3164840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2432" y="3317910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27909" y="2892939"/>
            <a:ext cx="1205193" cy="2800910"/>
            <a:chOff x="7812563" y="3278663"/>
            <a:chExt cx="1365885" cy="3174365"/>
          </a:xfrm>
        </p:grpSpPr>
        <p:sp>
          <p:nvSpPr>
            <p:cNvPr id="12" name="object 12"/>
            <p:cNvSpPr/>
            <p:nvPr/>
          </p:nvSpPr>
          <p:spPr>
            <a:xfrm>
              <a:off x="7817273" y="3283373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1356359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59" y="3164840"/>
                  </a:lnTo>
                  <a:lnTo>
                    <a:pt x="1356359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7817273" y="3283373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10815" y="2902772"/>
            <a:ext cx="760318" cy="229730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 marR="4483" algn="just">
              <a:spcBef>
                <a:spcPts val="124"/>
              </a:spcBef>
            </a:pPr>
            <a:r>
              <a:rPr sz="2118" spc="-26" dirty="0">
                <a:latin typeface="Calibri"/>
                <a:cs typeface="Calibri"/>
              </a:rPr>
              <a:t>val[64] val[65] val[66] val[67]</a:t>
            </a:r>
            <a:endParaRPr sz="2118" dirty="0">
              <a:latin typeface="Calibri"/>
              <a:cs typeface="Calibri"/>
            </a:endParaRPr>
          </a:p>
          <a:p>
            <a:pPr marL="11206"/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/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7369" y="2838225"/>
            <a:ext cx="1103219" cy="29020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97"/>
              </a:lnSpc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66"/>
              </a:lnSpc>
            </a:pPr>
            <a:r>
              <a:rPr sz="2118" spc="-31" dirty="0">
                <a:latin typeface="Calibri"/>
                <a:cs typeface="Calibri"/>
              </a:rPr>
              <a:t>val[size-</a:t>
            </a:r>
            <a:r>
              <a:rPr sz="2118" spc="-22" dirty="0">
                <a:latin typeface="Calibri"/>
                <a:cs typeface="Calibri"/>
              </a:rPr>
              <a:t>1]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</a:pPr>
            <a:r>
              <a:rPr sz="2118" spc="-9" dirty="0">
                <a:latin typeface="Calibri"/>
                <a:cs typeface="Calibri"/>
              </a:rPr>
              <a:t>key[0]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497"/>
              </a:lnSpc>
              <a:spcBef>
                <a:spcPts val="18"/>
              </a:spcBef>
            </a:pPr>
            <a:r>
              <a:rPr sz="2118" spc="-9" dirty="0">
                <a:latin typeface="Calibri"/>
                <a:cs typeface="Calibri"/>
              </a:rPr>
              <a:t>key[1]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497"/>
              </a:lnSpc>
            </a:pPr>
            <a:r>
              <a:rPr sz="2118" spc="-9" dirty="0">
                <a:latin typeface="Calibri"/>
                <a:cs typeface="Calibri"/>
              </a:rPr>
              <a:t>key[2]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  <a:spcBef>
                <a:spcPts val="22"/>
              </a:spcBef>
            </a:pPr>
            <a:r>
              <a:rPr sz="2118" spc="-9" dirty="0">
                <a:latin typeface="Calibri"/>
                <a:cs typeface="Calibri"/>
              </a:rPr>
              <a:t>key[3]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8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757D9CB8-ACF0-19D1-5727-1DC39661EE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34</a:t>
            </a:fld>
            <a:endParaRPr lang="en-US" spc="-4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602849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106" dirty="0">
                <a:cs typeface="Arial MT"/>
              </a:rPr>
              <a:t> 1</a:t>
            </a:r>
            <a:r>
              <a:rPr lang="en-US" dirty="0">
                <a:cs typeface="Arial MT"/>
              </a:rPr>
              <a:t>:</a:t>
            </a:r>
            <a:r>
              <a:rPr lang="en-US" spc="-93" dirty="0">
                <a:cs typeface="Arial MT"/>
              </a:rPr>
              <a:t> </a:t>
            </a:r>
            <a:r>
              <a:rPr dirty="0"/>
              <a:t>Merging</a:t>
            </a:r>
            <a:r>
              <a:rPr spc="-146" dirty="0"/>
              <a:t> </a:t>
            </a:r>
            <a:r>
              <a:rPr lang="en-US" spc="-146" dirty="0"/>
              <a:t>A</a:t>
            </a:r>
            <a:r>
              <a:rPr dirty="0"/>
              <a:t>rrays</a:t>
            </a:r>
            <a:r>
              <a:rPr spc="-141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592094"/>
            <a:ext cx="7316763" cy="8035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10000"/>
              </a:lnSpc>
              <a:spcBef>
                <a:spcPts val="88"/>
              </a:spcBef>
            </a:pPr>
            <a:r>
              <a:rPr sz="2400" spc="-9" dirty="0">
                <a:latin typeface="Calibri"/>
                <a:cs typeface="Calibri"/>
              </a:rPr>
              <a:t>Means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begin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arrays.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6331" y="2896680"/>
            <a:ext cx="1205193" cy="2800910"/>
            <a:chOff x="1784297" y="3237846"/>
            <a:chExt cx="1365885" cy="3174365"/>
          </a:xfrm>
        </p:grpSpPr>
        <p:sp>
          <p:nvSpPr>
            <p:cNvPr id="5" name="object 5"/>
            <p:cNvSpPr/>
            <p:nvPr/>
          </p:nvSpPr>
          <p:spPr>
            <a:xfrm>
              <a:off x="1789007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59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59" y="3164840"/>
                  </a:lnTo>
                  <a:lnTo>
                    <a:pt x="1356359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1789007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235403" y="2896680"/>
            <a:ext cx="1205193" cy="2800910"/>
            <a:chOff x="4647723" y="3237846"/>
            <a:chExt cx="1365885" cy="3174365"/>
          </a:xfrm>
        </p:grpSpPr>
        <p:sp>
          <p:nvSpPr>
            <p:cNvPr id="8" name="object 8"/>
            <p:cNvSpPr/>
            <p:nvPr/>
          </p:nvSpPr>
          <p:spPr>
            <a:xfrm>
              <a:off x="4652432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60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60" y="3164840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652432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027909" y="2896680"/>
            <a:ext cx="1205193" cy="2800910"/>
            <a:chOff x="7812563" y="3237846"/>
            <a:chExt cx="1365885" cy="3174365"/>
          </a:xfrm>
        </p:grpSpPr>
        <p:sp>
          <p:nvSpPr>
            <p:cNvPr id="11" name="object 11"/>
            <p:cNvSpPr/>
            <p:nvPr/>
          </p:nvSpPr>
          <p:spPr>
            <a:xfrm>
              <a:off x="7817273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1356359" y="0"/>
                  </a:moveTo>
                  <a:lnTo>
                    <a:pt x="0" y="0"/>
                  </a:lnTo>
                  <a:lnTo>
                    <a:pt x="0" y="3164840"/>
                  </a:lnTo>
                  <a:lnTo>
                    <a:pt x="1356359" y="3164840"/>
                  </a:lnTo>
                  <a:lnTo>
                    <a:pt x="1356359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817273" y="324255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1222" y="2907565"/>
            <a:ext cx="626409" cy="22661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latin typeface="Calibri"/>
                <a:cs typeface="Calibri"/>
              </a:rPr>
              <a:t>val[0]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  <a:spcBef>
                <a:spcPts val="18"/>
              </a:spcBef>
            </a:pPr>
            <a:r>
              <a:rPr sz="2118" spc="-9" dirty="0">
                <a:latin typeface="Calibri"/>
                <a:cs typeface="Calibri"/>
              </a:rPr>
              <a:t>val[1]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66"/>
              </a:lnSpc>
            </a:pPr>
            <a:r>
              <a:rPr sz="2118" spc="-9" dirty="0">
                <a:latin typeface="Calibri"/>
                <a:cs typeface="Calibri"/>
              </a:rPr>
              <a:t>val[2]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97"/>
              </a:lnSpc>
            </a:pPr>
            <a:r>
              <a:rPr sz="2118" spc="-9" dirty="0">
                <a:latin typeface="Calibri"/>
                <a:cs typeface="Calibri"/>
              </a:rPr>
              <a:t>val[3]</a:t>
            </a:r>
            <a:endParaRPr sz="2118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89389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0215" y="2903509"/>
            <a:ext cx="760318" cy="2297866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 algn="just">
              <a:spcBef>
                <a:spcPts val="128"/>
              </a:spcBef>
            </a:pPr>
            <a:r>
              <a:rPr sz="2118" spc="-26" dirty="0">
                <a:latin typeface="Calibri"/>
                <a:cs typeface="Calibri"/>
              </a:rPr>
              <a:t>val[64] val[65] val[66] val[67]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/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37369" y="2840330"/>
            <a:ext cx="1103219" cy="29020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  <a:spcBef>
                <a:spcPts val="18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80"/>
              </a:lnSpc>
            </a:pPr>
            <a:r>
              <a:rPr sz="2118" spc="-31" dirty="0">
                <a:latin typeface="Calibri"/>
                <a:cs typeface="Calibri"/>
              </a:rPr>
              <a:t>val[size-</a:t>
            </a:r>
            <a:r>
              <a:rPr sz="2118" spc="-22" dirty="0">
                <a:latin typeface="Calibri"/>
                <a:cs typeface="Calibri"/>
              </a:rPr>
              <a:t>1]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</a:pPr>
            <a:r>
              <a:rPr sz="2118" spc="-9" dirty="0">
                <a:latin typeface="Calibri"/>
                <a:cs typeface="Calibri"/>
              </a:rPr>
              <a:t>key[0]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</a:pPr>
            <a:r>
              <a:rPr sz="2118" spc="-9" dirty="0">
                <a:latin typeface="Calibri"/>
                <a:cs typeface="Calibri"/>
              </a:rPr>
              <a:t>key[1]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</a:pPr>
            <a:r>
              <a:rPr sz="2118" spc="-9" dirty="0">
                <a:latin typeface="Calibri"/>
                <a:cs typeface="Calibri"/>
              </a:rPr>
              <a:t>key[2]</a:t>
            </a:r>
            <a:endParaRPr sz="2118">
              <a:latin typeface="Calibri"/>
              <a:cs typeface="Calibri"/>
            </a:endParaRPr>
          </a:p>
          <a:p>
            <a:pPr marL="368133">
              <a:lnSpc>
                <a:spcPts val="2510"/>
              </a:lnSpc>
              <a:spcBef>
                <a:spcPts val="22"/>
              </a:spcBef>
            </a:pPr>
            <a:r>
              <a:rPr sz="2118" spc="-9" dirty="0">
                <a:latin typeface="Calibri"/>
                <a:cs typeface="Calibri"/>
              </a:rPr>
              <a:t>key[3]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66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97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6F115F86-74C3-21AC-7B56-9634FA6E76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35</a:t>
            </a:fld>
            <a:endParaRPr lang="en-US" spc="-4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623413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106" dirty="0">
                <a:cs typeface="Arial MT"/>
              </a:rPr>
              <a:t> 1</a:t>
            </a:r>
            <a:r>
              <a:rPr lang="en-US" dirty="0">
                <a:cs typeface="Arial MT"/>
              </a:rPr>
              <a:t>:</a:t>
            </a:r>
            <a:r>
              <a:rPr lang="en-US" spc="-93" dirty="0">
                <a:cs typeface="Arial MT"/>
              </a:rPr>
              <a:t> </a:t>
            </a:r>
            <a:r>
              <a:rPr dirty="0"/>
              <a:t>Merging</a:t>
            </a:r>
            <a:r>
              <a:rPr spc="-146" dirty="0"/>
              <a:t> </a:t>
            </a:r>
            <a:r>
              <a:rPr lang="en-US" spc="-146" dirty="0"/>
              <a:t>A</a:t>
            </a:r>
            <a:r>
              <a:rPr dirty="0"/>
              <a:t>rrays</a:t>
            </a:r>
            <a:r>
              <a:rPr spc="-141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596888"/>
            <a:ext cx="7330761" cy="80069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10000"/>
              </a:lnSpc>
              <a:spcBef>
                <a:spcPts val="66"/>
              </a:spcBef>
            </a:pPr>
            <a:r>
              <a:rPr sz="2400" spc="-9" dirty="0">
                <a:latin typeface="Calibri"/>
                <a:cs typeface="Calibri"/>
              </a:rPr>
              <a:t>More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efficient,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especially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more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arrays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coupled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62" dirty="0">
                <a:latin typeface="Calibri"/>
                <a:cs typeface="Calibri"/>
              </a:rPr>
              <a:t>way,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store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together.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7013" y="2893167"/>
            <a:ext cx="1205193" cy="2800910"/>
            <a:chOff x="2010357" y="3354017"/>
            <a:chExt cx="1365885" cy="3174365"/>
          </a:xfrm>
        </p:grpSpPr>
        <p:sp>
          <p:nvSpPr>
            <p:cNvPr id="5" name="object 5"/>
            <p:cNvSpPr/>
            <p:nvPr/>
          </p:nvSpPr>
          <p:spPr>
            <a:xfrm>
              <a:off x="2015067" y="335872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60" y="0"/>
                  </a:moveTo>
                  <a:lnTo>
                    <a:pt x="0" y="0"/>
                  </a:lnTo>
                  <a:lnTo>
                    <a:pt x="0" y="3164839"/>
                  </a:lnTo>
                  <a:lnTo>
                    <a:pt x="1356360" y="3164839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015067" y="3358726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240470" y="2897324"/>
            <a:ext cx="3523875" cy="2792506"/>
            <a:chOff x="4953847" y="3358727"/>
            <a:chExt cx="3993725" cy="3164840"/>
          </a:xfrm>
        </p:grpSpPr>
        <p:sp>
          <p:nvSpPr>
            <p:cNvPr id="8" name="object 8"/>
            <p:cNvSpPr/>
            <p:nvPr/>
          </p:nvSpPr>
          <p:spPr>
            <a:xfrm>
              <a:off x="4953847" y="3358727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1356359" y="0"/>
                  </a:moveTo>
                  <a:lnTo>
                    <a:pt x="0" y="0"/>
                  </a:lnTo>
                  <a:lnTo>
                    <a:pt x="0" y="3164839"/>
                  </a:lnTo>
                  <a:lnTo>
                    <a:pt x="1356359" y="3164839"/>
                  </a:lnTo>
                  <a:lnTo>
                    <a:pt x="1356359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953847" y="3358727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60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7591211" y="3358727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1356360" y="0"/>
                  </a:moveTo>
                  <a:lnTo>
                    <a:pt x="0" y="0"/>
                  </a:lnTo>
                  <a:lnTo>
                    <a:pt x="0" y="3164839"/>
                  </a:lnTo>
                  <a:lnTo>
                    <a:pt x="1356360" y="3164839"/>
                  </a:lnTo>
                  <a:lnTo>
                    <a:pt x="1356360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591212" y="3358727"/>
              <a:ext cx="1356360" cy="3164840"/>
            </a:xfrm>
            <a:custGeom>
              <a:avLst/>
              <a:gdLst/>
              <a:ahLst/>
              <a:cxnLst/>
              <a:rect l="l" t="t" r="r" b="b"/>
              <a:pathLst>
                <a:path w="1356359" h="3164840">
                  <a:moveTo>
                    <a:pt x="0" y="0"/>
                  </a:moveTo>
                  <a:lnTo>
                    <a:pt x="1356360" y="0"/>
                  </a:lnTo>
                  <a:lnTo>
                    <a:pt x="1356360" y="3164840"/>
                  </a:lnTo>
                  <a:lnTo>
                    <a:pt x="0" y="3164840"/>
                  </a:lnTo>
                  <a:lnTo>
                    <a:pt x="0" y="0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1678" y="2902772"/>
            <a:ext cx="685240" cy="22661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latin typeface="Calibri"/>
                <a:cs typeface="Calibri"/>
              </a:rPr>
              <a:t>val[0]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  <a:spcBef>
                <a:spcPts val="18"/>
              </a:spcBef>
            </a:pPr>
            <a:r>
              <a:rPr sz="2118" spc="-22" dirty="0">
                <a:latin typeface="Calibri"/>
                <a:cs typeface="Calibri"/>
              </a:rPr>
              <a:t>key[0]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80"/>
              </a:lnSpc>
            </a:pPr>
            <a:r>
              <a:rPr sz="2118" spc="-9" dirty="0">
                <a:latin typeface="Calibri"/>
                <a:cs typeface="Calibri"/>
              </a:rPr>
              <a:t>val[1]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510"/>
              </a:lnSpc>
            </a:pPr>
            <a:r>
              <a:rPr sz="2118" spc="-22" dirty="0">
                <a:latin typeface="Calibri"/>
                <a:cs typeface="Calibri"/>
              </a:rPr>
              <a:t>key[1]</a:t>
            </a:r>
            <a:endParaRPr sz="2118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89389">
              <a:lnSpc>
                <a:spcPts val="2510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89389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11953" y="2902772"/>
            <a:ext cx="819149" cy="2297300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 marR="4483" algn="just">
              <a:spcBef>
                <a:spcPts val="124"/>
              </a:spcBef>
            </a:pPr>
            <a:r>
              <a:rPr sz="2118" spc="-9" dirty="0">
                <a:latin typeface="Calibri"/>
                <a:cs typeface="Calibri"/>
              </a:rPr>
              <a:t>val[32] </a:t>
            </a:r>
            <a:r>
              <a:rPr sz="2118" spc="-31" dirty="0">
                <a:latin typeface="Calibri"/>
                <a:cs typeface="Calibri"/>
              </a:rPr>
              <a:t>key[32] </a:t>
            </a:r>
            <a:r>
              <a:rPr sz="2118" spc="-9" dirty="0">
                <a:latin typeface="Calibri"/>
                <a:cs typeface="Calibri"/>
              </a:rPr>
              <a:t>val[33] </a:t>
            </a:r>
            <a:r>
              <a:rPr sz="2118" spc="-31" dirty="0">
                <a:latin typeface="Calibri"/>
                <a:cs typeface="Calibri"/>
              </a:rPr>
              <a:t>key[33]</a:t>
            </a:r>
            <a:endParaRPr sz="2118" dirty="0">
              <a:latin typeface="Calibri"/>
              <a:cs typeface="Calibri"/>
            </a:endParaRPr>
          </a:p>
          <a:p>
            <a:pPr marL="11206"/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/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3696" y="2771965"/>
            <a:ext cx="90768" cy="97844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97"/>
              </a:lnSpc>
              <a:spcBef>
                <a:spcPts val="22"/>
              </a:spcBef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>
              <a:lnSpc>
                <a:spcPts val="2497"/>
              </a:lnSpc>
            </a:pPr>
            <a:r>
              <a:rPr sz="2118" spc="-44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23590" y="2701198"/>
            <a:ext cx="2830046" cy="691963"/>
            <a:chOff x="5388051" y="3136452"/>
            <a:chExt cx="3207385" cy="78422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2813" y="3141215"/>
              <a:ext cx="3197424" cy="77449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92813" y="3141215"/>
              <a:ext cx="3197860" cy="774700"/>
            </a:xfrm>
            <a:custGeom>
              <a:avLst/>
              <a:gdLst/>
              <a:ahLst/>
              <a:cxnLst/>
              <a:rect l="l" t="t" r="r" b="b"/>
              <a:pathLst>
                <a:path w="3197859" h="774700">
                  <a:moveTo>
                    <a:pt x="0" y="129085"/>
                  </a:moveTo>
                  <a:lnTo>
                    <a:pt x="10144" y="78839"/>
                  </a:lnTo>
                  <a:lnTo>
                    <a:pt x="37808" y="37808"/>
                  </a:lnTo>
                  <a:lnTo>
                    <a:pt x="78839" y="10144"/>
                  </a:lnTo>
                  <a:lnTo>
                    <a:pt x="129085" y="0"/>
                  </a:lnTo>
                  <a:lnTo>
                    <a:pt x="3068339" y="0"/>
                  </a:lnTo>
                  <a:lnTo>
                    <a:pt x="3118585" y="10144"/>
                  </a:lnTo>
                  <a:lnTo>
                    <a:pt x="3159616" y="37808"/>
                  </a:lnTo>
                  <a:lnTo>
                    <a:pt x="3187280" y="78839"/>
                  </a:lnTo>
                  <a:lnTo>
                    <a:pt x="3197424" y="129085"/>
                  </a:lnTo>
                  <a:lnTo>
                    <a:pt x="3197424" y="645404"/>
                  </a:lnTo>
                  <a:lnTo>
                    <a:pt x="3187280" y="695651"/>
                  </a:lnTo>
                  <a:lnTo>
                    <a:pt x="3159616" y="736682"/>
                  </a:lnTo>
                  <a:lnTo>
                    <a:pt x="3118585" y="764346"/>
                  </a:lnTo>
                  <a:lnTo>
                    <a:pt x="3068339" y="774490"/>
                  </a:lnTo>
                  <a:lnTo>
                    <a:pt x="129085" y="774490"/>
                  </a:lnTo>
                  <a:lnTo>
                    <a:pt x="78839" y="764346"/>
                  </a:lnTo>
                  <a:lnTo>
                    <a:pt x="37808" y="736682"/>
                  </a:lnTo>
                  <a:lnTo>
                    <a:pt x="10144" y="695651"/>
                  </a:lnTo>
                  <a:lnTo>
                    <a:pt x="0" y="645404"/>
                  </a:lnTo>
                  <a:lnTo>
                    <a:pt x="0" y="129085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29732" y="2756726"/>
            <a:ext cx="94017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dirty="0">
                <a:latin typeface="Calibri"/>
                <a:cs typeface="Calibri"/>
              </a:rPr>
              <a:t>int</a:t>
            </a:r>
            <a:r>
              <a:rPr sz="1412" b="1" spc="-44" dirty="0">
                <a:latin typeface="Calibri"/>
                <a:cs typeface="Calibri"/>
              </a:rPr>
              <a:t> </a:t>
            </a:r>
            <a:r>
              <a:rPr sz="1412" b="1" spc="-9" dirty="0">
                <a:latin typeface="Calibri"/>
                <a:cs typeface="Calibri"/>
              </a:rPr>
              <a:t>val[SIZE];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29733" y="3071387"/>
            <a:ext cx="97995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dirty="0">
                <a:latin typeface="Calibri"/>
                <a:cs typeface="Calibri"/>
              </a:rPr>
              <a:t>int</a:t>
            </a:r>
            <a:r>
              <a:rPr sz="1412" b="1" spc="-44" dirty="0">
                <a:latin typeface="Calibri"/>
                <a:cs typeface="Calibri"/>
              </a:rPr>
              <a:t> </a:t>
            </a:r>
            <a:r>
              <a:rPr sz="1412" b="1" spc="-9" dirty="0">
                <a:latin typeface="Calibri"/>
                <a:cs typeface="Calibri"/>
              </a:rPr>
              <a:t>key[SIZE];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23590" y="3911842"/>
            <a:ext cx="2830046" cy="1999129"/>
            <a:chOff x="5388051" y="4508515"/>
            <a:chExt cx="3207385" cy="226568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2813" y="4513277"/>
              <a:ext cx="3197424" cy="22561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92813" y="4513277"/>
              <a:ext cx="3197860" cy="2256155"/>
            </a:xfrm>
            <a:custGeom>
              <a:avLst/>
              <a:gdLst/>
              <a:ahLst/>
              <a:cxnLst/>
              <a:rect l="l" t="t" r="r" b="b"/>
              <a:pathLst>
                <a:path w="3197859" h="2256154">
                  <a:moveTo>
                    <a:pt x="0" y="376029"/>
                  </a:moveTo>
                  <a:lnTo>
                    <a:pt x="2929" y="328861"/>
                  </a:lnTo>
                  <a:lnTo>
                    <a:pt x="11484" y="283441"/>
                  </a:lnTo>
                  <a:lnTo>
                    <a:pt x="25311" y="240122"/>
                  </a:lnTo>
                  <a:lnTo>
                    <a:pt x="44057" y="199256"/>
                  </a:lnTo>
                  <a:lnTo>
                    <a:pt x="67371" y="161195"/>
                  </a:lnTo>
                  <a:lnTo>
                    <a:pt x="94901" y="126293"/>
                  </a:lnTo>
                  <a:lnTo>
                    <a:pt x="126293" y="94901"/>
                  </a:lnTo>
                  <a:lnTo>
                    <a:pt x="161195" y="67372"/>
                  </a:lnTo>
                  <a:lnTo>
                    <a:pt x="199256" y="44057"/>
                  </a:lnTo>
                  <a:lnTo>
                    <a:pt x="240122" y="25311"/>
                  </a:lnTo>
                  <a:lnTo>
                    <a:pt x="283441" y="11484"/>
                  </a:lnTo>
                  <a:lnTo>
                    <a:pt x="328861" y="2929"/>
                  </a:lnTo>
                  <a:lnTo>
                    <a:pt x="376029" y="0"/>
                  </a:lnTo>
                  <a:lnTo>
                    <a:pt x="2821394" y="0"/>
                  </a:lnTo>
                  <a:lnTo>
                    <a:pt x="2868563" y="2929"/>
                  </a:lnTo>
                  <a:lnTo>
                    <a:pt x="2913983" y="11484"/>
                  </a:lnTo>
                  <a:lnTo>
                    <a:pt x="2957302" y="25311"/>
                  </a:lnTo>
                  <a:lnTo>
                    <a:pt x="2998168" y="44057"/>
                  </a:lnTo>
                  <a:lnTo>
                    <a:pt x="3036228" y="67372"/>
                  </a:lnTo>
                  <a:lnTo>
                    <a:pt x="3071131" y="94901"/>
                  </a:lnTo>
                  <a:lnTo>
                    <a:pt x="3102523" y="126293"/>
                  </a:lnTo>
                  <a:lnTo>
                    <a:pt x="3130052" y="161195"/>
                  </a:lnTo>
                  <a:lnTo>
                    <a:pt x="3153367" y="199256"/>
                  </a:lnTo>
                  <a:lnTo>
                    <a:pt x="3172113" y="240122"/>
                  </a:lnTo>
                  <a:lnTo>
                    <a:pt x="3185940" y="283441"/>
                  </a:lnTo>
                  <a:lnTo>
                    <a:pt x="3194495" y="328861"/>
                  </a:lnTo>
                  <a:lnTo>
                    <a:pt x="3197424" y="376029"/>
                  </a:lnTo>
                  <a:lnTo>
                    <a:pt x="3197424" y="1880096"/>
                  </a:lnTo>
                  <a:lnTo>
                    <a:pt x="3194495" y="1927264"/>
                  </a:lnTo>
                  <a:lnTo>
                    <a:pt x="3185940" y="1972684"/>
                  </a:lnTo>
                  <a:lnTo>
                    <a:pt x="3172113" y="2016003"/>
                  </a:lnTo>
                  <a:lnTo>
                    <a:pt x="3153367" y="2056869"/>
                  </a:lnTo>
                  <a:lnTo>
                    <a:pt x="3130052" y="2094930"/>
                  </a:lnTo>
                  <a:lnTo>
                    <a:pt x="3102523" y="2129832"/>
                  </a:lnTo>
                  <a:lnTo>
                    <a:pt x="3071131" y="2161224"/>
                  </a:lnTo>
                  <a:lnTo>
                    <a:pt x="3036228" y="2188754"/>
                  </a:lnTo>
                  <a:lnTo>
                    <a:pt x="2998168" y="2212068"/>
                  </a:lnTo>
                  <a:lnTo>
                    <a:pt x="2957302" y="2230815"/>
                  </a:lnTo>
                  <a:lnTo>
                    <a:pt x="2913983" y="2244642"/>
                  </a:lnTo>
                  <a:lnTo>
                    <a:pt x="2868563" y="2253196"/>
                  </a:lnTo>
                  <a:lnTo>
                    <a:pt x="2821394" y="2256126"/>
                  </a:lnTo>
                  <a:lnTo>
                    <a:pt x="376029" y="2256126"/>
                  </a:lnTo>
                  <a:lnTo>
                    <a:pt x="328861" y="2253196"/>
                  </a:lnTo>
                  <a:lnTo>
                    <a:pt x="283441" y="2244642"/>
                  </a:lnTo>
                  <a:lnTo>
                    <a:pt x="240122" y="2230815"/>
                  </a:lnTo>
                  <a:lnTo>
                    <a:pt x="199256" y="2212068"/>
                  </a:lnTo>
                  <a:lnTo>
                    <a:pt x="161195" y="2188754"/>
                  </a:lnTo>
                  <a:lnTo>
                    <a:pt x="126293" y="2161224"/>
                  </a:lnTo>
                  <a:lnTo>
                    <a:pt x="94901" y="2129832"/>
                  </a:lnTo>
                  <a:lnTo>
                    <a:pt x="67371" y="2094930"/>
                  </a:lnTo>
                  <a:lnTo>
                    <a:pt x="44057" y="2056869"/>
                  </a:lnTo>
                  <a:lnTo>
                    <a:pt x="25311" y="2016003"/>
                  </a:lnTo>
                  <a:lnTo>
                    <a:pt x="11484" y="1972684"/>
                  </a:lnTo>
                  <a:lnTo>
                    <a:pt x="2929" y="1927264"/>
                  </a:lnTo>
                  <a:lnTo>
                    <a:pt x="0" y="1880096"/>
                  </a:lnTo>
                  <a:lnTo>
                    <a:pt x="0" y="376029"/>
                  </a:lnTo>
                  <a:close/>
                </a:path>
              </a:pathLst>
            </a:custGeom>
            <a:ln w="94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93550" y="4031506"/>
            <a:ext cx="1566582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struct</a:t>
            </a:r>
            <a:r>
              <a:rPr sz="1412" b="1" spc="-26" dirty="0">
                <a:latin typeface="Calibri"/>
                <a:cs typeface="Calibri"/>
              </a:rPr>
              <a:t> </a:t>
            </a:r>
            <a:r>
              <a:rPr sz="1412" b="1" spc="-18" dirty="0">
                <a:latin typeface="Calibri"/>
                <a:cs typeface="Calibri"/>
              </a:rPr>
              <a:t>merged_data</a:t>
            </a:r>
            <a:r>
              <a:rPr sz="1412" b="1" spc="-31" dirty="0">
                <a:latin typeface="Calibri"/>
                <a:cs typeface="Calibri"/>
              </a:rPr>
              <a:t> </a:t>
            </a:r>
            <a:r>
              <a:rPr sz="1412" b="1" spc="-44" dirty="0">
                <a:latin typeface="Calibri"/>
                <a:cs typeface="Calibri"/>
              </a:rPr>
              <a:t>{</a:t>
            </a:r>
            <a:endParaRPr sz="1412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93550" y="4235902"/>
            <a:ext cx="641537" cy="98741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91333" marR="4483">
              <a:lnSpc>
                <a:spcPct val="151300"/>
              </a:lnSpc>
              <a:spcBef>
                <a:spcPts val="88"/>
              </a:spcBef>
            </a:pPr>
            <a:r>
              <a:rPr sz="1412" b="1" dirty="0">
                <a:latin typeface="Calibri"/>
                <a:cs typeface="Calibri"/>
              </a:rPr>
              <a:t>int</a:t>
            </a:r>
            <a:r>
              <a:rPr sz="1412" b="1" spc="-53" dirty="0">
                <a:latin typeface="Calibri"/>
                <a:cs typeface="Calibri"/>
              </a:rPr>
              <a:t> </a:t>
            </a:r>
            <a:r>
              <a:rPr sz="1412" b="1" spc="-18" dirty="0">
                <a:latin typeface="Calibri"/>
                <a:cs typeface="Calibri"/>
              </a:rPr>
              <a:t>val; </a:t>
            </a:r>
            <a:r>
              <a:rPr sz="1412" b="1" dirty="0">
                <a:latin typeface="Calibri"/>
                <a:cs typeface="Calibri"/>
              </a:rPr>
              <a:t>int</a:t>
            </a:r>
            <a:r>
              <a:rPr sz="1412" b="1" spc="-53" dirty="0">
                <a:latin typeface="Calibri"/>
                <a:cs typeface="Calibri"/>
              </a:rPr>
              <a:t> </a:t>
            </a:r>
            <a:r>
              <a:rPr sz="1412" b="1" spc="-31" dirty="0">
                <a:latin typeface="Calibri"/>
                <a:cs typeface="Calibri"/>
              </a:rPr>
              <a:t>key;</a:t>
            </a:r>
            <a:endParaRPr sz="1412" dirty="0">
              <a:latin typeface="Calibri"/>
              <a:cs typeface="Calibri"/>
            </a:endParaRPr>
          </a:p>
          <a:p>
            <a:pPr marL="11206">
              <a:spcBef>
                <a:spcPts val="759"/>
              </a:spcBef>
            </a:pPr>
            <a:r>
              <a:rPr sz="1412" b="1" spc="-22" dirty="0">
                <a:latin typeface="Calibri"/>
                <a:cs typeface="Calibri"/>
              </a:rPr>
              <a:t>};</a:t>
            </a:r>
            <a:endParaRPr sz="1412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3550" y="5298220"/>
            <a:ext cx="2352675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struct</a:t>
            </a:r>
            <a:r>
              <a:rPr sz="1412" b="1" spc="-26" dirty="0">
                <a:latin typeface="Calibri"/>
                <a:cs typeface="Calibri"/>
              </a:rPr>
              <a:t> </a:t>
            </a:r>
            <a:r>
              <a:rPr sz="1412" b="1" spc="-18" dirty="0">
                <a:latin typeface="Calibri"/>
                <a:cs typeface="Calibri"/>
              </a:rPr>
              <a:t>merged_data</a:t>
            </a:r>
            <a:r>
              <a:rPr sz="1412" b="1" spc="-31" dirty="0">
                <a:latin typeface="Calibri"/>
                <a:cs typeface="Calibri"/>
              </a:rPr>
              <a:t> </a:t>
            </a:r>
            <a:r>
              <a:rPr sz="1412" b="1" spc="-9" dirty="0">
                <a:latin typeface="Calibri"/>
                <a:cs typeface="Calibri"/>
              </a:rPr>
              <a:t>array[SIZE];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16816" y="3448038"/>
            <a:ext cx="383801" cy="409015"/>
          </a:xfrm>
          <a:custGeom>
            <a:avLst/>
            <a:gdLst/>
            <a:ahLst/>
            <a:cxnLst/>
            <a:rect l="l" t="t" r="r" b="b"/>
            <a:pathLst>
              <a:path w="434975" h="463550">
                <a:moveTo>
                  <a:pt x="0" y="246063"/>
                </a:moveTo>
                <a:lnTo>
                  <a:pt x="108589" y="246063"/>
                </a:lnTo>
                <a:lnTo>
                  <a:pt x="108589" y="0"/>
                </a:lnTo>
                <a:lnTo>
                  <a:pt x="325768" y="0"/>
                </a:lnTo>
                <a:lnTo>
                  <a:pt x="325768" y="246063"/>
                </a:lnTo>
                <a:lnTo>
                  <a:pt x="434358" y="246063"/>
                </a:lnTo>
                <a:lnTo>
                  <a:pt x="217179" y="463243"/>
                </a:lnTo>
                <a:lnTo>
                  <a:pt x="0" y="246063"/>
                </a:lnTo>
                <a:close/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Slide Number Placeholder 9">
            <a:extLst>
              <a:ext uri="{FF2B5EF4-FFF2-40B4-BE49-F238E27FC236}">
                <a16:creationId xmlns:a16="http://schemas.microsoft.com/office/drawing/2014/main" id="{66D0A3A6-3F70-1834-6EFA-0D68E83B6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36</a:t>
            </a:fld>
            <a:endParaRPr lang="en-US" spc="-4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50"/>
            <a:ext cx="57935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106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2:</a:t>
            </a:r>
            <a:r>
              <a:rPr spc="-93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I</a:t>
            </a:r>
            <a:r>
              <a:rPr spc="-9" dirty="0">
                <a:latin typeface="+mj-lt"/>
                <a:cs typeface="Arial MT"/>
              </a:rPr>
              <a:t>nterchanging</a:t>
            </a:r>
            <a:r>
              <a:rPr spc="-101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L</a:t>
            </a:r>
            <a:r>
              <a:rPr spc="-9" dirty="0">
                <a:latin typeface="+mj-lt"/>
                <a:cs typeface="Arial MT"/>
              </a:rPr>
              <a:t>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6179" y="2848983"/>
            <a:ext cx="1706134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00" spc="-18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84279" y="3568903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6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160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379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36D0CC-C18B-21BE-6469-A6985EDC05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37</a:t>
            </a:fld>
            <a:endParaRPr lang="en-US" spc="-4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69258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106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2:</a:t>
            </a:r>
            <a:r>
              <a:rPr spc="-93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I</a:t>
            </a:r>
            <a:r>
              <a:rPr spc="-9" dirty="0">
                <a:latin typeface="+mj-lt"/>
                <a:cs typeface="Arial MT"/>
              </a:rPr>
              <a:t>nterchanging</a:t>
            </a:r>
            <a:r>
              <a:rPr spc="-101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L</a:t>
            </a:r>
            <a:r>
              <a:rPr spc="-9" dirty="0">
                <a:latin typeface="+mj-lt"/>
                <a:cs typeface="Arial MT"/>
              </a:rPr>
              <a:t>oops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7096" y="1289804"/>
            <a:ext cx="6702066" cy="1970373"/>
          </a:xfrm>
          <a:prstGeom prst="rect">
            <a:avLst/>
          </a:prstGeom>
        </p:spPr>
        <p:txBody>
          <a:bodyPr vert="horz" wrap="square" lIns="0" tIns="94577" rIns="0" bIns="0" rtlCol="0">
            <a:spAutoFit/>
          </a:bodyPr>
          <a:lstStyle/>
          <a:p>
            <a:pPr marR="4483">
              <a:spcBef>
                <a:spcPts val="88"/>
              </a:spcBef>
            </a:pPr>
            <a:r>
              <a:rPr sz="2400" dirty="0"/>
              <a:t>Notice</a:t>
            </a:r>
            <a:r>
              <a:rPr sz="2400" spc="-79" dirty="0"/>
              <a:t> </a:t>
            </a:r>
            <a:r>
              <a:rPr sz="2400" dirty="0"/>
              <a:t>that</a:t>
            </a:r>
            <a:r>
              <a:rPr sz="2400" spc="-84" dirty="0"/>
              <a:t> </a:t>
            </a:r>
            <a:r>
              <a:rPr sz="2400" spc="-9" dirty="0"/>
              <a:t>accesses</a:t>
            </a:r>
            <a:r>
              <a:rPr sz="2400" spc="-84" dirty="0"/>
              <a:t> </a:t>
            </a:r>
            <a:r>
              <a:rPr sz="2400" dirty="0"/>
              <a:t>are</a:t>
            </a:r>
            <a:r>
              <a:rPr sz="2400" spc="-79" dirty="0"/>
              <a:t> </a:t>
            </a:r>
            <a:r>
              <a:rPr sz="2400" dirty="0"/>
              <a:t>by</a:t>
            </a:r>
            <a:r>
              <a:rPr sz="2400" spc="-84" dirty="0"/>
              <a:t> </a:t>
            </a:r>
            <a:r>
              <a:rPr sz="2400" spc="-9" dirty="0"/>
              <a:t>columns,</a:t>
            </a:r>
            <a:r>
              <a:rPr sz="2400" spc="-75" dirty="0"/>
              <a:t> </a:t>
            </a:r>
            <a:r>
              <a:rPr sz="2400" dirty="0"/>
              <a:t>so</a:t>
            </a:r>
            <a:r>
              <a:rPr sz="2400" spc="-88" dirty="0"/>
              <a:t> </a:t>
            </a:r>
            <a:r>
              <a:rPr sz="2400" dirty="0"/>
              <a:t>the</a:t>
            </a:r>
            <a:r>
              <a:rPr sz="2400" spc="-79" dirty="0"/>
              <a:t> </a:t>
            </a:r>
            <a:r>
              <a:rPr sz="2400" spc="-9" dirty="0"/>
              <a:t>elements</a:t>
            </a:r>
            <a:r>
              <a:rPr sz="2400" spc="-84" dirty="0"/>
              <a:t> </a:t>
            </a:r>
            <a:r>
              <a:rPr sz="2400" spc="-22" dirty="0"/>
              <a:t>are </a:t>
            </a:r>
            <a:r>
              <a:rPr sz="2400" spc="-9" dirty="0"/>
              <a:t>spaced</a:t>
            </a:r>
            <a:r>
              <a:rPr sz="2400" spc="-71" dirty="0"/>
              <a:t> </a:t>
            </a:r>
            <a:r>
              <a:rPr sz="2400" dirty="0"/>
              <a:t>100</a:t>
            </a:r>
            <a:r>
              <a:rPr sz="2400" spc="-75" dirty="0"/>
              <a:t> </a:t>
            </a:r>
            <a:r>
              <a:rPr sz="2400" spc="-18" dirty="0"/>
              <a:t>words</a:t>
            </a:r>
            <a:r>
              <a:rPr sz="2400" spc="-71" dirty="0"/>
              <a:t> </a:t>
            </a:r>
            <a:r>
              <a:rPr sz="2400" spc="-9" dirty="0"/>
              <a:t>apart.</a:t>
            </a:r>
          </a:p>
          <a:p>
            <a:pPr>
              <a:spcBef>
                <a:spcPts val="2413"/>
              </a:spcBef>
            </a:pPr>
            <a:r>
              <a:rPr sz="2400" spc="-9" dirty="0"/>
              <a:t>Blocks</a:t>
            </a:r>
            <a:r>
              <a:rPr sz="2400" spc="-71" dirty="0"/>
              <a:t> </a:t>
            </a:r>
            <a:r>
              <a:rPr sz="2400" dirty="0"/>
              <a:t>are</a:t>
            </a:r>
            <a:r>
              <a:rPr sz="2400" spc="-66" dirty="0"/>
              <a:t> </a:t>
            </a:r>
            <a:r>
              <a:rPr sz="2400" spc="-9" dirty="0"/>
              <a:t>bouncing</a:t>
            </a:r>
            <a:r>
              <a:rPr sz="2400" spc="-75" dirty="0"/>
              <a:t> </a:t>
            </a:r>
            <a:r>
              <a:rPr sz="2400" dirty="0"/>
              <a:t>in</a:t>
            </a:r>
            <a:r>
              <a:rPr sz="2400" spc="-66" dirty="0"/>
              <a:t> </a:t>
            </a:r>
            <a:r>
              <a:rPr sz="2400" dirty="0"/>
              <a:t>and</a:t>
            </a:r>
            <a:r>
              <a:rPr sz="2400" spc="-71" dirty="0"/>
              <a:t> </a:t>
            </a:r>
            <a:r>
              <a:rPr sz="2400" dirty="0"/>
              <a:t>out</a:t>
            </a:r>
            <a:r>
              <a:rPr sz="2400" spc="-71" dirty="0"/>
              <a:t> </a:t>
            </a:r>
            <a:r>
              <a:rPr sz="2400" dirty="0"/>
              <a:t>of</a:t>
            </a:r>
            <a:r>
              <a:rPr sz="2400" spc="-62" dirty="0"/>
              <a:t> </a:t>
            </a:r>
            <a:r>
              <a:rPr sz="2400" spc="-9" dirty="0"/>
              <a:t>cache.</a:t>
            </a:r>
          </a:p>
          <a:p>
            <a:pPr marL="475715">
              <a:spcBef>
                <a:spcPts val="741"/>
              </a:spcBef>
            </a:pPr>
            <a:r>
              <a:rPr sz="2400" spc="-9" dirty="0"/>
              <a:t>Example: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211108"/>
              </p:ext>
            </p:extLst>
          </p:nvPr>
        </p:nvGraphicFramePr>
        <p:xfrm>
          <a:off x="2584279" y="3568903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6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160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379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3E2D4A-906C-9BC4-D747-30F14413B0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38</a:t>
            </a:fld>
            <a:endParaRPr lang="en-US" spc="-4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5632" y="2305723"/>
            <a:ext cx="3453933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00" spc="-9" dirty="0">
                <a:latin typeface="Calibri"/>
                <a:cs typeface="Calibri"/>
              </a:rPr>
              <a:t>First,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color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loops: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41827" y="3158892"/>
          <a:ext cx="4721597" cy="1994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160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0523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828234A-DB8E-6619-503D-21D1BCBA4D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39</a:t>
            </a:fld>
            <a:endParaRPr lang="en-US" spc="-44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104C32C-60A6-5CFE-2B06-60510EA7A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69258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106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2:</a:t>
            </a:r>
            <a:r>
              <a:rPr spc="-93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I</a:t>
            </a:r>
            <a:r>
              <a:rPr spc="-9" dirty="0">
                <a:latin typeface="+mj-lt"/>
                <a:cs typeface="Arial MT"/>
              </a:rPr>
              <a:t>nterchanging</a:t>
            </a:r>
            <a:r>
              <a:rPr spc="-101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L</a:t>
            </a:r>
            <a:r>
              <a:rPr spc="-9" dirty="0">
                <a:latin typeface="+mj-lt"/>
                <a:cs typeface="Arial MT"/>
              </a:rPr>
              <a:t>oops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6167" y="2039705"/>
            <a:ext cx="6642995" cy="74259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0800"/>
              </a:lnSpc>
              <a:spcBef>
                <a:spcPts val="66"/>
              </a:spcBef>
            </a:pPr>
            <a:r>
              <a:rPr sz="2400" dirty="0">
                <a:latin typeface="Calibri"/>
                <a:cs typeface="Calibri"/>
              </a:rPr>
              <a:t>Notice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program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effect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two </a:t>
            </a:r>
            <a:r>
              <a:rPr sz="2400" dirty="0">
                <a:latin typeface="Calibri"/>
                <a:cs typeface="Calibri"/>
              </a:rPr>
              <a:t>loops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interchanged: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8282" y="3961589"/>
            <a:ext cx="3989294" cy="343462"/>
          </a:xfrm>
          <a:prstGeom prst="rect">
            <a:avLst/>
          </a:prstGeom>
          <a:solidFill>
            <a:srgbClr val="FFFF00"/>
          </a:solidFill>
          <a:ln w="9419">
            <a:solidFill>
              <a:srgbClr val="000000"/>
            </a:solidFill>
          </a:ln>
        </p:spPr>
        <p:txBody>
          <a:bodyPr vert="horz" wrap="square" lIns="0" tIns="17369" rIns="0" bIns="0" rtlCol="0">
            <a:spAutoFit/>
          </a:bodyPr>
          <a:lstStyle/>
          <a:p>
            <a:pPr marL="1073020">
              <a:spcBef>
                <a:spcPts val="137"/>
              </a:spcBef>
            </a:pPr>
            <a:r>
              <a:rPr sz="2118" dirty="0">
                <a:latin typeface="Calibri"/>
                <a:cs typeface="Calibri"/>
              </a:rPr>
              <a:t>x[i][j]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=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2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*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x[i][j];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2864" y="3163730"/>
            <a:ext cx="3989294" cy="345159"/>
          </a:xfrm>
          <a:prstGeom prst="rect">
            <a:avLst/>
          </a:prstGeom>
          <a:solidFill>
            <a:srgbClr val="33CC33"/>
          </a:solidFill>
          <a:ln w="9419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008023">
              <a:spcBef>
                <a:spcPts val="150"/>
              </a:spcBef>
            </a:pPr>
            <a:r>
              <a:rPr sz="2118" dirty="0">
                <a:latin typeface="Calibri"/>
                <a:cs typeface="Calibri"/>
              </a:rPr>
              <a:t>For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i=0,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1,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…,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4999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9351" y="4759448"/>
            <a:ext cx="3989294" cy="344594"/>
          </a:xfrm>
          <a:prstGeom prst="rect">
            <a:avLst/>
          </a:prstGeom>
          <a:solidFill>
            <a:srgbClr val="33CC33"/>
          </a:solidFill>
          <a:ln w="9419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1063495">
              <a:spcBef>
                <a:spcPts val="146"/>
              </a:spcBef>
            </a:pPr>
            <a:r>
              <a:rPr sz="2118" dirty="0">
                <a:latin typeface="Calibri"/>
                <a:cs typeface="Calibri"/>
              </a:rPr>
              <a:t>End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3400" y="3562659"/>
            <a:ext cx="3989294" cy="344594"/>
          </a:xfrm>
          <a:prstGeom prst="rect">
            <a:avLst/>
          </a:prstGeom>
          <a:solidFill>
            <a:srgbClr val="618FFD"/>
          </a:solidFill>
          <a:ln w="9419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694241">
              <a:spcBef>
                <a:spcPts val="146"/>
              </a:spcBef>
            </a:pPr>
            <a:r>
              <a:rPr sz="2118" dirty="0">
                <a:latin typeface="Calibri"/>
                <a:cs typeface="Calibri"/>
              </a:rPr>
              <a:t>For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j=0,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1,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…,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99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3400" y="4360518"/>
            <a:ext cx="3989294" cy="345159"/>
          </a:xfrm>
          <a:prstGeom prst="rect">
            <a:avLst/>
          </a:prstGeom>
          <a:solidFill>
            <a:srgbClr val="618FFD"/>
          </a:solidFill>
          <a:ln w="9419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646614">
              <a:spcBef>
                <a:spcPts val="150"/>
              </a:spcBef>
            </a:pPr>
            <a:r>
              <a:rPr sz="2118" dirty="0">
                <a:latin typeface="Calibri"/>
                <a:cs typeface="Calibri"/>
              </a:rPr>
              <a:t>End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AA74F91B-44C8-1A60-7468-70EE06E15D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40</a:t>
            </a:fld>
            <a:endParaRPr lang="en-US" spc="-44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5B0D59C-058C-B466-C473-1579CC4CA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69258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106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2:</a:t>
            </a:r>
            <a:r>
              <a:rPr spc="-93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I</a:t>
            </a:r>
            <a:r>
              <a:rPr spc="-9" dirty="0">
                <a:latin typeface="+mj-lt"/>
                <a:cs typeface="Arial MT"/>
              </a:rPr>
              <a:t>nterchanging</a:t>
            </a:r>
            <a:r>
              <a:rPr spc="-101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L</a:t>
            </a:r>
            <a:r>
              <a:rPr spc="-9" dirty="0">
                <a:latin typeface="+mj-lt"/>
                <a:cs typeface="Arial MT"/>
              </a:rPr>
              <a:t>oops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6167" y="2039471"/>
            <a:ext cx="6252882" cy="742598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0800"/>
              </a:lnSpc>
              <a:spcBef>
                <a:spcPts val="66"/>
              </a:spcBef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ordering,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every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element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 </a:t>
            </a:r>
            <a:r>
              <a:rPr sz="2400" spc="-22" dirty="0">
                <a:latin typeface="Calibri"/>
                <a:cs typeface="Calibri"/>
              </a:rPr>
              <a:t>before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needing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another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block!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7597" y="3961363"/>
            <a:ext cx="3989294" cy="342896"/>
          </a:xfrm>
          <a:prstGeom prst="rect">
            <a:avLst/>
          </a:prstGeom>
          <a:solidFill>
            <a:srgbClr val="FFFF00"/>
          </a:solidFill>
          <a:ln w="9419">
            <a:solidFill>
              <a:srgbClr val="000000"/>
            </a:solidFill>
          </a:ln>
        </p:spPr>
        <p:txBody>
          <a:bodyPr vert="horz" wrap="square" lIns="0" tIns="16809" rIns="0" bIns="0" rtlCol="0">
            <a:spAutoFit/>
          </a:bodyPr>
          <a:lstStyle/>
          <a:p>
            <a:pPr marL="1073020">
              <a:spcBef>
                <a:spcPts val="132"/>
              </a:spcBef>
            </a:pPr>
            <a:r>
              <a:rPr sz="2118" dirty="0">
                <a:latin typeface="Calibri"/>
                <a:cs typeface="Calibri"/>
              </a:rPr>
              <a:t>x[i][j]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=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2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*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x[i][j];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2180" y="3163503"/>
            <a:ext cx="3989294" cy="344594"/>
          </a:xfrm>
          <a:prstGeom prst="rect">
            <a:avLst/>
          </a:prstGeom>
          <a:solidFill>
            <a:srgbClr val="33CC33"/>
          </a:solidFill>
          <a:ln w="9419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1008023">
              <a:spcBef>
                <a:spcPts val="146"/>
              </a:spcBef>
            </a:pPr>
            <a:r>
              <a:rPr sz="2118" dirty="0">
                <a:latin typeface="Calibri"/>
                <a:cs typeface="Calibri"/>
              </a:rPr>
              <a:t>For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i=0,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1,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…,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4999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8667" y="4759220"/>
            <a:ext cx="3989294" cy="343462"/>
          </a:xfrm>
          <a:prstGeom prst="rect">
            <a:avLst/>
          </a:prstGeom>
          <a:solidFill>
            <a:srgbClr val="33CC33"/>
          </a:solidFill>
          <a:ln w="9419">
            <a:solidFill>
              <a:srgbClr val="000000"/>
            </a:solidFill>
          </a:ln>
        </p:spPr>
        <p:txBody>
          <a:bodyPr vert="horz" wrap="square" lIns="0" tIns="17369" rIns="0" bIns="0" rtlCol="0">
            <a:spAutoFit/>
          </a:bodyPr>
          <a:lstStyle/>
          <a:p>
            <a:pPr marL="1063495">
              <a:spcBef>
                <a:spcPts val="137"/>
              </a:spcBef>
            </a:pPr>
            <a:r>
              <a:rPr sz="2118" dirty="0">
                <a:latin typeface="Calibri"/>
                <a:cs typeface="Calibri"/>
              </a:rPr>
              <a:t>End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2715" y="3562432"/>
            <a:ext cx="3989294" cy="343462"/>
          </a:xfrm>
          <a:prstGeom prst="rect">
            <a:avLst/>
          </a:prstGeom>
          <a:solidFill>
            <a:srgbClr val="618FFD"/>
          </a:solidFill>
          <a:ln w="9419">
            <a:solidFill>
              <a:srgbClr val="000000"/>
            </a:solidFill>
          </a:ln>
        </p:spPr>
        <p:txBody>
          <a:bodyPr vert="horz" wrap="square" lIns="0" tIns="17369" rIns="0" bIns="0" rtlCol="0">
            <a:spAutoFit/>
          </a:bodyPr>
          <a:lstStyle/>
          <a:p>
            <a:pPr marL="694241">
              <a:spcBef>
                <a:spcPts val="137"/>
              </a:spcBef>
            </a:pPr>
            <a:r>
              <a:rPr sz="2118" dirty="0">
                <a:latin typeface="Calibri"/>
                <a:cs typeface="Calibri"/>
              </a:rPr>
              <a:t>For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j=0,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1,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…,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99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2715" y="4360291"/>
            <a:ext cx="3989294" cy="344594"/>
          </a:xfrm>
          <a:prstGeom prst="rect">
            <a:avLst/>
          </a:prstGeom>
          <a:solidFill>
            <a:srgbClr val="618FFD"/>
          </a:solidFill>
          <a:ln w="9419">
            <a:solidFill>
              <a:srgbClr val="000000"/>
            </a:solidFill>
          </a:ln>
        </p:spPr>
        <p:txBody>
          <a:bodyPr vert="horz" wrap="square" lIns="0" tIns="18490" rIns="0" bIns="0" rtlCol="0">
            <a:spAutoFit/>
          </a:bodyPr>
          <a:lstStyle/>
          <a:p>
            <a:pPr marL="646614">
              <a:spcBef>
                <a:spcPts val="146"/>
              </a:spcBef>
            </a:pPr>
            <a:r>
              <a:rPr sz="2118" dirty="0">
                <a:latin typeface="Calibri"/>
                <a:cs typeface="Calibri"/>
              </a:rPr>
              <a:t>End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for;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F2386FD0-A486-8C03-3F98-0873FD4462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41</a:t>
            </a:fld>
            <a:endParaRPr lang="en-US" spc="-44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23F2797-4557-AB0D-7D57-C90944443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69258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106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2:</a:t>
            </a:r>
            <a:r>
              <a:rPr spc="-93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I</a:t>
            </a:r>
            <a:r>
              <a:rPr spc="-9" dirty="0">
                <a:latin typeface="+mj-lt"/>
                <a:cs typeface="Arial MT"/>
              </a:rPr>
              <a:t>nterchanging</a:t>
            </a:r>
            <a:r>
              <a:rPr spc="-101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L</a:t>
            </a:r>
            <a:r>
              <a:rPr spc="-9" dirty="0">
                <a:latin typeface="+mj-lt"/>
                <a:cs typeface="Arial MT"/>
              </a:rPr>
              <a:t>oops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>
                <a:latin typeface="+mj-lt"/>
                <a:cs typeface="Arial MT"/>
              </a:rPr>
              <a:t>Technique</a:t>
            </a:r>
            <a:r>
              <a:rPr spc="-88" dirty="0">
                <a:latin typeface="+mj-lt"/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3:</a:t>
            </a:r>
            <a:r>
              <a:rPr spc="-75" dirty="0">
                <a:latin typeface="+mj-lt"/>
                <a:cs typeface="Arial MT"/>
              </a:rPr>
              <a:t> </a:t>
            </a:r>
            <a:r>
              <a:rPr lang="en-US" spc="-75" dirty="0">
                <a:latin typeface="+mj-lt"/>
                <a:cs typeface="Arial MT"/>
              </a:rPr>
              <a:t>L</a:t>
            </a:r>
            <a:r>
              <a:rPr dirty="0">
                <a:latin typeface="+mj-lt"/>
                <a:cs typeface="Arial MT"/>
              </a:rPr>
              <a:t>oop</a:t>
            </a:r>
            <a:r>
              <a:rPr spc="-84" dirty="0">
                <a:latin typeface="+mj-lt"/>
                <a:cs typeface="Arial MT"/>
              </a:rPr>
              <a:t> </a:t>
            </a:r>
            <a:r>
              <a:rPr lang="en-US" spc="-9" dirty="0">
                <a:latin typeface="+mj-lt"/>
                <a:cs typeface="Arial MT"/>
              </a:rPr>
              <a:t>F</a:t>
            </a:r>
            <a:r>
              <a:rPr spc="-9" dirty="0">
                <a:latin typeface="+mj-lt"/>
                <a:cs typeface="Arial MT"/>
              </a:rPr>
              <a:t>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7418" y="1907689"/>
            <a:ext cx="1255209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00" spc="-18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32075"/>
              </p:ext>
            </p:extLst>
          </p:nvPr>
        </p:nvGraphicFramePr>
        <p:xfrm>
          <a:off x="3170907" y="1696150"/>
          <a:ext cx="4721597" cy="1994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160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0523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36437"/>
              </p:ext>
            </p:extLst>
          </p:nvPr>
        </p:nvGraphicFramePr>
        <p:xfrm>
          <a:off x="3237395" y="3890262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5311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6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  <a:tabLst>
                          <a:tab pos="1003300" algn="l"/>
                        </a:tabLst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y[i][j]</a:t>
                      </a:r>
                      <a:r>
                        <a:rPr sz="21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	x[i][j]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a[i][j];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052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FA2A0A29-90DA-DD4D-A20A-9EDE12D063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42</a:t>
            </a:fld>
            <a:endParaRPr lang="en-US" spc="-44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3959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88" dirty="0">
                <a:cs typeface="Arial MT"/>
              </a:rPr>
              <a:t> </a:t>
            </a:r>
            <a:r>
              <a:rPr lang="en-US" dirty="0">
                <a:cs typeface="Arial MT"/>
              </a:rPr>
              <a:t>3:</a:t>
            </a:r>
            <a:r>
              <a:rPr lang="en-US" spc="-75" dirty="0"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Loop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lang="en-US" spc="-115" dirty="0">
                <a:latin typeface="+mj-lt"/>
                <a:cs typeface="Arial MT"/>
              </a:rPr>
              <a:t>F</a:t>
            </a:r>
            <a:r>
              <a:rPr dirty="0">
                <a:latin typeface="+mj-lt"/>
                <a:cs typeface="Arial MT"/>
              </a:rPr>
              <a:t>usion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spc="-9" dirty="0">
                <a:latin typeface="+mj-lt"/>
                <a:cs typeface="Arial MT"/>
              </a:rPr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619" y="1854680"/>
            <a:ext cx="2392477" cy="140509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535670">
              <a:spcBef>
                <a:spcPts val="88"/>
              </a:spcBef>
            </a:pPr>
            <a:r>
              <a:rPr sz="2400" dirty="0">
                <a:latin typeface="Calibri"/>
                <a:cs typeface="Calibri"/>
              </a:rPr>
              <a:t>Note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control</a:t>
            </a:r>
            <a:endParaRPr sz="2400" dirty="0">
              <a:latin typeface="Calibri"/>
              <a:cs typeface="Calibri"/>
            </a:endParaRPr>
          </a:p>
          <a:p>
            <a:pPr marL="11206" marR="4483">
              <a:lnSpc>
                <a:spcPts val="2480"/>
              </a:lnSpc>
              <a:spcBef>
                <a:spcPts val="71"/>
              </a:spcBef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loops.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1592" y="1696150"/>
          <a:ext cx="4721597" cy="1994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160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715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04568" y="3890262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6851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0750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6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  <a:tabLst>
                          <a:tab pos="1003300" algn="l"/>
                        </a:tabLst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y[i][j]</a:t>
                      </a:r>
                      <a:r>
                        <a:rPr sz="21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	x[i][j]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a[i][j];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042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6318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2E25670-A066-4EBB-1F47-CCBC82441D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43</a:t>
            </a:fld>
            <a:endParaRPr lang="en-US" spc="-44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95130" y="1852188"/>
            <a:ext cx="2307849" cy="2550115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28"/>
              </a:spcBef>
              <a:tabLst>
                <a:tab pos="689759" algn="l"/>
                <a:tab pos="955352" algn="l"/>
              </a:tabLst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</a:t>
            </a:r>
            <a:r>
              <a:rPr sz="2400" spc="-66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62" dirty="0">
                <a:latin typeface="Times New Roman"/>
                <a:cs typeface="Times New Roman"/>
              </a:rPr>
              <a:t> </a:t>
            </a:r>
            <a:r>
              <a:rPr sz="2400" spc="-22" dirty="0">
                <a:latin typeface="Times New Roman"/>
                <a:cs typeface="Times New Roman"/>
              </a:rPr>
              <a:t>the </a:t>
            </a:r>
            <a:r>
              <a:rPr sz="2400" spc="-9" dirty="0">
                <a:latin typeface="Times New Roman"/>
                <a:cs typeface="Times New Roman"/>
              </a:rPr>
              <a:t>array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44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	is</a:t>
            </a:r>
            <a:r>
              <a:rPr sz="2400" spc="-4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spc="-22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each,</a:t>
            </a:r>
            <a:r>
              <a:rPr sz="2400" spc="-5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</a:t>
            </a:r>
            <a:r>
              <a:rPr sz="2400" spc="-57" dirty="0">
                <a:latin typeface="Times New Roman"/>
                <a:cs typeface="Times New Roman"/>
              </a:rPr>
              <a:t> </a:t>
            </a:r>
            <a:r>
              <a:rPr sz="2400" spc="-9" dirty="0">
                <a:latin typeface="Times New Roman"/>
                <a:cs typeface="Times New Roman"/>
              </a:rPr>
              <a:t>probably </a:t>
            </a:r>
            <a:r>
              <a:rPr sz="2400" dirty="0">
                <a:latin typeface="Times New Roman"/>
                <a:cs typeface="Times New Roman"/>
              </a:rPr>
              <a:t>needs</a:t>
            </a:r>
            <a:r>
              <a:rPr sz="2400" spc="-6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6" dirty="0">
                <a:latin typeface="Times New Roman"/>
                <a:cs typeface="Times New Roman"/>
              </a:rPr>
              <a:t> </a:t>
            </a:r>
            <a:r>
              <a:rPr sz="2400" spc="-22" dirty="0">
                <a:latin typeface="Times New Roman"/>
                <a:cs typeface="Times New Roman"/>
              </a:rPr>
              <a:t>be</a:t>
            </a:r>
            <a:r>
              <a:rPr sz="2400" spc="5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loaded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9" dirty="0">
                <a:latin typeface="Times New Roman"/>
                <a:cs typeface="Times New Roman"/>
              </a:rPr>
              <a:t>cache </a:t>
            </a:r>
            <a:r>
              <a:rPr sz="2400" dirty="0">
                <a:latin typeface="Times New Roman"/>
                <a:cs typeface="Times New Roman"/>
              </a:rPr>
              <a:t>twice,</a:t>
            </a:r>
            <a:r>
              <a:rPr sz="2400" spc="-79" dirty="0">
                <a:latin typeface="Times New Roman"/>
                <a:cs typeface="Times New Roman"/>
              </a:rPr>
              <a:t> </a:t>
            </a:r>
            <a:r>
              <a:rPr sz="2400" spc="-18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wastes</a:t>
            </a:r>
            <a:r>
              <a:rPr sz="2400" spc="-132" dirty="0">
                <a:latin typeface="Times New Roman"/>
                <a:cs typeface="Times New Roman"/>
              </a:rPr>
              <a:t> </a:t>
            </a:r>
            <a:r>
              <a:rPr sz="2400" spc="-9" dirty="0">
                <a:latin typeface="Times New Roman"/>
                <a:cs typeface="Times New Roman"/>
              </a:rPr>
              <a:t>cycles.</a:t>
            </a:r>
            <a:endParaRPr sz="24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94746"/>
              </p:ext>
            </p:extLst>
          </p:nvPr>
        </p:nvGraphicFramePr>
        <p:xfrm>
          <a:off x="3185072" y="1695922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643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j=0,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5" dirty="0">
                          <a:latin typeface="Times New Roman"/>
                          <a:cs typeface="Times New Roman"/>
                        </a:rPr>
                        <a:t>99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057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i=0,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4999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857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13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x[i][j]</a:t>
                      </a:r>
                      <a:r>
                        <a:rPr sz="2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10" dirty="0">
                          <a:latin typeface="Times New Roman"/>
                          <a:cs typeface="Times New Roman"/>
                        </a:rPr>
                        <a:t>x[i][j];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3025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220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2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for;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1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2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for;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857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397242"/>
              </p:ext>
            </p:extLst>
          </p:nvPr>
        </p:nvGraphicFramePr>
        <p:xfrm>
          <a:off x="3251560" y="3890034"/>
          <a:ext cx="4721597" cy="1993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6432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j=0,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5" dirty="0">
                          <a:latin typeface="Times New Roman"/>
                          <a:cs typeface="Times New Roman"/>
                        </a:rPr>
                        <a:t>99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0579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i=0,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…,</a:t>
                      </a:r>
                      <a:r>
                        <a:rPr sz="2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4999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1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15695" algn="l"/>
                        </a:tabLst>
                      </a:pPr>
                      <a:r>
                        <a:rPr lang="en-US" sz="21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y[i][j]</a:t>
                      </a:r>
                      <a:r>
                        <a:rPr sz="21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5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	x[i][j]</a:t>
                      </a:r>
                      <a:r>
                        <a:rPr sz="21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2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10" dirty="0">
                          <a:latin typeface="Times New Roman"/>
                          <a:cs typeface="Times New Roman"/>
                        </a:rPr>
                        <a:t>a[i][j];</a:t>
                      </a: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80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220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2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for;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696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2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20" dirty="0">
                          <a:latin typeface="Times New Roman"/>
                          <a:cs typeface="Times New Roman"/>
                        </a:rPr>
                        <a:t>for;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913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EC68FC5-E9FC-F81C-276B-FF8665D3BB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44</a:t>
            </a:fld>
            <a:endParaRPr lang="en-US" spc="-44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F1094D6-8AC9-A671-5ACC-BFB3D8CCE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3959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88" dirty="0">
                <a:cs typeface="Arial MT"/>
              </a:rPr>
              <a:t> </a:t>
            </a:r>
            <a:r>
              <a:rPr lang="en-US" dirty="0">
                <a:cs typeface="Arial MT"/>
              </a:rPr>
              <a:t>3:</a:t>
            </a:r>
            <a:r>
              <a:rPr lang="en-US" spc="-75" dirty="0"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Loop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lang="en-US" spc="-115" dirty="0">
                <a:latin typeface="+mj-lt"/>
                <a:cs typeface="Arial MT"/>
              </a:rPr>
              <a:t>F</a:t>
            </a:r>
            <a:r>
              <a:rPr dirty="0">
                <a:latin typeface="+mj-lt"/>
                <a:cs typeface="Arial MT"/>
              </a:rPr>
              <a:t>usion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spc="-9" dirty="0">
                <a:latin typeface="+mj-lt"/>
                <a:cs typeface="Arial MT"/>
              </a:rPr>
              <a:t>(cont.)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8383" y="2663298"/>
            <a:ext cx="2080157" cy="1464240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>
              <a:lnSpc>
                <a:spcPct val="98300"/>
              </a:lnSpc>
              <a:spcBef>
                <a:spcPts val="128"/>
              </a:spcBef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combine,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or </a:t>
            </a:r>
            <a:r>
              <a:rPr sz="2400" b="1" dirty="0">
                <a:latin typeface="Calibri"/>
                <a:cs typeface="Calibri"/>
              </a:rPr>
              <a:t>fuse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loops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improve efficiency.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906705"/>
              </p:ext>
            </p:extLst>
          </p:nvPr>
        </p:nvGraphicFramePr>
        <p:xfrm>
          <a:off x="3105104" y="2427521"/>
          <a:ext cx="4721597" cy="2392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5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929">
                <a:tc gridSpan="4">
                  <a:txBody>
                    <a:bodyPr/>
                    <a:lstStyle/>
                    <a:p>
                      <a:pPr marL="78676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j=0,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423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1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i=0,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1,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…,</a:t>
                      </a:r>
                      <a:r>
                        <a:rPr sz="2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4999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29"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033463" indent="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x[i][j];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929"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033463" indent="0" algn="l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033463" algn="l"/>
                        </a:tabLst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y[i][j]</a:t>
                      </a:r>
                      <a:r>
                        <a:rPr sz="21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lang="en-US" sz="2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x[i][j]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2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a[i][j];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168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6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052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84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18F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9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21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for;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5320FD-664C-47D0-BC8F-3703BCE860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45</a:t>
            </a:fld>
            <a:endParaRPr lang="en-US" spc="-44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E58CAB8-FDFE-5DFA-5725-621C9A2B3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3959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pc="-9" dirty="0">
                <a:cs typeface="Arial MT"/>
              </a:rPr>
              <a:t>Technique</a:t>
            </a:r>
            <a:r>
              <a:rPr lang="en-US" spc="-88" dirty="0">
                <a:cs typeface="Arial MT"/>
              </a:rPr>
              <a:t> </a:t>
            </a:r>
            <a:r>
              <a:rPr lang="en-US" dirty="0">
                <a:cs typeface="Arial MT"/>
              </a:rPr>
              <a:t>3:</a:t>
            </a:r>
            <a:r>
              <a:rPr lang="en-US" spc="-75" dirty="0">
                <a:cs typeface="Arial MT"/>
              </a:rPr>
              <a:t> </a:t>
            </a:r>
            <a:r>
              <a:rPr dirty="0">
                <a:latin typeface="+mj-lt"/>
                <a:cs typeface="Arial MT"/>
              </a:rPr>
              <a:t>Loop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lang="en-US" spc="-115" dirty="0">
                <a:latin typeface="+mj-lt"/>
                <a:cs typeface="Arial MT"/>
              </a:rPr>
              <a:t>F</a:t>
            </a:r>
            <a:r>
              <a:rPr dirty="0">
                <a:latin typeface="+mj-lt"/>
                <a:cs typeface="Arial MT"/>
              </a:rPr>
              <a:t>usion</a:t>
            </a:r>
            <a:r>
              <a:rPr spc="-115" dirty="0">
                <a:latin typeface="+mj-lt"/>
                <a:cs typeface="Arial MT"/>
              </a:rPr>
              <a:t> </a:t>
            </a:r>
            <a:r>
              <a:rPr spc="-9" dirty="0">
                <a:latin typeface="+mj-lt"/>
                <a:cs typeface="Arial MT"/>
              </a:rPr>
              <a:t>(cont.)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31" dirty="0"/>
              <a:t>Multi-</a:t>
            </a:r>
            <a:r>
              <a:rPr dirty="0"/>
              <a:t>Level</a:t>
            </a:r>
            <a:r>
              <a:rPr spc="-62" dirty="0"/>
              <a:t> </a:t>
            </a:r>
            <a:r>
              <a:rPr spc="-9" dirty="0"/>
              <a:t>Inclusion…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2218"/>
            <a:ext cx="7436779" cy="2392786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n+1</a:t>
            </a:r>
            <a:endParaRPr sz="24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543"/>
              </a:spcBef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ach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bigger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hierarchy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contains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(addresses)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smaller</a:t>
            </a:r>
            <a:r>
              <a:rPr sz="2200" spc="-9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parts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87"/>
              </a:spcBef>
              <a:spcAft>
                <a:spcPts val="24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ot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always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because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delayed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write-</a:t>
            </a:r>
            <a:r>
              <a:rPr sz="2200" spc="-18" dirty="0">
                <a:latin typeface="Calibri"/>
                <a:cs typeface="Calibri"/>
              </a:rPr>
              <a:t>back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useful?</a:t>
            </a:r>
            <a:endParaRPr lang="en-US" sz="2400" spc="-9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9A3EB22-495A-BEA0-D0B5-C74F4FF2B8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46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So</a:t>
            </a:r>
            <a:r>
              <a:rPr spc="-66" dirty="0"/>
              <a:t> </a:t>
            </a:r>
            <a:r>
              <a:rPr spc="-18" dirty="0"/>
              <a:t>Far…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8382" y="1131661"/>
            <a:ext cx="8017565" cy="5722132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spc="-22" dirty="0">
                <a:latin typeface="Calibri"/>
                <a:cs typeface="Calibri"/>
              </a:rPr>
              <a:t>Direct-</a:t>
            </a:r>
            <a:r>
              <a:rPr sz="2400" spc="-9" dirty="0">
                <a:latin typeface="Calibri"/>
                <a:cs typeface="Calibri"/>
              </a:rPr>
              <a:t>mapped,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set-</a:t>
            </a:r>
            <a:r>
              <a:rPr sz="2400" spc="-9" dirty="0">
                <a:latin typeface="Calibri"/>
                <a:cs typeface="Calibri"/>
              </a:rPr>
              <a:t>associative,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associative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46"/>
              </a:spcBef>
              <a:buChar char="•"/>
              <a:tabLst>
                <a:tab pos="259990" algn="l"/>
              </a:tabLst>
            </a:pPr>
            <a:r>
              <a:rPr sz="2400" spc="-26" dirty="0">
                <a:latin typeface="Calibri"/>
                <a:cs typeface="Calibri"/>
              </a:rPr>
              <a:t>Write-</a:t>
            </a:r>
            <a:r>
              <a:rPr sz="2400" spc="-9" dirty="0">
                <a:latin typeface="Calibri"/>
                <a:cs typeface="Calibri"/>
              </a:rPr>
              <a:t>through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write-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optimizations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reduce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stalls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463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Reduce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rate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00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Reduce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penalty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Reduce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01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Reduce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61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Increase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size,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higher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associativity,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victim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prefetching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85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Reduce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penalty</a:t>
            </a:r>
            <a:endParaRPr sz="24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609"/>
              </a:spcBef>
              <a:buChar char="–"/>
              <a:tabLst>
                <a:tab pos="609633" algn="l"/>
              </a:tabLst>
            </a:pPr>
            <a:r>
              <a:rPr sz="2200" spc="-18" dirty="0">
                <a:latin typeface="Calibri"/>
                <a:cs typeface="Calibri"/>
              </a:rPr>
              <a:t>Multi-</a:t>
            </a:r>
            <a:r>
              <a:rPr sz="2200" dirty="0">
                <a:latin typeface="Calibri"/>
                <a:cs typeface="Calibri"/>
              </a:rPr>
              <a:t>level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priority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miss,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don’t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wait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whole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block,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non-</a:t>
            </a:r>
            <a:r>
              <a:rPr sz="2200" spc="-9" dirty="0">
                <a:latin typeface="Calibri"/>
                <a:cs typeface="Calibri"/>
              </a:rPr>
              <a:t>blocking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merging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arrays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3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Reduce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61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K.I.S.S.,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virtual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pipelined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cache,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trace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cache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29764D84-3650-7430-CA2C-5704A6491A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47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/>
              <a:t>Summary</a:t>
            </a:r>
            <a:r>
              <a:rPr spc="-57" dirty="0"/>
              <a:t> </a:t>
            </a:r>
            <a:r>
              <a:rPr dirty="0"/>
              <a:t>-</a:t>
            </a:r>
            <a:r>
              <a:rPr spc="-57" dirty="0"/>
              <a:t> </a:t>
            </a:r>
            <a:r>
              <a:rPr spc="-9" dirty="0"/>
              <a:t>Caches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25959"/>
            <a:ext cx="7794587" cy="5285373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Principle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Locality:</a:t>
            </a:r>
            <a:endParaRPr sz="2400" dirty="0">
              <a:latin typeface="Calibri"/>
              <a:cs typeface="Calibri"/>
            </a:endParaRPr>
          </a:p>
          <a:p>
            <a:pPr marL="609633" marR="66118" lvl="1" indent="-199475">
              <a:lnSpc>
                <a:spcPct val="110000"/>
              </a:lnSpc>
              <a:spcBef>
                <a:spcPts val="543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Program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relatively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portion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any </a:t>
            </a:r>
            <a:r>
              <a:rPr sz="2200" dirty="0">
                <a:latin typeface="Calibri"/>
                <a:cs typeface="Calibri"/>
              </a:rPr>
              <a:t>instant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time.</a:t>
            </a:r>
            <a:endParaRPr sz="2200" dirty="0">
              <a:latin typeface="Calibri"/>
              <a:cs typeface="Calibri"/>
            </a:endParaRPr>
          </a:p>
          <a:p>
            <a:pPr marL="808548">
              <a:lnSpc>
                <a:spcPct val="110000"/>
              </a:lnSpc>
              <a:spcBef>
                <a:spcPts val="287"/>
              </a:spcBef>
              <a:spcAft>
                <a:spcPts val="600"/>
              </a:spcAft>
            </a:pPr>
            <a:r>
              <a:rPr sz="2200" dirty="0">
                <a:latin typeface="Calibri"/>
                <a:cs typeface="Calibri"/>
              </a:rPr>
              <a:t>»</a:t>
            </a:r>
            <a:r>
              <a:rPr sz="2200" spc="3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Temporal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/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Spatial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Locality: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Locality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Space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3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Uniprocessor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Categories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Misses: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Compulsory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life.</a:t>
            </a:r>
            <a:r>
              <a:rPr sz="2200" spc="27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Example: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misses.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96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Capacity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Misses: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increase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size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Conflict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Misses:</a:t>
            </a:r>
            <a:r>
              <a:rPr sz="2200" spc="27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increase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and/or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associativity.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459"/>
              </a:spcBef>
              <a:spcAft>
                <a:spcPts val="600"/>
              </a:spcAft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Coherence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(in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multiprocessors):</a:t>
            </a:r>
            <a:r>
              <a:rPr sz="2200" spc="25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Avoid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frequent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shared variables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parallel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programs.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340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Policy: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Through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vs.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Back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spc="-26" dirty="0">
                <a:latin typeface="Calibri"/>
                <a:cs typeface="Calibri"/>
              </a:rPr>
              <a:t>Write-</a:t>
            </a:r>
            <a:r>
              <a:rPr sz="2400" dirty="0">
                <a:latin typeface="Calibri"/>
                <a:cs typeface="Calibri"/>
              </a:rPr>
              <a:t>Miss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Policy: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Write-</a:t>
            </a:r>
            <a:r>
              <a:rPr sz="2400" spc="-9" dirty="0">
                <a:latin typeface="Calibri"/>
                <a:cs typeface="Calibri"/>
              </a:rPr>
              <a:t>Allocate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vs.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Write-</a:t>
            </a:r>
            <a:r>
              <a:rPr sz="2400" spc="-22" dirty="0">
                <a:latin typeface="Calibri"/>
                <a:cs typeface="Calibri"/>
              </a:rPr>
              <a:t>No-</a:t>
            </a:r>
            <a:r>
              <a:rPr sz="2400" spc="-9" dirty="0">
                <a:latin typeface="Calibri"/>
                <a:cs typeface="Calibri"/>
              </a:rPr>
              <a:t>Allocate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A2531C32-7519-725F-622C-98A7281D25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48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595236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18" dirty="0"/>
              <a:t>Summary</a:t>
            </a:r>
            <a:r>
              <a:rPr spc="-97" dirty="0"/>
              <a:t> </a:t>
            </a:r>
            <a:r>
              <a:rPr dirty="0"/>
              <a:t>-</a:t>
            </a:r>
            <a:r>
              <a:rPr spc="-97" dirty="0"/>
              <a:t> </a:t>
            </a:r>
            <a:r>
              <a:rPr dirty="0"/>
              <a:t>The</a:t>
            </a:r>
            <a:r>
              <a:rPr spc="-101" dirty="0"/>
              <a:t> </a:t>
            </a:r>
            <a:r>
              <a:rPr dirty="0"/>
              <a:t>Cache</a:t>
            </a:r>
            <a:r>
              <a:rPr spc="-97" dirty="0"/>
              <a:t> </a:t>
            </a:r>
            <a:r>
              <a:rPr dirty="0"/>
              <a:t>Design</a:t>
            </a:r>
            <a:r>
              <a:rPr spc="-93" dirty="0"/>
              <a:t> </a:t>
            </a:r>
            <a:r>
              <a:rPr spc="-9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5133" y="1260138"/>
            <a:ext cx="4606196" cy="4489578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200" spc="-9" dirty="0">
                <a:latin typeface="Calibri"/>
                <a:cs typeface="Calibri"/>
              </a:rPr>
              <a:t>Several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interacting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dimensions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cache</a:t>
            </a:r>
            <a:r>
              <a:rPr sz="2000" spc="-8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size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401"/>
              </a:spcBef>
              <a:buChar char="–"/>
              <a:tabLst>
                <a:tab pos="609633" algn="l"/>
              </a:tabLst>
            </a:pPr>
            <a:r>
              <a:rPr sz="2000" spc="-9" dirty="0">
                <a:latin typeface="Calibri"/>
                <a:cs typeface="Calibri"/>
              </a:rPr>
              <a:t>associativity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296"/>
              </a:spcBef>
              <a:buChar char="–"/>
              <a:tabLst>
                <a:tab pos="609633" algn="l"/>
              </a:tabLst>
            </a:pPr>
            <a:r>
              <a:rPr sz="2000" spc="-9" dirty="0">
                <a:latin typeface="Calibri"/>
                <a:cs typeface="Calibri"/>
              </a:rPr>
              <a:t>replacement</a:t>
            </a:r>
            <a:r>
              <a:rPr sz="2000" spc="-7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policy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000" spc="-18" dirty="0">
                <a:latin typeface="Calibri"/>
                <a:cs typeface="Calibri"/>
              </a:rPr>
              <a:t>write-</a:t>
            </a:r>
            <a:r>
              <a:rPr sz="2000" spc="-9" dirty="0">
                <a:latin typeface="Calibri"/>
                <a:cs typeface="Calibri"/>
              </a:rPr>
              <a:t>through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vs.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write-</a:t>
            </a:r>
            <a:r>
              <a:rPr sz="2000" spc="-18" dirty="0">
                <a:latin typeface="Calibri"/>
                <a:cs typeface="Calibri"/>
              </a:rPr>
              <a:t>back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300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write</a:t>
            </a:r>
            <a:r>
              <a:rPr sz="2000" spc="-6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allocation</a:t>
            </a:r>
            <a:endParaRPr sz="2000" dirty="0">
              <a:latin typeface="Calibri"/>
              <a:cs typeface="Calibri"/>
            </a:endParaRPr>
          </a:p>
          <a:p>
            <a:pPr marL="259990" indent="-248784">
              <a:spcBef>
                <a:spcPts val="485"/>
              </a:spcBef>
              <a:buChar char="•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optimal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choice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compromise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361"/>
              </a:spcBef>
              <a:buChar char="–"/>
              <a:tabLst>
                <a:tab pos="609633" algn="l"/>
              </a:tabLst>
            </a:pPr>
            <a:r>
              <a:rPr sz="2000" spc="-9" dirty="0">
                <a:latin typeface="Calibri"/>
                <a:cs typeface="Calibri"/>
              </a:rPr>
              <a:t>depends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characteristics</a:t>
            </a:r>
            <a:endParaRPr sz="2000" dirty="0">
              <a:latin typeface="Calibri"/>
              <a:cs typeface="Calibri"/>
            </a:endParaRPr>
          </a:p>
          <a:p>
            <a:pPr marL="808548">
              <a:spcBef>
                <a:spcPts val="317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38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workload</a:t>
            </a:r>
            <a:endParaRPr sz="2000" dirty="0">
              <a:latin typeface="Calibri"/>
              <a:cs typeface="Calibri"/>
            </a:endParaRPr>
          </a:p>
          <a:p>
            <a:pPr marL="808548">
              <a:spcBef>
                <a:spcPts val="379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3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(I-</a:t>
            </a:r>
            <a:r>
              <a:rPr sz="2000" dirty="0">
                <a:latin typeface="Calibri"/>
                <a:cs typeface="Calibri"/>
              </a:rPr>
              <a:t>cache,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D-</a:t>
            </a:r>
            <a:r>
              <a:rPr sz="2000" dirty="0">
                <a:latin typeface="Calibri"/>
                <a:cs typeface="Calibri"/>
              </a:rPr>
              <a:t>cache,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TLB)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sz="2000" spc="-9" dirty="0">
                <a:latin typeface="Calibri"/>
                <a:cs typeface="Calibri"/>
              </a:rPr>
              <a:t>depends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technology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cost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605" y="5746936"/>
            <a:ext cx="3178163" cy="34987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9990" indent="-248784"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200" spc="-9" dirty="0">
                <a:latin typeface="Calibri"/>
                <a:cs typeface="Calibri"/>
              </a:rPr>
              <a:t>Simplicity</a:t>
            </a:r>
            <a:r>
              <a:rPr sz="2200" spc="-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8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wins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3287620-2E24-DB1D-653C-2099264DC4AC}"/>
              </a:ext>
            </a:extLst>
          </p:cNvPr>
          <p:cNvGrpSpPr/>
          <p:nvPr/>
        </p:nvGrpSpPr>
        <p:grpSpPr>
          <a:xfrm>
            <a:off x="5896601" y="1550199"/>
            <a:ext cx="2267697" cy="2151827"/>
            <a:chOff x="5703561" y="1428279"/>
            <a:chExt cx="2267697" cy="2151827"/>
          </a:xfrm>
        </p:grpSpPr>
        <p:sp>
          <p:nvSpPr>
            <p:cNvPr id="5" name="object 5"/>
            <p:cNvSpPr/>
            <p:nvPr/>
          </p:nvSpPr>
          <p:spPr>
            <a:xfrm>
              <a:off x="6013962" y="1736328"/>
              <a:ext cx="1158128" cy="1595718"/>
            </a:xfrm>
            <a:custGeom>
              <a:avLst/>
              <a:gdLst/>
              <a:ahLst/>
              <a:cxnLst/>
              <a:rect l="l" t="t" r="r" b="b"/>
              <a:pathLst>
                <a:path w="1312545" h="1808479">
                  <a:moveTo>
                    <a:pt x="1312405" y="753529"/>
                  </a:moveTo>
                  <a:lnTo>
                    <a:pt x="1228305" y="748385"/>
                  </a:lnTo>
                  <a:lnTo>
                    <a:pt x="1240612" y="777265"/>
                  </a:lnTo>
                  <a:lnTo>
                    <a:pt x="43954" y="1286738"/>
                  </a:lnTo>
                  <a:lnTo>
                    <a:pt x="43954" y="75349"/>
                  </a:lnTo>
                  <a:lnTo>
                    <a:pt x="75349" y="75349"/>
                  </a:lnTo>
                  <a:lnTo>
                    <a:pt x="69075" y="62788"/>
                  </a:lnTo>
                  <a:lnTo>
                    <a:pt x="37668" y="0"/>
                  </a:lnTo>
                  <a:lnTo>
                    <a:pt x="0" y="75349"/>
                  </a:lnTo>
                  <a:lnTo>
                    <a:pt x="31394" y="75349"/>
                  </a:lnTo>
                  <a:lnTo>
                    <a:pt x="31394" y="1293558"/>
                  </a:lnTo>
                  <a:lnTo>
                    <a:pt x="43942" y="1293558"/>
                  </a:lnTo>
                  <a:lnTo>
                    <a:pt x="40373" y="1298714"/>
                  </a:lnTo>
                  <a:lnTo>
                    <a:pt x="719467" y="1770634"/>
                  </a:lnTo>
                  <a:lnTo>
                    <a:pt x="701548" y="1796415"/>
                  </a:lnTo>
                  <a:lnTo>
                    <a:pt x="784923" y="1808480"/>
                  </a:lnTo>
                  <a:lnTo>
                    <a:pt x="768172" y="1777796"/>
                  </a:lnTo>
                  <a:lnTo>
                    <a:pt x="744550" y="1734540"/>
                  </a:lnTo>
                  <a:lnTo>
                    <a:pt x="726630" y="1760321"/>
                  </a:lnTo>
                  <a:lnTo>
                    <a:pt x="56857" y="1294892"/>
                  </a:lnTo>
                  <a:lnTo>
                    <a:pt x="1245527" y="788822"/>
                  </a:lnTo>
                  <a:lnTo>
                    <a:pt x="1257820" y="817714"/>
                  </a:lnTo>
                  <a:lnTo>
                    <a:pt x="1296390" y="772350"/>
                  </a:lnTo>
                  <a:lnTo>
                    <a:pt x="1312405" y="7535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833861" y="2092563"/>
              <a:ext cx="1137397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spc="-9" dirty="0">
                  <a:latin typeface="Comic Sans MS"/>
                  <a:cs typeface="Comic Sans MS"/>
                </a:rPr>
                <a:t>Associativity</a:t>
              </a:r>
              <a:endParaRPr sz="1368" dirty="0">
                <a:latin typeface="Comic Sans MS"/>
                <a:cs typeface="Comic Sans MS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703561" y="1428279"/>
              <a:ext cx="957543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dirty="0">
                  <a:latin typeface="Comic Sans MS"/>
                  <a:cs typeface="Comic Sans MS"/>
                </a:rPr>
                <a:t>Cache</a:t>
              </a:r>
              <a:r>
                <a:rPr sz="1368" b="1" spc="-101" dirty="0">
                  <a:latin typeface="Comic Sans MS"/>
                  <a:cs typeface="Comic Sans MS"/>
                </a:rPr>
                <a:t> </a:t>
              </a:r>
              <a:r>
                <a:rPr sz="1368" b="1" spc="-18" dirty="0">
                  <a:latin typeface="Comic Sans MS"/>
                  <a:cs typeface="Comic Sans MS"/>
                </a:rPr>
                <a:t>Size</a:t>
              </a:r>
              <a:endParaRPr sz="1368" dirty="0">
                <a:latin typeface="Comic Sans MS"/>
                <a:cs typeface="Comic Sans MS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501420" y="3356587"/>
              <a:ext cx="908796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dirty="0">
                  <a:latin typeface="Comic Sans MS"/>
                  <a:cs typeface="Comic Sans MS"/>
                </a:rPr>
                <a:t>Block</a:t>
              </a:r>
              <a:r>
                <a:rPr sz="1368" b="1" spc="-4" dirty="0">
                  <a:latin typeface="Comic Sans MS"/>
                  <a:cs typeface="Comic Sans MS"/>
                </a:rPr>
                <a:t> </a:t>
              </a:r>
              <a:r>
                <a:rPr sz="1368" b="1" spc="-18" dirty="0">
                  <a:latin typeface="Comic Sans MS"/>
                  <a:cs typeface="Comic Sans MS"/>
                </a:rPr>
                <a:t>Size</a:t>
              </a:r>
              <a:endParaRPr sz="1368">
                <a:latin typeface="Comic Sans MS"/>
                <a:cs typeface="Comic Sans M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248A25-1F00-B341-BB48-606DC4227862}"/>
              </a:ext>
            </a:extLst>
          </p:cNvPr>
          <p:cNvGrpSpPr/>
          <p:nvPr/>
        </p:nvGrpSpPr>
        <p:grpSpPr>
          <a:xfrm>
            <a:off x="5564159" y="4516798"/>
            <a:ext cx="2649787" cy="1316438"/>
            <a:chOff x="5371119" y="4323758"/>
            <a:chExt cx="2649787" cy="1316438"/>
          </a:xfrm>
        </p:grpSpPr>
        <p:grpSp>
          <p:nvGrpSpPr>
            <p:cNvPr id="9" name="object 9"/>
            <p:cNvGrpSpPr/>
            <p:nvPr/>
          </p:nvGrpSpPr>
          <p:grpSpPr>
            <a:xfrm>
              <a:off x="6027753" y="4323758"/>
              <a:ext cx="1601880" cy="1019735"/>
              <a:chOff x="6679053" y="4900259"/>
              <a:chExt cx="1815464" cy="11557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6685403" y="4906609"/>
                <a:ext cx="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h="1143000">
                    <a:moveTo>
                      <a:pt x="0" y="1142858"/>
                    </a:moveTo>
                    <a:lnTo>
                      <a:pt x="0" y="0"/>
                    </a:lnTo>
                  </a:path>
                </a:pathLst>
              </a:custGeom>
              <a:ln w="1255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6691682" y="6043189"/>
                <a:ext cx="179641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96415">
                    <a:moveTo>
                      <a:pt x="0" y="0"/>
                    </a:moveTo>
                    <a:lnTo>
                      <a:pt x="1795921" y="0"/>
                    </a:lnTo>
                  </a:path>
                </a:pathLst>
              </a:custGeom>
              <a:ln w="1255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6843886" y="4988197"/>
                <a:ext cx="1576705" cy="973455"/>
              </a:xfrm>
              <a:custGeom>
                <a:avLst/>
                <a:gdLst/>
                <a:ahLst/>
                <a:cxnLst/>
                <a:rect l="l" t="t" r="r" b="b"/>
                <a:pathLst>
                  <a:path w="1576704" h="973454">
                    <a:moveTo>
                      <a:pt x="1576213" y="973313"/>
                    </a:moveTo>
                    <a:lnTo>
                      <a:pt x="1517121" y="972642"/>
                    </a:lnTo>
                    <a:lnTo>
                      <a:pt x="1458578" y="970644"/>
                    </a:lnTo>
                    <a:lnTo>
                      <a:pt x="1400621" y="967342"/>
                    </a:lnTo>
                    <a:lnTo>
                      <a:pt x="1343290" y="962761"/>
                    </a:lnTo>
                    <a:lnTo>
                      <a:pt x="1286622" y="956923"/>
                    </a:lnTo>
                    <a:lnTo>
                      <a:pt x="1230656" y="949852"/>
                    </a:lnTo>
                    <a:lnTo>
                      <a:pt x="1175429" y="941572"/>
                    </a:lnTo>
                    <a:lnTo>
                      <a:pt x="1120979" y="932107"/>
                    </a:lnTo>
                    <a:lnTo>
                      <a:pt x="1067345" y="921479"/>
                    </a:lnTo>
                    <a:lnTo>
                      <a:pt x="1014565" y="909712"/>
                    </a:lnTo>
                    <a:lnTo>
                      <a:pt x="962677" y="896830"/>
                    </a:lnTo>
                    <a:lnTo>
                      <a:pt x="911718" y="882856"/>
                    </a:lnTo>
                    <a:lnTo>
                      <a:pt x="861728" y="867814"/>
                    </a:lnTo>
                    <a:lnTo>
                      <a:pt x="812743" y="851727"/>
                    </a:lnTo>
                    <a:lnTo>
                      <a:pt x="764803" y="834619"/>
                    </a:lnTo>
                    <a:lnTo>
                      <a:pt x="717945" y="816514"/>
                    </a:lnTo>
                    <a:lnTo>
                      <a:pt x="672208" y="797434"/>
                    </a:lnTo>
                    <a:lnTo>
                      <a:pt x="627629" y="777404"/>
                    </a:lnTo>
                    <a:lnTo>
                      <a:pt x="584246" y="756447"/>
                    </a:lnTo>
                    <a:lnTo>
                      <a:pt x="542098" y="734586"/>
                    </a:lnTo>
                    <a:lnTo>
                      <a:pt x="501223" y="711845"/>
                    </a:lnTo>
                    <a:lnTo>
                      <a:pt x="461659" y="688247"/>
                    </a:lnTo>
                    <a:lnTo>
                      <a:pt x="423444" y="663817"/>
                    </a:lnTo>
                    <a:lnTo>
                      <a:pt x="386616" y="638577"/>
                    </a:lnTo>
                    <a:lnTo>
                      <a:pt x="351213" y="612551"/>
                    </a:lnTo>
                    <a:lnTo>
                      <a:pt x="317273" y="585762"/>
                    </a:lnTo>
                    <a:lnTo>
                      <a:pt x="284834" y="558235"/>
                    </a:lnTo>
                    <a:lnTo>
                      <a:pt x="253935" y="529992"/>
                    </a:lnTo>
                    <a:lnTo>
                      <a:pt x="224614" y="501057"/>
                    </a:lnTo>
                    <a:lnTo>
                      <a:pt x="196908" y="471454"/>
                    </a:lnTo>
                    <a:lnTo>
                      <a:pt x="170856" y="441206"/>
                    </a:lnTo>
                    <a:lnTo>
                      <a:pt x="146496" y="410337"/>
                    </a:lnTo>
                    <a:lnTo>
                      <a:pt x="123865" y="378870"/>
                    </a:lnTo>
                    <a:lnTo>
                      <a:pt x="103003" y="346828"/>
                    </a:lnTo>
                    <a:lnTo>
                      <a:pt x="66734" y="281116"/>
                    </a:lnTo>
                    <a:lnTo>
                      <a:pt x="37995" y="213389"/>
                    </a:lnTo>
                    <a:lnTo>
                      <a:pt x="17090" y="143835"/>
                    </a:lnTo>
                    <a:lnTo>
                      <a:pt x="4323" y="72643"/>
                    </a:lnTo>
                    <a:lnTo>
                      <a:pt x="1087" y="36491"/>
                    </a:lnTo>
                    <a:lnTo>
                      <a:pt x="0" y="0"/>
                    </a:lnTo>
                  </a:path>
                </a:pathLst>
              </a:custGeom>
              <a:ln w="1255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6986816" y="5063595"/>
                <a:ext cx="1350645" cy="898525"/>
              </a:xfrm>
              <a:custGeom>
                <a:avLst/>
                <a:gdLst/>
                <a:ahLst/>
                <a:cxnLst/>
                <a:rect l="l" t="t" r="r" b="b"/>
                <a:pathLst>
                  <a:path w="1350645" h="898525">
                    <a:moveTo>
                      <a:pt x="1350080" y="0"/>
                    </a:moveTo>
                    <a:lnTo>
                      <a:pt x="1345374" y="75512"/>
                    </a:lnTo>
                    <a:lnTo>
                      <a:pt x="1331504" y="149293"/>
                    </a:lnTo>
                    <a:lnTo>
                      <a:pt x="1308846" y="221093"/>
                    </a:lnTo>
                    <a:lnTo>
                      <a:pt x="1277775" y="290664"/>
                    </a:lnTo>
                    <a:lnTo>
                      <a:pt x="1259202" y="324536"/>
                    </a:lnTo>
                    <a:lnTo>
                      <a:pt x="1238666" y="357756"/>
                    </a:lnTo>
                    <a:lnTo>
                      <a:pt x="1216214" y="390294"/>
                    </a:lnTo>
                    <a:lnTo>
                      <a:pt x="1191893" y="422119"/>
                    </a:lnTo>
                    <a:lnTo>
                      <a:pt x="1165750" y="453200"/>
                    </a:lnTo>
                    <a:lnTo>
                      <a:pt x="1137831" y="483505"/>
                    </a:lnTo>
                    <a:lnTo>
                      <a:pt x="1108185" y="513004"/>
                    </a:lnTo>
                    <a:lnTo>
                      <a:pt x="1076856" y="541664"/>
                    </a:lnTo>
                    <a:lnTo>
                      <a:pt x="1043894" y="569455"/>
                    </a:lnTo>
                    <a:lnTo>
                      <a:pt x="1009343" y="596347"/>
                    </a:lnTo>
                    <a:lnTo>
                      <a:pt x="973251" y="622306"/>
                    </a:lnTo>
                    <a:lnTo>
                      <a:pt x="935666" y="647304"/>
                    </a:lnTo>
                    <a:lnTo>
                      <a:pt x="896633" y="671307"/>
                    </a:lnTo>
                    <a:lnTo>
                      <a:pt x="856200" y="694286"/>
                    </a:lnTo>
                    <a:lnTo>
                      <a:pt x="814413" y="716208"/>
                    </a:lnTo>
                    <a:lnTo>
                      <a:pt x="771320" y="737044"/>
                    </a:lnTo>
                    <a:lnTo>
                      <a:pt x="726967" y="756761"/>
                    </a:lnTo>
                    <a:lnTo>
                      <a:pt x="681401" y="775328"/>
                    </a:lnTo>
                    <a:lnTo>
                      <a:pt x="634669" y="792715"/>
                    </a:lnTo>
                    <a:lnTo>
                      <a:pt x="586819" y="808890"/>
                    </a:lnTo>
                    <a:lnTo>
                      <a:pt x="537895" y="823822"/>
                    </a:lnTo>
                    <a:lnTo>
                      <a:pt x="487947" y="837479"/>
                    </a:lnTo>
                    <a:lnTo>
                      <a:pt x="437020" y="849832"/>
                    </a:lnTo>
                    <a:lnTo>
                      <a:pt x="385161" y="860847"/>
                    </a:lnTo>
                    <a:lnTo>
                      <a:pt x="332417" y="870496"/>
                    </a:lnTo>
                    <a:lnTo>
                      <a:pt x="278836" y="878745"/>
                    </a:lnTo>
                    <a:lnTo>
                      <a:pt x="224463" y="885564"/>
                    </a:lnTo>
                    <a:lnTo>
                      <a:pt x="169346" y="890923"/>
                    </a:lnTo>
                    <a:lnTo>
                      <a:pt x="113532" y="894788"/>
                    </a:lnTo>
                    <a:lnTo>
                      <a:pt x="57068" y="897131"/>
                    </a:lnTo>
                    <a:lnTo>
                      <a:pt x="0" y="897918"/>
                    </a:lnTo>
                  </a:path>
                </a:pathLst>
              </a:custGeom>
              <a:ln w="12558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5504096" y="4351670"/>
              <a:ext cx="337297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spc="-22" dirty="0">
                  <a:latin typeface="Comic Sans MS"/>
                  <a:cs typeface="Comic Sans MS"/>
                </a:rPr>
                <a:t>Bad</a:t>
              </a:r>
              <a:endParaRPr sz="1368">
                <a:latin typeface="Comic Sans MS"/>
                <a:cs typeface="Comic Sans MS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5371119" y="5083190"/>
              <a:ext cx="446554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spc="-18" dirty="0">
                  <a:latin typeface="Comic Sans MS"/>
                  <a:cs typeface="Comic Sans MS"/>
                </a:rPr>
                <a:t>Good</a:t>
              </a:r>
              <a:endParaRPr sz="1368">
                <a:latin typeface="Comic Sans MS"/>
                <a:cs typeface="Comic Sans M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6088639" y="5416677"/>
              <a:ext cx="402291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spc="-18" dirty="0">
                  <a:latin typeface="Comic Sans MS"/>
                  <a:cs typeface="Comic Sans MS"/>
                </a:rPr>
                <a:t>Less</a:t>
              </a:r>
              <a:endParaRPr sz="1368" dirty="0">
                <a:latin typeface="Comic Sans MS"/>
                <a:cs typeface="Comic Sans MS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484892" y="5416677"/>
              <a:ext cx="467285" cy="22351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368" b="1" spc="-18" dirty="0">
                  <a:latin typeface="Comic Sans MS"/>
                  <a:cs typeface="Comic Sans MS"/>
                </a:rPr>
                <a:t>More</a:t>
              </a:r>
              <a:endParaRPr sz="1368">
                <a:latin typeface="Comic Sans MS"/>
                <a:cs typeface="Comic Sans MS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6088639" y="5038146"/>
              <a:ext cx="684679" cy="196834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1191" b="1" dirty="0">
                  <a:latin typeface="Comic Sans MS"/>
                  <a:cs typeface="Comic Sans MS"/>
                </a:rPr>
                <a:t>Factor</a:t>
              </a:r>
              <a:r>
                <a:rPr sz="1191" b="1" spc="4" dirty="0">
                  <a:latin typeface="Comic Sans MS"/>
                  <a:cs typeface="Comic Sans MS"/>
                </a:rPr>
                <a:t> </a:t>
              </a:r>
              <a:r>
                <a:rPr sz="1191" b="1" spc="-44" dirty="0">
                  <a:latin typeface="Comic Sans MS"/>
                  <a:cs typeface="Comic Sans MS"/>
                </a:rPr>
                <a:t>A</a:t>
              </a:r>
              <a:endParaRPr sz="1191">
                <a:latin typeface="Comic Sans MS"/>
                <a:cs typeface="Comic Sans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351915" y="5038146"/>
              <a:ext cx="668991" cy="196834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1191" b="1" dirty="0">
                  <a:latin typeface="Comic Sans MS"/>
                  <a:cs typeface="Comic Sans MS"/>
                </a:rPr>
                <a:t>Factor</a:t>
              </a:r>
              <a:r>
                <a:rPr sz="1191" b="1" spc="4" dirty="0">
                  <a:latin typeface="Comic Sans MS"/>
                  <a:cs typeface="Comic Sans MS"/>
                </a:rPr>
                <a:t> </a:t>
              </a:r>
              <a:r>
                <a:rPr sz="1191" b="1" spc="-44" dirty="0">
                  <a:latin typeface="Comic Sans MS"/>
                  <a:cs typeface="Comic Sans MS"/>
                </a:rPr>
                <a:t>B</a:t>
              </a:r>
              <a:endParaRPr sz="1191">
                <a:latin typeface="Comic Sans MS"/>
                <a:cs typeface="Comic Sans MS"/>
              </a:endParaRPr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6234177" y="4323791"/>
              <a:ext cx="1262343" cy="676275"/>
              <a:chOff x="6913000" y="4900296"/>
              <a:chExt cx="1430655" cy="766445"/>
            </a:xfrm>
          </p:grpSpPr>
          <p:sp>
            <p:nvSpPr>
              <p:cNvPr id="21" name="object 21"/>
              <p:cNvSpPr/>
              <p:nvPr/>
            </p:nvSpPr>
            <p:spPr>
              <a:xfrm>
                <a:off x="6925559" y="4912855"/>
                <a:ext cx="703580" cy="741045"/>
              </a:xfrm>
              <a:custGeom>
                <a:avLst/>
                <a:gdLst/>
                <a:ahLst/>
                <a:cxnLst/>
                <a:rect l="l" t="t" r="r" b="b"/>
                <a:pathLst>
                  <a:path w="703579" h="741045">
                    <a:moveTo>
                      <a:pt x="703330" y="740974"/>
                    </a:moveTo>
                    <a:lnTo>
                      <a:pt x="657085" y="739398"/>
                    </a:lnTo>
                    <a:lnTo>
                      <a:pt x="611640" y="734735"/>
                    </a:lnTo>
                    <a:lnTo>
                      <a:pt x="567085" y="727083"/>
                    </a:lnTo>
                    <a:lnTo>
                      <a:pt x="523515" y="716539"/>
                    </a:lnTo>
                    <a:lnTo>
                      <a:pt x="481022" y="703201"/>
                    </a:lnTo>
                    <a:lnTo>
                      <a:pt x="439698" y="687166"/>
                    </a:lnTo>
                    <a:lnTo>
                      <a:pt x="399636" y="668533"/>
                    </a:lnTo>
                    <a:lnTo>
                      <a:pt x="360929" y="647398"/>
                    </a:lnTo>
                    <a:lnTo>
                      <a:pt x="323670" y="623860"/>
                    </a:lnTo>
                    <a:lnTo>
                      <a:pt x="287951" y="598015"/>
                    </a:lnTo>
                    <a:lnTo>
                      <a:pt x="253864" y="569962"/>
                    </a:lnTo>
                    <a:lnTo>
                      <a:pt x="221503" y="539799"/>
                    </a:lnTo>
                    <a:lnTo>
                      <a:pt x="190961" y="507622"/>
                    </a:lnTo>
                    <a:lnTo>
                      <a:pt x="162329" y="473529"/>
                    </a:lnTo>
                    <a:lnTo>
                      <a:pt x="135701" y="437619"/>
                    </a:lnTo>
                    <a:lnTo>
                      <a:pt x="111168" y="399988"/>
                    </a:lnTo>
                    <a:lnTo>
                      <a:pt x="88825" y="360735"/>
                    </a:lnTo>
                    <a:lnTo>
                      <a:pt x="68763" y="319956"/>
                    </a:lnTo>
                    <a:lnTo>
                      <a:pt x="51076" y="277750"/>
                    </a:lnTo>
                    <a:lnTo>
                      <a:pt x="35855" y="234213"/>
                    </a:lnTo>
                    <a:lnTo>
                      <a:pt x="23194" y="189445"/>
                    </a:lnTo>
                    <a:lnTo>
                      <a:pt x="13186" y="143541"/>
                    </a:lnTo>
                    <a:lnTo>
                      <a:pt x="5922" y="96601"/>
                    </a:lnTo>
                    <a:lnTo>
                      <a:pt x="1496" y="48721"/>
                    </a:lnTo>
                    <a:lnTo>
                      <a:pt x="0" y="0"/>
                    </a:lnTo>
                  </a:path>
                </a:pathLst>
              </a:custGeom>
              <a:ln w="25117">
                <a:solidFill>
                  <a:srgbClr val="FC0128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7627320" y="4912889"/>
                <a:ext cx="703580" cy="741045"/>
              </a:xfrm>
              <a:custGeom>
                <a:avLst/>
                <a:gdLst/>
                <a:ahLst/>
                <a:cxnLst/>
                <a:rect l="l" t="t" r="r" b="b"/>
                <a:pathLst>
                  <a:path w="703579" h="741045">
                    <a:moveTo>
                      <a:pt x="703297" y="0"/>
                    </a:moveTo>
                    <a:lnTo>
                      <a:pt x="701801" y="48717"/>
                    </a:lnTo>
                    <a:lnTo>
                      <a:pt x="697375" y="96594"/>
                    </a:lnTo>
                    <a:lnTo>
                      <a:pt x="690111" y="143531"/>
                    </a:lnTo>
                    <a:lnTo>
                      <a:pt x="680102" y="189431"/>
                    </a:lnTo>
                    <a:lnTo>
                      <a:pt x="667442" y="234197"/>
                    </a:lnTo>
                    <a:lnTo>
                      <a:pt x="652221" y="277730"/>
                    </a:lnTo>
                    <a:lnTo>
                      <a:pt x="634534" y="319934"/>
                    </a:lnTo>
                    <a:lnTo>
                      <a:pt x="614473" y="360711"/>
                    </a:lnTo>
                    <a:lnTo>
                      <a:pt x="592130" y="399963"/>
                    </a:lnTo>
                    <a:lnTo>
                      <a:pt x="567598" y="437592"/>
                    </a:lnTo>
                    <a:lnTo>
                      <a:pt x="540971" y="473501"/>
                    </a:lnTo>
                    <a:lnTo>
                      <a:pt x="512340" y="507592"/>
                    </a:lnTo>
                    <a:lnTo>
                      <a:pt x="481798" y="539768"/>
                    </a:lnTo>
                    <a:lnTo>
                      <a:pt x="449438" y="569931"/>
                    </a:lnTo>
                    <a:lnTo>
                      <a:pt x="415353" y="597983"/>
                    </a:lnTo>
                    <a:lnTo>
                      <a:pt x="379635" y="623827"/>
                    </a:lnTo>
                    <a:lnTo>
                      <a:pt x="342378" y="647365"/>
                    </a:lnTo>
                    <a:lnTo>
                      <a:pt x="303673" y="668499"/>
                    </a:lnTo>
                    <a:lnTo>
                      <a:pt x="263613" y="687132"/>
                    </a:lnTo>
                    <a:lnTo>
                      <a:pt x="222292" y="703167"/>
                    </a:lnTo>
                    <a:lnTo>
                      <a:pt x="179801" y="716505"/>
                    </a:lnTo>
                    <a:lnTo>
                      <a:pt x="136234" y="727049"/>
                    </a:lnTo>
                    <a:lnTo>
                      <a:pt x="91683" y="734701"/>
                    </a:lnTo>
                    <a:lnTo>
                      <a:pt x="46240" y="739364"/>
                    </a:lnTo>
                    <a:lnTo>
                      <a:pt x="0" y="740940"/>
                    </a:lnTo>
                  </a:path>
                </a:pathLst>
              </a:custGeom>
              <a:ln w="25117">
                <a:solidFill>
                  <a:srgbClr val="FC0128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</p:grpSp>
      <p:sp>
        <p:nvSpPr>
          <p:cNvPr id="30" name="Slide Number Placeholder 9">
            <a:extLst>
              <a:ext uri="{FF2B5EF4-FFF2-40B4-BE49-F238E27FC236}">
                <a16:creationId xmlns:a16="http://schemas.microsoft.com/office/drawing/2014/main" id="{8EFA0EFF-331F-937D-7DC3-230BCF7E68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49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1594</TotalTime>
  <Words>6945</Words>
  <Application>Microsoft Office PowerPoint</Application>
  <PresentationFormat>On-screen Show (4:3)</PresentationFormat>
  <Paragraphs>1005</Paragraphs>
  <Slides>49</Slides>
  <Notes>40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Arial</vt:lpstr>
      <vt:lpstr>Arial MT</vt:lpstr>
      <vt:lpstr>Calibri</vt:lpstr>
      <vt:lpstr>Comic Sans MS</vt:lpstr>
      <vt:lpstr>Times New Roman</vt:lpstr>
      <vt:lpstr>Wingdings</vt:lpstr>
      <vt:lpstr>1_Office Theme</vt:lpstr>
      <vt:lpstr>PowerPoint Presentation</vt:lpstr>
      <vt:lpstr>CACHE OPTIMIZATION TECHNIQUES - APPENDIX B / CHAPTER 2</vt:lpstr>
      <vt:lpstr>Memory Stalls</vt:lpstr>
      <vt:lpstr>Types of Cache Misses</vt:lpstr>
      <vt:lpstr>Types of Cache Misses</vt:lpstr>
      <vt:lpstr>5 Basic Cache Optimizations</vt:lpstr>
      <vt:lpstr>Reducing Miss Rate: Increasing block size</vt:lpstr>
      <vt:lpstr>Reducing Miss Rate: Increasing block size (cont.)</vt:lpstr>
      <vt:lpstr>Reducing Miss Rate: Higher Associativity</vt:lpstr>
      <vt:lpstr>Reducing Miss Rate: Higher Associativity (cont.)</vt:lpstr>
      <vt:lpstr>Cache size / associativity and Access times</vt:lpstr>
      <vt:lpstr>Reducing Miss Penalty: Multi-level Cache</vt:lpstr>
      <vt:lpstr>Victim Caches</vt:lpstr>
      <vt:lpstr>Victim Caches (cont.)</vt:lpstr>
      <vt:lpstr>Don't wait for the whole block on cache miss</vt:lpstr>
      <vt:lpstr>Use a non-blocking cache</vt:lpstr>
      <vt:lpstr>Use a non-blocking cache (cont.)</vt:lpstr>
      <vt:lpstr>Hardware Prefetching</vt:lpstr>
      <vt:lpstr>Hardware Prefetching (cont.)</vt:lpstr>
      <vt:lpstr>Compiler-Controlled Prefetching</vt:lpstr>
      <vt:lpstr>How to reduce the time for cache hits?</vt:lpstr>
      <vt:lpstr>K.I.S.S. (Keep It Simple, Stupid)</vt:lpstr>
      <vt:lpstr>Use Virtual addresses instead of Physical addresses</vt:lpstr>
      <vt:lpstr>Virtual Addresses (cont.)</vt:lpstr>
      <vt:lpstr>Pipelined Cache Access</vt:lpstr>
      <vt:lpstr>Multi-banked cache</vt:lpstr>
      <vt:lpstr>Reads are easy, Writes are not</vt:lpstr>
      <vt:lpstr>Write Buffers for Write-Through Caches</vt:lpstr>
      <vt:lpstr>Another Write Buffer Optimization</vt:lpstr>
      <vt:lpstr>Write Buffer Optimization</vt:lpstr>
      <vt:lpstr>FURTHER COMPILER OPTIMIZATIONS TO  REDUCE CACHE MISS RATE</vt:lpstr>
      <vt:lpstr>Three Compiler Techniques</vt:lpstr>
      <vt:lpstr>Technique 1: Merging Arrays</vt:lpstr>
      <vt:lpstr>Technique 1: Merging Arrays (cont.)</vt:lpstr>
      <vt:lpstr>Technique 1: Merging Arrays (cont.)</vt:lpstr>
      <vt:lpstr>Technique 1: Merging Arrays (cont.)</vt:lpstr>
      <vt:lpstr>Technique 2: Interchanging Loops</vt:lpstr>
      <vt:lpstr>Technique 2: Interchanging Loops</vt:lpstr>
      <vt:lpstr>Technique 2: Interchanging Loops</vt:lpstr>
      <vt:lpstr>Technique 2: Interchanging Loops</vt:lpstr>
      <vt:lpstr>Technique 2: Interchanging Loops</vt:lpstr>
      <vt:lpstr>Technique 3: Loop Fusion</vt:lpstr>
      <vt:lpstr>Technique 3: Loop Fusion (cont.)</vt:lpstr>
      <vt:lpstr>Technique 3: Loop Fusion (cont.)</vt:lpstr>
      <vt:lpstr>Technique 3: Loop Fusion (cont.)</vt:lpstr>
      <vt:lpstr>Multi-Level Inclusion…</vt:lpstr>
      <vt:lpstr>So Far…</vt:lpstr>
      <vt:lpstr>Summary - Caches</vt:lpstr>
      <vt:lpstr>Summary - The Cache Design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986</cp:revision>
  <dcterms:created xsi:type="dcterms:W3CDTF">2025-09-07T23:26:05Z</dcterms:created>
  <dcterms:modified xsi:type="dcterms:W3CDTF">2025-11-03T16:41:44Z</dcterms:modified>
</cp:coreProperties>
</file>